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1.xml" ContentType="application/vnd.openxmlformats-officedocument.drawingml.chart+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4" r:id="rId4"/>
  </p:sldMasterIdLst>
  <p:notesMasterIdLst>
    <p:notesMasterId r:id="rId8"/>
  </p:notesMasterIdLst>
  <p:sldIdLst>
    <p:sldId id="256" r:id="rId7"/>
    <p:sldId id="262" r:id="rId17"/>
    <p:sldId id="263" r:id="rId6"/>
    <p:sldId id="264" r:id="rId19"/>
    <p:sldId id="258" r:id="rId5"/>
    <p:sldId id="259" r:id="rId16"/>
    <p:sldId id="265" r:id="rId20"/>
    <p:sldId id="266" r:id="rId21"/>
    <p:sldId id="261" r:id="rId18"/>
  </p:sldIdLst>
  <p:sldSz cx="1158875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460B812-FB11-E744-2EAF-0F2DA0ECD4BF}" name="Henry Gilfillan" initials="HG" userId="S::Henry.G@africaia.com::20d8d1d5-b81d-4db2-8d49-9db47f87700a" providerId="AD"/>
  <p188:author id="{80F3E917-8A40-6377-B501-C0BF4583C07C}" name="Maria-Salome Milanzi" initials="MM" userId="S::Maria-Salome.M@africaia.com::27b80f15-cda9-458b-a241-0020d0d18b2b" providerId="AD"/>
  <p188:author id="{8653DC3D-E5A6-54BA-B06A-0D6999879F26}" name="Joseph Kihara" initials="JK" userId="S::joseph.k@africaia.com::89b38e7e-ff17-4223-9856-6d82edda0c7c" providerId="AD"/>
  <p188:author id="{79DE144E-B764-F176-BA11-B9193ABDC8E5}" name="Davies Tsikayi" initials="DT" userId="S::Davies.T@africaia.com::87c07fce-c37d-4ded-b6b5-65d5c8b951c1" providerId="AD"/>
  <p188:author id="{31278C59-D498-87BD-2E87-AF9308A52A9D}" name="Shannon Kurz" initials="SK" userId="Shannon Kurz" providerId="None"/>
  <p188:author id="{68AE2466-B378-7AA2-581F-E86841585307}" name="Paayal Kanjee Govind" initials="PK" userId="S::Paayal.KG@africaia.com::50637073-a9d2-4dfa-96c0-927604d7cc3c" providerId="AD"/>
  <p188:author id="{C5B1668E-F34A-2E98-0466-BAF8D463548D}" name="Manish Ramjeawon" initials="MR" userId="S::manish.r@africaia.com::530ca382-ae44-4c47-aaca-bb6bff7153ab" providerId="AD"/>
  <p188:author id="{F720B396-19C0-DB41-D221-DFCF831531AE}" name="Henry Gilfillan" initials="HG" userId="Henry Gilfillan" providerId="None"/>
  <p188:author id="{9FBE07B6-A3E1-BFC7-95A7-1EBCABB54112}" name="Karabo Mashabane" initials="KM" userId="S::Karabo.M@africaia.com::def9b110-1e86-4623-94be-634dc77ab82b" providerId="AD"/>
  <p188:author id="{53709FFD-5FBE-8519-0B68-00C91B158654}" name="James Brown" initials="JB" userId="James Brown" providerId="None"/>
</p188:authorLst>
</file>

<file path=ppt/commentAuthors.xml><?xml version="1.0" encoding="utf-8"?>
<p:cmAuthorLst xmlns:a="http://schemas.openxmlformats.org/drawingml/2006/main" xmlns:r="http://schemas.openxmlformats.org/officeDocument/2006/relationships" xmlns:p="http://schemas.openxmlformats.org/presentationml/2006/main">
  <p:cmAuthor id="7" name="Henry Gilfillan" initials="HG [2]" lastIdx="8" clrIdx="6">
    <p:extLst>
      <p:ext uri="{19B8F6BF-5375-455C-9EA6-DF929625EA0E}">
        <p15:presenceInfo xmlns:p15="http://schemas.microsoft.com/office/powerpoint/2012/main" userId="S::henry.g@africaia.com::20d8d1d5-b81d-4db2-8d49-9db47f87700a" providerId="AD"/>
      </p:ext>
    </p:extLst>
  </p:cmAuthor>
  <p:cmAuthor id="1" name="Abbas Bilgrami" initials="AB [2]" lastIdx="8" clrIdx="0">
    <p:extLst>
      <p:ext uri="{19B8F6BF-5375-455C-9EA6-DF929625EA0E}">
        <p15:presenceInfo xmlns:p15="http://schemas.microsoft.com/office/powerpoint/2012/main" userId="da833efe2a07dd73" providerId="Windows Live"/>
      </p:ext>
    </p:extLst>
  </p:cmAuthor>
  <p:cmAuthor id="8" name="Abbas Bilgrami" initials="AB" lastIdx="34" clrIdx="7">
    <p:extLst>
      <p:ext uri="{19B8F6BF-5375-455C-9EA6-DF929625EA0E}">
        <p15:presenceInfo xmlns:p15="http://schemas.microsoft.com/office/powerpoint/2012/main" userId="S::abbas.b@africaia.com::09d4207e-ca10-48c5-9e33-f8dec02b9ddc" providerId="AD"/>
      </p:ext>
    </p:extLst>
  </p:cmAuthor>
  <p:cmAuthor id="2" name="Henry Gilfillan" initials="HG" lastIdx="82" clrIdx="1">
    <p:extLst>
      <p:ext uri="{19B8F6BF-5375-455C-9EA6-DF929625EA0E}">
        <p15:presenceInfo xmlns:p15="http://schemas.microsoft.com/office/powerpoint/2012/main" userId="Henry Gilfillan" providerId="None"/>
      </p:ext>
    </p:extLst>
  </p:cmAuthor>
  <p:cmAuthor id="9" name="Paayal Kanjee Govind" initials="PKG" lastIdx="4" clrIdx="8">
    <p:extLst>
      <p:ext uri="{19B8F6BF-5375-455C-9EA6-DF929625EA0E}">
        <p15:presenceInfo xmlns:p15="http://schemas.microsoft.com/office/powerpoint/2012/main" userId="Paayal Kanjee Govind" providerId="None"/>
      </p:ext>
    </p:extLst>
  </p:cmAuthor>
  <p:cmAuthor id="3" name="Ismaeel" initials="I" lastIdx="104" clrIdx="2">
    <p:extLst>
      <p:ext uri="{19B8F6BF-5375-455C-9EA6-DF929625EA0E}">
        <p15:presenceInfo xmlns:p15="http://schemas.microsoft.com/office/powerpoint/2012/main" userId="Ismaeel" providerId="None"/>
      </p:ext>
    </p:extLst>
  </p:cmAuthor>
  <p:cmAuthor id="4" name="Jennifer Zeiss" initials="JZ" lastIdx="19" clrIdx="3">
    <p:extLst>
      <p:ext uri="{19B8F6BF-5375-455C-9EA6-DF929625EA0E}">
        <p15:presenceInfo xmlns:p15="http://schemas.microsoft.com/office/powerpoint/2012/main" userId="Jennifer Zeiss" providerId="None"/>
      </p:ext>
    </p:extLst>
  </p:cmAuthor>
  <p:cmAuthor id="5" name="Gabrielle Knott" initials="GK" lastIdx="2" clrIdx="4">
    <p:extLst>
      <p:ext uri="{19B8F6BF-5375-455C-9EA6-DF929625EA0E}">
        <p15:presenceInfo xmlns:p15="http://schemas.microsoft.com/office/powerpoint/2012/main" userId="Gabrielle Knott" providerId="None"/>
      </p:ext>
    </p:extLst>
  </p:cmAuthor>
  <p:cmAuthor id="6" name="James Brown" initials="JB" lastIdx="2" clrIdx="5">
    <p:extLst>
      <p:ext uri="{19B8F6BF-5375-455C-9EA6-DF929625EA0E}">
        <p15:presenceInfo xmlns:p15="http://schemas.microsoft.com/office/powerpoint/2012/main" userId="S::james@africaia.com::5c3cb27f-96be-4c72-848f-aa01b93992f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F3552"/>
    <a:srgbClr val="EBF9FE"/>
    <a:srgbClr val="FDD9A4"/>
    <a:srgbClr val="2D6196"/>
    <a:srgbClr val="326757"/>
    <a:srgbClr val="728A94"/>
    <a:srgbClr val="F01C24"/>
    <a:srgbClr val="56787A"/>
    <a:srgbClr val="CFDFF0"/>
    <a:srgbClr val="008E4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8C87D74-0723-4269-ADB4-1C2880134AC4}" v="1" dt="2026-10-01T12:10:22.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4" d="100"/>
          <a:sy n="64" d="100"/>
        </p:scale>
        <p:origin x="77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2.xml"/><Relationship Id="rId6" Type="http://schemas.openxmlformats.org/officeDocument/2006/relationships/slide" Target="slides/slide6.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commentAuthors" Target="commentAuthors.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 Id="rId14" Type="http://schemas.microsoft.com/office/2015/10/relationships/revisionInfo" Target="revisionInfo.xml"/><Relationship Id="rId15" Type="http://schemas.microsoft.com/office/2018/10/relationships/authors" Target="authors.xml"/><Relationship Id="rId16" Type="http://schemas.openxmlformats.org/officeDocument/2006/relationships/slide" Target="slides/slide3.xml"/><Relationship Id="rId17" Type="http://schemas.openxmlformats.org/officeDocument/2006/relationships/slide" Target="slides/slide5.xml"/><Relationship Id="rId18" Type="http://schemas.openxmlformats.org/officeDocument/2006/relationships/slide" Target="slides/slide4.xml"/><Relationship Id="rId19" Type="http://schemas.openxmlformats.org/officeDocument/2006/relationships/slide" Target="slides/slide7.xml"/><Relationship Id="rId20" Type="http://schemas.openxmlformats.org/officeDocument/2006/relationships/slide" Target="slides/slide8.xml"/><Relationship Id="rId21" Type="http://schemas.openxmlformats.org/officeDocument/2006/relationships/slide" Target="slides/slide9.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Gauteng</c:v>
                </c:pt>
              </c:strCache>
            </c:strRef>
          </c:tx>
          <c:spPr>
            <a:solidFill>
              <a:srgbClr val="0A2373"/>
            </a:solidFill>
            <a:ln w="25400">
              <a:solidFill>
                <a:srgbClr val="0A2373"/>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Sheet1!$B$2:$B$11</c:f>
              <c:numCache>
                <c:formatCode>General</c:formatCode>
                <c:ptCount val="10"/>
                <c:pt idx="0">
                  <c:v>6.957413325999999</c:v>
                </c:pt>
                <c:pt idx="1">
                  <c:v>7.098075129</c:v>
                </c:pt>
                <c:pt idx="2">
                  <c:v>7.27979359</c:v>
                </c:pt>
                <c:pt idx="3">
                  <c:v>7.130303529232998</c:v>
                </c:pt>
                <c:pt idx="4">
                  <c:v>7.213928482944991</c:v>
                </c:pt>
                <c:pt idx="5">
                  <c:v>7.317085261789984</c:v>
                </c:pt>
                <c:pt idx="6">
                  <c:v>7.641453661767985</c:v>
                </c:pt>
                <c:pt idx="7">
                  <c:v>6.085737662723995</c:v>
                </c:pt>
                <c:pt idx="8">
                  <c:v>6.646008731794994</c:v>
                </c:pt>
                <c:pt idx="9">
                  <c:v>6.809430758895994</c:v>
                </c:pt>
              </c:numCache>
            </c:numRef>
          </c:val>
          <c:smooth val="0"/>
        </c:ser>
        <c:ser>
          <c:idx val="1"/>
          <c:order val="1"/>
          <c:tx>
            <c:strRef>
              <c:f>Sheet1!$C$1</c:f>
              <c:strCache>
                <c:ptCount val="1"/>
                <c:pt idx="0">
                  <c:v>KwaZulu-Natal</c:v>
                </c:pt>
              </c:strCache>
            </c:strRef>
          </c:tx>
          <c:spPr>
            <a:solidFill>
              <a:srgbClr val="546CA2"/>
            </a:solidFill>
            <a:ln w="25400">
              <a:solidFill>
                <a:srgbClr val="546CA2"/>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Sheet1!$C$2:$C$11</c:f>
              <c:numCache>
                <c:formatCode>General</c:formatCode>
                <c:ptCount val="10"/>
                <c:pt idx="0">
                  <c:v>4.0649684520000005</c:v>
                </c:pt>
                <c:pt idx="1">
                  <c:v>3.852058702</c:v>
                </c:pt>
                <c:pt idx="2">
                  <c:v>3.912559734</c:v>
                </c:pt>
                <c:pt idx="3">
                  <c:v>3.942573461657999</c:v>
                </c:pt>
                <c:pt idx="4">
                  <c:v>4.185357397407999</c:v>
                </c:pt>
                <c:pt idx="5">
                  <c:v>4.006674294566998</c:v>
                </c:pt>
                <c:pt idx="6">
                  <c:v>4.254528753769998</c:v>
                </c:pt>
                <c:pt idx="7">
                  <c:v>4.058690247691</c:v>
                </c:pt>
                <c:pt idx="8">
                  <c:v>4.274344607906</c:v>
                </c:pt>
                <c:pt idx="9">
                  <c:v>4.284492695897999</c:v>
                </c:pt>
              </c:numCache>
            </c:numRef>
          </c:val>
          <c:smooth val="0"/>
        </c:ser>
        <c:ser>
          <c:idx val="2"/>
          <c:order val="2"/>
          <c:tx>
            <c:strRef>
              <c:f>Sheet1!$D$1</c:f>
              <c:strCache>
                <c:ptCount val="1"/>
                <c:pt idx="0">
                  <c:v>Western Cape</c:v>
                </c:pt>
              </c:strCache>
            </c:strRef>
          </c:tx>
          <c:spPr>
            <a:solidFill>
              <a:srgbClr val="404040"/>
            </a:solidFill>
            <a:ln w="25400">
              <a:solidFill>
                <a:srgbClr val="404040"/>
              </a:solidFill>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Sheet1!$D$2:$D$11</c:f>
              <c:numCache>
                <c:formatCode>General</c:formatCode>
                <c:ptCount val="10"/>
                <c:pt idx="0">
                  <c:v>3.711414673</c:v>
                </c:pt>
                <c:pt idx="1">
                  <c:v>4.092754441</c:v>
                </c:pt>
                <c:pt idx="2">
                  <c:v>4.69646532</c:v>
                </c:pt>
                <c:pt idx="3">
                  <c:v>3.721210313077999</c:v>
                </c:pt>
                <c:pt idx="4">
                  <c:v>3.627265157763995</c:v>
                </c:pt>
                <c:pt idx="5">
                  <c:v>3.5433597330979962</c:v>
                </c:pt>
                <c:pt idx="6">
                  <c:v>3.7198348359559983</c:v>
                </c:pt>
                <c:pt idx="7">
                  <c:v>3.156886221083998</c:v>
                </c:pt>
                <c:pt idx="8">
                  <c:v>4.010114112846999</c:v>
                </c:pt>
                <c:pt idx="9">
                  <c:v>3.9307750071499967</c:v>
                </c:pt>
              </c:numCache>
            </c:numRef>
          </c:val>
          <c:smooth val="0"/>
        </c:ser>
        <c:ser>
          <c:idx val="3"/>
          <c:order val="3"/>
          <c:tx>
            <c:strRef>
              <c:f>Sheet1!$E$1</c:f>
              <c:strCache>
                <c:ptCount val="1"/>
                <c:pt idx="0">
                  <c:v>Mpumalanga</c:v>
                </c:pt>
              </c:strCache>
            </c:strRef>
          </c:tx>
          <c:spPr>
            <a:solidFill>
              <a:srgbClr val="767676"/>
            </a:solidFill>
            <a:ln w="17780">
              <a:solidFill>
                <a:srgbClr val="546CA2"/>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Sheet1!$E$2:$E$11</c:f>
              <c:numCache>
                <c:formatCode>General</c:formatCode>
                <c:ptCount val="10"/>
                <c:pt idx="0">
                  <c:v>2.320531335</c:v>
                </c:pt>
                <c:pt idx="1">
                  <c:v>2.341183354</c:v>
                </c:pt>
                <c:pt idx="2">
                  <c:v>2.454368402</c:v>
                </c:pt>
                <c:pt idx="3">
                  <c:v>2.6606009079020003</c:v>
                </c:pt>
                <c:pt idx="4">
                  <c:v>2.508828751910999</c:v>
                </c:pt>
                <c:pt idx="5">
                  <c:v>2.456646527283</c:v>
                </c:pt>
                <c:pt idx="6">
                  <c:v>2.236702405418999</c:v>
                </c:pt>
                <c:pt idx="7">
                  <c:v>1.9979355724919998</c:v>
                </c:pt>
                <c:pt idx="8">
                  <c:v>1.937230567748997</c:v>
                </c:pt>
                <c:pt idx="9">
                  <c:v>1.757189721943996</c:v>
                </c:pt>
              </c:numCache>
            </c:numRef>
          </c:val>
          <c:smooth val="0"/>
        </c:ser>
        <c:ser>
          <c:idx val="4"/>
          <c:order val="4"/>
          <c:tx>
            <c:strRef>
              <c:f>Sheet1!$F$1</c:f>
              <c:strCache>
                <c:ptCount val="1"/>
                <c:pt idx="0">
                  <c:v>Eastern Cape</c:v>
                </c:pt>
              </c:strCache>
            </c:strRef>
          </c:tx>
          <c:spPr>
            <a:solidFill>
              <a:srgbClr val="D9D9D9"/>
            </a:solidFill>
            <a:ln w="17780">
              <a:solidFill>
                <a:srgbClr val="767676"/>
              </a:solidFill>
              <a:prstDash val="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Sheet1!$F$2:$F$11</c:f>
              <c:numCache>
                <c:formatCode>General</c:formatCode>
                <c:ptCount val="10"/>
                <c:pt idx="0">
                  <c:v>1.585923527</c:v>
                </c:pt>
                <c:pt idx="1">
                  <c:v>1.626715828</c:v>
                </c:pt>
                <c:pt idx="2">
                  <c:v>1.7991415320000002</c:v>
                </c:pt>
                <c:pt idx="3">
                  <c:v>1.785883066283</c:v>
                </c:pt>
                <c:pt idx="4">
                  <c:v>1.7690115308639982</c:v>
                </c:pt>
                <c:pt idx="5">
                  <c:v>1.7703191081490002</c:v>
                </c:pt>
                <c:pt idx="6">
                  <c:v>1.7921445762510002</c:v>
                </c:pt>
                <c:pt idx="7">
                  <c:v>1.6156188919190002</c:v>
                </c:pt>
                <c:pt idx="8">
                  <c:v>1.7712447284709991</c:v>
                </c:pt>
                <c:pt idx="9">
                  <c:v>1.7354846274369988</c:v>
                </c:pt>
              </c:numCache>
            </c:numRef>
          </c:val>
          <c:smooth val="0"/>
        </c:ser>
        <c:ser>
          <c:idx val="5"/>
          <c:order val="5"/>
          <c:tx>
            <c:strRef>
              <c:f>Sheet1!$G$1</c:f>
              <c:strCache>
                <c:ptCount val="1"/>
                <c:pt idx="0">
                  <c:v>Free State</c:v>
                </c:pt>
              </c:strCache>
            </c:strRef>
          </c:tx>
          <c:spPr>
            <a:solidFill>
              <a:srgbClr val="0A2373"/>
            </a:solidFill>
            <a:ln w="17780">
              <a:solidFill>
                <a:srgbClr val="0A2373"/>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Sheet1!$G$2:$G$11</c:f>
              <c:numCache>
                <c:formatCode>General</c:formatCode>
                <c:ptCount val="10"/>
                <c:pt idx="0">
                  <c:v>2.259494545</c:v>
                </c:pt>
                <c:pt idx="1">
                  <c:v>2.185901058</c:v>
                </c:pt>
                <c:pt idx="2">
                  <c:v>2.180302781</c:v>
                </c:pt>
                <c:pt idx="3">
                  <c:v>1.939700986869</c:v>
                </c:pt>
                <c:pt idx="4">
                  <c:v>1.744134882427</c:v>
                </c:pt>
                <c:pt idx="5">
                  <c:v>1.977904061572</c:v>
                </c:pt>
                <c:pt idx="6">
                  <c:v>1.8837452938370003</c:v>
                </c:pt>
                <c:pt idx="7">
                  <c:v>1.7546840298869997</c:v>
                </c:pt>
                <c:pt idx="8">
                  <c:v>1.720347936116999</c:v>
                </c:pt>
                <c:pt idx="9">
                  <c:v>1.3693191680130001</c:v>
                </c:pt>
              </c:numCache>
            </c:numRef>
          </c:val>
          <c:smooth val="0"/>
        </c:ser>
        <c:ser>
          <c:idx val="6"/>
          <c:order val="6"/>
          <c:tx>
            <c:strRef>
              <c:f>Sheet1!$H$1</c:f>
              <c:strCache>
                <c:ptCount val="1"/>
                <c:pt idx="0">
                  <c:v>North West</c:v>
                </c:pt>
              </c:strCache>
            </c:strRef>
          </c:tx>
          <c:spPr>
            <a:solidFill>
              <a:srgbClr val="546CA2"/>
            </a:solidFill>
            <a:ln w="17780">
              <a:solidFill>
                <a:srgbClr val="404040"/>
              </a:solidFill>
              <a:prstDash val="dash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Sheet1!$H$2:$H$11</c:f>
              <c:numCache>
                <c:formatCode>General</c:formatCode>
                <c:ptCount val="10"/>
                <c:pt idx="0">
                  <c:v>1.266432554</c:v>
                </c:pt>
                <c:pt idx="1">
                  <c:v>1.158286361</c:v>
                </c:pt>
                <c:pt idx="2">
                  <c:v>1.1888144409999999</c:v>
                </c:pt>
                <c:pt idx="3">
                  <c:v>1.1648558408760001</c:v>
                </c:pt>
                <c:pt idx="4">
                  <c:v>1.1013055398449991</c:v>
                </c:pt>
                <c:pt idx="5">
                  <c:v>0.991726319483997</c:v>
                </c:pt>
                <c:pt idx="6">
                  <c:v>1.007267117963999</c:v>
                </c:pt>
                <c:pt idx="7">
                  <c:v>0.847947157980999</c:v>
                </c:pt>
                <c:pt idx="8">
                  <c:v>0.9456235060149989</c:v>
                </c:pt>
                <c:pt idx="9">
                  <c:v>1.068062721037</c:v>
                </c:pt>
              </c:numCache>
            </c:numRef>
          </c:val>
          <c:smooth val="0"/>
        </c:ser>
        <c:ser>
          <c:idx val="7"/>
          <c:order val="7"/>
          <c:tx>
            <c:strRef>
              <c:f>Sheet1!$I$1</c:f>
              <c:strCache>
                <c:ptCount val="1"/>
                <c:pt idx="0">
                  <c:v>Limpopo</c:v>
                </c:pt>
              </c:strCache>
            </c:strRef>
          </c:tx>
          <c:spPr>
            <a:solidFill>
              <a:srgbClr val="404040"/>
            </a:solidFill>
            <a:ln w="17780">
              <a:solidFill>
                <a:srgbClr val="767676"/>
              </a:solidFill>
              <a:prstDash val="sysDot"/>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Sheet1!$I$2:$I$11</c:f>
              <c:numCache>
                <c:formatCode>General</c:formatCode>
                <c:ptCount val="10"/>
                <c:pt idx="0">
                  <c:v>0.827670855</c:v>
                </c:pt>
                <c:pt idx="1">
                  <c:v>0.790816682</c:v>
                </c:pt>
                <c:pt idx="2">
                  <c:v>0.7817361970000001</c:v>
                </c:pt>
                <c:pt idx="3">
                  <c:v>0.666418652288</c:v>
                </c:pt>
                <c:pt idx="4">
                  <c:v>0.6305076475039999</c:v>
                </c:pt>
                <c:pt idx="5">
                  <c:v>0.662172038670999</c:v>
                </c:pt>
                <c:pt idx="6">
                  <c:v>0.6197556413229999</c:v>
                </c:pt>
                <c:pt idx="7">
                  <c:v>0.492636084695</c:v>
                </c:pt>
                <c:pt idx="8">
                  <c:v>0.48667479724299906</c:v>
                </c:pt>
                <c:pt idx="9">
                  <c:v>0.49563148529399903</c:v>
                </c:pt>
              </c:numCache>
            </c:numRef>
          </c:val>
          <c:smooth val="0"/>
        </c:ser>
        <c:ser>
          <c:idx val="8"/>
          <c:order val="8"/>
          <c:tx>
            <c:strRef>
              <c:f>Sheet1!$J$1</c:f>
              <c:strCache>
                <c:ptCount val="1"/>
                <c:pt idx="0">
                  <c:v>Northern Cape</c:v>
                </c:pt>
              </c:strCache>
            </c:strRef>
          </c:tx>
          <c:spPr>
            <a:solidFill>
              <a:srgbClr val="767676"/>
            </a:solidFill>
            <a:ln w="17780">
              <a:solidFill>
                <a:srgbClr val="BDBEC1"/>
              </a:solidFill>
              <a:prstDash val="lgDash"/>
            </a:ln>
          </c:spPr>
          <c:marker>
            <c:symbol val="none"/>
          </c:marker>
          <c:cat>
            <c:strRef>
              <c:f>Sheet1!$A$2:$A$11</c:f>
              <c:strCache>
                <c:ptCount val="10"/>
                <c:pt idx="0">
                  <c:v>2013</c:v>
                </c:pt>
                <c:pt idx="1">
                  <c:v>2014</c:v>
                </c:pt>
                <c:pt idx="2">
                  <c:v>2015</c:v>
                </c:pt>
                <c:pt idx="3">
                  <c:v>2016</c:v>
                </c:pt>
                <c:pt idx="4">
                  <c:v>2017</c:v>
                </c:pt>
                <c:pt idx="5">
                  <c:v>2018</c:v>
                </c:pt>
                <c:pt idx="6">
                  <c:v>2019</c:v>
                </c:pt>
                <c:pt idx="7">
                  <c:v>2020</c:v>
                </c:pt>
                <c:pt idx="8">
                  <c:v>2021</c:v>
                </c:pt>
                <c:pt idx="9">
                  <c:v>2022</c:v>
                </c:pt>
              </c:strCache>
            </c:strRef>
          </c:cat>
          <c:val>
            <c:numRef>
              <c:f>Sheet1!$J$2:$J$11</c:f>
              <c:numCache>
                <c:formatCode>General</c:formatCode>
                <c:ptCount val="10"/>
                <c:pt idx="0">
                  <c:v>0.587311879</c:v>
                </c:pt>
                <c:pt idx="1">
                  <c:v>0.628263196</c:v>
                </c:pt>
                <c:pt idx="2">
                  <c:v>0.6686238340000001</c:v>
                </c:pt>
                <c:pt idx="3">
                  <c:v>0.533079746921</c:v>
                </c:pt>
                <c:pt idx="4">
                  <c:v>0.538621802891</c:v>
                </c:pt>
                <c:pt idx="5">
                  <c:v>0.521732330259</c:v>
                </c:pt>
                <c:pt idx="6">
                  <c:v>0.5264070109910001</c:v>
                </c:pt>
                <c:pt idx="7">
                  <c:v>0.441292852319</c:v>
                </c:pt>
                <c:pt idx="8">
                  <c:v>0.45501325471200005</c:v>
                </c:pt>
                <c:pt idx="9">
                  <c:v>0.451810048923</c:v>
                </c:pt>
              </c:numCache>
            </c:numRef>
          </c:val>
          <c:smooth val="0"/>
        </c:ser>
        <c:marker val="1"/>
        <c:smooth val="0"/>
        <c:axId val="2118791784"/>
        <c:axId val="2140495176"/>
      </c:lineChart>
      <c:catAx>
        <c:axId val="2118791784"/>
        <c:scaling>
          <c:orientation val="minMax"/>
        </c:scaling>
        <c:delete val="0"/>
        <c:axPos val="b"/>
        <c:majorGridlines>
          <c:spPr>
            <a:ln w="6350">
              <a:solidFill>
                <a:srgbClr val="D8D8D8"/>
              </a:solidFill>
            </a:ln>
          </c:spPr>
        </c:majorGridlines>
        <c:majorTickMark val="out"/>
        <c:minorTickMark val="none"/>
        <c:tickLblPos val="nextTo"/>
        <c:spPr>
          <a:ln w="6350">
            <a:solidFill>
              <a:srgbClr val="767676"/>
            </a:solidFill>
          </a:ln>
        </c:spPr>
        <c:txPr>
          <a:bodyPr/>
          <a:lstStyle/>
          <a:p>
            <a:pPr>
              <a:defRPr sz="900">
                <a:solidFill>
                  <a:srgbClr val="404040"/>
                </a:solidFill>
                <a:latin typeface="Lato"/>
              </a:defRPr>
            </a:pPr>
          </a:p>
        </c:txPr>
        <c:crossAx val="2140495176"/>
        <c:crosses val="autoZero"/>
        <c:auto val="1"/>
        <c:lblAlgn val="ctr"/>
        <c:lblOffset val="100"/>
        <c:noMultiLvlLbl val="0"/>
      </c:catAx>
      <c:valAx>
        <c:axId val="2140495176"/>
        <c:scaling>
          <c:max val="8.0"/>
          <c:min val="0.0"/>
        </c:scaling>
        <c:delete val="0"/>
        <c:axPos val="l"/>
        <c:majorGridlines>
          <c:spPr>
            <a:ln w="6350">
              <a:solidFill>
                <a:srgbClr val="D8D8D8"/>
              </a:solidFill>
            </a:ln>
          </c:spPr>
        </c:majorGridlines>
        <c:numFmt formatCode="0.0" sourceLinked="0"/>
        <c:majorTickMark val="out"/>
        <c:minorTickMark val="none"/>
        <c:tickLblPos val="nextTo"/>
        <c:spPr>
          <a:ln w="6350">
            <a:solidFill>
              <a:srgbClr val="767676"/>
            </a:solidFill>
          </a:ln>
        </c:spPr>
        <c:txPr>
          <a:bodyPr/>
          <a:lstStyle/>
          <a:p>
            <a:pPr>
              <a:defRPr sz="900">
                <a:solidFill>
                  <a:srgbClr val="404040"/>
                </a:solidFill>
                <a:latin typeface="Lato"/>
              </a:defRPr>
            </a:pPr>
          </a:p>
        </c:txPr>
        <c:crossAx val="2118791784"/>
        <c:crosses val="autoZero"/>
        <c:majorUnit val="2.0"/>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D47D6B1-D525-4628-ADA5-8E1FE74ADA4C}" type="datetimeFigureOut">
              <a:rPr lang="en-GB" smtClean="0"/>
              <a:t>01/10/2026</a:t>
            </a:fld>
            <a:endParaRPr lang="en-GB"/>
          </a:p>
        </p:txBody>
      </p:sp>
      <p:sp>
        <p:nvSpPr>
          <p:cNvPr id="4" name="Slide Image Placeholder 3"/>
          <p:cNvSpPr>
            <a:spLocks noGrp="1" noRot="1" noChangeAspect="1"/>
          </p:cNvSpPr>
          <p:nvPr>
            <p:ph type="sldImg" idx="2"/>
          </p:nvPr>
        </p:nvSpPr>
        <p:spPr>
          <a:xfrm>
            <a:off x="820738" y="1143000"/>
            <a:ext cx="5216525"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4101EB5-DFDD-47C4-B7E0-8A018260211B}" type="slidenum">
              <a:rPr lang="en-GB" smtClean="0"/>
              <a:t>‹#›</a:t>
            </a:fld>
            <a:endParaRPr lang="en-GB"/>
          </a:p>
        </p:txBody>
      </p:sp>
    </p:spTree>
    <p:extLst>
      <p:ext uri="{BB962C8B-B14F-4D97-AF65-F5344CB8AC3E}">
        <p14:creationId xmlns:p14="http://schemas.microsoft.com/office/powerpoint/2010/main" val="143794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Speaker note: Walk through four sections: the project question, the analytical</a:t>
            </a:r>
          </a:p>
          <a:p>
            <a:r>
              <a:t>requirements, the model-build problem and the delivery approach. The purpose is to</a:t>
            </a:r>
          </a:p>
          <a:p>
            <a:r>
              <a:t>connect the analyst's tasks to the decisions the engagement needs to support.</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Annual reporting sums four quarters separately for each province/product. Missing or incomplete years are gaps, never zeros or extrapolations. 2023 has Q1 only and is excluded. Source: assumptions/2026/timeseries/fuel_sales_department_by_province_quarterly.csv. Reported sales are a demand proxy; historical reporting requires analyst review, not a forecast.</a:t>
            </a:r>
          </a:p>
          <a:p>
            <a:r>
              <a:t>Provincial sum minus national petrol/diesel sales (bn L), mechanical flag tolerance 1 litre, not a materiality or validation threshold:</a:t>
            </a:r>
          </a:p>
          <a:p>
            <a:r>
              <a:t>{</a:t>
            </a:r>
          </a:p>
          <a:p>
            <a:r>
              <a:t>  "2013": 0.5379449579999971,</a:t>
            </a:r>
          </a:p>
          <a:p>
            <a:r>
              <a:t>  "2014": 0.2688237130000033,</a:t>
            </a:r>
          </a:p>
          <a:p>
            <a:r>
              <a:t>  "2015": -0.034042841268004054,</a:t>
            </a:r>
          </a:p>
          <a:p>
            <a:r>
              <a:t>  "2016": -7.105427357601002e-15,</a:t>
            </a:r>
          </a:p>
          <a:p>
            <a:r>
              <a:t>  "2017": -0.0023669540000135214,</a:t>
            </a:r>
          </a:p>
          <a:p>
            <a:r>
              <a:t>  "2018": -0.4327551978270243,</a:t>
            </a:r>
          </a:p>
          <a:p>
            <a:r>
              <a:t>  "2019": -1.7763568394002505e-14,</a:t>
            </a:r>
          </a:p>
          <a:p>
            <a:r>
              <a:t>  "2020": -1.0658141036401503e-14,</a:t>
            </a:r>
          </a:p>
          <a:p>
            <a:r>
              <a:t>  "2021": -0.0007647352630151261,</a:t>
            </a:r>
          </a:p>
          <a:p>
            <a:r>
              <a:t>  "2022": -1.7763568394002505e-14</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Map uses WGS84 / Lambert azimuthal equal-area, centred 25°E, 29°S. Natural Earth 1:50m countries; schematic transport from the kickoff appendix. Scale is nominal at map centre. Facility points are approximate, inherited from the appendix, not surveyed GPS. Lesedi uses the inherited Jameson Park-area point. No operational service-area polygon or evidence-calibrated cost/time threshold is computed. Demand positions are regional annotations, not provincial centroids. All numerical volumes are illustrative and are not model outputs or actual Vopak flows. The graduated surface is illustrative delivered road transport cost: R0.15/litre dispatch plus R0.002/litre/km times shortest schematic-road distance and straight-line terminal/grid connections. These are authored example parameters, not carrier quotes or validated cost evidence. 25 km cells; cost classes &lt;=0.75, 0.75-1.25, 1.25-1.75, 1.75-2.25 and &gt;2.25 R/litre. Cells more than 100 km from the sampled road geometry or without a connected path remain unassessed. Fuel purchase price, tax, storage and pipeline tariffs are excluded. Operational speeds, capacity, permissions and commercial access are not evaluated. Natural Earth source: https://github.com/nvkelso/natural-earth-vector/blob/master/geojson/ne_50m_admin_0_countries.geojson</a:t>
            </a:r>
          </a:p>
          <a:p>
            <a:r>
              <a:t>Transnet lease offers are context only, not cost-model origins or available supply.</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Observed historical sales, separate from the illustrative market figures on slide 6.</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Historical sales are a demand-location proxy, not 2026 demand or customer delivery destinations. All 18 province/product series have four quarters in 2022; provincial sum matches national sales within 1 litre. No district-level smoothing or within-province hotspot is inferred. Colour measures total annual provincial volume, not litres per km2. Region borders use the authored province membership, not a service area. Eastern coastal=EC+KZN; Inland=GP+FS+LP+MP+NW; Western coastal=WC; Other=NC. The observed totals and regions are separate from the illustrative market figures on slide 6. Source CSV C:\Users\ITafr\Desktop\Insights\liquid_fuels_model\assumptions\2026\timeseries\fuel_sales_department_by_province_quarterly.csv; SHA256 aec82481b33f70429b6b8e7c9c02767d62a6e8c7bf6bda09e21123a5bc56c9d6; original workbook(s) ['2022-Quarter4-Magisterial-Districts-data.xlsx']. Department index: https://www.dmpr.gov.za/Portals/0/Energy_Website/files/media/media_SAVolumes.html. Boundary metadata/source/license: assets/maps/geoboundaries_zaf_adm1_metadata.json. Reporting evidence remains provisional pending analyst review; owner Manish, Nigel review. Refresh when the source supplies a later complete year; check every province/product quarter and reconcile national totals.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 note: Closing cover photograph: Royal Vopak, Terminal Lesedi. https://www.vopak.com/terminals/vopak-terminal-lesedi</a:t>
            </a:r>
          </a:p>
          <a:p>
            <a:r>
              <a:t>Week 1 analytical pack, 6 October 2026. Existing kickoff cover/closing reused at user request.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"status": "Illustrative allocation only; not observed provincial supply",</a:t>
            </a:r>
          </a:p>
          <a:p>
            <a:r>
              <a:t>  "demand_year": 2022,</a:t>
            </a:r>
          </a:p>
          <a:p>
            <a:r>
              <a:t>  "demand_source": "assumptions/2026/timeseries/fuel_sales_department_by_province_quarterly.csv",</a:t>
            </a:r>
          </a:p>
          <a:p>
            <a:r>
              <a:t>  "mix_source": "pptx/story/illustrative_national_balance.csv",</a:t>
            </a:r>
          </a:p>
          <a:p>
            <a:r>
              <a:t>  "method": "Apply the example domestic_supply/demand share separately for petrol and diesel to each province's reported sales; remaining volume is illustrative finished-product imports",</a:t>
            </a:r>
          </a:p>
          <a:p>
            <a:r>
              <a:t>  "geographic_assumption": "Uniform source shares by product across provinces; provincial product mix may differ",</a:t>
            </a:r>
          </a:p>
          <a:p>
            <a:r>
              <a:t>  "scope": "Finished petrol and diesel; domestically refined output counts as domestic even when crude is imported",</a:t>
            </a:r>
          </a:p>
          <a:p>
            <a:r>
              <a:t>  "owner": "Manish / Nigel review",</a:t>
            </a:r>
          </a:p>
          <a:p>
            <a:r>
              <a:t>  "replacement_trigger": "Matched-year reviewed national balance plus evidenced refinery/import-to-province flows, exports and stock reconciliation"</a:t>
            </a:r>
          </a:p>
          <a:p>
            <a:r>
              <a:t>}</a:t>
            </a:r>
          </a:p>
          <a:p>
            <a:r>
              <a:t>No provincial origin dataset was found in the reviewed source extract. Demand totals are reported 2022 sales; domestic/import segments are illustrative, not observed 2022 supply. The same example product-specific shares apply to every province. Imports mean finished products, not imported crude. Do not infer these flows from refinery locations or customs clearance province.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Regional demand uses reported 2022 petrol/diesel sales, aggregated from all four quarters for nine provinces. Historical sales are a demand proxy, not current terminal catchments. No actual Vopak deliveries or contestable customer volumes were supplied for any region. No share percentage is calculated or imputed; unknown is not zero. The earlier illustrative 22.2/20.0% shares have been removed from this page. Other operators are potential competing or complementary storage providers, not confirmed direct competitors for every customer. Footprint is a starting inventory, not exhaustive. Storage capacities are stocks, not deliveries, and may include ineligible products. Obtain matched-year unique Vopak deliveries, customer destinations, transfer reconciliation, route costs, product-compatible capacity and contracts before calculating shares. Owner Manish; Nigel review. Refresh the source when a later complete provincial year is available. Sales file: C:\Users\ITafr\Desktop\Insights\liquid_fuels_model\assumptions\2026\timeseries\fuel_sales_department_by_province_quarterly.csv; SHA256 aec82481b33f70429b6b8e7c9c02767d62a6e8c7bf6bda09e21123a5bc56c9d6; received workbooks: ['2022-Quarter4-Magisterial-Districts-data.xlsx']. Regional totals (bn litres): {'Eastern coastal': 6.019977323334999, 'Inland': 11.499633855183989, 'Western coastal': 3.9307750071499967, 'Other / Northern Cape': 0.4518100489230001}.</a:t>
            </a:r>
          </a:p>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[1] Vopak: https://www.vopak.com/system/files/Vopak_Annual_Report_2025.pdf | 2025 reporting year | Not matched petrol/diesel terminal throughput</a:t>
            </a:r>
          </a:p>
          <a:p>
            <a:r>
              <a:t>[2] Bidvest Tank Terminals: https://www.bidtanks.com/pages/1562/about-us | Publication date not stated | Site capacities imply 955603 m3 versus homepage 868000 m3; includes non-petrol/diesel products</a:t>
            </a:r>
          </a:p>
          <a:p>
            <a:r>
              <a:t>[3] VTTI Burgan Cape Terminal: https://www.vtti.com/location/cape-town-south-africa-bct/ | Page date not stated; download published 2025-06-25 | Storage stock not throughput; available-capacity notice needs period confirmation</a:t>
            </a:r>
          </a:p>
          <a:p>
            <a:r>
              <a:t>[4] Shell: https://www.shell.co.za/motorists/shell-fuels/fuel-storage-facilities.html | Publication date not stated | Does not establish current independent terminal capacity or market share</a:t>
            </a:r>
          </a:p>
          <a:p>
            <a:r>
              <a:t>[5] NERSA: https://www.nersa.org.za/petroleum-pipelines/third-party-access | Index entries dated 2020-09-25 | Historical mechanisms are not current contracted customer volumes or a complete competitor census</a:t>
            </a:r>
          </a:p>
          <a:p>
            <a:r>
              <a:t>[6] Sasol: https://sasol.com/our-businesses/energy | Page date not stated; linked notice reporting year 2025/26 | Notice period ends March 2026; current access and site ownership need confirmation</a:t>
            </a:r>
          </a:p>
          <a:p>
            <a:r>
              <a:t>[7] Transnet Pipelines: https://www.transnet.net/TPL-Leasing-Opportunities | 2026-10-05 RFPs; manual commencement 2024-09-01 | Lease assets are not available operating supply; refurbishment licensing and award conditional; unknown capacity at Bethlehem/Magdala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Storage footprint is a public-evidence starting inventory, not a complete census. Coordinates are approximate except Tarlton and five Transnet RFP briefing coordinates. Lease symbols indicate offers, not operating assets. Magdala RFP location narrative is inconsistent; verify independently. Symbols do not encode capacity. Lesedi and Transnet Jameson Park are distinct assets represented by the same approximate area; the national map cannot separate their actual boundaries. Capacity is a stock, not throughput. Mixed-product tanks cannot establish petrol/diesel share.</a:t>
            </a:r>
          </a:p>
          <a:p>
            <a:r>
              <a:t>V1 Vopak / Durban: https://www.vopak.com/terminals/vopak-terminal-durban | Terminal page publication date not stated; checked 2026-10-06 | Operator terminal page publishes cbm capacity; independent usable-capacity review pending | Current available petrol/diesel capacity unknown | owner Manish / Nigel review | next: Confirm usable petrol/diesel capacity product split and unique customer deliveries</a:t>
            </a:r>
          </a:p>
          <a:p>
            <a:r>
              <a:t>V2 Vopak / Lesedi: https://www.vopak.com/terminals/vopak-terminal-lesedi | Terminal page publication date not stated; checked 2026-10-06 | Operator terminal page publishes cbm capacity; independent usable-capacity review pending | Current contracts and throughput unknown | owner Manish / Nigel review | next: Confirm usable petrol/diesel capacity product split and unique customer deliveries</a:t>
            </a:r>
          </a:p>
          <a:p>
            <a:r>
              <a:t>B1 Bidvest Tank Terminals / Durban: https://www.bidtanks.com/pages/1562/about-us | Page publication date not stated | Operator lists Island View and Maydon Wharf sites | Capacity scope and total-vintage discrepancy; no access assumed | owner Manish / Nigel review | next: Split sites and products; reconcile total against homepage 868000 m3</a:t>
            </a:r>
          </a:p>
          <a:p>
            <a:r>
              <a:t>B2 Bidvest Tank Terminals / Richards Bay: https://www.bidtanks.com/pages/1562/about-us | Page publication date not stated | Operator site listing | Includes gases; no petrol/diesel capacity or access assumed | owner Manish / Nigel review | next: Confirm tank-level eligible fuel scope and present ownership/access</a:t>
            </a:r>
          </a:p>
          <a:p>
            <a:r>
              <a:t>B3 Bidvest Tank Terminals / Isando: https://www.bidtanks.com/pages/1562/about-us | Page publication date not stated | Operator site listing | No petrol/diesel capacity or access assumed | owner Manish / Nigel review | next: Verify exact terminal location and product mix</a:t>
            </a:r>
          </a:p>
          <a:p>
            <a:r>
              <a:t>S1 Sasol / Alrode: https://sasol.com/our-businesses/energy | Page date not stated; linked notice reporting year 2025/26 | Operator Energy locations page | Notice ends March 2026; current access and joint ownership require confirmation | owner Manish / Nigel review | next: Refresh expired capacity notice and confirm site/operator ownership</a:t>
            </a:r>
          </a:p>
          <a:p>
            <a:r>
              <a:t>S2 Sasol / Pretoria West: https://sasol.com/our-businesses/energy | Page publication date not stated | Operator Energy locations page | Available capacity and access unknown | owner Manish / Nigel review | next: Obtain licence exact coordinates and product-specific usable capacity</a:t>
            </a:r>
          </a:p>
          <a:p>
            <a:r>
              <a:t>S3 Sasol / Waltloo: https://sasol.com/our-businesses/energy | Page publication date not stated | Operator Energy locations page | Available capacity and access unknown | owner Manish / Nigel review | next: Obtain licence exact coordinates and product-specific usable capacity</a:t>
            </a:r>
          </a:p>
          <a:p>
            <a:r>
              <a:t>S4 Sasol / Sasolburg: https://sasol.com/our-businesses/energy | Page publication date not stated | Operator Energy locations page | Not treated as independent merchant terminal capacity | owner Manish / Nigel review | next: Separate refinery production from logistics and usable storage assets</a:t>
            </a:r>
          </a:p>
          <a:p>
            <a:r>
              <a:t>T1 Transnet Pipelines / Tarlton: https://transnetetenders.azurewebsites.net/Home/TenderDetails?Id=70943 | 2025-04-16 tender publication | 2025 facility tender; 2024 manual documents delivery and reprocessing | No current spare capacity or open merchant access inferred | owner Manish / Nigel review | next: Confirm present operation usable tanks and access/tariff conditions</a:t>
            </a:r>
          </a:p>
          <a:p>
            <a:r>
              <a:t>T2 Transnet Pipelines / Jameson Park: https://www.transnet.net/getFile.ashx?id=5330 | 2024-09-01 commencement; pp 19-20 and 62 | 2024 Shippers Manual names terminal and accumulation function | Separate asset from Vopak Lesedi; available capacity unknown | owner Manish / Nigel review | next: Geocode separately from Lesedi and verify accumulation tanks</a:t>
            </a:r>
          </a:p>
          <a:p>
            <a:r>
              <a:t>G1 VTTI Burgan Cape Terminal / Cape Town: https://www.vtti.com/location/cape-town-south-africa-bct/ | Page date not stated; notice published 2025-06-25 | Operator terminal page | 2025-2026 availability notice requires current-period confirmation | owner Manish / Nigel review | next: Verify current tank availability routes and customer overlap</a:t>
            </a:r>
          </a:p>
          <a:p>
            <a:r>
              <a:t>X1 Transnet Pipelines / Ladysmith: https://www.transnet.net/getFile.ashx?id=30047 | 2026-10-05 | Stranded tanks out of service since March 2018; no NMPP link or existing road/rail decanting system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X2 Transnet Pipelines / Standerton: https://www.transnet.net/getFile.ashx?id=30045 | 2026-10-05 | Stranded after DWP decommissioning; lease proposal requires operational and regulatory readiness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X3 Transnet Pipelines / Kroonstad: https://www.transnet.net/getFile.ashx?id=30044 | 2026-10-05 | Isolated after pipeline service ended; reactivation requires receipt/dispatch improvements and storage licence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X4 Transnet Pipelines / Bethlehem: https://www.transnet.net/getFile.ashx?id=30048 | 2026-10-05 | Stranded after DJP decommissioning; storage licence and receipt/dispatch improvements required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X5 Transnet Pipelines / Magdala: https://www.transnet.net/getFile.ashx?id=30046 | 2026-10-05 | Stranded after DJP decommissioning; RFP location narrative conflicts; briefing coordinate retained | Lease opportunity only; not available operating capacity or model supply | owner Manish / Nigel review | next: Manish: verify tank condition, product eligibility, NERSA licence, lease award and delivered cost before activation; refresh at 2026-12-04 RFP close or earlier amendment</a:t>
            </a:r>
          </a:p>
          <a:p>
            <a:r>
              <a:t>Main panel gross stocks; separate lease panel has an enlarged 0–10 thousand m3 axis. Ladysmith: 8540 m3 petrol/diesel working capacity; excluded intermixture 474 m3; total working 9014 m3. Standerton: (1350000 + 220000 + 783000)/1000 = 2353 m3; gross/working basis unstated. Kroonstad: approximately 3300 m3; gross/working basis unstated. Bethlehem/Magdala have no quantified petroleum tank capacity. Lease assets are not added to operating supply, gross totals or accessibility cost-model origins. Vopak HTML data-end-number uses cbm, not the alternate displayed barrels. Primary RFPs retained under external/data/raw/transnet_leasing_20261006/. https://www.transnet.net/TPL-Leasing-Opportunities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4.png"/><Relationship Id="rId4" Type="http://schemas.openxmlformats.org/officeDocument/2006/relationships/image" Target="../media/image6.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pic>
        <p:nvPicPr>
          <p:cNvPr id="4" name="Picture 3" descr="A picture containing sky, building, outdoor, city&#10;&#10;Description automatically generated">
            <a:extLst>
              <a:ext uri="{FF2B5EF4-FFF2-40B4-BE49-F238E27FC236}">
                <a16:creationId xmlns:a16="http://schemas.microsoft.com/office/drawing/2014/main" id="{AF958CDF-21C2-4696-B1FF-98C6C69234CE}"/>
              </a:ext>
            </a:extLst>
          </p:cNvPr>
          <p:cNvPicPr>
            <a:picLocks noChangeAspect="1"/>
          </p:cNvPicPr>
          <p:nvPr userDrawn="1"/>
        </p:nvPicPr>
        <p:blipFill rotWithShape="1">
          <a:blip r:embed="rId2">
            <a:extLst>
              <a:ext uri="{28A0092B-C50C-407E-A947-70E740481C1C}">
                <a14:useLocalDpi xmlns:a14="http://schemas.microsoft.com/office/drawing/2010/main"/>
              </a:ext>
            </a:extLst>
          </a:blip>
          <a:srcRect/>
          <a:stretch/>
        </p:blipFill>
        <p:spPr>
          <a:xfrm>
            <a:off x="0" y="1"/>
            <a:ext cx="11588750" cy="6858000"/>
          </a:xfrm>
          <a:prstGeom prst="rect">
            <a:avLst/>
          </a:prstGeom>
        </p:spPr>
      </p:pic>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 y="5137149"/>
            <a:ext cx="4933950" cy="1571625"/>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Tree>
    <p:extLst>
      <p:ext uri="{BB962C8B-B14F-4D97-AF65-F5344CB8AC3E}">
        <p14:creationId xmlns:p14="http://schemas.microsoft.com/office/powerpoint/2010/main" val="17214373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7" name="Rectangle 6">
            <a:extLst>
              <a:ext uri="{FF2B5EF4-FFF2-40B4-BE49-F238E27FC236}">
                <a16:creationId xmlns:a16="http://schemas.microsoft.com/office/drawing/2014/main" id="{3E92D3BD-B933-88AB-9C21-59605B00713D}"/>
              </a:ext>
            </a:extLst>
          </p:cNvPr>
          <p:cNvSpPr/>
          <p:nvPr userDrawn="1"/>
        </p:nvSpPr>
        <p:spPr>
          <a:xfrm>
            <a:off x="5111750" y="5727050"/>
            <a:ext cx="6477000" cy="4571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6714368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p:spTree>
      <p:nvGrpSpPr>
        <p:cNvPr id="1" name=""/>
        <p:cNvGrpSpPr/>
        <p:nvPr/>
      </p:nvGrpSpPr>
      <p:grpSpPr>
        <a:xfrm>
          <a:off x="0" y="0"/>
          <a:ext cx="0" cy="0"/>
          <a:chOff x="0" y="0"/>
          <a:chExt cx="0" cy="0"/>
        </a:xfrm>
      </p:grpSpPr>
      <p:pic>
        <p:nvPicPr>
          <p:cNvPr id="2" name="Picture 1" descr="Vopak offering simultaneous LNG bunkering service in Rotterdam - Offshore  Energy">
            <a:extLst>
              <a:ext uri="{FF2B5EF4-FFF2-40B4-BE49-F238E27FC236}">
                <a16:creationId xmlns:a16="http://schemas.microsoft.com/office/drawing/2014/main" id="{04892275-F272-DCB3-8D5D-1CEB80A85CC4}"/>
              </a:ext>
            </a:extLst>
          </p:cNvPr>
          <p:cNvPicPr>
            <a:picLocks noChangeAspect="1"/>
          </p:cNvPicPr>
          <p:nvPr userDrawn="1"/>
        </p:nvPicPr>
        <p:blipFill>
          <a:blip r:embed="rId2"/>
          <a:srcRect l="1233" t="15791" r="178" b="318"/>
          <a:stretch>
            <a:fillRect/>
          </a:stretch>
        </p:blipFill>
        <p:spPr>
          <a:xfrm>
            <a:off x="1" y="-12700"/>
            <a:ext cx="11588749" cy="5753329"/>
          </a:xfrm>
          <a:prstGeom prst="rect">
            <a:avLst/>
          </a:prstGeom>
        </p:spPr>
      </p:pic>
      <p:sp>
        <p:nvSpPr>
          <p:cNvPr id="3" name="Slide Number Placeholder 2">
            <a:extLst>
              <a:ext uri="{FF2B5EF4-FFF2-40B4-BE49-F238E27FC236}">
                <a16:creationId xmlns:a16="http://schemas.microsoft.com/office/drawing/2014/main" id="{9509FAFE-21DB-4F6B-8EA1-32FA210B705A}"/>
              </a:ext>
            </a:extLst>
          </p:cNvPr>
          <p:cNvSpPr>
            <a:spLocks noGrp="1"/>
          </p:cNvSpPr>
          <p:nvPr>
            <p:ph type="sldNum" sz="quarter" idx="10"/>
          </p:nvPr>
        </p:nvSpPr>
        <p:spPr/>
        <p:txBody>
          <a:bodyPr/>
          <a:lstStyle/>
          <a:p>
            <a:fld id="{5E48029D-87D6-48C3-BA4B-1065A63511DF}" type="slidenum">
              <a:rPr lang="en-GB" smtClean="0">
                <a:solidFill>
                  <a:schemeClr val="tx1"/>
                </a:solidFill>
              </a:rPr>
              <a:pPr/>
              <a:t>‹#›</a:t>
            </a:fld>
            <a:endParaRPr lang="en-GB">
              <a:solidFill>
                <a:schemeClr val="tx1"/>
              </a:solidFill>
            </a:endParaRPr>
          </a:p>
        </p:txBody>
      </p:sp>
      <p:sp>
        <p:nvSpPr>
          <p:cNvPr id="4" name="Rectangle 3">
            <a:extLst>
              <a:ext uri="{FF2B5EF4-FFF2-40B4-BE49-F238E27FC236}">
                <a16:creationId xmlns:a16="http://schemas.microsoft.com/office/drawing/2014/main" id="{FC81615D-618B-242E-BA84-0838689DFC39}"/>
              </a:ext>
            </a:extLst>
          </p:cNvPr>
          <p:cNvSpPr/>
          <p:nvPr userDrawn="1"/>
        </p:nvSpPr>
        <p:spPr>
          <a:xfrm>
            <a:off x="1" y="5661025"/>
            <a:ext cx="11588749" cy="1200604"/>
          </a:xfrm>
          <a:prstGeom prst="rect">
            <a:avLst/>
          </a:prstGeom>
          <a:solidFill>
            <a:srgbClr val="32675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9" name="Text Placeholder 8">
            <a:extLst>
              <a:ext uri="{FF2B5EF4-FFF2-40B4-BE49-F238E27FC236}">
                <a16:creationId xmlns:a16="http://schemas.microsoft.com/office/drawing/2014/main" id="{F597E07F-A0B2-4C60-A493-63795665B2AC}"/>
              </a:ext>
            </a:extLst>
          </p:cNvPr>
          <p:cNvSpPr>
            <a:spLocks noGrp="1"/>
          </p:cNvSpPr>
          <p:nvPr>
            <p:ph type="body" sz="quarter" idx="11"/>
          </p:nvPr>
        </p:nvSpPr>
        <p:spPr>
          <a:xfrm>
            <a:off x="177800" y="5205413"/>
            <a:ext cx="4933950" cy="1652587"/>
          </a:xfrm>
          <a:solidFill>
            <a:schemeClr val="bg1">
              <a:alpha val="50000"/>
            </a:schemeClr>
          </a:solidFill>
        </p:spPr>
        <p:txBody>
          <a:bodyPr anchor="ctr">
            <a:noAutofit/>
          </a:bodyPr>
          <a:lstStyle>
            <a:lvl1pPr marL="0" indent="0">
              <a:buNone/>
              <a:defRPr sz="2400" b="1">
                <a:solidFill>
                  <a:schemeClr val="tx1"/>
                </a:solidFill>
              </a:defRPr>
            </a:lvl1pPr>
            <a:lvl2pPr>
              <a:defRPr sz="2000" b="1">
                <a:solidFill>
                  <a:schemeClr val="tx1"/>
                </a:solidFill>
              </a:defRPr>
            </a:lvl2pPr>
            <a:lvl3pPr>
              <a:defRPr sz="1800" b="1">
                <a:solidFill>
                  <a:schemeClr val="tx1"/>
                </a:solidFill>
              </a:defRPr>
            </a:lvl3pPr>
            <a:lvl4pPr>
              <a:defRPr sz="1600" b="1">
                <a:solidFill>
                  <a:schemeClr val="tx1"/>
                </a:solidFill>
              </a:defRPr>
            </a:lvl4pPr>
            <a:lvl5pPr>
              <a:defRPr sz="1600" b="1">
                <a:solidFill>
                  <a:schemeClr val="tx1"/>
                </a:solidFill>
              </a:defRPr>
            </a:lvl5pPr>
          </a:lstStyle>
          <a:p>
            <a:pPr lvl="0"/>
            <a:r>
              <a:rPr lang="en-US">
                <a:solidFill>
                  <a:schemeClr val="tx1"/>
                </a:solidFill>
              </a:rPr>
              <a:t>Click to edit Master text styles</a:t>
            </a:r>
          </a:p>
        </p:txBody>
      </p:sp>
      <p:sp>
        <p:nvSpPr>
          <p:cNvPr id="10" name="Cover title panel"/>
          <p:cNvSpPr/>
          <p:nvPr/>
        </p:nvSpPr>
        <p:spPr>
          <a:xfrm>
            <a:off x="118872" y="4690872"/>
            <a:ext cx="4992624" cy="1993392"/>
          </a:xfrm>
          <a:prstGeom prst="rect">
            <a:avLst/>
          </a:prstGeom>
          <a:solidFill>
            <a:srgbClr val="E7E6E6">
              <a:alpha val="6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Vopak cover logo" descr="A blue letter on a black background&#10;&#10;Description automatically generated">
            <a:extLst>
              <a:ext uri="{FF2B5EF4-FFF2-40B4-BE49-F238E27FC236}">
                <a16:creationId xmlns:a16="http://schemas.microsoft.com/office/drawing/2014/main" id="{F643500E-BA42-ED40-0D0F-F69255A71C8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29814" y="5675739"/>
            <a:ext cx="2518046" cy="564539"/>
          </a:xfrm>
          <a:prstGeom prst="rect">
            <a:avLst/>
          </a:prstGeom>
        </p:spPr>
      </p:pic>
    </p:spTree>
    <p:extLst>
      <p:ext uri="{BB962C8B-B14F-4D97-AF65-F5344CB8AC3E}">
        <p14:creationId xmlns:p14="http://schemas.microsoft.com/office/powerpoint/2010/main" val="21751062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429952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2917251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Agenda">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1460789-817F-4161-99E1-BBB95ED4BDDD}"/>
              </a:ext>
            </a:extLst>
          </p:cNvPr>
          <p:cNvSpPr>
            <a:spLocks noGrp="1"/>
          </p:cNvSpPr>
          <p:nvPr>
            <p:ph type="sldNum" sz="quarter" idx="10"/>
          </p:nvPr>
        </p:nvSpPr>
        <p:spPr/>
        <p:txBody>
          <a:bodyPr/>
          <a:lstStyle>
            <a:lvl1pP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sp>
        <p:nvSpPr>
          <p:cNvPr id="8" name="Rectangle 7">
            <a:extLst>
              <a:ext uri="{FF2B5EF4-FFF2-40B4-BE49-F238E27FC236}">
                <a16:creationId xmlns:a16="http://schemas.microsoft.com/office/drawing/2014/main" id="{EB4FC8D6-72B7-40D6-89CC-331B0BF40A6F}"/>
              </a:ext>
            </a:extLst>
          </p:cNvPr>
          <p:cNvSpPr/>
          <p:nvPr userDrawn="1"/>
        </p:nvSpPr>
        <p:spPr>
          <a:xfrm>
            <a:off x="9079200" y="0"/>
            <a:ext cx="2509074" cy="103504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9" name="Rectangle 8">
            <a:extLst>
              <a:ext uri="{FF2B5EF4-FFF2-40B4-BE49-F238E27FC236}">
                <a16:creationId xmlns:a16="http://schemas.microsoft.com/office/drawing/2014/main" id="{41EDA466-D75C-48F1-9F3F-47B154E770B8}"/>
              </a:ext>
            </a:extLst>
          </p:cNvPr>
          <p:cNvSpPr/>
          <p:nvPr userDrawn="1"/>
        </p:nvSpPr>
        <p:spPr>
          <a:xfrm>
            <a:off x="-29153" y="0"/>
            <a:ext cx="582352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endParaRPr lang="en-GB" sz="2800" b="1">
              <a:solidFill>
                <a:schemeClr val="tx1"/>
              </a:solidFill>
            </a:endParaRPr>
          </a:p>
          <a:p>
            <a:pPr algn="ctr"/>
            <a:endParaRPr lang="en-GB" sz="2800" b="1">
              <a:solidFill>
                <a:schemeClr val="tx1"/>
              </a:solidFill>
            </a:endParaRPr>
          </a:p>
        </p:txBody>
      </p:sp>
    </p:spTree>
    <p:extLst>
      <p:ext uri="{BB962C8B-B14F-4D97-AF65-F5344CB8AC3E}">
        <p14:creationId xmlns:p14="http://schemas.microsoft.com/office/powerpoint/2010/main" val="642766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Header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10605599" y="6489700"/>
            <a:ext cx="805350" cy="287338"/>
          </a:xfrm>
        </p:spPr>
        <p:txBody>
          <a:bodyPr/>
          <a:lstStyle>
            <a:lvl1pPr>
              <a:defRPr sz="1000">
                <a:solidFill>
                  <a:schemeClr val="tx1"/>
                </a:solidFill>
              </a:defRPr>
            </a:lvl1pPr>
          </a:lstStyle>
          <a:p>
            <a:fld id="{A65E4EDC-57F8-4D5C-B13E-A981C5F2F71A}" type="slidenum">
              <a:rPr lang="en-GB" smtClean="0">
                <a:solidFill>
                  <a:schemeClr val="tx1"/>
                </a:solidFill>
              </a:rPr>
              <a:pPr/>
              <a:t>‹#›</a:t>
            </a:fld>
            <a:endParaRPr lang="en-GB">
              <a:solidFill>
                <a:schemeClr val="tx1"/>
              </a:solidFill>
            </a:endParaRPr>
          </a:p>
        </p:txBody>
      </p:sp>
      <p:sp>
        <p:nvSpPr>
          <p:cNvPr id="3" name="Title Placeholder 1">
            <a:extLst>
              <a:ext uri="{FF2B5EF4-FFF2-40B4-BE49-F238E27FC236}">
                <a16:creationId xmlns:a16="http://schemas.microsoft.com/office/drawing/2014/main" id="{8395ED8E-92E9-32C5-9BE4-BAF8026DD357}"/>
              </a:ext>
            </a:extLst>
          </p:cNvPr>
          <p:cNvSpPr>
            <a:spLocks noGrp="1"/>
          </p:cNvSpPr>
          <p:nvPr>
            <p:ph type="title"/>
          </p:nvPr>
        </p:nvSpPr>
        <p:spPr>
          <a:xfrm>
            <a:off x="457200" y="585216"/>
            <a:ext cx="10561320" cy="822960"/>
          </a:xfrm>
          <a:prstGeom prst="rect">
            <a:avLst/>
          </a:prstGeom>
        </p:spPr>
        <p:txBody>
          <a:bodyPr vert="horz" lIns="91440" tIns="45720" rIns="91440" bIns="45720" rtlCol="0" anchor="ctr">
            <a:normAutofit/>
          </a:bodyPr>
          <a:lstStyle/>
          <a:p>
            <a:r>
              <a:rPr lang="en-US">
                <a:solidFill>
                  <a:schemeClr val="tx1"/>
                </a:solidFill>
              </a:rPr>
              <a:t>Click to edit Master title style</a:t>
            </a:r>
          </a:p>
        </p:txBody>
      </p:sp>
      <p:cxnSp>
        <p:nvCxnSpPr>
          <p:cNvPr id="7" name="Title and body separator"/>
          <p:cNvCxnSpPr/>
          <p:nvPr/>
        </p:nvCxnSpPr>
        <p:spPr>
          <a:xfrm>
            <a:off x="457200" y="1444752"/>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38964405"/>
      </p:ext>
    </p:extLst>
  </p:cSld>
  <p:clrMapOvr>
    <a:masterClrMapping/>
  </p:clrMapOvr>
  <p:extLst>
    <p:ext uri="{DCECCB84-F9BA-43D5-87BE-67443E8EF086}">
      <p15:sldGuideLst xmlns:p15="http://schemas.microsoft.com/office/powerpoint/2012/main">
        <p15:guide id="3" orient="horz" pos="2160" userDrawn="1">
          <p15:clr>
            <a:srgbClr val="FBAE40"/>
          </p15:clr>
        </p15:guide>
        <p15:guide id="4" pos="3650" userDrawn="1">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 Id="rId8" Type="http://schemas.openxmlformats.org/officeDocument/2006/relationships/image" Target="../media/image1.png"/><Relationship Id="rId9"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77801" y="368299"/>
            <a:ext cx="11233148" cy="690101"/>
          </a:xfrm>
          <a:prstGeom prst="rect">
            <a:avLst/>
          </a:prstGeom>
        </p:spPr>
        <p:txBody>
          <a:bodyPr vert="horz" lIns="91440" tIns="45720" rIns="91440" bIns="45720" rtlCol="0" anchor="ctr">
            <a:normAutofit/>
          </a:bodyPr>
          <a:lstStyle/>
          <a:p/>
        </p:txBody>
      </p:sp>
      <p:sp>
        <p:nvSpPr>
          <p:cNvPr id="3" name="Text Placeholder 2"/>
          <p:cNvSpPr>
            <a:spLocks noGrp="1"/>
          </p:cNvSpPr>
          <p:nvPr>
            <p:ph type="body" idx="1"/>
          </p:nvPr>
        </p:nvSpPr>
        <p:spPr>
          <a:xfrm>
            <a:off x="177801" y="1233488"/>
            <a:ext cx="11233149" cy="5256212"/>
          </a:xfrm>
          <a:prstGeom prst="rect">
            <a:avLst/>
          </a:prstGeom>
        </p:spPr>
        <p:txBody>
          <a:bodyPr vert="horz" lIns="91440" tIns="45720" rIns="91440" bIns="45720" rtlCol="0">
            <a:normAutofit/>
          </a:bodyPr>
          <a:lstStyle/>
          <a:p>
            <a:pPr lvl="0"/>
          </a:p>
        </p:txBody>
      </p:sp>
      <p:sp>
        <p:nvSpPr>
          <p:cNvPr id="6" name="Slide Number Placeholder 5"/>
          <p:cNvSpPr>
            <a:spLocks noGrp="1"/>
          </p:cNvSpPr>
          <p:nvPr>
            <p:ph type="sldNum" sz="quarter" idx="4"/>
          </p:nvPr>
        </p:nvSpPr>
        <p:spPr>
          <a:xfrm>
            <a:off x="10605599" y="6489700"/>
            <a:ext cx="805350" cy="287338"/>
          </a:xfrm>
          <a:prstGeom prst="rect">
            <a:avLst/>
          </a:prstGeom>
        </p:spPr>
        <p:txBody>
          <a:bodyPr vert="horz" lIns="91440" tIns="45720" rIns="91440" bIns="45720" rtlCol="0" anchor="ctr"/>
          <a:lstStyle>
            <a:lvl1pPr algn="r">
              <a:defRPr sz="1000">
                <a:solidFill>
                  <a:schemeClr val="tx1"/>
                </a:solidFill>
              </a:defRPr>
            </a:lvl1pPr>
          </a:lstStyle>
          <a:p>
            <a:fld id="{5E48029D-87D6-48C3-BA4B-1065A63511DF}" type="slidenum">
              <a:rPr lang="en-GB" smtClean="0">
                <a:solidFill>
                  <a:schemeClr val="tx1"/>
                </a:solidFill>
              </a:rPr>
              <a:pPr/>
              <a:t>‹#›</a:t>
            </a:fld>
            <a:endParaRPr lang="en-GB">
              <a:solidFill>
                <a:schemeClr val="tx1"/>
              </a:solidFill>
            </a:endParaRPr>
          </a:p>
        </p:txBody>
      </p:sp>
      <p:pic>
        <p:nvPicPr>
          <p:cNvPr id="4" name="Picture 2">
            <a:extLst>
              <a:ext uri="{FF2B5EF4-FFF2-40B4-BE49-F238E27FC236}">
                <a16:creationId xmlns:a16="http://schemas.microsoft.com/office/drawing/2014/main" id="{643CB578-80E0-884E-8515-53279D5DACC1}"/>
              </a:ext>
            </a:extLst>
          </p:cNvPr>
          <p:cNvPicPr>
            <a:picLocks noChangeAspect="1" noChangeArrowheads="1"/>
          </p:cNvPicPr>
          <p:nvPr userDrawn="1"/>
        </p:nvPicPr>
        <p:blipFill>
          <a:blip r:embed="rId8">
            <a:extLst>
              <a:ext uri="{28A0092B-C50C-407E-A947-70E740481C1C}">
                <a14:useLocalDpi xmlns:a14="http://schemas.microsoft.com/office/drawing/2010/main" val="0"/>
              </a:ext>
            </a:extLst>
          </a:blip>
          <a:srcRect/>
          <a:stretch>
            <a:fillRect/>
          </a:stretch>
        </p:blipFill>
        <p:spPr bwMode="auto">
          <a:xfrm>
            <a:off x="10104120" y="6556248"/>
            <a:ext cx="777240" cy="173447"/>
          </a:xfrm>
          <a:prstGeom prst="rect">
            <a:avLst/>
          </a:prstGeom>
          <a:noFill/>
          <a:extLst>
            <a:ext uri="{909E8E84-426E-40DD-AFC4-6F175D3DCCD1}">
              <a14:hiddenFill xmlns:a14="http://schemas.microsoft.com/office/drawing/2010/main">
                <a:solidFill>
                  <a:srgbClr val="FFFFFF"/>
                </a:solidFill>
              </a14:hiddenFill>
            </a:ext>
          </a:extLst>
        </p:spPr>
      </p:pic>
      <p:sp>
        <p:nvSpPr>
          <p:cNvPr id="9" name="Text Placeholder 6">
            <a:extLst>
              <a:ext uri="{FF2B5EF4-FFF2-40B4-BE49-F238E27FC236}">
                <a16:creationId xmlns:a16="http://schemas.microsoft.com/office/drawing/2014/main" id="{5CB3F387-66D0-18CC-51EE-24B908A792B7}"/>
              </a:ext>
            </a:extLst>
          </p:cNvPr>
          <p:cNvSpPr txBox="1">
            <a:spLocks/>
          </p:cNvSpPr>
          <p:nvPr userDrawn="1"/>
        </p:nvSpPr>
        <p:spPr>
          <a:xfrm>
            <a:off x="457200" y="6528816"/>
            <a:ext cx="8595360" cy="228600"/>
          </a:xfrm>
          <a:prstGeom prst="rect">
            <a:avLst/>
          </a:prstGeom>
        </p:spPr>
        <p:txBody>
          <a:bodyPr anchor="ctr" tIns="0" bIns="0">
            <a:normAutofit/>
          </a:bodyPr>
          <a:lstStyle>
            <a:lvl1pPr marL="0" indent="0" algn="l" defTabSz="869137" rtl="0" eaLnBrk="1" latinLnBrk="0" hangingPunct="1">
              <a:lnSpc>
                <a:spcPct val="90000"/>
              </a:lnSpc>
              <a:spcBef>
                <a:spcPts val="951"/>
              </a:spcBef>
              <a:buFont typeface="Arial" panose="020B0604020202020204" pitchFamily="34" charset="0"/>
              <a:buNone/>
              <a:defRPr sz="1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a:lstStyle>
          <a:p>
            <a:pPr>
              <a:defRPr sz="800">
                <a:solidFill>
                  <a:srgbClr val="404040"/>
                </a:solidFill>
                <a:latin typeface="Lato"/>
              </a:defRPr>
            </a:pPr>
          </a:p>
        </p:txBody>
      </p:sp>
      <p:cxnSp>
        <p:nvCxnSpPr>
          <p:cNvPr id="10" name="Fine footer rule"/>
          <p:cNvCxnSpPr/>
          <p:nvPr/>
        </p:nvCxnSpPr>
        <p:spPr>
          <a:xfrm>
            <a:off x="457200" y="6437376"/>
            <a:ext cx="10652760" cy="0"/>
          </a:xfrm>
          <a:prstGeom prst="line">
            <a:avLst/>
          </a:prstGeom>
          <a:ln w="3175">
            <a:solidFill>
              <a:srgbClr val="B0B0B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04016228"/>
      </p:ext>
    </p:extLst>
  </p:cSld>
  <p:clrMap bg1="lt1" tx1="dk1" bg2="lt2" tx2="dk2" accent1="accent1" accent2="accent2" accent3="accent3" accent4="accent4" accent5="accent5" accent6="accent6" hlink="hlink" folHlink="folHlink"/>
  <p:sldLayoutIdLst>
    <p:sldLayoutId id="2147483713" r:id="rId1"/>
    <p:sldLayoutId id="2147483718" r:id="rId2"/>
    <p:sldLayoutId id="2147483723" r:id="rId3"/>
    <p:sldLayoutId id="2147483724" r:id="rId4"/>
    <p:sldLayoutId id="2147483725" r:id="rId5"/>
    <p:sldLayoutId id="2147483698" r:id="rId6"/>
  </p:sldLayoutIdLst>
  <p:hf hdr="0" ftr="0" dt="0"/>
  <p:txStyles>
    <p:titleStyle>
      <a:lvl1pPr algn="l" defTabSz="869137" rtl="0" eaLnBrk="1" latinLnBrk="0" hangingPunct="1">
        <a:lnSpc>
          <a:spcPct val="90000"/>
        </a:lnSpc>
        <a:spcBef>
          <a:spcPct val="0"/>
        </a:spcBef>
        <a:buNone/>
        <a:defRPr sz="2200" b="1" kern="1200">
          <a:solidFill>
            <a:schemeClr val="tx1"/>
          </a:solidFill>
          <a:latin typeface="+mj-lt"/>
          <a:ea typeface="+mj-ea"/>
          <a:cs typeface="+mj-cs"/>
        </a:defRPr>
      </a:lvl1pPr>
    </p:titleStyle>
    <p:bodyStyle>
      <a:lvl1pPr marL="217284" indent="-217284" algn="l" defTabSz="869137" rtl="0" eaLnBrk="1" latinLnBrk="0" hangingPunct="1">
        <a:lnSpc>
          <a:spcPct val="90000"/>
        </a:lnSpc>
        <a:spcBef>
          <a:spcPts val="951"/>
        </a:spcBef>
        <a:buFont typeface="Arial" panose="020B0604020202020204" pitchFamily="34" charset="0"/>
        <a:buChar char="•"/>
        <a:defRPr sz="2000" kern="1200">
          <a:solidFill>
            <a:schemeClr val="tx1"/>
          </a:solidFill>
          <a:latin typeface="+mn-lt"/>
          <a:ea typeface="+mn-ea"/>
          <a:cs typeface="+mn-cs"/>
        </a:defRPr>
      </a:lvl1pPr>
      <a:lvl2pPr marL="651853" indent="-217284" algn="l" defTabSz="869137" rtl="0" eaLnBrk="1" latinLnBrk="0" hangingPunct="1">
        <a:lnSpc>
          <a:spcPct val="90000"/>
        </a:lnSpc>
        <a:spcBef>
          <a:spcPts val="475"/>
        </a:spcBef>
        <a:buFont typeface="Arial" panose="020B0604020202020204" pitchFamily="34" charset="0"/>
        <a:buChar char="•"/>
        <a:defRPr sz="1800" kern="1200">
          <a:solidFill>
            <a:schemeClr val="tx1"/>
          </a:solidFill>
          <a:latin typeface="+mn-lt"/>
          <a:ea typeface="+mn-ea"/>
          <a:cs typeface="+mn-cs"/>
        </a:defRPr>
      </a:lvl2pPr>
      <a:lvl3pPr marL="1086422" indent="-217284" algn="l" defTabSz="869137" rtl="0" eaLnBrk="1" latinLnBrk="0" hangingPunct="1">
        <a:lnSpc>
          <a:spcPct val="90000"/>
        </a:lnSpc>
        <a:spcBef>
          <a:spcPts val="475"/>
        </a:spcBef>
        <a:buFont typeface="Arial" panose="020B0604020202020204" pitchFamily="34" charset="0"/>
        <a:buChar char="•"/>
        <a:defRPr sz="1600" kern="1200">
          <a:solidFill>
            <a:schemeClr val="tx1"/>
          </a:solidFill>
          <a:latin typeface="+mn-lt"/>
          <a:ea typeface="+mn-ea"/>
          <a:cs typeface="+mn-cs"/>
        </a:defRPr>
      </a:lvl3pPr>
      <a:lvl4pPr marL="1520990"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4pPr>
      <a:lvl5pPr marL="1955559" indent="-217284" algn="l" defTabSz="869137" rtl="0" eaLnBrk="1" latinLnBrk="0" hangingPunct="1">
        <a:lnSpc>
          <a:spcPct val="90000"/>
        </a:lnSpc>
        <a:spcBef>
          <a:spcPts val="475"/>
        </a:spcBef>
        <a:buFont typeface="Arial" panose="020B0604020202020204" pitchFamily="34" charset="0"/>
        <a:buChar char="•"/>
        <a:defRPr sz="1400" kern="1200">
          <a:solidFill>
            <a:schemeClr val="tx1"/>
          </a:solidFill>
          <a:latin typeface="+mn-lt"/>
          <a:ea typeface="+mn-ea"/>
          <a:cs typeface="+mn-cs"/>
        </a:defRPr>
      </a:lvl5pPr>
      <a:lvl6pPr marL="2390127"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6pPr>
      <a:lvl7pPr marL="2824696"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7pPr>
      <a:lvl8pPr marL="3259265"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8pPr>
      <a:lvl9pPr marL="3693833" indent="-217284" algn="l" defTabSz="869137" rtl="0" eaLnBrk="1" latinLnBrk="0" hangingPunct="1">
        <a:lnSpc>
          <a:spcPct val="90000"/>
        </a:lnSpc>
        <a:spcBef>
          <a:spcPts val="475"/>
        </a:spcBef>
        <a:buFont typeface="Arial" panose="020B0604020202020204" pitchFamily="34" charset="0"/>
        <a:buChar char="•"/>
        <a:defRPr sz="1711" kern="1200">
          <a:solidFill>
            <a:schemeClr val="tx1"/>
          </a:solidFill>
          <a:latin typeface="+mn-lt"/>
          <a:ea typeface="+mn-ea"/>
          <a:cs typeface="+mn-cs"/>
        </a:defRPr>
      </a:lvl9pPr>
    </p:bodyStyle>
    <p:otherStyle>
      <a:defPPr>
        <a:defRPr lang="en-US"/>
      </a:defPPr>
      <a:lvl1pPr marL="0" algn="l" defTabSz="869137" rtl="0" eaLnBrk="1" latinLnBrk="0" hangingPunct="1">
        <a:defRPr sz="1711" kern="1200">
          <a:solidFill>
            <a:schemeClr val="tx1"/>
          </a:solidFill>
          <a:latin typeface="+mn-lt"/>
          <a:ea typeface="+mn-ea"/>
          <a:cs typeface="+mn-cs"/>
        </a:defRPr>
      </a:lvl1pPr>
      <a:lvl2pPr marL="434569" algn="l" defTabSz="869137" rtl="0" eaLnBrk="1" latinLnBrk="0" hangingPunct="1">
        <a:defRPr sz="1711" kern="1200">
          <a:solidFill>
            <a:schemeClr val="tx1"/>
          </a:solidFill>
          <a:latin typeface="+mn-lt"/>
          <a:ea typeface="+mn-ea"/>
          <a:cs typeface="+mn-cs"/>
        </a:defRPr>
      </a:lvl2pPr>
      <a:lvl3pPr marL="869137" algn="l" defTabSz="869137" rtl="0" eaLnBrk="1" latinLnBrk="0" hangingPunct="1">
        <a:defRPr sz="1711" kern="1200">
          <a:solidFill>
            <a:schemeClr val="tx1"/>
          </a:solidFill>
          <a:latin typeface="+mn-lt"/>
          <a:ea typeface="+mn-ea"/>
          <a:cs typeface="+mn-cs"/>
        </a:defRPr>
      </a:lvl3pPr>
      <a:lvl4pPr marL="1303706" algn="l" defTabSz="869137" rtl="0" eaLnBrk="1" latinLnBrk="0" hangingPunct="1">
        <a:defRPr sz="1711" kern="1200">
          <a:solidFill>
            <a:schemeClr val="tx1"/>
          </a:solidFill>
          <a:latin typeface="+mn-lt"/>
          <a:ea typeface="+mn-ea"/>
          <a:cs typeface="+mn-cs"/>
        </a:defRPr>
      </a:lvl4pPr>
      <a:lvl5pPr marL="1738274" algn="l" defTabSz="869137" rtl="0" eaLnBrk="1" latinLnBrk="0" hangingPunct="1">
        <a:defRPr sz="1711" kern="1200">
          <a:solidFill>
            <a:schemeClr val="tx1"/>
          </a:solidFill>
          <a:latin typeface="+mn-lt"/>
          <a:ea typeface="+mn-ea"/>
          <a:cs typeface="+mn-cs"/>
        </a:defRPr>
      </a:lvl5pPr>
      <a:lvl6pPr marL="2172843" algn="l" defTabSz="869137" rtl="0" eaLnBrk="1" latinLnBrk="0" hangingPunct="1">
        <a:defRPr sz="1711" kern="1200">
          <a:solidFill>
            <a:schemeClr val="tx1"/>
          </a:solidFill>
          <a:latin typeface="+mn-lt"/>
          <a:ea typeface="+mn-ea"/>
          <a:cs typeface="+mn-cs"/>
        </a:defRPr>
      </a:lvl6pPr>
      <a:lvl7pPr marL="2607412" algn="l" defTabSz="869137" rtl="0" eaLnBrk="1" latinLnBrk="0" hangingPunct="1">
        <a:defRPr sz="1711" kern="1200">
          <a:solidFill>
            <a:schemeClr val="tx1"/>
          </a:solidFill>
          <a:latin typeface="+mn-lt"/>
          <a:ea typeface="+mn-ea"/>
          <a:cs typeface="+mn-cs"/>
        </a:defRPr>
      </a:lvl7pPr>
      <a:lvl8pPr marL="3041980" algn="l" defTabSz="869137" rtl="0" eaLnBrk="1" latinLnBrk="0" hangingPunct="1">
        <a:defRPr sz="1711" kern="1200">
          <a:solidFill>
            <a:schemeClr val="tx1"/>
          </a:solidFill>
          <a:latin typeface="+mn-lt"/>
          <a:ea typeface="+mn-ea"/>
          <a:cs typeface="+mn-cs"/>
        </a:defRPr>
      </a:lvl8pPr>
      <a:lvl9pPr marL="3476549" algn="l" defTabSz="869137" rtl="0" eaLnBrk="1" latinLnBrk="0" hangingPunct="1">
        <a:defRPr sz="1711" kern="1200">
          <a:solidFill>
            <a:schemeClr val="tx1"/>
          </a:solidFill>
          <a:latin typeface="+mn-lt"/>
          <a:ea typeface="+mn-ea"/>
          <a:cs typeface="+mn-cs"/>
        </a:defRPr>
      </a:lvl9pPr>
    </p:otherStyle>
  </p:txStyles>
  <p:extLst>
    <p:ext uri="{27BBF7A9-308A-43DC-89C8-2F10F3537804}">
      <p15:sldGuideLst xmlns:p15="http://schemas.microsoft.com/office/powerpoint/2012/main">
        <p15:guide id="12" orient="horz" pos="2160" userDrawn="1">
          <p15:clr>
            <a:srgbClr val="F26B43"/>
          </p15:clr>
        </p15:guide>
        <p15:guide id="13" pos="112" userDrawn="1">
          <p15:clr>
            <a:srgbClr val="F26B43"/>
          </p15:clr>
        </p15:guide>
        <p15:guide id="14" orient="horz" pos="4269" userDrawn="1">
          <p15:clr>
            <a:srgbClr val="F26B43"/>
          </p15:clr>
        </p15:guide>
        <p15:guide id="15" pos="3650" userDrawn="1">
          <p15:clr>
            <a:srgbClr val="F26B43"/>
          </p15:clr>
        </p15:guide>
        <p15:guide id="16" pos="7188" userDrawn="1">
          <p15:clr>
            <a:srgbClr val="F26B43"/>
          </p15:clr>
        </p15:guide>
        <p15:guide id="17" orient="horz" pos="28" userDrawn="1">
          <p15:clr>
            <a:srgbClr val="F26B43"/>
          </p15:clr>
        </p15:guide>
        <p15:guide id="18" orient="horz" pos="686" userDrawn="1">
          <p15:clr>
            <a:srgbClr val="F26B43"/>
          </p15:clr>
        </p15:guide>
        <p15:guide id="19" orient="horz" pos="777" userDrawn="1">
          <p15:clr>
            <a:srgbClr val="F26B43"/>
          </p15:clr>
        </p15:guide>
        <p15:guide id="20" orient="horz" pos="4088" userDrawn="1">
          <p15:clr>
            <a:srgbClr val="F26B43"/>
          </p15:clr>
        </p15:guide>
        <p15:guide id="21" orient="horz" pos="3680" userDrawn="1">
          <p15:clr>
            <a:srgbClr val="F26B43"/>
          </p15:clr>
        </p15:guide>
        <p15:guide id="22" orient="horz" pos="3566" userDrawn="1">
          <p15:clr>
            <a:srgbClr val="F26B43"/>
          </p15:clr>
        </p15:guide>
        <p15:guide id="23" pos="5805"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7.jpg"/><Relationship Id="rId3" Type="http://schemas.openxmlformats.org/officeDocument/2006/relationships/image" Target="../media/image8.png"/><Relationship Id="rId4" Type="http://schemas.openxmlformats.org/officeDocument/2006/relationships/hyperlink" Target="https://www.vopak.com/terminals/vopak-terminal-durban" TargetMode="Externa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9.jpg"/><Relationship Id="rId3" Type="http://schemas.openxmlformats.org/officeDocument/2006/relationships/image" Target="../media/image8.png"/><Relationship Id="rId4" Type="http://schemas.openxmlformats.org/officeDocument/2006/relationships/hyperlink" Target="https://www.vopak.com/terminals/vopak-terminal-lesedi" TargetMode="External"/><Relationship Id="rId5" Type="http://schemas.openxmlformats.org/officeDocument/2006/relationships/notesSlide" Target="../notesSlides/notesSlide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 Id="rId3" Type="http://schemas.openxmlformats.org/officeDocument/2006/relationships/chart" Target="../charts/char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hyperlink" Target="https://www.vopak.com/system/files/Vopak_Annual_Report_2025.pdf" TargetMode="External"/><Relationship Id="rId4" Type="http://schemas.openxmlformats.org/officeDocument/2006/relationships/hyperlink" Target="https://www.bidtanks.com/pages/1562/about-us" TargetMode="External"/><Relationship Id="rId5" Type="http://schemas.openxmlformats.org/officeDocument/2006/relationships/hyperlink" Target="https://www.vtti.com/location/cape-town-south-africa-bct/" TargetMode="External"/><Relationship Id="rId6" Type="http://schemas.openxmlformats.org/officeDocument/2006/relationships/hyperlink" Target="https://www.shell.co.za/motorists/shell-fuels/fuel-storage-facilities.html" TargetMode="External"/><Relationship Id="rId7" Type="http://schemas.openxmlformats.org/officeDocument/2006/relationships/hyperlink" Target="https://www.nersa.org.za/petroleum-pipelines/third-party-access" TargetMode="External"/><Relationship Id="rId8" Type="http://schemas.openxmlformats.org/officeDocument/2006/relationships/hyperlink" Target="https://sasol.com/our-businesses/energy" TargetMode="External"/><Relationship Id="rId9" Type="http://schemas.openxmlformats.org/officeDocument/2006/relationships/hyperlink" Target="https://www.transnet.net/TPL-Leasing-Opportuniti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1836" r="21836"/>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Liquid fuels</a:t>
            </a:r>
          </a:p>
          <a:p>
            <a:pPr>
              <a:spcAft>
                <a:spcPts val="800"/>
              </a:spcAft>
              <a:defRPr sz="3100" b="0">
                <a:solidFill>
                  <a:srgbClr val="FFFFFF"/>
                </a:solidFill>
                <a:latin typeface="Lato"/>
              </a:defRPr>
            </a:pPr>
            <a:r>
              <a:t>demand and supply</a:t>
            </a:r>
          </a:p>
          <a:p>
            <a:pPr>
              <a:spcAft>
                <a:spcPts val="800"/>
              </a:spcAft>
              <a:defRPr sz="3100" b="0">
                <a:solidFill>
                  <a:srgbClr val="FFFFFF"/>
                </a:solidFill>
                <a:latin typeface="Lato"/>
              </a:defRPr>
            </a:pPr>
            <a:r>
              <a:t>model</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Week 1 analytical pack</a:t>
            </a:r>
          </a:p>
        </p:txBody>
      </p:sp>
      <p:sp>
        <p:nvSpPr>
          <p:cNvPr id="8" name="TextBox 7"/>
          <p:cNvSpPr txBox="1"/>
          <p:nvPr/>
        </p:nvSpPr>
        <p:spPr>
          <a:xfrm>
            <a:off x="594360" y="5239512"/>
            <a:ext cx="4572000" cy="36576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South Africa | Petrol and diesel</a:t>
            </a:r>
          </a:p>
        </p:txBody>
      </p:sp>
      <p:sp>
        <p:nvSpPr>
          <p:cNvPr id="9" name="TextBox 8"/>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10" name="TextBox 9"/>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1"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Durban | vopak.com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Map conditional market access from Durban and Lesedi</a:t>
            </a:r>
          </a:p>
        </p:txBody>
      </p:sp>
      <p:sp>
        <p:nvSpPr>
          <p:cNvPr id="3" name="Slide Number Placeholder"/>
          <p:cNvSpPr>
            <a:spLocks noGrp="1"/>
          </p:cNvSpPr>
          <p:nvPr>
            <p:ph type="sldNum" sz="quarter" idx="12"/>
          </p:nvPr>
        </p:nvSpPr>
        <p:spPr/>
        <p:txBody>
          <a:bodyPr/>
          <a:lstStyle/>
          <a:p>
            <a:fld id="{BF727970-95E9-49D7-9EB0-D67854984AD5}"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Existing appendix routes; illustrative candidate connections, not verified catchments. Natural Earth 1:50m.</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Road-delivery accessibility | illustrative transport cost, R/litre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coastal and inland links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Road candidates connect coastal customers and inland transfers. Pipelines are separate supply connections.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Lesedi: inland dispatch</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Test receipt, dispatch, tanker cycles and customer destinations for connected inland markets.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Lower cost means higher accessibility</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Darker cells show lower example road-delivery cost from either facility. Pipe and rail lines remain context.</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Customer access is unverified</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Contracts and competitors define the commercial envelope. Actual customer catchments are not supplied.</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cxnSp>
        <p:nvCxnSpPr>
          <p:cNvPr id="516" name="Connector 515"/>
          <p:cNvCxnSpPr/>
          <p:nvPr/>
        </p:nvCxnSpPr>
        <p:spPr>
          <a:xfrm flipH="1" flipV="1">
            <a:off x="4908306" y="4236989"/>
            <a:ext cx="139043" cy="7850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7" name="Connector 516"/>
          <p:cNvCxnSpPr/>
          <p:nvPr/>
        </p:nvCxnSpPr>
        <p:spPr>
          <a:xfrm flipH="1" flipV="1">
            <a:off x="4776353" y="4128835"/>
            <a:ext cx="131953" cy="10815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8" name="Connector 517"/>
          <p:cNvCxnSpPr/>
          <p:nvPr/>
        </p:nvCxnSpPr>
        <p:spPr>
          <a:xfrm flipH="1" flipV="1">
            <a:off x="4638838" y="3888100"/>
            <a:ext cx="137515" cy="240735"/>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19" name="Connector 518"/>
          <p:cNvCxnSpPr/>
          <p:nvPr/>
        </p:nvCxnSpPr>
        <p:spPr>
          <a:xfrm flipV="1">
            <a:off x="4638838" y="3655201"/>
            <a:ext cx="1051" cy="23289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0" name="Connector 519"/>
          <p:cNvCxnSpPr/>
          <p:nvPr/>
        </p:nvCxnSpPr>
        <p:spPr>
          <a:xfrm flipH="1" flipV="1">
            <a:off x="4477109" y="3427567"/>
            <a:ext cx="162780" cy="227634"/>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1" name="Connector 520"/>
          <p:cNvCxnSpPr/>
          <p:nvPr/>
        </p:nvCxnSpPr>
        <p:spPr>
          <a:xfrm flipH="1" flipV="1">
            <a:off x="4407683" y="3349004"/>
            <a:ext cx="69426" cy="78563"/>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2" name="Connector 52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23" name="Connector 522"/>
          <p:cNvCxnSpPr/>
          <p:nvPr/>
        </p:nvCxnSpPr>
        <p:spPr>
          <a:xfrm flipV="1">
            <a:off x="4532053" y="4470941"/>
            <a:ext cx="150466" cy="2610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4" name="Connector 523"/>
          <p:cNvCxnSpPr/>
          <p:nvPr/>
        </p:nvCxnSpPr>
        <p:spPr>
          <a:xfrm>
            <a:off x="4682519" y="4470941"/>
            <a:ext cx="225376" cy="58177"/>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5" name="Connector 524"/>
          <p:cNvCxnSpPr/>
          <p:nvPr/>
        </p:nvCxnSpPr>
        <p:spPr>
          <a:xfrm flipV="1">
            <a:off x="4907895" y="4315496"/>
            <a:ext cx="139454" cy="213622"/>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6" name="Connector 525"/>
          <p:cNvCxnSpPr/>
          <p:nvPr/>
        </p:nvCxnSpPr>
        <p:spPr>
          <a:xfrm flipV="1">
            <a:off x="5047349" y="4037215"/>
            <a:ext cx="210381" cy="278281"/>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7" name="Connector 526"/>
          <p:cNvCxnSpPr/>
          <p:nvPr/>
        </p:nvCxnSpPr>
        <p:spPr>
          <a:xfrm flipV="1">
            <a:off x="5257730" y="3712239"/>
            <a:ext cx="57336" cy="324976"/>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8" name="Connector 527"/>
          <p:cNvCxnSpPr/>
          <p:nvPr/>
        </p:nvCxnSpPr>
        <p:spPr>
          <a:xfrm flipH="1" flipV="1">
            <a:off x="5072949" y="3578600"/>
            <a:ext cx="242117" cy="133639"/>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29" name="Connector 528"/>
          <p:cNvCxnSpPr/>
          <p:nvPr/>
        </p:nvCxnSpPr>
        <p:spPr>
          <a:xfrm flipH="1" flipV="1">
            <a:off x="4849118" y="3448062"/>
            <a:ext cx="223831" cy="130538"/>
          </a:xfrm>
          <a:prstGeom prst="line">
            <a:avLst/>
          </a:prstGeom>
          <a:ln w="29209">
            <a:solidFill>
              <a:srgbClr val="0A2373"/>
            </a:solidFill>
          </a:ln>
        </p:spPr>
        <p:style>
          <a:lnRef idx="2">
            <a:schemeClr val="accent1"/>
          </a:lnRef>
          <a:fillRef idx="0">
            <a:schemeClr val="accent1"/>
          </a:fillRef>
          <a:effectRef idx="1">
            <a:schemeClr val="accent1"/>
          </a:effectRef>
          <a:fontRef idx="minor">
            <a:schemeClr val="tx1"/>
          </a:fontRef>
        </p:style>
      </p:cxnSp>
      <p:cxnSp>
        <p:nvCxnSpPr>
          <p:cNvPr id="530" name="Connector 529"/>
          <p:cNvCxnSpPr/>
          <p:nvPr/>
        </p:nvCxnSpPr>
        <p:spPr>
          <a:xfrm flipH="1" flipV="1">
            <a:off x="4407683" y="3349004"/>
            <a:ext cx="639666" cy="9664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31" name="Diamond 530"/>
          <p:cNvSpPr/>
          <p:nvPr/>
        </p:nvSpPr>
        <p:spPr>
          <a:xfrm>
            <a:off x="4965053" y="4233200"/>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2" name="Connector 531"/>
          <p:cNvCxnSpPr/>
          <p:nvPr/>
        </p:nvCxnSpPr>
        <p:spPr>
          <a:xfrm flipH="1" flipV="1">
            <a:off x="4484419" y="3412423"/>
            <a:ext cx="562930" cy="903073"/>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cxnSp>
        <p:nvCxnSpPr>
          <p:cNvPr id="533" name="Connector 532"/>
          <p:cNvCxnSpPr/>
          <p:nvPr/>
        </p:nvCxnSpPr>
        <p:spPr>
          <a:xfrm flipH="1" flipV="1">
            <a:off x="4407683" y="3349004"/>
            <a:ext cx="76736" cy="63419"/>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4" name="Connector 533"/>
          <p:cNvCxnSpPr/>
          <p:nvPr/>
        </p:nvCxnSpPr>
        <p:spPr>
          <a:xfrm flipV="1">
            <a:off x="4407683" y="3234833"/>
            <a:ext cx="35153" cy="114171"/>
          </a:xfrm>
          <a:prstGeom prst="line">
            <a:avLst/>
          </a:prstGeom>
          <a:ln w="29209">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5" name="Connector 534"/>
          <p:cNvCxnSpPr/>
          <p:nvPr/>
        </p:nvCxnSpPr>
        <p:spPr>
          <a:xfrm>
            <a:off x="3869319" y="3105553"/>
            <a:ext cx="353970" cy="10393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6" name="Connector 535"/>
          <p:cNvCxnSpPr/>
          <p:nvPr/>
        </p:nvCxnSpPr>
        <p:spPr>
          <a:xfrm>
            <a:off x="4223289" y="3209491"/>
            <a:ext cx="219547" cy="25342"/>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7" name="Connector 536"/>
          <p:cNvCxnSpPr/>
          <p:nvPr/>
        </p:nvCxnSpPr>
        <p:spPr>
          <a:xfrm>
            <a:off x="4442836" y="3234833"/>
            <a:ext cx="239629" cy="37995"/>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8" name="Connector 537"/>
          <p:cNvCxnSpPr/>
          <p:nvPr/>
        </p:nvCxnSpPr>
        <p:spPr>
          <a:xfrm flipV="1">
            <a:off x="4682465" y="3187480"/>
            <a:ext cx="406634" cy="85348"/>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39" name="Connector 538"/>
          <p:cNvCxnSpPr/>
          <p:nvPr/>
        </p:nvCxnSpPr>
        <p:spPr>
          <a:xfrm>
            <a:off x="5089099" y="3187480"/>
            <a:ext cx="234267" cy="4764"/>
          </a:xfrm>
          <a:prstGeom prst="line">
            <a:avLst/>
          </a:prstGeom>
          <a:ln w="25400">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540" name="Connector 539"/>
          <p:cNvCxnSpPr/>
          <p:nvPr/>
        </p:nvCxnSpPr>
        <p:spPr>
          <a:xfrm flipV="1">
            <a:off x="4211966" y="3349004"/>
            <a:ext cx="195717" cy="366556"/>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1" name="Connector 540"/>
          <p:cNvCxnSpPr/>
          <p:nvPr/>
        </p:nvCxnSpPr>
        <p:spPr>
          <a:xfrm flipV="1">
            <a:off x="4407683" y="3234833"/>
            <a:ext cx="35153" cy="11417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2" name="Connector 541"/>
          <p:cNvCxnSpPr/>
          <p:nvPr/>
        </p:nvCxnSpPr>
        <p:spPr>
          <a:xfrm flipV="1">
            <a:off x="4442836" y="2771412"/>
            <a:ext cx="307542" cy="463421"/>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cxnSp>
        <p:nvCxnSpPr>
          <p:cNvPr id="543" name="Connector 542"/>
          <p:cNvCxnSpPr/>
          <p:nvPr/>
        </p:nvCxnSpPr>
        <p:spPr>
          <a:xfrm flipV="1">
            <a:off x="4750378" y="2350020"/>
            <a:ext cx="142270" cy="421392"/>
          </a:xfrm>
          <a:prstGeom prst="line">
            <a:avLst/>
          </a:prstGeom>
          <a:ln w="13970">
            <a:solidFill>
              <a:srgbClr val="000000"/>
            </a:solidFill>
            <a:prstDash val="dashDot"/>
          </a:ln>
        </p:spPr>
        <p:style>
          <a:lnRef idx="2">
            <a:schemeClr val="accent1"/>
          </a:lnRef>
          <a:fillRef idx="0">
            <a:schemeClr val="accent1"/>
          </a:fillRef>
          <a:effectRef idx="1">
            <a:schemeClr val="accent1"/>
          </a:effectRef>
          <a:fontRef idx="minor">
            <a:schemeClr val="tx1"/>
          </a:fontRef>
        </p:style>
      </p:cxnSp>
      <p:sp>
        <p:nvSpPr>
          <p:cNvPr id="544" name="Diamond 543"/>
          <p:cNvSpPr/>
          <p:nvPr/>
        </p:nvSpPr>
        <p:spPr>
          <a:xfrm>
            <a:off x="4402123" y="3330127"/>
            <a:ext cx="164592" cy="164592"/>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Rectangle 544"/>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TextBox 545"/>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47" name="Rectangle 546"/>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TextBox 547"/>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49" name="Rectangle 548"/>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TextBox 549"/>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51" name="Rectangle 550"/>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TextBox 551"/>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53" name="Rectangle 552"/>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TextBox 553"/>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55" name="Rectangle 554"/>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TextBox 555"/>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57" name="TextBox 556"/>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58" name="TextBox 557"/>
          <p:cNvSpPr txBox="1"/>
          <p:nvPr/>
        </p:nvSpPr>
        <p:spPr>
          <a:xfrm>
            <a:off x="457200" y="6153912"/>
            <a:ext cx="6446520" cy="192024"/>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Example rate: R0.15/L dispatch + R0.002/L/km. Grey = unassessed.</a:t>
            </a:r>
          </a:p>
        </p:txBody>
      </p:sp>
      <p:sp>
        <p:nvSpPr>
          <p:cNvPr id="559" name="TextBox 558"/>
          <p:cNvSpPr txBox="1"/>
          <p:nvPr/>
        </p:nvSpPr>
        <p:spPr>
          <a:xfrm>
            <a:off x="457200" y="6391656"/>
            <a:ext cx="653796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Illustrative road cost only. Pipeline/rail access and commercial rights are not priced.</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Separate demand, accessible volume and Vopak flows</a:t>
            </a:r>
          </a:p>
        </p:txBody>
      </p:sp>
      <p:sp>
        <p:nvSpPr>
          <p:cNvPr id="3" name="Slide Number Placeholder"/>
          <p:cNvSpPr>
            <a:spLocks noGrp="1"/>
          </p:cNvSpPr>
          <p:nvPr>
            <p:ph type="sldNum" sz="quarter" idx="12"/>
          </p:nvPr>
        </p:nvSpPr>
        <p:spPr/>
        <p:txBody>
          <a:bodyPr/>
          <a:lstStyle/>
          <a:p>
            <a:fld id="{85B775BA-8643-4C9E-8C12-5812EF8EBFE2}"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Illustrative CSVs and road transport rates; no actual Vopak throughput or quoted transport costs supplied.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Cost accessibility and market volumes | illustrative</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National balance sets import needs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Demand of 21.0 less domestic production of 7.0 gives required imports of 14.0 in this illustration.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Count unique customer demand once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Receipts of 2.8 at Durban and 2.0 at Lesedi include a shared 1.8 transfer. Unique demand served is 3.0.</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Candidate opportunity is conditional</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example commercial envelope is 8.5; current unique demand served is 3.0, leaving a candidate 5.5.</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Replace examples with evidence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Match regional demand, route constraints, customer flows and contracts by product, period and units.</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Illustrative delivered road transport cost class None; reference terminal None"/>
          <p:cNvSpPr/>
          <p:nvPr/>
        </p:nvSpPr>
        <p:spPr>
          <a:xfrm>
            <a:off x="1777332" y="4003253"/>
            <a:ext cx="23246" cy="51234"/>
          </a:xfrm>
          <a:custGeom>
            <a:avLst/>
            <a:gdLst/>
            <a:ahLst/>
            <a:cxnLst/>
            <a:rect l="l" t="t" r="r" b="b"/>
            <a:pathLst>
              <a:path w="23246" h="51234">
                <a:moveTo>
                  <a:pt x="23246" y="51234"/>
                </a:moveTo>
                <a:lnTo>
                  <a:pt x="7894" y="29876"/>
                </a:lnTo>
                <a:lnTo>
                  <a:pt x="0" y="24297"/>
                </a:lnTo>
                <a:lnTo>
                  <a:pt x="8068" y="12224"/>
                </a:lnTo>
                <a:lnTo>
                  <a:pt x="23246" y="0"/>
                </a:lnTo>
                <a:lnTo>
                  <a:pt x="23246" y="5123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Illustrative delivered road transport cost class None; reference terminal None"/>
          <p:cNvSpPr/>
          <p:nvPr/>
        </p:nvSpPr>
        <p:spPr>
          <a:xfrm>
            <a:off x="1843178" y="4113755"/>
            <a:ext cx="15086" cy="24460"/>
          </a:xfrm>
          <a:custGeom>
            <a:avLst/>
            <a:gdLst/>
            <a:ahLst/>
            <a:cxnLst/>
            <a:rect l="l" t="t" r="r" b="b"/>
            <a:pathLst>
              <a:path w="15086" h="24460">
                <a:moveTo>
                  <a:pt x="15086" y="0"/>
                </a:moveTo>
                <a:lnTo>
                  <a:pt x="15086" y="24460"/>
                </a:lnTo>
                <a:lnTo>
                  <a:pt x="6687" y="9302"/>
                </a:lnTo>
                <a:lnTo>
                  <a:pt x="0" y="0"/>
                </a:lnTo>
                <a:lnTo>
                  <a:pt x="150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Illustrative delivered road transport cost class 4; reference terminal Lesedi"/>
          <p:cNvSpPr/>
          <p:nvPr/>
        </p:nvSpPr>
        <p:spPr>
          <a:xfrm>
            <a:off x="1801714" y="4056068"/>
            <a:ext cx="56550" cy="57687"/>
          </a:xfrm>
          <a:custGeom>
            <a:avLst/>
            <a:gdLst/>
            <a:ahLst/>
            <a:cxnLst/>
            <a:rect l="l" t="t" r="r" b="b"/>
            <a:pathLst>
              <a:path w="56550" h="57687">
                <a:moveTo>
                  <a:pt x="56550" y="0"/>
                </a:moveTo>
                <a:lnTo>
                  <a:pt x="56550" y="57687"/>
                </a:lnTo>
                <a:lnTo>
                  <a:pt x="41464" y="57687"/>
                </a:lnTo>
                <a:lnTo>
                  <a:pt x="0" y="0"/>
                </a:lnTo>
                <a:lnTo>
                  <a:pt x="565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Illustrative delivered road transport cost class 4; reference terminal Lesedi"/>
          <p:cNvSpPr/>
          <p:nvPr/>
        </p:nvSpPr>
        <p:spPr>
          <a:xfrm>
            <a:off x="1800578" y="3998382"/>
            <a:ext cx="57686" cy="57686"/>
          </a:xfrm>
          <a:custGeom>
            <a:avLst/>
            <a:gdLst/>
            <a:ahLst/>
            <a:cxnLst/>
            <a:rect l="l" t="t" r="r" b="b"/>
            <a:pathLst>
              <a:path w="57686" h="57686">
                <a:moveTo>
                  <a:pt x="57686" y="0"/>
                </a:moveTo>
                <a:lnTo>
                  <a:pt x="57686" y="57686"/>
                </a:lnTo>
                <a:lnTo>
                  <a:pt x="1136" y="57686"/>
                </a:lnTo>
                <a:lnTo>
                  <a:pt x="0" y="56105"/>
                </a:lnTo>
                <a:lnTo>
                  <a:pt x="0" y="4871"/>
                </a:lnTo>
                <a:lnTo>
                  <a:pt x="6049"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Illustrative delivered road transport cost class 4; reference terminal Lesedi"/>
          <p:cNvSpPr/>
          <p:nvPr/>
        </p:nvSpPr>
        <p:spPr>
          <a:xfrm>
            <a:off x="1806627" y="3940695"/>
            <a:ext cx="51637" cy="57687"/>
          </a:xfrm>
          <a:custGeom>
            <a:avLst/>
            <a:gdLst/>
            <a:ahLst/>
            <a:cxnLst/>
            <a:rect l="l" t="t" r="r" b="b"/>
            <a:pathLst>
              <a:path w="51637" h="57687">
                <a:moveTo>
                  <a:pt x="51637" y="0"/>
                </a:moveTo>
                <a:lnTo>
                  <a:pt x="51637" y="57687"/>
                </a:lnTo>
                <a:lnTo>
                  <a:pt x="0" y="57687"/>
                </a:lnTo>
                <a:lnTo>
                  <a:pt x="8502" y="50839"/>
                </a:lnTo>
                <a:lnTo>
                  <a:pt x="22328" y="43972"/>
                </a:lnTo>
                <a:lnTo>
                  <a:pt x="30073" y="46140"/>
                </a:lnTo>
                <a:lnTo>
                  <a:pt x="37022" y="39661"/>
                </a:lnTo>
                <a:lnTo>
                  <a:pt x="43159" y="24487"/>
                </a:lnTo>
                <a:lnTo>
                  <a:pt x="43800" y="10598"/>
                </a:lnTo>
                <a:lnTo>
                  <a:pt x="44977" y="0"/>
                </a:lnTo>
                <a:lnTo>
                  <a:pt x="5163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Illustrative delivered road transport cost class None; reference terminal None"/>
          <p:cNvSpPr/>
          <p:nvPr/>
        </p:nvSpPr>
        <p:spPr>
          <a:xfrm>
            <a:off x="1851604" y="3920521"/>
            <a:ext cx="6660" cy="20174"/>
          </a:xfrm>
          <a:custGeom>
            <a:avLst/>
            <a:gdLst/>
            <a:ahLst/>
            <a:cxnLst/>
            <a:rect l="l" t="t" r="r" b="b"/>
            <a:pathLst>
              <a:path w="6660" h="20174">
                <a:moveTo>
                  <a:pt x="6660" y="20174"/>
                </a:moveTo>
                <a:lnTo>
                  <a:pt x="0" y="20174"/>
                </a:lnTo>
                <a:lnTo>
                  <a:pt x="1015" y="11032"/>
                </a:lnTo>
                <a:lnTo>
                  <a:pt x="6660" y="0"/>
                </a:lnTo>
                <a:lnTo>
                  <a:pt x="6660" y="2017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Illustrative delivered road transport cost class 4; reference terminal Lesedi"/>
          <p:cNvSpPr/>
          <p:nvPr/>
        </p:nvSpPr>
        <p:spPr>
          <a:xfrm>
            <a:off x="1907099" y="4229128"/>
            <a:ext cx="8852" cy="23653"/>
          </a:xfrm>
          <a:custGeom>
            <a:avLst/>
            <a:gdLst/>
            <a:ahLst/>
            <a:cxnLst/>
            <a:rect l="l" t="t" r="r" b="b"/>
            <a:pathLst>
              <a:path w="8852" h="23653">
                <a:moveTo>
                  <a:pt x="8852" y="0"/>
                </a:moveTo>
                <a:lnTo>
                  <a:pt x="8852" y="23653"/>
                </a:lnTo>
                <a:lnTo>
                  <a:pt x="0" y="0"/>
                </a:lnTo>
                <a:lnTo>
                  <a:pt x="885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Illustrative delivered road transport cost class 4; reference terminal Lesedi"/>
          <p:cNvSpPr/>
          <p:nvPr/>
        </p:nvSpPr>
        <p:spPr>
          <a:xfrm>
            <a:off x="1876677" y="4171441"/>
            <a:ext cx="39274" cy="57687"/>
          </a:xfrm>
          <a:custGeom>
            <a:avLst/>
            <a:gdLst/>
            <a:ahLst/>
            <a:cxnLst/>
            <a:rect l="l" t="t" r="r" b="b"/>
            <a:pathLst>
              <a:path w="39274" h="57687">
                <a:moveTo>
                  <a:pt x="39274" y="0"/>
                </a:moveTo>
                <a:lnTo>
                  <a:pt x="39274" y="57687"/>
                </a:lnTo>
                <a:lnTo>
                  <a:pt x="30422" y="57687"/>
                </a:lnTo>
                <a:lnTo>
                  <a:pt x="27208" y="49100"/>
                </a:lnTo>
                <a:lnTo>
                  <a:pt x="0" y="0"/>
                </a:lnTo>
                <a:lnTo>
                  <a:pt x="3927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Illustrative delivered road transport cost class 4; reference terminal Lesedi"/>
          <p:cNvSpPr/>
          <p:nvPr/>
        </p:nvSpPr>
        <p:spPr>
          <a:xfrm>
            <a:off x="1858264" y="4113755"/>
            <a:ext cx="57687" cy="57686"/>
          </a:xfrm>
          <a:custGeom>
            <a:avLst/>
            <a:gdLst/>
            <a:ahLst/>
            <a:cxnLst/>
            <a:rect l="l" t="t" r="r" b="b"/>
            <a:pathLst>
              <a:path w="57687" h="57686">
                <a:moveTo>
                  <a:pt x="0" y="0"/>
                </a:moveTo>
                <a:lnTo>
                  <a:pt x="57687" y="0"/>
                </a:lnTo>
                <a:lnTo>
                  <a:pt x="57687" y="57686"/>
                </a:lnTo>
                <a:lnTo>
                  <a:pt x="18413" y="57686"/>
                </a:lnTo>
                <a:lnTo>
                  <a:pt x="0" y="2446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Illustrative delivered road transport cost class 4; reference terminal Lesedi"/>
          <p:cNvSpPr/>
          <p:nvPr/>
        </p:nvSpPr>
        <p:spPr>
          <a:xfrm>
            <a:off x="185826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Illustrative delivered road transport cost class 4; reference terminal Lesedi"/>
          <p:cNvSpPr/>
          <p:nvPr/>
        </p:nvSpPr>
        <p:spPr>
          <a:xfrm>
            <a:off x="185826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Illustrative delivered road transport cost class 4; reference terminal Lesedi"/>
          <p:cNvSpPr/>
          <p:nvPr/>
        </p:nvSpPr>
        <p:spPr>
          <a:xfrm>
            <a:off x="185826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Illustrative delivered road transport cost class 4; reference terminal Lesedi"/>
          <p:cNvSpPr/>
          <p:nvPr/>
        </p:nvSpPr>
        <p:spPr>
          <a:xfrm>
            <a:off x="1858264" y="3883008"/>
            <a:ext cx="57687" cy="57687"/>
          </a:xfrm>
          <a:custGeom>
            <a:avLst/>
            <a:gdLst/>
            <a:ahLst/>
            <a:cxnLst/>
            <a:rect l="l" t="t" r="r" b="b"/>
            <a:pathLst>
              <a:path w="57687" h="57687">
                <a:moveTo>
                  <a:pt x="57687" y="0"/>
                </a:moveTo>
                <a:lnTo>
                  <a:pt x="57687" y="57687"/>
                </a:lnTo>
                <a:lnTo>
                  <a:pt x="0" y="57687"/>
                </a:lnTo>
                <a:lnTo>
                  <a:pt x="0" y="37513"/>
                </a:lnTo>
                <a:lnTo>
                  <a:pt x="567" y="36406"/>
                </a:lnTo>
                <a:lnTo>
                  <a:pt x="6687" y="12614"/>
                </a:lnTo>
                <a:lnTo>
                  <a:pt x="16351"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Illustrative delivered road transport cost class None; reference terminal None"/>
          <p:cNvSpPr/>
          <p:nvPr/>
        </p:nvSpPr>
        <p:spPr>
          <a:xfrm>
            <a:off x="1874615" y="3868101"/>
            <a:ext cx="41336" cy="14907"/>
          </a:xfrm>
          <a:custGeom>
            <a:avLst/>
            <a:gdLst/>
            <a:ahLst/>
            <a:cxnLst/>
            <a:rect l="l" t="t" r="r" b="b"/>
            <a:pathLst>
              <a:path w="41336" h="14907">
                <a:moveTo>
                  <a:pt x="41336" y="14907"/>
                </a:moveTo>
                <a:lnTo>
                  <a:pt x="0" y="14907"/>
                </a:lnTo>
                <a:lnTo>
                  <a:pt x="2436" y="11727"/>
                </a:lnTo>
                <a:lnTo>
                  <a:pt x="29562" y="0"/>
                </a:lnTo>
                <a:lnTo>
                  <a:pt x="41336" y="6282"/>
                </a:lnTo>
                <a:lnTo>
                  <a:pt x="41336" y="1490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Illustrative delivered road transport cost class 4; reference terminal Lesedi"/>
          <p:cNvSpPr/>
          <p:nvPr/>
        </p:nvSpPr>
        <p:spPr>
          <a:xfrm>
            <a:off x="1950278" y="4344501"/>
            <a:ext cx="23360" cy="57687"/>
          </a:xfrm>
          <a:custGeom>
            <a:avLst/>
            <a:gdLst/>
            <a:ahLst/>
            <a:cxnLst/>
            <a:rect l="l" t="t" r="r" b="b"/>
            <a:pathLst>
              <a:path w="23360" h="57687">
                <a:moveTo>
                  <a:pt x="23360" y="0"/>
                </a:moveTo>
                <a:lnTo>
                  <a:pt x="23360" y="57687"/>
                </a:lnTo>
                <a:lnTo>
                  <a:pt x="22322" y="57687"/>
                </a:lnTo>
                <a:lnTo>
                  <a:pt x="18894" y="50486"/>
                </a:lnTo>
                <a:lnTo>
                  <a:pt x="0" y="0"/>
                </a:lnTo>
                <a:lnTo>
                  <a:pt x="2336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Illustrative delivered road transport cost class 4; reference terminal Lesedi"/>
          <p:cNvSpPr/>
          <p:nvPr/>
        </p:nvSpPr>
        <p:spPr>
          <a:xfrm>
            <a:off x="1928688" y="4286814"/>
            <a:ext cx="44950" cy="57687"/>
          </a:xfrm>
          <a:custGeom>
            <a:avLst/>
            <a:gdLst/>
            <a:ahLst/>
            <a:cxnLst/>
            <a:rect l="l" t="t" r="r" b="b"/>
            <a:pathLst>
              <a:path w="44950" h="57687">
                <a:moveTo>
                  <a:pt x="44950" y="0"/>
                </a:moveTo>
                <a:lnTo>
                  <a:pt x="44950" y="57687"/>
                </a:lnTo>
                <a:lnTo>
                  <a:pt x="21590" y="57687"/>
                </a:lnTo>
                <a:lnTo>
                  <a:pt x="0" y="0"/>
                </a:lnTo>
                <a:lnTo>
                  <a:pt x="4495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Illustrative delivered road transport cost class 4; reference terminal Lesedi"/>
          <p:cNvSpPr/>
          <p:nvPr/>
        </p:nvSpPr>
        <p:spPr>
          <a:xfrm>
            <a:off x="1915951" y="4229128"/>
            <a:ext cx="57687" cy="57686"/>
          </a:xfrm>
          <a:custGeom>
            <a:avLst/>
            <a:gdLst/>
            <a:ahLst/>
            <a:cxnLst/>
            <a:rect l="l" t="t" r="r" b="b"/>
            <a:pathLst>
              <a:path w="57687" h="57686">
                <a:moveTo>
                  <a:pt x="0" y="0"/>
                </a:moveTo>
                <a:lnTo>
                  <a:pt x="57687" y="0"/>
                </a:lnTo>
                <a:lnTo>
                  <a:pt x="57687" y="57686"/>
                </a:lnTo>
                <a:lnTo>
                  <a:pt x="12737" y="57686"/>
                </a:lnTo>
                <a:lnTo>
                  <a:pt x="0" y="236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Illustrative delivered road transport cost class 4; reference terminal Lesedi"/>
          <p:cNvSpPr/>
          <p:nvPr/>
        </p:nvSpPr>
        <p:spPr>
          <a:xfrm>
            <a:off x="191595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0" name="Illustrative delivered road transport cost class 4; reference terminal Lesedi"/>
          <p:cNvSpPr/>
          <p:nvPr/>
        </p:nvSpPr>
        <p:spPr>
          <a:xfrm>
            <a:off x="191595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1" name="Illustrative delivered road transport cost class 4; reference terminal Lesedi"/>
          <p:cNvSpPr/>
          <p:nvPr/>
        </p:nvSpPr>
        <p:spPr>
          <a:xfrm>
            <a:off x="191595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2" name="Illustrative delivered road transport cost class 4; reference terminal Lesedi"/>
          <p:cNvSpPr/>
          <p:nvPr/>
        </p:nvSpPr>
        <p:spPr>
          <a:xfrm>
            <a:off x="191595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3" name="Illustrative delivered road transport cost class 4; reference terminal Lesedi"/>
          <p:cNvSpPr/>
          <p:nvPr/>
        </p:nvSpPr>
        <p:spPr>
          <a:xfrm>
            <a:off x="191595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4" name="Illustrative delivered road transport cost class 4; reference terminal Lesedi"/>
          <p:cNvSpPr/>
          <p:nvPr/>
        </p:nvSpPr>
        <p:spPr>
          <a:xfrm>
            <a:off x="1915951" y="3883008"/>
            <a:ext cx="57687" cy="57687"/>
          </a:xfrm>
          <a:custGeom>
            <a:avLst/>
            <a:gdLst/>
            <a:ahLst/>
            <a:cxnLst/>
            <a:rect l="l" t="t" r="r" b="b"/>
            <a:pathLst>
              <a:path w="57687" h="57687">
                <a:moveTo>
                  <a:pt x="57687" y="57687"/>
                </a:moveTo>
                <a:lnTo>
                  <a:pt x="0" y="57687"/>
                </a:lnTo>
                <a:lnTo>
                  <a:pt x="0" y="0"/>
                </a:lnTo>
                <a:lnTo>
                  <a:pt x="12664" y="0"/>
                </a:lnTo>
                <a:lnTo>
                  <a:pt x="19786" y="9055"/>
                </a:lnTo>
                <a:lnTo>
                  <a:pt x="24519" y="25768"/>
                </a:lnTo>
                <a:lnTo>
                  <a:pt x="34346" y="33348"/>
                </a:lnTo>
                <a:lnTo>
                  <a:pt x="49248" y="31805"/>
                </a:lnTo>
                <a:lnTo>
                  <a:pt x="57687" y="39160"/>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5" name="Illustrative delivered road transport cost class 4; reference terminal Lesedi"/>
          <p:cNvSpPr/>
          <p:nvPr/>
        </p:nvSpPr>
        <p:spPr>
          <a:xfrm>
            <a:off x="1915951" y="3874383"/>
            <a:ext cx="12664" cy="8625"/>
          </a:xfrm>
          <a:custGeom>
            <a:avLst/>
            <a:gdLst/>
            <a:ahLst/>
            <a:cxnLst/>
            <a:rect l="l" t="t" r="r" b="b"/>
            <a:pathLst>
              <a:path w="12664" h="8625">
                <a:moveTo>
                  <a:pt x="0" y="8625"/>
                </a:moveTo>
                <a:lnTo>
                  <a:pt x="0" y="0"/>
                </a:lnTo>
                <a:lnTo>
                  <a:pt x="10130" y="5404"/>
                </a:lnTo>
                <a:lnTo>
                  <a:pt x="12664" y="8625"/>
                </a:lnTo>
                <a:lnTo>
                  <a:pt x="0" y="8625"/>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6" name="Illustrative delivered road transport cost class 4; reference terminal Lesedi"/>
          <p:cNvSpPr/>
          <p:nvPr/>
        </p:nvSpPr>
        <p:spPr>
          <a:xfrm>
            <a:off x="2000058" y="4459874"/>
            <a:ext cx="31266" cy="57683"/>
          </a:xfrm>
          <a:custGeom>
            <a:avLst/>
            <a:gdLst/>
            <a:ahLst/>
            <a:cxnLst/>
            <a:rect l="l" t="t" r="r" b="b"/>
            <a:pathLst>
              <a:path w="31266" h="57683">
                <a:moveTo>
                  <a:pt x="31266" y="0"/>
                </a:moveTo>
                <a:lnTo>
                  <a:pt x="31266" y="57683"/>
                </a:lnTo>
                <a:lnTo>
                  <a:pt x="10000" y="21010"/>
                </a:lnTo>
                <a:lnTo>
                  <a:pt x="0" y="0"/>
                </a:lnTo>
                <a:lnTo>
                  <a:pt x="312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7" name="Illustrative delivered road transport cost class 4; reference terminal Lesedi"/>
          <p:cNvSpPr/>
          <p:nvPr/>
        </p:nvSpPr>
        <p:spPr>
          <a:xfrm>
            <a:off x="1973638" y="4402188"/>
            <a:ext cx="57686" cy="57686"/>
          </a:xfrm>
          <a:custGeom>
            <a:avLst/>
            <a:gdLst/>
            <a:ahLst/>
            <a:cxnLst/>
            <a:rect l="l" t="t" r="r" b="b"/>
            <a:pathLst>
              <a:path w="57686" h="57686">
                <a:moveTo>
                  <a:pt x="0" y="0"/>
                </a:moveTo>
                <a:lnTo>
                  <a:pt x="57686" y="0"/>
                </a:lnTo>
                <a:lnTo>
                  <a:pt x="57686" y="57686"/>
                </a:lnTo>
                <a:lnTo>
                  <a:pt x="26420" y="57686"/>
                </a:lnTo>
                <a:lnTo>
                  <a:pt x="0" y="218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8" name="Illustrative delivered road transport cost class 4; reference terminal Lesedi"/>
          <p:cNvSpPr/>
          <p:nvPr/>
        </p:nvSpPr>
        <p:spPr>
          <a:xfrm>
            <a:off x="197363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9" name="Illustrative delivered road transport cost class 4; reference terminal Lesedi"/>
          <p:cNvSpPr/>
          <p:nvPr/>
        </p:nvSpPr>
        <p:spPr>
          <a:xfrm>
            <a:off x="197363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0" name="Illustrative delivered road transport cost class 4; reference terminal Lesedi"/>
          <p:cNvSpPr/>
          <p:nvPr/>
        </p:nvSpPr>
        <p:spPr>
          <a:xfrm>
            <a:off x="197363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1" name="Illustrative delivered road transport cost class 4; reference terminal Lesedi"/>
          <p:cNvSpPr/>
          <p:nvPr/>
        </p:nvSpPr>
        <p:spPr>
          <a:xfrm>
            <a:off x="197363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2" name="Illustrative delivered road transport cost class 4; reference terminal Lesedi"/>
          <p:cNvSpPr/>
          <p:nvPr/>
        </p:nvSpPr>
        <p:spPr>
          <a:xfrm>
            <a:off x="197363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3" name="Illustrative delivered road transport cost class 4; reference terminal Lesedi"/>
          <p:cNvSpPr/>
          <p:nvPr/>
        </p:nvSpPr>
        <p:spPr>
          <a:xfrm>
            <a:off x="197363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4" name="Illustrative delivered road transport cost class 4; reference terminal Lesedi"/>
          <p:cNvSpPr/>
          <p:nvPr/>
        </p:nvSpPr>
        <p:spPr>
          <a:xfrm>
            <a:off x="1973638" y="3998382"/>
            <a:ext cx="57686" cy="57686"/>
          </a:xfrm>
          <a:custGeom>
            <a:avLst/>
            <a:gdLst/>
            <a:ahLst/>
            <a:cxnLst/>
            <a:rect l="l" t="t" r="r" b="b"/>
            <a:pathLst>
              <a:path w="57686" h="57686">
                <a:moveTo>
                  <a:pt x="57686" y="57686"/>
                </a:moveTo>
                <a:lnTo>
                  <a:pt x="0" y="57686"/>
                </a:lnTo>
                <a:lnTo>
                  <a:pt x="0" y="0"/>
                </a:lnTo>
                <a:lnTo>
                  <a:pt x="15412" y="0"/>
                </a:lnTo>
                <a:lnTo>
                  <a:pt x="15901" y="621"/>
                </a:lnTo>
                <a:lnTo>
                  <a:pt x="21308" y="15265"/>
                </a:lnTo>
                <a:lnTo>
                  <a:pt x="29800" y="34501"/>
                </a:lnTo>
                <a:lnTo>
                  <a:pt x="57686" y="41064"/>
                </a:lnTo>
                <a:lnTo>
                  <a:pt x="57686"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5" name="Illustrative delivered road transport cost class 4; reference terminal Lesedi"/>
          <p:cNvSpPr/>
          <p:nvPr/>
        </p:nvSpPr>
        <p:spPr>
          <a:xfrm>
            <a:off x="1973638" y="3940695"/>
            <a:ext cx="15412" cy="57687"/>
          </a:xfrm>
          <a:custGeom>
            <a:avLst/>
            <a:gdLst/>
            <a:ahLst/>
            <a:cxnLst/>
            <a:rect l="l" t="t" r="r" b="b"/>
            <a:pathLst>
              <a:path w="15412" h="57687">
                <a:moveTo>
                  <a:pt x="0" y="57687"/>
                </a:moveTo>
                <a:lnTo>
                  <a:pt x="0" y="0"/>
                </a:lnTo>
                <a:lnTo>
                  <a:pt x="8474" y="0"/>
                </a:lnTo>
                <a:lnTo>
                  <a:pt x="10213" y="4904"/>
                </a:lnTo>
                <a:lnTo>
                  <a:pt x="9967" y="20511"/>
                </a:lnTo>
                <a:lnTo>
                  <a:pt x="2091" y="30693"/>
                </a:lnTo>
                <a:lnTo>
                  <a:pt x="4087" y="43274"/>
                </a:lnTo>
                <a:lnTo>
                  <a:pt x="15412"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6" name="Illustrative delivered road transport cost class 4; reference terminal Lesedi"/>
          <p:cNvSpPr/>
          <p:nvPr/>
        </p:nvSpPr>
        <p:spPr>
          <a:xfrm>
            <a:off x="1973638" y="3922168"/>
            <a:ext cx="8474" cy="18527"/>
          </a:xfrm>
          <a:custGeom>
            <a:avLst/>
            <a:gdLst/>
            <a:ahLst/>
            <a:cxnLst/>
            <a:rect l="l" t="t" r="r" b="b"/>
            <a:pathLst>
              <a:path w="8474" h="18527">
                <a:moveTo>
                  <a:pt x="0" y="18527"/>
                </a:moveTo>
                <a:lnTo>
                  <a:pt x="0" y="0"/>
                </a:lnTo>
                <a:lnTo>
                  <a:pt x="2756" y="2402"/>
                </a:lnTo>
                <a:lnTo>
                  <a:pt x="8474" y="18527"/>
                </a:lnTo>
                <a:lnTo>
                  <a:pt x="0" y="185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7" name="Illustrative delivered road transport cost class 4; reference terminal Lesedi"/>
          <p:cNvSpPr/>
          <p:nvPr/>
        </p:nvSpPr>
        <p:spPr>
          <a:xfrm>
            <a:off x="2064777" y="4575247"/>
            <a:ext cx="24234" cy="41791"/>
          </a:xfrm>
          <a:custGeom>
            <a:avLst/>
            <a:gdLst/>
            <a:ahLst/>
            <a:cxnLst/>
            <a:rect l="l" t="t" r="r" b="b"/>
            <a:pathLst>
              <a:path w="24234" h="41791">
                <a:moveTo>
                  <a:pt x="24234" y="0"/>
                </a:moveTo>
                <a:lnTo>
                  <a:pt x="24234" y="41791"/>
                </a:lnTo>
                <a:lnTo>
                  <a:pt x="0" y="0"/>
                </a:lnTo>
                <a:lnTo>
                  <a:pt x="242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8" name="Illustrative delivered road transport cost class 4; reference terminal Lesedi"/>
          <p:cNvSpPr/>
          <p:nvPr/>
        </p:nvSpPr>
        <p:spPr>
          <a:xfrm>
            <a:off x="2031326" y="4517561"/>
            <a:ext cx="57685" cy="57686"/>
          </a:xfrm>
          <a:custGeom>
            <a:avLst/>
            <a:gdLst/>
            <a:ahLst/>
            <a:cxnLst/>
            <a:rect l="l" t="t" r="r" b="b"/>
            <a:pathLst>
              <a:path w="57685" h="57686">
                <a:moveTo>
                  <a:pt x="57685" y="0"/>
                </a:moveTo>
                <a:lnTo>
                  <a:pt x="57685" y="57686"/>
                </a:lnTo>
                <a:lnTo>
                  <a:pt x="33451" y="57686"/>
                </a:lnTo>
                <a:lnTo>
                  <a:pt x="0" y="0"/>
                </a:lnTo>
                <a:lnTo>
                  <a:pt x="5768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9" name="Illustrative delivered road transport cost class 4; reference terminal Lesedi"/>
          <p:cNvSpPr/>
          <p:nvPr/>
        </p:nvSpPr>
        <p:spPr>
          <a:xfrm>
            <a:off x="2031324" y="4459874"/>
            <a:ext cx="57687" cy="57687"/>
          </a:xfrm>
          <a:custGeom>
            <a:avLst/>
            <a:gdLst/>
            <a:ahLst/>
            <a:cxnLst/>
            <a:rect l="l" t="t" r="r" b="b"/>
            <a:pathLst>
              <a:path w="57687" h="57687">
                <a:moveTo>
                  <a:pt x="0" y="0"/>
                </a:moveTo>
                <a:lnTo>
                  <a:pt x="57687" y="0"/>
                </a:lnTo>
                <a:lnTo>
                  <a:pt x="57687" y="57687"/>
                </a:lnTo>
                <a:lnTo>
                  <a:pt x="2" y="57687"/>
                </a:lnTo>
                <a:lnTo>
                  <a:pt x="0" y="5768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0" name="Illustrative delivered road transport cost class 4; reference terminal Lesedi"/>
          <p:cNvSpPr/>
          <p:nvPr/>
        </p:nvSpPr>
        <p:spPr>
          <a:xfrm>
            <a:off x="203132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1" name="Illustrative delivered road transport cost class 4; reference terminal Lesedi"/>
          <p:cNvSpPr/>
          <p:nvPr/>
        </p:nvSpPr>
        <p:spPr>
          <a:xfrm>
            <a:off x="203132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2" name="Illustrative delivered road transport cost class 4; reference terminal Lesedi"/>
          <p:cNvSpPr/>
          <p:nvPr/>
        </p:nvSpPr>
        <p:spPr>
          <a:xfrm>
            <a:off x="203132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3" name="Illustrative delivered road transport cost class 4; reference terminal Lesedi"/>
          <p:cNvSpPr/>
          <p:nvPr/>
        </p:nvSpPr>
        <p:spPr>
          <a:xfrm>
            <a:off x="203132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4" name="Illustrative delivered road transport cost class 4; reference terminal Lesedi"/>
          <p:cNvSpPr/>
          <p:nvPr/>
        </p:nvSpPr>
        <p:spPr>
          <a:xfrm>
            <a:off x="203132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5" name="Illustrative delivered road transport cost class 4; reference terminal Lesedi"/>
          <p:cNvSpPr/>
          <p:nvPr/>
        </p:nvSpPr>
        <p:spPr>
          <a:xfrm>
            <a:off x="203132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6" name="Illustrative delivered road transport cost class 4; reference terminal Lesedi"/>
          <p:cNvSpPr/>
          <p:nvPr/>
        </p:nvSpPr>
        <p:spPr>
          <a:xfrm>
            <a:off x="203132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7" name="Illustrative delivered road transport cost class 4; reference terminal Lesedi"/>
          <p:cNvSpPr/>
          <p:nvPr/>
        </p:nvSpPr>
        <p:spPr>
          <a:xfrm>
            <a:off x="2031324" y="4039446"/>
            <a:ext cx="57687" cy="16622"/>
          </a:xfrm>
          <a:custGeom>
            <a:avLst/>
            <a:gdLst/>
            <a:ahLst/>
            <a:cxnLst/>
            <a:rect l="l" t="t" r="r" b="b"/>
            <a:pathLst>
              <a:path w="57687" h="16622">
                <a:moveTo>
                  <a:pt x="57687" y="16622"/>
                </a:moveTo>
                <a:lnTo>
                  <a:pt x="0" y="16622"/>
                </a:lnTo>
                <a:lnTo>
                  <a:pt x="0" y="0"/>
                </a:lnTo>
                <a:lnTo>
                  <a:pt x="10762" y="2533"/>
                </a:lnTo>
                <a:lnTo>
                  <a:pt x="29693" y="7851"/>
                </a:lnTo>
                <a:lnTo>
                  <a:pt x="57687" y="8068"/>
                </a:lnTo>
                <a:lnTo>
                  <a:pt x="57687" y="16622"/>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8" name="Illustrative delivered road transport cost class 4; reference terminal Lesedi"/>
          <p:cNvSpPr/>
          <p:nvPr/>
        </p:nvSpPr>
        <p:spPr>
          <a:xfrm>
            <a:off x="2140180" y="4690620"/>
            <a:ext cx="6517" cy="9236"/>
          </a:xfrm>
          <a:custGeom>
            <a:avLst/>
            <a:gdLst/>
            <a:ahLst/>
            <a:cxnLst/>
            <a:rect l="l" t="t" r="r" b="b"/>
            <a:pathLst>
              <a:path w="6517" h="9236">
                <a:moveTo>
                  <a:pt x="6517" y="0"/>
                </a:moveTo>
                <a:lnTo>
                  <a:pt x="6517" y="9236"/>
                </a:lnTo>
                <a:lnTo>
                  <a:pt x="0" y="0"/>
                </a:lnTo>
                <a:lnTo>
                  <a:pt x="651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9" name="Illustrative delivered road transport cost class 4; reference terminal Lesedi"/>
          <p:cNvSpPr/>
          <p:nvPr/>
        </p:nvSpPr>
        <p:spPr>
          <a:xfrm>
            <a:off x="2099475" y="4632934"/>
            <a:ext cx="47222" cy="57686"/>
          </a:xfrm>
          <a:custGeom>
            <a:avLst/>
            <a:gdLst/>
            <a:ahLst/>
            <a:cxnLst/>
            <a:rect l="l" t="t" r="r" b="b"/>
            <a:pathLst>
              <a:path w="47222" h="57686">
                <a:moveTo>
                  <a:pt x="47222" y="0"/>
                </a:moveTo>
                <a:lnTo>
                  <a:pt x="47222" y="57686"/>
                </a:lnTo>
                <a:lnTo>
                  <a:pt x="40705" y="57686"/>
                </a:lnTo>
                <a:lnTo>
                  <a:pt x="0" y="0"/>
                </a:lnTo>
                <a:lnTo>
                  <a:pt x="4722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0" name="Illustrative delivered road transport cost class 4; reference terminal Lesedi"/>
          <p:cNvSpPr/>
          <p:nvPr/>
        </p:nvSpPr>
        <p:spPr>
          <a:xfrm>
            <a:off x="2089011" y="4575247"/>
            <a:ext cx="57686" cy="57687"/>
          </a:xfrm>
          <a:custGeom>
            <a:avLst/>
            <a:gdLst/>
            <a:ahLst/>
            <a:cxnLst/>
            <a:rect l="l" t="t" r="r" b="b"/>
            <a:pathLst>
              <a:path w="57686" h="57687">
                <a:moveTo>
                  <a:pt x="0" y="0"/>
                </a:moveTo>
                <a:lnTo>
                  <a:pt x="57686" y="0"/>
                </a:lnTo>
                <a:lnTo>
                  <a:pt x="57686" y="57687"/>
                </a:lnTo>
                <a:lnTo>
                  <a:pt x="10464" y="57687"/>
                </a:lnTo>
                <a:lnTo>
                  <a:pt x="3467" y="47770"/>
                </a:lnTo>
                <a:lnTo>
                  <a:pt x="0" y="4179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1" name="Illustrative delivered road transport cost class 4; reference terminal Lesedi"/>
          <p:cNvSpPr/>
          <p:nvPr/>
        </p:nvSpPr>
        <p:spPr>
          <a:xfrm>
            <a:off x="208901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2" name="Illustrative delivered road transport cost class 4; reference terminal Lesedi"/>
          <p:cNvSpPr/>
          <p:nvPr/>
        </p:nvSpPr>
        <p:spPr>
          <a:xfrm>
            <a:off x="208901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3" name="Illustrative delivered road transport cost class 4; reference terminal Lesedi"/>
          <p:cNvSpPr/>
          <p:nvPr/>
        </p:nvSpPr>
        <p:spPr>
          <a:xfrm>
            <a:off x="208901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4" name="Illustrative delivered road transport cost class 4; reference terminal Lesedi"/>
          <p:cNvSpPr/>
          <p:nvPr/>
        </p:nvSpPr>
        <p:spPr>
          <a:xfrm>
            <a:off x="208901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5" name="Illustrative delivered road transport cost class 4; reference terminal Lesedi"/>
          <p:cNvSpPr/>
          <p:nvPr/>
        </p:nvSpPr>
        <p:spPr>
          <a:xfrm>
            <a:off x="208901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6" name="Illustrative delivered road transport cost class 4; reference terminal Lesedi"/>
          <p:cNvSpPr/>
          <p:nvPr/>
        </p:nvSpPr>
        <p:spPr>
          <a:xfrm>
            <a:off x="208901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7" name="Illustrative delivered road transport cost class 4; reference terminal Lesedi"/>
          <p:cNvSpPr/>
          <p:nvPr/>
        </p:nvSpPr>
        <p:spPr>
          <a:xfrm>
            <a:off x="208901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8" name="Illustrative delivered road transport cost class 4; reference terminal Lesedi"/>
          <p:cNvSpPr/>
          <p:nvPr/>
        </p:nvSpPr>
        <p:spPr>
          <a:xfrm>
            <a:off x="208901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9" name="Illustrative delivered road transport cost class 4; reference terminal Lesedi"/>
          <p:cNvSpPr/>
          <p:nvPr/>
        </p:nvSpPr>
        <p:spPr>
          <a:xfrm>
            <a:off x="2089011" y="4056068"/>
            <a:ext cx="57686" cy="57687"/>
          </a:xfrm>
          <a:custGeom>
            <a:avLst/>
            <a:gdLst/>
            <a:ahLst/>
            <a:cxnLst/>
            <a:rect l="l" t="t" r="r" b="b"/>
            <a:pathLst>
              <a:path w="57686" h="57687">
                <a:moveTo>
                  <a:pt x="57686" y="57687"/>
                </a:moveTo>
                <a:lnTo>
                  <a:pt x="0" y="57687"/>
                </a:lnTo>
                <a:lnTo>
                  <a:pt x="0" y="0"/>
                </a:lnTo>
                <a:lnTo>
                  <a:pt x="38095" y="0"/>
                </a:lnTo>
                <a:lnTo>
                  <a:pt x="57686" y="9190"/>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0" name="Illustrative delivered road transport cost class 4; reference terminal Lesedi"/>
          <p:cNvSpPr/>
          <p:nvPr/>
        </p:nvSpPr>
        <p:spPr>
          <a:xfrm>
            <a:off x="2089011" y="4047514"/>
            <a:ext cx="38095" cy="8554"/>
          </a:xfrm>
          <a:custGeom>
            <a:avLst/>
            <a:gdLst/>
            <a:ahLst/>
            <a:cxnLst/>
            <a:rect l="l" t="t" r="r" b="b"/>
            <a:pathLst>
              <a:path w="38095" h="8554">
                <a:moveTo>
                  <a:pt x="0" y="8554"/>
                </a:moveTo>
                <a:lnTo>
                  <a:pt x="0" y="0"/>
                </a:lnTo>
                <a:lnTo>
                  <a:pt x="4092" y="32"/>
                </a:lnTo>
                <a:lnTo>
                  <a:pt x="34812" y="7014"/>
                </a:lnTo>
                <a:lnTo>
                  <a:pt x="38095" y="8554"/>
                </a:lnTo>
                <a:lnTo>
                  <a:pt x="0" y="855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1" name="Illustrative delivered road transport cost class 4; reference terminal Lesedi"/>
          <p:cNvSpPr/>
          <p:nvPr/>
        </p:nvSpPr>
        <p:spPr>
          <a:xfrm>
            <a:off x="2192258" y="5152113"/>
            <a:ext cx="12126" cy="17590"/>
          </a:xfrm>
          <a:custGeom>
            <a:avLst/>
            <a:gdLst/>
            <a:ahLst/>
            <a:cxnLst/>
            <a:rect l="l" t="t" r="r" b="b"/>
            <a:pathLst>
              <a:path w="12126" h="17590">
                <a:moveTo>
                  <a:pt x="12126" y="0"/>
                </a:moveTo>
                <a:lnTo>
                  <a:pt x="12126" y="17590"/>
                </a:lnTo>
                <a:lnTo>
                  <a:pt x="4095" y="11974"/>
                </a:lnTo>
                <a:lnTo>
                  <a:pt x="0" y="0"/>
                </a:lnTo>
                <a:lnTo>
                  <a:pt x="1212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2" name="Illustrative delivered road transport cost class 4; reference terminal Lesedi"/>
          <p:cNvSpPr/>
          <p:nvPr/>
        </p:nvSpPr>
        <p:spPr>
          <a:xfrm>
            <a:off x="2163229" y="5094426"/>
            <a:ext cx="41155" cy="57687"/>
          </a:xfrm>
          <a:custGeom>
            <a:avLst/>
            <a:gdLst/>
            <a:ahLst/>
            <a:cxnLst/>
            <a:rect l="l" t="t" r="r" b="b"/>
            <a:pathLst>
              <a:path w="41155" h="57687">
                <a:moveTo>
                  <a:pt x="41155" y="0"/>
                </a:moveTo>
                <a:lnTo>
                  <a:pt x="41155" y="57687"/>
                </a:lnTo>
                <a:lnTo>
                  <a:pt x="29029" y="57687"/>
                </a:lnTo>
                <a:lnTo>
                  <a:pt x="24017" y="43031"/>
                </a:lnTo>
                <a:lnTo>
                  <a:pt x="5354" y="22405"/>
                </a:lnTo>
                <a:lnTo>
                  <a:pt x="0" y="0"/>
                </a:lnTo>
                <a:lnTo>
                  <a:pt x="4115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3" name="Illustrative delivered road transport cost class 4; reference terminal Lesedi"/>
          <p:cNvSpPr/>
          <p:nvPr/>
        </p:nvSpPr>
        <p:spPr>
          <a:xfrm>
            <a:off x="2160481" y="5051030"/>
            <a:ext cx="43903" cy="43396"/>
          </a:xfrm>
          <a:custGeom>
            <a:avLst/>
            <a:gdLst/>
            <a:ahLst/>
            <a:cxnLst/>
            <a:rect l="l" t="t" r="r" b="b"/>
            <a:pathLst>
              <a:path w="43903" h="43396">
                <a:moveTo>
                  <a:pt x="43903" y="43396"/>
                </a:moveTo>
                <a:lnTo>
                  <a:pt x="2748" y="43396"/>
                </a:lnTo>
                <a:lnTo>
                  <a:pt x="0" y="31896"/>
                </a:lnTo>
                <a:lnTo>
                  <a:pt x="8243" y="11636"/>
                </a:lnTo>
                <a:lnTo>
                  <a:pt x="22628" y="0"/>
                </a:lnTo>
                <a:lnTo>
                  <a:pt x="39098" y="16063"/>
                </a:lnTo>
                <a:lnTo>
                  <a:pt x="43903" y="14057"/>
                </a:lnTo>
                <a:lnTo>
                  <a:pt x="43903" y="433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4" name="Illustrative delivered road transport cost class 4; reference terminal Lesedi"/>
          <p:cNvSpPr/>
          <p:nvPr/>
        </p:nvSpPr>
        <p:spPr>
          <a:xfrm>
            <a:off x="2184391" y="4748307"/>
            <a:ext cx="19993" cy="24875"/>
          </a:xfrm>
          <a:custGeom>
            <a:avLst/>
            <a:gdLst/>
            <a:ahLst/>
            <a:cxnLst/>
            <a:rect l="l" t="t" r="r" b="b"/>
            <a:pathLst>
              <a:path w="19993" h="24875">
                <a:moveTo>
                  <a:pt x="19993" y="0"/>
                </a:moveTo>
                <a:lnTo>
                  <a:pt x="19993" y="24875"/>
                </a:lnTo>
                <a:lnTo>
                  <a:pt x="0" y="0"/>
                </a:lnTo>
                <a:lnTo>
                  <a:pt x="1999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Illustrative delivered road transport cost class 4; reference terminal Lesedi"/>
          <p:cNvSpPr/>
          <p:nvPr/>
        </p:nvSpPr>
        <p:spPr>
          <a:xfrm>
            <a:off x="2146697" y="4690620"/>
            <a:ext cx="57687" cy="57687"/>
          </a:xfrm>
          <a:custGeom>
            <a:avLst/>
            <a:gdLst/>
            <a:ahLst/>
            <a:cxnLst/>
            <a:rect l="l" t="t" r="r" b="b"/>
            <a:pathLst>
              <a:path w="57687" h="57687">
                <a:moveTo>
                  <a:pt x="0" y="0"/>
                </a:moveTo>
                <a:lnTo>
                  <a:pt x="57687" y="0"/>
                </a:lnTo>
                <a:lnTo>
                  <a:pt x="57687" y="57687"/>
                </a:lnTo>
                <a:lnTo>
                  <a:pt x="37694" y="57687"/>
                </a:lnTo>
                <a:lnTo>
                  <a:pt x="8976" y="21957"/>
                </a:lnTo>
                <a:lnTo>
                  <a:pt x="0" y="92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6" name="Illustrative delivered road transport cost class 4; reference terminal Lesedi"/>
          <p:cNvSpPr/>
          <p:nvPr/>
        </p:nvSpPr>
        <p:spPr>
          <a:xfrm>
            <a:off x="214669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7" name="Illustrative delivered road transport cost class 4; reference terminal Lesedi"/>
          <p:cNvSpPr/>
          <p:nvPr/>
        </p:nvSpPr>
        <p:spPr>
          <a:xfrm>
            <a:off x="214669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8" name="Illustrative delivered road transport cost class 4; reference terminal Lesedi"/>
          <p:cNvSpPr/>
          <p:nvPr/>
        </p:nvSpPr>
        <p:spPr>
          <a:xfrm>
            <a:off x="214669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Illustrative delivered road transport cost class 4; reference terminal Lesedi"/>
          <p:cNvSpPr/>
          <p:nvPr/>
        </p:nvSpPr>
        <p:spPr>
          <a:xfrm>
            <a:off x="214669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0" name="Illustrative delivered road transport cost class 4; reference terminal Lesedi"/>
          <p:cNvSpPr/>
          <p:nvPr/>
        </p:nvSpPr>
        <p:spPr>
          <a:xfrm>
            <a:off x="214669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1" name="Illustrative delivered road transport cost class 4; reference terminal Lesedi"/>
          <p:cNvSpPr/>
          <p:nvPr/>
        </p:nvSpPr>
        <p:spPr>
          <a:xfrm>
            <a:off x="214669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2" name="Illustrative delivered road transport cost class 4; reference terminal Lesedi"/>
          <p:cNvSpPr/>
          <p:nvPr/>
        </p:nvSpPr>
        <p:spPr>
          <a:xfrm>
            <a:off x="214669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Illustrative delivered road transport cost class 4; reference terminal Lesedi"/>
          <p:cNvSpPr/>
          <p:nvPr/>
        </p:nvSpPr>
        <p:spPr>
          <a:xfrm>
            <a:off x="214669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4" name="Illustrative delivered road transport cost class 4; reference terminal Lesedi"/>
          <p:cNvSpPr/>
          <p:nvPr/>
        </p:nvSpPr>
        <p:spPr>
          <a:xfrm>
            <a:off x="214669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5" name="Illustrative delivered road transport cost class 4; reference terminal Lesedi"/>
          <p:cNvSpPr/>
          <p:nvPr/>
        </p:nvSpPr>
        <p:spPr>
          <a:xfrm>
            <a:off x="214669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6" name="Illustrative delivered road transport cost class 4; reference terminal Lesedi"/>
          <p:cNvSpPr/>
          <p:nvPr/>
        </p:nvSpPr>
        <p:spPr>
          <a:xfrm>
            <a:off x="2146697" y="4065258"/>
            <a:ext cx="57687" cy="48497"/>
          </a:xfrm>
          <a:custGeom>
            <a:avLst/>
            <a:gdLst/>
            <a:ahLst/>
            <a:cxnLst/>
            <a:rect l="l" t="t" r="r" b="b"/>
            <a:pathLst>
              <a:path w="57687" h="48497">
                <a:moveTo>
                  <a:pt x="57687" y="48497"/>
                </a:moveTo>
                <a:lnTo>
                  <a:pt x="0" y="48497"/>
                </a:lnTo>
                <a:lnTo>
                  <a:pt x="0" y="0"/>
                </a:lnTo>
                <a:lnTo>
                  <a:pt x="6462" y="3031"/>
                </a:lnTo>
                <a:lnTo>
                  <a:pt x="53380" y="4073"/>
                </a:lnTo>
                <a:lnTo>
                  <a:pt x="57687" y="3306"/>
                </a:lnTo>
                <a:lnTo>
                  <a:pt x="57687" y="4849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Illustrative delivered road transport cost class 4; reference terminal Lesedi"/>
          <p:cNvSpPr/>
          <p:nvPr/>
        </p:nvSpPr>
        <p:spPr>
          <a:xfrm>
            <a:off x="2232266" y="5209799"/>
            <a:ext cx="29804" cy="26922"/>
          </a:xfrm>
          <a:custGeom>
            <a:avLst/>
            <a:gdLst/>
            <a:ahLst/>
            <a:cxnLst/>
            <a:rect l="l" t="t" r="r" b="b"/>
            <a:pathLst>
              <a:path w="29804" h="26922">
                <a:moveTo>
                  <a:pt x="29804" y="0"/>
                </a:moveTo>
                <a:lnTo>
                  <a:pt x="29804" y="26922"/>
                </a:lnTo>
                <a:lnTo>
                  <a:pt x="26094" y="19665"/>
                </a:lnTo>
                <a:lnTo>
                  <a:pt x="2611" y="4925"/>
                </a:lnTo>
                <a:lnTo>
                  <a:pt x="0" y="0"/>
                </a:lnTo>
                <a:lnTo>
                  <a:pt x="2980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8" name="Illustrative delivered road transport cost class 4; reference terminal Lesedi"/>
          <p:cNvSpPr/>
          <p:nvPr/>
        </p:nvSpPr>
        <p:spPr>
          <a:xfrm>
            <a:off x="2204384" y="5152113"/>
            <a:ext cx="57686" cy="57686"/>
          </a:xfrm>
          <a:custGeom>
            <a:avLst/>
            <a:gdLst/>
            <a:ahLst/>
            <a:cxnLst/>
            <a:rect l="l" t="t" r="r" b="b"/>
            <a:pathLst>
              <a:path w="57686" h="57686">
                <a:moveTo>
                  <a:pt x="0" y="0"/>
                </a:moveTo>
                <a:lnTo>
                  <a:pt x="57686" y="0"/>
                </a:lnTo>
                <a:lnTo>
                  <a:pt x="57686" y="57686"/>
                </a:lnTo>
                <a:lnTo>
                  <a:pt x="27882" y="57686"/>
                </a:lnTo>
                <a:lnTo>
                  <a:pt x="10528" y="24952"/>
                </a:lnTo>
                <a:lnTo>
                  <a:pt x="0" y="17590"/>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9" name="Illustrative delivered road transport cost class 4; reference terminal Lesedi"/>
          <p:cNvSpPr/>
          <p:nvPr/>
        </p:nvSpPr>
        <p:spPr>
          <a:xfrm>
            <a:off x="220438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0" name="Illustrative delivered road transport cost class 4; reference terminal Lesedi"/>
          <p:cNvSpPr/>
          <p:nvPr/>
        </p:nvSpPr>
        <p:spPr>
          <a:xfrm>
            <a:off x="2204384" y="5036740"/>
            <a:ext cx="57686" cy="57686"/>
          </a:xfrm>
          <a:custGeom>
            <a:avLst/>
            <a:gdLst/>
            <a:ahLst/>
            <a:cxnLst/>
            <a:rect l="l" t="t" r="r" b="b"/>
            <a:pathLst>
              <a:path w="57686" h="57686">
                <a:moveTo>
                  <a:pt x="57686" y="0"/>
                </a:moveTo>
                <a:lnTo>
                  <a:pt x="57686" y="57686"/>
                </a:lnTo>
                <a:lnTo>
                  <a:pt x="0" y="57686"/>
                </a:lnTo>
                <a:lnTo>
                  <a:pt x="0" y="28347"/>
                </a:lnTo>
                <a:lnTo>
                  <a:pt x="13851" y="22565"/>
                </a:lnTo>
                <a:lnTo>
                  <a:pt x="35747"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1" name="Illustrative delivered road transport cost class 4; reference terminal Lesedi"/>
          <p:cNvSpPr/>
          <p:nvPr/>
        </p:nvSpPr>
        <p:spPr>
          <a:xfrm>
            <a:off x="2240131" y="4979053"/>
            <a:ext cx="21939" cy="57687"/>
          </a:xfrm>
          <a:custGeom>
            <a:avLst/>
            <a:gdLst/>
            <a:ahLst/>
            <a:cxnLst/>
            <a:rect l="l" t="t" r="r" b="b"/>
            <a:pathLst>
              <a:path w="21939" h="57687">
                <a:moveTo>
                  <a:pt x="21939" y="0"/>
                </a:moveTo>
                <a:lnTo>
                  <a:pt x="21939" y="57687"/>
                </a:lnTo>
                <a:lnTo>
                  <a:pt x="0" y="57687"/>
                </a:lnTo>
                <a:lnTo>
                  <a:pt x="3718" y="53856"/>
                </a:lnTo>
                <a:lnTo>
                  <a:pt x="17484" y="15299"/>
                </a:lnTo>
                <a:lnTo>
                  <a:pt x="16805" y="0"/>
                </a:lnTo>
                <a:lnTo>
                  <a:pt x="2193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Illustrative delivered road transport cost class 4; reference terminal Lesedi"/>
          <p:cNvSpPr/>
          <p:nvPr/>
        </p:nvSpPr>
        <p:spPr>
          <a:xfrm>
            <a:off x="2252747" y="4921367"/>
            <a:ext cx="9323" cy="57686"/>
          </a:xfrm>
          <a:custGeom>
            <a:avLst/>
            <a:gdLst/>
            <a:ahLst/>
            <a:cxnLst/>
            <a:rect l="l" t="t" r="r" b="b"/>
            <a:pathLst>
              <a:path w="9323" h="57686">
                <a:moveTo>
                  <a:pt x="9323" y="0"/>
                </a:moveTo>
                <a:lnTo>
                  <a:pt x="9323" y="57686"/>
                </a:lnTo>
                <a:lnTo>
                  <a:pt x="4189" y="57686"/>
                </a:lnTo>
                <a:lnTo>
                  <a:pt x="2195" y="12740"/>
                </a:lnTo>
                <a:lnTo>
                  <a:pt x="0" y="0"/>
                </a:lnTo>
                <a:lnTo>
                  <a:pt x="93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3" name="Illustrative delivered road transport cost class 4; reference terminal Lesedi"/>
          <p:cNvSpPr/>
          <p:nvPr/>
        </p:nvSpPr>
        <p:spPr>
          <a:xfrm>
            <a:off x="2238964" y="4863680"/>
            <a:ext cx="23106" cy="57687"/>
          </a:xfrm>
          <a:custGeom>
            <a:avLst/>
            <a:gdLst/>
            <a:ahLst/>
            <a:cxnLst/>
            <a:rect l="l" t="t" r="r" b="b"/>
            <a:pathLst>
              <a:path w="23106" h="57687">
                <a:moveTo>
                  <a:pt x="23106" y="0"/>
                </a:moveTo>
                <a:lnTo>
                  <a:pt x="23106" y="57687"/>
                </a:lnTo>
                <a:lnTo>
                  <a:pt x="13783" y="57687"/>
                </a:lnTo>
                <a:lnTo>
                  <a:pt x="9541" y="33071"/>
                </a:lnTo>
                <a:lnTo>
                  <a:pt x="0" y="0"/>
                </a:lnTo>
                <a:lnTo>
                  <a:pt x="2310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4" name="Illustrative delivered road transport cost class 4; reference terminal Lesedi"/>
          <p:cNvSpPr/>
          <p:nvPr/>
        </p:nvSpPr>
        <p:spPr>
          <a:xfrm>
            <a:off x="2222323" y="4805994"/>
            <a:ext cx="39747" cy="57686"/>
          </a:xfrm>
          <a:custGeom>
            <a:avLst/>
            <a:gdLst/>
            <a:ahLst/>
            <a:cxnLst/>
            <a:rect l="l" t="t" r="r" b="b"/>
            <a:pathLst>
              <a:path w="39747" h="57686">
                <a:moveTo>
                  <a:pt x="39747" y="0"/>
                </a:moveTo>
                <a:lnTo>
                  <a:pt x="39747" y="57686"/>
                </a:lnTo>
                <a:lnTo>
                  <a:pt x="16641" y="57686"/>
                </a:lnTo>
                <a:lnTo>
                  <a:pt x="0" y="0"/>
                </a:lnTo>
                <a:lnTo>
                  <a:pt x="3974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5" name="Illustrative delivered road transport cost class 4; reference terminal Lesedi"/>
          <p:cNvSpPr/>
          <p:nvPr/>
        </p:nvSpPr>
        <p:spPr>
          <a:xfrm>
            <a:off x="2204384" y="4748307"/>
            <a:ext cx="57686" cy="57687"/>
          </a:xfrm>
          <a:custGeom>
            <a:avLst/>
            <a:gdLst/>
            <a:ahLst/>
            <a:cxnLst/>
            <a:rect l="l" t="t" r="r" b="b"/>
            <a:pathLst>
              <a:path w="57686" h="57687">
                <a:moveTo>
                  <a:pt x="0" y="0"/>
                </a:moveTo>
                <a:lnTo>
                  <a:pt x="57686" y="0"/>
                </a:lnTo>
                <a:lnTo>
                  <a:pt x="57686" y="57687"/>
                </a:lnTo>
                <a:lnTo>
                  <a:pt x="17939" y="57687"/>
                </a:lnTo>
                <a:lnTo>
                  <a:pt x="16463" y="52570"/>
                </a:lnTo>
                <a:lnTo>
                  <a:pt x="4806" y="30855"/>
                </a:lnTo>
                <a:lnTo>
                  <a:pt x="0" y="2487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Illustrative delivered road transport cost class 4; reference terminal Lesedi"/>
          <p:cNvSpPr/>
          <p:nvPr/>
        </p:nvSpPr>
        <p:spPr>
          <a:xfrm>
            <a:off x="220438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7" name="Illustrative delivered road transport cost class 4; reference terminal Lesedi"/>
          <p:cNvSpPr/>
          <p:nvPr/>
        </p:nvSpPr>
        <p:spPr>
          <a:xfrm>
            <a:off x="220438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8" name="Illustrative delivered road transport cost class 4; reference terminal Lesedi"/>
          <p:cNvSpPr/>
          <p:nvPr/>
        </p:nvSpPr>
        <p:spPr>
          <a:xfrm>
            <a:off x="220438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9" name="Illustrative delivered road transport cost class 4; reference terminal Lesedi"/>
          <p:cNvSpPr/>
          <p:nvPr/>
        </p:nvSpPr>
        <p:spPr>
          <a:xfrm>
            <a:off x="220438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Illustrative delivered road transport cost class 4; reference terminal Lesedi"/>
          <p:cNvSpPr/>
          <p:nvPr/>
        </p:nvSpPr>
        <p:spPr>
          <a:xfrm>
            <a:off x="220438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1" name="Illustrative delivered road transport cost class 4; reference terminal Lesedi"/>
          <p:cNvSpPr/>
          <p:nvPr/>
        </p:nvSpPr>
        <p:spPr>
          <a:xfrm>
            <a:off x="220438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2" name="Illustrative delivered road transport cost class 4; reference terminal Lesedi"/>
          <p:cNvSpPr/>
          <p:nvPr/>
        </p:nvSpPr>
        <p:spPr>
          <a:xfrm>
            <a:off x="220438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3" name="Illustrative delivered road transport cost class 4; reference terminal Lesedi"/>
          <p:cNvSpPr/>
          <p:nvPr/>
        </p:nvSpPr>
        <p:spPr>
          <a:xfrm>
            <a:off x="220438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Illustrative delivered road transport cost class 4; reference terminal Lesedi"/>
          <p:cNvSpPr/>
          <p:nvPr/>
        </p:nvSpPr>
        <p:spPr>
          <a:xfrm>
            <a:off x="220438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5" name="Illustrative delivered road transport cost class 4; reference terminal Lesedi"/>
          <p:cNvSpPr/>
          <p:nvPr/>
        </p:nvSpPr>
        <p:spPr>
          <a:xfrm>
            <a:off x="220438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6" name="Illustrative delivered road transport cost class 4; reference terminal Lesedi"/>
          <p:cNvSpPr/>
          <p:nvPr/>
        </p:nvSpPr>
        <p:spPr>
          <a:xfrm>
            <a:off x="220438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7" name="Illustrative delivered road transport cost class 4; reference terminal Lesedi"/>
          <p:cNvSpPr/>
          <p:nvPr/>
        </p:nvSpPr>
        <p:spPr>
          <a:xfrm>
            <a:off x="2204384" y="4058286"/>
            <a:ext cx="57686" cy="55469"/>
          </a:xfrm>
          <a:custGeom>
            <a:avLst/>
            <a:gdLst/>
            <a:ahLst/>
            <a:cxnLst/>
            <a:rect l="l" t="t" r="r" b="b"/>
            <a:pathLst>
              <a:path w="57686" h="55469">
                <a:moveTo>
                  <a:pt x="57686" y="55469"/>
                </a:moveTo>
                <a:lnTo>
                  <a:pt x="0" y="55469"/>
                </a:lnTo>
                <a:lnTo>
                  <a:pt x="0" y="10278"/>
                </a:lnTo>
                <a:lnTo>
                  <a:pt x="57686" y="0"/>
                </a:lnTo>
                <a:lnTo>
                  <a:pt x="57686" y="55469"/>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Illustrative delivered road transport cost class 4; reference terminal Lesedi"/>
          <p:cNvSpPr/>
          <p:nvPr/>
        </p:nvSpPr>
        <p:spPr>
          <a:xfrm>
            <a:off x="2298674" y="5440546"/>
            <a:ext cx="17176" cy="22856"/>
          </a:xfrm>
          <a:custGeom>
            <a:avLst/>
            <a:gdLst/>
            <a:ahLst/>
            <a:cxnLst/>
            <a:rect l="l" t="t" r="r" b="b"/>
            <a:pathLst>
              <a:path w="17176" h="22856">
                <a:moveTo>
                  <a:pt x="15808" y="0"/>
                </a:moveTo>
                <a:lnTo>
                  <a:pt x="17176" y="22856"/>
                </a:lnTo>
                <a:lnTo>
                  <a:pt x="5490" y="10384"/>
                </a:lnTo>
                <a:lnTo>
                  <a:pt x="0" y="0"/>
                </a:lnTo>
                <a:lnTo>
                  <a:pt x="1580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9" name="Illustrative delivered road transport cost class 4; reference terminal Lesedi"/>
          <p:cNvSpPr/>
          <p:nvPr/>
        </p:nvSpPr>
        <p:spPr>
          <a:xfrm>
            <a:off x="2284267" y="5382859"/>
            <a:ext cx="35490" cy="57687"/>
          </a:xfrm>
          <a:custGeom>
            <a:avLst/>
            <a:gdLst/>
            <a:ahLst/>
            <a:cxnLst/>
            <a:rect l="l" t="t" r="r" b="b"/>
            <a:pathLst>
              <a:path w="35490" h="57687">
                <a:moveTo>
                  <a:pt x="35490" y="0"/>
                </a:moveTo>
                <a:lnTo>
                  <a:pt x="35490" y="20566"/>
                </a:lnTo>
                <a:lnTo>
                  <a:pt x="28847" y="34848"/>
                </a:lnTo>
                <a:lnTo>
                  <a:pt x="30215" y="57687"/>
                </a:lnTo>
                <a:lnTo>
                  <a:pt x="14407" y="57687"/>
                </a:lnTo>
                <a:lnTo>
                  <a:pt x="5806" y="41418"/>
                </a:lnTo>
                <a:lnTo>
                  <a:pt x="0" y="12455"/>
                </a:lnTo>
                <a:lnTo>
                  <a:pt x="821" y="0"/>
                </a:lnTo>
                <a:lnTo>
                  <a:pt x="354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Illustrative delivered road transport cost class 4; reference terminal Lesedi"/>
          <p:cNvSpPr/>
          <p:nvPr/>
        </p:nvSpPr>
        <p:spPr>
          <a:xfrm>
            <a:off x="2285088" y="5325173"/>
            <a:ext cx="34669" cy="57686"/>
          </a:xfrm>
          <a:custGeom>
            <a:avLst/>
            <a:gdLst/>
            <a:ahLst/>
            <a:cxnLst/>
            <a:rect l="l" t="t" r="r" b="b"/>
            <a:pathLst>
              <a:path w="34669" h="57686">
                <a:moveTo>
                  <a:pt x="34669" y="0"/>
                </a:moveTo>
                <a:lnTo>
                  <a:pt x="34669" y="57686"/>
                </a:lnTo>
                <a:lnTo>
                  <a:pt x="0" y="57686"/>
                </a:lnTo>
                <a:lnTo>
                  <a:pt x="1472" y="35343"/>
                </a:lnTo>
                <a:lnTo>
                  <a:pt x="24220" y="20879"/>
                </a:lnTo>
                <a:lnTo>
                  <a:pt x="21281" y="0"/>
                </a:lnTo>
                <a:lnTo>
                  <a:pt x="3466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Illustrative delivered road transport cost class 4; reference terminal Lesedi"/>
          <p:cNvSpPr/>
          <p:nvPr/>
        </p:nvSpPr>
        <p:spPr>
          <a:xfrm>
            <a:off x="2278956" y="5267486"/>
            <a:ext cx="40801" cy="57687"/>
          </a:xfrm>
          <a:custGeom>
            <a:avLst/>
            <a:gdLst/>
            <a:ahLst/>
            <a:cxnLst/>
            <a:rect l="l" t="t" r="r" b="b"/>
            <a:pathLst>
              <a:path w="40801" h="57687">
                <a:moveTo>
                  <a:pt x="40801" y="0"/>
                </a:moveTo>
                <a:lnTo>
                  <a:pt x="40801" y="57687"/>
                </a:lnTo>
                <a:lnTo>
                  <a:pt x="27413" y="57687"/>
                </a:lnTo>
                <a:lnTo>
                  <a:pt x="27083" y="55337"/>
                </a:lnTo>
                <a:lnTo>
                  <a:pt x="20834" y="35385"/>
                </a:lnTo>
                <a:lnTo>
                  <a:pt x="0" y="0"/>
                </a:lnTo>
                <a:lnTo>
                  <a:pt x="40801"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Illustrative delivered road transport cost class 4; reference terminal Lesedi"/>
          <p:cNvSpPr/>
          <p:nvPr/>
        </p:nvSpPr>
        <p:spPr>
          <a:xfrm>
            <a:off x="2262070" y="5209799"/>
            <a:ext cx="57687" cy="57687"/>
          </a:xfrm>
          <a:custGeom>
            <a:avLst/>
            <a:gdLst/>
            <a:ahLst/>
            <a:cxnLst/>
            <a:rect l="l" t="t" r="r" b="b"/>
            <a:pathLst>
              <a:path w="57687" h="57687">
                <a:moveTo>
                  <a:pt x="0" y="0"/>
                </a:moveTo>
                <a:lnTo>
                  <a:pt x="57687" y="0"/>
                </a:lnTo>
                <a:lnTo>
                  <a:pt x="57687" y="57687"/>
                </a:lnTo>
                <a:lnTo>
                  <a:pt x="16886" y="57687"/>
                </a:lnTo>
                <a:lnTo>
                  <a:pt x="8102" y="42768"/>
                </a:lnTo>
                <a:lnTo>
                  <a:pt x="0" y="2692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Illustrative delivered road transport cost class 4; reference terminal Lesedi"/>
          <p:cNvSpPr/>
          <p:nvPr/>
        </p:nvSpPr>
        <p:spPr>
          <a:xfrm>
            <a:off x="226207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Illustrative delivered road transport cost class 4; reference terminal Lesedi"/>
          <p:cNvSpPr/>
          <p:nvPr/>
        </p:nvSpPr>
        <p:spPr>
          <a:xfrm>
            <a:off x="226207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Illustrative delivered road transport cost class 4; reference terminal Lesedi"/>
          <p:cNvSpPr/>
          <p:nvPr/>
        </p:nvSpPr>
        <p:spPr>
          <a:xfrm>
            <a:off x="226207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Illustrative delivered road transport cost class 4; reference terminal Lesedi"/>
          <p:cNvSpPr/>
          <p:nvPr/>
        </p:nvSpPr>
        <p:spPr>
          <a:xfrm>
            <a:off x="226207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Illustrative delivered road transport cost class 4; reference terminal Lesedi"/>
          <p:cNvSpPr/>
          <p:nvPr/>
        </p:nvSpPr>
        <p:spPr>
          <a:xfrm>
            <a:off x="226207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Illustrative delivered road transport cost class 4; reference terminal Lesedi"/>
          <p:cNvSpPr/>
          <p:nvPr/>
        </p:nvSpPr>
        <p:spPr>
          <a:xfrm>
            <a:off x="226207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Illustrative delivered road transport cost class 4; reference terminal Lesedi"/>
          <p:cNvSpPr/>
          <p:nvPr/>
        </p:nvSpPr>
        <p:spPr>
          <a:xfrm>
            <a:off x="226207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Illustrative delivered road transport cost class 4; reference terminal Lesedi"/>
          <p:cNvSpPr/>
          <p:nvPr/>
        </p:nvSpPr>
        <p:spPr>
          <a:xfrm>
            <a:off x="226207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Illustrative delivered road transport cost class 4; reference terminal Lesedi"/>
          <p:cNvSpPr/>
          <p:nvPr/>
        </p:nvSpPr>
        <p:spPr>
          <a:xfrm>
            <a:off x="226207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Illustrative delivered road transport cost class 4; reference terminal Lesedi"/>
          <p:cNvSpPr/>
          <p:nvPr/>
        </p:nvSpPr>
        <p:spPr>
          <a:xfrm>
            <a:off x="226207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Illustrative delivered road transport cost class 4; reference terminal Lesedi"/>
          <p:cNvSpPr/>
          <p:nvPr/>
        </p:nvSpPr>
        <p:spPr>
          <a:xfrm>
            <a:off x="226207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Illustrative delivered road transport cost class 4; reference terminal Lesedi"/>
          <p:cNvSpPr/>
          <p:nvPr/>
        </p:nvSpPr>
        <p:spPr>
          <a:xfrm>
            <a:off x="226207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Illustrative delivered road transport cost class 4; reference terminal Lesedi"/>
          <p:cNvSpPr/>
          <p:nvPr/>
        </p:nvSpPr>
        <p:spPr>
          <a:xfrm>
            <a:off x="226207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Illustrative delivered road transport cost class 4; reference terminal Lesedi"/>
          <p:cNvSpPr/>
          <p:nvPr/>
        </p:nvSpPr>
        <p:spPr>
          <a:xfrm>
            <a:off x="226207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Illustrative delivered road transport cost class 4; reference terminal Lesedi"/>
          <p:cNvSpPr/>
          <p:nvPr/>
        </p:nvSpPr>
        <p:spPr>
          <a:xfrm>
            <a:off x="226207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Illustrative delivered road transport cost class 4; reference terminal Lesedi"/>
          <p:cNvSpPr/>
          <p:nvPr/>
        </p:nvSpPr>
        <p:spPr>
          <a:xfrm>
            <a:off x="226207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Illustrative delivered road transport cost class 4; reference terminal Lesedi"/>
          <p:cNvSpPr/>
          <p:nvPr/>
        </p:nvSpPr>
        <p:spPr>
          <a:xfrm>
            <a:off x="226207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Illustrative delivered road transport cost class 4; reference terminal Lesedi"/>
          <p:cNvSpPr/>
          <p:nvPr/>
        </p:nvSpPr>
        <p:spPr>
          <a:xfrm>
            <a:off x="226207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Illustrative delivered road transport cost class 4; reference terminal Lesedi"/>
          <p:cNvSpPr/>
          <p:nvPr/>
        </p:nvSpPr>
        <p:spPr>
          <a:xfrm>
            <a:off x="226207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Illustrative delivered road transport cost class 4; reference terminal Lesedi"/>
          <p:cNvSpPr/>
          <p:nvPr/>
        </p:nvSpPr>
        <p:spPr>
          <a:xfrm>
            <a:off x="2262070" y="4057828"/>
            <a:ext cx="57687" cy="55927"/>
          </a:xfrm>
          <a:custGeom>
            <a:avLst/>
            <a:gdLst/>
            <a:ahLst/>
            <a:cxnLst/>
            <a:rect l="l" t="t" r="r" b="b"/>
            <a:pathLst>
              <a:path w="57687" h="55927">
                <a:moveTo>
                  <a:pt x="57687" y="55927"/>
                </a:moveTo>
                <a:lnTo>
                  <a:pt x="0" y="55927"/>
                </a:lnTo>
                <a:lnTo>
                  <a:pt x="0" y="458"/>
                </a:lnTo>
                <a:lnTo>
                  <a:pt x="2572" y="0"/>
                </a:lnTo>
                <a:lnTo>
                  <a:pt x="56290" y="711"/>
                </a:lnTo>
                <a:lnTo>
                  <a:pt x="57687" y="1131"/>
                </a:lnTo>
                <a:lnTo>
                  <a:pt x="57687" y="5592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Illustrative delivered road transport cost class 4; reference terminal Lesedi"/>
          <p:cNvSpPr/>
          <p:nvPr/>
        </p:nvSpPr>
        <p:spPr>
          <a:xfrm>
            <a:off x="2319757" y="5382859"/>
            <a:ext cx="57687" cy="20566"/>
          </a:xfrm>
          <a:custGeom>
            <a:avLst/>
            <a:gdLst/>
            <a:ahLst/>
            <a:cxnLst/>
            <a:rect l="l" t="t" r="r" b="b"/>
            <a:pathLst>
              <a:path w="57687" h="20566">
                <a:moveTo>
                  <a:pt x="0" y="0"/>
                </a:moveTo>
                <a:lnTo>
                  <a:pt x="57687" y="0"/>
                </a:lnTo>
                <a:lnTo>
                  <a:pt x="57687" y="11455"/>
                </a:lnTo>
                <a:lnTo>
                  <a:pt x="53664" y="9552"/>
                </a:lnTo>
                <a:lnTo>
                  <a:pt x="44260" y="7315"/>
                </a:lnTo>
                <a:lnTo>
                  <a:pt x="22335" y="9939"/>
                </a:lnTo>
                <a:lnTo>
                  <a:pt x="7314" y="12991"/>
                </a:lnTo>
                <a:lnTo>
                  <a:pt x="561" y="19360"/>
                </a:lnTo>
                <a:lnTo>
                  <a:pt x="0" y="2056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4" name="Illustrative delivered road transport cost class 4; reference terminal Lesedi"/>
          <p:cNvSpPr/>
          <p:nvPr/>
        </p:nvSpPr>
        <p:spPr>
          <a:xfrm>
            <a:off x="2319757"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Illustrative delivered road transport cost class 4; reference terminal Lesedi"/>
          <p:cNvSpPr/>
          <p:nvPr/>
        </p:nvSpPr>
        <p:spPr>
          <a:xfrm>
            <a:off x="2319757"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6" name="Illustrative delivered road transport cost class 4; reference terminal Lesedi"/>
          <p:cNvSpPr/>
          <p:nvPr/>
        </p:nvSpPr>
        <p:spPr>
          <a:xfrm>
            <a:off x="2319757"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Illustrative delivered road transport cost class 4; reference terminal Lesedi"/>
          <p:cNvSpPr/>
          <p:nvPr/>
        </p:nvSpPr>
        <p:spPr>
          <a:xfrm>
            <a:off x="231975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8" name="Illustrative delivered road transport cost class 4; reference terminal Lesedi"/>
          <p:cNvSpPr/>
          <p:nvPr/>
        </p:nvSpPr>
        <p:spPr>
          <a:xfrm>
            <a:off x="231975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Illustrative delivered road transport cost class 4; reference terminal Lesedi"/>
          <p:cNvSpPr/>
          <p:nvPr/>
        </p:nvSpPr>
        <p:spPr>
          <a:xfrm>
            <a:off x="231975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0" name="Illustrative delivered road transport cost class 4; reference terminal Lesedi"/>
          <p:cNvSpPr/>
          <p:nvPr/>
        </p:nvSpPr>
        <p:spPr>
          <a:xfrm>
            <a:off x="231975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1" name="Illustrative delivered road transport cost class 4; reference terminal Lesedi"/>
          <p:cNvSpPr/>
          <p:nvPr/>
        </p:nvSpPr>
        <p:spPr>
          <a:xfrm>
            <a:off x="231975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2" name="Illustrative delivered road transport cost class 4; reference terminal Lesedi"/>
          <p:cNvSpPr/>
          <p:nvPr/>
        </p:nvSpPr>
        <p:spPr>
          <a:xfrm>
            <a:off x="231975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3" name="Illustrative delivered road transport cost class 4; reference terminal Lesedi"/>
          <p:cNvSpPr/>
          <p:nvPr/>
        </p:nvSpPr>
        <p:spPr>
          <a:xfrm>
            <a:off x="231975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4" name="Illustrative delivered road transport cost class 4; reference terminal Lesedi"/>
          <p:cNvSpPr/>
          <p:nvPr/>
        </p:nvSpPr>
        <p:spPr>
          <a:xfrm>
            <a:off x="231975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5" name="Illustrative delivered road transport cost class 4; reference terminal Lesedi"/>
          <p:cNvSpPr/>
          <p:nvPr/>
        </p:nvSpPr>
        <p:spPr>
          <a:xfrm>
            <a:off x="231975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6" name="Illustrative delivered road transport cost class 4; reference terminal Lesedi"/>
          <p:cNvSpPr/>
          <p:nvPr/>
        </p:nvSpPr>
        <p:spPr>
          <a:xfrm>
            <a:off x="231975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7" name="Illustrative delivered road transport cost class 4; reference terminal Lesedi"/>
          <p:cNvSpPr/>
          <p:nvPr/>
        </p:nvSpPr>
        <p:spPr>
          <a:xfrm>
            <a:off x="231975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8" name="Illustrative delivered road transport cost class 4; reference terminal Lesedi"/>
          <p:cNvSpPr/>
          <p:nvPr/>
        </p:nvSpPr>
        <p:spPr>
          <a:xfrm>
            <a:off x="231975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9" name="Illustrative delivered road transport cost class 4; reference terminal Lesedi"/>
          <p:cNvSpPr/>
          <p:nvPr/>
        </p:nvSpPr>
        <p:spPr>
          <a:xfrm>
            <a:off x="231975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0" name="Illustrative delivered road transport cost class 4; reference terminal Lesedi"/>
          <p:cNvSpPr/>
          <p:nvPr/>
        </p:nvSpPr>
        <p:spPr>
          <a:xfrm>
            <a:off x="231975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1" name="Illustrative delivered road transport cost class 4; reference terminal Lesedi"/>
          <p:cNvSpPr/>
          <p:nvPr/>
        </p:nvSpPr>
        <p:spPr>
          <a:xfrm>
            <a:off x="231975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2" name="Illustrative delivered road transport cost class 4; reference terminal Lesedi"/>
          <p:cNvSpPr/>
          <p:nvPr/>
        </p:nvSpPr>
        <p:spPr>
          <a:xfrm>
            <a:off x="231975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3" name="Illustrative delivered road transport cost class 4; reference terminal Lesedi"/>
          <p:cNvSpPr/>
          <p:nvPr/>
        </p:nvSpPr>
        <p:spPr>
          <a:xfrm>
            <a:off x="231975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4" name="Illustrative delivered road transport cost class 4; reference terminal Lesedi"/>
          <p:cNvSpPr/>
          <p:nvPr/>
        </p:nvSpPr>
        <p:spPr>
          <a:xfrm>
            <a:off x="231975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5" name="Illustrative delivered road transport cost class 4; reference terminal Lesedi"/>
          <p:cNvSpPr/>
          <p:nvPr/>
        </p:nvSpPr>
        <p:spPr>
          <a:xfrm>
            <a:off x="231975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6" name="Illustrative delivered road transport cost class 4; reference terminal Lesedi"/>
          <p:cNvSpPr/>
          <p:nvPr/>
        </p:nvSpPr>
        <p:spPr>
          <a:xfrm>
            <a:off x="2319757" y="4058959"/>
            <a:ext cx="57687" cy="54796"/>
          </a:xfrm>
          <a:custGeom>
            <a:avLst/>
            <a:gdLst/>
            <a:ahLst/>
            <a:cxnLst/>
            <a:rect l="l" t="t" r="r" b="b"/>
            <a:pathLst>
              <a:path w="57687" h="54796">
                <a:moveTo>
                  <a:pt x="57687" y="54796"/>
                </a:moveTo>
                <a:lnTo>
                  <a:pt x="0" y="54796"/>
                </a:lnTo>
                <a:lnTo>
                  <a:pt x="0" y="0"/>
                </a:lnTo>
                <a:lnTo>
                  <a:pt x="41425" y="12459"/>
                </a:lnTo>
                <a:lnTo>
                  <a:pt x="57687" y="13126"/>
                </a:lnTo>
                <a:lnTo>
                  <a:pt x="57687" y="5479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7" name="Illustrative delivered road transport cost class 4; reference terminal Lesedi"/>
          <p:cNvSpPr/>
          <p:nvPr/>
        </p:nvSpPr>
        <p:spPr>
          <a:xfrm>
            <a:off x="2392135" y="5440546"/>
            <a:ext cx="42995" cy="22866"/>
          </a:xfrm>
          <a:custGeom>
            <a:avLst/>
            <a:gdLst/>
            <a:ahLst/>
            <a:cxnLst/>
            <a:rect l="l" t="t" r="r" b="b"/>
            <a:pathLst>
              <a:path w="42995" h="22866">
                <a:moveTo>
                  <a:pt x="42995" y="0"/>
                </a:moveTo>
                <a:lnTo>
                  <a:pt x="42995" y="16296"/>
                </a:lnTo>
                <a:lnTo>
                  <a:pt x="27646" y="16299"/>
                </a:lnTo>
                <a:lnTo>
                  <a:pt x="17172" y="21189"/>
                </a:lnTo>
                <a:lnTo>
                  <a:pt x="2340" y="22866"/>
                </a:lnTo>
                <a:lnTo>
                  <a:pt x="0" y="5670"/>
                </a:lnTo>
                <a:lnTo>
                  <a:pt x="281" y="0"/>
                </a:lnTo>
                <a:lnTo>
                  <a:pt x="4299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8" name="Illustrative delivered road transport cost class 4; reference terminal Lesedi"/>
          <p:cNvSpPr/>
          <p:nvPr/>
        </p:nvSpPr>
        <p:spPr>
          <a:xfrm>
            <a:off x="2377444" y="5382859"/>
            <a:ext cx="57686" cy="57687"/>
          </a:xfrm>
          <a:custGeom>
            <a:avLst/>
            <a:gdLst/>
            <a:ahLst/>
            <a:cxnLst/>
            <a:rect l="l" t="t" r="r" b="b"/>
            <a:pathLst>
              <a:path w="57686" h="57687">
                <a:moveTo>
                  <a:pt x="0" y="0"/>
                </a:moveTo>
                <a:lnTo>
                  <a:pt x="57686" y="0"/>
                </a:lnTo>
                <a:lnTo>
                  <a:pt x="57686" y="57687"/>
                </a:lnTo>
                <a:lnTo>
                  <a:pt x="14972" y="57687"/>
                </a:lnTo>
                <a:lnTo>
                  <a:pt x="15233" y="52413"/>
                </a:lnTo>
                <a:lnTo>
                  <a:pt x="13341" y="35743"/>
                </a:lnTo>
                <a:lnTo>
                  <a:pt x="8403" y="15432"/>
                </a:lnTo>
                <a:lnTo>
                  <a:pt x="0" y="11455"/>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9" name="Illustrative delivered road transport cost class 4; reference terminal Lesedi"/>
          <p:cNvSpPr/>
          <p:nvPr/>
        </p:nvSpPr>
        <p:spPr>
          <a:xfrm>
            <a:off x="2377444"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0" name="Illustrative delivered road transport cost class 4; reference terminal Lesedi"/>
          <p:cNvSpPr/>
          <p:nvPr/>
        </p:nvSpPr>
        <p:spPr>
          <a:xfrm>
            <a:off x="2377444"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1" name="Illustrative delivered road transport cost class 4; reference terminal Lesedi"/>
          <p:cNvSpPr/>
          <p:nvPr/>
        </p:nvSpPr>
        <p:spPr>
          <a:xfrm>
            <a:off x="2377444"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2" name="Illustrative delivered road transport cost class 4; reference terminal Lesedi"/>
          <p:cNvSpPr/>
          <p:nvPr/>
        </p:nvSpPr>
        <p:spPr>
          <a:xfrm>
            <a:off x="2377444"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3" name="Illustrative delivered road transport cost class 4; reference terminal Lesedi"/>
          <p:cNvSpPr/>
          <p:nvPr/>
        </p:nvSpPr>
        <p:spPr>
          <a:xfrm>
            <a:off x="2377444"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4" name="Illustrative delivered road transport cost class 4; reference terminal Lesedi"/>
          <p:cNvSpPr/>
          <p:nvPr/>
        </p:nvSpPr>
        <p:spPr>
          <a:xfrm>
            <a:off x="237744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5" name="Illustrative delivered road transport cost class 4; reference terminal Lesedi"/>
          <p:cNvSpPr/>
          <p:nvPr/>
        </p:nvSpPr>
        <p:spPr>
          <a:xfrm>
            <a:off x="237744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6" name="Illustrative delivered road transport cost class 4; reference terminal Lesedi"/>
          <p:cNvSpPr/>
          <p:nvPr/>
        </p:nvSpPr>
        <p:spPr>
          <a:xfrm>
            <a:off x="237744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7" name="Illustrative delivered road transport cost class 4; reference terminal Lesedi"/>
          <p:cNvSpPr/>
          <p:nvPr/>
        </p:nvSpPr>
        <p:spPr>
          <a:xfrm>
            <a:off x="237744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8" name="Illustrative delivered road transport cost class 4; reference terminal Lesedi"/>
          <p:cNvSpPr/>
          <p:nvPr/>
        </p:nvSpPr>
        <p:spPr>
          <a:xfrm>
            <a:off x="237744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9" name="Illustrative delivered road transport cost class 4; reference terminal Lesedi"/>
          <p:cNvSpPr/>
          <p:nvPr/>
        </p:nvSpPr>
        <p:spPr>
          <a:xfrm>
            <a:off x="237744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Illustrative delivered road transport cost class 4; reference terminal Lesedi"/>
          <p:cNvSpPr/>
          <p:nvPr/>
        </p:nvSpPr>
        <p:spPr>
          <a:xfrm>
            <a:off x="237744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1" name="Illustrative delivered road transport cost class 4; reference terminal Lesedi"/>
          <p:cNvSpPr/>
          <p:nvPr/>
        </p:nvSpPr>
        <p:spPr>
          <a:xfrm>
            <a:off x="237744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Illustrative delivered road transport cost class 4; reference terminal Lesedi"/>
          <p:cNvSpPr/>
          <p:nvPr/>
        </p:nvSpPr>
        <p:spPr>
          <a:xfrm>
            <a:off x="237744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3" name="Illustrative delivered road transport cost class 4; reference terminal Lesedi"/>
          <p:cNvSpPr/>
          <p:nvPr/>
        </p:nvSpPr>
        <p:spPr>
          <a:xfrm>
            <a:off x="237744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Illustrative delivered road transport cost class 4; reference terminal Lesedi"/>
          <p:cNvSpPr/>
          <p:nvPr/>
        </p:nvSpPr>
        <p:spPr>
          <a:xfrm>
            <a:off x="237744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5" name="Illustrative delivered road transport cost class 4; reference terminal Lesedi"/>
          <p:cNvSpPr/>
          <p:nvPr/>
        </p:nvSpPr>
        <p:spPr>
          <a:xfrm>
            <a:off x="2377444"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Illustrative delivered road transport cost class 4; reference terminal Lesedi"/>
          <p:cNvSpPr/>
          <p:nvPr/>
        </p:nvSpPr>
        <p:spPr>
          <a:xfrm>
            <a:off x="2377444"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7" name="Illustrative delivered road transport cost class 4; reference terminal Lesedi"/>
          <p:cNvSpPr/>
          <p:nvPr/>
        </p:nvSpPr>
        <p:spPr>
          <a:xfrm>
            <a:off x="2377444"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Illustrative delivered road transport cost class 4; reference terminal Lesedi"/>
          <p:cNvSpPr/>
          <p:nvPr/>
        </p:nvSpPr>
        <p:spPr>
          <a:xfrm>
            <a:off x="2377444"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9" name="Illustrative delivered road transport cost class 4; reference terminal Lesedi"/>
          <p:cNvSpPr/>
          <p:nvPr/>
        </p:nvSpPr>
        <p:spPr>
          <a:xfrm>
            <a:off x="2377444"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0" name="Illustrative delivered road transport cost class 4; reference terminal Lesedi"/>
          <p:cNvSpPr/>
          <p:nvPr/>
        </p:nvSpPr>
        <p:spPr>
          <a:xfrm>
            <a:off x="2377444"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Illustrative delivered road transport cost class 4; reference terminal Lesedi"/>
          <p:cNvSpPr/>
          <p:nvPr/>
        </p:nvSpPr>
        <p:spPr>
          <a:xfrm>
            <a:off x="2377444" y="4056068"/>
            <a:ext cx="57686" cy="57687"/>
          </a:xfrm>
          <a:custGeom>
            <a:avLst/>
            <a:gdLst/>
            <a:ahLst/>
            <a:cxnLst/>
            <a:rect l="l" t="t" r="r" b="b"/>
            <a:pathLst>
              <a:path w="57686" h="57687">
                <a:moveTo>
                  <a:pt x="57686" y="0"/>
                </a:moveTo>
                <a:lnTo>
                  <a:pt x="57686" y="57687"/>
                </a:lnTo>
                <a:lnTo>
                  <a:pt x="0" y="57687"/>
                </a:lnTo>
                <a:lnTo>
                  <a:pt x="0" y="16017"/>
                </a:lnTo>
                <a:lnTo>
                  <a:pt x="14325" y="16605"/>
                </a:lnTo>
                <a:lnTo>
                  <a:pt x="32739" y="6194"/>
                </a:lnTo>
                <a:lnTo>
                  <a:pt x="36035"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2" name="Illustrative delivered road transport cost class 4; reference terminal Lesedi"/>
          <p:cNvSpPr/>
          <p:nvPr/>
        </p:nvSpPr>
        <p:spPr>
          <a:xfrm>
            <a:off x="2413479" y="4015168"/>
            <a:ext cx="21651" cy="40900"/>
          </a:xfrm>
          <a:custGeom>
            <a:avLst/>
            <a:gdLst/>
            <a:ahLst/>
            <a:cxnLst/>
            <a:rect l="l" t="t" r="r" b="b"/>
            <a:pathLst>
              <a:path w="21651" h="40900">
                <a:moveTo>
                  <a:pt x="21651" y="40900"/>
                </a:moveTo>
                <a:lnTo>
                  <a:pt x="0" y="40900"/>
                </a:lnTo>
                <a:lnTo>
                  <a:pt x="4223" y="32964"/>
                </a:lnTo>
                <a:lnTo>
                  <a:pt x="834" y="15133"/>
                </a:lnTo>
                <a:lnTo>
                  <a:pt x="9667" y="3321"/>
                </a:lnTo>
                <a:lnTo>
                  <a:pt x="21651" y="0"/>
                </a:lnTo>
                <a:lnTo>
                  <a:pt x="21651" y="4090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Illustrative delivered road transport cost class 4; reference terminal Lesedi"/>
          <p:cNvSpPr/>
          <p:nvPr/>
        </p:nvSpPr>
        <p:spPr>
          <a:xfrm>
            <a:off x="2435130" y="5440546"/>
            <a:ext cx="57687" cy="39277"/>
          </a:xfrm>
          <a:custGeom>
            <a:avLst/>
            <a:gdLst/>
            <a:ahLst/>
            <a:cxnLst/>
            <a:rect l="l" t="t" r="r" b="b"/>
            <a:pathLst>
              <a:path w="57687" h="39277">
                <a:moveTo>
                  <a:pt x="0" y="0"/>
                </a:moveTo>
                <a:lnTo>
                  <a:pt x="57687" y="0"/>
                </a:lnTo>
                <a:lnTo>
                  <a:pt x="57687" y="39277"/>
                </a:lnTo>
                <a:lnTo>
                  <a:pt x="55343" y="36540"/>
                </a:lnTo>
                <a:lnTo>
                  <a:pt x="47632" y="30598"/>
                </a:lnTo>
                <a:lnTo>
                  <a:pt x="27459" y="32805"/>
                </a:lnTo>
                <a:lnTo>
                  <a:pt x="15740" y="16292"/>
                </a:lnTo>
                <a:lnTo>
                  <a:pt x="0" y="162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4" name="Illustrative delivered road transport cost class 4; reference terminal Lesedi"/>
          <p:cNvSpPr/>
          <p:nvPr/>
        </p:nvSpPr>
        <p:spPr>
          <a:xfrm>
            <a:off x="2435130"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Illustrative delivered road transport cost class 4; reference terminal Lesedi"/>
          <p:cNvSpPr/>
          <p:nvPr/>
        </p:nvSpPr>
        <p:spPr>
          <a:xfrm>
            <a:off x="2435130"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6" name="Illustrative delivered road transport cost class 4; reference terminal Lesedi"/>
          <p:cNvSpPr/>
          <p:nvPr/>
        </p:nvSpPr>
        <p:spPr>
          <a:xfrm>
            <a:off x="2435130"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Illustrative delivered road transport cost class 4; reference terminal Lesedi"/>
          <p:cNvSpPr/>
          <p:nvPr/>
        </p:nvSpPr>
        <p:spPr>
          <a:xfrm>
            <a:off x="2435130"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8" name="Illustrative delivered road transport cost class 4; reference terminal Lesedi"/>
          <p:cNvSpPr/>
          <p:nvPr/>
        </p:nvSpPr>
        <p:spPr>
          <a:xfrm>
            <a:off x="2435130"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9" name="Illustrative delivered road transport cost class 4; reference terminal Lesedi"/>
          <p:cNvSpPr/>
          <p:nvPr/>
        </p:nvSpPr>
        <p:spPr>
          <a:xfrm>
            <a:off x="2435130"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0" name="Illustrative delivered road transport cost class 4; reference terminal Lesedi"/>
          <p:cNvSpPr/>
          <p:nvPr/>
        </p:nvSpPr>
        <p:spPr>
          <a:xfrm>
            <a:off x="2435130"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1" name="Illustrative delivered road transport cost class 4; reference terminal Lesedi"/>
          <p:cNvSpPr/>
          <p:nvPr/>
        </p:nvSpPr>
        <p:spPr>
          <a:xfrm>
            <a:off x="243513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2" name="Illustrative delivered road transport cost class 4; reference terminal Lesedi"/>
          <p:cNvSpPr/>
          <p:nvPr/>
        </p:nvSpPr>
        <p:spPr>
          <a:xfrm>
            <a:off x="243513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3" name="Illustrative delivered road transport cost class 4; reference terminal Lesedi"/>
          <p:cNvSpPr/>
          <p:nvPr/>
        </p:nvSpPr>
        <p:spPr>
          <a:xfrm>
            <a:off x="243513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4" name="Illustrative delivered road transport cost class 4; reference terminal Lesedi"/>
          <p:cNvSpPr/>
          <p:nvPr/>
        </p:nvSpPr>
        <p:spPr>
          <a:xfrm>
            <a:off x="243513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5" name="Illustrative delivered road transport cost class 4; reference terminal Lesedi"/>
          <p:cNvSpPr/>
          <p:nvPr/>
        </p:nvSpPr>
        <p:spPr>
          <a:xfrm>
            <a:off x="243513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6" name="Illustrative delivered road transport cost class 4; reference terminal Lesedi"/>
          <p:cNvSpPr/>
          <p:nvPr/>
        </p:nvSpPr>
        <p:spPr>
          <a:xfrm>
            <a:off x="243513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7" name="Illustrative delivered road transport cost class 4; reference terminal Lesedi"/>
          <p:cNvSpPr/>
          <p:nvPr/>
        </p:nvSpPr>
        <p:spPr>
          <a:xfrm>
            <a:off x="243513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8" name="Illustrative delivered road transport cost class 4; reference terminal Lesedi"/>
          <p:cNvSpPr/>
          <p:nvPr/>
        </p:nvSpPr>
        <p:spPr>
          <a:xfrm>
            <a:off x="243513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9" name="Illustrative delivered road transport cost class 4; reference terminal Lesedi"/>
          <p:cNvSpPr/>
          <p:nvPr/>
        </p:nvSpPr>
        <p:spPr>
          <a:xfrm>
            <a:off x="243513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0" name="Illustrative delivered road transport cost class 4; reference terminal Lesedi"/>
          <p:cNvSpPr/>
          <p:nvPr/>
        </p:nvSpPr>
        <p:spPr>
          <a:xfrm>
            <a:off x="243513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1" name="Illustrative delivered road transport cost class None; reference terminal None"/>
          <p:cNvSpPr/>
          <p:nvPr/>
        </p:nvSpPr>
        <p:spPr>
          <a:xfrm>
            <a:off x="243513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2" name="Illustrative delivered road transport cost class None; reference terminal None"/>
          <p:cNvSpPr/>
          <p:nvPr/>
        </p:nvSpPr>
        <p:spPr>
          <a:xfrm>
            <a:off x="2435130"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3" name="Illustrative delivered road transport cost class 4; reference terminal Lesedi"/>
          <p:cNvSpPr/>
          <p:nvPr/>
        </p:nvSpPr>
        <p:spPr>
          <a:xfrm>
            <a:off x="2435130"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4" name="Illustrative delivered road transport cost class 4; reference terminal Lesedi"/>
          <p:cNvSpPr/>
          <p:nvPr/>
        </p:nvSpPr>
        <p:spPr>
          <a:xfrm>
            <a:off x="2435130"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5" name="Illustrative delivered road transport cost class 4; reference terminal Lesedi"/>
          <p:cNvSpPr/>
          <p:nvPr/>
        </p:nvSpPr>
        <p:spPr>
          <a:xfrm>
            <a:off x="2435130"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6" name="Illustrative delivered road transport cost class 4; reference terminal Lesedi"/>
          <p:cNvSpPr/>
          <p:nvPr/>
        </p:nvSpPr>
        <p:spPr>
          <a:xfrm>
            <a:off x="2435130"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7" name="Illustrative delivered road transport cost class 4; reference terminal Lesedi"/>
          <p:cNvSpPr/>
          <p:nvPr/>
        </p:nvSpPr>
        <p:spPr>
          <a:xfrm>
            <a:off x="2435130"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8" name="Illustrative delivered road transport cost class 4; reference terminal Lesedi"/>
          <p:cNvSpPr/>
          <p:nvPr/>
        </p:nvSpPr>
        <p:spPr>
          <a:xfrm>
            <a:off x="2435130" y="3998382"/>
            <a:ext cx="57687" cy="57686"/>
          </a:xfrm>
          <a:custGeom>
            <a:avLst/>
            <a:gdLst/>
            <a:ahLst/>
            <a:cxnLst/>
            <a:rect l="l" t="t" r="r" b="b"/>
            <a:pathLst>
              <a:path w="57687" h="57686">
                <a:moveTo>
                  <a:pt x="57687" y="0"/>
                </a:moveTo>
                <a:lnTo>
                  <a:pt x="57687" y="57686"/>
                </a:lnTo>
                <a:lnTo>
                  <a:pt x="0" y="57686"/>
                </a:lnTo>
                <a:lnTo>
                  <a:pt x="0" y="16786"/>
                </a:lnTo>
                <a:lnTo>
                  <a:pt x="9054" y="14278"/>
                </a:lnTo>
                <a:lnTo>
                  <a:pt x="25427"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9" name="Illustrative delivered road transport cost class 4; reference terminal Lesedi"/>
          <p:cNvSpPr/>
          <p:nvPr/>
        </p:nvSpPr>
        <p:spPr>
          <a:xfrm>
            <a:off x="2460557" y="3961764"/>
            <a:ext cx="32260" cy="36618"/>
          </a:xfrm>
          <a:custGeom>
            <a:avLst/>
            <a:gdLst/>
            <a:ahLst/>
            <a:cxnLst/>
            <a:rect l="l" t="t" r="r" b="b"/>
            <a:pathLst>
              <a:path w="32260" h="36618">
                <a:moveTo>
                  <a:pt x="32260" y="36618"/>
                </a:moveTo>
                <a:lnTo>
                  <a:pt x="0" y="36618"/>
                </a:lnTo>
                <a:lnTo>
                  <a:pt x="31" y="36591"/>
                </a:lnTo>
                <a:lnTo>
                  <a:pt x="11831" y="13751"/>
                </a:lnTo>
                <a:lnTo>
                  <a:pt x="32260" y="0"/>
                </a:lnTo>
                <a:lnTo>
                  <a:pt x="32260" y="3661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0" name="Illustrative delivered road transport cost class 4; reference terminal Durban"/>
          <p:cNvSpPr/>
          <p:nvPr/>
        </p:nvSpPr>
        <p:spPr>
          <a:xfrm>
            <a:off x="2496946" y="5498232"/>
            <a:ext cx="53557" cy="43173"/>
          </a:xfrm>
          <a:custGeom>
            <a:avLst/>
            <a:gdLst/>
            <a:ahLst/>
            <a:cxnLst/>
            <a:rect l="l" t="t" r="r" b="b"/>
            <a:pathLst>
              <a:path w="53557" h="43173">
                <a:moveTo>
                  <a:pt x="53557" y="0"/>
                </a:moveTo>
                <a:lnTo>
                  <a:pt x="53557" y="43173"/>
                </a:lnTo>
                <a:lnTo>
                  <a:pt x="19589" y="20766"/>
                </a:lnTo>
                <a:lnTo>
                  <a:pt x="0" y="24144"/>
                </a:lnTo>
                <a:lnTo>
                  <a:pt x="4671" y="12576"/>
                </a:lnTo>
                <a:lnTo>
                  <a:pt x="4986" y="0"/>
                </a:lnTo>
                <a:lnTo>
                  <a:pt x="5355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1" name="Illustrative delivered road transport cost class 4; reference terminal Lesedi"/>
          <p:cNvSpPr/>
          <p:nvPr/>
        </p:nvSpPr>
        <p:spPr>
          <a:xfrm>
            <a:off x="2492817" y="5440546"/>
            <a:ext cx="57686" cy="57686"/>
          </a:xfrm>
          <a:custGeom>
            <a:avLst/>
            <a:gdLst/>
            <a:ahLst/>
            <a:cxnLst/>
            <a:rect l="l" t="t" r="r" b="b"/>
            <a:pathLst>
              <a:path w="57686" h="57686">
                <a:moveTo>
                  <a:pt x="0" y="0"/>
                </a:moveTo>
                <a:lnTo>
                  <a:pt x="57686" y="0"/>
                </a:lnTo>
                <a:lnTo>
                  <a:pt x="57686" y="57686"/>
                </a:lnTo>
                <a:lnTo>
                  <a:pt x="9115" y="57686"/>
                </a:lnTo>
                <a:lnTo>
                  <a:pt x="9305" y="50144"/>
                </a:lnTo>
                <a:lnTo>
                  <a:pt x="0" y="3927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2" name="Illustrative delivered road transport cost class 4; reference terminal Lesedi"/>
          <p:cNvSpPr/>
          <p:nvPr/>
        </p:nvSpPr>
        <p:spPr>
          <a:xfrm>
            <a:off x="2492817"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3" name="Illustrative delivered road transport cost class 4; reference terminal Lesedi"/>
          <p:cNvSpPr/>
          <p:nvPr/>
        </p:nvSpPr>
        <p:spPr>
          <a:xfrm>
            <a:off x="2492817"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4" name="Illustrative delivered road transport cost class 4; reference terminal Lesedi"/>
          <p:cNvSpPr/>
          <p:nvPr/>
        </p:nvSpPr>
        <p:spPr>
          <a:xfrm>
            <a:off x="2492817"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5" name="Illustrative delivered road transport cost class 4; reference terminal Lesedi"/>
          <p:cNvSpPr/>
          <p:nvPr/>
        </p:nvSpPr>
        <p:spPr>
          <a:xfrm>
            <a:off x="2492817"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6" name="Illustrative delivered road transport cost class 4; reference terminal Lesedi"/>
          <p:cNvSpPr/>
          <p:nvPr/>
        </p:nvSpPr>
        <p:spPr>
          <a:xfrm>
            <a:off x="2492817"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7" name="Illustrative delivered road transport cost class 4; reference terminal Lesedi"/>
          <p:cNvSpPr/>
          <p:nvPr/>
        </p:nvSpPr>
        <p:spPr>
          <a:xfrm>
            <a:off x="2492817"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8" name="Illustrative delivered road transport cost class 4; reference terminal Lesedi"/>
          <p:cNvSpPr/>
          <p:nvPr/>
        </p:nvSpPr>
        <p:spPr>
          <a:xfrm>
            <a:off x="2492817"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9" name="Illustrative delivered road transport cost class 4; reference terminal Lesedi"/>
          <p:cNvSpPr/>
          <p:nvPr/>
        </p:nvSpPr>
        <p:spPr>
          <a:xfrm>
            <a:off x="2492817"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0" name="Illustrative delivered road transport cost class 4; reference terminal Lesedi"/>
          <p:cNvSpPr/>
          <p:nvPr/>
        </p:nvSpPr>
        <p:spPr>
          <a:xfrm>
            <a:off x="249281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1" name="Illustrative delivered road transport cost class 4; reference terminal Lesedi"/>
          <p:cNvSpPr/>
          <p:nvPr/>
        </p:nvSpPr>
        <p:spPr>
          <a:xfrm>
            <a:off x="249281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2" name="Illustrative delivered road transport cost class 4; reference terminal Lesedi"/>
          <p:cNvSpPr/>
          <p:nvPr/>
        </p:nvSpPr>
        <p:spPr>
          <a:xfrm>
            <a:off x="249281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3" name="Illustrative delivered road transport cost class 4; reference terminal Lesedi"/>
          <p:cNvSpPr/>
          <p:nvPr/>
        </p:nvSpPr>
        <p:spPr>
          <a:xfrm>
            <a:off x="249281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4" name="Illustrative delivered road transport cost class 4; reference terminal Lesedi"/>
          <p:cNvSpPr/>
          <p:nvPr/>
        </p:nvSpPr>
        <p:spPr>
          <a:xfrm>
            <a:off x="249281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5" name="Illustrative delivered road transport cost class 4; reference terminal Lesedi"/>
          <p:cNvSpPr/>
          <p:nvPr/>
        </p:nvSpPr>
        <p:spPr>
          <a:xfrm>
            <a:off x="249281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6" name="Illustrative delivered road transport cost class None; reference terminal None"/>
          <p:cNvSpPr/>
          <p:nvPr/>
        </p:nvSpPr>
        <p:spPr>
          <a:xfrm>
            <a:off x="249281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7" name="Illustrative delivered road transport cost class None; reference terminal None"/>
          <p:cNvSpPr/>
          <p:nvPr/>
        </p:nvSpPr>
        <p:spPr>
          <a:xfrm>
            <a:off x="249281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8" name="Illustrative delivered road transport cost class None; reference terminal None"/>
          <p:cNvSpPr/>
          <p:nvPr/>
        </p:nvSpPr>
        <p:spPr>
          <a:xfrm>
            <a:off x="249281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9" name="Illustrative delivered road transport cost class None; reference terminal None"/>
          <p:cNvSpPr/>
          <p:nvPr/>
        </p:nvSpPr>
        <p:spPr>
          <a:xfrm>
            <a:off x="249281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0" name="Illustrative delivered road transport cost class None; reference terminal None"/>
          <p:cNvSpPr/>
          <p:nvPr/>
        </p:nvSpPr>
        <p:spPr>
          <a:xfrm>
            <a:off x="2492817"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1" name="Illustrative delivered road transport cost class 4; reference terminal Lesedi"/>
          <p:cNvSpPr/>
          <p:nvPr/>
        </p:nvSpPr>
        <p:spPr>
          <a:xfrm>
            <a:off x="2492817"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2" name="Illustrative delivered road transport cost class 4; reference terminal Lesedi"/>
          <p:cNvSpPr/>
          <p:nvPr/>
        </p:nvSpPr>
        <p:spPr>
          <a:xfrm>
            <a:off x="2492817"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3" name="Illustrative delivered road transport cost class 4; reference terminal Lesedi"/>
          <p:cNvSpPr/>
          <p:nvPr/>
        </p:nvSpPr>
        <p:spPr>
          <a:xfrm>
            <a:off x="2492817"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4" name="Illustrative delivered road transport cost class 4; reference terminal Lesedi"/>
          <p:cNvSpPr/>
          <p:nvPr/>
        </p:nvSpPr>
        <p:spPr>
          <a:xfrm>
            <a:off x="2492817"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5" name="Illustrative delivered road transport cost class 4; reference terminal Lesedi"/>
          <p:cNvSpPr/>
          <p:nvPr/>
        </p:nvSpPr>
        <p:spPr>
          <a:xfrm>
            <a:off x="2492817"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6" name="Illustrative delivered road transport cost class 4; reference terminal Lesedi"/>
          <p:cNvSpPr/>
          <p:nvPr/>
        </p:nvSpPr>
        <p:spPr>
          <a:xfrm>
            <a:off x="2492817"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7" name="Illustrative delivered road transport cost class 4; reference terminal Lesedi"/>
          <p:cNvSpPr/>
          <p:nvPr/>
        </p:nvSpPr>
        <p:spPr>
          <a:xfrm>
            <a:off x="2492817" y="3940695"/>
            <a:ext cx="57686" cy="57687"/>
          </a:xfrm>
          <a:custGeom>
            <a:avLst/>
            <a:gdLst/>
            <a:ahLst/>
            <a:cxnLst/>
            <a:rect l="l" t="t" r="r" b="b"/>
            <a:pathLst>
              <a:path w="57686" h="57687">
                <a:moveTo>
                  <a:pt x="57686" y="0"/>
                </a:moveTo>
                <a:lnTo>
                  <a:pt x="57686" y="57687"/>
                </a:lnTo>
                <a:lnTo>
                  <a:pt x="0" y="57687"/>
                </a:lnTo>
                <a:lnTo>
                  <a:pt x="0" y="21069"/>
                </a:lnTo>
                <a:lnTo>
                  <a:pt x="8428" y="15396"/>
                </a:lnTo>
                <a:lnTo>
                  <a:pt x="52698" y="0"/>
                </a:lnTo>
                <a:lnTo>
                  <a:pt x="5768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8" name="Illustrative delivered road transport cost class 4; reference terminal Lesedi"/>
          <p:cNvSpPr/>
          <p:nvPr/>
        </p:nvSpPr>
        <p:spPr>
          <a:xfrm>
            <a:off x="2549204" y="3421516"/>
            <a:ext cx="1299" cy="32656"/>
          </a:xfrm>
          <a:custGeom>
            <a:avLst/>
            <a:gdLst/>
            <a:ahLst/>
            <a:cxnLst/>
            <a:rect l="l" t="t" r="r" b="b"/>
            <a:pathLst>
              <a:path w="1299" h="32656">
                <a:moveTo>
                  <a:pt x="1299" y="0"/>
                </a:moveTo>
                <a:lnTo>
                  <a:pt x="1299" y="32656"/>
                </a:lnTo>
                <a:lnTo>
                  <a:pt x="1081" y="27216"/>
                </a:lnTo>
                <a:lnTo>
                  <a:pt x="0" y="0"/>
                </a:lnTo>
                <a:lnTo>
                  <a:pt x="129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9" name="Illustrative delivered road transport cost class 4; reference terminal Lesedi"/>
          <p:cNvSpPr/>
          <p:nvPr/>
        </p:nvSpPr>
        <p:spPr>
          <a:xfrm>
            <a:off x="2546913" y="3363829"/>
            <a:ext cx="3590" cy="57687"/>
          </a:xfrm>
          <a:custGeom>
            <a:avLst/>
            <a:gdLst/>
            <a:ahLst/>
            <a:cxnLst/>
            <a:rect l="l" t="t" r="r" b="b"/>
            <a:pathLst>
              <a:path w="3590" h="57687">
                <a:moveTo>
                  <a:pt x="3590" y="0"/>
                </a:moveTo>
                <a:lnTo>
                  <a:pt x="3590" y="57687"/>
                </a:lnTo>
                <a:lnTo>
                  <a:pt x="2291" y="57687"/>
                </a:lnTo>
                <a:lnTo>
                  <a:pt x="0" y="0"/>
                </a:lnTo>
                <a:lnTo>
                  <a:pt x="359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0" name="Illustrative delivered road transport cost class 4; reference terminal Lesedi"/>
          <p:cNvSpPr/>
          <p:nvPr/>
        </p:nvSpPr>
        <p:spPr>
          <a:xfrm>
            <a:off x="2544635" y="3306143"/>
            <a:ext cx="5868" cy="57686"/>
          </a:xfrm>
          <a:custGeom>
            <a:avLst/>
            <a:gdLst/>
            <a:ahLst/>
            <a:cxnLst/>
            <a:rect l="l" t="t" r="r" b="b"/>
            <a:pathLst>
              <a:path w="5868" h="57686">
                <a:moveTo>
                  <a:pt x="5868" y="0"/>
                </a:moveTo>
                <a:lnTo>
                  <a:pt x="5868" y="57686"/>
                </a:lnTo>
                <a:lnTo>
                  <a:pt x="2278" y="57686"/>
                </a:lnTo>
                <a:lnTo>
                  <a:pt x="1135" y="28904"/>
                </a:lnTo>
                <a:lnTo>
                  <a:pt x="0" y="0"/>
                </a:lnTo>
                <a:lnTo>
                  <a:pt x="5868"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1" name="Illustrative delivered road transport cost class 4; reference terminal Lesedi"/>
          <p:cNvSpPr/>
          <p:nvPr/>
        </p:nvSpPr>
        <p:spPr>
          <a:xfrm>
            <a:off x="2542370" y="3248456"/>
            <a:ext cx="8133" cy="57687"/>
          </a:xfrm>
          <a:custGeom>
            <a:avLst/>
            <a:gdLst/>
            <a:ahLst/>
            <a:cxnLst/>
            <a:rect l="l" t="t" r="r" b="b"/>
            <a:pathLst>
              <a:path w="8133" h="57687">
                <a:moveTo>
                  <a:pt x="8133" y="0"/>
                </a:moveTo>
                <a:lnTo>
                  <a:pt x="8133" y="57687"/>
                </a:lnTo>
                <a:lnTo>
                  <a:pt x="2265" y="57687"/>
                </a:lnTo>
                <a:lnTo>
                  <a:pt x="0" y="0"/>
                </a:lnTo>
                <a:lnTo>
                  <a:pt x="813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2" name="Illustrative delivered road transport cost class 4; reference terminal Lesedi"/>
          <p:cNvSpPr/>
          <p:nvPr/>
        </p:nvSpPr>
        <p:spPr>
          <a:xfrm>
            <a:off x="2540119" y="3190770"/>
            <a:ext cx="10384" cy="57686"/>
          </a:xfrm>
          <a:custGeom>
            <a:avLst/>
            <a:gdLst/>
            <a:ahLst/>
            <a:cxnLst/>
            <a:rect l="l" t="t" r="r" b="b"/>
            <a:pathLst>
              <a:path w="10384" h="57686">
                <a:moveTo>
                  <a:pt x="10384" y="0"/>
                </a:moveTo>
                <a:lnTo>
                  <a:pt x="10384" y="57686"/>
                </a:lnTo>
                <a:lnTo>
                  <a:pt x="2251" y="57686"/>
                </a:lnTo>
                <a:lnTo>
                  <a:pt x="1189" y="30632"/>
                </a:lnTo>
                <a:lnTo>
                  <a:pt x="0" y="0"/>
                </a:lnTo>
                <a:lnTo>
                  <a:pt x="1038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3" name="Illustrative delivered road transport cost class 4; reference terminal Lesedi"/>
          <p:cNvSpPr/>
          <p:nvPr/>
        </p:nvSpPr>
        <p:spPr>
          <a:xfrm>
            <a:off x="2537880" y="3133083"/>
            <a:ext cx="12623" cy="57687"/>
          </a:xfrm>
          <a:custGeom>
            <a:avLst/>
            <a:gdLst/>
            <a:ahLst/>
            <a:cxnLst/>
            <a:rect l="l" t="t" r="r" b="b"/>
            <a:pathLst>
              <a:path w="12623" h="57687">
                <a:moveTo>
                  <a:pt x="12623" y="0"/>
                </a:moveTo>
                <a:lnTo>
                  <a:pt x="12623" y="57687"/>
                </a:lnTo>
                <a:lnTo>
                  <a:pt x="2239" y="57687"/>
                </a:lnTo>
                <a:lnTo>
                  <a:pt x="0" y="0"/>
                </a:lnTo>
                <a:lnTo>
                  <a:pt x="1262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4" name="Illustrative delivered road transport cost class 4; reference terminal Lesedi"/>
          <p:cNvSpPr/>
          <p:nvPr/>
        </p:nvSpPr>
        <p:spPr>
          <a:xfrm>
            <a:off x="2535654" y="3075396"/>
            <a:ext cx="14849" cy="57687"/>
          </a:xfrm>
          <a:custGeom>
            <a:avLst/>
            <a:gdLst/>
            <a:ahLst/>
            <a:cxnLst/>
            <a:rect l="l" t="t" r="r" b="b"/>
            <a:pathLst>
              <a:path w="14849" h="57687">
                <a:moveTo>
                  <a:pt x="14849" y="0"/>
                </a:moveTo>
                <a:lnTo>
                  <a:pt x="14849" y="57687"/>
                </a:lnTo>
                <a:lnTo>
                  <a:pt x="2226" y="57687"/>
                </a:lnTo>
                <a:lnTo>
                  <a:pt x="1242" y="32353"/>
                </a:lnTo>
                <a:lnTo>
                  <a:pt x="0" y="0"/>
                </a:lnTo>
                <a:lnTo>
                  <a:pt x="14849"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5" name="Illustrative delivered road transport cost class 4; reference terminal Lesedi"/>
          <p:cNvSpPr/>
          <p:nvPr/>
        </p:nvSpPr>
        <p:spPr>
          <a:xfrm>
            <a:off x="2533440" y="3017710"/>
            <a:ext cx="17063" cy="57686"/>
          </a:xfrm>
          <a:custGeom>
            <a:avLst/>
            <a:gdLst/>
            <a:ahLst/>
            <a:cxnLst/>
            <a:rect l="l" t="t" r="r" b="b"/>
            <a:pathLst>
              <a:path w="17063" h="57686">
                <a:moveTo>
                  <a:pt x="17063" y="0"/>
                </a:moveTo>
                <a:lnTo>
                  <a:pt x="17063" y="57686"/>
                </a:lnTo>
                <a:lnTo>
                  <a:pt x="2214" y="57686"/>
                </a:lnTo>
                <a:lnTo>
                  <a:pt x="0" y="0"/>
                </a:lnTo>
                <a:lnTo>
                  <a:pt x="17063"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6" name="Illustrative delivered road transport cost class None; reference terminal None"/>
          <p:cNvSpPr/>
          <p:nvPr/>
        </p:nvSpPr>
        <p:spPr>
          <a:xfrm>
            <a:off x="2532778" y="3000452"/>
            <a:ext cx="17725" cy="17258"/>
          </a:xfrm>
          <a:custGeom>
            <a:avLst/>
            <a:gdLst/>
            <a:ahLst/>
            <a:cxnLst/>
            <a:rect l="l" t="t" r="r" b="b"/>
            <a:pathLst>
              <a:path w="17725" h="17258">
                <a:moveTo>
                  <a:pt x="17725" y="17258"/>
                </a:moveTo>
                <a:lnTo>
                  <a:pt x="662" y="17258"/>
                </a:lnTo>
                <a:lnTo>
                  <a:pt x="0" y="0"/>
                </a:lnTo>
                <a:lnTo>
                  <a:pt x="11517" y="7276"/>
                </a:lnTo>
                <a:lnTo>
                  <a:pt x="17725" y="11700"/>
                </a:lnTo>
                <a:lnTo>
                  <a:pt x="17725" y="172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7" name="Illustrative delivered road transport cost class 4; reference terminal Durban"/>
          <p:cNvSpPr/>
          <p:nvPr/>
        </p:nvSpPr>
        <p:spPr>
          <a:xfrm>
            <a:off x="2550503" y="5498232"/>
            <a:ext cx="57687" cy="56008"/>
          </a:xfrm>
          <a:custGeom>
            <a:avLst/>
            <a:gdLst/>
            <a:ahLst/>
            <a:cxnLst/>
            <a:rect l="l" t="t" r="r" b="b"/>
            <a:pathLst>
              <a:path w="57687" h="56008">
                <a:moveTo>
                  <a:pt x="0" y="0"/>
                </a:moveTo>
                <a:lnTo>
                  <a:pt x="57687" y="0"/>
                </a:lnTo>
                <a:lnTo>
                  <a:pt x="57687" y="54951"/>
                </a:lnTo>
                <a:lnTo>
                  <a:pt x="19459" y="56008"/>
                </a:lnTo>
                <a:lnTo>
                  <a:pt x="0" y="4317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8" name="Illustrative delivered road transport cost class 4; reference terminal Durban"/>
          <p:cNvSpPr/>
          <p:nvPr/>
        </p:nvSpPr>
        <p:spPr>
          <a:xfrm>
            <a:off x="2550503" y="544054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9" name="Illustrative delivered road transport cost class 4; reference terminal Durban"/>
          <p:cNvSpPr/>
          <p:nvPr/>
        </p:nvSpPr>
        <p:spPr>
          <a:xfrm>
            <a:off x="255050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0" name="Illustrative delivered road transport cost class 4; reference terminal Lesedi"/>
          <p:cNvSpPr/>
          <p:nvPr/>
        </p:nvSpPr>
        <p:spPr>
          <a:xfrm>
            <a:off x="255050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1" name="Illustrative delivered road transport cost class 4; reference terminal Lesedi"/>
          <p:cNvSpPr/>
          <p:nvPr/>
        </p:nvSpPr>
        <p:spPr>
          <a:xfrm>
            <a:off x="255050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2" name="Illustrative delivered road transport cost class 4; reference terminal Lesedi"/>
          <p:cNvSpPr/>
          <p:nvPr/>
        </p:nvSpPr>
        <p:spPr>
          <a:xfrm>
            <a:off x="255050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3" name="Illustrative delivered road transport cost class 4; reference terminal Lesedi"/>
          <p:cNvSpPr/>
          <p:nvPr/>
        </p:nvSpPr>
        <p:spPr>
          <a:xfrm>
            <a:off x="255050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4" name="Illustrative delivered road transport cost class 4; reference terminal Lesedi"/>
          <p:cNvSpPr/>
          <p:nvPr/>
        </p:nvSpPr>
        <p:spPr>
          <a:xfrm>
            <a:off x="255050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5" name="Illustrative delivered road transport cost class 4; reference terminal Lesedi"/>
          <p:cNvSpPr/>
          <p:nvPr/>
        </p:nvSpPr>
        <p:spPr>
          <a:xfrm>
            <a:off x="255050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6" name="Illustrative delivered road transport cost class 4; reference terminal Lesedi"/>
          <p:cNvSpPr/>
          <p:nvPr/>
        </p:nvSpPr>
        <p:spPr>
          <a:xfrm>
            <a:off x="255050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7" name="Illustrative delivered road transport cost class 4; reference terminal Lesedi"/>
          <p:cNvSpPr/>
          <p:nvPr/>
        </p:nvSpPr>
        <p:spPr>
          <a:xfrm>
            <a:off x="255050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8" name="Illustrative delivered road transport cost class 4; reference terminal Lesedi"/>
          <p:cNvSpPr/>
          <p:nvPr/>
        </p:nvSpPr>
        <p:spPr>
          <a:xfrm>
            <a:off x="255050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9" name="Illustrative delivered road transport cost class 4; reference terminal Lesedi"/>
          <p:cNvSpPr/>
          <p:nvPr/>
        </p:nvSpPr>
        <p:spPr>
          <a:xfrm>
            <a:off x="255050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0" name="Illustrative delivered road transport cost class None; reference terminal None"/>
          <p:cNvSpPr/>
          <p:nvPr/>
        </p:nvSpPr>
        <p:spPr>
          <a:xfrm>
            <a:off x="255050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1" name="Illustrative delivered road transport cost class None; reference terminal None"/>
          <p:cNvSpPr/>
          <p:nvPr/>
        </p:nvSpPr>
        <p:spPr>
          <a:xfrm>
            <a:off x="255050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2" name="Illustrative delivered road transport cost class None; reference terminal None"/>
          <p:cNvSpPr/>
          <p:nvPr/>
        </p:nvSpPr>
        <p:spPr>
          <a:xfrm>
            <a:off x="255050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3" name="Illustrative delivered road transport cost class None; reference terminal None"/>
          <p:cNvSpPr/>
          <p:nvPr/>
        </p:nvSpPr>
        <p:spPr>
          <a:xfrm>
            <a:off x="255050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4" name="Illustrative delivered road transport cost class None; reference terminal None"/>
          <p:cNvSpPr/>
          <p:nvPr/>
        </p:nvSpPr>
        <p:spPr>
          <a:xfrm>
            <a:off x="255050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5" name="Illustrative delivered road transport cost class None; reference terminal None"/>
          <p:cNvSpPr/>
          <p:nvPr/>
        </p:nvSpPr>
        <p:spPr>
          <a:xfrm>
            <a:off x="255050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6" name="Illustrative delivered road transport cost class None; reference terminal None"/>
          <p:cNvSpPr/>
          <p:nvPr/>
        </p:nvSpPr>
        <p:spPr>
          <a:xfrm>
            <a:off x="255050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7" name="Illustrative delivered road transport cost class None; reference terminal None"/>
          <p:cNvSpPr/>
          <p:nvPr/>
        </p:nvSpPr>
        <p:spPr>
          <a:xfrm>
            <a:off x="255050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8" name="Illustrative delivered road transport cost class None; reference terminal None"/>
          <p:cNvSpPr/>
          <p:nvPr/>
        </p:nvSpPr>
        <p:spPr>
          <a:xfrm>
            <a:off x="255050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9" name="Illustrative delivered road transport cost class 4; reference terminal Lesedi"/>
          <p:cNvSpPr/>
          <p:nvPr/>
        </p:nvSpPr>
        <p:spPr>
          <a:xfrm>
            <a:off x="255050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0" name="Illustrative delivered road transport cost class 4; reference terminal Lesedi"/>
          <p:cNvSpPr/>
          <p:nvPr/>
        </p:nvSpPr>
        <p:spPr>
          <a:xfrm>
            <a:off x="255050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1" name="Illustrative delivered road transport cost class 4; reference terminal Lesedi"/>
          <p:cNvSpPr/>
          <p:nvPr/>
        </p:nvSpPr>
        <p:spPr>
          <a:xfrm>
            <a:off x="255050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2" name="Illustrative delivered road transport cost class 4; reference terminal Lesedi"/>
          <p:cNvSpPr/>
          <p:nvPr/>
        </p:nvSpPr>
        <p:spPr>
          <a:xfrm>
            <a:off x="255050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3" name="Illustrative delivered road transport cost class 4; reference terminal Lesedi"/>
          <p:cNvSpPr/>
          <p:nvPr/>
        </p:nvSpPr>
        <p:spPr>
          <a:xfrm>
            <a:off x="255050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4" name="Illustrative delivered road transport cost class 4; reference terminal Lesedi"/>
          <p:cNvSpPr/>
          <p:nvPr/>
        </p:nvSpPr>
        <p:spPr>
          <a:xfrm>
            <a:off x="255050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5" name="Illustrative delivered road transport cost class 4; reference terminal Lesedi"/>
          <p:cNvSpPr/>
          <p:nvPr/>
        </p:nvSpPr>
        <p:spPr>
          <a:xfrm>
            <a:off x="2550503" y="3883008"/>
            <a:ext cx="57687" cy="57687"/>
          </a:xfrm>
          <a:custGeom>
            <a:avLst/>
            <a:gdLst/>
            <a:ahLst/>
            <a:cxnLst/>
            <a:rect l="l" t="t" r="r" b="b"/>
            <a:pathLst>
              <a:path w="57687" h="57687">
                <a:moveTo>
                  <a:pt x="57687" y="0"/>
                </a:moveTo>
                <a:lnTo>
                  <a:pt x="57687" y="57687"/>
                </a:lnTo>
                <a:lnTo>
                  <a:pt x="0" y="57687"/>
                </a:lnTo>
                <a:lnTo>
                  <a:pt x="0" y="57034"/>
                </a:lnTo>
                <a:lnTo>
                  <a:pt x="19858" y="56596"/>
                </a:lnTo>
                <a:lnTo>
                  <a:pt x="18352" y="20565"/>
                </a:lnTo>
                <a:lnTo>
                  <a:pt x="17499" y="0"/>
                </a:lnTo>
                <a:lnTo>
                  <a:pt x="57687"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6" name="Illustrative delivered road transport cost class 4; reference terminal Lesedi"/>
          <p:cNvSpPr/>
          <p:nvPr/>
        </p:nvSpPr>
        <p:spPr>
          <a:xfrm>
            <a:off x="2565608" y="3825322"/>
            <a:ext cx="42582" cy="57686"/>
          </a:xfrm>
          <a:custGeom>
            <a:avLst/>
            <a:gdLst/>
            <a:ahLst/>
            <a:cxnLst/>
            <a:rect l="l" t="t" r="r" b="b"/>
            <a:pathLst>
              <a:path w="42582" h="57686">
                <a:moveTo>
                  <a:pt x="42582" y="0"/>
                </a:moveTo>
                <a:lnTo>
                  <a:pt x="42582" y="57686"/>
                </a:lnTo>
                <a:lnTo>
                  <a:pt x="2394" y="57686"/>
                </a:lnTo>
                <a:lnTo>
                  <a:pt x="0" y="0"/>
                </a:lnTo>
                <a:lnTo>
                  <a:pt x="425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7" name="Illustrative delivered road transport cost class 4; reference terminal Lesedi"/>
          <p:cNvSpPr/>
          <p:nvPr/>
        </p:nvSpPr>
        <p:spPr>
          <a:xfrm>
            <a:off x="2563224" y="3767635"/>
            <a:ext cx="44966" cy="57687"/>
          </a:xfrm>
          <a:custGeom>
            <a:avLst/>
            <a:gdLst/>
            <a:ahLst/>
            <a:cxnLst/>
            <a:rect l="l" t="t" r="r" b="b"/>
            <a:pathLst>
              <a:path w="44966" h="57687">
                <a:moveTo>
                  <a:pt x="44966" y="0"/>
                </a:moveTo>
                <a:lnTo>
                  <a:pt x="44966" y="57687"/>
                </a:lnTo>
                <a:lnTo>
                  <a:pt x="2384" y="57687"/>
                </a:lnTo>
                <a:lnTo>
                  <a:pt x="912" y="22206"/>
                </a:lnTo>
                <a:lnTo>
                  <a:pt x="0" y="0"/>
                </a:lnTo>
                <a:lnTo>
                  <a:pt x="44966"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8" name="Illustrative delivered road transport cost class 4; reference terminal Lesedi"/>
          <p:cNvSpPr/>
          <p:nvPr/>
        </p:nvSpPr>
        <p:spPr>
          <a:xfrm>
            <a:off x="2560856" y="3709949"/>
            <a:ext cx="47334" cy="57686"/>
          </a:xfrm>
          <a:custGeom>
            <a:avLst/>
            <a:gdLst/>
            <a:ahLst/>
            <a:cxnLst/>
            <a:rect l="l" t="t" r="r" b="b"/>
            <a:pathLst>
              <a:path w="47334" h="57686">
                <a:moveTo>
                  <a:pt x="47334" y="0"/>
                </a:moveTo>
                <a:lnTo>
                  <a:pt x="47334" y="57686"/>
                </a:lnTo>
                <a:lnTo>
                  <a:pt x="2368" y="57686"/>
                </a:lnTo>
                <a:lnTo>
                  <a:pt x="0" y="0"/>
                </a:lnTo>
                <a:lnTo>
                  <a:pt x="4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9" name="Illustrative delivered road transport cost class 4; reference terminal Lesedi"/>
          <p:cNvSpPr/>
          <p:nvPr/>
        </p:nvSpPr>
        <p:spPr>
          <a:xfrm>
            <a:off x="2558498" y="3652262"/>
            <a:ext cx="49692" cy="57687"/>
          </a:xfrm>
          <a:custGeom>
            <a:avLst/>
            <a:gdLst/>
            <a:ahLst/>
            <a:cxnLst/>
            <a:rect l="l" t="t" r="r" b="b"/>
            <a:pathLst>
              <a:path w="49692" h="57687">
                <a:moveTo>
                  <a:pt x="49692" y="0"/>
                </a:moveTo>
                <a:lnTo>
                  <a:pt x="49692" y="57687"/>
                </a:lnTo>
                <a:lnTo>
                  <a:pt x="2358" y="57687"/>
                </a:lnTo>
                <a:lnTo>
                  <a:pt x="969" y="23856"/>
                </a:lnTo>
                <a:lnTo>
                  <a:pt x="0" y="0"/>
                </a:lnTo>
                <a:lnTo>
                  <a:pt x="4969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0" name="Illustrative delivered road transport cost class 4; reference terminal Lesedi"/>
          <p:cNvSpPr/>
          <p:nvPr/>
        </p:nvSpPr>
        <p:spPr>
          <a:xfrm>
            <a:off x="2556156" y="3594576"/>
            <a:ext cx="52034" cy="57686"/>
          </a:xfrm>
          <a:custGeom>
            <a:avLst/>
            <a:gdLst/>
            <a:ahLst/>
            <a:cxnLst/>
            <a:rect l="l" t="t" r="r" b="b"/>
            <a:pathLst>
              <a:path w="52034" h="57686">
                <a:moveTo>
                  <a:pt x="52034" y="0"/>
                </a:moveTo>
                <a:lnTo>
                  <a:pt x="52034" y="57686"/>
                </a:lnTo>
                <a:lnTo>
                  <a:pt x="2342" y="57686"/>
                </a:lnTo>
                <a:lnTo>
                  <a:pt x="0" y="0"/>
                </a:lnTo>
                <a:lnTo>
                  <a:pt x="520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1" name="Illustrative delivered road transport cost class 4; reference terminal Lesedi"/>
          <p:cNvSpPr/>
          <p:nvPr/>
        </p:nvSpPr>
        <p:spPr>
          <a:xfrm>
            <a:off x="2553825" y="3536889"/>
            <a:ext cx="54365" cy="57687"/>
          </a:xfrm>
          <a:custGeom>
            <a:avLst/>
            <a:gdLst/>
            <a:ahLst/>
            <a:cxnLst/>
            <a:rect l="l" t="t" r="r" b="b"/>
            <a:pathLst>
              <a:path w="54365" h="57687">
                <a:moveTo>
                  <a:pt x="54365" y="0"/>
                </a:moveTo>
                <a:lnTo>
                  <a:pt x="54365" y="57687"/>
                </a:lnTo>
                <a:lnTo>
                  <a:pt x="2331" y="57687"/>
                </a:lnTo>
                <a:lnTo>
                  <a:pt x="1026" y="25543"/>
                </a:lnTo>
                <a:lnTo>
                  <a:pt x="0" y="0"/>
                </a:lnTo>
                <a:lnTo>
                  <a:pt x="54365"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2" name="Illustrative delivered road transport cost class 4; reference terminal Lesedi"/>
          <p:cNvSpPr/>
          <p:nvPr/>
        </p:nvSpPr>
        <p:spPr>
          <a:xfrm>
            <a:off x="2551508" y="3479202"/>
            <a:ext cx="56682" cy="57687"/>
          </a:xfrm>
          <a:custGeom>
            <a:avLst/>
            <a:gdLst/>
            <a:ahLst/>
            <a:cxnLst/>
            <a:rect l="l" t="t" r="r" b="b"/>
            <a:pathLst>
              <a:path w="56682" h="57687">
                <a:moveTo>
                  <a:pt x="56682" y="0"/>
                </a:moveTo>
                <a:lnTo>
                  <a:pt x="56682" y="57687"/>
                </a:lnTo>
                <a:lnTo>
                  <a:pt x="2317" y="57687"/>
                </a:lnTo>
                <a:lnTo>
                  <a:pt x="0" y="0"/>
                </a:lnTo>
                <a:lnTo>
                  <a:pt x="56682"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3" name="Illustrative delivered road transport cost class 4; reference terminal Lesedi"/>
          <p:cNvSpPr/>
          <p:nvPr/>
        </p:nvSpPr>
        <p:spPr>
          <a:xfrm>
            <a:off x="2550503" y="3421516"/>
            <a:ext cx="57687" cy="57686"/>
          </a:xfrm>
          <a:custGeom>
            <a:avLst/>
            <a:gdLst/>
            <a:ahLst/>
            <a:cxnLst/>
            <a:rect l="l" t="t" r="r" b="b"/>
            <a:pathLst>
              <a:path w="57687" h="57686">
                <a:moveTo>
                  <a:pt x="0" y="0"/>
                </a:moveTo>
                <a:lnTo>
                  <a:pt x="57687" y="0"/>
                </a:lnTo>
                <a:lnTo>
                  <a:pt x="57687" y="57686"/>
                </a:lnTo>
                <a:lnTo>
                  <a:pt x="1005" y="57686"/>
                </a:lnTo>
                <a:lnTo>
                  <a:pt x="0" y="3265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4" name="Illustrative delivered road transport cost class 4; reference terminal Lesedi"/>
          <p:cNvSpPr/>
          <p:nvPr/>
        </p:nvSpPr>
        <p:spPr>
          <a:xfrm>
            <a:off x="255050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5" name="Illustrative delivered road transport cost class 4; reference terminal Lesedi"/>
          <p:cNvSpPr/>
          <p:nvPr/>
        </p:nvSpPr>
        <p:spPr>
          <a:xfrm>
            <a:off x="255050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6" name="Illustrative delivered road transport cost class 4; reference terminal Lesedi"/>
          <p:cNvSpPr/>
          <p:nvPr/>
        </p:nvSpPr>
        <p:spPr>
          <a:xfrm>
            <a:off x="255050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7" name="Illustrative delivered road transport cost class 4; reference terminal Lesedi"/>
          <p:cNvSpPr/>
          <p:nvPr/>
        </p:nvSpPr>
        <p:spPr>
          <a:xfrm>
            <a:off x="255050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8" name="Illustrative delivered road transport cost class 4; reference terminal Lesedi"/>
          <p:cNvSpPr/>
          <p:nvPr/>
        </p:nvSpPr>
        <p:spPr>
          <a:xfrm>
            <a:off x="255050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9" name="Illustrative delivered road transport cost class 4; reference terminal Lesedi"/>
          <p:cNvSpPr/>
          <p:nvPr/>
        </p:nvSpPr>
        <p:spPr>
          <a:xfrm>
            <a:off x="255050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0" name="Illustrative delivered road transport cost class 4; reference terminal Lesedi"/>
          <p:cNvSpPr/>
          <p:nvPr/>
        </p:nvSpPr>
        <p:spPr>
          <a:xfrm>
            <a:off x="2550503" y="3017710"/>
            <a:ext cx="57687" cy="57686"/>
          </a:xfrm>
          <a:custGeom>
            <a:avLst/>
            <a:gdLst/>
            <a:ahLst/>
            <a:cxnLst/>
            <a:rect l="l" t="t" r="r" b="b"/>
            <a:pathLst>
              <a:path w="57687" h="57686">
                <a:moveTo>
                  <a:pt x="57687" y="57686"/>
                </a:moveTo>
                <a:lnTo>
                  <a:pt x="0" y="57686"/>
                </a:lnTo>
                <a:lnTo>
                  <a:pt x="0" y="0"/>
                </a:lnTo>
                <a:lnTo>
                  <a:pt x="7800" y="0"/>
                </a:lnTo>
                <a:lnTo>
                  <a:pt x="57687" y="35548"/>
                </a:lnTo>
                <a:lnTo>
                  <a:pt x="57687"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1" name="Illustrative delivered road transport cost class None; reference terminal None"/>
          <p:cNvSpPr/>
          <p:nvPr/>
        </p:nvSpPr>
        <p:spPr>
          <a:xfrm>
            <a:off x="2550503" y="3012152"/>
            <a:ext cx="7800" cy="5558"/>
          </a:xfrm>
          <a:custGeom>
            <a:avLst/>
            <a:gdLst/>
            <a:ahLst/>
            <a:cxnLst/>
            <a:rect l="l" t="t" r="r" b="b"/>
            <a:pathLst>
              <a:path w="7800" h="5558">
                <a:moveTo>
                  <a:pt x="0" y="5558"/>
                </a:moveTo>
                <a:lnTo>
                  <a:pt x="0" y="0"/>
                </a:lnTo>
                <a:lnTo>
                  <a:pt x="7800" y="5558"/>
                </a:lnTo>
                <a:lnTo>
                  <a:pt x="0" y="55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2" name="Illustrative delivered road transport cost class 4; reference terminal Durban"/>
          <p:cNvSpPr/>
          <p:nvPr/>
        </p:nvSpPr>
        <p:spPr>
          <a:xfrm>
            <a:off x="2627732" y="5555919"/>
            <a:ext cx="27334" cy="2892"/>
          </a:xfrm>
          <a:custGeom>
            <a:avLst/>
            <a:gdLst/>
            <a:ahLst/>
            <a:cxnLst/>
            <a:rect l="l" t="t" r="r" b="b"/>
            <a:pathLst>
              <a:path w="27334" h="2892">
                <a:moveTo>
                  <a:pt x="27334" y="0"/>
                </a:moveTo>
                <a:lnTo>
                  <a:pt x="24061" y="2892"/>
                </a:lnTo>
                <a:lnTo>
                  <a:pt x="4009" y="955"/>
                </a:lnTo>
                <a:lnTo>
                  <a:pt x="0" y="0"/>
                </a:lnTo>
                <a:lnTo>
                  <a:pt x="27334"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3" name="Illustrative delivered road transport cost class 4; reference terminal Durban"/>
          <p:cNvSpPr/>
          <p:nvPr/>
        </p:nvSpPr>
        <p:spPr>
          <a:xfrm>
            <a:off x="2608190" y="5498232"/>
            <a:ext cx="57686" cy="57687"/>
          </a:xfrm>
          <a:custGeom>
            <a:avLst/>
            <a:gdLst/>
            <a:ahLst/>
            <a:cxnLst/>
            <a:rect l="l" t="t" r="r" b="b"/>
            <a:pathLst>
              <a:path w="57686" h="57687">
                <a:moveTo>
                  <a:pt x="0" y="0"/>
                </a:moveTo>
                <a:lnTo>
                  <a:pt x="57686" y="0"/>
                </a:lnTo>
                <a:lnTo>
                  <a:pt x="57686" y="48136"/>
                </a:lnTo>
                <a:lnTo>
                  <a:pt x="46876" y="57687"/>
                </a:lnTo>
                <a:lnTo>
                  <a:pt x="19542" y="57687"/>
                </a:lnTo>
                <a:lnTo>
                  <a:pt x="7220" y="54751"/>
                </a:lnTo>
                <a:lnTo>
                  <a:pt x="0" y="5495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4" name="Illustrative delivered road transport cost class 4; reference terminal Durban"/>
          <p:cNvSpPr/>
          <p:nvPr/>
        </p:nvSpPr>
        <p:spPr>
          <a:xfrm>
            <a:off x="2608190" y="544054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5" name="Illustrative delivered road transport cost class 4; reference terminal Durban"/>
          <p:cNvSpPr/>
          <p:nvPr/>
        </p:nvSpPr>
        <p:spPr>
          <a:xfrm>
            <a:off x="260819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6" name="Illustrative delivered road transport cost class 4; reference terminal Lesedi"/>
          <p:cNvSpPr/>
          <p:nvPr/>
        </p:nvSpPr>
        <p:spPr>
          <a:xfrm>
            <a:off x="260819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7" name="Illustrative delivered road transport cost class 4; reference terminal Lesedi"/>
          <p:cNvSpPr/>
          <p:nvPr/>
        </p:nvSpPr>
        <p:spPr>
          <a:xfrm>
            <a:off x="260819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8" name="Illustrative delivered road transport cost class 4; reference terminal Lesedi"/>
          <p:cNvSpPr/>
          <p:nvPr/>
        </p:nvSpPr>
        <p:spPr>
          <a:xfrm>
            <a:off x="260819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9" name="Illustrative delivered road transport cost class 4; reference terminal Lesedi"/>
          <p:cNvSpPr/>
          <p:nvPr/>
        </p:nvSpPr>
        <p:spPr>
          <a:xfrm>
            <a:off x="260819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0" name="Illustrative delivered road transport cost class 4; reference terminal Lesedi"/>
          <p:cNvSpPr/>
          <p:nvPr/>
        </p:nvSpPr>
        <p:spPr>
          <a:xfrm>
            <a:off x="260819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1" name="Illustrative delivered road transport cost class 4; reference terminal Lesedi"/>
          <p:cNvSpPr/>
          <p:nvPr/>
        </p:nvSpPr>
        <p:spPr>
          <a:xfrm>
            <a:off x="260819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2" name="Illustrative delivered road transport cost class 4; reference terminal Lesedi"/>
          <p:cNvSpPr/>
          <p:nvPr/>
        </p:nvSpPr>
        <p:spPr>
          <a:xfrm>
            <a:off x="260819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3" name="Illustrative delivered road transport cost class 4; reference terminal Lesedi"/>
          <p:cNvSpPr/>
          <p:nvPr/>
        </p:nvSpPr>
        <p:spPr>
          <a:xfrm>
            <a:off x="260819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4" name="Illustrative delivered road transport cost class None; reference terminal None"/>
          <p:cNvSpPr/>
          <p:nvPr/>
        </p:nvSpPr>
        <p:spPr>
          <a:xfrm>
            <a:off x="260819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5" name="Illustrative delivered road transport cost class None; reference terminal None"/>
          <p:cNvSpPr/>
          <p:nvPr/>
        </p:nvSpPr>
        <p:spPr>
          <a:xfrm>
            <a:off x="260819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6" name="Illustrative delivered road transport cost class None; reference terminal None"/>
          <p:cNvSpPr/>
          <p:nvPr/>
        </p:nvSpPr>
        <p:spPr>
          <a:xfrm>
            <a:off x="260819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7" name="Illustrative delivered road transport cost class None; reference terminal None"/>
          <p:cNvSpPr/>
          <p:nvPr/>
        </p:nvSpPr>
        <p:spPr>
          <a:xfrm>
            <a:off x="260819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8" name="Illustrative delivered road transport cost class None; reference terminal None"/>
          <p:cNvSpPr/>
          <p:nvPr/>
        </p:nvSpPr>
        <p:spPr>
          <a:xfrm>
            <a:off x="260819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9" name="Illustrative delivered road transport cost class None; reference terminal None"/>
          <p:cNvSpPr/>
          <p:nvPr/>
        </p:nvSpPr>
        <p:spPr>
          <a:xfrm>
            <a:off x="260819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0" name="Illustrative delivered road transport cost class None; reference terminal None"/>
          <p:cNvSpPr/>
          <p:nvPr/>
        </p:nvSpPr>
        <p:spPr>
          <a:xfrm>
            <a:off x="260819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1" name="Illustrative delivered road transport cost class None; reference terminal None"/>
          <p:cNvSpPr/>
          <p:nvPr/>
        </p:nvSpPr>
        <p:spPr>
          <a:xfrm>
            <a:off x="260819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2" name="Illustrative delivered road transport cost class None; reference terminal None"/>
          <p:cNvSpPr/>
          <p:nvPr/>
        </p:nvSpPr>
        <p:spPr>
          <a:xfrm>
            <a:off x="260819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3" name="Illustrative delivered road transport cost class None; reference terminal None"/>
          <p:cNvSpPr/>
          <p:nvPr/>
        </p:nvSpPr>
        <p:spPr>
          <a:xfrm>
            <a:off x="260819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4" name="Illustrative delivered road transport cost class None; reference terminal None"/>
          <p:cNvSpPr/>
          <p:nvPr/>
        </p:nvSpPr>
        <p:spPr>
          <a:xfrm>
            <a:off x="260819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5" name="Illustrative delivered road transport cost class None; reference terminal None"/>
          <p:cNvSpPr/>
          <p:nvPr/>
        </p:nvSpPr>
        <p:spPr>
          <a:xfrm>
            <a:off x="260819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6" name="Illustrative delivered road transport cost class 4; reference terminal Lesedi"/>
          <p:cNvSpPr/>
          <p:nvPr/>
        </p:nvSpPr>
        <p:spPr>
          <a:xfrm>
            <a:off x="260819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7" name="Illustrative delivered road transport cost class 4; reference terminal Lesedi"/>
          <p:cNvSpPr/>
          <p:nvPr/>
        </p:nvSpPr>
        <p:spPr>
          <a:xfrm>
            <a:off x="260819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8" name="Illustrative delivered road transport cost class 4; reference terminal Lesedi"/>
          <p:cNvSpPr/>
          <p:nvPr/>
        </p:nvSpPr>
        <p:spPr>
          <a:xfrm>
            <a:off x="260819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9" name="Illustrative delivered road transport cost class 4; reference terminal Lesedi"/>
          <p:cNvSpPr/>
          <p:nvPr/>
        </p:nvSpPr>
        <p:spPr>
          <a:xfrm>
            <a:off x="260819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0" name="Illustrative delivered road transport cost class 4; reference terminal Lesedi"/>
          <p:cNvSpPr/>
          <p:nvPr/>
        </p:nvSpPr>
        <p:spPr>
          <a:xfrm>
            <a:off x="260819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1" name="Illustrative delivered road transport cost class 4; reference terminal Lesedi"/>
          <p:cNvSpPr/>
          <p:nvPr/>
        </p:nvSpPr>
        <p:spPr>
          <a:xfrm>
            <a:off x="260819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2" name="Illustrative delivered road transport cost class 4; reference terminal Lesedi"/>
          <p:cNvSpPr/>
          <p:nvPr/>
        </p:nvSpPr>
        <p:spPr>
          <a:xfrm>
            <a:off x="260819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3" name="Illustrative delivered road transport cost class 4; reference terminal Lesedi"/>
          <p:cNvSpPr/>
          <p:nvPr/>
        </p:nvSpPr>
        <p:spPr>
          <a:xfrm>
            <a:off x="260819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4" name="Illustrative delivered road transport cost class 4; reference terminal Lesedi"/>
          <p:cNvSpPr/>
          <p:nvPr/>
        </p:nvSpPr>
        <p:spPr>
          <a:xfrm>
            <a:off x="260819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5" name="Illustrative delivered road transport cost class 4; reference terminal Lesedi"/>
          <p:cNvSpPr/>
          <p:nvPr/>
        </p:nvSpPr>
        <p:spPr>
          <a:xfrm>
            <a:off x="260819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6" name="Illustrative delivered road transport cost class 4; reference terminal Lesedi"/>
          <p:cNvSpPr/>
          <p:nvPr/>
        </p:nvSpPr>
        <p:spPr>
          <a:xfrm>
            <a:off x="260819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7" name="Illustrative delivered road transport cost class 4; reference terminal Lesedi"/>
          <p:cNvSpPr/>
          <p:nvPr/>
        </p:nvSpPr>
        <p:spPr>
          <a:xfrm>
            <a:off x="260819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8" name="Illustrative delivered road transport cost class 4; reference terminal Lesedi"/>
          <p:cNvSpPr/>
          <p:nvPr/>
        </p:nvSpPr>
        <p:spPr>
          <a:xfrm>
            <a:off x="260819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9" name="Illustrative delivered road transport cost class 4; reference terminal Lesedi"/>
          <p:cNvSpPr/>
          <p:nvPr/>
        </p:nvSpPr>
        <p:spPr>
          <a:xfrm>
            <a:off x="260819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0" name="Illustrative delivered road transport cost class 4; reference terminal Lesedi"/>
          <p:cNvSpPr/>
          <p:nvPr/>
        </p:nvSpPr>
        <p:spPr>
          <a:xfrm>
            <a:off x="260819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1" name="Illustrative delivered road transport cost class 4; reference terminal Lesedi"/>
          <p:cNvSpPr/>
          <p:nvPr/>
        </p:nvSpPr>
        <p:spPr>
          <a:xfrm>
            <a:off x="260819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2" name="Illustrative delivered road transport cost class 4; reference terminal Lesedi"/>
          <p:cNvSpPr/>
          <p:nvPr/>
        </p:nvSpPr>
        <p:spPr>
          <a:xfrm>
            <a:off x="260819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3" name="Illustrative delivered road transport cost class 4; reference terminal Lesedi"/>
          <p:cNvSpPr/>
          <p:nvPr/>
        </p:nvSpPr>
        <p:spPr>
          <a:xfrm>
            <a:off x="260819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4" name="Illustrative delivered road transport cost class 4; reference terminal Lesedi"/>
          <p:cNvSpPr/>
          <p:nvPr/>
        </p:nvSpPr>
        <p:spPr>
          <a:xfrm>
            <a:off x="2608190" y="3133083"/>
            <a:ext cx="57686" cy="57687"/>
          </a:xfrm>
          <a:custGeom>
            <a:avLst/>
            <a:gdLst/>
            <a:ahLst/>
            <a:cxnLst/>
            <a:rect l="l" t="t" r="r" b="b"/>
            <a:pathLst>
              <a:path w="57686" h="57687">
                <a:moveTo>
                  <a:pt x="57686" y="57687"/>
                </a:moveTo>
                <a:lnTo>
                  <a:pt x="0" y="57687"/>
                </a:lnTo>
                <a:lnTo>
                  <a:pt x="0" y="0"/>
                </a:lnTo>
                <a:lnTo>
                  <a:pt x="55191" y="0"/>
                </a:lnTo>
                <a:lnTo>
                  <a:pt x="57686" y="4983"/>
                </a:lnTo>
                <a:lnTo>
                  <a:pt x="57686"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5" name="Illustrative delivered road transport cost class 4; reference terminal Lesedi"/>
          <p:cNvSpPr/>
          <p:nvPr/>
        </p:nvSpPr>
        <p:spPr>
          <a:xfrm>
            <a:off x="2608190" y="3075396"/>
            <a:ext cx="55191" cy="57687"/>
          </a:xfrm>
          <a:custGeom>
            <a:avLst/>
            <a:gdLst/>
            <a:ahLst/>
            <a:cxnLst/>
            <a:rect l="l" t="t" r="r" b="b"/>
            <a:pathLst>
              <a:path w="55191" h="57687">
                <a:moveTo>
                  <a:pt x="0" y="57687"/>
                </a:moveTo>
                <a:lnTo>
                  <a:pt x="0" y="0"/>
                </a:lnTo>
                <a:lnTo>
                  <a:pt x="21710" y="0"/>
                </a:lnTo>
                <a:lnTo>
                  <a:pt x="32863" y="15553"/>
                </a:lnTo>
                <a:lnTo>
                  <a:pt x="43399" y="34147"/>
                </a:lnTo>
                <a:lnTo>
                  <a:pt x="55191"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6" name="Illustrative delivered road transport cost class 4; reference terminal Lesedi"/>
          <p:cNvSpPr/>
          <p:nvPr/>
        </p:nvSpPr>
        <p:spPr>
          <a:xfrm>
            <a:off x="2608190" y="3053258"/>
            <a:ext cx="21710" cy="22138"/>
          </a:xfrm>
          <a:custGeom>
            <a:avLst/>
            <a:gdLst/>
            <a:ahLst/>
            <a:cxnLst/>
            <a:rect l="l" t="t" r="r" b="b"/>
            <a:pathLst>
              <a:path w="21710" h="22138">
                <a:moveTo>
                  <a:pt x="0" y="22138"/>
                </a:moveTo>
                <a:lnTo>
                  <a:pt x="0" y="0"/>
                </a:lnTo>
                <a:lnTo>
                  <a:pt x="11930" y="8502"/>
                </a:lnTo>
                <a:lnTo>
                  <a:pt x="21710" y="22138"/>
                </a:lnTo>
                <a:lnTo>
                  <a:pt x="0" y="22138"/>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7" name="Illustrative delivered road transport cost class 4; reference terminal Durban"/>
          <p:cNvSpPr/>
          <p:nvPr/>
        </p:nvSpPr>
        <p:spPr>
          <a:xfrm>
            <a:off x="2665876" y="5498232"/>
            <a:ext cx="54480" cy="48136"/>
          </a:xfrm>
          <a:custGeom>
            <a:avLst/>
            <a:gdLst/>
            <a:ahLst/>
            <a:cxnLst/>
            <a:rect l="l" t="t" r="r" b="b"/>
            <a:pathLst>
              <a:path w="54480" h="48136">
                <a:moveTo>
                  <a:pt x="0" y="0"/>
                </a:moveTo>
                <a:lnTo>
                  <a:pt x="54480" y="0"/>
                </a:lnTo>
                <a:lnTo>
                  <a:pt x="0" y="4813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8" name="Illustrative delivered road transport cost class 4; reference terminal Durban"/>
          <p:cNvSpPr/>
          <p:nvPr/>
        </p:nvSpPr>
        <p:spPr>
          <a:xfrm>
            <a:off x="2665876" y="5440546"/>
            <a:ext cx="57687" cy="57686"/>
          </a:xfrm>
          <a:custGeom>
            <a:avLst/>
            <a:gdLst/>
            <a:ahLst/>
            <a:cxnLst/>
            <a:rect l="l" t="t" r="r" b="b"/>
            <a:pathLst>
              <a:path w="57687" h="57686">
                <a:moveTo>
                  <a:pt x="0" y="57686"/>
                </a:moveTo>
                <a:lnTo>
                  <a:pt x="0" y="0"/>
                </a:lnTo>
                <a:lnTo>
                  <a:pt x="57687" y="0"/>
                </a:lnTo>
                <a:lnTo>
                  <a:pt x="57687" y="54853"/>
                </a:lnTo>
                <a:lnTo>
                  <a:pt x="54480"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9" name="Illustrative delivered road transport cost class 4; reference terminal Durban"/>
          <p:cNvSpPr/>
          <p:nvPr/>
        </p:nvSpPr>
        <p:spPr>
          <a:xfrm>
            <a:off x="266587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0" name="Illustrative delivered road transport cost class 4; reference terminal Durban"/>
          <p:cNvSpPr/>
          <p:nvPr/>
        </p:nvSpPr>
        <p:spPr>
          <a:xfrm>
            <a:off x="266587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1" name="Illustrative delivered road transport cost class 4; reference terminal Lesedi"/>
          <p:cNvSpPr/>
          <p:nvPr/>
        </p:nvSpPr>
        <p:spPr>
          <a:xfrm>
            <a:off x="266587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2" name="Illustrative delivered road transport cost class 4; reference terminal Lesedi"/>
          <p:cNvSpPr/>
          <p:nvPr/>
        </p:nvSpPr>
        <p:spPr>
          <a:xfrm>
            <a:off x="266587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3" name="Illustrative delivered road transport cost class 4; reference terminal Lesedi"/>
          <p:cNvSpPr/>
          <p:nvPr/>
        </p:nvSpPr>
        <p:spPr>
          <a:xfrm>
            <a:off x="266587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4" name="Illustrative delivered road transport cost class 4; reference terminal Lesedi"/>
          <p:cNvSpPr/>
          <p:nvPr/>
        </p:nvSpPr>
        <p:spPr>
          <a:xfrm>
            <a:off x="266587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5" name="Illustrative delivered road transport cost class 4; reference terminal Lesedi"/>
          <p:cNvSpPr/>
          <p:nvPr/>
        </p:nvSpPr>
        <p:spPr>
          <a:xfrm>
            <a:off x="266587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6" name="Illustrative delivered road transport cost class 4; reference terminal Lesedi"/>
          <p:cNvSpPr/>
          <p:nvPr/>
        </p:nvSpPr>
        <p:spPr>
          <a:xfrm>
            <a:off x="266587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7" name="Illustrative delivered road transport cost class 4; reference terminal Lesedi"/>
          <p:cNvSpPr/>
          <p:nvPr/>
        </p:nvSpPr>
        <p:spPr>
          <a:xfrm>
            <a:off x="266587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8" name="Illustrative delivered road transport cost class None; reference terminal None"/>
          <p:cNvSpPr/>
          <p:nvPr/>
        </p:nvSpPr>
        <p:spPr>
          <a:xfrm>
            <a:off x="266587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9" name="Illustrative delivered road transport cost class None; reference terminal None"/>
          <p:cNvSpPr/>
          <p:nvPr/>
        </p:nvSpPr>
        <p:spPr>
          <a:xfrm>
            <a:off x="266587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0" name="Illustrative delivered road transport cost class None; reference terminal None"/>
          <p:cNvSpPr/>
          <p:nvPr/>
        </p:nvSpPr>
        <p:spPr>
          <a:xfrm>
            <a:off x="266587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1" name="Illustrative delivered road transport cost class None; reference terminal None"/>
          <p:cNvSpPr/>
          <p:nvPr/>
        </p:nvSpPr>
        <p:spPr>
          <a:xfrm>
            <a:off x="266587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2" name="Illustrative delivered road transport cost class None; reference terminal None"/>
          <p:cNvSpPr/>
          <p:nvPr/>
        </p:nvSpPr>
        <p:spPr>
          <a:xfrm>
            <a:off x="266587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3" name="Illustrative delivered road transport cost class None; reference terminal None"/>
          <p:cNvSpPr/>
          <p:nvPr/>
        </p:nvSpPr>
        <p:spPr>
          <a:xfrm>
            <a:off x="266587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4" name="Illustrative delivered road transport cost class None; reference terminal None"/>
          <p:cNvSpPr/>
          <p:nvPr/>
        </p:nvSpPr>
        <p:spPr>
          <a:xfrm>
            <a:off x="266587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5" name="Illustrative delivered road transport cost class None; reference terminal None"/>
          <p:cNvSpPr/>
          <p:nvPr/>
        </p:nvSpPr>
        <p:spPr>
          <a:xfrm>
            <a:off x="266587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6" name="Illustrative delivered road transport cost class None; reference terminal None"/>
          <p:cNvSpPr/>
          <p:nvPr/>
        </p:nvSpPr>
        <p:spPr>
          <a:xfrm>
            <a:off x="266587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7" name="Illustrative delivered road transport cost class None; reference terminal None"/>
          <p:cNvSpPr/>
          <p:nvPr/>
        </p:nvSpPr>
        <p:spPr>
          <a:xfrm>
            <a:off x="266587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8" name="Illustrative delivered road transport cost class None; reference terminal None"/>
          <p:cNvSpPr/>
          <p:nvPr/>
        </p:nvSpPr>
        <p:spPr>
          <a:xfrm>
            <a:off x="266587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9" name="Illustrative delivered road transport cost class None; reference terminal None"/>
          <p:cNvSpPr/>
          <p:nvPr/>
        </p:nvSpPr>
        <p:spPr>
          <a:xfrm>
            <a:off x="266587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0" name="Illustrative delivered road transport cost class 4; reference terminal Lesedi"/>
          <p:cNvSpPr/>
          <p:nvPr/>
        </p:nvSpPr>
        <p:spPr>
          <a:xfrm>
            <a:off x="266587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1" name="Illustrative delivered road transport cost class 4; reference terminal Lesedi"/>
          <p:cNvSpPr/>
          <p:nvPr/>
        </p:nvSpPr>
        <p:spPr>
          <a:xfrm>
            <a:off x="266587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2" name="Illustrative delivered road transport cost class 4; reference terminal Lesedi"/>
          <p:cNvSpPr/>
          <p:nvPr/>
        </p:nvSpPr>
        <p:spPr>
          <a:xfrm>
            <a:off x="266587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3" name="Illustrative delivered road transport cost class 3; reference terminal Lesedi"/>
          <p:cNvSpPr/>
          <p:nvPr/>
        </p:nvSpPr>
        <p:spPr>
          <a:xfrm>
            <a:off x="266587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4" name="Illustrative delivered road transport cost class 3; reference terminal Lesedi"/>
          <p:cNvSpPr/>
          <p:nvPr/>
        </p:nvSpPr>
        <p:spPr>
          <a:xfrm>
            <a:off x="266587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5" name="Illustrative delivered road transport cost class 4; reference terminal Lesedi"/>
          <p:cNvSpPr/>
          <p:nvPr/>
        </p:nvSpPr>
        <p:spPr>
          <a:xfrm>
            <a:off x="266587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6" name="Illustrative delivered road transport cost class 4; reference terminal Lesedi"/>
          <p:cNvSpPr/>
          <p:nvPr/>
        </p:nvSpPr>
        <p:spPr>
          <a:xfrm>
            <a:off x="266587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7" name="Illustrative delivered road transport cost class 4; reference terminal Lesedi"/>
          <p:cNvSpPr/>
          <p:nvPr/>
        </p:nvSpPr>
        <p:spPr>
          <a:xfrm>
            <a:off x="266587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8" name="Illustrative delivered road transport cost class 4; reference terminal Lesedi"/>
          <p:cNvSpPr/>
          <p:nvPr/>
        </p:nvSpPr>
        <p:spPr>
          <a:xfrm>
            <a:off x="266587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9" name="Illustrative delivered road transport cost class 4; reference terminal Lesedi"/>
          <p:cNvSpPr/>
          <p:nvPr/>
        </p:nvSpPr>
        <p:spPr>
          <a:xfrm>
            <a:off x="266587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0" name="Illustrative delivered road transport cost class 4; reference terminal Lesedi"/>
          <p:cNvSpPr/>
          <p:nvPr/>
        </p:nvSpPr>
        <p:spPr>
          <a:xfrm>
            <a:off x="266587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1" name="Illustrative delivered road transport cost class 4; reference terminal Lesedi"/>
          <p:cNvSpPr/>
          <p:nvPr/>
        </p:nvSpPr>
        <p:spPr>
          <a:xfrm>
            <a:off x="266587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2" name="Illustrative delivered road transport cost class 4; reference terminal Lesedi"/>
          <p:cNvSpPr/>
          <p:nvPr/>
        </p:nvSpPr>
        <p:spPr>
          <a:xfrm>
            <a:off x="2665876" y="3479202"/>
            <a:ext cx="57687" cy="57687"/>
          </a:xfrm>
          <a:custGeom>
            <a:avLst/>
            <a:gdLst/>
            <a:ahLst/>
            <a:cxnLst/>
            <a:rect l="l" t="t" r="r" b="b"/>
            <a:pathLst>
              <a:path w="57687" h="57687">
                <a:moveTo>
                  <a:pt x="57687" y="57687"/>
                </a:moveTo>
                <a:lnTo>
                  <a:pt x="0" y="57687"/>
                </a:lnTo>
                <a:lnTo>
                  <a:pt x="0" y="0"/>
                </a:lnTo>
                <a:lnTo>
                  <a:pt x="35371" y="0"/>
                </a:lnTo>
                <a:lnTo>
                  <a:pt x="38098" y="17586"/>
                </a:lnTo>
                <a:lnTo>
                  <a:pt x="48817" y="37746"/>
                </a:lnTo>
                <a:lnTo>
                  <a:pt x="57687" y="42112"/>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3" name="Illustrative delivered road transport cost class 4; reference terminal Lesedi"/>
          <p:cNvSpPr/>
          <p:nvPr/>
        </p:nvSpPr>
        <p:spPr>
          <a:xfrm>
            <a:off x="2665876" y="3421516"/>
            <a:ext cx="35371" cy="57686"/>
          </a:xfrm>
          <a:custGeom>
            <a:avLst/>
            <a:gdLst/>
            <a:ahLst/>
            <a:cxnLst/>
            <a:rect l="l" t="t" r="r" b="b"/>
            <a:pathLst>
              <a:path w="35371" h="57686">
                <a:moveTo>
                  <a:pt x="0" y="57686"/>
                </a:moveTo>
                <a:lnTo>
                  <a:pt x="0" y="0"/>
                </a:lnTo>
                <a:lnTo>
                  <a:pt x="32074" y="0"/>
                </a:lnTo>
                <a:lnTo>
                  <a:pt x="31730" y="34214"/>
                </a:lnTo>
                <a:lnTo>
                  <a:pt x="35371"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4" name="Illustrative delivered road transport cost class 4; reference terminal Lesedi"/>
          <p:cNvSpPr/>
          <p:nvPr/>
        </p:nvSpPr>
        <p:spPr>
          <a:xfrm>
            <a:off x="2665876" y="3363829"/>
            <a:ext cx="57687" cy="57687"/>
          </a:xfrm>
          <a:custGeom>
            <a:avLst/>
            <a:gdLst/>
            <a:ahLst/>
            <a:cxnLst/>
            <a:rect l="l" t="t" r="r" b="b"/>
            <a:pathLst>
              <a:path w="57687" h="57687">
                <a:moveTo>
                  <a:pt x="0" y="57687"/>
                </a:moveTo>
                <a:lnTo>
                  <a:pt x="0" y="0"/>
                </a:lnTo>
                <a:lnTo>
                  <a:pt x="57687" y="0"/>
                </a:lnTo>
                <a:lnTo>
                  <a:pt x="57687" y="14138"/>
                </a:lnTo>
                <a:lnTo>
                  <a:pt x="47524" y="29733"/>
                </a:lnTo>
                <a:lnTo>
                  <a:pt x="32082" y="56825"/>
                </a:lnTo>
                <a:lnTo>
                  <a:pt x="32074"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5" name="Illustrative delivered road transport cost class 4; reference terminal Lesedi"/>
          <p:cNvSpPr/>
          <p:nvPr/>
        </p:nvSpPr>
        <p:spPr>
          <a:xfrm>
            <a:off x="266587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6" name="Illustrative delivered road transport cost class 4; reference terminal Lesedi"/>
          <p:cNvSpPr/>
          <p:nvPr/>
        </p:nvSpPr>
        <p:spPr>
          <a:xfrm>
            <a:off x="2665876" y="3248456"/>
            <a:ext cx="57687" cy="57687"/>
          </a:xfrm>
          <a:custGeom>
            <a:avLst/>
            <a:gdLst/>
            <a:ahLst/>
            <a:cxnLst/>
            <a:rect l="l" t="t" r="r" b="b"/>
            <a:pathLst>
              <a:path w="57687" h="57687">
                <a:moveTo>
                  <a:pt x="57687" y="57687"/>
                </a:moveTo>
                <a:lnTo>
                  <a:pt x="0" y="57687"/>
                </a:lnTo>
                <a:lnTo>
                  <a:pt x="0" y="0"/>
                </a:lnTo>
                <a:lnTo>
                  <a:pt x="49795" y="0"/>
                </a:lnTo>
                <a:lnTo>
                  <a:pt x="57687" y="17604"/>
                </a:lnTo>
                <a:lnTo>
                  <a:pt x="57687"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7" name="Illustrative delivered road transport cost class 4; reference terminal Lesedi"/>
          <p:cNvSpPr/>
          <p:nvPr/>
        </p:nvSpPr>
        <p:spPr>
          <a:xfrm>
            <a:off x="2665876" y="3190770"/>
            <a:ext cx="49795" cy="57686"/>
          </a:xfrm>
          <a:custGeom>
            <a:avLst/>
            <a:gdLst/>
            <a:ahLst/>
            <a:cxnLst/>
            <a:rect l="l" t="t" r="r" b="b"/>
            <a:pathLst>
              <a:path w="49795" h="57686">
                <a:moveTo>
                  <a:pt x="0" y="57686"/>
                </a:moveTo>
                <a:lnTo>
                  <a:pt x="0" y="0"/>
                </a:lnTo>
                <a:lnTo>
                  <a:pt x="25307" y="0"/>
                </a:lnTo>
                <a:lnTo>
                  <a:pt x="45264" y="47580"/>
                </a:lnTo>
                <a:lnTo>
                  <a:pt x="49795"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8" name="Illustrative delivered road transport cost class 4; reference terminal Lesedi"/>
          <p:cNvSpPr/>
          <p:nvPr/>
        </p:nvSpPr>
        <p:spPr>
          <a:xfrm>
            <a:off x="2665876" y="3138066"/>
            <a:ext cx="25307" cy="52704"/>
          </a:xfrm>
          <a:custGeom>
            <a:avLst/>
            <a:gdLst/>
            <a:ahLst/>
            <a:cxnLst/>
            <a:rect l="l" t="t" r="r" b="b"/>
            <a:pathLst>
              <a:path w="25307" h="52704">
                <a:moveTo>
                  <a:pt x="0" y="52704"/>
                </a:moveTo>
                <a:lnTo>
                  <a:pt x="0" y="0"/>
                </a:lnTo>
                <a:lnTo>
                  <a:pt x="19680" y="39287"/>
                </a:lnTo>
                <a:lnTo>
                  <a:pt x="25307" y="52704"/>
                </a:lnTo>
                <a:lnTo>
                  <a:pt x="0" y="52704"/>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9" name="Illustrative delivered road transport cost class 4; reference terminal Durban"/>
          <p:cNvSpPr/>
          <p:nvPr/>
        </p:nvSpPr>
        <p:spPr>
          <a:xfrm>
            <a:off x="2723563" y="5440546"/>
            <a:ext cx="57687" cy="54853"/>
          </a:xfrm>
          <a:custGeom>
            <a:avLst/>
            <a:gdLst/>
            <a:ahLst/>
            <a:cxnLst/>
            <a:rect l="l" t="t" r="r" b="b"/>
            <a:pathLst>
              <a:path w="57687" h="54853">
                <a:moveTo>
                  <a:pt x="0" y="0"/>
                </a:moveTo>
                <a:lnTo>
                  <a:pt x="57687" y="0"/>
                </a:lnTo>
                <a:lnTo>
                  <a:pt x="57687" y="27433"/>
                </a:lnTo>
                <a:lnTo>
                  <a:pt x="32235" y="31324"/>
                </a:lnTo>
                <a:lnTo>
                  <a:pt x="12559" y="43757"/>
                </a:lnTo>
                <a:lnTo>
                  <a:pt x="0" y="5485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0" name="Illustrative delivered road transport cost class 4; reference terminal Durban"/>
          <p:cNvSpPr/>
          <p:nvPr/>
        </p:nvSpPr>
        <p:spPr>
          <a:xfrm>
            <a:off x="2723563"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1" name="Illustrative delivered road transport cost class 4; reference terminal Durban"/>
          <p:cNvSpPr/>
          <p:nvPr/>
        </p:nvSpPr>
        <p:spPr>
          <a:xfrm>
            <a:off x="2723563"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2" name="Illustrative delivered road transport cost class 4; reference terminal Lesedi"/>
          <p:cNvSpPr/>
          <p:nvPr/>
        </p:nvSpPr>
        <p:spPr>
          <a:xfrm>
            <a:off x="2723563"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3" name="Illustrative delivered road transport cost class 4; reference terminal Lesedi"/>
          <p:cNvSpPr/>
          <p:nvPr/>
        </p:nvSpPr>
        <p:spPr>
          <a:xfrm>
            <a:off x="2723563"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4" name="Illustrative delivered road transport cost class 4; reference terminal Lesedi"/>
          <p:cNvSpPr/>
          <p:nvPr/>
        </p:nvSpPr>
        <p:spPr>
          <a:xfrm>
            <a:off x="2723563"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5" name="Illustrative delivered road transport cost class 4; reference terminal Lesedi"/>
          <p:cNvSpPr/>
          <p:nvPr/>
        </p:nvSpPr>
        <p:spPr>
          <a:xfrm>
            <a:off x="2723563"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6" name="Illustrative delivered road transport cost class 4; reference terminal Lesedi"/>
          <p:cNvSpPr/>
          <p:nvPr/>
        </p:nvSpPr>
        <p:spPr>
          <a:xfrm>
            <a:off x="2723563"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7" name="Illustrative delivered road transport cost class 4; reference terminal Lesedi"/>
          <p:cNvSpPr/>
          <p:nvPr/>
        </p:nvSpPr>
        <p:spPr>
          <a:xfrm>
            <a:off x="2723563"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8" name="Illustrative delivered road transport cost class 4; reference terminal Lesedi"/>
          <p:cNvSpPr/>
          <p:nvPr/>
        </p:nvSpPr>
        <p:spPr>
          <a:xfrm>
            <a:off x="272356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9" name="Illustrative delivered road transport cost class 4; reference terminal Lesedi"/>
          <p:cNvSpPr/>
          <p:nvPr/>
        </p:nvSpPr>
        <p:spPr>
          <a:xfrm>
            <a:off x="272356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0" name="Illustrative delivered road transport cost class None; reference terminal None"/>
          <p:cNvSpPr/>
          <p:nvPr/>
        </p:nvSpPr>
        <p:spPr>
          <a:xfrm>
            <a:off x="272356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1" name="Illustrative delivered road transport cost class None; reference terminal None"/>
          <p:cNvSpPr/>
          <p:nvPr/>
        </p:nvSpPr>
        <p:spPr>
          <a:xfrm>
            <a:off x="272356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2" name="Illustrative delivered road transport cost class None; reference terminal None"/>
          <p:cNvSpPr/>
          <p:nvPr/>
        </p:nvSpPr>
        <p:spPr>
          <a:xfrm>
            <a:off x="272356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3" name="Illustrative delivered road transport cost class None; reference terminal None"/>
          <p:cNvSpPr/>
          <p:nvPr/>
        </p:nvSpPr>
        <p:spPr>
          <a:xfrm>
            <a:off x="272356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4" name="Illustrative delivered road transport cost class None; reference terminal None"/>
          <p:cNvSpPr/>
          <p:nvPr/>
        </p:nvSpPr>
        <p:spPr>
          <a:xfrm>
            <a:off x="272356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5" name="Illustrative delivered road transport cost class None; reference terminal None"/>
          <p:cNvSpPr/>
          <p:nvPr/>
        </p:nvSpPr>
        <p:spPr>
          <a:xfrm>
            <a:off x="272356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6" name="Illustrative delivered road transport cost class None; reference terminal None"/>
          <p:cNvSpPr/>
          <p:nvPr/>
        </p:nvSpPr>
        <p:spPr>
          <a:xfrm>
            <a:off x="272356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7" name="Illustrative delivered road transport cost class None; reference terminal None"/>
          <p:cNvSpPr/>
          <p:nvPr/>
        </p:nvSpPr>
        <p:spPr>
          <a:xfrm>
            <a:off x="272356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8" name="Illustrative delivered road transport cost class None; reference terminal None"/>
          <p:cNvSpPr/>
          <p:nvPr/>
        </p:nvSpPr>
        <p:spPr>
          <a:xfrm>
            <a:off x="272356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9" name="Illustrative delivered road transport cost class None; reference terminal None"/>
          <p:cNvSpPr/>
          <p:nvPr/>
        </p:nvSpPr>
        <p:spPr>
          <a:xfrm>
            <a:off x="2723563"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0" name="Illustrative delivered road transport cost class 3; reference terminal Lesedi"/>
          <p:cNvSpPr/>
          <p:nvPr/>
        </p:nvSpPr>
        <p:spPr>
          <a:xfrm>
            <a:off x="2723563"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1" name="Illustrative delivered road transport cost class 3; reference terminal Lesedi"/>
          <p:cNvSpPr/>
          <p:nvPr/>
        </p:nvSpPr>
        <p:spPr>
          <a:xfrm>
            <a:off x="2723563"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2" name="Illustrative delivered road transport cost class 3; reference terminal Lesedi"/>
          <p:cNvSpPr/>
          <p:nvPr/>
        </p:nvSpPr>
        <p:spPr>
          <a:xfrm>
            <a:off x="2723563"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3" name="Illustrative delivered road transport cost class 3; reference terminal Lesedi"/>
          <p:cNvSpPr/>
          <p:nvPr/>
        </p:nvSpPr>
        <p:spPr>
          <a:xfrm>
            <a:off x="2723563"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4" name="Illustrative delivered road transport cost class 3; reference terminal Lesedi"/>
          <p:cNvSpPr/>
          <p:nvPr/>
        </p:nvSpPr>
        <p:spPr>
          <a:xfrm>
            <a:off x="2723563"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5" name="Illustrative delivered road transport cost class 3; reference terminal Lesedi"/>
          <p:cNvSpPr/>
          <p:nvPr/>
        </p:nvSpPr>
        <p:spPr>
          <a:xfrm>
            <a:off x="272356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6" name="Illustrative delivered road transport cost class 4; reference terminal Lesedi"/>
          <p:cNvSpPr/>
          <p:nvPr/>
        </p:nvSpPr>
        <p:spPr>
          <a:xfrm>
            <a:off x="272356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7" name="Illustrative delivered road transport cost class 4; reference terminal Lesedi"/>
          <p:cNvSpPr/>
          <p:nvPr/>
        </p:nvSpPr>
        <p:spPr>
          <a:xfrm>
            <a:off x="272356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8" name="Illustrative delivered road transport cost class 4; reference terminal Lesedi"/>
          <p:cNvSpPr/>
          <p:nvPr/>
        </p:nvSpPr>
        <p:spPr>
          <a:xfrm>
            <a:off x="272356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9" name="Illustrative delivered road transport cost class 4; reference terminal Lesedi"/>
          <p:cNvSpPr/>
          <p:nvPr/>
        </p:nvSpPr>
        <p:spPr>
          <a:xfrm>
            <a:off x="272356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0" name="Illustrative delivered road transport cost class 4; reference terminal Lesedi"/>
          <p:cNvSpPr/>
          <p:nvPr/>
        </p:nvSpPr>
        <p:spPr>
          <a:xfrm>
            <a:off x="272356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1" name="Illustrative delivered road transport cost class 4; reference terminal Lesedi"/>
          <p:cNvSpPr/>
          <p:nvPr/>
        </p:nvSpPr>
        <p:spPr>
          <a:xfrm>
            <a:off x="272356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2" name="Illustrative delivered road transport cost class 4; reference terminal Lesedi"/>
          <p:cNvSpPr/>
          <p:nvPr/>
        </p:nvSpPr>
        <p:spPr>
          <a:xfrm>
            <a:off x="272356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3" name="Illustrative delivered road transport cost class 4; reference terminal Lesedi"/>
          <p:cNvSpPr/>
          <p:nvPr/>
        </p:nvSpPr>
        <p:spPr>
          <a:xfrm>
            <a:off x="2723563" y="3511963"/>
            <a:ext cx="57687" cy="24926"/>
          </a:xfrm>
          <a:custGeom>
            <a:avLst/>
            <a:gdLst/>
            <a:ahLst/>
            <a:cxnLst/>
            <a:rect l="l" t="t" r="r" b="b"/>
            <a:pathLst>
              <a:path w="57687" h="24926">
                <a:moveTo>
                  <a:pt x="57687" y="24926"/>
                </a:moveTo>
                <a:lnTo>
                  <a:pt x="0" y="24926"/>
                </a:lnTo>
                <a:lnTo>
                  <a:pt x="0" y="9351"/>
                </a:lnTo>
                <a:lnTo>
                  <a:pt x="3915" y="11278"/>
                </a:lnTo>
                <a:lnTo>
                  <a:pt x="33602" y="0"/>
                </a:lnTo>
                <a:lnTo>
                  <a:pt x="52730" y="2502"/>
                </a:lnTo>
                <a:lnTo>
                  <a:pt x="57687" y="3774"/>
                </a:lnTo>
                <a:lnTo>
                  <a:pt x="57687" y="2492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4" name="Illustrative delivered road transport cost class 4; reference terminal Lesedi"/>
          <p:cNvSpPr/>
          <p:nvPr/>
        </p:nvSpPr>
        <p:spPr>
          <a:xfrm>
            <a:off x="2723563" y="3363829"/>
            <a:ext cx="7574" cy="14138"/>
          </a:xfrm>
          <a:custGeom>
            <a:avLst/>
            <a:gdLst/>
            <a:ahLst/>
            <a:cxnLst/>
            <a:rect l="l" t="t" r="r" b="b"/>
            <a:pathLst>
              <a:path w="7574" h="14138">
                <a:moveTo>
                  <a:pt x="0" y="0"/>
                </a:moveTo>
                <a:lnTo>
                  <a:pt x="7574" y="0"/>
                </a:lnTo>
                <a:lnTo>
                  <a:pt x="2805" y="9834"/>
                </a:lnTo>
                <a:lnTo>
                  <a:pt x="0" y="14138"/>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5" name="Illustrative delivered road transport cost class 4; reference terminal Lesedi"/>
          <p:cNvSpPr/>
          <p:nvPr/>
        </p:nvSpPr>
        <p:spPr>
          <a:xfrm>
            <a:off x="2723563" y="3306143"/>
            <a:ext cx="16709" cy="57686"/>
          </a:xfrm>
          <a:custGeom>
            <a:avLst/>
            <a:gdLst/>
            <a:ahLst/>
            <a:cxnLst/>
            <a:rect l="l" t="t" r="r" b="b"/>
            <a:pathLst>
              <a:path w="16709" h="57686">
                <a:moveTo>
                  <a:pt x="0" y="57686"/>
                </a:moveTo>
                <a:lnTo>
                  <a:pt x="0" y="0"/>
                </a:lnTo>
                <a:lnTo>
                  <a:pt x="10418" y="0"/>
                </a:lnTo>
                <a:lnTo>
                  <a:pt x="13692" y="20167"/>
                </a:lnTo>
                <a:lnTo>
                  <a:pt x="16709" y="30307"/>
                </a:lnTo>
                <a:lnTo>
                  <a:pt x="15326" y="41698"/>
                </a:lnTo>
                <a:lnTo>
                  <a:pt x="7574"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6" name="Illustrative delivered road transport cost class 4; reference terminal Lesedi"/>
          <p:cNvSpPr/>
          <p:nvPr/>
        </p:nvSpPr>
        <p:spPr>
          <a:xfrm>
            <a:off x="2723563" y="3266060"/>
            <a:ext cx="10418" cy="40083"/>
          </a:xfrm>
          <a:custGeom>
            <a:avLst/>
            <a:gdLst/>
            <a:ahLst/>
            <a:cxnLst/>
            <a:rect l="l" t="t" r="r" b="b"/>
            <a:pathLst>
              <a:path w="10418" h="40083">
                <a:moveTo>
                  <a:pt x="0" y="40083"/>
                </a:moveTo>
                <a:lnTo>
                  <a:pt x="0" y="0"/>
                </a:lnTo>
                <a:lnTo>
                  <a:pt x="8178" y="18241"/>
                </a:lnTo>
                <a:lnTo>
                  <a:pt x="10324" y="39504"/>
                </a:lnTo>
                <a:lnTo>
                  <a:pt x="10418" y="40083"/>
                </a:lnTo>
                <a:lnTo>
                  <a:pt x="0" y="40083"/>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7" name="Illustrative delivered road transport cost class 4; reference terminal Durban"/>
          <p:cNvSpPr/>
          <p:nvPr/>
        </p:nvSpPr>
        <p:spPr>
          <a:xfrm>
            <a:off x="2781250" y="5440546"/>
            <a:ext cx="57686" cy="27433"/>
          </a:xfrm>
          <a:custGeom>
            <a:avLst/>
            <a:gdLst/>
            <a:ahLst/>
            <a:cxnLst/>
            <a:rect l="l" t="t" r="r" b="b"/>
            <a:pathLst>
              <a:path w="57686" h="27433">
                <a:moveTo>
                  <a:pt x="0" y="0"/>
                </a:moveTo>
                <a:lnTo>
                  <a:pt x="57686" y="0"/>
                </a:lnTo>
                <a:lnTo>
                  <a:pt x="57686" y="6629"/>
                </a:lnTo>
                <a:lnTo>
                  <a:pt x="48517" y="8933"/>
                </a:lnTo>
                <a:lnTo>
                  <a:pt x="26231" y="23423"/>
                </a:lnTo>
                <a:lnTo>
                  <a:pt x="0" y="27433"/>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8" name="Illustrative delivered road transport cost class 4; reference terminal Durban"/>
          <p:cNvSpPr/>
          <p:nvPr/>
        </p:nvSpPr>
        <p:spPr>
          <a:xfrm>
            <a:off x="2781250"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9" name="Illustrative delivered road transport cost class 4; reference terminal Durban"/>
          <p:cNvSpPr/>
          <p:nvPr/>
        </p:nvSpPr>
        <p:spPr>
          <a:xfrm>
            <a:off x="2781250"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0" name="Illustrative delivered road transport cost class 4; reference terminal Lesedi"/>
          <p:cNvSpPr/>
          <p:nvPr/>
        </p:nvSpPr>
        <p:spPr>
          <a:xfrm>
            <a:off x="2781250"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1" name="Illustrative delivered road transport cost class 4; reference terminal Lesedi"/>
          <p:cNvSpPr/>
          <p:nvPr/>
        </p:nvSpPr>
        <p:spPr>
          <a:xfrm>
            <a:off x="2781250"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2" name="Illustrative delivered road transport cost class 4; reference terminal Lesedi"/>
          <p:cNvSpPr/>
          <p:nvPr/>
        </p:nvSpPr>
        <p:spPr>
          <a:xfrm>
            <a:off x="2781250"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3" name="Illustrative delivered road transport cost class 4; reference terminal Lesedi"/>
          <p:cNvSpPr/>
          <p:nvPr/>
        </p:nvSpPr>
        <p:spPr>
          <a:xfrm>
            <a:off x="2781250"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4" name="Illustrative delivered road transport cost class 4; reference terminal Lesedi"/>
          <p:cNvSpPr/>
          <p:nvPr/>
        </p:nvSpPr>
        <p:spPr>
          <a:xfrm>
            <a:off x="2781250"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5" name="Illustrative delivered road transport cost class 4; reference terminal Lesedi"/>
          <p:cNvSpPr/>
          <p:nvPr/>
        </p:nvSpPr>
        <p:spPr>
          <a:xfrm>
            <a:off x="2781250"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6" name="Illustrative delivered road transport cost class 4; reference terminal Lesedi"/>
          <p:cNvSpPr/>
          <p:nvPr/>
        </p:nvSpPr>
        <p:spPr>
          <a:xfrm>
            <a:off x="2781250"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7" name="Illustrative delivered road transport cost class 4; reference terminal Lesedi"/>
          <p:cNvSpPr/>
          <p:nvPr/>
        </p:nvSpPr>
        <p:spPr>
          <a:xfrm>
            <a:off x="2781250"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8" name="Illustrative delivered road transport cost class None; reference terminal None"/>
          <p:cNvSpPr/>
          <p:nvPr/>
        </p:nvSpPr>
        <p:spPr>
          <a:xfrm>
            <a:off x="2781250"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9" name="Illustrative delivered road transport cost class None; reference terminal None"/>
          <p:cNvSpPr/>
          <p:nvPr/>
        </p:nvSpPr>
        <p:spPr>
          <a:xfrm>
            <a:off x="2781250"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0" name="Illustrative delivered road transport cost class None; reference terminal None"/>
          <p:cNvSpPr/>
          <p:nvPr/>
        </p:nvSpPr>
        <p:spPr>
          <a:xfrm>
            <a:off x="278125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1" name="Illustrative delivered road transport cost class None; reference terminal None"/>
          <p:cNvSpPr/>
          <p:nvPr/>
        </p:nvSpPr>
        <p:spPr>
          <a:xfrm>
            <a:off x="278125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2" name="Illustrative delivered road transport cost class None; reference terminal None"/>
          <p:cNvSpPr/>
          <p:nvPr/>
        </p:nvSpPr>
        <p:spPr>
          <a:xfrm>
            <a:off x="278125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3" name="Illustrative delivered road transport cost class None; reference terminal None"/>
          <p:cNvSpPr/>
          <p:nvPr/>
        </p:nvSpPr>
        <p:spPr>
          <a:xfrm>
            <a:off x="278125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4" name="Illustrative delivered road transport cost class None; reference terminal None"/>
          <p:cNvSpPr/>
          <p:nvPr/>
        </p:nvSpPr>
        <p:spPr>
          <a:xfrm>
            <a:off x="278125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5" name="Illustrative delivered road transport cost class None; reference terminal None"/>
          <p:cNvSpPr/>
          <p:nvPr/>
        </p:nvSpPr>
        <p:spPr>
          <a:xfrm>
            <a:off x="278125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6" name="Illustrative delivered road transport cost class None; reference terminal None"/>
          <p:cNvSpPr/>
          <p:nvPr/>
        </p:nvSpPr>
        <p:spPr>
          <a:xfrm>
            <a:off x="278125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7" name="Illustrative delivered road transport cost class None; reference terminal None"/>
          <p:cNvSpPr/>
          <p:nvPr/>
        </p:nvSpPr>
        <p:spPr>
          <a:xfrm>
            <a:off x="278125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8" name="Illustrative delivered road transport cost class 3; reference terminal Lesedi"/>
          <p:cNvSpPr/>
          <p:nvPr/>
        </p:nvSpPr>
        <p:spPr>
          <a:xfrm>
            <a:off x="2781250"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9" name="Illustrative delivered road transport cost class 3; reference terminal Lesedi"/>
          <p:cNvSpPr/>
          <p:nvPr/>
        </p:nvSpPr>
        <p:spPr>
          <a:xfrm>
            <a:off x="2781250"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0" name="Illustrative delivered road transport cost class 3; reference terminal Lesedi"/>
          <p:cNvSpPr/>
          <p:nvPr/>
        </p:nvSpPr>
        <p:spPr>
          <a:xfrm>
            <a:off x="2781250"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1" name="Illustrative delivered road transport cost class 3; reference terminal Lesedi"/>
          <p:cNvSpPr/>
          <p:nvPr/>
        </p:nvSpPr>
        <p:spPr>
          <a:xfrm>
            <a:off x="2781250"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2" name="Illustrative delivered road transport cost class 3; reference terminal Lesedi"/>
          <p:cNvSpPr/>
          <p:nvPr/>
        </p:nvSpPr>
        <p:spPr>
          <a:xfrm>
            <a:off x="278125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3" name="Illustrative delivered road transport cost class 3; reference terminal Lesedi"/>
          <p:cNvSpPr/>
          <p:nvPr/>
        </p:nvSpPr>
        <p:spPr>
          <a:xfrm>
            <a:off x="278125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4" name="Illustrative delivered road transport cost class 3; reference terminal Lesedi"/>
          <p:cNvSpPr/>
          <p:nvPr/>
        </p:nvSpPr>
        <p:spPr>
          <a:xfrm>
            <a:off x="278125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5" name="Illustrative delivered road transport cost class 4; reference terminal Lesedi"/>
          <p:cNvSpPr/>
          <p:nvPr/>
        </p:nvSpPr>
        <p:spPr>
          <a:xfrm>
            <a:off x="278125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6" name="Illustrative delivered road transport cost class 4; reference terminal Lesedi"/>
          <p:cNvSpPr/>
          <p:nvPr/>
        </p:nvSpPr>
        <p:spPr>
          <a:xfrm>
            <a:off x="278125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7" name="Illustrative delivered road transport cost class 4; reference terminal Lesedi"/>
          <p:cNvSpPr/>
          <p:nvPr/>
        </p:nvSpPr>
        <p:spPr>
          <a:xfrm>
            <a:off x="278125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8" name="Illustrative delivered road transport cost class 4; reference terminal Lesedi"/>
          <p:cNvSpPr/>
          <p:nvPr/>
        </p:nvSpPr>
        <p:spPr>
          <a:xfrm>
            <a:off x="278125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9" name="Illustrative delivered road transport cost class 4; reference terminal Lesedi"/>
          <p:cNvSpPr/>
          <p:nvPr/>
        </p:nvSpPr>
        <p:spPr>
          <a:xfrm>
            <a:off x="278125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0" name="Illustrative delivered road transport cost class 4; reference terminal Lesedi"/>
          <p:cNvSpPr/>
          <p:nvPr/>
        </p:nvSpPr>
        <p:spPr>
          <a:xfrm>
            <a:off x="278125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1" name="Illustrative delivered road transport cost class None; reference terminal None"/>
          <p:cNvSpPr/>
          <p:nvPr/>
        </p:nvSpPr>
        <p:spPr>
          <a:xfrm>
            <a:off x="2781250" y="3515737"/>
            <a:ext cx="57686" cy="21152"/>
          </a:xfrm>
          <a:custGeom>
            <a:avLst/>
            <a:gdLst/>
            <a:ahLst/>
            <a:cxnLst/>
            <a:rect l="l" t="t" r="r" b="b"/>
            <a:pathLst>
              <a:path w="57686" h="21152">
                <a:moveTo>
                  <a:pt x="57686" y="21152"/>
                </a:moveTo>
                <a:lnTo>
                  <a:pt x="0" y="21152"/>
                </a:lnTo>
                <a:lnTo>
                  <a:pt x="0" y="0"/>
                </a:lnTo>
                <a:lnTo>
                  <a:pt x="22125" y="5679"/>
                </a:lnTo>
                <a:lnTo>
                  <a:pt x="57686" y="2617"/>
                </a:lnTo>
                <a:lnTo>
                  <a:pt x="57686" y="2115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2" name="Illustrative delivered road transport cost class 4; reference terminal Durban"/>
          <p:cNvSpPr/>
          <p:nvPr/>
        </p:nvSpPr>
        <p:spPr>
          <a:xfrm>
            <a:off x="2838936" y="5440546"/>
            <a:ext cx="57687" cy="8882"/>
          </a:xfrm>
          <a:custGeom>
            <a:avLst/>
            <a:gdLst/>
            <a:ahLst/>
            <a:cxnLst/>
            <a:rect l="l" t="t" r="r" b="b"/>
            <a:pathLst>
              <a:path w="57687" h="8882">
                <a:moveTo>
                  <a:pt x="0" y="0"/>
                </a:moveTo>
                <a:lnTo>
                  <a:pt x="57687" y="0"/>
                </a:lnTo>
                <a:lnTo>
                  <a:pt x="57687" y="8882"/>
                </a:lnTo>
                <a:lnTo>
                  <a:pt x="28340" y="2006"/>
                </a:lnTo>
                <a:lnTo>
                  <a:pt x="13442" y="3251"/>
                </a:lnTo>
                <a:lnTo>
                  <a:pt x="0" y="6629"/>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3" name="Illustrative delivered road transport cost class 4; reference terminal Durban"/>
          <p:cNvSpPr/>
          <p:nvPr/>
        </p:nvSpPr>
        <p:spPr>
          <a:xfrm>
            <a:off x="2838936" y="538285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4" name="Illustrative delivered road transport cost class 4; reference terminal Durban"/>
          <p:cNvSpPr/>
          <p:nvPr/>
        </p:nvSpPr>
        <p:spPr>
          <a:xfrm>
            <a:off x="2838936"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5" name="Illustrative delivered road transport cost class 4; reference terminal Lesedi"/>
          <p:cNvSpPr/>
          <p:nvPr/>
        </p:nvSpPr>
        <p:spPr>
          <a:xfrm>
            <a:off x="2838936"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6" name="Illustrative delivered road transport cost class 4; reference terminal Lesedi"/>
          <p:cNvSpPr/>
          <p:nvPr/>
        </p:nvSpPr>
        <p:spPr>
          <a:xfrm>
            <a:off x="2838936"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7" name="Illustrative delivered road transport cost class 4; reference terminal Lesedi"/>
          <p:cNvSpPr/>
          <p:nvPr/>
        </p:nvSpPr>
        <p:spPr>
          <a:xfrm>
            <a:off x="2838936"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8" name="Illustrative delivered road transport cost class 4; reference terminal Lesedi"/>
          <p:cNvSpPr/>
          <p:nvPr/>
        </p:nvSpPr>
        <p:spPr>
          <a:xfrm>
            <a:off x="2838936"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9" name="Illustrative delivered road transport cost class 4; reference terminal Lesedi"/>
          <p:cNvSpPr/>
          <p:nvPr/>
        </p:nvSpPr>
        <p:spPr>
          <a:xfrm>
            <a:off x="2838936"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0" name="Illustrative delivered road transport cost class 4; reference terminal Lesedi"/>
          <p:cNvSpPr/>
          <p:nvPr/>
        </p:nvSpPr>
        <p:spPr>
          <a:xfrm>
            <a:off x="2838936"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1" name="Illustrative delivered road transport cost class 4; reference terminal Lesedi"/>
          <p:cNvSpPr/>
          <p:nvPr/>
        </p:nvSpPr>
        <p:spPr>
          <a:xfrm>
            <a:off x="2838936"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2" name="Illustrative delivered road transport cost class 4; reference terminal Lesedi"/>
          <p:cNvSpPr/>
          <p:nvPr/>
        </p:nvSpPr>
        <p:spPr>
          <a:xfrm>
            <a:off x="2838936"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3" name="Illustrative delivered road transport cost class 4; reference terminal Lesedi"/>
          <p:cNvSpPr/>
          <p:nvPr/>
        </p:nvSpPr>
        <p:spPr>
          <a:xfrm>
            <a:off x="2838936"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4" name="Illustrative delivered road transport cost class None; reference terminal None"/>
          <p:cNvSpPr/>
          <p:nvPr/>
        </p:nvSpPr>
        <p:spPr>
          <a:xfrm>
            <a:off x="2838936"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5" name="Illustrative delivered road transport cost class None; reference terminal None"/>
          <p:cNvSpPr/>
          <p:nvPr/>
        </p:nvSpPr>
        <p:spPr>
          <a:xfrm>
            <a:off x="2838936"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6" name="Illustrative delivered road transport cost class None; reference terminal None"/>
          <p:cNvSpPr/>
          <p:nvPr/>
        </p:nvSpPr>
        <p:spPr>
          <a:xfrm>
            <a:off x="283893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7" name="Illustrative delivered road transport cost class None; reference terminal None"/>
          <p:cNvSpPr/>
          <p:nvPr/>
        </p:nvSpPr>
        <p:spPr>
          <a:xfrm>
            <a:off x="283893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8" name="Illustrative delivered road transport cost class None; reference terminal None"/>
          <p:cNvSpPr/>
          <p:nvPr/>
        </p:nvSpPr>
        <p:spPr>
          <a:xfrm>
            <a:off x="283893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9" name="Illustrative delivered road transport cost class None; reference terminal None"/>
          <p:cNvSpPr/>
          <p:nvPr/>
        </p:nvSpPr>
        <p:spPr>
          <a:xfrm>
            <a:off x="283893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0" name="Illustrative delivered road transport cost class None; reference terminal None"/>
          <p:cNvSpPr/>
          <p:nvPr/>
        </p:nvSpPr>
        <p:spPr>
          <a:xfrm>
            <a:off x="283893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1" name="Illustrative delivered road transport cost class None; reference terminal None"/>
          <p:cNvSpPr/>
          <p:nvPr/>
        </p:nvSpPr>
        <p:spPr>
          <a:xfrm>
            <a:off x="283893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2" name="Illustrative delivered road transport cost class 3; reference terminal Lesedi"/>
          <p:cNvSpPr/>
          <p:nvPr/>
        </p:nvSpPr>
        <p:spPr>
          <a:xfrm>
            <a:off x="283893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3" name="Illustrative delivered road transport cost class 3; reference terminal Lesedi"/>
          <p:cNvSpPr/>
          <p:nvPr/>
        </p:nvSpPr>
        <p:spPr>
          <a:xfrm>
            <a:off x="283893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4" name="Illustrative delivered road transport cost class 3; reference terminal Lesedi"/>
          <p:cNvSpPr/>
          <p:nvPr/>
        </p:nvSpPr>
        <p:spPr>
          <a:xfrm>
            <a:off x="283893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5" name="Illustrative delivered road transport cost class 3; reference terminal Lesedi"/>
          <p:cNvSpPr/>
          <p:nvPr/>
        </p:nvSpPr>
        <p:spPr>
          <a:xfrm>
            <a:off x="283893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6" name="Illustrative delivered road transport cost class 3; reference terminal Lesedi"/>
          <p:cNvSpPr/>
          <p:nvPr/>
        </p:nvSpPr>
        <p:spPr>
          <a:xfrm>
            <a:off x="283893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7" name="Illustrative delivered road transport cost class 3; reference terminal Lesedi"/>
          <p:cNvSpPr/>
          <p:nvPr/>
        </p:nvSpPr>
        <p:spPr>
          <a:xfrm>
            <a:off x="283893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8" name="Illustrative delivered road transport cost class 3; reference terminal Lesedi"/>
          <p:cNvSpPr/>
          <p:nvPr/>
        </p:nvSpPr>
        <p:spPr>
          <a:xfrm>
            <a:off x="283893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9" name="Illustrative delivered road transport cost class 3; reference terminal Lesedi"/>
          <p:cNvSpPr/>
          <p:nvPr/>
        </p:nvSpPr>
        <p:spPr>
          <a:xfrm>
            <a:off x="283893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0" name="Illustrative delivered road transport cost class 4; reference terminal Lesedi"/>
          <p:cNvSpPr/>
          <p:nvPr/>
        </p:nvSpPr>
        <p:spPr>
          <a:xfrm>
            <a:off x="283893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1" name="Illustrative delivered road transport cost class 4; reference terminal Lesedi"/>
          <p:cNvSpPr/>
          <p:nvPr/>
        </p:nvSpPr>
        <p:spPr>
          <a:xfrm>
            <a:off x="283893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2" name="Illustrative delivered road transport cost class 4; reference terminal Lesedi"/>
          <p:cNvSpPr/>
          <p:nvPr/>
        </p:nvSpPr>
        <p:spPr>
          <a:xfrm>
            <a:off x="283893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3" name="Illustrative delivered road transport cost class 4; reference terminal Lesedi"/>
          <p:cNvSpPr/>
          <p:nvPr/>
        </p:nvSpPr>
        <p:spPr>
          <a:xfrm>
            <a:off x="283893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4" name="Illustrative delivered road transport cost class 4; reference terminal Lesedi"/>
          <p:cNvSpPr/>
          <p:nvPr/>
        </p:nvSpPr>
        <p:spPr>
          <a:xfrm>
            <a:off x="283893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5" name="Illustrative delivered road transport cost class None; reference terminal None"/>
          <p:cNvSpPr/>
          <p:nvPr/>
        </p:nvSpPr>
        <p:spPr>
          <a:xfrm>
            <a:off x="283893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6" name="Illustrative delivered road transport cost class None; reference terminal None"/>
          <p:cNvSpPr/>
          <p:nvPr/>
        </p:nvSpPr>
        <p:spPr>
          <a:xfrm>
            <a:off x="2838936" y="3513850"/>
            <a:ext cx="57687" cy="23039"/>
          </a:xfrm>
          <a:custGeom>
            <a:avLst/>
            <a:gdLst/>
            <a:ahLst/>
            <a:cxnLst/>
            <a:rect l="l" t="t" r="r" b="b"/>
            <a:pathLst>
              <a:path w="57687" h="23039">
                <a:moveTo>
                  <a:pt x="57687" y="23039"/>
                </a:moveTo>
                <a:lnTo>
                  <a:pt x="0" y="23039"/>
                </a:lnTo>
                <a:lnTo>
                  <a:pt x="0" y="4504"/>
                </a:lnTo>
                <a:lnTo>
                  <a:pt x="52294" y="0"/>
                </a:lnTo>
                <a:lnTo>
                  <a:pt x="57687" y="1114"/>
                </a:lnTo>
                <a:lnTo>
                  <a:pt x="57687" y="2303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7" name="Illustrative delivered road transport cost class 4; reference terminal Durban"/>
          <p:cNvSpPr/>
          <p:nvPr/>
        </p:nvSpPr>
        <p:spPr>
          <a:xfrm>
            <a:off x="2896623" y="5440546"/>
            <a:ext cx="57686" cy="11486"/>
          </a:xfrm>
          <a:custGeom>
            <a:avLst/>
            <a:gdLst/>
            <a:ahLst/>
            <a:cxnLst/>
            <a:rect l="l" t="t" r="r" b="b"/>
            <a:pathLst>
              <a:path w="57686" h="11486">
                <a:moveTo>
                  <a:pt x="0" y="0"/>
                </a:moveTo>
                <a:lnTo>
                  <a:pt x="57686" y="0"/>
                </a:lnTo>
                <a:lnTo>
                  <a:pt x="57686" y="5027"/>
                </a:lnTo>
                <a:lnTo>
                  <a:pt x="32532" y="11090"/>
                </a:lnTo>
                <a:lnTo>
                  <a:pt x="11114" y="11486"/>
                </a:lnTo>
                <a:lnTo>
                  <a:pt x="0" y="8882"/>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8" name="Illustrative delivered road transport cost class 4; reference terminal Durban"/>
          <p:cNvSpPr/>
          <p:nvPr/>
        </p:nvSpPr>
        <p:spPr>
          <a:xfrm>
            <a:off x="2896623" y="538285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9" name="Illustrative delivered road transport cost class 4; reference terminal Lesedi"/>
          <p:cNvSpPr/>
          <p:nvPr/>
        </p:nvSpPr>
        <p:spPr>
          <a:xfrm>
            <a:off x="2896623"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0" name="Illustrative delivered road transport cost class 4; reference terminal Lesedi"/>
          <p:cNvSpPr/>
          <p:nvPr/>
        </p:nvSpPr>
        <p:spPr>
          <a:xfrm>
            <a:off x="2896623"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1" name="Illustrative delivered road transport cost class 4; reference terminal Lesedi"/>
          <p:cNvSpPr/>
          <p:nvPr/>
        </p:nvSpPr>
        <p:spPr>
          <a:xfrm>
            <a:off x="2896623"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2" name="Illustrative delivered road transport cost class 4; reference terminal Lesedi"/>
          <p:cNvSpPr/>
          <p:nvPr/>
        </p:nvSpPr>
        <p:spPr>
          <a:xfrm>
            <a:off x="2896623"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3" name="Illustrative delivered road transport cost class 4; reference terminal Lesedi"/>
          <p:cNvSpPr/>
          <p:nvPr/>
        </p:nvSpPr>
        <p:spPr>
          <a:xfrm>
            <a:off x="2896623"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4" name="Illustrative delivered road transport cost class 4; reference terminal Lesedi"/>
          <p:cNvSpPr/>
          <p:nvPr/>
        </p:nvSpPr>
        <p:spPr>
          <a:xfrm>
            <a:off x="2896623"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5" name="Illustrative delivered road transport cost class 4; reference terminal Lesedi"/>
          <p:cNvSpPr/>
          <p:nvPr/>
        </p:nvSpPr>
        <p:spPr>
          <a:xfrm>
            <a:off x="2896623"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6" name="Illustrative delivered road transport cost class 4; reference terminal Lesedi"/>
          <p:cNvSpPr/>
          <p:nvPr/>
        </p:nvSpPr>
        <p:spPr>
          <a:xfrm>
            <a:off x="2896623"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7" name="Illustrative delivered road transport cost class 4; reference terminal Lesedi"/>
          <p:cNvSpPr/>
          <p:nvPr/>
        </p:nvSpPr>
        <p:spPr>
          <a:xfrm>
            <a:off x="2896623"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8" name="Illustrative delivered road transport cost class 4; reference terminal Lesedi"/>
          <p:cNvSpPr/>
          <p:nvPr/>
        </p:nvSpPr>
        <p:spPr>
          <a:xfrm>
            <a:off x="2896623"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9" name="Illustrative delivered road transport cost class None; reference terminal None"/>
          <p:cNvSpPr/>
          <p:nvPr/>
        </p:nvSpPr>
        <p:spPr>
          <a:xfrm>
            <a:off x="2896623"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0" name="Illustrative delivered road transport cost class None; reference terminal None"/>
          <p:cNvSpPr/>
          <p:nvPr/>
        </p:nvSpPr>
        <p:spPr>
          <a:xfrm>
            <a:off x="2896623"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1" name="Illustrative delivered road transport cost class None; reference terminal None"/>
          <p:cNvSpPr/>
          <p:nvPr/>
        </p:nvSpPr>
        <p:spPr>
          <a:xfrm>
            <a:off x="2896623"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2" name="Illustrative delivered road transport cost class None; reference terminal None"/>
          <p:cNvSpPr/>
          <p:nvPr/>
        </p:nvSpPr>
        <p:spPr>
          <a:xfrm>
            <a:off x="289662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3" name="Illustrative delivered road transport cost class None; reference terminal None"/>
          <p:cNvSpPr/>
          <p:nvPr/>
        </p:nvSpPr>
        <p:spPr>
          <a:xfrm>
            <a:off x="289662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4" name="Illustrative delivered road transport cost class None; reference terminal None"/>
          <p:cNvSpPr/>
          <p:nvPr/>
        </p:nvSpPr>
        <p:spPr>
          <a:xfrm>
            <a:off x="289662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5" name="Illustrative delivered road transport cost class None; reference terminal None"/>
          <p:cNvSpPr/>
          <p:nvPr/>
        </p:nvSpPr>
        <p:spPr>
          <a:xfrm>
            <a:off x="289662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6" name="Illustrative delivered road transport cost class None; reference terminal None"/>
          <p:cNvSpPr/>
          <p:nvPr/>
        </p:nvSpPr>
        <p:spPr>
          <a:xfrm>
            <a:off x="289662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7" name="Illustrative delivered road transport cost class 3; reference terminal Lesedi"/>
          <p:cNvSpPr/>
          <p:nvPr/>
        </p:nvSpPr>
        <p:spPr>
          <a:xfrm>
            <a:off x="289662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8" name="Illustrative delivered road transport cost class 3; reference terminal Lesedi"/>
          <p:cNvSpPr/>
          <p:nvPr/>
        </p:nvSpPr>
        <p:spPr>
          <a:xfrm>
            <a:off x="289662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9" name="Illustrative delivered road transport cost class 3; reference terminal Lesedi"/>
          <p:cNvSpPr/>
          <p:nvPr/>
        </p:nvSpPr>
        <p:spPr>
          <a:xfrm>
            <a:off x="289662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0" name="Illustrative delivered road transport cost class 3; reference terminal Lesedi"/>
          <p:cNvSpPr/>
          <p:nvPr/>
        </p:nvSpPr>
        <p:spPr>
          <a:xfrm>
            <a:off x="289662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1" name="Illustrative delivered road transport cost class 3; reference terminal Lesedi"/>
          <p:cNvSpPr/>
          <p:nvPr/>
        </p:nvSpPr>
        <p:spPr>
          <a:xfrm>
            <a:off x="289662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2" name="Illustrative delivered road transport cost class 3; reference terminal Lesedi"/>
          <p:cNvSpPr/>
          <p:nvPr/>
        </p:nvSpPr>
        <p:spPr>
          <a:xfrm>
            <a:off x="289662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3" name="Illustrative delivered road transport cost class 3; reference terminal Lesedi"/>
          <p:cNvSpPr/>
          <p:nvPr/>
        </p:nvSpPr>
        <p:spPr>
          <a:xfrm>
            <a:off x="289662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4" name="Illustrative delivered road transport cost class 3; reference terminal Lesedi"/>
          <p:cNvSpPr/>
          <p:nvPr/>
        </p:nvSpPr>
        <p:spPr>
          <a:xfrm>
            <a:off x="289662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5" name="Illustrative delivered road transport cost class 3; reference terminal Lesedi"/>
          <p:cNvSpPr/>
          <p:nvPr/>
        </p:nvSpPr>
        <p:spPr>
          <a:xfrm>
            <a:off x="289662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6" name="Illustrative delivered road transport cost class 3; reference terminal Lesedi"/>
          <p:cNvSpPr/>
          <p:nvPr/>
        </p:nvSpPr>
        <p:spPr>
          <a:xfrm>
            <a:off x="289662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7" name="Illustrative delivered road transport cost class 3; reference terminal Lesedi"/>
          <p:cNvSpPr/>
          <p:nvPr/>
        </p:nvSpPr>
        <p:spPr>
          <a:xfrm>
            <a:off x="289662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8" name="Illustrative delivered road transport cost class 4; reference terminal Lesedi"/>
          <p:cNvSpPr/>
          <p:nvPr/>
        </p:nvSpPr>
        <p:spPr>
          <a:xfrm>
            <a:off x="289662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9" name="Illustrative delivered road transport cost class 4; reference terminal Lesedi"/>
          <p:cNvSpPr/>
          <p:nvPr/>
        </p:nvSpPr>
        <p:spPr>
          <a:xfrm>
            <a:off x="289662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0" name="Illustrative delivered road transport cost class None; reference terminal None"/>
          <p:cNvSpPr/>
          <p:nvPr/>
        </p:nvSpPr>
        <p:spPr>
          <a:xfrm>
            <a:off x="289662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1" name="Illustrative delivered road transport cost class None; reference terminal None"/>
          <p:cNvSpPr/>
          <p:nvPr/>
        </p:nvSpPr>
        <p:spPr>
          <a:xfrm>
            <a:off x="2896623" y="3506901"/>
            <a:ext cx="57686" cy="29988"/>
          </a:xfrm>
          <a:custGeom>
            <a:avLst/>
            <a:gdLst/>
            <a:ahLst/>
            <a:cxnLst/>
            <a:rect l="l" t="t" r="r" b="b"/>
            <a:pathLst>
              <a:path w="57686" h="29988">
                <a:moveTo>
                  <a:pt x="57686" y="29988"/>
                </a:moveTo>
                <a:lnTo>
                  <a:pt x="0" y="29988"/>
                </a:lnTo>
                <a:lnTo>
                  <a:pt x="0" y="8063"/>
                </a:lnTo>
                <a:lnTo>
                  <a:pt x="5311" y="9160"/>
                </a:lnTo>
                <a:lnTo>
                  <a:pt x="38607" y="11163"/>
                </a:lnTo>
                <a:lnTo>
                  <a:pt x="49619" y="7462"/>
                </a:lnTo>
                <a:lnTo>
                  <a:pt x="57686" y="0"/>
                </a:lnTo>
                <a:lnTo>
                  <a:pt x="57686" y="299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2" name="Illustrative delivered road transport cost class 4; reference terminal Durban"/>
          <p:cNvSpPr/>
          <p:nvPr/>
        </p:nvSpPr>
        <p:spPr>
          <a:xfrm>
            <a:off x="2954309" y="5440546"/>
            <a:ext cx="41969" cy="5027"/>
          </a:xfrm>
          <a:custGeom>
            <a:avLst/>
            <a:gdLst/>
            <a:ahLst/>
            <a:cxnLst/>
            <a:rect l="l" t="t" r="r" b="b"/>
            <a:pathLst>
              <a:path w="41969" h="5027">
                <a:moveTo>
                  <a:pt x="0" y="0"/>
                </a:moveTo>
                <a:lnTo>
                  <a:pt x="41969" y="0"/>
                </a:lnTo>
                <a:lnTo>
                  <a:pt x="17720" y="757"/>
                </a:lnTo>
                <a:lnTo>
                  <a:pt x="0" y="5027"/>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3" name="Illustrative delivered road transport cost class 4; reference terminal Durban"/>
          <p:cNvSpPr/>
          <p:nvPr/>
        </p:nvSpPr>
        <p:spPr>
          <a:xfrm>
            <a:off x="2954309" y="5382859"/>
            <a:ext cx="57687" cy="57687"/>
          </a:xfrm>
          <a:custGeom>
            <a:avLst/>
            <a:gdLst/>
            <a:ahLst/>
            <a:cxnLst/>
            <a:rect l="l" t="t" r="r" b="b"/>
            <a:pathLst>
              <a:path w="57687" h="57687">
                <a:moveTo>
                  <a:pt x="0" y="57687"/>
                </a:moveTo>
                <a:lnTo>
                  <a:pt x="0" y="0"/>
                </a:lnTo>
                <a:lnTo>
                  <a:pt x="57687" y="0"/>
                </a:lnTo>
                <a:lnTo>
                  <a:pt x="57687" y="57196"/>
                </a:lnTo>
                <a:lnTo>
                  <a:pt x="41969"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4" name="Illustrative delivered road transport cost class 4; reference terminal Durban"/>
          <p:cNvSpPr/>
          <p:nvPr/>
        </p:nvSpPr>
        <p:spPr>
          <a:xfrm>
            <a:off x="2954309" y="532517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5" name="Illustrative delivered road transport cost class 4; reference terminal Lesedi"/>
          <p:cNvSpPr/>
          <p:nvPr/>
        </p:nvSpPr>
        <p:spPr>
          <a:xfrm>
            <a:off x="2954309"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6" name="Illustrative delivered road transport cost class 4; reference terminal Lesedi"/>
          <p:cNvSpPr/>
          <p:nvPr/>
        </p:nvSpPr>
        <p:spPr>
          <a:xfrm>
            <a:off x="2954309"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7" name="Illustrative delivered road transport cost class 4; reference terminal Lesedi"/>
          <p:cNvSpPr/>
          <p:nvPr/>
        </p:nvSpPr>
        <p:spPr>
          <a:xfrm>
            <a:off x="2954309"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8" name="Illustrative delivered road transport cost class 4; reference terminal Lesedi"/>
          <p:cNvSpPr/>
          <p:nvPr/>
        </p:nvSpPr>
        <p:spPr>
          <a:xfrm>
            <a:off x="2954309"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9" name="Illustrative delivered road transport cost class 3; reference terminal Lesedi"/>
          <p:cNvSpPr/>
          <p:nvPr/>
        </p:nvSpPr>
        <p:spPr>
          <a:xfrm>
            <a:off x="2954309"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0" name="Illustrative delivered road transport cost class 3; reference terminal Lesedi"/>
          <p:cNvSpPr/>
          <p:nvPr/>
        </p:nvSpPr>
        <p:spPr>
          <a:xfrm>
            <a:off x="2954309"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1" name="Illustrative delivered road transport cost class 3; reference terminal Lesedi"/>
          <p:cNvSpPr/>
          <p:nvPr/>
        </p:nvSpPr>
        <p:spPr>
          <a:xfrm>
            <a:off x="2954309"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2" name="Illustrative delivered road transport cost class 3; reference terminal Lesedi"/>
          <p:cNvSpPr/>
          <p:nvPr/>
        </p:nvSpPr>
        <p:spPr>
          <a:xfrm>
            <a:off x="2954309"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3" name="Illustrative delivered road transport cost class 3; reference terminal Lesedi"/>
          <p:cNvSpPr/>
          <p:nvPr/>
        </p:nvSpPr>
        <p:spPr>
          <a:xfrm>
            <a:off x="2954309"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4" name="Illustrative delivered road transport cost class 4; reference terminal Lesedi"/>
          <p:cNvSpPr/>
          <p:nvPr/>
        </p:nvSpPr>
        <p:spPr>
          <a:xfrm>
            <a:off x="2954309"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5" name="Illustrative delivered road transport cost class None; reference terminal None"/>
          <p:cNvSpPr/>
          <p:nvPr/>
        </p:nvSpPr>
        <p:spPr>
          <a:xfrm>
            <a:off x="2954309"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6" name="Illustrative delivered road transport cost class None; reference terminal None"/>
          <p:cNvSpPr/>
          <p:nvPr/>
        </p:nvSpPr>
        <p:spPr>
          <a:xfrm>
            <a:off x="2954309"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7" name="Illustrative delivered road transport cost class None; reference terminal None"/>
          <p:cNvSpPr/>
          <p:nvPr/>
        </p:nvSpPr>
        <p:spPr>
          <a:xfrm>
            <a:off x="2954309"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8" name="Illustrative delivered road transport cost class None; reference terminal None"/>
          <p:cNvSpPr/>
          <p:nvPr/>
        </p:nvSpPr>
        <p:spPr>
          <a:xfrm>
            <a:off x="295430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9" name="Illustrative delivered road transport cost class None; reference terminal None"/>
          <p:cNvSpPr/>
          <p:nvPr/>
        </p:nvSpPr>
        <p:spPr>
          <a:xfrm>
            <a:off x="295430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0" name="Illustrative delivered road transport cost class None; reference terminal None"/>
          <p:cNvSpPr/>
          <p:nvPr/>
        </p:nvSpPr>
        <p:spPr>
          <a:xfrm>
            <a:off x="295430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1" name="Illustrative delivered road transport cost class 3; reference terminal Lesedi"/>
          <p:cNvSpPr/>
          <p:nvPr/>
        </p:nvSpPr>
        <p:spPr>
          <a:xfrm>
            <a:off x="295430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2" name="Illustrative delivered road transport cost class 3; reference terminal Lesedi"/>
          <p:cNvSpPr/>
          <p:nvPr/>
        </p:nvSpPr>
        <p:spPr>
          <a:xfrm>
            <a:off x="295430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3" name="Illustrative delivered road transport cost class 3; reference terminal Lesedi"/>
          <p:cNvSpPr/>
          <p:nvPr/>
        </p:nvSpPr>
        <p:spPr>
          <a:xfrm>
            <a:off x="295430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4" name="Illustrative delivered road transport cost class 3; reference terminal Lesedi"/>
          <p:cNvSpPr/>
          <p:nvPr/>
        </p:nvSpPr>
        <p:spPr>
          <a:xfrm>
            <a:off x="295430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5" name="Illustrative delivered road transport cost class 3; reference terminal Lesedi"/>
          <p:cNvSpPr/>
          <p:nvPr/>
        </p:nvSpPr>
        <p:spPr>
          <a:xfrm>
            <a:off x="295430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6" name="Illustrative delivered road transport cost class 3; reference terminal Lesedi"/>
          <p:cNvSpPr/>
          <p:nvPr/>
        </p:nvSpPr>
        <p:spPr>
          <a:xfrm>
            <a:off x="295430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7" name="Illustrative delivered road transport cost class 3; reference terminal Lesedi"/>
          <p:cNvSpPr/>
          <p:nvPr/>
        </p:nvSpPr>
        <p:spPr>
          <a:xfrm>
            <a:off x="295430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8" name="Illustrative delivered road transport cost class 3; reference terminal Lesedi"/>
          <p:cNvSpPr/>
          <p:nvPr/>
        </p:nvSpPr>
        <p:spPr>
          <a:xfrm>
            <a:off x="295430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9" name="Illustrative delivered road transport cost class 3; reference terminal Lesedi"/>
          <p:cNvSpPr/>
          <p:nvPr/>
        </p:nvSpPr>
        <p:spPr>
          <a:xfrm>
            <a:off x="295430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0" name="Illustrative delivered road transport cost class 3; reference terminal Lesedi"/>
          <p:cNvSpPr/>
          <p:nvPr/>
        </p:nvSpPr>
        <p:spPr>
          <a:xfrm>
            <a:off x="295430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1" name="Illustrative delivered road transport cost class 3; reference terminal Lesedi"/>
          <p:cNvSpPr/>
          <p:nvPr/>
        </p:nvSpPr>
        <p:spPr>
          <a:xfrm>
            <a:off x="295430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2" name="Illustrative delivered road transport cost class 3; reference terminal Lesedi"/>
          <p:cNvSpPr/>
          <p:nvPr/>
        </p:nvSpPr>
        <p:spPr>
          <a:xfrm>
            <a:off x="295430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3" name="Illustrative delivered road transport cost class 3; reference terminal Lesedi"/>
          <p:cNvSpPr/>
          <p:nvPr/>
        </p:nvSpPr>
        <p:spPr>
          <a:xfrm>
            <a:off x="295430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4" name="Illustrative delivered road transport cost class 3; reference terminal Lesedi"/>
          <p:cNvSpPr/>
          <p:nvPr/>
        </p:nvSpPr>
        <p:spPr>
          <a:xfrm>
            <a:off x="295430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5" name="Illustrative delivered road transport cost class 4; reference terminal Lesedi"/>
          <p:cNvSpPr/>
          <p:nvPr/>
        </p:nvSpPr>
        <p:spPr>
          <a:xfrm>
            <a:off x="295430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6" name="Illustrative delivered road transport cost class None; reference terminal None"/>
          <p:cNvSpPr/>
          <p:nvPr/>
        </p:nvSpPr>
        <p:spPr>
          <a:xfrm>
            <a:off x="2954309" y="3479202"/>
            <a:ext cx="57687" cy="57687"/>
          </a:xfrm>
          <a:custGeom>
            <a:avLst/>
            <a:gdLst/>
            <a:ahLst/>
            <a:cxnLst/>
            <a:rect l="l" t="t" r="r" b="b"/>
            <a:pathLst>
              <a:path w="57687" h="57687">
                <a:moveTo>
                  <a:pt x="57687" y="0"/>
                </a:moveTo>
                <a:lnTo>
                  <a:pt x="57687" y="57687"/>
                </a:lnTo>
                <a:lnTo>
                  <a:pt x="0" y="57687"/>
                </a:lnTo>
                <a:lnTo>
                  <a:pt x="0" y="27699"/>
                </a:lnTo>
                <a:lnTo>
                  <a:pt x="1644" y="26178"/>
                </a:lnTo>
                <a:lnTo>
                  <a:pt x="12518" y="1132"/>
                </a:lnTo>
                <a:lnTo>
                  <a:pt x="1388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7" name="Illustrative delivered road transport cost class None; reference terminal None"/>
          <p:cNvSpPr/>
          <p:nvPr/>
        </p:nvSpPr>
        <p:spPr>
          <a:xfrm>
            <a:off x="2968191" y="3461853"/>
            <a:ext cx="43805" cy="17349"/>
          </a:xfrm>
          <a:custGeom>
            <a:avLst/>
            <a:gdLst/>
            <a:ahLst/>
            <a:cxnLst/>
            <a:rect l="l" t="t" r="r" b="b"/>
            <a:pathLst>
              <a:path w="43805" h="17349">
                <a:moveTo>
                  <a:pt x="43805" y="17349"/>
                </a:moveTo>
                <a:lnTo>
                  <a:pt x="0" y="17349"/>
                </a:lnTo>
                <a:lnTo>
                  <a:pt x="8741" y="10096"/>
                </a:lnTo>
                <a:lnTo>
                  <a:pt x="27313" y="5420"/>
                </a:lnTo>
                <a:lnTo>
                  <a:pt x="43805" y="0"/>
                </a:lnTo>
                <a:lnTo>
                  <a:pt x="43805" y="1734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8" name="Illustrative delivered road transport cost class 4; reference terminal Durban"/>
          <p:cNvSpPr/>
          <p:nvPr/>
        </p:nvSpPr>
        <p:spPr>
          <a:xfrm>
            <a:off x="3011996" y="5382859"/>
            <a:ext cx="57686" cy="57196"/>
          </a:xfrm>
          <a:custGeom>
            <a:avLst/>
            <a:gdLst/>
            <a:ahLst/>
            <a:cxnLst/>
            <a:rect l="l" t="t" r="r" b="b"/>
            <a:pathLst>
              <a:path w="57686" h="57196">
                <a:moveTo>
                  <a:pt x="0" y="0"/>
                </a:moveTo>
                <a:lnTo>
                  <a:pt x="57686" y="0"/>
                </a:lnTo>
                <a:lnTo>
                  <a:pt x="57686" y="16696"/>
                </a:lnTo>
                <a:lnTo>
                  <a:pt x="10084" y="56881"/>
                </a:lnTo>
                <a:lnTo>
                  <a:pt x="0" y="571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9" name="Illustrative delivered road transport cost class 4; reference terminal Durban"/>
          <p:cNvSpPr/>
          <p:nvPr/>
        </p:nvSpPr>
        <p:spPr>
          <a:xfrm>
            <a:off x="3011996" y="532517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0" name="Illustrative delivered road transport cost class 4; reference terminal Lesedi"/>
          <p:cNvSpPr/>
          <p:nvPr/>
        </p:nvSpPr>
        <p:spPr>
          <a:xfrm>
            <a:off x="3011996"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1" name="Illustrative delivered road transport cost class 4; reference terminal Lesedi"/>
          <p:cNvSpPr/>
          <p:nvPr/>
        </p:nvSpPr>
        <p:spPr>
          <a:xfrm>
            <a:off x="3011996"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2" name="Illustrative delivered road transport cost class 4; reference terminal Lesedi"/>
          <p:cNvSpPr/>
          <p:nvPr/>
        </p:nvSpPr>
        <p:spPr>
          <a:xfrm>
            <a:off x="3011996"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3" name="Illustrative delivered road transport cost class 4; reference terminal Lesedi"/>
          <p:cNvSpPr/>
          <p:nvPr/>
        </p:nvSpPr>
        <p:spPr>
          <a:xfrm>
            <a:off x="3011996"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4" name="Illustrative delivered road transport cost class 3; reference terminal Lesedi"/>
          <p:cNvSpPr/>
          <p:nvPr/>
        </p:nvSpPr>
        <p:spPr>
          <a:xfrm>
            <a:off x="3011996"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5" name="Illustrative delivered road transport cost class 3; reference terminal Lesedi"/>
          <p:cNvSpPr/>
          <p:nvPr/>
        </p:nvSpPr>
        <p:spPr>
          <a:xfrm>
            <a:off x="3011996"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6" name="Illustrative delivered road transport cost class 3; reference terminal Lesedi"/>
          <p:cNvSpPr/>
          <p:nvPr/>
        </p:nvSpPr>
        <p:spPr>
          <a:xfrm>
            <a:off x="3011996"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7" name="Illustrative delivered road transport cost class 3; reference terminal Lesedi"/>
          <p:cNvSpPr/>
          <p:nvPr/>
        </p:nvSpPr>
        <p:spPr>
          <a:xfrm>
            <a:off x="3011996"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8" name="Illustrative delivered road transport cost class 3; reference terminal Lesedi"/>
          <p:cNvSpPr/>
          <p:nvPr/>
        </p:nvSpPr>
        <p:spPr>
          <a:xfrm>
            <a:off x="3011996"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9" name="Illustrative delivered road transport cost class 3; reference terminal Lesedi"/>
          <p:cNvSpPr/>
          <p:nvPr/>
        </p:nvSpPr>
        <p:spPr>
          <a:xfrm>
            <a:off x="3011996"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0" name="Illustrative delivered road transport cost class None; reference terminal None"/>
          <p:cNvSpPr/>
          <p:nvPr/>
        </p:nvSpPr>
        <p:spPr>
          <a:xfrm>
            <a:off x="3011996"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1" name="Illustrative delivered road transport cost class None; reference terminal None"/>
          <p:cNvSpPr/>
          <p:nvPr/>
        </p:nvSpPr>
        <p:spPr>
          <a:xfrm>
            <a:off x="3011996"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2" name="Illustrative delivered road transport cost class None; reference terminal None"/>
          <p:cNvSpPr/>
          <p:nvPr/>
        </p:nvSpPr>
        <p:spPr>
          <a:xfrm>
            <a:off x="3011996"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3" name="Illustrative delivered road transport cost class None; reference terminal None"/>
          <p:cNvSpPr/>
          <p:nvPr/>
        </p:nvSpPr>
        <p:spPr>
          <a:xfrm>
            <a:off x="3011996"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4" name="Illustrative delivered road transport cost class None; reference terminal None"/>
          <p:cNvSpPr/>
          <p:nvPr/>
        </p:nvSpPr>
        <p:spPr>
          <a:xfrm>
            <a:off x="3011996"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5" name="Illustrative delivered road transport cost class None; reference terminal None"/>
          <p:cNvSpPr/>
          <p:nvPr/>
        </p:nvSpPr>
        <p:spPr>
          <a:xfrm>
            <a:off x="3011996"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6" name="Illustrative delivered road transport cost class 3; reference terminal Lesedi"/>
          <p:cNvSpPr/>
          <p:nvPr/>
        </p:nvSpPr>
        <p:spPr>
          <a:xfrm>
            <a:off x="3011996"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7" name="Illustrative delivered road transport cost class 3; reference terminal Lesedi"/>
          <p:cNvSpPr/>
          <p:nvPr/>
        </p:nvSpPr>
        <p:spPr>
          <a:xfrm>
            <a:off x="3011996"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8" name="Illustrative delivered road transport cost class 3; reference terminal Lesedi"/>
          <p:cNvSpPr/>
          <p:nvPr/>
        </p:nvSpPr>
        <p:spPr>
          <a:xfrm>
            <a:off x="3011996"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9" name="Illustrative delivered road transport cost class 3; reference terminal Lesedi"/>
          <p:cNvSpPr/>
          <p:nvPr/>
        </p:nvSpPr>
        <p:spPr>
          <a:xfrm>
            <a:off x="301199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0" name="Illustrative delivered road transport cost class 3; reference terminal Lesedi"/>
          <p:cNvSpPr/>
          <p:nvPr/>
        </p:nvSpPr>
        <p:spPr>
          <a:xfrm>
            <a:off x="301199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1" name="Illustrative delivered road transport cost class 3; reference terminal Lesedi"/>
          <p:cNvSpPr/>
          <p:nvPr/>
        </p:nvSpPr>
        <p:spPr>
          <a:xfrm>
            <a:off x="301199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2" name="Illustrative delivered road transport cost class 3; reference terminal Lesedi"/>
          <p:cNvSpPr/>
          <p:nvPr/>
        </p:nvSpPr>
        <p:spPr>
          <a:xfrm>
            <a:off x="301199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3" name="Illustrative delivered road transport cost class 3; reference terminal Lesedi"/>
          <p:cNvSpPr/>
          <p:nvPr/>
        </p:nvSpPr>
        <p:spPr>
          <a:xfrm>
            <a:off x="301199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4" name="Illustrative delivered road transport cost class 3; reference terminal Lesedi"/>
          <p:cNvSpPr/>
          <p:nvPr/>
        </p:nvSpPr>
        <p:spPr>
          <a:xfrm>
            <a:off x="301199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5" name="Illustrative delivered road transport cost class 3; reference terminal Lesedi"/>
          <p:cNvSpPr/>
          <p:nvPr/>
        </p:nvSpPr>
        <p:spPr>
          <a:xfrm>
            <a:off x="301199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6" name="Illustrative delivered road transport cost class 3; reference terminal Lesedi"/>
          <p:cNvSpPr/>
          <p:nvPr/>
        </p:nvSpPr>
        <p:spPr>
          <a:xfrm>
            <a:off x="301199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7" name="Illustrative delivered road transport cost class 3; reference terminal Lesedi"/>
          <p:cNvSpPr/>
          <p:nvPr/>
        </p:nvSpPr>
        <p:spPr>
          <a:xfrm>
            <a:off x="301199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8" name="Illustrative delivered road transport cost class 3; reference terminal Lesedi"/>
          <p:cNvSpPr/>
          <p:nvPr/>
        </p:nvSpPr>
        <p:spPr>
          <a:xfrm>
            <a:off x="301199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9" name="Illustrative delivered road transport cost class 3; reference terminal Lesedi"/>
          <p:cNvSpPr/>
          <p:nvPr/>
        </p:nvSpPr>
        <p:spPr>
          <a:xfrm>
            <a:off x="3011996"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0" name="Illustrative delivered road transport cost class 3; reference terminal Lesedi"/>
          <p:cNvSpPr/>
          <p:nvPr/>
        </p:nvSpPr>
        <p:spPr>
          <a:xfrm>
            <a:off x="3011996"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1" name="Illustrative delivered road transport cost class None; reference terminal None"/>
          <p:cNvSpPr/>
          <p:nvPr/>
        </p:nvSpPr>
        <p:spPr>
          <a:xfrm>
            <a:off x="3011996"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2" name="Illustrative delivered road transport cost class None; reference terminal None"/>
          <p:cNvSpPr/>
          <p:nvPr/>
        </p:nvSpPr>
        <p:spPr>
          <a:xfrm>
            <a:off x="3011996" y="3421516"/>
            <a:ext cx="57686" cy="57686"/>
          </a:xfrm>
          <a:custGeom>
            <a:avLst/>
            <a:gdLst/>
            <a:ahLst/>
            <a:cxnLst/>
            <a:rect l="l" t="t" r="r" b="b"/>
            <a:pathLst>
              <a:path w="57686" h="57686">
                <a:moveTo>
                  <a:pt x="57686" y="0"/>
                </a:moveTo>
                <a:lnTo>
                  <a:pt x="57686" y="57686"/>
                </a:lnTo>
                <a:lnTo>
                  <a:pt x="0" y="57686"/>
                </a:lnTo>
                <a:lnTo>
                  <a:pt x="0" y="40337"/>
                </a:lnTo>
                <a:lnTo>
                  <a:pt x="5481" y="38536"/>
                </a:lnTo>
                <a:lnTo>
                  <a:pt x="23520" y="23860"/>
                </a:lnTo>
                <a:lnTo>
                  <a:pt x="3700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3" name="Illustrative delivered road transport cost class None; reference terminal None"/>
          <p:cNvSpPr/>
          <p:nvPr/>
        </p:nvSpPr>
        <p:spPr>
          <a:xfrm>
            <a:off x="3049002" y="3391017"/>
            <a:ext cx="20680" cy="30499"/>
          </a:xfrm>
          <a:custGeom>
            <a:avLst/>
            <a:gdLst/>
            <a:ahLst/>
            <a:cxnLst/>
            <a:rect l="l" t="t" r="r" b="b"/>
            <a:pathLst>
              <a:path w="20680" h="30499">
                <a:moveTo>
                  <a:pt x="20680" y="30499"/>
                </a:moveTo>
                <a:lnTo>
                  <a:pt x="0" y="30499"/>
                </a:lnTo>
                <a:lnTo>
                  <a:pt x="14539" y="4776"/>
                </a:lnTo>
                <a:lnTo>
                  <a:pt x="20680" y="0"/>
                </a:lnTo>
                <a:lnTo>
                  <a:pt x="20680" y="3049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4" name="Illustrative delivered road transport cost class 4; reference terminal Durban"/>
          <p:cNvSpPr/>
          <p:nvPr/>
        </p:nvSpPr>
        <p:spPr>
          <a:xfrm>
            <a:off x="3069682" y="5382859"/>
            <a:ext cx="19778" cy="16696"/>
          </a:xfrm>
          <a:custGeom>
            <a:avLst/>
            <a:gdLst/>
            <a:ahLst/>
            <a:cxnLst/>
            <a:rect l="l" t="t" r="r" b="b"/>
            <a:pathLst>
              <a:path w="19778" h="16696">
                <a:moveTo>
                  <a:pt x="0" y="0"/>
                </a:moveTo>
                <a:lnTo>
                  <a:pt x="19778" y="0"/>
                </a:lnTo>
                <a:lnTo>
                  <a:pt x="0" y="16696"/>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5" name="Illustrative delivered road transport cost class 4; reference terminal Durban"/>
          <p:cNvSpPr/>
          <p:nvPr/>
        </p:nvSpPr>
        <p:spPr>
          <a:xfrm>
            <a:off x="3069682" y="5325173"/>
            <a:ext cx="57687" cy="57686"/>
          </a:xfrm>
          <a:custGeom>
            <a:avLst/>
            <a:gdLst/>
            <a:ahLst/>
            <a:cxnLst/>
            <a:rect l="l" t="t" r="r" b="b"/>
            <a:pathLst>
              <a:path w="57687" h="57686">
                <a:moveTo>
                  <a:pt x="0" y="57686"/>
                </a:moveTo>
                <a:lnTo>
                  <a:pt x="0" y="0"/>
                </a:lnTo>
                <a:lnTo>
                  <a:pt x="57687" y="0"/>
                </a:lnTo>
                <a:lnTo>
                  <a:pt x="57687" y="33061"/>
                </a:lnTo>
                <a:lnTo>
                  <a:pt x="47320" y="34436"/>
                </a:lnTo>
                <a:lnTo>
                  <a:pt x="19778"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6" name="Illustrative delivered road transport cost class 4; reference terminal Durban"/>
          <p:cNvSpPr/>
          <p:nvPr/>
        </p:nvSpPr>
        <p:spPr>
          <a:xfrm>
            <a:off x="306968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7" name="Illustrative delivered road transport cost class 4; reference terminal Lesedi"/>
          <p:cNvSpPr/>
          <p:nvPr/>
        </p:nvSpPr>
        <p:spPr>
          <a:xfrm>
            <a:off x="306968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8" name="Illustrative delivered road transport cost class 4; reference terminal Lesedi"/>
          <p:cNvSpPr/>
          <p:nvPr/>
        </p:nvSpPr>
        <p:spPr>
          <a:xfrm>
            <a:off x="306968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9" name="Illustrative delivered road transport cost class 3; reference terminal Lesedi"/>
          <p:cNvSpPr/>
          <p:nvPr/>
        </p:nvSpPr>
        <p:spPr>
          <a:xfrm>
            <a:off x="306968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0" name="Illustrative delivered road transport cost class 3; reference terminal Lesedi"/>
          <p:cNvSpPr/>
          <p:nvPr/>
        </p:nvSpPr>
        <p:spPr>
          <a:xfrm>
            <a:off x="306968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1" name="Illustrative delivered road transport cost class 3; reference terminal Lesedi"/>
          <p:cNvSpPr/>
          <p:nvPr/>
        </p:nvSpPr>
        <p:spPr>
          <a:xfrm>
            <a:off x="306968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2" name="Illustrative delivered road transport cost class 3; reference terminal Lesedi"/>
          <p:cNvSpPr/>
          <p:nvPr/>
        </p:nvSpPr>
        <p:spPr>
          <a:xfrm>
            <a:off x="306968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3" name="Illustrative delivered road transport cost class 3; reference terminal Lesedi"/>
          <p:cNvSpPr/>
          <p:nvPr/>
        </p:nvSpPr>
        <p:spPr>
          <a:xfrm>
            <a:off x="306968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4" name="Illustrative delivered road transport cost class 3; reference terminal Lesedi"/>
          <p:cNvSpPr/>
          <p:nvPr/>
        </p:nvSpPr>
        <p:spPr>
          <a:xfrm>
            <a:off x="306968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5" name="Illustrative delivered road transport cost class 3; reference terminal Lesedi"/>
          <p:cNvSpPr/>
          <p:nvPr/>
        </p:nvSpPr>
        <p:spPr>
          <a:xfrm>
            <a:off x="306968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6" name="Illustrative delivered road transport cost class 3; reference terminal Lesedi"/>
          <p:cNvSpPr/>
          <p:nvPr/>
        </p:nvSpPr>
        <p:spPr>
          <a:xfrm>
            <a:off x="306968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7" name="Illustrative delivered road transport cost class None; reference terminal None"/>
          <p:cNvSpPr/>
          <p:nvPr/>
        </p:nvSpPr>
        <p:spPr>
          <a:xfrm>
            <a:off x="306968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8" name="Illustrative delivered road transport cost class None; reference terminal None"/>
          <p:cNvSpPr/>
          <p:nvPr/>
        </p:nvSpPr>
        <p:spPr>
          <a:xfrm>
            <a:off x="306968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9" name="Illustrative delivered road transport cost class None; reference terminal None"/>
          <p:cNvSpPr/>
          <p:nvPr/>
        </p:nvSpPr>
        <p:spPr>
          <a:xfrm>
            <a:off x="306968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0" name="Illustrative delivered road transport cost class None; reference terminal None"/>
          <p:cNvSpPr/>
          <p:nvPr/>
        </p:nvSpPr>
        <p:spPr>
          <a:xfrm>
            <a:off x="306968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1" name="Illustrative delivered road transport cost class 3; reference terminal Lesedi"/>
          <p:cNvSpPr/>
          <p:nvPr/>
        </p:nvSpPr>
        <p:spPr>
          <a:xfrm>
            <a:off x="306968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2" name="Illustrative delivered road transport cost class 3; reference terminal Lesedi"/>
          <p:cNvSpPr/>
          <p:nvPr/>
        </p:nvSpPr>
        <p:spPr>
          <a:xfrm>
            <a:off x="306968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3" name="Illustrative delivered road transport cost class 3; reference terminal Lesedi"/>
          <p:cNvSpPr/>
          <p:nvPr/>
        </p:nvSpPr>
        <p:spPr>
          <a:xfrm>
            <a:off x="306968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4" name="Illustrative delivered road transport cost class 3; reference terminal Lesedi"/>
          <p:cNvSpPr/>
          <p:nvPr/>
        </p:nvSpPr>
        <p:spPr>
          <a:xfrm>
            <a:off x="306968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5" name="Illustrative delivered road transport cost class 3; reference terminal Lesedi"/>
          <p:cNvSpPr/>
          <p:nvPr/>
        </p:nvSpPr>
        <p:spPr>
          <a:xfrm>
            <a:off x="306968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6" name="Illustrative delivered road transport cost class 3; reference terminal Lesedi"/>
          <p:cNvSpPr/>
          <p:nvPr/>
        </p:nvSpPr>
        <p:spPr>
          <a:xfrm>
            <a:off x="306968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7" name="Illustrative delivered road transport cost class 3; reference terminal Lesedi"/>
          <p:cNvSpPr/>
          <p:nvPr/>
        </p:nvSpPr>
        <p:spPr>
          <a:xfrm>
            <a:off x="306968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8" name="Illustrative delivered road transport cost class 3; reference terminal Lesedi"/>
          <p:cNvSpPr/>
          <p:nvPr/>
        </p:nvSpPr>
        <p:spPr>
          <a:xfrm>
            <a:off x="306968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9" name="Illustrative delivered road transport cost class 3; reference terminal Lesedi"/>
          <p:cNvSpPr/>
          <p:nvPr/>
        </p:nvSpPr>
        <p:spPr>
          <a:xfrm>
            <a:off x="306968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0" name="Illustrative delivered road transport cost class 3; reference terminal Lesedi"/>
          <p:cNvSpPr/>
          <p:nvPr/>
        </p:nvSpPr>
        <p:spPr>
          <a:xfrm>
            <a:off x="306968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1" name="Illustrative delivered road transport cost class 3; reference terminal Lesedi"/>
          <p:cNvSpPr/>
          <p:nvPr/>
        </p:nvSpPr>
        <p:spPr>
          <a:xfrm>
            <a:off x="306968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2" name="Illustrative delivered road transport cost class 3; reference terminal Lesedi"/>
          <p:cNvSpPr/>
          <p:nvPr/>
        </p:nvSpPr>
        <p:spPr>
          <a:xfrm>
            <a:off x="306968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3" name="Illustrative delivered road transport cost class 3; reference terminal Lesedi"/>
          <p:cNvSpPr/>
          <p:nvPr/>
        </p:nvSpPr>
        <p:spPr>
          <a:xfrm>
            <a:off x="306968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4" name="Illustrative delivered road transport cost class 3; reference terminal Lesedi"/>
          <p:cNvSpPr/>
          <p:nvPr/>
        </p:nvSpPr>
        <p:spPr>
          <a:xfrm>
            <a:off x="306968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5" name="Illustrative delivered road transport cost class 3; reference terminal Lesedi"/>
          <p:cNvSpPr/>
          <p:nvPr/>
        </p:nvSpPr>
        <p:spPr>
          <a:xfrm>
            <a:off x="306968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6" name="Illustrative delivered road transport cost class 3; reference terminal Lesedi"/>
          <p:cNvSpPr/>
          <p:nvPr/>
        </p:nvSpPr>
        <p:spPr>
          <a:xfrm>
            <a:off x="306968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7" name="Illustrative delivered road transport cost class None; reference terminal None"/>
          <p:cNvSpPr/>
          <p:nvPr/>
        </p:nvSpPr>
        <p:spPr>
          <a:xfrm>
            <a:off x="306968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8" name="Illustrative delivered road transport cost class None; reference terminal None"/>
          <p:cNvSpPr/>
          <p:nvPr/>
        </p:nvSpPr>
        <p:spPr>
          <a:xfrm>
            <a:off x="306968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9" name="Illustrative delivered road transport cost class None; reference terminal None"/>
          <p:cNvSpPr/>
          <p:nvPr/>
        </p:nvSpPr>
        <p:spPr>
          <a:xfrm>
            <a:off x="3069682" y="3363829"/>
            <a:ext cx="57687" cy="57687"/>
          </a:xfrm>
          <a:custGeom>
            <a:avLst/>
            <a:gdLst/>
            <a:ahLst/>
            <a:cxnLst/>
            <a:rect l="l" t="t" r="r" b="b"/>
            <a:pathLst>
              <a:path w="57687" h="57687">
                <a:moveTo>
                  <a:pt x="57687" y="0"/>
                </a:moveTo>
                <a:lnTo>
                  <a:pt x="57687" y="57687"/>
                </a:lnTo>
                <a:lnTo>
                  <a:pt x="0" y="57687"/>
                </a:lnTo>
                <a:lnTo>
                  <a:pt x="0" y="27188"/>
                </a:lnTo>
                <a:lnTo>
                  <a:pt x="3495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0" name="Illustrative delivered road transport cost class None; reference terminal None"/>
          <p:cNvSpPr/>
          <p:nvPr/>
        </p:nvSpPr>
        <p:spPr>
          <a:xfrm>
            <a:off x="3104636" y="3347240"/>
            <a:ext cx="22733" cy="16589"/>
          </a:xfrm>
          <a:custGeom>
            <a:avLst/>
            <a:gdLst/>
            <a:ahLst/>
            <a:cxnLst/>
            <a:rect l="l" t="t" r="r" b="b"/>
            <a:pathLst>
              <a:path w="22733" h="16589">
                <a:moveTo>
                  <a:pt x="22733" y="16589"/>
                </a:moveTo>
                <a:lnTo>
                  <a:pt x="0" y="16589"/>
                </a:lnTo>
                <a:lnTo>
                  <a:pt x="16351" y="3871"/>
                </a:lnTo>
                <a:lnTo>
                  <a:pt x="22733" y="0"/>
                </a:lnTo>
                <a:lnTo>
                  <a:pt x="22733" y="16589"/>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1" name="Illustrative delivered road transport cost class 4; reference terminal Durban"/>
          <p:cNvSpPr/>
          <p:nvPr/>
        </p:nvSpPr>
        <p:spPr>
          <a:xfrm>
            <a:off x="3127369" y="5325173"/>
            <a:ext cx="57686" cy="33061"/>
          </a:xfrm>
          <a:custGeom>
            <a:avLst/>
            <a:gdLst/>
            <a:ahLst/>
            <a:cxnLst/>
            <a:rect l="l" t="t" r="r" b="b"/>
            <a:pathLst>
              <a:path w="57686" h="33061">
                <a:moveTo>
                  <a:pt x="0" y="0"/>
                </a:moveTo>
                <a:lnTo>
                  <a:pt x="57686" y="0"/>
                </a:lnTo>
                <a:lnTo>
                  <a:pt x="57686" y="17782"/>
                </a:lnTo>
                <a:lnTo>
                  <a:pt x="54992" y="17834"/>
                </a:lnTo>
                <a:lnTo>
                  <a:pt x="25544" y="29674"/>
                </a:lnTo>
                <a:lnTo>
                  <a:pt x="0" y="33061"/>
                </a:lnTo>
                <a:lnTo>
                  <a:pt x="0" y="0"/>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2" name="Illustrative delivered road transport cost class 4; reference terminal Durban"/>
          <p:cNvSpPr/>
          <p:nvPr/>
        </p:nvSpPr>
        <p:spPr>
          <a:xfrm>
            <a:off x="312736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3" name="Illustrative delivered road transport cost class 4; reference terminal Durban"/>
          <p:cNvSpPr/>
          <p:nvPr/>
        </p:nvSpPr>
        <p:spPr>
          <a:xfrm>
            <a:off x="312736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4" name="Illustrative delivered road transport cost class 4; reference terminal Lesedi"/>
          <p:cNvSpPr/>
          <p:nvPr/>
        </p:nvSpPr>
        <p:spPr>
          <a:xfrm>
            <a:off x="312736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5" name="Illustrative delivered road transport cost class 3; reference terminal Lesedi"/>
          <p:cNvSpPr/>
          <p:nvPr/>
        </p:nvSpPr>
        <p:spPr>
          <a:xfrm>
            <a:off x="312736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6" name="Illustrative delivered road transport cost class 3; reference terminal Lesedi"/>
          <p:cNvSpPr/>
          <p:nvPr/>
        </p:nvSpPr>
        <p:spPr>
          <a:xfrm>
            <a:off x="312736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7" name="Illustrative delivered road transport cost class 3; reference terminal Lesedi"/>
          <p:cNvSpPr/>
          <p:nvPr/>
        </p:nvSpPr>
        <p:spPr>
          <a:xfrm>
            <a:off x="312736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8" name="Illustrative delivered road transport cost class 3; reference terminal Lesedi"/>
          <p:cNvSpPr/>
          <p:nvPr/>
        </p:nvSpPr>
        <p:spPr>
          <a:xfrm>
            <a:off x="312736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9" name="Illustrative delivered road transport cost class 3; reference terminal Lesedi"/>
          <p:cNvSpPr/>
          <p:nvPr/>
        </p:nvSpPr>
        <p:spPr>
          <a:xfrm>
            <a:off x="312736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0" name="Illustrative delivered road transport cost class 3; reference terminal Lesedi"/>
          <p:cNvSpPr/>
          <p:nvPr/>
        </p:nvSpPr>
        <p:spPr>
          <a:xfrm>
            <a:off x="312736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1" name="Illustrative delivered road transport cost class 3; reference terminal Lesedi"/>
          <p:cNvSpPr/>
          <p:nvPr/>
        </p:nvSpPr>
        <p:spPr>
          <a:xfrm>
            <a:off x="312736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2" name="Illustrative delivered road transport cost class 3; reference terminal Lesedi"/>
          <p:cNvSpPr/>
          <p:nvPr/>
        </p:nvSpPr>
        <p:spPr>
          <a:xfrm>
            <a:off x="312736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3" name="Illustrative delivered road transport cost class 3; reference terminal Lesedi"/>
          <p:cNvSpPr/>
          <p:nvPr/>
        </p:nvSpPr>
        <p:spPr>
          <a:xfrm>
            <a:off x="312736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4" name="Illustrative delivered road transport cost class 3; reference terminal Lesedi"/>
          <p:cNvSpPr/>
          <p:nvPr/>
        </p:nvSpPr>
        <p:spPr>
          <a:xfrm>
            <a:off x="312736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5" name="Illustrative delivered road transport cost class None; reference terminal None"/>
          <p:cNvSpPr/>
          <p:nvPr/>
        </p:nvSpPr>
        <p:spPr>
          <a:xfrm>
            <a:off x="312736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6" name="Illustrative delivered road transport cost class None; reference terminal None"/>
          <p:cNvSpPr/>
          <p:nvPr/>
        </p:nvSpPr>
        <p:spPr>
          <a:xfrm>
            <a:off x="312736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7" name="Illustrative delivered road transport cost class 3; reference terminal Lesedi"/>
          <p:cNvSpPr/>
          <p:nvPr/>
        </p:nvSpPr>
        <p:spPr>
          <a:xfrm>
            <a:off x="312736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8" name="Illustrative delivered road transport cost class 3; reference terminal Lesedi"/>
          <p:cNvSpPr/>
          <p:nvPr/>
        </p:nvSpPr>
        <p:spPr>
          <a:xfrm>
            <a:off x="312736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9" name="Illustrative delivered road transport cost class 3; reference terminal Lesedi"/>
          <p:cNvSpPr/>
          <p:nvPr/>
        </p:nvSpPr>
        <p:spPr>
          <a:xfrm>
            <a:off x="312736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0" name="Illustrative delivered road transport cost class 3; reference terminal Lesedi"/>
          <p:cNvSpPr/>
          <p:nvPr/>
        </p:nvSpPr>
        <p:spPr>
          <a:xfrm>
            <a:off x="312736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1" name="Illustrative delivered road transport cost class 3; reference terminal Lesedi"/>
          <p:cNvSpPr/>
          <p:nvPr/>
        </p:nvSpPr>
        <p:spPr>
          <a:xfrm>
            <a:off x="312736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2" name="Illustrative delivered road transport cost class 3; reference terminal Lesedi"/>
          <p:cNvSpPr/>
          <p:nvPr/>
        </p:nvSpPr>
        <p:spPr>
          <a:xfrm>
            <a:off x="312736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3" name="Illustrative delivered road transport cost class 3; reference terminal Lesedi"/>
          <p:cNvSpPr/>
          <p:nvPr/>
        </p:nvSpPr>
        <p:spPr>
          <a:xfrm>
            <a:off x="312736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4" name="Illustrative delivered road transport cost class 3; reference terminal Lesedi"/>
          <p:cNvSpPr/>
          <p:nvPr/>
        </p:nvSpPr>
        <p:spPr>
          <a:xfrm>
            <a:off x="312736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5" name="Illustrative delivered road transport cost class 3; reference terminal Lesedi"/>
          <p:cNvSpPr/>
          <p:nvPr/>
        </p:nvSpPr>
        <p:spPr>
          <a:xfrm>
            <a:off x="312736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6" name="Illustrative delivered road transport cost class 3; reference terminal Lesedi"/>
          <p:cNvSpPr/>
          <p:nvPr/>
        </p:nvSpPr>
        <p:spPr>
          <a:xfrm>
            <a:off x="312736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7" name="Illustrative delivered road transport cost class 3; reference terminal Lesedi"/>
          <p:cNvSpPr/>
          <p:nvPr/>
        </p:nvSpPr>
        <p:spPr>
          <a:xfrm>
            <a:off x="312736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8" name="Illustrative delivered road transport cost class 3; reference terminal Lesedi"/>
          <p:cNvSpPr/>
          <p:nvPr/>
        </p:nvSpPr>
        <p:spPr>
          <a:xfrm>
            <a:off x="312736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9" name="Illustrative delivered road transport cost class 3; reference terminal Lesedi"/>
          <p:cNvSpPr/>
          <p:nvPr/>
        </p:nvSpPr>
        <p:spPr>
          <a:xfrm>
            <a:off x="312736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0" name="Illustrative delivered road transport cost class 3; reference terminal Lesedi"/>
          <p:cNvSpPr/>
          <p:nvPr/>
        </p:nvSpPr>
        <p:spPr>
          <a:xfrm>
            <a:off x="312736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1" name="Illustrative delivered road transport cost class 3; reference terminal Lesedi"/>
          <p:cNvSpPr/>
          <p:nvPr/>
        </p:nvSpPr>
        <p:spPr>
          <a:xfrm>
            <a:off x="312736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2" name="Illustrative delivered road transport cost class 3; reference terminal Lesedi"/>
          <p:cNvSpPr/>
          <p:nvPr/>
        </p:nvSpPr>
        <p:spPr>
          <a:xfrm>
            <a:off x="312736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3" name="Illustrative delivered road transport cost class 3; reference terminal Lesedi"/>
          <p:cNvSpPr/>
          <p:nvPr/>
        </p:nvSpPr>
        <p:spPr>
          <a:xfrm>
            <a:off x="312736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4" name="Illustrative delivered road transport cost class None; reference terminal None"/>
          <p:cNvSpPr/>
          <p:nvPr/>
        </p:nvSpPr>
        <p:spPr>
          <a:xfrm>
            <a:off x="312736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5" name="Illustrative delivered road transport cost class None; reference terminal None"/>
          <p:cNvSpPr/>
          <p:nvPr/>
        </p:nvSpPr>
        <p:spPr>
          <a:xfrm>
            <a:off x="312736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6" name="Illustrative delivered road transport cost class None; reference terminal None"/>
          <p:cNvSpPr/>
          <p:nvPr/>
        </p:nvSpPr>
        <p:spPr>
          <a:xfrm>
            <a:off x="3127369" y="3306143"/>
            <a:ext cx="57686" cy="57686"/>
          </a:xfrm>
          <a:custGeom>
            <a:avLst/>
            <a:gdLst/>
            <a:ahLst/>
            <a:cxnLst/>
            <a:rect l="l" t="t" r="r" b="b"/>
            <a:pathLst>
              <a:path w="57686" h="57686">
                <a:moveTo>
                  <a:pt x="57686" y="0"/>
                </a:moveTo>
                <a:lnTo>
                  <a:pt x="57686" y="57686"/>
                </a:lnTo>
                <a:lnTo>
                  <a:pt x="0" y="57686"/>
                </a:lnTo>
                <a:lnTo>
                  <a:pt x="0" y="41097"/>
                </a:lnTo>
                <a:lnTo>
                  <a:pt x="11340" y="34218"/>
                </a:lnTo>
                <a:lnTo>
                  <a:pt x="22425" y="22311"/>
                </a:lnTo>
                <a:lnTo>
                  <a:pt x="31958" y="6395"/>
                </a:lnTo>
                <a:lnTo>
                  <a:pt x="3422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7" name="Illustrative delivered road transport cost class None; reference terminal None"/>
          <p:cNvSpPr/>
          <p:nvPr/>
        </p:nvSpPr>
        <p:spPr>
          <a:xfrm>
            <a:off x="3161595" y="3248456"/>
            <a:ext cx="23460" cy="57687"/>
          </a:xfrm>
          <a:custGeom>
            <a:avLst/>
            <a:gdLst/>
            <a:ahLst/>
            <a:cxnLst/>
            <a:rect l="l" t="t" r="r" b="b"/>
            <a:pathLst>
              <a:path w="23460" h="57687">
                <a:moveTo>
                  <a:pt x="23460" y="0"/>
                </a:moveTo>
                <a:lnTo>
                  <a:pt x="23460" y="57687"/>
                </a:lnTo>
                <a:lnTo>
                  <a:pt x="0" y="57687"/>
                </a:lnTo>
                <a:lnTo>
                  <a:pt x="17253" y="9036"/>
                </a:lnTo>
                <a:lnTo>
                  <a:pt x="20158" y="0"/>
                </a:lnTo>
                <a:lnTo>
                  <a:pt x="2346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8" name="Illustrative delivered road transport cost class None; reference terminal None"/>
          <p:cNvSpPr/>
          <p:nvPr/>
        </p:nvSpPr>
        <p:spPr>
          <a:xfrm>
            <a:off x="3181753" y="3238184"/>
            <a:ext cx="3302" cy="10272"/>
          </a:xfrm>
          <a:custGeom>
            <a:avLst/>
            <a:gdLst/>
            <a:ahLst/>
            <a:cxnLst/>
            <a:rect l="l" t="t" r="r" b="b"/>
            <a:pathLst>
              <a:path w="3302" h="10272">
                <a:moveTo>
                  <a:pt x="3302" y="10272"/>
                </a:moveTo>
                <a:lnTo>
                  <a:pt x="0" y="10272"/>
                </a:lnTo>
                <a:lnTo>
                  <a:pt x="3302" y="0"/>
                </a:lnTo>
                <a:lnTo>
                  <a:pt x="3302" y="1027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9" name="Illustrative delivered road transport cost class 3; reference terminal Durban"/>
          <p:cNvSpPr/>
          <p:nvPr/>
        </p:nvSpPr>
        <p:spPr>
          <a:xfrm>
            <a:off x="3185055" y="5325173"/>
            <a:ext cx="57687" cy="23847"/>
          </a:xfrm>
          <a:custGeom>
            <a:avLst/>
            <a:gdLst/>
            <a:ahLst/>
            <a:cxnLst/>
            <a:rect l="l" t="t" r="r" b="b"/>
            <a:pathLst>
              <a:path w="57687" h="23847">
                <a:moveTo>
                  <a:pt x="0" y="0"/>
                </a:moveTo>
                <a:lnTo>
                  <a:pt x="57687" y="0"/>
                </a:lnTo>
                <a:lnTo>
                  <a:pt x="57687" y="23847"/>
                </a:lnTo>
                <a:lnTo>
                  <a:pt x="36069" y="17085"/>
                </a:lnTo>
                <a:lnTo>
                  <a:pt x="0" y="17782"/>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0" name="Illustrative delivered road transport cost class 3; reference terminal Durban"/>
          <p:cNvSpPr/>
          <p:nvPr/>
        </p:nvSpPr>
        <p:spPr>
          <a:xfrm>
            <a:off x="318505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1" name="Illustrative delivered road transport cost class 3; reference terminal Durban"/>
          <p:cNvSpPr/>
          <p:nvPr/>
        </p:nvSpPr>
        <p:spPr>
          <a:xfrm>
            <a:off x="318505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2" name="Illustrative delivered road transport cost class 4; reference terminal Durban"/>
          <p:cNvSpPr/>
          <p:nvPr/>
        </p:nvSpPr>
        <p:spPr>
          <a:xfrm>
            <a:off x="318505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3" name="Illustrative delivered road transport cost class 3; reference terminal Lesedi"/>
          <p:cNvSpPr/>
          <p:nvPr/>
        </p:nvSpPr>
        <p:spPr>
          <a:xfrm>
            <a:off x="318505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4" name="Illustrative delivered road transport cost class 3; reference terminal Lesedi"/>
          <p:cNvSpPr/>
          <p:nvPr/>
        </p:nvSpPr>
        <p:spPr>
          <a:xfrm>
            <a:off x="318505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5" name="Illustrative delivered road transport cost class 3; reference terminal Lesedi"/>
          <p:cNvSpPr/>
          <p:nvPr/>
        </p:nvSpPr>
        <p:spPr>
          <a:xfrm>
            <a:off x="318505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6" name="Illustrative delivered road transport cost class 3; reference terminal Lesedi"/>
          <p:cNvSpPr/>
          <p:nvPr/>
        </p:nvSpPr>
        <p:spPr>
          <a:xfrm>
            <a:off x="318505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7" name="Illustrative delivered road transport cost class 3; reference terminal Lesedi"/>
          <p:cNvSpPr/>
          <p:nvPr/>
        </p:nvSpPr>
        <p:spPr>
          <a:xfrm>
            <a:off x="318505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8" name="Illustrative delivered road transport cost class 3; reference terminal Lesedi"/>
          <p:cNvSpPr/>
          <p:nvPr/>
        </p:nvSpPr>
        <p:spPr>
          <a:xfrm>
            <a:off x="318505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9" name="Illustrative delivered road transport cost class 3; reference terminal Lesedi"/>
          <p:cNvSpPr/>
          <p:nvPr/>
        </p:nvSpPr>
        <p:spPr>
          <a:xfrm>
            <a:off x="318505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0" name="Illustrative delivered road transport cost class 3; reference terminal Lesedi"/>
          <p:cNvSpPr/>
          <p:nvPr/>
        </p:nvSpPr>
        <p:spPr>
          <a:xfrm>
            <a:off x="318505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1" name="Illustrative delivered road transport cost class 3; reference terminal Lesedi"/>
          <p:cNvSpPr/>
          <p:nvPr/>
        </p:nvSpPr>
        <p:spPr>
          <a:xfrm>
            <a:off x="318505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2" name="Illustrative delivered road transport cost class 3; reference terminal Lesedi"/>
          <p:cNvSpPr/>
          <p:nvPr/>
        </p:nvSpPr>
        <p:spPr>
          <a:xfrm>
            <a:off x="318505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3" name="Illustrative delivered road transport cost class 3; reference terminal Lesedi"/>
          <p:cNvSpPr/>
          <p:nvPr/>
        </p:nvSpPr>
        <p:spPr>
          <a:xfrm>
            <a:off x="318505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4" name="Illustrative delivered road transport cost class 3; reference terminal Lesedi"/>
          <p:cNvSpPr/>
          <p:nvPr/>
        </p:nvSpPr>
        <p:spPr>
          <a:xfrm>
            <a:off x="318505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5" name="Illustrative delivered road transport cost class 3; reference terminal Lesedi"/>
          <p:cNvSpPr/>
          <p:nvPr/>
        </p:nvSpPr>
        <p:spPr>
          <a:xfrm>
            <a:off x="318505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6" name="Illustrative delivered road transport cost class 3; reference terminal Lesedi"/>
          <p:cNvSpPr/>
          <p:nvPr/>
        </p:nvSpPr>
        <p:spPr>
          <a:xfrm>
            <a:off x="318505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7" name="Illustrative delivered road transport cost class 3; reference terminal Lesedi"/>
          <p:cNvSpPr/>
          <p:nvPr/>
        </p:nvSpPr>
        <p:spPr>
          <a:xfrm>
            <a:off x="318505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8" name="Illustrative delivered road transport cost class 2; reference terminal Lesedi"/>
          <p:cNvSpPr/>
          <p:nvPr/>
        </p:nvSpPr>
        <p:spPr>
          <a:xfrm>
            <a:off x="318505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9" name="Illustrative delivered road transport cost class 2; reference terminal Lesedi"/>
          <p:cNvSpPr/>
          <p:nvPr/>
        </p:nvSpPr>
        <p:spPr>
          <a:xfrm>
            <a:off x="318505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0" name="Illustrative delivered road transport cost class 3; reference terminal Lesedi"/>
          <p:cNvSpPr/>
          <p:nvPr/>
        </p:nvSpPr>
        <p:spPr>
          <a:xfrm>
            <a:off x="318505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1" name="Illustrative delivered road transport cost class 3; reference terminal Lesedi"/>
          <p:cNvSpPr/>
          <p:nvPr/>
        </p:nvSpPr>
        <p:spPr>
          <a:xfrm>
            <a:off x="318505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2" name="Illustrative delivered road transport cost class 3; reference terminal Lesedi"/>
          <p:cNvSpPr/>
          <p:nvPr/>
        </p:nvSpPr>
        <p:spPr>
          <a:xfrm>
            <a:off x="318505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3" name="Illustrative delivered road transport cost class None; reference terminal None"/>
          <p:cNvSpPr/>
          <p:nvPr/>
        </p:nvSpPr>
        <p:spPr>
          <a:xfrm>
            <a:off x="318505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4" name="Illustrative delivered road transport cost class 3; reference terminal Lesedi"/>
          <p:cNvSpPr/>
          <p:nvPr/>
        </p:nvSpPr>
        <p:spPr>
          <a:xfrm>
            <a:off x="318505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5" name="Illustrative delivered road transport cost class 3; reference terminal Lesedi"/>
          <p:cNvSpPr/>
          <p:nvPr/>
        </p:nvSpPr>
        <p:spPr>
          <a:xfrm>
            <a:off x="318505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6" name="Illustrative delivered road transport cost class 3; reference terminal Lesedi"/>
          <p:cNvSpPr/>
          <p:nvPr/>
        </p:nvSpPr>
        <p:spPr>
          <a:xfrm>
            <a:off x="318505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7" name="Illustrative delivered road transport cost class 3; reference terminal Lesedi"/>
          <p:cNvSpPr/>
          <p:nvPr/>
        </p:nvSpPr>
        <p:spPr>
          <a:xfrm>
            <a:off x="318505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8" name="Illustrative delivered road transport cost class 3; reference terminal Lesedi"/>
          <p:cNvSpPr/>
          <p:nvPr/>
        </p:nvSpPr>
        <p:spPr>
          <a:xfrm>
            <a:off x="318505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9" name="Illustrative delivered road transport cost class 3; reference terminal Lesedi"/>
          <p:cNvSpPr/>
          <p:nvPr/>
        </p:nvSpPr>
        <p:spPr>
          <a:xfrm>
            <a:off x="318505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0" name="Illustrative delivered road transport cost class 3; reference terminal Lesedi"/>
          <p:cNvSpPr/>
          <p:nvPr/>
        </p:nvSpPr>
        <p:spPr>
          <a:xfrm>
            <a:off x="318505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1" name="Illustrative delivered road transport cost class 3; reference terminal Lesedi"/>
          <p:cNvSpPr/>
          <p:nvPr/>
        </p:nvSpPr>
        <p:spPr>
          <a:xfrm>
            <a:off x="318505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2" name="Illustrative delivered road transport cost class None; reference terminal None"/>
          <p:cNvSpPr/>
          <p:nvPr/>
        </p:nvSpPr>
        <p:spPr>
          <a:xfrm>
            <a:off x="318505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3" name="Illustrative delivered road transport cost class None; reference terminal None"/>
          <p:cNvSpPr/>
          <p:nvPr/>
        </p:nvSpPr>
        <p:spPr>
          <a:xfrm>
            <a:off x="318505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4" name="Illustrative delivered road transport cost class None; reference terminal None"/>
          <p:cNvSpPr/>
          <p:nvPr/>
        </p:nvSpPr>
        <p:spPr>
          <a:xfrm>
            <a:off x="318505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5" name="Illustrative delivered road transport cost class None; reference terminal None"/>
          <p:cNvSpPr/>
          <p:nvPr/>
        </p:nvSpPr>
        <p:spPr>
          <a:xfrm>
            <a:off x="318505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6" name="Illustrative delivered road transport cost class None; reference terminal None"/>
          <p:cNvSpPr/>
          <p:nvPr/>
        </p:nvSpPr>
        <p:spPr>
          <a:xfrm>
            <a:off x="3185055" y="3190770"/>
            <a:ext cx="57687" cy="57686"/>
          </a:xfrm>
          <a:custGeom>
            <a:avLst/>
            <a:gdLst/>
            <a:ahLst/>
            <a:cxnLst/>
            <a:rect l="l" t="t" r="r" b="b"/>
            <a:pathLst>
              <a:path w="57687" h="57686">
                <a:moveTo>
                  <a:pt x="57687" y="0"/>
                </a:moveTo>
                <a:lnTo>
                  <a:pt x="57687" y="57686"/>
                </a:lnTo>
                <a:lnTo>
                  <a:pt x="0" y="57686"/>
                </a:lnTo>
                <a:lnTo>
                  <a:pt x="0" y="47414"/>
                </a:lnTo>
                <a:lnTo>
                  <a:pt x="8527" y="20894"/>
                </a:lnTo>
                <a:lnTo>
                  <a:pt x="1330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7" name="Illustrative delivered road transport cost class None; reference terminal None"/>
          <p:cNvSpPr/>
          <p:nvPr/>
        </p:nvSpPr>
        <p:spPr>
          <a:xfrm>
            <a:off x="3198361" y="3133083"/>
            <a:ext cx="44381" cy="57687"/>
          </a:xfrm>
          <a:custGeom>
            <a:avLst/>
            <a:gdLst/>
            <a:ahLst/>
            <a:cxnLst/>
            <a:rect l="l" t="t" r="r" b="b"/>
            <a:pathLst>
              <a:path w="44381" h="57687">
                <a:moveTo>
                  <a:pt x="44381" y="0"/>
                </a:moveTo>
                <a:lnTo>
                  <a:pt x="44381" y="57687"/>
                </a:lnTo>
                <a:lnTo>
                  <a:pt x="0" y="57687"/>
                </a:lnTo>
                <a:lnTo>
                  <a:pt x="151" y="57025"/>
                </a:lnTo>
                <a:lnTo>
                  <a:pt x="13453" y="21722"/>
                </a:lnTo>
                <a:lnTo>
                  <a:pt x="29229" y="0"/>
                </a:lnTo>
                <a:lnTo>
                  <a:pt x="44381"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8" name="Illustrative delivered road transport cost class None; reference terminal None"/>
          <p:cNvSpPr/>
          <p:nvPr/>
        </p:nvSpPr>
        <p:spPr>
          <a:xfrm>
            <a:off x="3227590" y="3121400"/>
            <a:ext cx="15152" cy="11683"/>
          </a:xfrm>
          <a:custGeom>
            <a:avLst/>
            <a:gdLst/>
            <a:ahLst/>
            <a:cxnLst/>
            <a:rect l="l" t="t" r="r" b="b"/>
            <a:pathLst>
              <a:path w="15152" h="11683">
                <a:moveTo>
                  <a:pt x="15152" y="11683"/>
                </a:moveTo>
                <a:lnTo>
                  <a:pt x="0" y="11683"/>
                </a:lnTo>
                <a:lnTo>
                  <a:pt x="688" y="10736"/>
                </a:lnTo>
                <a:lnTo>
                  <a:pt x="15152" y="0"/>
                </a:lnTo>
                <a:lnTo>
                  <a:pt x="15152" y="1168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9" name="Illustrative delivered road transport cost class 3; reference terminal Durban"/>
          <p:cNvSpPr/>
          <p:nvPr/>
        </p:nvSpPr>
        <p:spPr>
          <a:xfrm>
            <a:off x="3242742" y="5325173"/>
            <a:ext cx="57687" cy="31626"/>
          </a:xfrm>
          <a:custGeom>
            <a:avLst/>
            <a:gdLst/>
            <a:ahLst/>
            <a:cxnLst/>
            <a:rect l="l" t="t" r="r" b="b"/>
            <a:pathLst>
              <a:path w="57687" h="31626">
                <a:moveTo>
                  <a:pt x="0" y="0"/>
                </a:moveTo>
                <a:lnTo>
                  <a:pt x="57687" y="0"/>
                </a:lnTo>
                <a:lnTo>
                  <a:pt x="57687" y="31626"/>
                </a:lnTo>
                <a:lnTo>
                  <a:pt x="19183" y="29847"/>
                </a:lnTo>
                <a:lnTo>
                  <a:pt x="0" y="2384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0" name="Illustrative delivered road transport cost class 3; reference terminal Durban"/>
          <p:cNvSpPr/>
          <p:nvPr/>
        </p:nvSpPr>
        <p:spPr>
          <a:xfrm>
            <a:off x="3242742"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1" name="Illustrative delivered road transport cost class 3; reference terminal Durban"/>
          <p:cNvSpPr/>
          <p:nvPr/>
        </p:nvSpPr>
        <p:spPr>
          <a:xfrm>
            <a:off x="3242742"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2" name="Illustrative delivered road transport cost class 4; reference terminal Durban"/>
          <p:cNvSpPr/>
          <p:nvPr/>
        </p:nvSpPr>
        <p:spPr>
          <a:xfrm>
            <a:off x="3242742"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3" name="Illustrative delivered road transport cost class 3; reference terminal Lesedi"/>
          <p:cNvSpPr/>
          <p:nvPr/>
        </p:nvSpPr>
        <p:spPr>
          <a:xfrm>
            <a:off x="3242742"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4" name="Illustrative delivered road transport cost class 3; reference terminal Lesedi"/>
          <p:cNvSpPr/>
          <p:nvPr/>
        </p:nvSpPr>
        <p:spPr>
          <a:xfrm>
            <a:off x="3242742"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5" name="Illustrative delivered road transport cost class 3; reference terminal Lesedi"/>
          <p:cNvSpPr/>
          <p:nvPr/>
        </p:nvSpPr>
        <p:spPr>
          <a:xfrm>
            <a:off x="3242742"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6" name="Illustrative delivered road transport cost class 3; reference terminal Lesedi"/>
          <p:cNvSpPr/>
          <p:nvPr/>
        </p:nvSpPr>
        <p:spPr>
          <a:xfrm>
            <a:off x="3242742"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7" name="Illustrative delivered road transport cost class 3; reference terminal Lesedi"/>
          <p:cNvSpPr/>
          <p:nvPr/>
        </p:nvSpPr>
        <p:spPr>
          <a:xfrm>
            <a:off x="3242742"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8" name="Illustrative delivered road transport cost class 3; reference terminal Lesedi"/>
          <p:cNvSpPr/>
          <p:nvPr/>
        </p:nvSpPr>
        <p:spPr>
          <a:xfrm>
            <a:off x="3242742"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9" name="Illustrative delivered road transport cost class 3; reference terminal Lesedi"/>
          <p:cNvSpPr/>
          <p:nvPr/>
        </p:nvSpPr>
        <p:spPr>
          <a:xfrm>
            <a:off x="3242742"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0" name="Illustrative delivered road transport cost class 3; reference terminal Lesedi"/>
          <p:cNvSpPr/>
          <p:nvPr/>
        </p:nvSpPr>
        <p:spPr>
          <a:xfrm>
            <a:off x="3242742"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1" name="Illustrative delivered road transport cost class 3; reference terminal Lesedi"/>
          <p:cNvSpPr/>
          <p:nvPr/>
        </p:nvSpPr>
        <p:spPr>
          <a:xfrm>
            <a:off x="3242742"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2" name="Illustrative delivered road transport cost class 3; reference terminal Lesedi"/>
          <p:cNvSpPr/>
          <p:nvPr/>
        </p:nvSpPr>
        <p:spPr>
          <a:xfrm>
            <a:off x="3242742"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3" name="Illustrative delivered road transport cost class 3; reference terminal Lesedi"/>
          <p:cNvSpPr/>
          <p:nvPr/>
        </p:nvSpPr>
        <p:spPr>
          <a:xfrm>
            <a:off x="3242742"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4" name="Illustrative delivered road transport cost class 3; reference terminal Lesedi"/>
          <p:cNvSpPr/>
          <p:nvPr/>
        </p:nvSpPr>
        <p:spPr>
          <a:xfrm>
            <a:off x="3242742"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5" name="Illustrative delivered road transport cost class 3; reference terminal Lesedi"/>
          <p:cNvSpPr/>
          <p:nvPr/>
        </p:nvSpPr>
        <p:spPr>
          <a:xfrm>
            <a:off x="3242742"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6" name="Illustrative delivered road transport cost class 2; reference terminal Lesedi"/>
          <p:cNvSpPr/>
          <p:nvPr/>
        </p:nvSpPr>
        <p:spPr>
          <a:xfrm>
            <a:off x="3242742"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7" name="Illustrative delivered road transport cost class 2; reference terminal Lesedi"/>
          <p:cNvSpPr/>
          <p:nvPr/>
        </p:nvSpPr>
        <p:spPr>
          <a:xfrm>
            <a:off x="3242742"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8" name="Illustrative delivered road transport cost class 2; reference terminal Lesedi"/>
          <p:cNvSpPr/>
          <p:nvPr/>
        </p:nvSpPr>
        <p:spPr>
          <a:xfrm>
            <a:off x="3242742"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9" name="Illustrative delivered road transport cost class 2; reference terminal Lesedi"/>
          <p:cNvSpPr/>
          <p:nvPr/>
        </p:nvSpPr>
        <p:spPr>
          <a:xfrm>
            <a:off x="3242742"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0" name="Illustrative delivered road transport cost class 3; reference terminal Lesedi"/>
          <p:cNvSpPr/>
          <p:nvPr/>
        </p:nvSpPr>
        <p:spPr>
          <a:xfrm>
            <a:off x="3242742"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1" name="Illustrative delivered road transport cost class 3; reference terminal Lesedi"/>
          <p:cNvSpPr/>
          <p:nvPr/>
        </p:nvSpPr>
        <p:spPr>
          <a:xfrm>
            <a:off x="324274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2" name="Illustrative delivered road transport cost class 3; reference terminal Lesedi"/>
          <p:cNvSpPr/>
          <p:nvPr/>
        </p:nvSpPr>
        <p:spPr>
          <a:xfrm>
            <a:off x="324274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3" name="Illustrative delivered road transport cost class None; reference terminal None"/>
          <p:cNvSpPr/>
          <p:nvPr/>
        </p:nvSpPr>
        <p:spPr>
          <a:xfrm>
            <a:off x="324274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4" name="Illustrative delivered road transport cost class 3; reference terminal Lesedi"/>
          <p:cNvSpPr/>
          <p:nvPr/>
        </p:nvSpPr>
        <p:spPr>
          <a:xfrm>
            <a:off x="324274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5" name="Illustrative delivered road transport cost class 3; reference terminal Lesedi"/>
          <p:cNvSpPr/>
          <p:nvPr/>
        </p:nvSpPr>
        <p:spPr>
          <a:xfrm>
            <a:off x="324274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6" name="Illustrative delivered road transport cost class 3; reference terminal Lesedi"/>
          <p:cNvSpPr/>
          <p:nvPr/>
        </p:nvSpPr>
        <p:spPr>
          <a:xfrm>
            <a:off x="324274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7" name="Illustrative delivered road transport cost class 3; reference terminal Lesedi"/>
          <p:cNvSpPr/>
          <p:nvPr/>
        </p:nvSpPr>
        <p:spPr>
          <a:xfrm>
            <a:off x="324274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8" name="Illustrative delivered road transport cost class 3; reference terminal Lesedi"/>
          <p:cNvSpPr/>
          <p:nvPr/>
        </p:nvSpPr>
        <p:spPr>
          <a:xfrm>
            <a:off x="324274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9" name="Illustrative delivered road transport cost class 3; reference terminal Lesedi"/>
          <p:cNvSpPr/>
          <p:nvPr/>
        </p:nvSpPr>
        <p:spPr>
          <a:xfrm>
            <a:off x="3242742"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0" name="Illustrative delivered road transport cost class 3; reference terminal Lesedi"/>
          <p:cNvSpPr/>
          <p:nvPr/>
        </p:nvSpPr>
        <p:spPr>
          <a:xfrm>
            <a:off x="3242742"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1" name="Illustrative delivered road transport cost class 3; reference terminal Lesedi"/>
          <p:cNvSpPr/>
          <p:nvPr/>
        </p:nvSpPr>
        <p:spPr>
          <a:xfrm>
            <a:off x="3242742"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2" name="Illustrative delivered road transport cost class 3; reference terminal Lesedi"/>
          <p:cNvSpPr/>
          <p:nvPr/>
        </p:nvSpPr>
        <p:spPr>
          <a:xfrm>
            <a:off x="3242742"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3" name="Illustrative delivered road transport cost class None; reference terminal None"/>
          <p:cNvSpPr/>
          <p:nvPr/>
        </p:nvSpPr>
        <p:spPr>
          <a:xfrm>
            <a:off x="3242742"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4" name="Illustrative delivered road transport cost class None; reference terminal None"/>
          <p:cNvSpPr/>
          <p:nvPr/>
        </p:nvSpPr>
        <p:spPr>
          <a:xfrm>
            <a:off x="3242742"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5" name="Illustrative delivered road transport cost class None; reference terminal None"/>
          <p:cNvSpPr/>
          <p:nvPr/>
        </p:nvSpPr>
        <p:spPr>
          <a:xfrm>
            <a:off x="3242742"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6" name="Illustrative delivered road transport cost class None; reference terminal None"/>
          <p:cNvSpPr/>
          <p:nvPr/>
        </p:nvSpPr>
        <p:spPr>
          <a:xfrm>
            <a:off x="324274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7" name="Illustrative delivered road transport cost class None; reference terminal None"/>
          <p:cNvSpPr/>
          <p:nvPr/>
        </p:nvSpPr>
        <p:spPr>
          <a:xfrm>
            <a:off x="324274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8" name="Illustrative delivered road transport cost class None; reference terminal None"/>
          <p:cNvSpPr/>
          <p:nvPr/>
        </p:nvSpPr>
        <p:spPr>
          <a:xfrm>
            <a:off x="3242742" y="3104642"/>
            <a:ext cx="57687" cy="28441"/>
          </a:xfrm>
          <a:custGeom>
            <a:avLst/>
            <a:gdLst/>
            <a:ahLst/>
            <a:cxnLst/>
            <a:rect l="l" t="t" r="r" b="b"/>
            <a:pathLst>
              <a:path w="57687" h="28441">
                <a:moveTo>
                  <a:pt x="57687" y="28441"/>
                </a:moveTo>
                <a:lnTo>
                  <a:pt x="0" y="28441"/>
                </a:lnTo>
                <a:lnTo>
                  <a:pt x="0" y="16758"/>
                </a:lnTo>
                <a:lnTo>
                  <a:pt x="1801" y="15421"/>
                </a:lnTo>
                <a:lnTo>
                  <a:pt x="9993" y="12270"/>
                </a:lnTo>
                <a:lnTo>
                  <a:pt x="31104" y="5903"/>
                </a:lnTo>
                <a:lnTo>
                  <a:pt x="57687" y="0"/>
                </a:lnTo>
                <a:lnTo>
                  <a:pt x="57687" y="284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9" name="Illustrative delivered road transport cost class 3; reference terminal Durban"/>
          <p:cNvSpPr/>
          <p:nvPr/>
        </p:nvSpPr>
        <p:spPr>
          <a:xfrm>
            <a:off x="3300429" y="5325173"/>
            <a:ext cx="57686" cy="33224"/>
          </a:xfrm>
          <a:custGeom>
            <a:avLst/>
            <a:gdLst/>
            <a:ahLst/>
            <a:cxnLst/>
            <a:rect l="l" t="t" r="r" b="b"/>
            <a:pathLst>
              <a:path w="57686" h="33224">
                <a:moveTo>
                  <a:pt x="0" y="0"/>
                </a:moveTo>
                <a:lnTo>
                  <a:pt x="57686" y="0"/>
                </a:lnTo>
                <a:lnTo>
                  <a:pt x="57686" y="27360"/>
                </a:lnTo>
                <a:lnTo>
                  <a:pt x="52084" y="29844"/>
                </a:lnTo>
                <a:lnTo>
                  <a:pt x="34605" y="33224"/>
                </a:lnTo>
                <a:lnTo>
                  <a:pt x="0" y="3162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0" name="Illustrative delivered road transport cost class 3; reference terminal Durban"/>
          <p:cNvSpPr/>
          <p:nvPr/>
        </p:nvSpPr>
        <p:spPr>
          <a:xfrm>
            <a:off x="3300429"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1" name="Illustrative delivered road transport cost class 3; reference terminal Durban"/>
          <p:cNvSpPr/>
          <p:nvPr/>
        </p:nvSpPr>
        <p:spPr>
          <a:xfrm>
            <a:off x="3300429"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2" name="Illustrative delivered road transport cost class 3; reference terminal Durban"/>
          <p:cNvSpPr/>
          <p:nvPr/>
        </p:nvSpPr>
        <p:spPr>
          <a:xfrm>
            <a:off x="3300429"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3" name="Illustrative delivered road transport cost class 4; reference terminal Durban"/>
          <p:cNvSpPr/>
          <p:nvPr/>
        </p:nvSpPr>
        <p:spPr>
          <a:xfrm>
            <a:off x="3300429"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4" name="Illustrative delivered road transport cost class 3; reference terminal Lesedi"/>
          <p:cNvSpPr/>
          <p:nvPr/>
        </p:nvSpPr>
        <p:spPr>
          <a:xfrm>
            <a:off x="3300429"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5" name="Illustrative delivered road transport cost class 3; reference terminal Lesedi"/>
          <p:cNvSpPr/>
          <p:nvPr/>
        </p:nvSpPr>
        <p:spPr>
          <a:xfrm>
            <a:off x="3300429"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6" name="Illustrative delivered road transport cost class 3; reference terminal Lesedi"/>
          <p:cNvSpPr/>
          <p:nvPr/>
        </p:nvSpPr>
        <p:spPr>
          <a:xfrm>
            <a:off x="3300429"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7" name="Illustrative delivered road transport cost class 3; reference terminal Lesedi"/>
          <p:cNvSpPr/>
          <p:nvPr/>
        </p:nvSpPr>
        <p:spPr>
          <a:xfrm>
            <a:off x="3300429"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8" name="Illustrative delivered road transport cost class 3; reference terminal Lesedi"/>
          <p:cNvSpPr/>
          <p:nvPr/>
        </p:nvSpPr>
        <p:spPr>
          <a:xfrm>
            <a:off x="3300429"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9" name="Illustrative delivered road transport cost class 3; reference terminal Lesedi"/>
          <p:cNvSpPr/>
          <p:nvPr/>
        </p:nvSpPr>
        <p:spPr>
          <a:xfrm>
            <a:off x="3300429"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0" name="Illustrative delivered road transport cost class 3; reference terminal Lesedi"/>
          <p:cNvSpPr/>
          <p:nvPr/>
        </p:nvSpPr>
        <p:spPr>
          <a:xfrm>
            <a:off x="3300429"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1" name="Illustrative delivered road transport cost class 3; reference terminal Lesedi"/>
          <p:cNvSpPr/>
          <p:nvPr/>
        </p:nvSpPr>
        <p:spPr>
          <a:xfrm>
            <a:off x="3300429"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2" name="Illustrative delivered road transport cost class 3; reference terminal Lesedi"/>
          <p:cNvSpPr/>
          <p:nvPr/>
        </p:nvSpPr>
        <p:spPr>
          <a:xfrm>
            <a:off x="3300429"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3" name="Illustrative delivered road transport cost class 2; reference terminal Lesedi"/>
          <p:cNvSpPr/>
          <p:nvPr/>
        </p:nvSpPr>
        <p:spPr>
          <a:xfrm>
            <a:off x="3300429"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4" name="Illustrative delivered road transport cost class 2; reference terminal Lesedi"/>
          <p:cNvSpPr/>
          <p:nvPr/>
        </p:nvSpPr>
        <p:spPr>
          <a:xfrm>
            <a:off x="3300429"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5" name="Illustrative delivered road transport cost class 2; reference terminal Lesedi"/>
          <p:cNvSpPr/>
          <p:nvPr/>
        </p:nvSpPr>
        <p:spPr>
          <a:xfrm>
            <a:off x="3300429"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6" name="Illustrative delivered road transport cost class 2; reference terminal Lesedi"/>
          <p:cNvSpPr/>
          <p:nvPr/>
        </p:nvSpPr>
        <p:spPr>
          <a:xfrm>
            <a:off x="3300429"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7" name="Illustrative delivered road transport cost class 2; reference terminal Lesedi"/>
          <p:cNvSpPr/>
          <p:nvPr/>
        </p:nvSpPr>
        <p:spPr>
          <a:xfrm>
            <a:off x="3300429"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8" name="Illustrative delivered road transport cost class 2; reference terminal Lesedi"/>
          <p:cNvSpPr/>
          <p:nvPr/>
        </p:nvSpPr>
        <p:spPr>
          <a:xfrm>
            <a:off x="3300429"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9" name="Illustrative delivered road transport cost class 2; reference terminal Lesedi"/>
          <p:cNvSpPr/>
          <p:nvPr/>
        </p:nvSpPr>
        <p:spPr>
          <a:xfrm>
            <a:off x="3300429"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0" name="Illustrative delivered road transport cost class 2; reference terminal Lesedi"/>
          <p:cNvSpPr/>
          <p:nvPr/>
        </p:nvSpPr>
        <p:spPr>
          <a:xfrm>
            <a:off x="3300429"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1" name="Illustrative delivered road transport cost class 3; reference terminal Lesedi"/>
          <p:cNvSpPr/>
          <p:nvPr/>
        </p:nvSpPr>
        <p:spPr>
          <a:xfrm>
            <a:off x="3300429"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2" name="Illustrative delivered road transport cost class None; reference terminal None"/>
          <p:cNvSpPr/>
          <p:nvPr/>
        </p:nvSpPr>
        <p:spPr>
          <a:xfrm>
            <a:off x="330042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3" name="Illustrative delivered road transport cost class None; reference terminal None"/>
          <p:cNvSpPr/>
          <p:nvPr/>
        </p:nvSpPr>
        <p:spPr>
          <a:xfrm>
            <a:off x="330042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4" name="Illustrative delivered road transport cost class 3; reference terminal Lesedi"/>
          <p:cNvSpPr/>
          <p:nvPr/>
        </p:nvSpPr>
        <p:spPr>
          <a:xfrm>
            <a:off x="330042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5" name="Illustrative delivered road transport cost class 3; reference terminal Lesedi"/>
          <p:cNvSpPr/>
          <p:nvPr/>
        </p:nvSpPr>
        <p:spPr>
          <a:xfrm>
            <a:off x="330042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6" name="Illustrative delivered road transport cost class 3; reference terminal Lesedi"/>
          <p:cNvSpPr/>
          <p:nvPr/>
        </p:nvSpPr>
        <p:spPr>
          <a:xfrm>
            <a:off x="330042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7" name="Illustrative delivered road transport cost class 3; reference terminal Lesedi"/>
          <p:cNvSpPr/>
          <p:nvPr/>
        </p:nvSpPr>
        <p:spPr>
          <a:xfrm>
            <a:off x="330042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8" name="Illustrative delivered road transport cost class 3; reference terminal Lesedi"/>
          <p:cNvSpPr/>
          <p:nvPr/>
        </p:nvSpPr>
        <p:spPr>
          <a:xfrm>
            <a:off x="330042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9" name="Illustrative delivered road transport cost class 3; reference terminal Lesedi"/>
          <p:cNvSpPr/>
          <p:nvPr/>
        </p:nvSpPr>
        <p:spPr>
          <a:xfrm>
            <a:off x="330042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0" name="Illustrative delivered road transport cost class 3; reference terminal Lesedi"/>
          <p:cNvSpPr/>
          <p:nvPr/>
        </p:nvSpPr>
        <p:spPr>
          <a:xfrm>
            <a:off x="3300429"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1" name="Illustrative delivered road transport cost class 3; reference terminal Lesedi"/>
          <p:cNvSpPr/>
          <p:nvPr/>
        </p:nvSpPr>
        <p:spPr>
          <a:xfrm>
            <a:off x="3300429"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2" name="Illustrative delivered road transport cost class 3; reference terminal Lesedi"/>
          <p:cNvSpPr/>
          <p:nvPr/>
        </p:nvSpPr>
        <p:spPr>
          <a:xfrm>
            <a:off x="3300429"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3" name="Illustrative delivered road transport cost class None; reference terminal None"/>
          <p:cNvSpPr/>
          <p:nvPr/>
        </p:nvSpPr>
        <p:spPr>
          <a:xfrm>
            <a:off x="3300429"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4" name="Illustrative delivered road transport cost class None; reference terminal None"/>
          <p:cNvSpPr/>
          <p:nvPr/>
        </p:nvSpPr>
        <p:spPr>
          <a:xfrm>
            <a:off x="3300429"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5" name="Illustrative delivered road transport cost class None; reference terminal None"/>
          <p:cNvSpPr/>
          <p:nvPr/>
        </p:nvSpPr>
        <p:spPr>
          <a:xfrm>
            <a:off x="3300429"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6" name="Illustrative delivered road transport cost class None; reference terminal None"/>
          <p:cNvSpPr/>
          <p:nvPr/>
        </p:nvSpPr>
        <p:spPr>
          <a:xfrm>
            <a:off x="330042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7" name="Illustrative delivered road transport cost class None; reference terminal None"/>
          <p:cNvSpPr/>
          <p:nvPr/>
        </p:nvSpPr>
        <p:spPr>
          <a:xfrm>
            <a:off x="330042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8" name="Illustrative delivered road transport cost class None; reference terminal None"/>
          <p:cNvSpPr/>
          <p:nvPr/>
        </p:nvSpPr>
        <p:spPr>
          <a:xfrm>
            <a:off x="3300429" y="3104507"/>
            <a:ext cx="57686" cy="28576"/>
          </a:xfrm>
          <a:custGeom>
            <a:avLst/>
            <a:gdLst/>
            <a:ahLst/>
            <a:cxnLst/>
            <a:rect l="l" t="t" r="r" b="b"/>
            <a:pathLst>
              <a:path w="57686" h="28576">
                <a:moveTo>
                  <a:pt x="57686" y="28576"/>
                </a:moveTo>
                <a:lnTo>
                  <a:pt x="0" y="28576"/>
                </a:lnTo>
                <a:lnTo>
                  <a:pt x="0" y="135"/>
                </a:lnTo>
                <a:lnTo>
                  <a:pt x="606" y="0"/>
                </a:lnTo>
                <a:lnTo>
                  <a:pt x="29338" y="5946"/>
                </a:lnTo>
                <a:lnTo>
                  <a:pt x="57686" y="18023"/>
                </a:lnTo>
                <a:lnTo>
                  <a:pt x="57686" y="2857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9" name="Illustrative delivered road transport cost class 3; reference terminal Durban"/>
          <p:cNvSpPr/>
          <p:nvPr/>
        </p:nvSpPr>
        <p:spPr>
          <a:xfrm>
            <a:off x="3358115" y="5325173"/>
            <a:ext cx="57687" cy="27360"/>
          </a:xfrm>
          <a:custGeom>
            <a:avLst/>
            <a:gdLst/>
            <a:ahLst/>
            <a:cxnLst/>
            <a:rect l="l" t="t" r="r" b="b"/>
            <a:pathLst>
              <a:path w="57687" h="27360">
                <a:moveTo>
                  <a:pt x="0" y="0"/>
                </a:moveTo>
                <a:lnTo>
                  <a:pt x="57687" y="0"/>
                </a:lnTo>
                <a:lnTo>
                  <a:pt x="57687" y="8680"/>
                </a:lnTo>
                <a:lnTo>
                  <a:pt x="44245" y="7748"/>
                </a:lnTo>
                <a:lnTo>
                  <a:pt x="0" y="2736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0" name="Illustrative delivered road transport cost class 3; reference terminal Durban"/>
          <p:cNvSpPr/>
          <p:nvPr/>
        </p:nvSpPr>
        <p:spPr>
          <a:xfrm>
            <a:off x="3358115"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1" name="Illustrative delivered road transport cost class 3; reference terminal Durban"/>
          <p:cNvSpPr/>
          <p:nvPr/>
        </p:nvSpPr>
        <p:spPr>
          <a:xfrm>
            <a:off x="3358115"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2" name="Illustrative delivered road transport cost class 3; reference terminal Durban"/>
          <p:cNvSpPr/>
          <p:nvPr/>
        </p:nvSpPr>
        <p:spPr>
          <a:xfrm>
            <a:off x="3358115"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3" name="Illustrative delivered road transport cost class 3; reference terminal Durban"/>
          <p:cNvSpPr/>
          <p:nvPr/>
        </p:nvSpPr>
        <p:spPr>
          <a:xfrm>
            <a:off x="3358115"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4" name="Illustrative delivered road transport cost class None; reference terminal None"/>
          <p:cNvSpPr/>
          <p:nvPr/>
        </p:nvSpPr>
        <p:spPr>
          <a:xfrm>
            <a:off x="3358115"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5" name="Illustrative delivered road transport cost class 3; reference terminal Lesedi"/>
          <p:cNvSpPr/>
          <p:nvPr/>
        </p:nvSpPr>
        <p:spPr>
          <a:xfrm>
            <a:off x="3358115"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6" name="Illustrative delivered road transport cost class 3; reference terminal Lesedi"/>
          <p:cNvSpPr/>
          <p:nvPr/>
        </p:nvSpPr>
        <p:spPr>
          <a:xfrm>
            <a:off x="3358115"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7" name="Illustrative delivered road transport cost class 3; reference terminal Lesedi"/>
          <p:cNvSpPr/>
          <p:nvPr/>
        </p:nvSpPr>
        <p:spPr>
          <a:xfrm>
            <a:off x="3358115"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8" name="Illustrative delivered road transport cost class 3; reference terminal Lesedi"/>
          <p:cNvSpPr/>
          <p:nvPr/>
        </p:nvSpPr>
        <p:spPr>
          <a:xfrm>
            <a:off x="3358115"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9" name="Illustrative delivered road transport cost class 3; reference terminal Lesedi"/>
          <p:cNvSpPr/>
          <p:nvPr/>
        </p:nvSpPr>
        <p:spPr>
          <a:xfrm>
            <a:off x="3358115"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0" name="Illustrative delivered road transport cost class 3; reference terminal Lesedi"/>
          <p:cNvSpPr/>
          <p:nvPr/>
        </p:nvSpPr>
        <p:spPr>
          <a:xfrm>
            <a:off x="3358115"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1" name="Illustrative delivered road transport cost class 3; reference terminal Lesedi"/>
          <p:cNvSpPr/>
          <p:nvPr/>
        </p:nvSpPr>
        <p:spPr>
          <a:xfrm>
            <a:off x="3358115"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2" name="Illustrative delivered road transport cost class 2; reference terminal Lesedi"/>
          <p:cNvSpPr/>
          <p:nvPr/>
        </p:nvSpPr>
        <p:spPr>
          <a:xfrm>
            <a:off x="3358115"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3" name="Illustrative delivered road transport cost class 2; reference terminal Lesedi"/>
          <p:cNvSpPr/>
          <p:nvPr/>
        </p:nvSpPr>
        <p:spPr>
          <a:xfrm>
            <a:off x="3358115"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4" name="Illustrative delivered road transport cost class 2; reference terminal Lesedi"/>
          <p:cNvSpPr/>
          <p:nvPr/>
        </p:nvSpPr>
        <p:spPr>
          <a:xfrm>
            <a:off x="3358115"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5" name="Illustrative delivered road transport cost class 2; reference terminal Lesedi"/>
          <p:cNvSpPr/>
          <p:nvPr/>
        </p:nvSpPr>
        <p:spPr>
          <a:xfrm>
            <a:off x="3358115"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6" name="Illustrative delivered road transport cost class 2; reference terminal Lesedi"/>
          <p:cNvSpPr/>
          <p:nvPr/>
        </p:nvSpPr>
        <p:spPr>
          <a:xfrm>
            <a:off x="3358115"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7" name="Illustrative delivered road transport cost class 2; reference terminal Lesedi"/>
          <p:cNvSpPr/>
          <p:nvPr/>
        </p:nvSpPr>
        <p:spPr>
          <a:xfrm>
            <a:off x="3358115"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8" name="Illustrative delivered road transport cost class 2; reference terminal Lesedi"/>
          <p:cNvSpPr/>
          <p:nvPr/>
        </p:nvSpPr>
        <p:spPr>
          <a:xfrm>
            <a:off x="3358115"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9" name="Illustrative delivered road transport cost class 2; reference terminal Lesedi"/>
          <p:cNvSpPr/>
          <p:nvPr/>
        </p:nvSpPr>
        <p:spPr>
          <a:xfrm>
            <a:off x="3358115"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0" name="Illustrative delivered road transport cost class 2; reference terminal Lesedi"/>
          <p:cNvSpPr/>
          <p:nvPr/>
        </p:nvSpPr>
        <p:spPr>
          <a:xfrm>
            <a:off x="3358115"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1" name="Illustrative delivered road transport cost class 2; reference terminal Lesedi"/>
          <p:cNvSpPr/>
          <p:nvPr/>
        </p:nvSpPr>
        <p:spPr>
          <a:xfrm>
            <a:off x="3358115"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2" name="Illustrative delivered road transport cost class 2; reference terminal Lesedi"/>
          <p:cNvSpPr/>
          <p:nvPr/>
        </p:nvSpPr>
        <p:spPr>
          <a:xfrm>
            <a:off x="335811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3" name="Illustrative delivered road transport cost class None; reference terminal None"/>
          <p:cNvSpPr/>
          <p:nvPr/>
        </p:nvSpPr>
        <p:spPr>
          <a:xfrm>
            <a:off x="335811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4" name="Illustrative delivered road transport cost class None; reference terminal None"/>
          <p:cNvSpPr/>
          <p:nvPr/>
        </p:nvSpPr>
        <p:spPr>
          <a:xfrm>
            <a:off x="335811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5" name="Illustrative delivered road transport cost class 3; reference terminal Lesedi"/>
          <p:cNvSpPr/>
          <p:nvPr/>
        </p:nvSpPr>
        <p:spPr>
          <a:xfrm>
            <a:off x="335811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6" name="Illustrative delivered road transport cost class 3; reference terminal Lesedi"/>
          <p:cNvSpPr/>
          <p:nvPr/>
        </p:nvSpPr>
        <p:spPr>
          <a:xfrm>
            <a:off x="335811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7" name="Illustrative delivered road transport cost class 3; reference terminal Lesedi"/>
          <p:cNvSpPr/>
          <p:nvPr/>
        </p:nvSpPr>
        <p:spPr>
          <a:xfrm>
            <a:off x="335811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8" name="Illustrative delivered road transport cost class 3; reference terminal Lesedi"/>
          <p:cNvSpPr/>
          <p:nvPr/>
        </p:nvSpPr>
        <p:spPr>
          <a:xfrm>
            <a:off x="335811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9" name="Illustrative delivered road transport cost class 3; reference terminal Lesedi"/>
          <p:cNvSpPr/>
          <p:nvPr/>
        </p:nvSpPr>
        <p:spPr>
          <a:xfrm>
            <a:off x="335811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0" name="Illustrative delivered road transport cost class 3; reference terminal Lesedi"/>
          <p:cNvSpPr/>
          <p:nvPr/>
        </p:nvSpPr>
        <p:spPr>
          <a:xfrm>
            <a:off x="3358115"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1" name="Illustrative delivered road transport cost class 3; reference terminal Lesedi"/>
          <p:cNvSpPr/>
          <p:nvPr/>
        </p:nvSpPr>
        <p:spPr>
          <a:xfrm>
            <a:off x="3358115"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2" name="Illustrative delivered road transport cost class 3; reference terminal Lesedi"/>
          <p:cNvSpPr/>
          <p:nvPr/>
        </p:nvSpPr>
        <p:spPr>
          <a:xfrm>
            <a:off x="3358115"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3" name="Illustrative delivered road transport cost class None; reference terminal None"/>
          <p:cNvSpPr/>
          <p:nvPr/>
        </p:nvSpPr>
        <p:spPr>
          <a:xfrm>
            <a:off x="3358115"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4" name="Illustrative delivered road transport cost class None; reference terminal None"/>
          <p:cNvSpPr/>
          <p:nvPr/>
        </p:nvSpPr>
        <p:spPr>
          <a:xfrm>
            <a:off x="3358115"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5" name="Illustrative delivered road transport cost class None; reference terminal None"/>
          <p:cNvSpPr/>
          <p:nvPr/>
        </p:nvSpPr>
        <p:spPr>
          <a:xfrm>
            <a:off x="3358115"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6" name="Illustrative delivered road transport cost class None; reference terminal None"/>
          <p:cNvSpPr/>
          <p:nvPr/>
        </p:nvSpPr>
        <p:spPr>
          <a:xfrm>
            <a:off x="335811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7" name="Illustrative delivered road transport cost class None; reference terminal None"/>
          <p:cNvSpPr/>
          <p:nvPr/>
        </p:nvSpPr>
        <p:spPr>
          <a:xfrm>
            <a:off x="3358115" y="3133083"/>
            <a:ext cx="57687" cy="57687"/>
          </a:xfrm>
          <a:custGeom>
            <a:avLst/>
            <a:gdLst/>
            <a:ahLst/>
            <a:cxnLst/>
            <a:rect l="l" t="t" r="r" b="b"/>
            <a:pathLst>
              <a:path w="57687" h="57687">
                <a:moveTo>
                  <a:pt x="57687" y="57687"/>
                </a:moveTo>
                <a:lnTo>
                  <a:pt x="0" y="57687"/>
                </a:lnTo>
                <a:lnTo>
                  <a:pt x="0" y="0"/>
                </a:lnTo>
                <a:lnTo>
                  <a:pt x="17247" y="0"/>
                </a:lnTo>
                <a:lnTo>
                  <a:pt x="37452" y="13013"/>
                </a:lnTo>
                <a:lnTo>
                  <a:pt x="57687" y="28822"/>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8" name="Illustrative delivered road transport cost class None; reference terminal None"/>
          <p:cNvSpPr/>
          <p:nvPr/>
        </p:nvSpPr>
        <p:spPr>
          <a:xfrm>
            <a:off x="3358115" y="3122530"/>
            <a:ext cx="17247" cy="10553"/>
          </a:xfrm>
          <a:custGeom>
            <a:avLst/>
            <a:gdLst/>
            <a:ahLst/>
            <a:cxnLst/>
            <a:rect l="l" t="t" r="r" b="b"/>
            <a:pathLst>
              <a:path w="17247" h="10553">
                <a:moveTo>
                  <a:pt x="0" y="10553"/>
                </a:moveTo>
                <a:lnTo>
                  <a:pt x="0" y="0"/>
                </a:lnTo>
                <a:lnTo>
                  <a:pt x="2544" y="1083"/>
                </a:lnTo>
                <a:lnTo>
                  <a:pt x="17247" y="10553"/>
                </a:lnTo>
                <a:lnTo>
                  <a:pt x="0" y="1055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9" name="Illustrative delivered road transport cost class 3; reference terminal Durban"/>
          <p:cNvSpPr/>
          <p:nvPr/>
        </p:nvSpPr>
        <p:spPr>
          <a:xfrm>
            <a:off x="3415802" y="5325173"/>
            <a:ext cx="57686" cy="16967"/>
          </a:xfrm>
          <a:custGeom>
            <a:avLst/>
            <a:gdLst/>
            <a:ahLst/>
            <a:cxnLst/>
            <a:rect l="l" t="t" r="r" b="b"/>
            <a:pathLst>
              <a:path w="57686" h="16967">
                <a:moveTo>
                  <a:pt x="0" y="0"/>
                </a:moveTo>
                <a:lnTo>
                  <a:pt x="57686" y="0"/>
                </a:lnTo>
                <a:lnTo>
                  <a:pt x="57686" y="16967"/>
                </a:lnTo>
                <a:lnTo>
                  <a:pt x="10549" y="9411"/>
                </a:lnTo>
                <a:lnTo>
                  <a:pt x="0" y="8680"/>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0" name="Illustrative delivered road transport cost class 3; reference terminal Durban"/>
          <p:cNvSpPr/>
          <p:nvPr/>
        </p:nvSpPr>
        <p:spPr>
          <a:xfrm>
            <a:off x="3415802"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1" name="Illustrative delivered road transport cost class 3; reference terminal Durban"/>
          <p:cNvSpPr/>
          <p:nvPr/>
        </p:nvSpPr>
        <p:spPr>
          <a:xfrm>
            <a:off x="3415802"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2" name="Illustrative delivered road transport cost class 3; reference terminal Durban"/>
          <p:cNvSpPr/>
          <p:nvPr/>
        </p:nvSpPr>
        <p:spPr>
          <a:xfrm>
            <a:off x="3415802"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3" name="Illustrative delivered road transport cost class 3; reference terminal Durban"/>
          <p:cNvSpPr/>
          <p:nvPr/>
        </p:nvSpPr>
        <p:spPr>
          <a:xfrm>
            <a:off x="3415802"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4" name="Illustrative delivered road transport cost class None; reference terminal None"/>
          <p:cNvSpPr/>
          <p:nvPr/>
        </p:nvSpPr>
        <p:spPr>
          <a:xfrm>
            <a:off x="3415802"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5" name="Illustrative delivered road transport cost class None; reference terminal None"/>
          <p:cNvSpPr/>
          <p:nvPr/>
        </p:nvSpPr>
        <p:spPr>
          <a:xfrm>
            <a:off x="3415802"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6" name="Illustrative delivered road transport cost class 3; reference terminal Lesedi"/>
          <p:cNvSpPr/>
          <p:nvPr/>
        </p:nvSpPr>
        <p:spPr>
          <a:xfrm>
            <a:off x="3415802"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7" name="Illustrative delivered road transport cost class 3; reference terminal Lesedi"/>
          <p:cNvSpPr/>
          <p:nvPr/>
        </p:nvSpPr>
        <p:spPr>
          <a:xfrm>
            <a:off x="3415802"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8" name="Illustrative delivered road transport cost class 3; reference terminal Lesedi"/>
          <p:cNvSpPr/>
          <p:nvPr/>
        </p:nvSpPr>
        <p:spPr>
          <a:xfrm>
            <a:off x="3415802"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9" name="Illustrative delivered road transport cost class 3; reference terminal Lesedi"/>
          <p:cNvSpPr/>
          <p:nvPr/>
        </p:nvSpPr>
        <p:spPr>
          <a:xfrm>
            <a:off x="3415802"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0" name="Illustrative delivered road transport cost class 2; reference terminal Lesedi"/>
          <p:cNvSpPr/>
          <p:nvPr/>
        </p:nvSpPr>
        <p:spPr>
          <a:xfrm>
            <a:off x="3415802"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1" name="Illustrative delivered road transport cost class 2; reference terminal Lesedi"/>
          <p:cNvSpPr/>
          <p:nvPr/>
        </p:nvSpPr>
        <p:spPr>
          <a:xfrm>
            <a:off x="3415802"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2" name="Illustrative delivered road transport cost class 2; reference terminal Lesedi"/>
          <p:cNvSpPr/>
          <p:nvPr/>
        </p:nvSpPr>
        <p:spPr>
          <a:xfrm>
            <a:off x="3415802"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3" name="Illustrative delivered road transport cost class 2; reference terminal Lesedi"/>
          <p:cNvSpPr/>
          <p:nvPr/>
        </p:nvSpPr>
        <p:spPr>
          <a:xfrm>
            <a:off x="3415802"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4" name="Illustrative delivered road transport cost class 2; reference terminal Lesedi"/>
          <p:cNvSpPr/>
          <p:nvPr/>
        </p:nvSpPr>
        <p:spPr>
          <a:xfrm>
            <a:off x="3415802"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5" name="Illustrative delivered road transport cost class 2; reference terminal Lesedi"/>
          <p:cNvSpPr/>
          <p:nvPr/>
        </p:nvSpPr>
        <p:spPr>
          <a:xfrm>
            <a:off x="3415802"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6" name="Illustrative delivered road transport cost class 2; reference terminal Lesedi"/>
          <p:cNvSpPr/>
          <p:nvPr/>
        </p:nvSpPr>
        <p:spPr>
          <a:xfrm>
            <a:off x="3415802"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7" name="Illustrative delivered road transport cost class 2; reference terminal Lesedi"/>
          <p:cNvSpPr/>
          <p:nvPr/>
        </p:nvSpPr>
        <p:spPr>
          <a:xfrm>
            <a:off x="3415802"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8" name="Illustrative delivered road transport cost class 2; reference terminal Lesedi"/>
          <p:cNvSpPr/>
          <p:nvPr/>
        </p:nvSpPr>
        <p:spPr>
          <a:xfrm>
            <a:off x="3415802"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9" name="Illustrative delivered road transport cost class 2; reference terminal Lesedi"/>
          <p:cNvSpPr/>
          <p:nvPr/>
        </p:nvSpPr>
        <p:spPr>
          <a:xfrm>
            <a:off x="3415802"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0" name="Illustrative delivered road transport cost class 2; reference terminal Lesedi"/>
          <p:cNvSpPr/>
          <p:nvPr/>
        </p:nvSpPr>
        <p:spPr>
          <a:xfrm>
            <a:off x="3415802"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1" name="Illustrative delivered road transport cost class 2; reference terminal Lesedi"/>
          <p:cNvSpPr/>
          <p:nvPr/>
        </p:nvSpPr>
        <p:spPr>
          <a:xfrm>
            <a:off x="3415802"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2" name="Illustrative delivered road transport cost class 2; reference terminal Lesedi"/>
          <p:cNvSpPr/>
          <p:nvPr/>
        </p:nvSpPr>
        <p:spPr>
          <a:xfrm>
            <a:off x="3415802"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3" name="Illustrative delivered road transport cost class 2; reference terminal Lesedi"/>
          <p:cNvSpPr/>
          <p:nvPr/>
        </p:nvSpPr>
        <p:spPr>
          <a:xfrm>
            <a:off x="3415802"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4" name="Illustrative delivered road transport cost class 2; reference terminal Lesedi"/>
          <p:cNvSpPr/>
          <p:nvPr/>
        </p:nvSpPr>
        <p:spPr>
          <a:xfrm>
            <a:off x="3415802"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5" name="Illustrative delivered road transport cost class 2; reference terminal Lesedi"/>
          <p:cNvSpPr/>
          <p:nvPr/>
        </p:nvSpPr>
        <p:spPr>
          <a:xfrm>
            <a:off x="3415802"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6" name="Illustrative delivered road transport cost class 2; reference terminal Lesedi"/>
          <p:cNvSpPr/>
          <p:nvPr/>
        </p:nvSpPr>
        <p:spPr>
          <a:xfrm>
            <a:off x="3415802"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7" name="Illustrative delivered road transport cost class 2; reference terminal Lesedi"/>
          <p:cNvSpPr/>
          <p:nvPr/>
        </p:nvSpPr>
        <p:spPr>
          <a:xfrm>
            <a:off x="3415802"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8" name="Illustrative delivered road transport cost class 2; reference terminal Lesedi"/>
          <p:cNvSpPr/>
          <p:nvPr/>
        </p:nvSpPr>
        <p:spPr>
          <a:xfrm>
            <a:off x="3415802"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9" name="Illustrative delivered road transport cost class 2; reference terminal Lesedi"/>
          <p:cNvSpPr/>
          <p:nvPr/>
        </p:nvSpPr>
        <p:spPr>
          <a:xfrm>
            <a:off x="3415802"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0" name="Illustrative delivered road transport cost class 2; reference terminal Lesedi"/>
          <p:cNvSpPr/>
          <p:nvPr/>
        </p:nvSpPr>
        <p:spPr>
          <a:xfrm>
            <a:off x="3415802"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1" name="Illustrative delivered road transport cost class 2; reference terminal Lesedi"/>
          <p:cNvSpPr/>
          <p:nvPr/>
        </p:nvSpPr>
        <p:spPr>
          <a:xfrm>
            <a:off x="3415802"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2" name="Illustrative delivered road transport cost class 2; reference terminal Lesedi"/>
          <p:cNvSpPr/>
          <p:nvPr/>
        </p:nvSpPr>
        <p:spPr>
          <a:xfrm>
            <a:off x="3415802"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3" name="Illustrative delivered road transport cost class 3; reference terminal Lesedi"/>
          <p:cNvSpPr/>
          <p:nvPr/>
        </p:nvSpPr>
        <p:spPr>
          <a:xfrm>
            <a:off x="3415802"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4" name="Illustrative delivered road transport cost class None; reference terminal None"/>
          <p:cNvSpPr/>
          <p:nvPr/>
        </p:nvSpPr>
        <p:spPr>
          <a:xfrm>
            <a:off x="3415802"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5" name="Illustrative delivered road transport cost class None; reference terminal None"/>
          <p:cNvSpPr/>
          <p:nvPr/>
        </p:nvSpPr>
        <p:spPr>
          <a:xfrm>
            <a:off x="3415802"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6" name="Illustrative delivered road transport cost class None; reference terminal None"/>
          <p:cNvSpPr/>
          <p:nvPr/>
        </p:nvSpPr>
        <p:spPr>
          <a:xfrm>
            <a:off x="3415802" y="3190770"/>
            <a:ext cx="57686" cy="57686"/>
          </a:xfrm>
          <a:custGeom>
            <a:avLst/>
            <a:gdLst/>
            <a:ahLst/>
            <a:cxnLst/>
            <a:rect l="l" t="t" r="r" b="b"/>
            <a:pathLst>
              <a:path w="57686" h="57686">
                <a:moveTo>
                  <a:pt x="57686" y="57686"/>
                </a:moveTo>
                <a:lnTo>
                  <a:pt x="0" y="57686"/>
                </a:lnTo>
                <a:lnTo>
                  <a:pt x="0" y="0"/>
                </a:lnTo>
                <a:lnTo>
                  <a:pt x="39057" y="0"/>
                </a:lnTo>
                <a:lnTo>
                  <a:pt x="49542" y="3739"/>
                </a:lnTo>
                <a:lnTo>
                  <a:pt x="57686" y="425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7" name="Illustrative delivered road transport cost class None; reference terminal None"/>
          <p:cNvSpPr/>
          <p:nvPr/>
        </p:nvSpPr>
        <p:spPr>
          <a:xfrm>
            <a:off x="3415802" y="3161905"/>
            <a:ext cx="39057" cy="28865"/>
          </a:xfrm>
          <a:custGeom>
            <a:avLst/>
            <a:gdLst/>
            <a:ahLst/>
            <a:cxnLst/>
            <a:rect l="l" t="t" r="r" b="b"/>
            <a:pathLst>
              <a:path w="39057" h="28865">
                <a:moveTo>
                  <a:pt x="0" y="28865"/>
                </a:moveTo>
                <a:lnTo>
                  <a:pt x="0" y="0"/>
                </a:lnTo>
                <a:lnTo>
                  <a:pt x="15486" y="12099"/>
                </a:lnTo>
                <a:lnTo>
                  <a:pt x="31920" y="26320"/>
                </a:lnTo>
                <a:lnTo>
                  <a:pt x="39057" y="28865"/>
                </a:lnTo>
                <a:lnTo>
                  <a:pt x="0" y="2886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8" name="Illustrative delivered road transport cost class 3; reference terminal Durban"/>
          <p:cNvSpPr/>
          <p:nvPr/>
        </p:nvSpPr>
        <p:spPr>
          <a:xfrm>
            <a:off x="3473488" y="5325173"/>
            <a:ext cx="57687" cy="26403"/>
          </a:xfrm>
          <a:custGeom>
            <a:avLst/>
            <a:gdLst/>
            <a:ahLst/>
            <a:cxnLst/>
            <a:rect l="l" t="t" r="r" b="b"/>
            <a:pathLst>
              <a:path w="57687" h="26403">
                <a:moveTo>
                  <a:pt x="0" y="0"/>
                </a:moveTo>
                <a:lnTo>
                  <a:pt x="57687" y="0"/>
                </a:lnTo>
                <a:lnTo>
                  <a:pt x="57687" y="26403"/>
                </a:lnTo>
                <a:lnTo>
                  <a:pt x="56529" y="26029"/>
                </a:lnTo>
                <a:lnTo>
                  <a:pt x="0" y="1696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9" name="Illustrative delivered road transport cost class 3; reference terminal Durban"/>
          <p:cNvSpPr/>
          <p:nvPr/>
        </p:nvSpPr>
        <p:spPr>
          <a:xfrm>
            <a:off x="347348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0" name="Illustrative delivered road transport cost class 3; reference terminal Durban"/>
          <p:cNvSpPr/>
          <p:nvPr/>
        </p:nvSpPr>
        <p:spPr>
          <a:xfrm>
            <a:off x="347348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1" name="Illustrative delivered road transport cost class 3; reference terminal Durban"/>
          <p:cNvSpPr/>
          <p:nvPr/>
        </p:nvSpPr>
        <p:spPr>
          <a:xfrm>
            <a:off x="347348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2" name="Illustrative delivered road transport cost class 3; reference terminal Durban"/>
          <p:cNvSpPr/>
          <p:nvPr/>
        </p:nvSpPr>
        <p:spPr>
          <a:xfrm>
            <a:off x="347348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3" name="Illustrative delivered road transport cost class None; reference terminal None"/>
          <p:cNvSpPr/>
          <p:nvPr/>
        </p:nvSpPr>
        <p:spPr>
          <a:xfrm>
            <a:off x="347348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4" name="Illustrative delivered road transport cost class None; reference terminal None"/>
          <p:cNvSpPr/>
          <p:nvPr/>
        </p:nvSpPr>
        <p:spPr>
          <a:xfrm>
            <a:off x="347348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5" name="Illustrative delivered road transport cost class 3; reference terminal Lesedi"/>
          <p:cNvSpPr/>
          <p:nvPr/>
        </p:nvSpPr>
        <p:spPr>
          <a:xfrm>
            <a:off x="347348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6" name="Illustrative delivered road transport cost class 3; reference terminal Lesedi"/>
          <p:cNvSpPr/>
          <p:nvPr/>
        </p:nvSpPr>
        <p:spPr>
          <a:xfrm>
            <a:off x="347348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7" name="Illustrative delivered road transport cost class 3; reference terminal Lesedi"/>
          <p:cNvSpPr/>
          <p:nvPr/>
        </p:nvSpPr>
        <p:spPr>
          <a:xfrm>
            <a:off x="347348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8" name="Illustrative delivered road transport cost class 3; reference terminal Lesedi"/>
          <p:cNvSpPr/>
          <p:nvPr/>
        </p:nvSpPr>
        <p:spPr>
          <a:xfrm>
            <a:off x="347348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9" name="Illustrative delivered road transport cost class 2; reference terminal Lesedi"/>
          <p:cNvSpPr/>
          <p:nvPr/>
        </p:nvSpPr>
        <p:spPr>
          <a:xfrm>
            <a:off x="347348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0" name="Illustrative delivered road transport cost class 2; reference terminal Lesedi"/>
          <p:cNvSpPr/>
          <p:nvPr/>
        </p:nvSpPr>
        <p:spPr>
          <a:xfrm>
            <a:off x="347348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1" name="Illustrative delivered road transport cost class 2; reference terminal Lesedi"/>
          <p:cNvSpPr/>
          <p:nvPr/>
        </p:nvSpPr>
        <p:spPr>
          <a:xfrm>
            <a:off x="347348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2" name="Illustrative delivered road transport cost class 2; reference terminal Lesedi"/>
          <p:cNvSpPr/>
          <p:nvPr/>
        </p:nvSpPr>
        <p:spPr>
          <a:xfrm>
            <a:off x="347348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3" name="Illustrative delivered road transport cost class 2; reference terminal Lesedi"/>
          <p:cNvSpPr/>
          <p:nvPr/>
        </p:nvSpPr>
        <p:spPr>
          <a:xfrm>
            <a:off x="347348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4" name="Illustrative delivered road transport cost class 2; reference terminal Lesedi"/>
          <p:cNvSpPr/>
          <p:nvPr/>
        </p:nvSpPr>
        <p:spPr>
          <a:xfrm>
            <a:off x="347348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5" name="Illustrative delivered road transport cost class 2; reference terminal Lesedi"/>
          <p:cNvSpPr/>
          <p:nvPr/>
        </p:nvSpPr>
        <p:spPr>
          <a:xfrm>
            <a:off x="347348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6" name="Illustrative delivered road transport cost class 2; reference terminal Lesedi"/>
          <p:cNvSpPr/>
          <p:nvPr/>
        </p:nvSpPr>
        <p:spPr>
          <a:xfrm>
            <a:off x="347348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7" name="Illustrative delivered road transport cost class 2; reference terminal Lesedi"/>
          <p:cNvSpPr/>
          <p:nvPr/>
        </p:nvSpPr>
        <p:spPr>
          <a:xfrm>
            <a:off x="347348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8" name="Illustrative delivered road transport cost class 2; reference terminal Lesedi"/>
          <p:cNvSpPr/>
          <p:nvPr/>
        </p:nvSpPr>
        <p:spPr>
          <a:xfrm>
            <a:off x="347348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9" name="Illustrative delivered road transport cost class 2; reference terminal Lesedi"/>
          <p:cNvSpPr/>
          <p:nvPr/>
        </p:nvSpPr>
        <p:spPr>
          <a:xfrm>
            <a:off x="347348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0" name="Illustrative delivered road transport cost class 2; reference terminal Lesedi"/>
          <p:cNvSpPr/>
          <p:nvPr/>
        </p:nvSpPr>
        <p:spPr>
          <a:xfrm>
            <a:off x="347348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1" name="Illustrative delivered road transport cost class 2; reference terminal Lesedi"/>
          <p:cNvSpPr/>
          <p:nvPr/>
        </p:nvSpPr>
        <p:spPr>
          <a:xfrm>
            <a:off x="347348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2" name="Illustrative delivered road transport cost class 2; reference terminal Lesedi"/>
          <p:cNvSpPr/>
          <p:nvPr/>
        </p:nvSpPr>
        <p:spPr>
          <a:xfrm>
            <a:off x="347348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3" name="Illustrative delivered road transport cost class 2; reference terminal Lesedi"/>
          <p:cNvSpPr/>
          <p:nvPr/>
        </p:nvSpPr>
        <p:spPr>
          <a:xfrm>
            <a:off x="347348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4" name="Illustrative delivered road transport cost class 2; reference terminal Lesedi"/>
          <p:cNvSpPr/>
          <p:nvPr/>
        </p:nvSpPr>
        <p:spPr>
          <a:xfrm>
            <a:off x="347348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5" name="Illustrative delivered road transport cost class 2; reference terminal Lesedi"/>
          <p:cNvSpPr/>
          <p:nvPr/>
        </p:nvSpPr>
        <p:spPr>
          <a:xfrm>
            <a:off x="347348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6" name="Illustrative delivered road transport cost class 2; reference terminal Lesedi"/>
          <p:cNvSpPr/>
          <p:nvPr/>
        </p:nvSpPr>
        <p:spPr>
          <a:xfrm>
            <a:off x="347348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7" name="Illustrative delivered road transport cost class 2; reference terminal Lesedi"/>
          <p:cNvSpPr/>
          <p:nvPr/>
        </p:nvSpPr>
        <p:spPr>
          <a:xfrm>
            <a:off x="347348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8" name="Illustrative delivered road transport cost class 2; reference terminal Lesedi"/>
          <p:cNvSpPr/>
          <p:nvPr/>
        </p:nvSpPr>
        <p:spPr>
          <a:xfrm>
            <a:off x="347348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9" name="Illustrative delivered road transport cost class 2; reference terminal Lesedi"/>
          <p:cNvSpPr/>
          <p:nvPr/>
        </p:nvSpPr>
        <p:spPr>
          <a:xfrm>
            <a:off x="347348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0" name="Illustrative delivered road transport cost class 2; reference terminal Lesedi"/>
          <p:cNvSpPr/>
          <p:nvPr/>
        </p:nvSpPr>
        <p:spPr>
          <a:xfrm>
            <a:off x="347348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1" name="Illustrative delivered road transport cost class 2; reference terminal Lesedi"/>
          <p:cNvSpPr/>
          <p:nvPr/>
        </p:nvSpPr>
        <p:spPr>
          <a:xfrm>
            <a:off x="347348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2" name="Illustrative delivered road transport cost class 2; reference terminal Lesedi"/>
          <p:cNvSpPr/>
          <p:nvPr/>
        </p:nvSpPr>
        <p:spPr>
          <a:xfrm>
            <a:off x="347348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3" name="Illustrative delivered road transport cost class None; reference terminal None"/>
          <p:cNvSpPr/>
          <p:nvPr/>
        </p:nvSpPr>
        <p:spPr>
          <a:xfrm>
            <a:off x="347348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4" name="Illustrative delivered road transport cost class None; reference terminal None"/>
          <p:cNvSpPr/>
          <p:nvPr/>
        </p:nvSpPr>
        <p:spPr>
          <a:xfrm>
            <a:off x="347348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5" name="Illustrative delivered road transport cost class None; reference terminal None"/>
          <p:cNvSpPr/>
          <p:nvPr/>
        </p:nvSpPr>
        <p:spPr>
          <a:xfrm>
            <a:off x="3473488" y="3195029"/>
            <a:ext cx="57687" cy="53427"/>
          </a:xfrm>
          <a:custGeom>
            <a:avLst/>
            <a:gdLst/>
            <a:ahLst/>
            <a:cxnLst/>
            <a:rect l="l" t="t" r="r" b="b"/>
            <a:pathLst>
              <a:path w="57687" h="53427">
                <a:moveTo>
                  <a:pt x="57687" y="53427"/>
                </a:moveTo>
                <a:lnTo>
                  <a:pt x="0" y="53427"/>
                </a:lnTo>
                <a:lnTo>
                  <a:pt x="0" y="0"/>
                </a:lnTo>
                <a:lnTo>
                  <a:pt x="23158" y="1479"/>
                </a:lnTo>
                <a:lnTo>
                  <a:pt x="43665" y="837"/>
                </a:lnTo>
                <a:lnTo>
                  <a:pt x="57687" y="13049"/>
                </a:lnTo>
                <a:lnTo>
                  <a:pt x="57687" y="5342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6" name="Illustrative delivered road transport cost class 3; reference terminal Durban"/>
          <p:cNvSpPr/>
          <p:nvPr/>
        </p:nvSpPr>
        <p:spPr>
          <a:xfrm>
            <a:off x="3531175" y="5325173"/>
            <a:ext cx="57686" cy="45016"/>
          </a:xfrm>
          <a:custGeom>
            <a:avLst/>
            <a:gdLst/>
            <a:ahLst/>
            <a:cxnLst/>
            <a:rect l="l" t="t" r="r" b="b"/>
            <a:pathLst>
              <a:path w="57686" h="45016">
                <a:moveTo>
                  <a:pt x="0" y="0"/>
                </a:moveTo>
                <a:lnTo>
                  <a:pt x="57686" y="0"/>
                </a:lnTo>
                <a:lnTo>
                  <a:pt x="57686" y="45016"/>
                </a:lnTo>
                <a:lnTo>
                  <a:pt x="0" y="26403"/>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7" name="Illustrative delivered road transport cost class 3; reference terminal Durban"/>
          <p:cNvSpPr/>
          <p:nvPr/>
        </p:nvSpPr>
        <p:spPr>
          <a:xfrm>
            <a:off x="3531175" y="526748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8" name="Illustrative delivered road transport cost class 3; reference terminal Durban"/>
          <p:cNvSpPr/>
          <p:nvPr/>
        </p:nvSpPr>
        <p:spPr>
          <a:xfrm>
            <a:off x="353117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9" name="Illustrative delivered road transport cost class 3; reference terminal Durban"/>
          <p:cNvSpPr/>
          <p:nvPr/>
        </p:nvSpPr>
        <p:spPr>
          <a:xfrm>
            <a:off x="353117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0" name="Illustrative delivered road transport cost class 3; reference terminal Durban"/>
          <p:cNvSpPr/>
          <p:nvPr/>
        </p:nvSpPr>
        <p:spPr>
          <a:xfrm>
            <a:off x="353117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1" name="Illustrative delivered road transport cost class None; reference terminal None"/>
          <p:cNvSpPr/>
          <p:nvPr/>
        </p:nvSpPr>
        <p:spPr>
          <a:xfrm>
            <a:off x="353117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2" name="Illustrative delivered road transport cost class None; reference terminal None"/>
          <p:cNvSpPr/>
          <p:nvPr/>
        </p:nvSpPr>
        <p:spPr>
          <a:xfrm>
            <a:off x="353117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3" name="Illustrative delivered road transport cost class None; reference terminal None"/>
          <p:cNvSpPr/>
          <p:nvPr/>
        </p:nvSpPr>
        <p:spPr>
          <a:xfrm>
            <a:off x="353117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4" name="Illustrative delivered road transport cost class 3; reference terminal Lesedi"/>
          <p:cNvSpPr/>
          <p:nvPr/>
        </p:nvSpPr>
        <p:spPr>
          <a:xfrm>
            <a:off x="353117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5" name="Illustrative delivered road transport cost class 3; reference terminal Lesedi"/>
          <p:cNvSpPr/>
          <p:nvPr/>
        </p:nvSpPr>
        <p:spPr>
          <a:xfrm>
            <a:off x="353117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6" name="Illustrative delivered road transport cost class 3; reference terminal Lesedi"/>
          <p:cNvSpPr/>
          <p:nvPr/>
        </p:nvSpPr>
        <p:spPr>
          <a:xfrm>
            <a:off x="353117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7" name="Illustrative delivered road transport cost class 2; reference terminal Lesedi"/>
          <p:cNvSpPr/>
          <p:nvPr/>
        </p:nvSpPr>
        <p:spPr>
          <a:xfrm>
            <a:off x="353117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8" name="Illustrative delivered road transport cost class 2; reference terminal Lesedi"/>
          <p:cNvSpPr/>
          <p:nvPr/>
        </p:nvSpPr>
        <p:spPr>
          <a:xfrm>
            <a:off x="353117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9" name="Illustrative delivered road transport cost class 2; reference terminal Lesedi"/>
          <p:cNvSpPr/>
          <p:nvPr/>
        </p:nvSpPr>
        <p:spPr>
          <a:xfrm>
            <a:off x="353117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0" name="Illustrative delivered road transport cost class 2; reference terminal Lesedi"/>
          <p:cNvSpPr/>
          <p:nvPr/>
        </p:nvSpPr>
        <p:spPr>
          <a:xfrm>
            <a:off x="353117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1" name="Illustrative delivered road transport cost class 2; reference terminal Lesedi"/>
          <p:cNvSpPr/>
          <p:nvPr/>
        </p:nvSpPr>
        <p:spPr>
          <a:xfrm>
            <a:off x="353117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2" name="Illustrative delivered road transport cost class 2; reference terminal Lesedi"/>
          <p:cNvSpPr/>
          <p:nvPr/>
        </p:nvSpPr>
        <p:spPr>
          <a:xfrm>
            <a:off x="353117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3" name="Illustrative delivered road transport cost class 2; reference terminal Lesedi"/>
          <p:cNvSpPr/>
          <p:nvPr/>
        </p:nvSpPr>
        <p:spPr>
          <a:xfrm>
            <a:off x="353117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4" name="Illustrative delivered road transport cost class 2; reference terminal Lesedi"/>
          <p:cNvSpPr/>
          <p:nvPr/>
        </p:nvSpPr>
        <p:spPr>
          <a:xfrm>
            <a:off x="353117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5" name="Illustrative delivered road transport cost class 2; reference terminal Lesedi"/>
          <p:cNvSpPr/>
          <p:nvPr/>
        </p:nvSpPr>
        <p:spPr>
          <a:xfrm>
            <a:off x="353117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6" name="Illustrative delivered road transport cost class 2; reference terminal Lesedi"/>
          <p:cNvSpPr/>
          <p:nvPr/>
        </p:nvSpPr>
        <p:spPr>
          <a:xfrm>
            <a:off x="353117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7" name="Illustrative delivered road transport cost class 2; reference terminal Lesedi"/>
          <p:cNvSpPr/>
          <p:nvPr/>
        </p:nvSpPr>
        <p:spPr>
          <a:xfrm>
            <a:off x="353117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8" name="Illustrative delivered road transport cost class 1; reference terminal Lesedi"/>
          <p:cNvSpPr/>
          <p:nvPr/>
        </p:nvSpPr>
        <p:spPr>
          <a:xfrm>
            <a:off x="353117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9" name="Illustrative delivered road transport cost class 1; reference terminal Lesedi"/>
          <p:cNvSpPr/>
          <p:nvPr/>
        </p:nvSpPr>
        <p:spPr>
          <a:xfrm>
            <a:off x="353117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0" name="Illustrative delivered road transport cost class 1; reference terminal Lesedi"/>
          <p:cNvSpPr/>
          <p:nvPr/>
        </p:nvSpPr>
        <p:spPr>
          <a:xfrm>
            <a:off x="353117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1" name="Illustrative delivered road transport cost class 1; reference terminal Lesedi"/>
          <p:cNvSpPr/>
          <p:nvPr/>
        </p:nvSpPr>
        <p:spPr>
          <a:xfrm>
            <a:off x="353117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2" name="Illustrative delivered road transport cost class 1; reference terminal Lesedi"/>
          <p:cNvSpPr/>
          <p:nvPr/>
        </p:nvSpPr>
        <p:spPr>
          <a:xfrm>
            <a:off x="353117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3" name="Illustrative delivered road transport cost class 1; reference terminal Lesedi"/>
          <p:cNvSpPr/>
          <p:nvPr/>
        </p:nvSpPr>
        <p:spPr>
          <a:xfrm>
            <a:off x="353117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4" name="Illustrative delivered road transport cost class 1; reference terminal Lesedi"/>
          <p:cNvSpPr/>
          <p:nvPr/>
        </p:nvSpPr>
        <p:spPr>
          <a:xfrm>
            <a:off x="353117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5" name="Illustrative delivered road transport cost class 2; reference terminal Lesedi"/>
          <p:cNvSpPr/>
          <p:nvPr/>
        </p:nvSpPr>
        <p:spPr>
          <a:xfrm>
            <a:off x="353117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6" name="Illustrative delivered road transport cost class 2; reference terminal Lesedi"/>
          <p:cNvSpPr/>
          <p:nvPr/>
        </p:nvSpPr>
        <p:spPr>
          <a:xfrm>
            <a:off x="353117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7" name="Illustrative delivered road transport cost class 2; reference terminal Lesedi"/>
          <p:cNvSpPr/>
          <p:nvPr/>
        </p:nvSpPr>
        <p:spPr>
          <a:xfrm>
            <a:off x="353117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8" name="Illustrative delivered road transport cost class 2; reference terminal Lesedi"/>
          <p:cNvSpPr/>
          <p:nvPr/>
        </p:nvSpPr>
        <p:spPr>
          <a:xfrm>
            <a:off x="353117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9" name="Illustrative delivered road transport cost class 2; reference terminal Lesedi"/>
          <p:cNvSpPr/>
          <p:nvPr/>
        </p:nvSpPr>
        <p:spPr>
          <a:xfrm>
            <a:off x="353117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0" name="Illustrative delivered road transport cost class 2; reference terminal Lesedi"/>
          <p:cNvSpPr/>
          <p:nvPr/>
        </p:nvSpPr>
        <p:spPr>
          <a:xfrm>
            <a:off x="353117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1" name="Illustrative delivered road transport cost class 2; reference terminal Lesedi"/>
          <p:cNvSpPr/>
          <p:nvPr/>
        </p:nvSpPr>
        <p:spPr>
          <a:xfrm>
            <a:off x="353117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2" name="Illustrative delivered road transport cost class 3; reference terminal Lesedi"/>
          <p:cNvSpPr/>
          <p:nvPr/>
        </p:nvSpPr>
        <p:spPr>
          <a:xfrm>
            <a:off x="353117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3" name="Illustrative delivered road transport cost class None; reference terminal None"/>
          <p:cNvSpPr/>
          <p:nvPr/>
        </p:nvSpPr>
        <p:spPr>
          <a:xfrm>
            <a:off x="3531175" y="3208078"/>
            <a:ext cx="57686" cy="40378"/>
          </a:xfrm>
          <a:custGeom>
            <a:avLst/>
            <a:gdLst/>
            <a:ahLst/>
            <a:cxnLst/>
            <a:rect l="l" t="t" r="r" b="b"/>
            <a:pathLst>
              <a:path w="57686" h="40378">
                <a:moveTo>
                  <a:pt x="57686" y="40378"/>
                </a:moveTo>
                <a:lnTo>
                  <a:pt x="0" y="40378"/>
                </a:lnTo>
                <a:lnTo>
                  <a:pt x="0" y="0"/>
                </a:lnTo>
                <a:lnTo>
                  <a:pt x="18020" y="15694"/>
                </a:lnTo>
                <a:lnTo>
                  <a:pt x="34154" y="17382"/>
                </a:lnTo>
                <a:lnTo>
                  <a:pt x="57686" y="22831"/>
                </a:lnTo>
                <a:lnTo>
                  <a:pt x="57686" y="4037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4" name="Illustrative delivered road transport cost class 3; reference terminal Durban"/>
          <p:cNvSpPr/>
          <p:nvPr/>
        </p:nvSpPr>
        <p:spPr>
          <a:xfrm>
            <a:off x="3588861" y="5325173"/>
            <a:ext cx="57687" cy="54447"/>
          </a:xfrm>
          <a:custGeom>
            <a:avLst/>
            <a:gdLst/>
            <a:ahLst/>
            <a:cxnLst/>
            <a:rect l="l" t="t" r="r" b="b"/>
            <a:pathLst>
              <a:path w="57687" h="54447">
                <a:moveTo>
                  <a:pt x="0" y="0"/>
                </a:moveTo>
                <a:lnTo>
                  <a:pt x="57687" y="0"/>
                </a:lnTo>
                <a:lnTo>
                  <a:pt x="57687" y="53554"/>
                </a:lnTo>
                <a:lnTo>
                  <a:pt x="29228" y="54447"/>
                </a:lnTo>
                <a:lnTo>
                  <a:pt x="0" y="45016"/>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5" name="Illustrative delivered road transport cost class 3; reference terminal Durban"/>
          <p:cNvSpPr/>
          <p:nvPr/>
        </p:nvSpPr>
        <p:spPr>
          <a:xfrm>
            <a:off x="358886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6" name="Illustrative delivered road transport cost class 3; reference terminal Durban"/>
          <p:cNvSpPr/>
          <p:nvPr/>
        </p:nvSpPr>
        <p:spPr>
          <a:xfrm>
            <a:off x="358886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7" name="Illustrative delivered road transport cost class 3; reference terminal Durban"/>
          <p:cNvSpPr/>
          <p:nvPr/>
        </p:nvSpPr>
        <p:spPr>
          <a:xfrm>
            <a:off x="358886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8" name="Illustrative delivered road transport cost class 3; reference terminal Durban"/>
          <p:cNvSpPr/>
          <p:nvPr/>
        </p:nvSpPr>
        <p:spPr>
          <a:xfrm>
            <a:off x="358886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9" name="Illustrative delivered road transport cost class 4; reference terminal Lesedi"/>
          <p:cNvSpPr/>
          <p:nvPr/>
        </p:nvSpPr>
        <p:spPr>
          <a:xfrm>
            <a:off x="358886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DDE6F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0" name="Illustrative delivered road transport cost class 3; reference terminal Lesedi"/>
          <p:cNvSpPr/>
          <p:nvPr/>
        </p:nvSpPr>
        <p:spPr>
          <a:xfrm>
            <a:off x="358886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1" name="Illustrative delivered road transport cost class 3; reference terminal Lesedi"/>
          <p:cNvSpPr/>
          <p:nvPr/>
        </p:nvSpPr>
        <p:spPr>
          <a:xfrm>
            <a:off x="358886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2" name="Illustrative delivered road transport cost class 3; reference terminal Lesedi"/>
          <p:cNvSpPr/>
          <p:nvPr/>
        </p:nvSpPr>
        <p:spPr>
          <a:xfrm>
            <a:off x="358886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3" name="Illustrative delivered road transport cost class 3; reference terminal Lesedi"/>
          <p:cNvSpPr/>
          <p:nvPr/>
        </p:nvSpPr>
        <p:spPr>
          <a:xfrm>
            <a:off x="358886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4" name="Illustrative delivered road transport cost class 3; reference terminal Lesedi"/>
          <p:cNvSpPr/>
          <p:nvPr/>
        </p:nvSpPr>
        <p:spPr>
          <a:xfrm>
            <a:off x="358886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5" name="Illustrative delivered road transport cost class 2; reference terminal Lesedi"/>
          <p:cNvSpPr/>
          <p:nvPr/>
        </p:nvSpPr>
        <p:spPr>
          <a:xfrm>
            <a:off x="358886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6" name="Illustrative delivered road transport cost class 2; reference terminal Lesedi"/>
          <p:cNvSpPr/>
          <p:nvPr/>
        </p:nvSpPr>
        <p:spPr>
          <a:xfrm>
            <a:off x="358886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7" name="Illustrative delivered road transport cost class 2; reference terminal Lesedi"/>
          <p:cNvSpPr/>
          <p:nvPr/>
        </p:nvSpPr>
        <p:spPr>
          <a:xfrm>
            <a:off x="358886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8" name="Illustrative delivered road transport cost class 2; reference terminal Lesedi"/>
          <p:cNvSpPr/>
          <p:nvPr/>
        </p:nvSpPr>
        <p:spPr>
          <a:xfrm>
            <a:off x="358886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9" name="Illustrative delivered road transport cost class 2; reference terminal Lesedi"/>
          <p:cNvSpPr/>
          <p:nvPr/>
        </p:nvSpPr>
        <p:spPr>
          <a:xfrm>
            <a:off x="358886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0" name="Illustrative delivered road transport cost class 2; reference terminal Lesedi"/>
          <p:cNvSpPr/>
          <p:nvPr/>
        </p:nvSpPr>
        <p:spPr>
          <a:xfrm>
            <a:off x="358886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1" name="Illustrative delivered road transport cost class 2; reference terminal Lesedi"/>
          <p:cNvSpPr/>
          <p:nvPr/>
        </p:nvSpPr>
        <p:spPr>
          <a:xfrm>
            <a:off x="358886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2" name="Illustrative delivered road transport cost class 2; reference terminal Lesedi"/>
          <p:cNvSpPr/>
          <p:nvPr/>
        </p:nvSpPr>
        <p:spPr>
          <a:xfrm>
            <a:off x="358886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3" name="Illustrative delivered road transport cost class 2; reference terminal Lesedi"/>
          <p:cNvSpPr/>
          <p:nvPr/>
        </p:nvSpPr>
        <p:spPr>
          <a:xfrm>
            <a:off x="358886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4" name="Illustrative delivered road transport cost class 2; reference terminal Lesedi"/>
          <p:cNvSpPr/>
          <p:nvPr/>
        </p:nvSpPr>
        <p:spPr>
          <a:xfrm>
            <a:off x="358886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5" name="Illustrative delivered road transport cost class 2; reference terminal Lesedi"/>
          <p:cNvSpPr/>
          <p:nvPr/>
        </p:nvSpPr>
        <p:spPr>
          <a:xfrm>
            <a:off x="358886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6" name="Illustrative delivered road transport cost class 1; reference terminal Lesedi"/>
          <p:cNvSpPr/>
          <p:nvPr/>
        </p:nvSpPr>
        <p:spPr>
          <a:xfrm>
            <a:off x="358886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7" name="Illustrative delivered road transport cost class 1; reference terminal Lesedi"/>
          <p:cNvSpPr/>
          <p:nvPr/>
        </p:nvSpPr>
        <p:spPr>
          <a:xfrm>
            <a:off x="358886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8" name="Illustrative delivered road transport cost class 1; reference terminal Lesedi"/>
          <p:cNvSpPr/>
          <p:nvPr/>
        </p:nvSpPr>
        <p:spPr>
          <a:xfrm>
            <a:off x="358886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9" name="Illustrative delivered road transport cost class 1; reference terminal Lesedi"/>
          <p:cNvSpPr/>
          <p:nvPr/>
        </p:nvSpPr>
        <p:spPr>
          <a:xfrm>
            <a:off x="358886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0" name="Illustrative delivered road transport cost class 1; reference terminal Lesedi"/>
          <p:cNvSpPr/>
          <p:nvPr/>
        </p:nvSpPr>
        <p:spPr>
          <a:xfrm>
            <a:off x="358886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1" name="Illustrative delivered road transport cost class 1; reference terminal Lesedi"/>
          <p:cNvSpPr/>
          <p:nvPr/>
        </p:nvSpPr>
        <p:spPr>
          <a:xfrm>
            <a:off x="358886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2" name="Illustrative delivered road transport cost class 1; reference terminal Lesedi"/>
          <p:cNvSpPr/>
          <p:nvPr/>
        </p:nvSpPr>
        <p:spPr>
          <a:xfrm>
            <a:off x="358886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3" name="Illustrative delivered road transport cost class 1; reference terminal Lesedi"/>
          <p:cNvSpPr/>
          <p:nvPr/>
        </p:nvSpPr>
        <p:spPr>
          <a:xfrm>
            <a:off x="358886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4" name="Illustrative delivered road transport cost class 2; reference terminal Lesedi"/>
          <p:cNvSpPr/>
          <p:nvPr/>
        </p:nvSpPr>
        <p:spPr>
          <a:xfrm>
            <a:off x="358886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5" name="Illustrative delivered road transport cost class 2; reference terminal Lesedi"/>
          <p:cNvSpPr/>
          <p:nvPr/>
        </p:nvSpPr>
        <p:spPr>
          <a:xfrm>
            <a:off x="358886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6" name="Illustrative delivered road transport cost class 2; reference terminal Lesedi"/>
          <p:cNvSpPr/>
          <p:nvPr/>
        </p:nvSpPr>
        <p:spPr>
          <a:xfrm>
            <a:off x="358886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7" name="Illustrative delivered road transport cost class 2; reference terminal Lesedi"/>
          <p:cNvSpPr/>
          <p:nvPr/>
        </p:nvSpPr>
        <p:spPr>
          <a:xfrm>
            <a:off x="358886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8" name="Illustrative delivered road transport cost class 2; reference terminal Lesedi"/>
          <p:cNvSpPr/>
          <p:nvPr/>
        </p:nvSpPr>
        <p:spPr>
          <a:xfrm>
            <a:off x="358886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9" name="Illustrative delivered road transport cost class 2; reference terminal Lesedi"/>
          <p:cNvSpPr/>
          <p:nvPr/>
        </p:nvSpPr>
        <p:spPr>
          <a:xfrm>
            <a:off x="358886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0" name="Illustrative delivered road transport cost class 3; reference terminal Lesedi"/>
          <p:cNvSpPr/>
          <p:nvPr/>
        </p:nvSpPr>
        <p:spPr>
          <a:xfrm>
            <a:off x="358886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1" name="Illustrative delivered road transport cost class 3; reference terminal Lesedi"/>
          <p:cNvSpPr/>
          <p:nvPr/>
        </p:nvSpPr>
        <p:spPr>
          <a:xfrm>
            <a:off x="3588861" y="3230909"/>
            <a:ext cx="57687" cy="17547"/>
          </a:xfrm>
          <a:custGeom>
            <a:avLst/>
            <a:gdLst/>
            <a:ahLst/>
            <a:cxnLst/>
            <a:rect l="l" t="t" r="r" b="b"/>
            <a:pathLst>
              <a:path w="57687" h="17547">
                <a:moveTo>
                  <a:pt x="57687" y="17547"/>
                </a:moveTo>
                <a:lnTo>
                  <a:pt x="0" y="17547"/>
                </a:lnTo>
                <a:lnTo>
                  <a:pt x="0" y="0"/>
                </a:lnTo>
                <a:lnTo>
                  <a:pt x="12547" y="2906"/>
                </a:lnTo>
                <a:lnTo>
                  <a:pt x="57082" y="11538"/>
                </a:lnTo>
                <a:lnTo>
                  <a:pt x="57687" y="11516"/>
                </a:lnTo>
                <a:lnTo>
                  <a:pt x="57687" y="1754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2" name="Illustrative delivered road transport cost class 3; reference terminal Durban"/>
          <p:cNvSpPr/>
          <p:nvPr/>
        </p:nvSpPr>
        <p:spPr>
          <a:xfrm>
            <a:off x="3646548" y="5325173"/>
            <a:ext cx="57687" cy="53554"/>
          </a:xfrm>
          <a:custGeom>
            <a:avLst/>
            <a:gdLst/>
            <a:ahLst/>
            <a:cxnLst/>
            <a:rect l="l" t="t" r="r" b="b"/>
            <a:pathLst>
              <a:path w="57687" h="53554">
                <a:moveTo>
                  <a:pt x="0" y="0"/>
                </a:moveTo>
                <a:lnTo>
                  <a:pt x="57687" y="0"/>
                </a:lnTo>
                <a:lnTo>
                  <a:pt x="57687" y="3597"/>
                </a:lnTo>
                <a:lnTo>
                  <a:pt x="37549" y="24965"/>
                </a:lnTo>
                <a:lnTo>
                  <a:pt x="20872" y="52899"/>
                </a:lnTo>
                <a:lnTo>
                  <a:pt x="0" y="53554"/>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3" name="Illustrative delivered road transport cost class 3; reference terminal Durban"/>
          <p:cNvSpPr/>
          <p:nvPr/>
        </p:nvSpPr>
        <p:spPr>
          <a:xfrm>
            <a:off x="3646548"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4" name="Illustrative delivered road transport cost class 3; reference terminal Durban"/>
          <p:cNvSpPr/>
          <p:nvPr/>
        </p:nvSpPr>
        <p:spPr>
          <a:xfrm>
            <a:off x="3646548"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5" name="Illustrative delivered road transport cost class 3; reference terminal Durban"/>
          <p:cNvSpPr/>
          <p:nvPr/>
        </p:nvSpPr>
        <p:spPr>
          <a:xfrm>
            <a:off x="3646548"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6" name="Illustrative delivered road transport cost class 3; reference terminal Durban"/>
          <p:cNvSpPr/>
          <p:nvPr/>
        </p:nvSpPr>
        <p:spPr>
          <a:xfrm>
            <a:off x="3646548"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7" name="Illustrative delivered road transport cost class 3; reference terminal Lesedi"/>
          <p:cNvSpPr/>
          <p:nvPr/>
        </p:nvSpPr>
        <p:spPr>
          <a:xfrm>
            <a:off x="3646548"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8" name="Illustrative delivered road transport cost class 3; reference terminal Lesedi"/>
          <p:cNvSpPr/>
          <p:nvPr/>
        </p:nvSpPr>
        <p:spPr>
          <a:xfrm>
            <a:off x="3646548"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9" name="Illustrative delivered road transport cost class 3; reference terminal Lesedi"/>
          <p:cNvSpPr/>
          <p:nvPr/>
        </p:nvSpPr>
        <p:spPr>
          <a:xfrm>
            <a:off x="3646548"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0" name="Illustrative delivered road transport cost class 3; reference terminal Lesedi"/>
          <p:cNvSpPr/>
          <p:nvPr/>
        </p:nvSpPr>
        <p:spPr>
          <a:xfrm>
            <a:off x="3646548"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1" name="Illustrative delivered road transport cost class 3; reference terminal Lesedi"/>
          <p:cNvSpPr/>
          <p:nvPr/>
        </p:nvSpPr>
        <p:spPr>
          <a:xfrm>
            <a:off x="3646548"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2" name="Illustrative delivered road transport cost class 3; reference terminal Lesedi"/>
          <p:cNvSpPr/>
          <p:nvPr/>
        </p:nvSpPr>
        <p:spPr>
          <a:xfrm>
            <a:off x="3646548"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3" name="Illustrative delivered road transport cost class 2; reference terminal Lesedi"/>
          <p:cNvSpPr/>
          <p:nvPr/>
        </p:nvSpPr>
        <p:spPr>
          <a:xfrm>
            <a:off x="3646548"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4" name="Illustrative delivered road transport cost class 2; reference terminal Lesedi"/>
          <p:cNvSpPr/>
          <p:nvPr/>
        </p:nvSpPr>
        <p:spPr>
          <a:xfrm>
            <a:off x="3646548"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5" name="Illustrative delivered road transport cost class 2; reference terminal Lesedi"/>
          <p:cNvSpPr/>
          <p:nvPr/>
        </p:nvSpPr>
        <p:spPr>
          <a:xfrm>
            <a:off x="3646548"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6" name="Illustrative delivered road transport cost class 2; reference terminal Lesedi"/>
          <p:cNvSpPr/>
          <p:nvPr/>
        </p:nvSpPr>
        <p:spPr>
          <a:xfrm>
            <a:off x="3646548"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7" name="Illustrative delivered road transport cost class 2; reference terminal Lesedi"/>
          <p:cNvSpPr/>
          <p:nvPr/>
        </p:nvSpPr>
        <p:spPr>
          <a:xfrm>
            <a:off x="3646548"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8" name="Illustrative delivered road transport cost class 2; reference terminal Lesedi"/>
          <p:cNvSpPr/>
          <p:nvPr/>
        </p:nvSpPr>
        <p:spPr>
          <a:xfrm>
            <a:off x="3646548"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9" name="Illustrative delivered road transport cost class 2; reference terminal Lesedi"/>
          <p:cNvSpPr/>
          <p:nvPr/>
        </p:nvSpPr>
        <p:spPr>
          <a:xfrm>
            <a:off x="3646548"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0" name="Illustrative delivered road transport cost class 2; reference terminal Lesedi"/>
          <p:cNvSpPr/>
          <p:nvPr/>
        </p:nvSpPr>
        <p:spPr>
          <a:xfrm>
            <a:off x="3646548"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1" name="Illustrative delivered road transport cost class 2; reference terminal Lesedi"/>
          <p:cNvSpPr/>
          <p:nvPr/>
        </p:nvSpPr>
        <p:spPr>
          <a:xfrm>
            <a:off x="3646548"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2" name="Illustrative delivered road transport cost class 2; reference terminal Lesedi"/>
          <p:cNvSpPr/>
          <p:nvPr/>
        </p:nvSpPr>
        <p:spPr>
          <a:xfrm>
            <a:off x="3646548"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3" name="Illustrative delivered road transport cost class 2; reference terminal Lesedi"/>
          <p:cNvSpPr/>
          <p:nvPr/>
        </p:nvSpPr>
        <p:spPr>
          <a:xfrm>
            <a:off x="3646548"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4" name="Illustrative delivered road transport cost class 1; reference terminal Lesedi"/>
          <p:cNvSpPr/>
          <p:nvPr/>
        </p:nvSpPr>
        <p:spPr>
          <a:xfrm>
            <a:off x="3646548"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5" name="Illustrative delivered road transport cost class 1; reference terminal Lesedi"/>
          <p:cNvSpPr/>
          <p:nvPr/>
        </p:nvSpPr>
        <p:spPr>
          <a:xfrm>
            <a:off x="3646548"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6" name="Illustrative delivered road transport cost class 1; reference terminal Lesedi"/>
          <p:cNvSpPr/>
          <p:nvPr/>
        </p:nvSpPr>
        <p:spPr>
          <a:xfrm>
            <a:off x="3646548"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7" name="Illustrative delivered road transport cost class 1; reference terminal Lesedi"/>
          <p:cNvSpPr/>
          <p:nvPr/>
        </p:nvSpPr>
        <p:spPr>
          <a:xfrm>
            <a:off x="3646548"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8" name="Illustrative delivered road transport cost class 1; reference terminal Lesedi"/>
          <p:cNvSpPr/>
          <p:nvPr/>
        </p:nvSpPr>
        <p:spPr>
          <a:xfrm>
            <a:off x="3646548"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9" name="Illustrative delivered road transport cost class 1; reference terminal Lesedi"/>
          <p:cNvSpPr/>
          <p:nvPr/>
        </p:nvSpPr>
        <p:spPr>
          <a:xfrm>
            <a:off x="3646548"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0" name="Illustrative delivered road transport cost class 1; reference terminal Lesedi"/>
          <p:cNvSpPr/>
          <p:nvPr/>
        </p:nvSpPr>
        <p:spPr>
          <a:xfrm>
            <a:off x="3646548"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1" name="Illustrative delivered road transport cost class 1; reference terminal Lesedi"/>
          <p:cNvSpPr/>
          <p:nvPr/>
        </p:nvSpPr>
        <p:spPr>
          <a:xfrm>
            <a:off x="3646548"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2" name="Illustrative delivered road transport cost class 1; reference terminal Lesedi"/>
          <p:cNvSpPr/>
          <p:nvPr/>
        </p:nvSpPr>
        <p:spPr>
          <a:xfrm>
            <a:off x="3646548"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3" name="Illustrative delivered road transport cost class 1; reference terminal Lesedi"/>
          <p:cNvSpPr/>
          <p:nvPr/>
        </p:nvSpPr>
        <p:spPr>
          <a:xfrm>
            <a:off x="3646548"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4" name="Illustrative delivered road transport cost class 2; reference terminal Lesedi"/>
          <p:cNvSpPr/>
          <p:nvPr/>
        </p:nvSpPr>
        <p:spPr>
          <a:xfrm>
            <a:off x="3646548"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5" name="Illustrative delivered road transport cost class 2; reference terminal Lesedi"/>
          <p:cNvSpPr/>
          <p:nvPr/>
        </p:nvSpPr>
        <p:spPr>
          <a:xfrm>
            <a:off x="3646548"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6" name="Illustrative delivered road transport cost class 2; reference terminal Lesedi"/>
          <p:cNvSpPr/>
          <p:nvPr/>
        </p:nvSpPr>
        <p:spPr>
          <a:xfrm>
            <a:off x="3646548"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7" name="Illustrative delivered road transport cost class 2; reference terminal Lesedi"/>
          <p:cNvSpPr/>
          <p:nvPr/>
        </p:nvSpPr>
        <p:spPr>
          <a:xfrm>
            <a:off x="3646548"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8" name="Illustrative delivered road transport cost class 3; reference terminal Lesedi"/>
          <p:cNvSpPr/>
          <p:nvPr/>
        </p:nvSpPr>
        <p:spPr>
          <a:xfrm>
            <a:off x="3646548"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9" name="Illustrative delivered road transport cost class 1; reference terminal Lesedi"/>
          <p:cNvSpPr/>
          <p:nvPr/>
        </p:nvSpPr>
        <p:spPr>
          <a:xfrm>
            <a:off x="3646548" y="3226184"/>
            <a:ext cx="57687" cy="22272"/>
          </a:xfrm>
          <a:custGeom>
            <a:avLst/>
            <a:gdLst/>
            <a:ahLst/>
            <a:cxnLst/>
            <a:rect l="l" t="t" r="r" b="b"/>
            <a:pathLst>
              <a:path w="57687" h="22272">
                <a:moveTo>
                  <a:pt x="57687" y="22272"/>
                </a:moveTo>
                <a:lnTo>
                  <a:pt x="0" y="22272"/>
                </a:lnTo>
                <a:lnTo>
                  <a:pt x="0" y="16241"/>
                </a:lnTo>
                <a:lnTo>
                  <a:pt x="27421" y="15221"/>
                </a:lnTo>
                <a:lnTo>
                  <a:pt x="57438" y="7"/>
                </a:lnTo>
                <a:lnTo>
                  <a:pt x="57687" y="0"/>
                </a:lnTo>
                <a:lnTo>
                  <a:pt x="57687" y="2227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0" name="Illustrative delivered road transport cost class 3; reference terminal Durban"/>
          <p:cNvSpPr/>
          <p:nvPr/>
        </p:nvSpPr>
        <p:spPr>
          <a:xfrm>
            <a:off x="3741731" y="5325173"/>
            <a:ext cx="20190" cy="5362"/>
          </a:xfrm>
          <a:custGeom>
            <a:avLst/>
            <a:gdLst/>
            <a:ahLst/>
            <a:cxnLst/>
            <a:rect l="l" t="t" r="r" b="b"/>
            <a:pathLst>
              <a:path w="20190" h="5362">
                <a:moveTo>
                  <a:pt x="20190" y="0"/>
                </a:moveTo>
                <a:lnTo>
                  <a:pt x="20190" y="5362"/>
                </a:lnTo>
                <a:lnTo>
                  <a:pt x="0" y="0"/>
                </a:lnTo>
                <a:lnTo>
                  <a:pt x="2019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1" name="Illustrative delivered road transport cost class 3; reference terminal Durban"/>
          <p:cNvSpPr/>
          <p:nvPr/>
        </p:nvSpPr>
        <p:spPr>
          <a:xfrm>
            <a:off x="3704235" y="5325173"/>
            <a:ext cx="32586" cy="3597"/>
          </a:xfrm>
          <a:custGeom>
            <a:avLst/>
            <a:gdLst/>
            <a:ahLst/>
            <a:cxnLst/>
            <a:rect l="l" t="t" r="r" b="b"/>
            <a:pathLst>
              <a:path w="32586" h="3597">
                <a:moveTo>
                  <a:pt x="0" y="0"/>
                </a:moveTo>
                <a:lnTo>
                  <a:pt x="32586" y="0"/>
                </a:lnTo>
                <a:lnTo>
                  <a:pt x="625" y="2934"/>
                </a:lnTo>
                <a:lnTo>
                  <a:pt x="0" y="3597"/>
                </a:lnTo>
                <a:lnTo>
                  <a:pt x="0" y="0"/>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2" name="Illustrative delivered road transport cost class 3; reference terminal Durban"/>
          <p:cNvSpPr/>
          <p:nvPr/>
        </p:nvSpPr>
        <p:spPr>
          <a:xfrm>
            <a:off x="3704235" y="5267486"/>
            <a:ext cx="57686" cy="57687"/>
          </a:xfrm>
          <a:custGeom>
            <a:avLst/>
            <a:gdLst/>
            <a:ahLst/>
            <a:cxnLst/>
            <a:rect l="l" t="t" r="r" b="b"/>
            <a:pathLst>
              <a:path w="57686" h="57687">
                <a:moveTo>
                  <a:pt x="0" y="57687"/>
                </a:moveTo>
                <a:lnTo>
                  <a:pt x="0" y="0"/>
                </a:lnTo>
                <a:lnTo>
                  <a:pt x="57686" y="0"/>
                </a:lnTo>
                <a:lnTo>
                  <a:pt x="57686" y="57687"/>
                </a:lnTo>
                <a:lnTo>
                  <a:pt x="37496" y="57687"/>
                </a:lnTo>
                <a:lnTo>
                  <a:pt x="36235" y="57352"/>
                </a:lnTo>
                <a:lnTo>
                  <a:pt x="325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3" name="Illustrative delivered road transport cost class 3; reference terminal Durban"/>
          <p:cNvSpPr/>
          <p:nvPr/>
        </p:nvSpPr>
        <p:spPr>
          <a:xfrm>
            <a:off x="3704235"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4" name="Illustrative delivered road transport cost class 3; reference terminal Durban"/>
          <p:cNvSpPr/>
          <p:nvPr/>
        </p:nvSpPr>
        <p:spPr>
          <a:xfrm>
            <a:off x="3704235"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5" name="Illustrative delivered road transport cost class 3; reference terminal Durban"/>
          <p:cNvSpPr/>
          <p:nvPr/>
        </p:nvSpPr>
        <p:spPr>
          <a:xfrm>
            <a:off x="3704235"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6" name="Illustrative delivered road transport cost class 3; reference terminal Lesedi"/>
          <p:cNvSpPr/>
          <p:nvPr/>
        </p:nvSpPr>
        <p:spPr>
          <a:xfrm>
            <a:off x="3704235"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7" name="Illustrative delivered road transport cost class 3; reference terminal Lesedi"/>
          <p:cNvSpPr/>
          <p:nvPr/>
        </p:nvSpPr>
        <p:spPr>
          <a:xfrm>
            <a:off x="3704235"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8" name="Illustrative delivered road transport cost class 3; reference terminal Lesedi"/>
          <p:cNvSpPr/>
          <p:nvPr/>
        </p:nvSpPr>
        <p:spPr>
          <a:xfrm>
            <a:off x="3704235"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9" name="Illustrative delivered road transport cost class 3; reference terminal Lesedi"/>
          <p:cNvSpPr/>
          <p:nvPr/>
        </p:nvSpPr>
        <p:spPr>
          <a:xfrm>
            <a:off x="3704235"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0" name="Illustrative delivered road transport cost class 3; reference terminal Lesedi"/>
          <p:cNvSpPr/>
          <p:nvPr/>
        </p:nvSpPr>
        <p:spPr>
          <a:xfrm>
            <a:off x="3704235"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1" name="Illustrative delivered road transport cost class 2; reference terminal Lesedi"/>
          <p:cNvSpPr/>
          <p:nvPr/>
        </p:nvSpPr>
        <p:spPr>
          <a:xfrm>
            <a:off x="3704235"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2" name="Illustrative delivered road transport cost class 2; reference terminal Lesedi"/>
          <p:cNvSpPr/>
          <p:nvPr/>
        </p:nvSpPr>
        <p:spPr>
          <a:xfrm>
            <a:off x="3704235"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3" name="Illustrative delivered road transport cost class 2; reference terminal Lesedi"/>
          <p:cNvSpPr/>
          <p:nvPr/>
        </p:nvSpPr>
        <p:spPr>
          <a:xfrm>
            <a:off x="3704235"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4" name="Illustrative delivered road transport cost class 2; reference terminal Lesedi"/>
          <p:cNvSpPr/>
          <p:nvPr/>
        </p:nvSpPr>
        <p:spPr>
          <a:xfrm>
            <a:off x="3704235"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5" name="Illustrative delivered road transport cost class 2; reference terminal Lesedi"/>
          <p:cNvSpPr/>
          <p:nvPr/>
        </p:nvSpPr>
        <p:spPr>
          <a:xfrm>
            <a:off x="3704235"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6" name="Illustrative delivered road transport cost class 2; reference terminal Lesedi"/>
          <p:cNvSpPr/>
          <p:nvPr/>
        </p:nvSpPr>
        <p:spPr>
          <a:xfrm>
            <a:off x="3704235"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7" name="Illustrative delivered road transport cost class 2; reference terminal Lesedi"/>
          <p:cNvSpPr/>
          <p:nvPr/>
        </p:nvSpPr>
        <p:spPr>
          <a:xfrm>
            <a:off x="3704235"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8" name="Illustrative delivered road transport cost class 2; reference terminal Lesedi"/>
          <p:cNvSpPr/>
          <p:nvPr/>
        </p:nvSpPr>
        <p:spPr>
          <a:xfrm>
            <a:off x="3704235"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9" name="Illustrative delivered road transport cost class 2; reference terminal Lesedi"/>
          <p:cNvSpPr/>
          <p:nvPr/>
        </p:nvSpPr>
        <p:spPr>
          <a:xfrm>
            <a:off x="3704235"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0" name="Illustrative delivered road transport cost class 2; reference terminal Lesedi"/>
          <p:cNvSpPr/>
          <p:nvPr/>
        </p:nvSpPr>
        <p:spPr>
          <a:xfrm>
            <a:off x="3704235"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1" name="Illustrative delivered road transport cost class 2; reference terminal Lesedi"/>
          <p:cNvSpPr/>
          <p:nvPr/>
        </p:nvSpPr>
        <p:spPr>
          <a:xfrm>
            <a:off x="3704235"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2" name="Illustrative delivered road transport cost class 2; reference terminal Lesedi"/>
          <p:cNvSpPr/>
          <p:nvPr/>
        </p:nvSpPr>
        <p:spPr>
          <a:xfrm>
            <a:off x="3704235"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3" name="Illustrative delivered road transport cost class 1; reference terminal Lesedi"/>
          <p:cNvSpPr/>
          <p:nvPr/>
        </p:nvSpPr>
        <p:spPr>
          <a:xfrm>
            <a:off x="3704235"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4" name="Illustrative delivered road transport cost class 1; reference terminal Lesedi"/>
          <p:cNvSpPr/>
          <p:nvPr/>
        </p:nvSpPr>
        <p:spPr>
          <a:xfrm>
            <a:off x="3704235"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5" name="Illustrative delivered road transport cost class 1; reference terminal Lesedi"/>
          <p:cNvSpPr/>
          <p:nvPr/>
        </p:nvSpPr>
        <p:spPr>
          <a:xfrm>
            <a:off x="3704235"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6" name="Illustrative delivered road transport cost class 1; reference terminal Lesedi"/>
          <p:cNvSpPr/>
          <p:nvPr/>
        </p:nvSpPr>
        <p:spPr>
          <a:xfrm>
            <a:off x="3704235"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7" name="Illustrative delivered road transport cost class 1; reference terminal Lesedi"/>
          <p:cNvSpPr/>
          <p:nvPr/>
        </p:nvSpPr>
        <p:spPr>
          <a:xfrm>
            <a:off x="3704235"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8" name="Illustrative delivered road transport cost class 1; reference terminal Lesedi"/>
          <p:cNvSpPr/>
          <p:nvPr/>
        </p:nvSpPr>
        <p:spPr>
          <a:xfrm>
            <a:off x="3704235"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9" name="Illustrative delivered road transport cost class 1; reference terminal Lesedi"/>
          <p:cNvSpPr/>
          <p:nvPr/>
        </p:nvSpPr>
        <p:spPr>
          <a:xfrm>
            <a:off x="3704235"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0" name="Illustrative delivered road transport cost class 1; reference terminal Lesedi"/>
          <p:cNvSpPr/>
          <p:nvPr/>
        </p:nvSpPr>
        <p:spPr>
          <a:xfrm>
            <a:off x="3704235"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1" name="Illustrative delivered road transport cost class 1; reference terminal Lesedi"/>
          <p:cNvSpPr/>
          <p:nvPr/>
        </p:nvSpPr>
        <p:spPr>
          <a:xfrm>
            <a:off x="3704235"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2" name="Illustrative delivered road transport cost class 1; reference terminal Lesedi"/>
          <p:cNvSpPr/>
          <p:nvPr/>
        </p:nvSpPr>
        <p:spPr>
          <a:xfrm>
            <a:off x="3704235"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3" name="Illustrative delivered road transport cost class 1; reference terminal Lesedi"/>
          <p:cNvSpPr/>
          <p:nvPr/>
        </p:nvSpPr>
        <p:spPr>
          <a:xfrm>
            <a:off x="3704235"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4" name="Illustrative delivered road transport cost class 2; reference terminal Lesedi"/>
          <p:cNvSpPr/>
          <p:nvPr/>
        </p:nvSpPr>
        <p:spPr>
          <a:xfrm>
            <a:off x="3704235"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5" name="Illustrative delivered road transport cost class 2; reference terminal Lesedi"/>
          <p:cNvSpPr/>
          <p:nvPr/>
        </p:nvSpPr>
        <p:spPr>
          <a:xfrm>
            <a:off x="3704235"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6" name="Illustrative delivered road transport cost class 2; reference terminal Lesedi"/>
          <p:cNvSpPr/>
          <p:nvPr/>
        </p:nvSpPr>
        <p:spPr>
          <a:xfrm>
            <a:off x="3704235"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7" name="Illustrative delivered road transport cost class 1; reference terminal Lesedi"/>
          <p:cNvSpPr/>
          <p:nvPr/>
        </p:nvSpPr>
        <p:spPr>
          <a:xfrm>
            <a:off x="3704235"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8" name="Illustrative delivered road transport cost class 1; reference terminal Lesedi"/>
          <p:cNvSpPr/>
          <p:nvPr/>
        </p:nvSpPr>
        <p:spPr>
          <a:xfrm>
            <a:off x="3704235" y="3225550"/>
            <a:ext cx="57686" cy="22906"/>
          </a:xfrm>
          <a:custGeom>
            <a:avLst/>
            <a:gdLst/>
            <a:ahLst/>
            <a:cxnLst/>
            <a:rect l="l" t="t" r="r" b="b"/>
            <a:pathLst>
              <a:path w="57686" h="22906">
                <a:moveTo>
                  <a:pt x="57686" y="22906"/>
                </a:moveTo>
                <a:lnTo>
                  <a:pt x="0" y="22906"/>
                </a:lnTo>
                <a:lnTo>
                  <a:pt x="0" y="634"/>
                </a:lnTo>
                <a:lnTo>
                  <a:pt x="21416" y="0"/>
                </a:lnTo>
                <a:lnTo>
                  <a:pt x="49412" y="1258"/>
                </a:lnTo>
                <a:lnTo>
                  <a:pt x="57686" y="156"/>
                </a:lnTo>
                <a:lnTo>
                  <a:pt x="57686" y="2290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9" name="Illustrative delivered road transport cost class 2; reference terminal Durban"/>
          <p:cNvSpPr/>
          <p:nvPr/>
        </p:nvSpPr>
        <p:spPr>
          <a:xfrm>
            <a:off x="3761921" y="5325173"/>
            <a:ext cx="57687" cy="18354"/>
          </a:xfrm>
          <a:custGeom>
            <a:avLst/>
            <a:gdLst/>
            <a:ahLst/>
            <a:cxnLst/>
            <a:rect l="l" t="t" r="r" b="b"/>
            <a:pathLst>
              <a:path w="57687" h="18354">
                <a:moveTo>
                  <a:pt x="0" y="0"/>
                </a:moveTo>
                <a:lnTo>
                  <a:pt x="57687" y="0"/>
                </a:lnTo>
                <a:lnTo>
                  <a:pt x="57687" y="18354"/>
                </a:lnTo>
                <a:lnTo>
                  <a:pt x="44123" y="17079"/>
                </a:lnTo>
                <a:lnTo>
                  <a:pt x="0" y="536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0" name="Illustrative delivered road transport cost class 2; reference terminal Durban"/>
          <p:cNvSpPr/>
          <p:nvPr/>
        </p:nvSpPr>
        <p:spPr>
          <a:xfrm>
            <a:off x="3761921" y="526748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1" name="Illustrative delivered road transport cost class 3; reference terminal Durban"/>
          <p:cNvSpPr/>
          <p:nvPr/>
        </p:nvSpPr>
        <p:spPr>
          <a:xfrm>
            <a:off x="3761921" y="520979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2" name="Illustrative delivered road transport cost class 3; reference terminal Durban"/>
          <p:cNvSpPr/>
          <p:nvPr/>
        </p:nvSpPr>
        <p:spPr>
          <a:xfrm>
            <a:off x="3761921"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3" name="Illustrative delivered road transport cost class 3; reference terminal Durban"/>
          <p:cNvSpPr/>
          <p:nvPr/>
        </p:nvSpPr>
        <p:spPr>
          <a:xfrm>
            <a:off x="3761921"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4" name="Illustrative delivered road transport cost class 3; reference terminal Lesedi"/>
          <p:cNvSpPr/>
          <p:nvPr/>
        </p:nvSpPr>
        <p:spPr>
          <a:xfrm>
            <a:off x="3761921"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5" name="Illustrative delivered road transport cost class 3; reference terminal Lesedi"/>
          <p:cNvSpPr/>
          <p:nvPr/>
        </p:nvSpPr>
        <p:spPr>
          <a:xfrm>
            <a:off x="3761921"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6" name="Illustrative delivered road transport cost class 3; reference terminal Lesedi"/>
          <p:cNvSpPr/>
          <p:nvPr/>
        </p:nvSpPr>
        <p:spPr>
          <a:xfrm>
            <a:off x="3761921"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7" name="Illustrative delivered road transport cost class 3; reference terminal Lesedi"/>
          <p:cNvSpPr/>
          <p:nvPr/>
        </p:nvSpPr>
        <p:spPr>
          <a:xfrm>
            <a:off x="3761921"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8" name="Illustrative delivered road transport cost class 3; reference terminal Lesedi"/>
          <p:cNvSpPr/>
          <p:nvPr/>
        </p:nvSpPr>
        <p:spPr>
          <a:xfrm>
            <a:off x="3761921"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9" name="Illustrative delivered road transport cost class 3; reference terminal Lesedi"/>
          <p:cNvSpPr/>
          <p:nvPr/>
        </p:nvSpPr>
        <p:spPr>
          <a:xfrm>
            <a:off x="3761921"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0" name="Illustrative delivered road transport cost class 2; reference terminal Lesedi"/>
          <p:cNvSpPr/>
          <p:nvPr/>
        </p:nvSpPr>
        <p:spPr>
          <a:xfrm>
            <a:off x="3761921"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1" name="Illustrative delivered road transport cost class 2; reference terminal Lesedi"/>
          <p:cNvSpPr/>
          <p:nvPr/>
        </p:nvSpPr>
        <p:spPr>
          <a:xfrm>
            <a:off x="3761921"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2" name="Illustrative delivered road transport cost class 2; reference terminal Lesedi"/>
          <p:cNvSpPr/>
          <p:nvPr/>
        </p:nvSpPr>
        <p:spPr>
          <a:xfrm>
            <a:off x="3761921"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3" name="Illustrative delivered road transport cost class 2; reference terminal Lesedi"/>
          <p:cNvSpPr/>
          <p:nvPr/>
        </p:nvSpPr>
        <p:spPr>
          <a:xfrm>
            <a:off x="3761921"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4" name="Illustrative delivered road transport cost class 2; reference terminal Lesedi"/>
          <p:cNvSpPr/>
          <p:nvPr/>
        </p:nvSpPr>
        <p:spPr>
          <a:xfrm>
            <a:off x="3761921"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5" name="Illustrative delivered road transport cost class 2; reference terminal Lesedi"/>
          <p:cNvSpPr/>
          <p:nvPr/>
        </p:nvSpPr>
        <p:spPr>
          <a:xfrm>
            <a:off x="3761921"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6" name="Illustrative delivered road transport cost class 2; reference terminal Lesedi"/>
          <p:cNvSpPr/>
          <p:nvPr/>
        </p:nvSpPr>
        <p:spPr>
          <a:xfrm>
            <a:off x="3761921"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7" name="Illustrative delivered road transport cost class 2; reference terminal Lesedi"/>
          <p:cNvSpPr/>
          <p:nvPr/>
        </p:nvSpPr>
        <p:spPr>
          <a:xfrm>
            <a:off x="3761921"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8" name="Illustrative delivered road transport cost class 2; reference terminal Lesedi"/>
          <p:cNvSpPr/>
          <p:nvPr/>
        </p:nvSpPr>
        <p:spPr>
          <a:xfrm>
            <a:off x="3761921"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9" name="Illustrative delivered road transport cost class 1; reference terminal Lesedi"/>
          <p:cNvSpPr/>
          <p:nvPr/>
        </p:nvSpPr>
        <p:spPr>
          <a:xfrm>
            <a:off x="3761921"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0" name="Illustrative delivered road transport cost class 1; reference terminal Lesedi"/>
          <p:cNvSpPr/>
          <p:nvPr/>
        </p:nvSpPr>
        <p:spPr>
          <a:xfrm>
            <a:off x="3761921"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1" name="Illustrative delivered road transport cost class 1; reference terminal Lesedi"/>
          <p:cNvSpPr/>
          <p:nvPr/>
        </p:nvSpPr>
        <p:spPr>
          <a:xfrm>
            <a:off x="3761921"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2" name="Illustrative delivered road transport cost class 1; reference terminal Lesedi"/>
          <p:cNvSpPr/>
          <p:nvPr/>
        </p:nvSpPr>
        <p:spPr>
          <a:xfrm>
            <a:off x="3761921"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3" name="Illustrative delivered road transport cost class 1; reference terminal Lesedi"/>
          <p:cNvSpPr/>
          <p:nvPr/>
        </p:nvSpPr>
        <p:spPr>
          <a:xfrm>
            <a:off x="3761921"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4" name="Illustrative delivered road transport cost class 1; reference terminal Lesedi"/>
          <p:cNvSpPr/>
          <p:nvPr/>
        </p:nvSpPr>
        <p:spPr>
          <a:xfrm>
            <a:off x="3761921"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5" name="Illustrative delivered road transport cost class 1; reference terminal Lesedi"/>
          <p:cNvSpPr/>
          <p:nvPr/>
        </p:nvSpPr>
        <p:spPr>
          <a:xfrm>
            <a:off x="3761921"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6" name="Illustrative delivered road transport cost class 1; reference terminal Lesedi"/>
          <p:cNvSpPr/>
          <p:nvPr/>
        </p:nvSpPr>
        <p:spPr>
          <a:xfrm>
            <a:off x="3761921"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7" name="Illustrative delivered road transport cost class 1; reference terminal Lesedi"/>
          <p:cNvSpPr/>
          <p:nvPr/>
        </p:nvSpPr>
        <p:spPr>
          <a:xfrm>
            <a:off x="3761921"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8" name="Illustrative delivered road transport cost class 1; reference terminal Lesedi"/>
          <p:cNvSpPr/>
          <p:nvPr/>
        </p:nvSpPr>
        <p:spPr>
          <a:xfrm>
            <a:off x="3761921"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9" name="Illustrative delivered road transport cost class 1; reference terminal Lesedi"/>
          <p:cNvSpPr/>
          <p:nvPr/>
        </p:nvSpPr>
        <p:spPr>
          <a:xfrm>
            <a:off x="3761921"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0" name="Illustrative delivered road transport cost class 1; reference terminal Lesedi"/>
          <p:cNvSpPr/>
          <p:nvPr/>
        </p:nvSpPr>
        <p:spPr>
          <a:xfrm>
            <a:off x="3761921"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1" name="Illustrative delivered road transport cost class 1; reference terminal Lesedi"/>
          <p:cNvSpPr/>
          <p:nvPr/>
        </p:nvSpPr>
        <p:spPr>
          <a:xfrm>
            <a:off x="3761921"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2" name="Illustrative delivered road transport cost class 2; reference terminal Lesedi"/>
          <p:cNvSpPr/>
          <p:nvPr/>
        </p:nvSpPr>
        <p:spPr>
          <a:xfrm>
            <a:off x="3761921"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3" name="Illustrative delivered road transport cost class 2; reference terminal Lesedi"/>
          <p:cNvSpPr/>
          <p:nvPr/>
        </p:nvSpPr>
        <p:spPr>
          <a:xfrm>
            <a:off x="3761921"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4" name="Illustrative delivered road transport cost class 2; reference terminal Lesedi"/>
          <p:cNvSpPr/>
          <p:nvPr/>
        </p:nvSpPr>
        <p:spPr>
          <a:xfrm>
            <a:off x="3761921"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5" name="Illustrative delivered road transport cost class 1; reference terminal Lesedi"/>
          <p:cNvSpPr/>
          <p:nvPr/>
        </p:nvSpPr>
        <p:spPr>
          <a:xfrm>
            <a:off x="3761921"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6" name="Illustrative delivered road transport cost class 1; reference terminal Lesedi"/>
          <p:cNvSpPr/>
          <p:nvPr/>
        </p:nvSpPr>
        <p:spPr>
          <a:xfrm>
            <a:off x="3761921" y="3206715"/>
            <a:ext cx="57687" cy="41741"/>
          </a:xfrm>
          <a:custGeom>
            <a:avLst/>
            <a:gdLst/>
            <a:ahLst/>
            <a:cxnLst/>
            <a:rect l="l" t="t" r="r" b="b"/>
            <a:pathLst>
              <a:path w="57687" h="41741">
                <a:moveTo>
                  <a:pt x="57687" y="41741"/>
                </a:moveTo>
                <a:lnTo>
                  <a:pt x="0" y="41741"/>
                </a:lnTo>
                <a:lnTo>
                  <a:pt x="0" y="18991"/>
                </a:lnTo>
                <a:lnTo>
                  <a:pt x="22493" y="15996"/>
                </a:lnTo>
                <a:lnTo>
                  <a:pt x="45088" y="9556"/>
                </a:lnTo>
                <a:lnTo>
                  <a:pt x="57687" y="0"/>
                </a:lnTo>
                <a:lnTo>
                  <a:pt x="57687" y="41741"/>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7" name="Illustrative delivered road transport cost class 2; reference terminal Durban"/>
          <p:cNvSpPr/>
          <p:nvPr/>
        </p:nvSpPr>
        <p:spPr>
          <a:xfrm>
            <a:off x="3819608" y="5325173"/>
            <a:ext cx="21824" cy="19022"/>
          </a:xfrm>
          <a:custGeom>
            <a:avLst/>
            <a:gdLst/>
            <a:ahLst/>
            <a:cxnLst/>
            <a:rect l="l" t="t" r="r" b="b"/>
            <a:pathLst>
              <a:path w="21824" h="19022">
                <a:moveTo>
                  <a:pt x="0" y="0"/>
                </a:moveTo>
                <a:lnTo>
                  <a:pt x="21824" y="0"/>
                </a:lnTo>
                <a:lnTo>
                  <a:pt x="20794" y="12902"/>
                </a:lnTo>
                <a:lnTo>
                  <a:pt x="7112" y="19022"/>
                </a:lnTo>
                <a:lnTo>
                  <a:pt x="0" y="18354"/>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8" name="Illustrative delivered road transport cost class 2; reference terminal Durban"/>
          <p:cNvSpPr/>
          <p:nvPr/>
        </p:nvSpPr>
        <p:spPr>
          <a:xfrm>
            <a:off x="3819608" y="5267486"/>
            <a:ext cx="57686" cy="57687"/>
          </a:xfrm>
          <a:custGeom>
            <a:avLst/>
            <a:gdLst/>
            <a:ahLst/>
            <a:cxnLst/>
            <a:rect l="l" t="t" r="r" b="b"/>
            <a:pathLst>
              <a:path w="57686" h="57687">
                <a:moveTo>
                  <a:pt x="0" y="57687"/>
                </a:moveTo>
                <a:lnTo>
                  <a:pt x="0" y="0"/>
                </a:lnTo>
                <a:lnTo>
                  <a:pt x="57686" y="0"/>
                </a:lnTo>
                <a:lnTo>
                  <a:pt x="57686" y="657"/>
                </a:lnTo>
                <a:lnTo>
                  <a:pt x="57101" y="750"/>
                </a:lnTo>
                <a:lnTo>
                  <a:pt x="24090" y="29307"/>
                </a:lnTo>
                <a:lnTo>
                  <a:pt x="21824"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9" name="Illustrative delivered road transport cost class 2; reference terminal Durban"/>
          <p:cNvSpPr/>
          <p:nvPr/>
        </p:nvSpPr>
        <p:spPr>
          <a:xfrm>
            <a:off x="3819608" y="520979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0" name="Illustrative delivered road transport cost class 2; reference terminal Durban"/>
          <p:cNvSpPr/>
          <p:nvPr/>
        </p:nvSpPr>
        <p:spPr>
          <a:xfrm>
            <a:off x="3819608"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1" name="Illustrative delivered road transport cost class 3; reference terminal Durban"/>
          <p:cNvSpPr/>
          <p:nvPr/>
        </p:nvSpPr>
        <p:spPr>
          <a:xfrm>
            <a:off x="3819608"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2" name="Illustrative delivered road transport cost class 3; reference terminal Lesedi"/>
          <p:cNvSpPr/>
          <p:nvPr/>
        </p:nvSpPr>
        <p:spPr>
          <a:xfrm>
            <a:off x="3819608"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3" name="Illustrative delivered road transport cost class 3; reference terminal Lesedi"/>
          <p:cNvSpPr/>
          <p:nvPr/>
        </p:nvSpPr>
        <p:spPr>
          <a:xfrm>
            <a:off x="3819608"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4" name="Illustrative delivered road transport cost class 3; reference terminal Lesedi"/>
          <p:cNvSpPr/>
          <p:nvPr/>
        </p:nvSpPr>
        <p:spPr>
          <a:xfrm>
            <a:off x="3819608"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5" name="Illustrative delivered road transport cost class 3; reference terminal Lesedi"/>
          <p:cNvSpPr/>
          <p:nvPr/>
        </p:nvSpPr>
        <p:spPr>
          <a:xfrm>
            <a:off x="3819608"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6" name="Illustrative delivered road transport cost class 3; reference terminal Lesedi"/>
          <p:cNvSpPr/>
          <p:nvPr/>
        </p:nvSpPr>
        <p:spPr>
          <a:xfrm>
            <a:off x="3819608"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7" name="Illustrative delivered road transport cost class 3; reference terminal Lesedi"/>
          <p:cNvSpPr/>
          <p:nvPr/>
        </p:nvSpPr>
        <p:spPr>
          <a:xfrm>
            <a:off x="3819608"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8" name="Illustrative delivered road transport cost class 3; reference terminal Lesedi"/>
          <p:cNvSpPr/>
          <p:nvPr/>
        </p:nvSpPr>
        <p:spPr>
          <a:xfrm>
            <a:off x="3819608"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9" name="Illustrative delivered road transport cost class 2; reference terminal Lesedi"/>
          <p:cNvSpPr/>
          <p:nvPr/>
        </p:nvSpPr>
        <p:spPr>
          <a:xfrm>
            <a:off x="3819608"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0" name="Illustrative delivered road transport cost class 2; reference terminal Lesedi"/>
          <p:cNvSpPr/>
          <p:nvPr/>
        </p:nvSpPr>
        <p:spPr>
          <a:xfrm>
            <a:off x="3819608"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1" name="Illustrative delivered road transport cost class 2; reference terminal Lesedi"/>
          <p:cNvSpPr/>
          <p:nvPr/>
        </p:nvSpPr>
        <p:spPr>
          <a:xfrm>
            <a:off x="3819608"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2" name="Illustrative delivered road transport cost class 2; reference terminal Lesedi"/>
          <p:cNvSpPr/>
          <p:nvPr/>
        </p:nvSpPr>
        <p:spPr>
          <a:xfrm>
            <a:off x="3819608"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3" name="Illustrative delivered road transport cost class 2; reference terminal Lesedi"/>
          <p:cNvSpPr/>
          <p:nvPr/>
        </p:nvSpPr>
        <p:spPr>
          <a:xfrm>
            <a:off x="3819608"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4" name="Illustrative delivered road transport cost class 2; reference terminal Lesedi"/>
          <p:cNvSpPr/>
          <p:nvPr/>
        </p:nvSpPr>
        <p:spPr>
          <a:xfrm>
            <a:off x="3819608"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5" name="Illustrative delivered road transport cost class 1; reference terminal Lesedi"/>
          <p:cNvSpPr/>
          <p:nvPr/>
        </p:nvSpPr>
        <p:spPr>
          <a:xfrm>
            <a:off x="3819608"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6" name="Illustrative delivered road transport cost class 1; reference terminal Lesedi"/>
          <p:cNvSpPr/>
          <p:nvPr/>
        </p:nvSpPr>
        <p:spPr>
          <a:xfrm>
            <a:off x="3819608"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7" name="Illustrative delivered road transport cost class 1; reference terminal Lesedi"/>
          <p:cNvSpPr/>
          <p:nvPr/>
        </p:nvSpPr>
        <p:spPr>
          <a:xfrm>
            <a:off x="3819608"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8" name="Illustrative delivered road transport cost class 1; reference terminal Lesedi"/>
          <p:cNvSpPr/>
          <p:nvPr/>
        </p:nvSpPr>
        <p:spPr>
          <a:xfrm>
            <a:off x="3819608"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9" name="Illustrative delivered road transport cost class 1; reference terminal Lesedi"/>
          <p:cNvSpPr/>
          <p:nvPr/>
        </p:nvSpPr>
        <p:spPr>
          <a:xfrm>
            <a:off x="3819608"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0" name="Illustrative delivered road transport cost class 1; reference terminal Lesedi"/>
          <p:cNvSpPr/>
          <p:nvPr/>
        </p:nvSpPr>
        <p:spPr>
          <a:xfrm>
            <a:off x="3819608"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1" name="Illustrative delivered road transport cost class 1; reference terminal Lesedi"/>
          <p:cNvSpPr/>
          <p:nvPr/>
        </p:nvSpPr>
        <p:spPr>
          <a:xfrm>
            <a:off x="3819608"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2" name="Illustrative delivered road transport cost class 1; reference terminal Lesedi"/>
          <p:cNvSpPr/>
          <p:nvPr/>
        </p:nvSpPr>
        <p:spPr>
          <a:xfrm>
            <a:off x="3819608"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3" name="Illustrative delivered road transport cost class 1; reference terminal Lesedi"/>
          <p:cNvSpPr/>
          <p:nvPr/>
        </p:nvSpPr>
        <p:spPr>
          <a:xfrm>
            <a:off x="3819608"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4" name="Illustrative delivered road transport cost class 1; reference terminal Lesedi"/>
          <p:cNvSpPr/>
          <p:nvPr/>
        </p:nvSpPr>
        <p:spPr>
          <a:xfrm>
            <a:off x="3819608"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5" name="Illustrative delivered road transport cost class 1; reference terminal Lesedi"/>
          <p:cNvSpPr/>
          <p:nvPr/>
        </p:nvSpPr>
        <p:spPr>
          <a:xfrm>
            <a:off x="3819608"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6" name="Illustrative delivered road transport cost class 1; reference terminal Lesedi"/>
          <p:cNvSpPr/>
          <p:nvPr/>
        </p:nvSpPr>
        <p:spPr>
          <a:xfrm>
            <a:off x="3819608"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7" name="Illustrative delivered road transport cost class 1; reference terminal Lesedi"/>
          <p:cNvSpPr/>
          <p:nvPr/>
        </p:nvSpPr>
        <p:spPr>
          <a:xfrm>
            <a:off x="3819608"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8" name="Illustrative delivered road transport cost class 1; reference terminal Lesedi"/>
          <p:cNvSpPr/>
          <p:nvPr/>
        </p:nvSpPr>
        <p:spPr>
          <a:xfrm>
            <a:off x="3819608"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9" name="Illustrative delivered road transport cost class 1; reference terminal Lesedi"/>
          <p:cNvSpPr/>
          <p:nvPr/>
        </p:nvSpPr>
        <p:spPr>
          <a:xfrm>
            <a:off x="3819608"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0" name="Illustrative delivered road transport cost class 1; reference terminal Lesedi"/>
          <p:cNvSpPr/>
          <p:nvPr/>
        </p:nvSpPr>
        <p:spPr>
          <a:xfrm>
            <a:off x="3819608"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1" name="Illustrative delivered road transport cost class 3; reference terminal Lesedi"/>
          <p:cNvSpPr/>
          <p:nvPr/>
        </p:nvSpPr>
        <p:spPr>
          <a:xfrm>
            <a:off x="3819608"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2" name="Illustrative delivered road transport cost class 1; reference terminal Lesedi"/>
          <p:cNvSpPr/>
          <p:nvPr/>
        </p:nvSpPr>
        <p:spPr>
          <a:xfrm>
            <a:off x="3819608"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3" name="Illustrative delivered road transport cost class 1; reference terminal Lesedi"/>
          <p:cNvSpPr/>
          <p:nvPr/>
        </p:nvSpPr>
        <p:spPr>
          <a:xfrm>
            <a:off x="3819608"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4" name="Illustrative delivered road transport cost class 1; reference terminal Lesedi"/>
          <p:cNvSpPr/>
          <p:nvPr/>
        </p:nvSpPr>
        <p:spPr>
          <a:xfrm>
            <a:off x="3819608" y="3190770"/>
            <a:ext cx="57686" cy="57686"/>
          </a:xfrm>
          <a:custGeom>
            <a:avLst/>
            <a:gdLst/>
            <a:ahLst/>
            <a:cxnLst/>
            <a:rect l="l" t="t" r="r" b="b"/>
            <a:pathLst>
              <a:path w="57686" h="57686">
                <a:moveTo>
                  <a:pt x="57686" y="0"/>
                </a:moveTo>
                <a:lnTo>
                  <a:pt x="57686" y="57686"/>
                </a:lnTo>
                <a:lnTo>
                  <a:pt x="0" y="57686"/>
                </a:lnTo>
                <a:lnTo>
                  <a:pt x="0" y="15945"/>
                </a:lnTo>
                <a:lnTo>
                  <a:pt x="4715" y="12368"/>
                </a:lnTo>
                <a:lnTo>
                  <a:pt x="17853"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5" name="Illustrative delivered road transport cost class 1; reference terminal Lesedi"/>
          <p:cNvSpPr/>
          <p:nvPr/>
        </p:nvSpPr>
        <p:spPr>
          <a:xfrm>
            <a:off x="3837461" y="3133083"/>
            <a:ext cx="39833" cy="57687"/>
          </a:xfrm>
          <a:custGeom>
            <a:avLst/>
            <a:gdLst/>
            <a:ahLst/>
            <a:cxnLst/>
            <a:rect l="l" t="t" r="r" b="b"/>
            <a:pathLst>
              <a:path w="39833" h="57687">
                <a:moveTo>
                  <a:pt x="39833" y="0"/>
                </a:moveTo>
                <a:lnTo>
                  <a:pt x="39833" y="57687"/>
                </a:lnTo>
                <a:lnTo>
                  <a:pt x="0" y="57687"/>
                </a:lnTo>
                <a:lnTo>
                  <a:pt x="2137" y="55675"/>
                </a:lnTo>
                <a:lnTo>
                  <a:pt x="19837" y="12745"/>
                </a:lnTo>
                <a:lnTo>
                  <a:pt x="23626" y="0"/>
                </a:lnTo>
                <a:lnTo>
                  <a:pt x="39833"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6" name="Illustrative delivered road transport cost class 1; reference terminal Lesedi"/>
          <p:cNvSpPr/>
          <p:nvPr/>
        </p:nvSpPr>
        <p:spPr>
          <a:xfrm>
            <a:off x="3861087" y="3086937"/>
            <a:ext cx="16207" cy="46146"/>
          </a:xfrm>
          <a:custGeom>
            <a:avLst/>
            <a:gdLst/>
            <a:ahLst/>
            <a:cxnLst/>
            <a:rect l="l" t="t" r="r" b="b"/>
            <a:pathLst>
              <a:path w="16207" h="46146">
                <a:moveTo>
                  <a:pt x="16207" y="46146"/>
                </a:moveTo>
                <a:lnTo>
                  <a:pt x="0" y="46146"/>
                </a:lnTo>
                <a:lnTo>
                  <a:pt x="6489" y="24315"/>
                </a:lnTo>
                <a:lnTo>
                  <a:pt x="16207" y="0"/>
                </a:lnTo>
                <a:lnTo>
                  <a:pt x="16207" y="4614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7" name="Illustrative delivered road transport cost class 2; reference terminal Durban"/>
          <p:cNvSpPr/>
          <p:nvPr/>
        </p:nvSpPr>
        <p:spPr>
          <a:xfrm>
            <a:off x="3877294" y="5209799"/>
            <a:ext cx="57687" cy="57687"/>
          </a:xfrm>
          <a:custGeom>
            <a:avLst/>
            <a:gdLst/>
            <a:ahLst/>
            <a:cxnLst/>
            <a:rect l="l" t="t" r="r" b="b"/>
            <a:pathLst>
              <a:path w="57687" h="57687">
                <a:moveTo>
                  <a:pt x="0" y="57687"/>
                </a:moveTo>
                <a:lnTo>
                  <a:pt x="0" y="0"/>
                </a:lnTo>
                <a:lnTo>
                  <a:pt x="57687" y="0"/>
                </a:lnTo>
                <a:lnTo>
                  <a:pt x="57687" y="54833"/>
                </a:lnTo>
                <a:lnTo>
                  <a:pt x="38789" y="52153"/>
                </a:lnTo>
                <a:lnTo>
                  <a:pt x="4115"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8" name="Illustrative delivered road transport cost class 2; reference terminal Durban"/>
          <p:cNvSpPr/>
          <p:nvPr/>
        </p:nvSpPr>
        <p:spPr>
          <a:xfrm>
            <a:off x="387729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9" name="Illustrative delivered road transport cost class 2; reference terminal Durban"/>
          <p:cNvSpPr/>
          <p:nvPr/>
        </p:nvSpPr>
        <p:spPr>
          <a:xfrm>
            <a:off x="387729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0" name="Illustrative delivered road transport cost class 2; reference terminal Durban"/>
          <p:cNvSpPr/>
          <p:nvPr/>
        </p:nvSpPr>
        <p:spPr>
          <a:xfrm>
            <a:off x="387729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1" name="Illustrative delivered road transport cost class 3; reference terminal Lesedi"/>
          <p:cNvSpPr/>
          <p:nvPr/>
        </p:nvSpPr>
        <p:spPr>
          <a:xfrm>
            <a:off x="387729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2" name="Illustrative delivered road transport cost class 3; reference terminal Lesedi"/>
          <p:cNvSpPr/>
          <p:nvPr/>
        </p:nvSpPr>
        <p:spPr>
          <a:xfrm>
            <a:off x="387729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3" name="Illustrative delivered road transport cost class 2; reference terminal Durban"/>
          <p:cNvSpPr/>
          <p:nvPr/>
        </p:nvSpPr>
        <p:spPr>
          <a:xfrm>
            <a:off x="387729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4" name="Illustrative delivered road transport cost class 2; reference terminal Durban"/>
          <p:cNvSpPr/>
          <p:nvPr/>
        </p:nvSpPr>
        <p:spPr>
          <a:xfrm>
            <a:off x="387729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5" name="Illustrative delivered road transport cost class 2; reference terminal Durban"/>
          <p:cNvSpPr/>
          <p:nvPr/>
        </p:nvSpPr>
        <p:spPr>
          <a:xfrm>
            <a:off x="387729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6" name="Illustrative delivered road transport cost class 2; reference terminal Durban"/>
          <p:cNvSpPr/>
          <p:nvPr/>
        </p:nvSpPr>
        <p:spPr>
          <a:xfrm>
            <a:off x="387729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7" name="Illustrative delivered road transport cost class 2; reference terminal Lesedi"/>
          <p:cNvSpPr/>
          <p:nvPr/>
        </p:nvSpPr>
        <p:spPr>
          <a:xfrm>
            <a:off x="387729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8" name="Illustrative delivered road transport cost class 2; reference terminal Lesedi"/>
          <p:cNvSpPr/>
          <p:nvPr/>
        </p:nvSpPr>
        <p:spPr>
          <a:xfrm>
            <a:off x="387729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9" name="Illustrative delivered road transport cost class 2; reference terminal Lesedi"/>
          <p:cNvSpPr/>
          <p:nvPr/>
        </p:nvSpPr>
        <p:spPr>
          <a:xfrm>
            <a:off x="387729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0" name="Illustrative delivered road transport cost class 2; reference terminal Lesedi"/>
          <p:cNvSpPr/>
          <p:nvPr/>
        </p:nvSpPr>
        <p:spPr>
          <a:xfrm>
            <a:off x="387729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1" name="Illustrative delivered road transport cost class 2; reference terminal Lesedi"/>
          <p:cNvSpPr/>
          <p:nvPr/>
        </p:nvSpPr>
        <p:spPr>
          <a:xfrm>
            <a:off x="387729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2" name="Illustrative delivered road transport cost class 2; reference terminal Lesedi"/>
          <p:cNvSpPr/>
          <p:nvPr/>
        </p:nvSpPr>
        <p:spPr>
          <a:xfrm>
            <a:off x="387729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3" name="Illustrative delivered road transport cost class 1; reference terminal Lesedi"/>
          <p:cNvSpPr/>
          <p:nvPr/>
        </p:nvSpPr>
        <p:spPr>
          <a:xfrm>
            <a:off x="387729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4" name="Illustrative delivered road transport cost class 1; reference terminal Lesedi"/>
          <p:cNvSpPr/>
          <p:nvPr/>
        </p:nvSpPr>
        <p:spPr>
          <a:xfrm>
            <a:off x="387729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5" name="Illustrative delivered road transport cost class 1; reference terminal Lesedi"/>
          <p:cNvSpPr/>
          <p:nvPr/>
        </p:nvSpPr>
        <p:spPr>
          <a:xfrm>
            <a:off x="387729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6" name="Illustrative delivered road transport cost class 1; reference terminal Lesedi"/>
          <p:cNvSpPr/>
          <p:nvPr/>
        </p:nvSpPr>
        <p:spPr>
          <a:xfrm>
            <a:off x="387729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7" name="Illustrative delivered road transport cost class 1; reference terminal Lesedi"/>
          <p:cNvSpPr/>
          <p:nvPr/>
        </p:nvSpPr>
        <p:spPr>
          <a:xfrm>
            <a:off x="387729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8" name="Illustrative delivered road transport cost class 1; reference terminal Lesedi"/>
          <p:cNvSpPr/>
          <p:nvPr/>
        </p:nvSpPr>
        <p:spPr>
          <a:xfrm>
            <a:off x="387729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9" name="Illustrative delivered road transport cost class 1; reference terminal Lesedi"/>
          <p:cNvSpPr/>
          <p:nvPr/>
        </p:nvSpPr>
        <p:spPr>
          <a:xfrm>
            <a:off x="387729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0" name="Illustrative delivered road transport cost class 1; reference terminal Lesedi"/>
          <p:cNvSpPr/>
          <p:nvPr/>
        </p:nvSpPr>
        <p:spPr>
          <a:xfrm>
            <a:off x="387729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1" name="Illustrative delivered road transport cost class 1; reference terminal Lesedi"/>
          <p:cNvSpPr/>
          <p:nvPr/>
        </p:nvSpPr>
        <p:spPr>
          <a:xfrm>
            <a:off x="387729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2" name="Illustrative delivered road transport cost class 1; reference terminal Lesedi"/>
          <p:cNvSpPr/>
          <p:nvPr/>
        </p:nvSpPr>
        <p:spPr>
          <a:xfrm>
            <a:off x="387729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3" name="Illustrative delivered road transport cost class 1; reference terminal Lesedi"/>
          <p:cNvSpPr/>
          <p:nvPr/>
        </p:nvSpPr>
        <p:spPr>
          <a:xfrm>
            <a:off x="387729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4" name="Illustrative delivered road transport cost class 1; reference terminal Lesedi"/>
          <p:cNvSpPr/>
          <p:nvPr/>
        </p:nvSpPr>
        <p:spPr>
          <a:xfrm>
            <a:off x="387729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5" name="Illustrative delivered road transport cost class 0; reference terminal Lesedi"/>
          <p:cNvSpPr/>
          <p:nvPr/>
        </p:nvSpPr>
        <p:spPr>
          <a:xfrm>
            <a:off x="387729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6" name="Illustrative delivered road transport cost class 0; reference terminal Lesedi"/>
          <p:cNvSpPr/>
          <p:nvPr/>
        </p:nvSpPr>
        <p:spPr>
          <a:xfrm>
            <a:off x="387729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7" name="Illustrative delivered road transport cost class 0; reference terminal Lesedi"/>
          <p:cNvSpPr/>
          <p:nvPr/>
        </p:nvSpPr>
        <p:spPr>
          <a:xfrm>
            <a:off x="387729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8" name="Illustrative delivered road transport cost class 0; reference terminal Lesedi"/>
          <p:cNvSpPr/>
          <p:nvPr/>
        </p:nvSpPr>
        <p:spPr>
          <a:xfrm>
            <a:off x="387729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9" name="Illustrative delivered road transport cost class 0; reference terminal Lesedi"/>
          <p:cNvSpPr/>
          <p:nvPr/>
        </p:nvSpPr>
        <p:spPr>
          <a:xfrm>
            <a:off x="387729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0" name="Illustrative delivered road transport cost class 1; reference terminal Lesedi"/>
          <p:cNvSpPr/>
          <p:nvPr/>
        </p:nvSpPr>
        <p:spPr>
          <a:xfrm>
            <a:off x="387729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1" name="Illustrative delivered road transport cost class 1; reference terminal Lesedi"/>
          <p:cNvSpPr/>
          <p:nvPr/>
        </p:nvSpPr>
        <p:spPr>
          <a:xfrm>
            <a:off x="387729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2" name="Illustrative delivered road transport cost class 1; reference terminal Lesedi"/>
          <p:cNvSpPr/>
          <p:nvPr/>
        </p:nvSpPr>
        <p:spPr>
          <a:xfrm>
            <a:off x="387729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3" name="Illustrative delivered road transport cost class 1; reference terminal Lesedi"/>
          <p:cNvSpPr/>
          <p:nvPr/>
        </p:nvSpPr>
        <p:spPr>
          <a:xfrm>
            <a:off x="387729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4" name="Illustrative delivered road transport cost class 1; reference terminal Lesedi"/>
          <p:cNvSpPr/>
          <p:nvPr/>
        </p:nvSpPr>
        <p:spPr>
          <a:xfrm>
            <a:off x="3877294" y="3075396"/>
            <a:ext cx="57687" cy="57687"/>
          </a:xfrm>
          <a:custGeom>
            <a:avLst/>
            <a:gdLst/>
            <a:ahLst/>
            <a:cxnLst/>
            <a:rect l="l" t="t" r="r" b="b"/>
            <a:pathLst>
              <a:path w="57687" h="57687">
                <a:moveTo>
                  <a:pt x="57687" y="0"/>
                </a:moveTo>
                <a:lnTo>
                  <a:pt x="57687" y="57687"/>
                </a:lnTo>
                <a:lnTo>
                  <a:pt x="0" y="57687"/>
                </a:lnTo>
                <a:lnTo>
                  <a:pt x="0" y="11541"/>
                </a:lnTo>
                <a:lnTo>
                  <a:pt x="461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5" name="Illustrative delivered road transport cost class 1; reference terminal Lesedi"/>
          <p:cNvSpPr/>
          <p:nvPr/>
        </p:nvSpPr>
        <p:spPr>
          <a:xfrm>
            <a:off x="3881907" y="3017710"/>
            <a:ext cx="53074" cy="57686"/>
          </a:xfrm>
          <a:custGeom>
            <a:avLst/>
            <a:gdLst/>
            <a:ahLst/>
            <a:cxnLst/>
            <a:rect l="l" t="t" r="r" b="b"/>
            <a:pathLst>
              <a:path w="53074" h="57686">
                <a:moveTo>
                  <a:pt x="53074" y="0"/>
                </a:moveTo>
                <a:lnTo>
                  <a:pt x="53074" y="57686"/>
                </a:lnTo>
                <a:lnTo>
                  <a:pt x="0" y="57686"/>
                </a:lnTo>
                <a:lnTo>
                  <a:pt x="1547" y="53815"/>
                </a:lnTo>
                <a:lnTo>
                  <a:pt x="21099" y="0"/>
                </a:lnTo>
                <a:lnTo>
                  <a:pt x="5307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6" name="Illustrative delivered road transport cost class 1; reference terminal Lesedi"/>
          <p:cNvSpPr/>
          <p:nvPr/>
        </p:nvSpPr>
        <p:spPr>
          <a:xfrm>
            <a:off x="3903006" y="2962694"/>
            <a:ext cx="31975" cy="55016"/>
          </a:xfrm>
          <a:custGeom>
            <a:avLst/>
            <a:gdLst/>
            <a:ahLst/>
            <a:cxnLst/>
            <a:rect l="l" t="t" r="r" b="b"/>
            <a:pathLst>
              <a:path w="31975" h="55016">
                <a:moveTo>
                  <a:pt x="31975" y="55016"/>
                </a:moveTo>
                <a:lnTo>
                  <a:pt x="0" y="55016"/>
                </a:lnTo>
                <a:lnTo>
                  <a:pt x="8" y="54996"/>
                </a:lnTo>
                <a:lnTo>
                  <a:pt x="7115" y="17425"/>
                </a:lnTo>
                <a:lnTo>
                  <a:pt x="14254" y="7124"/>
                </a:lnTo>
                <a:lnTo>
                  <a:pt x="31975" y="0"/>
                </a:lnTo>
                <a:lnTo>
                  <a:pt x="31975" y="5501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7" name="Illustrative delivered road transport cost class 2; reference terminal Durban"/>
          <p:cNvSpPr/>
          <p:nvPr/>
        </p:nvSpPr>
        <p:spPr>
          <a:xfrm>
            <a:off x="3955112" y="5267486"/>
            <a:ext cx="37555" cy="5325"/>
          </a:xfrm>
          <a:custGeom>
            <a:avLst/>
            <a:gdLst/>
            <a:ahLst/>
            <a:cxnLst/>
            <a:rect l="l" t="t" r="r" b="b"/>
            <a:pathLst>
              <a:path w="37555" h="5325">
                <a:moveTo>
                  <a:pt x="37555" y="0"/>
                </a:moveTo>
                <a:lnTo>
                  <a:pt x="37555" y="5325"/>
                </a:lnTo>
                <a:lnTo>
                  <a:pt x="0" y="0"/>
                </a:lnTo>
                <a:lnTo>
                  <a:pt x="37555"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8" name="Illustrative delivered road transport cost class 2; reference terminal Durban"/>
          <p:cNvSpPr/>
          <p:nvPr/>
        </p:nvSpPr>
        <p:spPr>
          <a:xfrm>
            <a:off x="3934981" y="5209799"/>
            <a:ext cx="57686" cy="57687"/>
          </a:xfrm>
          <a:custGeom>
            <a:avLst/>
            <a:gdLst/>
            <a:ahLst/>
            <a:cxnLst/>
            <a:rect l="l" t="t" r="r" b="b"/>
            <a:pathLst>
              <a:path w="57686" h="57687">
                <a:moveTo>
                  <a:pt x="0" y="0"/>
                </a:moveTo>
                <a:lnTo>
                  <a:pt x="57686" y="0"/>
                </a:lnTo>
                <a:lnTo>
                  <a:pt x="57686" y="57687"/>
                </a:lnTo>
                <a:lnTo>
                  <a:pt x="20131" y="57687"/>
                </a:lnTo>
                <a:lnTo>
                  <a:pt x="0" y="5483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69" name="Illustrative delivered road transport cost class 2; reference terminal Durban"/>
          <p:cNvSpPr/>
          <p:nvPr/>
        </p:nvSpPr>
        <p:spPr>
          <a:xfrm>
            <a:off x="3934981" y="515211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0" name="Illustrative delivered road transport cost class 2; reference terminal Durban"/>
          <p:cNvSpPr/>
          <p:nvPr/>
        </p:nvSpPr>
        <p:spPr>
          <a:xfrm>
            <a:off x="393498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1" name="Illustrative delivered road transport cost class 2; reference terminal Durban"/>
          <p:cNvSpPr/>
          <p:nvPr/>
        </p:nvSpPr>
        <p:spPr>
          <a:xfrm>
            <a:off x="393498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2" name="Illustrative delivered road transport cost class 3; reference terminal Lesedi"/>
          <p:cNvSpPr/>
          <p:nvPr/>
        </p:nvSpPr>
        <p:spPr>
          <a:xfrm>
            <a:off x="393498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A9BDD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3" name="Illustrative delivered road transport cost class 2; reference terminal Durban"/>
          <p:cNvSpPr/>
          <p:nvPr/>
        </p:nvSpPr>
        <p:spPr>
          <a:xfrm>
            <a:off x="393498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4" name="Illustrative delivered road transport cost class 2; reference terminal Durban"/>
          <p:cNvSpPr/>
          <p:nvPr/>
        </p:nvSpPr>
        <p:spPr>
          <a:xfrm>
            <a:off x="393498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5" name="Illustrative delivered road transport cost class 2; reference terminal Durban"/>
          <p:cNvSpPr/>
          <p:nvPr/>
        </p:nvSpPr>
        <p:spPr>
          <a:xfrm>
            <a:off x="393498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6" name="Illustrative delivered road transport cost class 2; reference terminal Durban"/>
          <p:cNvSpPr/>
          <p:nvPr/>
        </p:nvSpPr>
        <p:spPr>
          <a:xfrm>
            <a:off x="393498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7" name="Illustrative delivered road transport cost class 2; reference terminal Durban"/>
          <p:cNvSpPr/>
          <p:nvPr/>
        </p:nvSpPr>
        <p:spPr>
          <a:xfrm>
            <a:off x="393498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8" name="Illustrative delivered road transport cost class 2; reference terminal Lesedi"/>
          <p:cNvSpPr/>
          <p:nvPr/>
        </p:nvSpPr>
        <p:spPr>
          <a:xfrm>
            <a:off x="393498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79" name="Illustrative delivered road transport cost class 2; reference terminal Lesedi"/>
          <p:cNvSpPr/>
          <p:nvPr/>
        </p:nvSpPr>
        <p:spPr>
          <a:xfrm>
            <a:off x="393498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0" name="Illustrative delivered road transport cost class 2; reference terminal Lesedi"/>
          <p:cNvSpPr/>
          <p:nvPr/>
        </p:nvSpPr>
        <p:spPr>
          <a:xfrm>
            <a:off x="393498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1" name="Illustrative delivered road transport cost class 2; reference terminal Lesedi"/>
          <p:cNvSpPr/>
          <p:nvPr/>
        </p:nvSpPr>
        <p:spPr>
          <a:xfrm>
            <a:off x="393498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2" name="Illustrative delivered road transport cost class 2; reference terminal Lesedi"/>
          <p:cNvSpPr/>
          <p:nvPr/>
        </p:nvSpPr>
        <p:spPr>
          <a:xfrm>
            <a:off x="393498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3" name="Illustrative delivered road transport cost class 2; reference terminal Lesedi"/>
          <p:cNvSpPr/>
          <p:nvPr/>
        </p:nvSpPr>
        <p:spPr>
          <a:xfrm>
            <a:off x="393498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4" name="Illustrative delivered road transport cost class 1; reference terminal Lesedi"/>
          <p:cNvSpPr/>
          <p:nvPr/>
        </p:nvSpPr>
        <p:spPr>
          <a:xfrm>
            <a:off x="393498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5" name="Illustrative delivered road transport cost class 1; reference terminal Lesedi"/>
          <p:cNvSpPr/>
          <p:nvPr/>
        </p:nvSpPr>
        <p:spPr>
          <a:xfrm>
            <a:off x="3934981"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6" name="Illustrative delivered road transport cost class 1; reference terminal Lesedi"/>
          <p:cNvSpPr/>
          <p:nvPr/>
        </p:nvSpPr>
        <p:spPr>
          <a:xfrm>
            <a:off x="3934981"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7" name="Illustrative delivered road transport cost class 1; reference terminal Lesedi"/>
          <p:cNvSpPr/>
          <p:nvPr/>
        </p:nvSpPr>
        <p:spPr>
          <a:xfrm>
            <a:off x="393498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8" name="Illustrative delivered road transport cost class 1; reference terminal Lesedi"/>
          <p:cNvSpPr/>
          <p:nvPr/>
        </p:nvSpPr>
        <p:spPr>
          <a:xfrm>
            <a:off x="393498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9" name="Illustrative delivered road transport cost class 1; reference terminal Lesedi"/>
          <p:cNvSpPr/>
          <p:nvPr/>
        </p:nvSpPr>
        <p:spPr>
          <a:xfrm>
            <a:off x="393498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0" name="Illustrative delivered road transport cost class 1; reference terminal Lesedi"/>
          <p:cNvSpPr/>
          <p:nvPr/>
        </p:nvSpPr>
        <p:spPr>
          <a:xfrm>
            <a:off x="393498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1" name="Illustrative delivered road transport cost class 1; reference terminal Lesedi"/>
          <p:cNvSpPr/>
          <p:nvPr/>
        </p:nvSpPr>
        <p:spPr>
          <a:xfrm>
            <a:off x="393498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2" name="Illustrative delivered road transport cost class 1; reference terminal Lesedi"/>
          <p:cNvSpPr/>
          <p:nvPr/>
        </p:nvSpPr>
        <p:spPr>
          <a:xfrm>
            <a:off x="393498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3" name="Illustrative delivered road transport cost class 1; reference terminal Lesedi"/>
          <p:cNvSpPr/>
          <p:nvPr/>
        </p:nvSpPr>
        <p:spPr>
          <a:xfrm>
            <a:off x="393498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4" name="Illustrative delivered road transport cost class 1; reference terminal Lesedi"/>
          <p:cNvSpPr/>
          <p:nvPr/>
        </p:nvSpPr>
        <p:spPr>
          <a:xfrm>
            <a:off x="393498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5" name="Illustrative delivered road transport cost class 0; reference terminal Lesedi"/>
          <p:cNvSpPr/>
          <p:nvPr/>
        </p:nvSpPr>
        <p:spPr>
          <a:xfrm>
            <a:off x="393498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6" name="Illustrative delivered road transport cost class 0; reference terminal Lesedi"/>
          <p:cNvSpPr/>
          <p:nvPr/>
        </p:nvSpPr>
        <p:spPr>
          <a:xfrm>
            <a:off x="393498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7" name="Illustrative delivered road transport cost class 0; reference terminal Lesedi"/>
          <p:cNvSpPr/>
          <p:nvPr/>
        </p:nvSpPr>
        <p:spPr>
          <a:xfrm>
            <a:off x="393498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8" name="Illustrative delivered road transport cost class 0; reference terminal Lesedi"/>
          <p:cNvSpPr/>
          <p:nvPr/>
        </p:nvSpPr>
        <p:spPr>
          <a:xfrm>
            <a:off x="393498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99" name="Illustrative delivered road transport cost class 0; reference terminal Lesedi"/>
          <p:cNvSpPr/>
          <p:nvPr/>
        </p:nvSpPr>
        <p:spPr>
          <a:xfrm>
            <a:off x="393498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0" name="Illustrative delivered road transport cost class 0; reference terminal Lesedi"/>
          <p:cNvSpPr/>
          <p:nvPr/>
        </p:nvSpPr>
        <p:spPr>
          <a:xfrm>
            <a:off x="393498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1" name="Illustrative delivered road transport cost class 0; reference terminal Lesedi"/>
          <p:cNvSpPr/>
          <p:nvPr/>
        </p:nvSpPr>
        <p:spPr>
          <a:xfrm>
            <a:off x="393498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2" name="Illustrative delivered road transport cost class 1; reference terminal Lesedi"/>
          <p:cNvSpPr/>
          <p:nvPr/>
        </p:nvSpPr>
        <p:spPr>
          <a:xfrm>
            <a:off x="393498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3" name="Illustrative delivered road transport cost class 1; reference terminal Lesedi"/>
          <p:cNvSpPr/>
          <p:nvPr/>
        </p:nvSpPr>
        <p:spPr>
          <a:xfrm>
            <a:off x="393498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4" name="Illustrative delivered road transport cost class 1; reference terminal Lesedi"/>
          <p:cNvSpPr/>
          <p:nvPr/>
        </p:nvSpPr>
        <p:spPr>
          <a:xfrm>
            <a:off x="393498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5" name="Illustrative delivered road transport cost class 1; reference terminal Lesedi"/>
          <p:cNvSpPr/>
          <p:nvPr/>
        </p:nvSpPr>
        <p:spPr>
          <a:xfrm>
            <a:off x="393498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6" name="Illustrative delivered road transport cost class 1; reference terminal Lesedi"/>
          <p:cNvSpPr/>
          <p:nvPr/>
        </p:nvSpPr>
        <p:spPr>
          <a:xfrm>
            <a:off x="393498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7" name="Illustrative delivered road transport cost class 1; reference terminal Lesedi"/>
          <p:cNvSpPr/>
          <p:nvPr/>
        </p:nvSpPr>
        <p:spPr>
          <a:xfrm>
            <a:off x="3934981" y="2960023"/>
            <a:ext cx="57686" cy="57687"/>
          </a:xfrm>
          <a:custGeom>
            <a:avLst/>
            <a:gdLst/>
            <a:ahLst/>
            <a:cxnLst/>
            <a:rect l="l" t="t" r="r" b="b"/>
            <a:pathLst>
              <a:path w="57686" h="57687">
                <a:moveTo>
                  <a:pt x="57686" y="0"/>
                </a:moveTo>
                <a:lnTo>
                  <a:pt x="57686" y="57687"/>
                </a:lnTo>
                <a:lnTo>
                  <a:pt x="0" y="57687"/>
                </a:lnTo>
                <a:lnTo>
                  <a:pt x="0" y="2671"/>
                </a:lnTo>
                <a:lnTo>
                  <a:pt x="6641" y="0"/>
                </a:lnTo>
                <a:lnTo>
                  <a:pt x="5768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8" name="Illustrative delivered road transport cost class 1; reference terminal Lesedi"/>
          <p:cNvSpPr/>
          <p:nvPr/>
        </p:nvSpPr>
        <p:spPr>
          <a:xfrm>
            <a:off x="3941622" y="2945357"/>
            <a:ext cx="51045" cy="14666"/>
          </a:xfrm>
          <a:custGeom>
            <a:avLst/>
            <a:gdLst/>
            <a:ahLst/>
            <a:cxnLst/>
            <a:rect l="l" t="t" r="r" b="b"/>
            <a:pathLst>
              <a:path w="51045" h="14666">
                <a:moveTo>
                  <a:pt x="51045" y="14666"/>
                </a:moveTo>
                <a:lnTo>
                  <a:pt x="0" y="14666"/>
                </a:lnTo>
                <a:lnTo>
                  <a:pt x="3690" y="13183"/>
                </a:lnTo>
                <a:lnTo>
                  <a:pt x="26892" y="5479"/>
                </a:lnTo>
                <a:lnTo>
                  <a:pt x="51045" y="0"/>
                </a:lnTo>
                <a:lnTo>
                  <a:pt x="51045" y="1466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09" name="Illustrative delivered road transport cost class 2; reference terminal Durban"/>
          <p:cNvSpPr/>
          <p:nvPr/>
        </p:nvSpPr>
        <p:spPr>
          <a:xfrm>
            <a:off x="3992667" y="5267486"/>
            <a:ext cx="41532" cy="7796"/>
          </a:xfrm>
          <a:custGeom>
            <a:avLst/>
            <a:gdLst/>
            <a:ahLst/>
            <a:cxnLst/>
            <a:rect l="l" t="t" r="r" b="b"/>
            <a:pathLst>
              <a:path w="41532" h="7796">
                <a:moveTo>
                  <a:pt x="0" y="0"/>
                </a:moveTo>
                <a:lnTo>
                  <a:pt x="41532" y="0"/>
                </a:lnTo>
                <a:lnTo>
                  <a:pt x="17428" y="7796"/>
                </a:lnTo>
                <a:lnTo>
                  <a:pt x="0" y="5325"/>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0" name="Illustrative delivered road transport cost class 2; reference terminal Durban"/>
          <p:cNvSpPr/>
          <p:nvPr/>
        </p:nvSpPr>
        <p:spPr>
          <a:xfrm>
            <a:off x="3992667" y="5209799"/>
            <a:ext cx="57687" cy="57687"/>
          </a:xfrm>
          <a:custGeom>
            <a:avLst/>
            <a:gdLst/>
            <a:ahLst/>
            <a:cxnLst/>
            <a:rect l="l" t="t" r="r" b="b"/>
            <a:pathLst>
              <a:path w="57687" h="57687">
                <a:moveTo>
                  <a:pt x="0" y="57687"/>
                </a:moveTo>
                <a:lnTo>
                  <a:pt x="0" y="0"/>
                </a:lnTo>
                <a:lnTo>
                  <a:pt x="57687" y="0"/>
                </a:lnTo>
                <a:lnTo>
                  <a:pt x="57687" y="52373"/>
                </a:lnTo>
                <a:lnTo>
                  <a:pt x="57034" y="52673"/>
                </a:lnTo>
                <a:lnTo>
                  <a:pt x="4153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1" name="Illustrative delivered road transport cost class 2; reference terminal Durban"/>
          <p:cNvSpPr/>
          <p:nvPr/>
        </p:nvSpPr>
        <p:spPr>
          <a:xfrm>
            <a:off x="3992667"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2" name="Illustrative delivered road transport cost class 2; reference terminal Durban"/>
          <p:cNvSpPr/>
          <p:nvPr/>
        </p:nvSpPr>
        <p:spPr>
          <a:xfrm>
            <a:off x="399266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3" name="Illustrative delivered road transport cost class 2; reference terminal Durban"/>
          <p:cNvSpPr/>
          <p:nvPr/>
        </p:nvSpPr>
        <p:spPr>
          <a:xfrm>
            <a:off x="399266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4" name="Illustrative delivered road transport cost class 2; reference terminal Durban"/>
          <p:cNvSpPr/>
          <p:nvPr/>
        </p:nvSpPr>
        <p:spPr>
          <a:xfrm>
            <a:off x="399266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5" name="Illustrative delivered road transport cost class 2; reference terminal Durban"/>
          <p:cNvSpPr/>
          <p:nvPr/>
        </p:nvSpPr>
        <p:spPr>
          <a:xfrm>
            <a:off x="399266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6" name="Illustrative delivered road transport cost class 2; reference terminal Durban"/>
          <p:cNvSpPr/>
          <p:nvPr/>
        </p:nvSpPr>
        <p:spPr>
          <a:xfrm>
            <a:off x="399266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7" name="Illustrative delivered road transport cost class 2; reference terminal Durban"/>
          <p:cNvSpPr/>
          <p:nvPr/>
        </p:nvSpPr>
        <p:spPr>
          <a:xfrm>
            <a:off x="399266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8" name="Illustrative delivered road transport cost class 2; reference terminal Durban"/>
          <p:cNvSpPr/>
          <p:nvPr/>
        </p:nvSpPr>
        <p:spPr>
          <a:xfrm>
            <a:off x="399266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9" name="Illustrative delivered road transport cost class 2; reference terminal Lesedi"/>
          <p:cNvSpPr/>
          <p:nvPr/>
        </p:nvSpPr>
        <p:spPr>
          <a:xfrm>
            <a:off x="399266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0" name="Illustrative delivered road transport cost class 2; reference terminal Lesedi"/>
          <p:cNvSpPr/>
          <p:nvPr/>
        </p:nvSpPr>
        <p:spPr>
          <a:xfrm>
            <a:off x="399266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1" name="Illustrative delivered road transport cost class 2; reference terminal Lesedi"/>
          <p:cNvSpPr/>
          <p:nvPr/>
        </p:nvSpPr>
        <p:spPr>
          <a:xfrm>
            <a:off x="399266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2" name="Illustrative delivered road transport cost class 2; reference terminal Lesedi"/>
          <p:cNvSpPr/>
          <p:nvPr/>
        </p:nvSpPr>
        <p:spPr>
          <a:xfrm>
            <a:off x="399266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3" name="Illustrative delivered road transport cost class 2; reference terminal Lesedi"/>
          <p:cNvSpPr/>
          <p:nvPr/>
        </p:nvSpPr>
        <p:spPr>
          <a:xfrm>
            <a:off x="399266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4" name="Illustrative delivered road transport cost class 2; reference terminal Lesedi"/>
          <p:cNvSpPr/>
          <p:nvPr/>
        </p:nvSpPr>
        <p:spPr>
          <a:xfrm>
            <a:off x="399266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5" name="Illustrative delivered road transport cost class 2; reference terminal Lesedi"/>
          <p:cNvSpPr/>
          <p:nvPr/>
        </p:nvSpPr>
        <p:spPr>
          <a:xfrm>
            <a:off x="3992667"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6" name="Illustrative delivered road transport cost class 1; reference terminal Lesedi"/>
          <p:cNvSpPr/>
          <p:nvPr/>
        </p:nvSpPr>
        <p:spPr>
          <a:xfrm>
            <a:off x="3992667"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7" name="Illustrative delivered road transport cost class 1; reference terminal Lesedi"/>
          <p:cNvSpPr/>
          <p:nvPr/>
        </p:nvSpPr>
        <p:spPr>
          <a:xfrm>
            <a:off x="3992667"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8" name="Illustrative delivered road transport cost class 1; reference terminal Lesedi"/>
          <p:cNvSpPr/>
          <p:nvPr/>
        </p:nvSpPr>
        <p:spPr>
          <a:xfrm>
            <a:off x="3992667"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29" name="Illustrative delivered road transport cost class 1; reference terminal Lesedi"/>
          <p:cNvSpPr/>
          <p:nvPr/>
        </p:nvSpPr>
        <p:spPr>
          <a:xfrm>
            <a:off x="399266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0" name="Illustrative delivered road transport cost class 1; reference terminal Lesedi"/>
          <p:cNvSpPr/>
          <p:nvPr/>
        </p:nvSpPr>
        <p:spPr>
          <a:xfrm>
            <a:off x="399266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1" name="Illustrative delivered road transport cost class 1; reference terminal Lesedi"/>
          <p:cNvSpPr/>
          <p:nvPr/>
        </p:nvSpPr>
        <p:spPr>
          <a:xfrm>
            <a:off x="399266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2" name="Illustrative delivered road transport cost class 1; reference terminal Lesedi"/>
          <p:cNvSpPr/>
          <p:nvPr/>
        </p:nvSpPr>
        <p:spPr>
          <a:xfrm>
            <a:off x="399266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3" name="Illustrative delivered road transport cost class 1; reference terminal Lesedi"/>
          <p:cNvSpPr/>
          <p:nvPr/>
        </p:nvSpPr>
        <p:spPr>
          <a:xfrm>
            <a:off x="399266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4" name="Illustrative delivered road transport cost class 1; reference terminal Lesedi"/>
          <p:cNvSpPr/>
          <p:nvPr/>
        </p:nvSpPr>
        <p:spPr>
          <a:xfrm>
            <a:off x="399266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5" name="Illustrative delivered road transport cost class 1; reference terminal Lesedi"/>
          <p:cNvSpPr/>
          <p:nvPr/>
        </p:nvSpPr>
        <p:spPr>
          <a:xfrm>
            <a:off x="399266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6" name="Illustrative delivered road transport cost class 1; reference terminal Lesedi"/>
          <p:cNvSpPr/>
          <p:nvPr/>
        </p:nvSpPr>
        <p:spPr>
          <a:xfrm>
            <a:off x="399266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7" name="Illustrative delivered road transport cost class 0; reference terminal Lesedi"/>
          <p:cNvSpPr/>
          <p:nvPr/>
        </p:nvSpPr>
        <p:spPr>
          <a:xfrm>
            <a:off x="399266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8" name="Illustrative delivered road transport cost class 0; reference terminal Lesedi"/>
          <p:cNvSpPr/>
          <p:nvPr/>
        </p:nvSpPr>
        <p:spPr>
          <a:xfrm>
            <a:off x="399266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9" name="Illustrative delivered road transport cost class 0; reference terminal Lesedi"/>
          <p:cNvSpPr/>
          <p:nvPr/>
        </p:nvSpPr>
        <p:spPr>
          <a:xfrm>
            <a:off x="399266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0" name="Illustrative delivered road transport cost class 0; reference terminal Lesedi"/>
          <p:cNvSpPr/>
          <p:nvPr/>
        </p:nvSpPr>
        <p:spPr>
          <a:xfrm>
            <a:off x="399266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1" name="Illustrative delivered road transport cost class 0; reference terminal Lesedi"/>
          <p:cNvSpPr/>
          <p:nvPr/>
        </p:nvSpPr>
        <p:spPr>
          <a:xfrm>
            <a:off x="399266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2" name="Illustrative delivered road transport cost class 0; reference terminal Lesedi"/>
          <p:cNvSpPr/>
          <p:nvPr/>
        </p:nvSpPr>
        <p:spPr>
          <a:xfrm>
            <a:off x="399266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3" name="Illustrative delivered road transport cost class 0; reference terminal Lesedi"/>
          <p:cNvSpPr/>
          <p:nvPr/>
        </p:nvSpPr>
        <p:spPr>
          <a:xfrm>
            <a:off x="399266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4" name="Illustrative delivered road transport cost class 0; reference terminal Lesedi"/>
          <p:cNvSpPr/>
          <p:nvPr/>
        </p:nvSpPr>
        <p:spPr>
          <a:xfrm>
            <a:off x="399266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5" name="Illustrative delivered road transport cost class 0; reference terminal Lesedi"/>
          <p:cNvSpPr/>
          <p:nvPr/>
        </p:nvSpPr>
        <p:spPr>
          <a:xfrm>
            <a:off x="399266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6" name="Illustrative delivered road transport cost class 0; reference terminal Lesedi"/>
          <p:cNvSpPr/>
          <p:nvPr/>
        </p:nvSpPr>
        <p:spPr>
          <a:xfrm>
            <a:off x="399266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7" name="Illustrative delivered road transport cost class 0; reference terminal Lesedi"/>
          <p:cNvSpPr/>
          <p:nvPr/>
        </p:nvSpPr>
        <p:spPr>
          <a:xfrm>
            <a:off x="399266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8" name="Illustrative delivered road transport cost class 1; reference terminal Lesedi"/>
          <p:cNvSpPr/>
          <p:nvPr/>
        </p:nvSpPr>
        <p:spPr>
          <a:xfrm>
            <a:off x="399266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9" name="Illustrative delivered road transport cost class 1; reference terminal Lesedi"/>
          <p:cNvSpPr/>
          <p:nvPr/>
        </p:nvSpPr>
        <p:spPr>
          <a:xfrm>
            <a:off x="399266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0" name="Illustrative delivered road transport cost class 1; reference terminal Lesedi"/>
          <p:cNvSpPr/>
          <p:nvPr/>
        </p:nvSpPr>
        <p:spPr>
          <a:xfrm>
            <a:off x="3992667" y="2919144"/>
            <a:ext cx="57687" cy="40879"/>
          </a:xfrm>
          <a:custGeom>
            <a:avLst/>
            <a:gdLst/>
            <a:ahLst/>
            <a:cxnLst/>
            <a:rect l="l" t="t" r="r" b="b"/>
            <a:pathLst>
              <a:path w="57687" h="40879">
                <a:moveTo>
                  <a:pt x="57687" y="40879"/>
                </a:moveTo>
                <a:lnTo>
                  <a:pt x="0" y="40879"/>
                </a:lnTo>
                <a:lnTo>
                  <a:pt x="0" y="26213"/>
                </a:lnTo>
                <a:lnTo>
                  <a:pt x="38235" y="17540"/>
                </a:lnTo>
                <a:lnTo>
                  <a:pt x="51084" y="9806"/>
                </a:lnTo>
                <a:lnTo>
                  <a:pt x="57687" y="0"/>
                </a:lnTo>
                <a:lnTo>
                  <a:pt x="57687" y="4087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1" name="Illustrative delivered road transport cost class 2; reference terminal Durban"/>
          <p:cNvSpPr/>
          <p:nvPr/>
        </p:nvSpPr>
        <p:spPr>
          <a:xfrm>
            <a:off x="4050354" y="5209799"/>
            <a:ext cx="57687" cy="52373"/>
          </a:xfrm>
          <a:custGeom>
            <a:avLst/>
            <a:gdLst/>
            <a:ahLst/>
            <a:cxnLst/>
            <a:rect l="l" t="t" r="r" b="b"/>
            <a:pathLst>
              <a:path w="57687" h="52373">
                <a:moveTo>
                  <a:pt x="0" y="0"/>
                </a:moveTo>
                <a:lnTo>
                  <a:pt x="57687" y="0"/>
                </a:lnTo>
                <a:lnTo>
                  <a:pt x="57687" y="25879"/>
                </a:lnTo>
                <a:lnTo>
                  <a:pt x="0" y="52373"/>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2" name="Illustrative delivered road transport cost class 2; reference terminal Durban"/>
          <p:cNvSpPr/>
          <p:nvPr/>
        </p:nvSpPr>
        <p:spPr>
          <a:xfrm>
            <a:off x="4050354" y="515211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3" name="Illustrative delivered road transport cost class 2; reference terminal Durban"/>
          <p:cNvSpPr/>
          <p:nvPr/>
        </p:nvSpPr>
        <p:spPr>
          <a:xfrm>
            <a:off x="4050354"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4" name="Illustrative delivered road transport cost class 2; reference terminal Durban"/>
          <p:cNvSpPr/>
          <p:nvPr/>
        </p:nvSpPr>
        <p:spPr>
          <a:xfrm>
            <a:off x="4050354"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5" name="Illustrative delivered road transport cost class 2; reference terminal Durban"/>
          <p:cNvSpPr/>
          <p:nvPr/>
        </p:nvSpPr>
        <p:spPr>
          <a:xfrm>
            <a:off x="4050354"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6" name="Illustrative delivered road transport cost class 2; reference terminal Durban"/>
          <p:cNvSpPr/>
          <p:nvPr/>
        </p:nvSpPr>
        <p:spPr>
          <a:xfrm>
            <a:off x="4050354"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7" name="Illustrative delivered road transport cost class 2; reference terminal Durban"/>
          <p:cNvSpPr/>
          <p:nvPr/>
        </p:nvSpPr>
        <p:spPr>
          <a:xfrm>
            <a:off x="4050354"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8" name="Illustrative delivered road transport cost class 2; reference terminal Durban"/>
          <p:cNvSpPr/>
          <p:nvPr/>
        </p:nvSpPr>
        <p:spPr>
          <a:xfrm>
            <a:off x="4050354"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59" name="Illustrative delivered road transport cost class 2; reference terminal Durban"/>
          <p:cNvSpPr/>
          <p:nvPr/>
        </p:nvSpPr>
        <p:spPr>
          <a:xfrm>
            <a:off x="4050354"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0" name="Illustrative delivered road transport cost class 2; reference terminal Lesedi"/>
          <p:cNvSpPr/>
          <p:nvPr/>
        </p:nvSpPr>
        <p:spPr>
          <a:xfrm>
            <a:off x="4050354"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1" name="Illustrative delivered road transport cost class 2; reference terminal Lesedi"/>
          <p:cNvSpPr/>
          <p:nvPr/>
        </p:nvSpPr>
        <p:spPr>
          <a:xfrm>
            <a:off x="4050354"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2" name="Illustrative delivered road transport cost class 2; reference terminal Lesedi"/>
          <p:cNvSpPr/>
          <p:nvPr/>
        </p:nvSpPr>
        <p:spPr>
          <a:xfrm>
            <a:off x="4050354"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3" name="Illustrative delivered road transport cost class 2; reference terminal Lesedi"/>
          <p:cNvSpPr/>
          <p:nvPr/>
        </p:nvSpPr>
        <p:spPr>
          <a:xfrm>
            <a:off x="4050354"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4" name="Illustrative delivered road transport cost class 2; reference terminal Lesedi"/>
          <p:cNvSpPr/>
          <p:nvPr/>
        </p:nvSpPr>
        <p:spPr>
          <a:xfrm>
            <a:off x="4050354"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5" name="Illustrative delivered road transport cost class 2; reference terminal Lesedi"/>
          <p:cNvSpPr/>
          <p:nvPr/>
        </p:nvSpPr>
        <p:spPr>
          <a:xfrm>
            <a:off x="4050354"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6" name="Illustrative delivered road transport cost class 2; reference terminal Lesedi"/>
          <p:cNvSpPr/>
          <p:nvPr/>
        </p:nvSpPr>
        <p:spPr>
          <a:xfrm>
            <a:off x="4050354"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7" name="Illustrative delivered road transport cost class 1; reference terminal Lesedi"/>
          <p:cNvSpPr/>
          <p:nvPr/>
        </p:nvSpPr>
        <p:spPr>
          <a:xfrm>
            <a:off x="4050354"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8" name="Illustrative delivered road transport cost class 1; reference terminal Lesedi"/>
          <p:cNvSpPr/>
          <p:nvPr/>
        </p:nvSpPr>
        <p:spPr>
          <a:xfrm>
            <a:off x="4050354"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69" name="Illustrative delivered road transport cost class 1; reference terminal Lesedi"/>
          <p:cNvSpPr/>
          <p:nvPr/>
        </p:nvSpPr>
        <p:spPr>
          <a:xfrm>
            <a:off x="4050354"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0" name="Illustrative delivered road transport cost class 1; reference terminal Lesedi"/>
          <p:cNvSpPr/>
          <p:nvPr/>
        </p:nvSpPr>
        <p:spPr>
          <a:xfrm>
            <a:off x="4050354"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1" name="Illustrative delivered road transport cost class 1; reference terminal Lesedi"/>
          <p:cNvSpPr/>
          <p:nvPr/>
        </p:nvSpPr>
        <p:spPr>
          <a:xfrm>
            <a:off x="4050354"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2" name="Illustrative delivered road transport cost class 1; reference terminal Lesedi"/>
          <p:cNvSpPr/>
          <p:nvPr/>
        </p:nvSpPr>
        <p:spPr>
          <a:xfrm>
            <a:off x="4050354"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3" name="Illustrative delivered road transport cost class 1; reference terminal Lesedi"/>
          <p:cNvSpPr/>
          <p:nvPr/>
        </p:nvSpPr>
        <p:spPr>
          <a:xfrm>
            <a:off x="4050354"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4" name="Illustrative delivered road transport cost class 1; reference terminal Lesedi"/>
          <p:cNvSpPr/>
          <p:nvPr/>
        </p:nvSpPr>
        <p:spPr>
          <a:xfrm>
            <a:off x="4050354"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5" name="Illustrative delivered road transport cost class 1; reference terminal Lesedi"/>
          <p:cNvSpPr/>
          <p:nvPr/>
        </p:nvSpPr>
        <p:spPr>
          <a:xfrm>
            <a:off x="4050354"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6" name="Illustrative delivered road transport cost class 0; reference terminal Lesedi"/>
          <p:cNvSpPr/>
          <p:nvPr/>
        </p:nvSpPr>
        <p:spPr>
          <a:xfrm>
            <a:off x="4050354"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7" name="Illustrative delivered road transport cost class 0; reference terminal Lesedi"/>
          <p:cNvSpPr/>
          <p:nvPr/>
        </p:nvSpPr>
        <p:spPr>
          <a:xfrm>
            <a:off x="4050354"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8" name="Illustrative delivered road transport cost class 0; reference terminal Lesedi"/>
          <p:cNvSpPr/>
          <p:nvPr/>
        </p:nvSpPr>
        <p:spPr>
          <a:xfrm>
            <a:off x="4050354"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9" name="Illustrative delivered road transport cost class 0; reference terminal Lesedi"/>
          <p:cNvSpPr/>
          <p:nvPr/>
        </p:nvSpPr>
        <p:spPr>
          <a:xfrm>
            <a:off x="4050354"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0" name="Illustrative delivered road transport cost class 0; reference terminal Lesedi"/>
          <p:cNvSpPr/>
          <p:nvPr/>
        </p:nvSpPr>
        <p:spPr>
          <a:xfrm>
            <a:off x="4050354"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1" name="Illustrative delivered road transport cost class 0; reference terminal Lesedi"/>
          <p:cNvSpPr/>
          <p:nvPr/>
        </p:nvSpPr>
        <p:spPr>
          <a:xfrm>
            <a:off x="4050354"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2" name="Illustrative delivered road transport cost class 0; reference terminal Lesedi"/>
          <p:cNvSpPr/>
          <p:nvPr/>
        </p:nvSpPr>
        <p:spPr>
          <a:xfrm>
            <a:off x="4050354"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3" name="Illustrative delivered road transport cost class 0; reference terminal Lesedi"/>
          <p:cNvSpPr/>
          <p:nvPr/>
        </p:nvSpPr>
        <p:spPr>
          <a:xfrm>
            <a:off x="4050354"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4" name="Illustrative delivered road transport cost class 0; reference terminal Lesedi"/>
          <p:cNvSpPr/>
          <p:nvPr/>
        </p:nvSpPr>
        <p:spPr>
          <a:xfrm>
            <a:off x="4050354"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5" name="Illustrative delivered road transport cost class 0; reference terminal Lesedi"/>
          <p:cNvSpPr/>
          <p:nvPr/>
        </p:nvSpPr>
        <p:spPr>
          <a:xfrm>
            <a:off x="4050354"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6" name="Illustrative delivered road transport cost class 0; reference terminal Lesedi"/>
          <p:cNvSpPr/>
          <p:nvPr/>
        </p:nvSpPr>
        <p:spPr>
          <a:xfrm>
            <a:off x="4050354"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7" name="Illustrative delivered road transport cost class 0; reference terminal Lesedi"/>
          <p:cNvSpPr/>
          <p:nvPr/>
        </p:nvSpPr>
        <p:spPr>
          <a:xfrm>
            <a:off x="4050354"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8" name="Illustrative delivered road transport cost class 0; reference terminal Lesedi"/>
          <p:cNvSpPr/>
          <p:nvPr/>
        </p:nvSpPr>
        <p:spPr>
          <a:xfrm>
            <a:off x="4050354"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89" name="Illustrative delivered road transport cost class 0; reference terminal Lesedi"/>
          <p:cNvSpPr/>
          <p:nvPr/>
        </p:nvSpPr>
        <p:spPr>
          <a:xfrm>
            <a:off x="4050354"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0" name="Illustrative delivered road transport cost class 1; reference terminal Lesedi"/>
          <p:cNvSpPr/>
          <p:nvPr/>
        </p:nvSpPr>
        <p:spPr>
          <a:xfrm>
            <a:off x="4050354"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1" name="Illustrative delivered road transport cost class 1; reference terminal Lesedi"/>
          <p:cNvSpPr/>
          <p:nvPr/>
        </p:nvSpPr>
        <p:spPr>
          <a:xfrm>
            <a:off x="4050354" y="2902337"/>
            <a:ext cx="57687" cy="57686"/>
          </a:xfrm>
          <a:custGeom>
            <a:avLst/>
            <a:gdLst/>
            <a:ahLst/>
            <a:cxnLst/>
            <a:rect l="l" t="t" r="r" b="b"/>
            <a:pathLst>
              <a:path w="57687" h="57686">
                <a:moveTo>
                  <a:pt x="57687" y="0"/>
                </a:moveTo>
                <a:lnTo>
                  <a:pt x="57687" y="57686"/>
                </a:lnTo>
                <a:lnTo>
                  <a:pt x="0" y="57686"/>
                </a:lnTo>
                <a:lnTo>
                  <a:pt x="0" y="16807"/>
                </a:lnTo>
                <a:lnTo>
                  <a:pt x="5245" y="9018"/>
                </a:lnTo>
                <a:lnTo>
                  <a:pt x="13603"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2" name="Illustrative delivered road transport cost class None; reference terminal None"/>
          <p:cNvSpPr/>
          <p:nvPr/>
        </p:nvSpPr>
        <p:spPr>
          <a:xfrm>
            <a:off x="4063957" y="2863525"/>
            <a:ext cx="44084" cy="38812"/>
          </a:xfrm>
          <a:custGeom>
            <a:avLst/>
            <a:gdLst/>
            <a:ahLst/>
            <a:cxnLst/>
            <a:rect l="l" t="t" r="r" b="b"/>
            <a:pathLst>
              <a:path w="44084" h="38812">
                <a:moveTo>
                  <a:pt x="44084" y="38812"/>
                </a:moveTo>
                <a:lnTo>
                  <a:pt x="0" y="38812"/>
                </a:lnTo>
                <a:lnTo>
                  <a:pt x="19199" y="18095"/>
                </a:lnTo>
                <a:lnTo>
                  <a:pt x="44084" y="0"/>
                </a:lnTo>
                <a:lnTo>
                  <a:pt x="44084" y="388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3" name="Illustrative delivered road transport cost class 2; reference terminal Durban"/>
          <p:cNvSpPr/>
          <p:nvPr/>
        </p:nvSpPr>
        <p:spPr>
          <a:xfrm>
            <a:off x="4108041" y="5209799"/>
            <a:ext cx="52253" cy="25879"/>
          </a:xfrm>
          <a:custGeom>
            <a:avLst/>
            <a:gdLst/>
            <a:ahLst/>
            <a:cxnLst/>
            <a:rect l="l" t="t" r="r" b="b"/>
            <a:pathLst>
              <a:path w="52253" h="25879">
                <a:moveTo>
                  <a:pt x="0" y="0"/>
                </a:moveTo>
                <a:lnTo>
                  <a:pt x="52253" y="0"/>
                </a:lnTo>
                <a:lnTo>
                  <a:pt x="41856" y="6655"/>
                </a:lnTo>
                <a:lnTo>
                  <a:pt x="0" y="2587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4" name="Illustrative delivered road transport cost class 2; reference terminal Durban"/>
          <p:cNvSpPr/>
          <p:nvPr/>
        </p:nvSpPr>
        <p:spPr>
          <a:xfrm>
            <a:off x="4108041" y="5152113"/>
            <a:ext cx="57686" cy="57686"/>
          </a:xfrm>
          <a:custGeom>
            <a:avLst/>
            <a:gdLst/>
            <a:ahLst/>
            <a:cxnLst/>
            <a:rect l="l" t="t" r="r" b="b"/>
            <a:pathLst>
              <a:path w="57686" h="57686">
                <a:moveTo>
                  <a:pt x="0" y="57686"/>
                </a:moveTo>
                <a:lnTo>
                  <a:pt x="0" y="0"/>
                </a:lnTo>
                <a:lnTo>
                  <a:pt x="57686" y="0"/>
                </a:lnTo>
                <a:lnTo>
                  <a:pt x="57686" y="54209"/>
                </a:lnTo>
                <a:lnTo>
                  <a:pt x="52253"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5" name="Illustrative delivered road transport cost class 2; reference terminal Durban"/>
          <p:cNvSpPr/>
          <p:nvPr/>
        </p:nvSpPr>
        <p:spPr>
          <a:xfrm>
            <a:off x="4108041" y="509442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6" name="Illustrative delivered road transport cost class 2; reference terminal Durban"/>
          <p:cNvSpPr/>
          <p:nvPr/>
        </p:nvSpPr>
        <p:spPr>
          <a:xfrm>
            <a:off x="4108041"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7" name="Illustrative delivered road transport cost class 2; reference terminal Durban"/>
          <p:cNvSpPr/>
          <p:nvPr/>
        </p:nvSpPr>
        <p:spPr>
          <a:xfrm>
            <a:off x="4108041"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8" name="Illustrative delivered road transport cost class 2; reference terminal Durban"/>
          <p:cNvSpPr/>
          <p:nvPr/>
        </p:nvSpPr>
        <p:spPr>
          <a:xfrm>
            <a:off x="4108041"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99" name="Illustrative delivered road transport cost class 2; reference terminal Durban"/>
          <p:cNvSpPr/>
          <p:nvPr/>
        </p:nvSpPr>
        <p:spPr>
          <a:xfrm>
            <a:off x="4108041"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0" name="Illustrative delivered road transport cost class 2; reference terminal Durban"/>
          <p:cNvSpPr/>
          <p:nvPr/>
        </p:nvSpPr>
        <p:spPr>
          <a:xfrm>
            <a:off x="4108041"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1" name="Illustrative delivered road transport cost class 2; reference terminal Durban"/>
          <p:cNvSpPr/>
          <p:nvPr/>
        </p:nvSpPr>
        <p:spPr>
          <a:xfrm>
            <a:off x="4108041"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2" name="Illustrative delivered road transport cost class 2; reference terminal Lesedi"/>
          <p:cNvSpPr/>
          <p:nvPr/>
        </p:nvSpPr>
        <p:spPr>
          <a:xfrm>
            <a:off x="4108041"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3" name="Illustrative delivered road transport cost class 2; reference terminal Lesedi"/>
          <p:cNvSpPr/>
          <p:nvPr/>
        </p:nvSpPr>
        <p:spPr>
          <a:xfrm>
            <a:off x="4108041"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4" name="Illustrative delivered road transport cost class 2; reference terminal Lesedi"/>
          <p:cNvSpPr/>
          <p:nvPr/>
        </p:nvSpPr>
        <p:spPr>
          <a:xfrm>
            <a:off x="4108041"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5" name="Illustrative delivered road transport cost class 2; reference terminal Lesedi"/>
          <p:cNvSpPr/>
          <p:nvPr/>
        </p:nvSpPr>
        <p:spPr>
          <a:xfrm>
            <a:off x="4108041"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6" name="Illustrative delivered road transport cost class 2; reference terminal Lesedi"/>
          <p:cNvSpPr/>
          <p:nvPr/>
        </p:nvSpPr>
        <p:spPr>
          <a:xfrm>
            <a:off x="4108041"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7" name="Illustrative delivered road transport cost class 2; reference terminal Lesedi"/>
          <p:cNvSpPr/>
          <p:nvPr/>
        </p:nvSpPr>
        <p:spPr>
          <a:xfrm>
            <a:off x="4108041"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8" name="Illustrative delivered road transport cost class 2; reference terminal Lesedi"/>
          <p:cNvSpPr/>
          <p:nvPr/>
        </p:nvSpPr>
        <p:spPr>
          <a:xfrm>
            <a:off x="4108041"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9" name="Illustrative delivered road transport cost class 2; reference terminal Lesedi"/>
          <p:cNvSpPr/>
          <p:nvPr/>
        </p:nvSpPr>
        <p:spPr>
          <a:xfrm>
            <a:off x="4108041"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0" name="Illustrative delivered road transport cost class 1; reference terminal Lesedi"/>
          <p:cNvSpPr/>
          <p:nvPr/>
        </p:nvSpPr>
        <p:spPr>
          <a:xfrm>
            <a:off x="4108041" y="4229128"/>
            <a:ext cx="57686" cy="57686"/>
          </a:xfrm>
          <a:custGeom>
            <a:avLst/>
            <a:gdLst/>
            <a:ahLst/>
            <a:cxnLst/>
            <a:rect l="l" t="t" r="r" b="b"/>
            <a:pathLst>
              <a:path w="57686" h="57686">
                <a:moveTo>
                  <a:pt x="57686" y="57686"/>
                </a:moveTo>
                <a:lnTo>
                  <a:pt x="0" y="57686"/>
                </a:lnTo>
                <a:lnTo>
                  <a:pt x="0" y="0"/>
                </a:lnTo>
                <a:lnTo>
                  <a:pt x="54598" y="0"/>
                </a:lnTo>
                <a:lnTo>
                  <a:pt x="54495" y="759"/>
                </a:lnTo>
                <a:lnTo>
                  <a:pt x="57686" y="9395"/>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1" name="Illustrative delivered road transport cost class 1; reference terminal Lesedi"/>
          <p:cNvSpPr/>
          <p:nvPr/>
        </p:nvSpPr>
        <p:spPr>
          <a:xfrm>
            <a:off x="4108041" y="4171441"/>
            <a:ext cx="57686" cy="57687"/>
          </a:xfrm>
          <a:custGeom>
            <a:avLst/>
            <a:gdLst/>
            <a:ahLst/>
            <a:cxnLst/>
            <a:rect l="l" t="t" r="r" b="b"/>
            <a:pathLst>
              <a:path w="57686" h="57687">
                <a:moveTo>
                  <a:pt x="0" y="57687"/>
                </a:moveTo>
                <a:lnTo>
                  <a:pt x="0" y="0"/>
                </a:lnTo>
                <a:lnTo>
                  <a:pt x="57686" y="0"/>
                </a:lnTo>
                <a:lnTo>
                  <a:pt x="57686" y="47216"/>
                </a:lnTo>
                <a:lnTo>
                  <a:pt x="55825" y="48626"/>
                </a:lnTo>
                <a:lnTo>
                  <a:pt x="5459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2" name="Illustrative delivered road transport cost class 1; reference terminal Lesedi"/>
          <p:cNvSpPr/>
          <p:nvPr/>
        </p:nvSpPr>
        <p:spPr>
          <a:xfrm>
            <a:off x="4108041"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3" name="Illustrative delivered road transport cost class 1; reference terminal Lesedi"/>
          <p:cNvSpPr/>
          <p:nvPr/>
        </p:nvSpPr>
        <p:spPr>
          <a:xfrm>
            <a:off x="4108041"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4" name="Illustrative delivered road transport cost class 1; reference terminal Lesedi"/>
          <p:cNvSpPr/>
          <p:nvPr/>
        </p:nvSpPr>
        <p:spPr>
          <a:xfrm>
            <a:off x="4108041"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5" name="Illustrative delivered road transport cost class 1; reference terminal Lesedi"/>
          <p:cNvSpPr/>
          <p:nvPr/>
        </p:nvSpPr>
        <p:spPr>
          <a:xfrm>
            <a:off x="4108041"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6" name="Illustrative delivered road transport cost class 1; reference terminal Lesedi"/>
          <p:cNvSpPr/>
          <p:nvPr/>
        </p:nvSpPr>
        <p:spPr>
          <a:xfrm>
            <a:off x="4108041"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7" name="Illustrative delivered road transport cost class 0; reference terminal Lesedi"/>
          <p:cNvSpPr/>
          <p:nvPr/>
        </p:nvSpPr>
        <p:spPr>
          <a:xfrm>
            <a:off x="4108041"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8" name="Illustrative delivered road transport cost class 0; reference terminal Lesedi"/>
          <p:cNvSpPr/>
          <p:nvPr/>
        </p:nvSpPr>
        <p:spPr>
          <a:xfrm>
            <a:off x="4108041"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19" name="Illustrative delivered road transport cost class 0; reference terminal Lesedi"/>
          <p:cNvSpPr/>
          <p:nvPr/>
        </p:nvSpPr>
        <p:spPr>
          <a:xfrm>
            <a:off x="4108041"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0" name="Illustrative delivered road transport cost class 0; reference terminal Lesedi"/>
          <p:cNvSpPr/>
          <p:nvPr/>
        </p:nvSpPr>
        <p:spPr>
          <a:xfrm>
            <a:off x="4108041"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1" name="Illustrative delivered road transport cost class 0; reference terminal Lesedi"/>
          <p:cNvSpPr/>
          <p:nvPr/>
        </p:nvSpPr>
        <p:spPr>
          <a:xfrm>
            <a:off x="4108041"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2" name="Illustrative delivered road transport cost class 0; reference terminal Lesedi"/>
          <p:cNvSpPr/>
          <p:nvPr/>
        </p:nvSpPr>
        <p:spPr>
          <a:xfrm>
            <a:off x="4108041"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3" name="Illustrative delivered road transport cost class 0; reference terminal Lesedi"/>
          <p:cNvSpPr/>
          <p:nvPr/>
        </p:nvSpPr>
        <p:spPr>
          <a:xfrm>
            <a:off x="4108041"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4" name="Illustrative delivered road transport cost class 0; reference terminal Lesedi"/>
          <p:cNvSpPr/>
          <p:nvPr/>
        </p:nvSpPr>
        <p:spPr>
          <a:xfrm>
            <a:off x="4108041"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5" name="Illustrative delivered road transport cost class 0; reference terminal Lesedi"/>
          <p:cNvSpPr/>
          <p:nvPr/>
        </p:nvSpPr>
        <p:spPr>
          <a:xfrm>
            <a:off x="4108041"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6" name="Illustrative delivered road transport cost class 0; reference terminal Lesedi"/>
          <p:cNvSpPr/>
          <p:nvPr/>
        </p:nvSpPr>
        <p:spPr>
          <a:xfrm>
            <a:off x="4108041"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7" name="Illustrative delivered road transport cost class 0; reference terminal Lesedi"/>
          <p:cNvSpPr/>
          <p:nvPr/>
        </p:nvSpPr>
        <p:spPr>
          <a:xfrm>
            <a:off x="4108041"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8" name="Illustrative delivered road transport cost class 0; reference terminal Lesedi"/>
          <p:cNvSpPr/>
          <p:nvPr/>
        </p:nvSpPr>
        <p:spPr>
          <a:xfrm>
            <a:off x="4108041"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29" name="Illustrative delivered road transport cost class 0; reference terminal Lesedi"/>
          <p:cNvSpPr/>
          <p:nvPr/>
        </p:nvSpPr>
        <p:spPr>
          <a:xfrm>
            <a:off x="4108041"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0" name="Illustrative delivered road transport cost class 0; reference terminal Lesedi"/>
          <p:cNvSpPr/>
          <p:nvPr/>
        </p:nvSpPr>
        <p:spPr>
          <a:xfrm>
            <a:off x="4108041"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1" name="Illustrative delivered road transport cost class 0; reference terminal Lesedi"/>
          <p:cNvSpPr/>
          <p:nvPr/>
        </p:nvSpPr>
        <p:spPr>
          <a:xfrm>
            <a:off x="4108041"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2" name="Illustrative delivered road transport cost class 1; reference terminal Lesedi"/>
          <p:cNvSpPr/>
          <p:nvPr/>
        </p:nvSpPr>
        <p:spPr>
          <a:xfrm>
            <a:off x="4108041"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3" name="Illustrative delivered road transport cost class None; reference terminal None"/>
          <p:cNvSpPr/>
          <p:nvPr/>
        </p:nvSpPr>
        <p:spPr>
          <a:xfrm>
            <a:off x="4108041"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4" name="Illustrative delivered road transport cost class None; reference terminal None"/>
          <p:cNvSpPr/>
          <p:nvPr/>
        </p:nvSpPr>
        <p:spPr>
          <a:xfrm>
            <a:off x="4108041" y="2844650"/>
            <a:ext cx="57686" cy="57687"/>
          </a:xfrm>
          <a:custGeom>
            <a:avLst/>
            <a:gdLst/>
            <a:ahLst/>
            <a:cxnLst/>
            <a:rect l="l" t="t" r="r" b="b"/>
            <a:pathLst>
              <a:path w="57686" h="57687">
                <a:moveTo>
                  <a:pt x="57686" y="0"/>
                </a:moveTo>
                <a:lnTo>
                  <a:pt x="57686" y="57687"/>
                </a:lnTo>
                <a:lnTo>
                  <a:pt x="0" y="57687"/>
                </a:lnTo>
                <a:lnTo>
                  <a:pt x="0" y="18875"/>
                </a:lnTo>
                <a:lnTo>
                  <a:pt x="9022" y="12315"/>
                </a:lnTo>
                <a:lnTo>
                  <a:pt x="24287"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5" name="Illustrative delivered road transport cost class None; reference terminal None"/>
          <p:cNvSpPr/>
          <p:nvPr/>
        </p:nvSpPr>
        <p:spPr>
          <a:xfrm>
            <a:off x="4132328" y="2786964"/>
            <a:ext cx="33399" cy="57686"/>
          </a:xfrm>
          <a:custGeom>
            <a:avLst/>
            <a:gdLst/>
            <a:ahLst/>
            <a:cxnLst/>
            <a:rect l="l" t="t" r="r" b="b"/>
            <a:pathLst>
              <a:path w="33399" h="57686">
                <a:moveTo>
                  <a:pt x="33399" y="0"/>
                </a:moveTo>
                <a:lnTo>
                  <a:pt x="33399" y="57686"/>
                </a:lnTo>
                <a:lnTo>
                  <a:pt x="0" y="57686"/>
                </a:lnTo>
                <a:lnTo>
                  <a:pt x="2260" y="55863"/>
                </a:lnTo>
                <a:lnTo>
                  <a:pt x="17708" y="0"/>
                </a:lnTo>
                <a:lnTo>
                  <a:pt x="33399"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6" name="Illustrative delivered road transport cost class None; reference terminal None"/>
          <p:cNvSpPr/>
          <p:nvPr/>
        </p:nvSpPr>
        <p:spPr>
          <a:xfrm>
            <a:off x="4150036" y="2730223"/>
            <a:ext cx="15691" cy="56741"/>
          </a:xfrm>
          <a:custGeom>
            <a:avLst/>
            <a:gdLst/>
            <a:ahLst/>
            <a:cxnLst/>
            <a:rect l="l" t="t" r="r" b="b"/>
            <a:pathLst>
              <a:path w="15691" h="56741">
                <a:moveTo>
                  <a:pt x="15691" y="56741"/>
                </a:moveTo>
                <a:lnTo>
                  <a:pt x="0" y="56741"/>
                </a:lnTo>
                <a:lnTo>
                  <a:pt x="15691" y="0"/>
                </a:lnTo>
                <a:lnTo>
                  <a:pt x="15691" y="5674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7" name="Illustrative delivered road transport cost class 2; reference terminal Durban"/>
          <p:cNvSpPr/>
          <p:nvPr/>
        </p:nvSpPr>
        <p:spPr>
          <a:xfrm>
            <a:off x="4165727" y="5152113"/>
            <a:ext cx="57687" cy="54209"/>
          </a:xfrm>
          <a:custGeom>
            <a:avLst/>
            <a:gdLst/>
            <a:ahLst/>
            <a:cxnLst/>
            <a:rect l="l" t="t" r="r" b="b"/>
            <a:pathLst>
              <a:path w="57687" h="54209">
                <a:moveTo>
                  <a:pt x="0" y="0"/>
                </a:moveTo>
                <a:lnTo>
                  <a:pt x="57687" y="0"/>
                </a:lnTo>
                <a:lnTo>
                  <a:pt x="57687" y="16022"/>
                </a:lnTo>
                <a:lnTo>
                  <a:pt x="46487" y="24455"/>
                </a:lnTo>
                <a:lnTo>
                  <a:pt x="0" y="54209"/>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8" name="Illustrative delivered road transport cost class 2; reference terminal Durban"/>
          <p:cNvSpPr/>
          <p:nvPr/>
        </p:nvSpPr>
        <p:spPr>
          <a:xfrm>
            <a:off x="4165727" y="509442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9" name="Illustrative delivered road transport cost class 2; reference terminal Durban"/>
          <p:cNvSpPr/>
          <p:nvPr/>
        </p:nvSpPr>
        <p:spPr>
          <a:xfrm>
            <a:off x="4165727" y="503674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0" name="Illustrative delivered road transport cost class 2; reference terminal Durban"/>
          <p:cNvSpPr/>
          <p:nvPr/>
        </p:nvSpPr>
        <p:spPr>
          <a:xfrm>
            <a:off x="4165727"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1" name="Illustrative delivered road transport cost class 2; reference terminal Durban"/>
          <p:cNvSpPr/>
          <p:nvPr/>
        </p:nvSpPr>
        <p:spPr>
          <a:xfrm>
            <a:off x="4165727"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2" name="Illustrative delivered road transport cost class 2; reference terminal Durban"/>
          <p:cNvSpPr/>
          <p:nvPr/>
        </p:nvSpPr>
        <p:spPr>
          <a:xfrm>
            <a:off x="4165727"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3" name="Illustrative delivered road transport cost class 2; reference terminal Durban"/>
          <p:cNvSpPr/>
          <p:nvPr/>
        </p:nvSpPr>
        <p:spPr>
          <a:xfrm>
            <a:off x="4165727"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4" name="Illustrative delivered road transport cost class 2; reference terminal Durban"/>
          <p:cNvSpPr/>
          <p:nvPr/>
        </p:nvSpPr>
        <p:spPr>
          <a:xfrm>
            <a:off x="4165727"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5" name="Illustrative delivered road transport cost class 2; reference terminal Durban"/>
          <p:cNvSpPr/>
          <p:nvPr/>
        </p:nvSpPr>
        <p:spPr>
          <a:xfrm>
            <a:off x="4165727"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6" name="Illustrative delivered road transport cost class 2; reference terminal Lesedi"/>
          <p:cNvSpPr/>
          <p:nvPr/>
        </p:nvSpPr>
        <p:spPr>
          <a:xfrm>
            <a:off x="4165727"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7" name="Illustrative delivered road transport cost class 2; reference terminal Lesedi"/>
          <p:cNvSpPr/>
          <p:nvPr/>
        </p:nvSpPr>
        <p:spPr>
          <a:xfrm>
            <a:off x="4165727"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8" name="Illustrative delivered road transport cost class 2; reference terminal Lesedi"/>
          <p:cNvSpPr/>
          <p:nvPr/>
        </p:nvSpPr>
        <p:spPr>
          <a:xfrm>
            <a:off x="4165727"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49" name="Illustrative delivered road transport cost class 2; reference terminal Lesedi"/>
          <p:cNvSpPr/>
          <p:nvPr/>
        </p:nvSpPr>
        <p:spPr>
          <a:xfrm>
            <a:off x="4165727"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0" name="Illustrative delivered road transport cost class 2; reference terminal Lesedi"/>
          <p:cNvSpPr/>
          <p:nvPr/>
        </p:nvSpPr>
        <p:spPr>
          <a:xfrm>
            <a:off x="4165727"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1" name="Illustrative delivered road transport cost class 2; reference terminal Lesedi"/>
          <p:cNvSpPr/>
          <p:nvPr/>
        </p:nvSpPr>
        <p:spPr>
          <a:xfrm>
            <a:off x="4165727" y="4344501"/>
            <a:ext cx="57687" cy="57687"/>
          </a:xfrm>
          <a:custGeom>
            <a:avLst/>
            <a:gdLst/>
            <a:ahLst/>
            <a:cxnLst/>
            <a:rect l="l" t="t" r="r" b="b"/>
            <a:pathLst>
              <a:path w="57687" h="57687">
                <a:moveTo>
                  <a:pt x="57687" y="57687"/>
                </a:moveTo>
                <a:lnTo>
                  <a:pt x="0" y="57687"/>
                </a:lnTo>
                <a:lnTo>
                  <a:pt x="0" y="0"/>
                </a:lnTo>
                <a:lnTo>
                  <a:pt x="53227" y="0"/>
                </a:lnTo>
                <a:lnTo>
                  <a:pt x="57687" y="6645"/>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2" name="Illustrative delivered road transport cost class 2; reference terminal Lesedi"/>
          <p:cNvSpPr/>
          <p:nvPr/>
        </p:nvSpPr>
        <p:spPr>
          <a:xfrm>
            <a:off x="4165727" y="4286814"/>
            <a:ext cx="53227" cy="57687"/>
          </a:xfrm>
          <a:custGeom>
            <a:avLst/>
            <a:gdLst/>
            <a:ahLst/>
            <a:cxnLst/>
            <a:rect l="l" t="t" r="r" b="b"/>
            <a:pathLst>
              <a:path w="53227" h="57687">
                <a:moveTo>
                  <a:pt x="0" y="57687"/>
                </a:moveTo>
                <a:lnTo>
                  <a:pt x="0" y="0"/>
                </a:lnTo>
                <a:lnTo>
                  <a:pt x="19572" y="0"/>
                </a:lnTo>
                <a:lnTo>
                  <a:pt x="27137" y="14551"/>
                </a:lnTo>
                <a:lnTo>
                  <a:pt x="37058" y="33677"/>
                </a:lnTo>
                <a:lnTo>
                  <a:pt x="52829" y="57094"/>
                </a:lnTo>
                <a:lnTo>
                  <a:pt x="5322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3" name="Illustrative delivered road transport cost class 2; reference terminal Lesedi"/>
          <p:cNvSpPr/>
          <p:nvPr/>
        </p:nvSpPr>
        <p:spPr>
          <a:xfrm>
            <a:off x="4165727" y="4238523"/>
            <a:ext cx="19572" cy="48291"/>
          </a:xfrm>
          <a:custGeom>
            <a:avLst/>
            <a:gdLst/>
            <a:ahLst/>
            <a:cxnLst/>
            <a:rect l="l" t="t" r="r" b="b"/>
            <a:pathLst>
              <a:path w="19572" h="48291">
                <a:moveTo>
                  <a:pt x="0" y="48291"/>
                </a:moveTo>
                <a:lnTo>
                  <a:pt x="0" y="0"/>
                </a:lnTo>
                <a:lnTo>
                  <a:pt x="5339" y="14450"/>
                </a:lnTo>
                <a:lnTo>
                  <a:pt x="13562" y="36733"/>
                </a:lnTo>
                <a:lnTo>
                  <a:pt x="19572" y="48291"/>
                </a:lnTo>
                <a:lnTo>
                  <a:pt x="0" y="48291"/>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4" name="Illustrative delivered road transport cost class 2; reference terminal Lesedi"/>
          <p:cNvSpPr/>
          <p:nvPr/>
        </p:nvSpPr>
        <p:spPr>
          <a:xfrm>
            <a:off x="4165727" y="4171441"/>
            <a:ext cx="57687" cy="47216"/>
          </a:xfrm>
          <a:custGeom>
            <a:avLst/>
            <a:gdLst/>
            <a:ahLst/>
            <a:cxnLst/>
            <a:rect l="l" t="t" r="r" b="b"/>
            <a:pathLst>
              <a:path w="57687" h="47216">
                <a:moveTo>
                  <a:pt x="0" y="0"/>
                </a:moveTo>
                <a:lnTo>
                  <a:pt x="57687" y="0"/>
                </a:lnTo>
                <a:lnTo>
                  <a:pt x="57687" y="15727"/>
                </a:lnTo>
                <a:lnTo>
                  <a:pt x="51753" y="22429"/>
                </a:lnTo>
                <a:lnTo>
                  <a:pt x="32104" y="30975"/>
                </a:lnTo>
                <a:lnTo>
                  <a:pt x="6812" y="42057"/>
                </a:lnTo>
                <a:lnTo>
                  <a:pt x="0" y="47216"/>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5" name="Illustrative delivered road transport cost class 1; reference terminal Lesedi"/>
          <p:cNvSpPr/>
          <p:nvPr/>
        </p:nvSpPr>
        <p:spPr>
          <a:xfrm>
            <a:off x="4165727"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6" name="Illustrative delivered road transport cost class 1; reference terminal Lesedi"/>
          <p:cNvSpPr/>
          <p:nvPr/>
        </p:nvSpPr>
        <p:spPr>
          <a:xfrm>
            <a:off x="4165727"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7" name="Illustrative delivered road transport cost class 1; reference terminal Lesedi"/>
          <p:cNvSpPr/>
          <p:nvPr/>
        </p:nvSpPr>
        <p:spPr>
          <a:xfrm>
            <a:off x="4165727"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8" name="Illustrative delivered road transport cost class 1; reference terminal Lesedi"/>
          <p:cNvSpPr/>
          <p:nvPr/>
        </p:nvSpPr>
        <p:spPr>
          <a:xfrm>
            <a:off x="4165727"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59" name="Illustrative delivered road transport cost class 1; reference terminal Lesedi"/>
          <p:cNvSpPr/>
          <p:nvPr/>
        </p:nvSpPr>
        <p:spPr>
          <a:xfrm>
            <a:off x="4165727"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0" name="Illustrative delivered road transport cost class 0; reference terminal Lesedi"/>
          <p:cNvSpPr/>
          <p:nvPr/>
        </p:nvSpPr>
        <p:spPr>
          <a:xfrm>
            <a:off x="4165727"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1" name="Illustrative delivered road transport cost class 0; reference terminal Lesedi"/>
          <p:cNvSpPr/>
          <p:nvPr/>
        </p:nvSpPr>
        <p:spPr>
          <a:xfrm>
            <a:off x="4165727"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2" name="Illustrative delivered road transport cost class 0; reference terminal Lesedi"/>
          <p:cNvSpPr/>
          <p:nvPr/>
        </p:nvSpPr>
        <p:spPr>
          <a:xfrm>
            <a:off x="4165727"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3" name="Illustrative delivered road transport cost class 0; reference terminal Lesedi"/>
          <p:cNvSpPr/>
          <p:nvPr/>
        </p:nvSpPr>
        <p:spPr>
          <a:xfrm>
            <a:off x="4165727"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4" name="Illustrative delivered road transport cost class 0; reference terminal Lesedi"/>
          <p:cNvSpPr/>
          <p:nvPr/>
        </p:nvSpPr>
        <p:spPr>
          <a:xfrm>
            <a:off x="4165727"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5" name="Illustrative delivered road transport cost class 0; reference terminal Lesedi"/>
          <p:cNvSpPr/>
          <p:nvPr/>
        </p:nvSpPr>
        <p:spPr>
          <a:xfrm>
            <a:off x="4165727"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6" name="Illustrative delivered road transport cost class 0; reference terminal Lesedi"/>
          <p:cNvSpPr/>
          <p:nvPr/>
        </p:nvSpPr>
        <p:spPr>
          <a:xfrm>
            <a:off x="4165727"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7" name="Illustrative delivered road transport cost class 0; reference terminal Lesedi"/>
          <p:cNvSpPr/>
          <p:nvPr/>
        </p:nvSpPr>
        <p:spPr>
          <a:xfrm>
            <a:off x="4165727"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8" name="Illustrative delivered road transport cost class 0; reference terminal Lesedi"/>
          <p:cNvSpPr/>
          <p:nvPr/>
        </p:nvSpPr>
        <p:spPr>
          <a:xfrm>
            <a:off x="4165727"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69" name="Illustrative delivered road transport cost class 0; reference terminal Lesedi"/>
          <p:cNvSpPr/>
          <p:nvPr/>
        </p:nvSpPr>
        <p:spPr>
          <a:xfrm>
            <a:off x="4165727"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0" name="Illustrative delivered road transport cost class 0; reference terminal Lesedi"/>
          <p:cNvSpPr/>
          <p:nvPr/>
        </p:nvSpPr>
        <p:spPr>
          <a:xfrm>
            <a:off x="4165727"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1" name="Illustrative delivered road transport cost class 0; reference terminal Lesedi"/>
          <p:cNvSpPr/>
          <p:nvPr/>
        </p:nvSpPr>
        <p:spPr>
          <a:xfrm>
            <a:off x="4165727"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2" name="Illustrative delivered road transport cost class 0; reference terminal Lesedi"/>
          <p:cNvSpPr/>
          <p:nvPr/>
        </p:nvSpPr>
        <p:spPr>
          <a:xfrm>
            <a:off x="4165727"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3" name="Illustrative delivered road transport cost class 0; reference terminal Lesedi"/>
          <p:cNvSpPr/>
          <p:nvPr/>
        </p:nvSpPr>
        <p:spPr>
          <a:xfrm>
            <a:off x="4165727"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4" name="Illustrative delivered road transport cost class 0; reference terminal Lesedi"/>
          <p:cNvSpPr/>
          <p:nvPr/>
        </p:nvSpPr>
        <p:spPr>
          <a:xfrm>
            <a:off x="4165727"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5" name="Illustrative delivered road transport cost class 0; reference terminal Lesedi"/>
          <p:cNvSpPr/>
          <p:nvPr/>
        </p:nvSpPr>
        <p:spPr>
          <a:xfrm>
            <a:off x="4165727"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6" name="Illustrative delivered road transport cost class None; reference terminal None"/>
          <p:cNvSpPr/>
          <p:nvPr/>
        </p:nvSpPr>
        <p:spPr>
          <a:xfrm>
            <a:off x="4165727"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7" name="Illustrative delivered road transport cost class None; reference terminal None"/>
          <p:cNvSpPr/>
          <p:nvPr/>
        </p:nvSpPr>
        <p:spPr>
          <a:xfrm>
            <a:off x="4165727"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8" name="Illustrative delivered road transport cost class None; reference terminal None"/>
          <p:cNvSpPr/>
          <p:nvPr/>
        </p:nvSpPr>
        <p:spPr>
          <a:xfrm>
            <a:off x="4165727"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79" name="Illustrative delivered road transport cost class None; reference terminal None"/>
          <p:cNvSpPr/>
          <p:nvPr/>
        </p:nvSpPr>
        <p:spPr>
          <a:xfrm>
            <a:off x="4165727" y="2729277"/>
            <a:ext cx="57687" cy="57687"/>
          </a:xfrm>
          <a:custGeom>
            <a:avLst/>
            <a:gdLst/>
            <a:ahLst/>
            <a:cxnLst/>
            <a:rect l="l" t="t" r="r" b="b"/>
            <a:pathLst>
              <a:path w="57687" h="57687">
                <a:moveTo>
                  <a:pt x="57687" y="0"/>
                </a:moveTo>
                <a:lnTo>
                  <a:pt x="57687" y="57687"/>
                </a:lnTo>
                <a:lnTo>
                  <a:pt x="0" y="57687"/>
                </a:lnTo>
                <a:lnTo>
                  <a:pt x="0" y="946"/>
                </a:lnTo>
                <a:lnTo>
                  <a:pt x="262"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0" name="Illustrative delivered road transport cost class None; reference terminal None"/>
          <p:cNvSpPr/>
          <p:nvPr/>
        </p:nvSpPr>
        <p:spPr>
          <a:xfrm>
            <a:off x="4165989" y="2671590"/>
            <a:ext cx="57425" cy="57687"/>
          </a:xfrm>
          <a:custGeom>
            <a:avLst/>
            <a:gdLst/>
            <a:ahLst/>
            <a:cxnLst/>
            <a:rect l="l" t="t" r="r" b="b"/>
            <a:pathLst>
              <a:path w="57425" h="57687">
                <a:moveTo>
                  <a:pt x="57425" y="0"/>
                </a:moveTo>
                <a:lnTo>
                  <a:pt x="57425" y="57687"/>
                </a:lnTo>
                <a:lnTo>
                  <a:pt x="0" y="57687"/>
                </a:lnTo>
                <a:lnTo>
                  <a:pt x="2170" y="49838"/>
                </a:lnTo>
                <a:lnTo>
                  <a:pt x="6253" y="34865"/>
                </a:lnTo>
                <a:lnTo>
                  <a:pt x="29955" y="2910"/>
                </a:lnTo>
                <a:lnTo>
                  <a:pt x="33111" y="0"/>
                </a:lnTo>
                <a:lnTo>
                  <a:pt x="57425"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1" name="Illustrative delivered road transport cost class None; reference terminal None"/>
          <p:cNvSpPr/>
          <p:nvPr/>
        </p:nvSpPr>
        <p:spPr>
          <a:xfrm>
            <a:off x="4199100" y="2658698"/>
            <a:ext cx="24314" cy="12892"/>
          </a:xfrm>
          <a:custGeom>
            <a:avLst/>
            <a:gdLst/>
            <a:ahLst/>
            <a:cxnLst/>
            <a:rect l="l" t="t" r="r" b="b"/>
            <a:pathLst>
              <a:path w="24314" h="12892">
                <a:moveTo>
                  <a:pt x="24314" y="12892"/>
                </a:moveTo>
                <a:lnTo>
                  <a:pt x="0" y="12892"/>
                </a:lnTo>
                <a:lnTo>
                  <a:pt x="11401" y="2384"/>
                </a:lnTo>
                <a:lnTo>
                  <a:pt x="20640" y="2296"/>
                </a:lnTo>
                <a:lnTo>
                  <a:pt x="24314" y="0"/>
                </a:lnTo>
                <a:lnTo>
                  <a:pt x="24314" y="1289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2" name="Illustrative delivered road transport cost class 2; reference terminal Durban"/>
          <p:cNvSpPr/>
          <p:nvPr/>
        </p:nvSpPr>
        <p:spPr>
          <a:xfrm>
            <a:off x="4223414" y="5152113"/>
            <a:ext cx="21282" cy="16022"/>
          </a:xfrm>
          <a:custGeom>
            <a:avLst/>
            <a:gdLst/>
            <a:ahLst/>
            <a:cxnLst/>
            <a:rect l="l" t="t" r="r" b="b"/>
            <a:pathLst>
              <a:path w="21282" h="16022">
                <a:moveTo>
                  <a:pt x="0" y="0"/>
                </a:moveTo>
                <a:lnTo>
                  <a:pt x="21282" y="0"/>
                </a:lnTo>
                <a:lnTo>
                  <a:pt x="0" y="16022"/>
                </a:lnTo>
                <a:lnTo>
                  <a:pt x="0"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3" name="Illustrative delivered road transport cost class 2; reference terminal Durban"/>
          <p:cNvSpPr/>
          <p:nvPr/>
        </p:nvSpPr>
        <p:spPr>
          <a:xfrm>
            <a:off x="4223414" y="5094426"/>
            <a:ext cx="57686" cy="57687"/>
          </a:xfrm>
          <a:custGeom>
            <a:avLst/>
            <a:gdLst/>
            <a:ahLst/>
            <a:cxnLst/>
            <a:rect l="l" t="t" r="r" b="b"/>
            <a:pathLst>
              <a:path w="57686" h="57687">
                <a:moveTo>
                  <a:pt x="0" y="57687"/>
                </a:moveTo>
                <a:lnTo>
                  <a:pt x="0" y="0"/>
                </a:lnTo>
                <a:lnTo>
                  <a:pt x="57686" y="0"/>
                </a:lnTo>
                <a:lnTo>
                  <a:pt x="57686" y="30279"/>
                </a:lnTo>
                <a:lnTo>
                  <a:pt x="21282"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4" name="Illustrative delivered road transport cost class 2; reference terminal Durban"/>
          <p:cNvSpPr/>
          <p:nvPr/>
        </p:nvSpPr>
        <p:spPr>
          <a:xfrm>
            <a:off x="4223414" y="503674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5" name="Illustrative delivered road transport cost class 2; reference terminal Durban"/>
          <p:cNvSpPr/>
          <p:nvPr/>
        </p:nvSpPr>
        <p:spPr>
          <a:xfrm>
            <a:off x="4223414" y="497905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6" name="Illustrative delivered road transport cost class 1; reference terminal Durban"/>
          <p:cNvSpPr/>
          <p:nvPr/>
        </p:nvSpPr>
        <p:spPr>
          <a:xfrm>
            <a:off x="4223414"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7" name="Illustrative delivered road transport cost class 1; reference terminal Durban"/>
          <p:cNvSpPr/>
          <p:nvPr/>
        </p:nvSpPr>
        <p:spPr>
          <a:xfrm>
            <a:off x="4223414"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8" name="Illustrative delivered road transport cost class 1; reference terminal Durban"/>
          <p:cNvSpPr/>
          <p:nvPr/>
        </p:nvSpPr>
        <p:spPr>
          <a:xfrm>
            <a:off x="4223414"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89" name="Illustrative delivered road transport cost class 1; reference terminal Durban"/>
          <p:cNvSpPr/>
          <p:nvPr/>
        </p:nvSpPr>
        <p:spPr>
          <a:xfrm>
            <a:off x="4223414"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0" name="Illustrative delivered road transport cost class 2; reference terminal Durban"/>
          <p:cNvSpPr/>
          <p:nvPr/>
        </p:nvSpPr>
        <p:spPr>
          <a:xfrm>
            <a:off x="4223414"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1" name="Illustrative delivered road transport cost class 2; reference terminal Lesedi"/>
          <p:cNvSpPr/>
          <p:nvPr/>
        </p:nvSpPr>
        <p:spPr>
          <a:xfrm>
            <a:off x="4223414"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2" name="Illustrative delivered road transport cost class 2; reference terminal Lesedi"/>
          <p:cNvSpPr/>
          <p:nvPr/>
        </p:nvSpPr>
        <p:spPr>
          <a:xfrm>
            <a:off x="4223414"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3" name="Illustrative delivered road transport cost class 2; reference terminal Lesedi"/>
          <p:cNvSpPr/>
          <p:nvPr/>
        </p:nvSpPr>
        <p:spPr>
          <a:xfrm>
            <a:off x="4223414"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4" name="Illustrative delivered road transport cost class 2; reference terminal Lesedi"/>
          <p:cNvSpPr/>
          <p:nvPr/>
        </p:nvSpPr>
        <p:spPr>
          <a:xfrm>
            <a:off x="4223414"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5" name="Illustrative delivered road transport cost class 2; reference terminal Lesedi"/>
          <p:cNvSpPr/>
          <p:nvPr/>
        </p:nvSpPr>
        <p:spPr>
          <a:xfrm>
            <a:off x="4223414" y="4402188"/>
            <a:ext cx="57686" cy="57686"/>
          </a:xfrm>
          <a:custGeom>
            <a:avLst/>
            <a:gdLst/>
            <a:ahLst/>
            <a:cxnLst/>
            <a:rect l="l" t="t" r="r" b="b"/>
            <a:pathLst>
              <a:path w="57686" h="57686">
                <a:moveTo>
                  <a:pt x="57686" y="57686"/>
                </a:moveTo>
                <a:lnTo>
                  <a:pt x="0" y="57686"/>
                </a:lnTo>
                <a:lnTo>
                  <a:pt x="0" y="0"/>
                </a:lnTo>
                <a:lnTo>
                  <a:pt x="17701" y="0"/>
                </a:lnTo>
                <a:lnTo>
                  <a:pt x="20286" y="1798"/>
                </a:lnTo>
                <a:lnTo>
                  <a:pt x="33574" y="8598"/>
                </a:lnTo>
                <a:lnTo>
                  <a:pt x="36706" y="13013"/>
                </a:lnTo>
                <a:lnTo>
                  <a:pt x="45952" y="20958"/>
                </a:lnTo>
                <a:lnTo>
                  <a:pt x="54637" y="35267"/>
                </a:lnTo>
                <a:lnTo>
                  <a:pt x="57686" y="38904"/>
                </a:lnTo>
                <a:lnTo>
                  <a:pt x="57686"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6" name="Illustrative delivered road transport cost class 2; reference terminal Lesedi"/>
          <p:cNvSpPr/>
          <p:nvPr/>
        </p:nvSpPr>
        <p:spPr>
          <a:xfrm>
            <a:off x="4223414" y="4351146"/>
            <a:ext cx="17701" cy="51042"/>
          </a:xfrm>
          <a:custGeom>
            <a:avLst/>
            <a:gdLst/>
            <a:ahLst/>
            <a:cxnLst/>
            <a:rect l="l" t="t" r="r" b="b"/>
            <a:pathLst>
              <a:path w="17701" h="51042">
                <a:moveTo>
                  <a:pt x="0" y="51042"/>
                </a:moveTo>
                <a:lnTo>
                  <a:pt x="0" y="0"/>
                </a:lnTo>
                <a:lnTo>
                  <a:pt x="4354" y="6488"/>
                </a:lnTo>
                <a:lnTo>
                  <a:pt x="2632" y="29167"/>
                </a:lnTo>
                <a:lnTo>
                  <a:pt x="5652" y="37373"/>
                </a:lnTo>
                <a:lnTo>
                  <a:pt x="10875" y="46874"/>
                </a:lnTo>
                <a:lnTo>
                  <a:pt x="15288" y="49363"/>
                </a:lnTo>
                <a:lnTo>
                  <a:pt x="17701" y="51042"/>
                </a:lnTo>
                <a:lnTo>
                  <a:pt x="0" y="51042"/>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7" name="Illustrative delivered road transport cost class None; reference terminal None"/>
          <p:cNvSpPr/>
          <p:nvPr/>
        </p:nvSpPr>
        <p:spPr>
          <a:xfrm>
            <a:off x="4223414" y="4171441"/>
            <a:ext cx="12464" cy="15727"/>
          </a:xfrm>
          <a:custGeom>
            <a:avLst/>
            <a:gdLst/>
            <a:ahLst/>
            <a:cxnLst/>
            <a:rect l="l" t="t" r="r" b="b"/>
            <a:pathLst>
              <a:path w="12464" h="15727">
                <a:moveTo>
                  <a:pt x="0" y="0"/>
                </a:moveTo>
                <a:lnTo>
                  <a:pt x="12464" y="0"/>
                </a:lnTo>
                <a:lnTo>
                  <a:pt x="8330" y="6319"/>
                </a:lnTo>
                <a:lnTo>
                  <a:pt x="0" y="1572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8" name="Illustrative delivered road transport cost class None; reference terminal None"/>
          <p:cNvSpPr/>
          <p:nvPr/>
        </p:nvSpPr>
        <p:spPr>
          <a:xfrm>
            <a:off x="4223414" y="4113755"/>
            <a:ext cx="53309" cy="57686"/>
          </a:xfrm>
          <a:custGeom>
            <a:avLst/>
            <a:gdLst/>
            <a:ahLst/>
            <a:cxnLst/>
            <a:rect l="l" t="t" r="r" b="b"/>
            <a:pathLst>
              <a:path w="53309" h="57686">
                <a:moveTo>
                  <a:pt x="0" y="57686"/>
                </a:moveTo>
                <a:lnTo>
                  <a:pt x="0" y="0"/>
                </a:lnTo>
                <a:lnTo>
                  <a:pt x="53309" y="0"/>
                </a:lnTo>
                <a:lnTo>
                  <a:pt x="47645" y="8746"/>
                </a:lnTo>
                <a:lnTo>
                  <a:pt x="39324" y="18915"/>
                </a:lnTo>
                <a:lnTo>
                  <a:pt x="31785" y="25453"/>
                </a:lnTo>
                <a:lnTo>
                  <a:pt x="24064" y="39961"/>
                </a:lnTo>
                <a:lnTo>
                  <a:pt x="1246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99" name="Illustrative delivered road transport cost class None; reference terminal None"/>
          <p:cNvSpPr/>
          <p:nvPr/>
        </p:nvSpPr>
        <p:spPr>
          <a:xfrm>
            <a:off x="4223414" y="4056068"/>
            <a:ext cx="57686" cy="57687"/>
          </a:xfrm>
          <a:custGeom>
            <a:avLst/>
            <a:gdLst/>
            <a:ahLst/>
            <a:cxnLst/>
            <a:rect l="l" t="t" r="r" b="b"/>
            <a:pathLst>
              <a:path w="57686" h="57687">
                <a:moveTo>
                  <a:pt x="0" y="57687"/>
                </a:moveTo>
                <a:lnTo>
                  <a:pt x="0" y="0"/>
                </a:lnTo>
                <a:lnTo>
                  <a:pt x="57686" y="0"/>
                </a:lnTo>
                <a:lnTo>
                  <a:pt x="57686" y="50928"/>
                </a:lnTo>
                <a:lnTo>
                  <a:pt x="5330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0" name="Illustrative delivered road transport cost class 1; reference terminal Lesedi"/>
          <p:cNvSpPr/>
          <p:nvPr/>
        </p:nvSpPr>
        <p:spPr>
          <a:xfrm>
            <a:off x="4223414"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1" name="Illustrative delivered road transport cost class 1; reference terminal Lesedi"/>
          <p:cNvSpPr/>
          <p:nvPr/>
        </p:nvSpPr>
        <p:spPr>
          <a:xfrm>
            <a:off x="4223414"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2" name="Illustrative delivered road transport cost class 1; reference terminal Lesedi"/>
          <p:cNvSpPr/>
          <p:nvPr/>
        </p:nvSpPr>
        <p:spPr>
          <a:xfrm>
            <a:off x="4223414"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3" name="Illustrative delivered road transport cost class 0; reference terminal Lesedi"/>
          <p:cNvSpPr/>
          <p:nvPr/>
        </p:nvSpPr>
        <p:spPr>
          <a:xfrm>
            <a:off x="4223414"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4" name="Illustrative delivered road transport cost class 0; reference terminal Lesedi"/>
          <p:cNvSpPr/>
          <p:nvPr/>
        </p:nvSpPr>
        <p:spPr>
          <a:xfrm>
            <a:off x="4223414"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5" name="Illustrative delivered road transport cost class 0; reference terminal Lesedi"/>
          <p:cNvSpPr/>
          <p:nvPr/>
        </p:nvSpPr>
        <p:spPr>
          <a:xfrm>
            <a:off x="4223414"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6" name="Illustrative delivered road transport cost class 0; reference terminal Lesedi"/>
          <p:cNvSpPr/>
          <p:nvPr/>
        </p:nvSpPr>
        <p:spPr>
          <a:xfrm>
            <a:off x="4223414"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7" name="Illustrative delivered road transport cost class 0; reference terminal Lesedi"/>
          <p:cNvSpPr/>
          <p:nvPr/>
        </p:nvSpPr>
        <p:spPr>
          <a:xfrm>
            <a:off x="4223414"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8" name="Illustrative delivered road transport cost class 0; reference terminal Lesedi"/>
          <p:cNvSpPr/>
          <p:nvPr/>
        </p:nvSpPr>
        <p:spPr>
          <a:xfrm>
            <a:off x="4223414"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09" name="Illustrative delivered road transport cost class 0; reference terminal Lesedi"/>
          <p:cNvSpPr/>
          <p:nvPr/>
        </p:nvSpPr>
        <p:spPr>
          <a:xfrm>
            <a:off x="4223414"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0" name="Illustrative delivered road transport cost class 0; reference terminal Lesedi"/>
          <p:cNvSpPr/>
          <p:nvPr/>
        </p:nvSpPr>
        <p:spPr>
          <a:xfrm>
            <a:off x="4223414"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1" name="Illustrative delivered road transport cost class 0; reference terminal Lesedi"/>
          <p:cNvSpPr/>
          <p:nvPr/>
        </p:nvSpPr>
        <p:spPr>
          <a:xfrm>
            <a:off x="4223414"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2" name="Illustrative delivered road transport cost class 0; reference terminal Lesedi"/>
          <p:cNvSpPr/>
          <p:nvPr/>
        </p:nvSpPr>
        <p:spPr>
          <a:xfrm>
            <a:off x="4223414"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3" name="Illustrative delivered road transport cost class 0; reference terminal Lesedi"/>
          <p:cNvSpPr/>
          <p:nvPr/>
        </p:nvSpPr>
        <p:spPr>
          <a:xfrm>
            <a:off x="4223414"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4" name="Illustrative delivered road transport cost class 0; reference terminal Lesedi"/>
          <p:cNvSpPr/>
          <p:nvPr/>
        </p:nvSpPr>
        <p:spPr>
          <a:xfrm>
            <a:off x="4223414"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5" name="Illustrative delivered road transport cost class 0; reference terminal Lesedi"/>
          <p:cNvSpPr/>
          <p:nvPr/>
        </p:nvSpPr>
        <p:spPr>
          <a:xfrm>
            <a:off x="4223414"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6" name="Illustrative delivered road transport cost class 0; reference terminal Lesedi"/>
          <p:cNvSpPr/>
          <p:nvPr/>
        </p:nvSpPr>
        <p:spPr>
          <a:xfrm>
            <a:off x="4223414"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7" name="Illustrative delivered road transport cost class 0; reference terminal Lesedi"/>
          <p:cNvSpPr/>
          <p:nvPr/>
        </p:nvSpPr>
        <p:spPr>
          <a:xfrm>
            <a:off x="4223414"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8" name="Illustrative delivered road transport cost class 0; reference terminal Lesedi"/>
          <p:cNvSpPr/>
          <p:nvPr/>
        </p:nvSpPr>
        <p:spPr>
          <a:xfrm>
            <a:off x="4223414"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19" name="Illustrative delivered road transport cost class None; reference terminal None"/>
          <p:cNvSpPr/>
          <p:nvPr/>
        </p:nvSpPr>
        <p:spPr>
          <a:xfrm>
            <a:off x="4223414"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0" name="Illustrative delivered road transport cost class None; reference terminal None"/>
          <p:cNvSpPr/>
          <p:nvPr/>
        </p:nvSpPr>
        <p:spPr>
          <a:xfrm>
            <a:off x="4223414"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1" name="Illustrative delivered road transport cost class None; reference terminal None"/>
          <p:cNvSpPr/>
          <p:nvPr/>
        </p:nvSpPr>
        <p:spPr>
          <a:xfrm>
            <a:off x="4223414"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2" name="Illustrative delivered road transport cost class None; reference terminal None"/>
          <p:cNvSpPr/>
          <p:nvPr/>
        </p:nvSpPr>
        <p:spPr>
          <a:xfrm>
            <a:off x="4223414"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3" name="Illustrative delivered road transport cost class None; reference terminal None"/>
          <p:cNvSpPr/>
          <p:nvPr/>
        </p:nvSpPr>
        <p:spPr>
          <a:xfrm>
            <a:off x="4223414"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4" name="Illustrative delivered road transport cost class None; reference terminal None"/>
          <p:cNvSpPr/>
          <p:nvPr/>
        </p:nvSpPr>
        <p:spPr>
          <a:xfrm>
            <a:off x="4223414" y="2624722"/>
            <a:ext cx="57686" cy="46868"/>
          </a:xfrm>
          <a:custGeom>
            <a:avLst/>
            <a:gdLst/>
            <a:ahLst/>
            <a:cxnLst/>
            <a:rect l="l" t="t" r="r" b="b"/>
            <a:pathLst>
              <a:path w="57686" h="46868">
                <a:moveTo>
                  <a:pt x="57686" y="46868"/>
                </a:moveTo>
                <a:lnTo>
                  <a:pt x="0" y="46868"/>
                </a:lnTo>
                <a:lnTo>
                  <a:pt x="0" y="33976"/>
                </a:lnTo>
                <a:lnTo>
                  <a:pt x="9593" y="27980"/>
                </a:lnTo>
                <a:lnTo>
                  <a:pt x="26902" y="11490"/>
                </a:lnTo>
                <a:lnTo>
                  <a:pt x="47342" y="1504"/>
                </a:lnTo>
                <a:lnTo>
                  <a:pt x="57686" y="0"/>
                </a:lnTo>
                <a:lnTo>
                  <a:pt x="57686" y="4686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5" name="Illustrative delivered road transport cost class 1; reference terminal Durban"/>
          <p:cNvSpPr/>
          <p:nvPr/>
        </p:nvSpPr>
        <p:spPr>
          <a:xfrm>
            <a:off x="4281100" y="5094426"/>
            <a:ext cx="46760" cy="30279"/>
          </a:xfrm>
          <a:custGeom>
            <a:avLst/>
            <a:gdLst/>
            <a:ahLst/>
            <a:cxnLst/>
            <a:rect l="l" t="t" r="r" b="b"/>
            <a:pathLst>
              <a:path w="46760" h="30279">
                <a:moveTo>
                  <a:pt x="0" y="0"/>
                </a:moveTo>
                <a:lnTo>
                  <a:pt x="46760" y="0"/>
                </a:lnTo>
                <a:lnTo>
                  <a:pt x="39941" y="6163"/>
                </a:lnTo>
                <a:lnTo>
                  <a:pt x="18427" y="16406"/>
                </a:lnTo>
                <a:lnTo>
                  <a:pt x="0" y="3027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6" name="Illustrative delivered road transport cost class 1; reference terminal Durban"/>
          <p:cNvSpPr/>
          <p:nvPr/>
        </p:nvSpPr>
        <p:spPr>
          <a:xfrm>
            <a:off x="4281100" y="5036740"/>
            <a:ext cx="57687" cy="57686"/>
          </a:xfrm>
          <a:custGeom>
            <a:avLst/>
            <a:gdLst/>
            <a:ahLst/>
            <a:cxnLst/>
            <a:rect l="l" t="t" r="r" b="b"/>
            <a:pathLst>
              <a:path w="57687" h="57686">
                <a:moveTo>
                  <a:pt x="0" y="57686"/>
                </a:moveTo>
                <a:lnTo>
                  <a:pt x="0" y="0"/>
                </a:lnTo>
                <a:lnTo>
                  <a:pt x="57687" y="0"/>
                </a:lnTo>
                <a:lnTo>
                  <a:pt x="57687" y="47813"/>
                </a:lnTo>
                <a:lnTo>
                  <a:pt x="46760"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7" name="Illustrative delivered road transport cost class 1; reference terminal Durban"/>
          <p:cNvSpPr/>
          <p:nvPr/>
        </p:nvSpPr>
        <p:spPr>
          <a:xfrm>
            <a:off x="4281100" y="497905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8" name="Illustrative delivered road transport cost class 1; reference terminal Durban"/>
          <p:cNvSpPr/>
          <p:nvPr/>
        </p:nvSpPr>
        <p:spPr>
          <a:xfrm>
            <a:off x="4281100"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29" name="Illustrative delivered road transport cost class 1; reference terminal Durban"/>
          <p:cNvSpPr/>
          <p:nvPr/>
        </p:nvSpPr>
        <p:spPr>
          <a:xfrm>
            <a:off x="428110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0" name="Illustrative delivered road transport cost class 1; reference terminal Durban"/>
          <p:cNvSpPr/>
          <p:nvPr/>
        </p:nvSpPr>
        <p:spPr>
          <a:xfrm>
            <a:off x="428110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1" name="Illustrative delivered road transport cost class 1; reference terminal Durban"/>
          <p:cNvSpPr/>
          <p:nvPr/>
        </p:nvSpPr>
        <p:spPr>
          <a:xfrm>
            <a:off x="428110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2" name="Illustrative delivered road transport cost class 1; reference terminal Durban"/>
          <p:cNvSpPr/>
          <p:nvPr/>
        </p:nvSpPr>
        <p:spPr>
          <a:xfrm>
            <a:off x="428110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3" name="Illustrative delivered road transport cost class 1; reference terminal Durban"/>
          <p:cNvSpPr/>
          <p:nvPr/>
        </p:nvSpPr>
        <p:spPr>
          <a:xfrm>
            <a:off x="428110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4" name="Illustrative delivered road transport cost class 2; reference terminal Lesedi"/>
          <p:cNvSpPr/>
          <p:nvPr/>
        </p:nvSpPr>
        <p:spPr>
          <a:xfrm>
            <a:off x="428110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5" name="Illustrative delivered road transport cost class 2; reference terminal Lesedi"/>
          <p:cNvSpPr/>
          <p:nvPr/>
        </p:nvSpPr>
        <p:spPr>
          <a:xfrm>
            <a:off x="428110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6" name="Illustrative delivered road transport cost class 2; reference terminal Lesedi"/>
          <p:cNvSpPr/>
          <p:nvPr/>
        </p:nvSpPr>
        <p:spPr>
          <a:xfrm>
            <a:off x="4281100" y="4459874"/>
            <a:ext cx="57687" cy="57687"/>
          </a:xfrm>
          <a:custGeom>
            <a:avLst/>
            <a:gdLst/>
            <a:ahLst/>
            <a:cxnLst/>
            <a:rect l="l" t="t" r="r" b="b"/>
            <a:pathLst>
              <a:path w="57687" h="57687">
                <a:moveTo>
                  <a:pt x="57687" y="57687"/>
                </a:moveTo>
                <a:lnTo>
                  <a:pt x="0" y="57687"/>
                </a:lnTo>
                <a:lnTo>
                  <a:pt x="0" y="0"/>
                </a:lnTo>
                <a:lnTo>
                  <a:pt x="16796" y="0"/>
                </a:lnTo>
                <a:lnTo>
                  <a:pt x="32339" y="12574"/>
                </a:lnTo>
                <a:lnTo>
                  <a:pt x="57687" y="17906"/>
                </a:lnTo>
                <a:lnTo>
                  <a:pt x="57687"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7" name="Illustrative delivered road transport cost class None; reference terminal None"/>
          <p:cNvSpPr/>
          <p:nvPr/>
        </p:nvSpPr>
        <p:spPr>
          <a:xfrm>
            <a:off x="4281100" y="4441092"/>
            <a:ext cx="16796" cy="18782"/>
          </a:xfrm>
          <a:custGeom>
            <a:avLst/>
            <a:gdLst/>
            <a:ahLst/>
            <a:cxnLst/>
            <a:rect l="l" t="t" r="r" b="b"/>
            <a:pathLst>
              <a:path w="16796" h="18782">
                <a:moveTo>
                  <a:pt x="0" y="18782"/>
                </a:moveTo>
                <a:lnTo>
                  <a:pt x="0" y="0"/>
                </a:lnTo>
                <a:lnTo>
                  <a:pt x="13545" y="16152"/>
                </a:lnTo>
                <a:lnTo>
                  <a:pt x="16796" y="18782"/>
                </a:lnTo>
                <a:lnTo>
                  <a:pt x="0" y="1878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8" name="Illustrative delivered road transport cost class None; reference terminal None"/>
          <p:cNvSpPr/>
          <p:nvPr/>
        </p:nvSpPr>
        <p:spPr>
          <a:xfrm>
            <a:off x="4281100" y="4056068"/>
            <a:ext cx="33084" cy="50928"/>
          </a:xfrm>
          <a:custGeom>
            <a:avLst/>
            <a:gdLst/>
            <a:ahLst/>
            <a:cxnLst/>
            <a:rect l="l" t="t" r="r" b="b"/>
            <a:pathLst>
              <a:path w="33084" h="50928">
                <a:moveTo>
                  <a:pt x="0" y="0"/>
                </a:moveTo>
                <a:lnTo>
                  <a:pt x="33084" y="0"/>
                </a:lnTo>
                <a:lnTo>
                  <a:pt x="20940" y="18711"/>
                </a:lnTo>
                <a:lnTo>
                  <a:pt x="4609" y="43812"/>
                </a:lnTo>
                <a:lnTo>
                  <a:pt x="0" y="50928"/>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39" name="Illustrative delivered road transport cost class None; reference terminal None"/>
          <p:cNvSpPr/>
          <p:nvPr/>
        </p:nvSpPr>
        <p:spPr>
          <a:xfrm>
            <a:off x="4281100" y="3998382"/>
            <a:ext cx="57687" cy="57686"/>
          </a:xfrm>
          <a:custGeom>
            <a:avLst/>
            <a:gdLst/>
            <a:ahLst/>
            <a:cxnLst/>
            <a:rect l="l" t="t" r="r" b="b"/>
            <a:pathLst>
              <a:path w="57687" h="57686">
                <a:moveTo>
                  <a:pt x="0" y="57686"/>
                </a:moveTo>
                <a:lnTo>
                  <a:pt x="0" y="0"/>
                </a:lnTo>
                <a:lnTo>
                  <a:pt x="57687" y="0"/>
                </a:lnTo>
                <a:lnTo>
                  <a:pt x="57687" y="42797"/>
                </a:lnTo>
                <a:lnTo>
                  <a:pt x="38441" y="49434"/>
                </a:lnTo>
                <a:lnTo>
                  <a:pt x="33084"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0" name="Illustrative delivered road transport cost class 1; reference terminal Lesedi"/>
          <p:cNvSpPr/>
          <p:nvPr/>
        </p:nvSpPr>
        <p:spPr>
          <a:xfrm>
            <a:off x="4281100"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1" name="Illustrative delivered road transport cost class 1; reference terminal Lesedi"/>
          <p:cNvSpPr/>
          <p:nvPr/>
        </p:nvSpPr>
        <p:spPr>
          <a:xfrm>
            <a:off x="428110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2" name="Illustrative delivered road transport cost class 1; reference terminal Lesedi"/>
          <p:cNvSpPr/>
          <p:nvPr/>
        </p:nvSpPr>
        <p:spPr>
          <a:xfrm>
            <a:off x="428110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3" name="Illustrative delivered road transport cost class 0; reference terminal Lesedi"/>
          <p:cNvSpPr/>
          <p:nvPr/>
        </p:nvSpPr>
        <p:spPr>
          <a:xfrm>
            <a:off x="428110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4" name="Illustrative delivered road transport cost class 0; reference terminal Lesedi"/>
          <p:cNvSpPr/>
          <p:nvPr/>
        </p:nvSpPr>
        <p:spPr>
          <a:xfrm>
            <a:off x="428110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5" name="Illustrative delivered road transport cost class 0; reference terminal Lesedi"/>
          <p:cNvSpPr/>
          <p:nvPr/>
        </p:nvSpPr>
        <p:spPr>
          <a:xfrm>
            <a:off x="428110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6" name="Illustrative delivered road transport cost class 0; reference terminal Lesedi"/>
          <p:cNvSpPr/>
          <p:nvPr/>
        </p:nvSpPr>
        <p:spPr>
          <a:xfrm>
            <a:off x="428110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7" name="Illustrative delivered road transport cost class 0; reference terminal Lesedi"/>
          <p:cNvSpPr/>
          <p:nvPr/>
        </p:nvSpPr>
        <p:spPr>
          <a:xfrm>
            <a:off x="428110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8" name="Illustrative delivered road transport cost class 0; reference terminal Lesedi"/>
          <p:cNvSpPr/>
          <p:nvPr/>
        </p:nvSpPr>
        <p:spPr>
          <a:xfrm>
            <a:off x="428110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49" name="Illustrative delivered road transport cost class 0; reference terminal Lesedi"/>
          <p:cNvSpPr/>
          <p:nvPr/>
        </p:nvSpPr>
        <p:spPr>
          <a:xfrm>
            <a:off x="428110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0" name="Illustrative delivered road transport cost class 0; reference terminal Lesedi"/>
          <p:cNvSpPr/>
          <p:nvPr/>
        </p:nvSpPr>
        <p:spPr>
          <a:xfrm>
            <a:off x="428110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1" name="Illustrative delivered road transport cost class 0; reference terminal Lesedi"/>
          <p:cNvSpPr/>
          <p:nvPr/>
        </p:nvSpPr>
        <p:spPr>
          <a:xfrm>
            <a:off x="428110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2" name="Illustrative delivered road transport cost class 0; reference terminal Lesedi"/>
          <p:cNvSpPr/>
          <p:nvPr/>
        </p:nvSpPr>
        <p:spPr>
          <a:xfrm>
            <a:off x="428110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3" name="Illustrative delivered road transport cost class 0; reference terminal Lesedi"/>
          <p:cNvSpPr/>
          <p:nvPr/>
        </p:nvSpPr>
        <p:spPr>
          <a:xfrm>
            <a:off x="428110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4" name="Illustrative delivered road transport cost class 0; reference terminal Lesedi"/>
          <p:cNvSpPr/>
          <p:nvPr/>
        </p:nvSpPr>
        <p:spPr>
          <a:xfrm>
            <a:off x="428110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5" name="Illustrative delivered road transport cost class 0; reference terminal Lesedi"/>
          <p:cNvSpPr/>
          <p:nvPr/>
        </p:nvSpPr>
        <p:spPr>
          <a:xfrm>
            <a:off x="428110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6" name="Illustrative delivered road transport cost class 0; reference terminal Lesedi"/>
          <p:cNvSpPr/>
          <p:nvPr/>
        </p:nvSpPr>
        <p:spPr>
          <a:xfrm>
            <a:off x="428110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7" name="Illustrative delivered road transport cost class 0; reference terminal Lesedi"/>
          <p:cNvSpPr/>
          <p:nvPr/>
        </p:nvSpPr>
        <p:spPr>
          <a:xfrm>
            <a:off x="428110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8" name="Illustrative delivered road transport cost class None; reference terminal None"/>
          <p:cNvSpPr/>
          <p:nvPr/>
        </p:nvSpPr>
        <p:spPr>
          <a:xfrm>
            <a:off x="428110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59" name="Illustrative delivered road transport cost class None; reference terminal None"/>
          <p:cNvSpPr/>
          <p:nvPr/>
        </p:nvSpPr>
        <p:spPr>
          <a:xfrm>
            <a:off x="428110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0" name="Illustrative delivered road transport cost class None; reference terminal None"/>
          <p:cNvSpPr/>
          <p:nvPr/>
        </p:nvSpPr>
        <p:spPr>
          <a:xfrm>
            <a:off x="428110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1" name="Illustrative delivered road transport cost class None; reference terminal None"/>
          <p:cNvSpPr/>
          <p:nvPr/>
        </p:nvSpPr>
        <p:spPr>
          <a:xfrm>
            <a:off x="428110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2" name="Illustrative delivered road transport cost class None; reference terminal None"/>
          <p:cNvSpPr/>
          <p:nvPr/>
        </p:nvSpPr>
        <p:spPr>
          <a:xfrm>
            <a:off x="428110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3" name="Illustrative delivered road transport cost class None; reference terminal None"/>
          <p:cNvSpPr/>
          <p:nvPr/>
        </p:nvSpPr>
        <p:spPr>
          <a:xfrm>
            <a:off x="4281100" y="2613904"/>
            <a:ext cx="57687" cy="57686"/>
          </a:xfrm>
          <a:custGeom>
            <a:avLst/>
            <a:gdLst/>
            <a:ahLst/>
            <a:cxnLst/>
            <a:rect l="l" t="t" r="r" b="b"/>
            <a:pathLst>
              <a:path w="57687" h="57686">
                <a:moveTo>
                  <a:pt x="57687" y="0"/>
                </a:moveTo>
                <a:lnTo>
                  <a:pt x="57687" y="57686"/>
                </a:lnTo>
                <a:lnTo>
                  <a:pt x="0" y="57686"/>
                </a:lnTo>
                <a:lnTo>
                  <a:pt x="0" y="10818"/>
                </a:lnTo>
                <a:lnTo>
                  <a:pt x="13219" y="8896"/>
                </a:lnTo>
                <a:lnTo>
                  <a:pt x="25858"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4" name="Illustrative delivered road transport cost class None; reference terminal None"/>
          <p:cNvSpPr/>
          <p:nvPr/>
        </p:nvSpPr>
        <p:spPr>
          <a:xfrm>
            <a:off x="4306958" y="2585046"/>
            <a:ext cx="31829" cy="28858"/>
          </a:xfrm>
          <a:custGeom>
            <a:avLst/>
            <a:gdLst/>
            <a:ahLst/>
            <a:cxnLst/>
            <a:rect l="l" t="t" r="r" b="b"/>
            <a:pathLst>
              <a:path w="31829" h="28858">
                <a:moveTo>
                  <a:pt x="31829" y="28858"/>
                </a:moveTo>
                <a:lnTo>
                  <a:pt x="0" y="28858"/>
                </a:lnTo>
                <a:lnTo>
                  <a:pt x="2787" y="26896"/>
                </a:lnTo>
                <a:lnTo>
                  <a:pt x="10101" y="8669"/>
                </a:lnTo>
                <a:lnTo>
                  <a:pt x="22365" y="0"/>
                </a:lnTo>
                <a:lnTo>
                  <a:pt x="31829" y="478"/>
                </a:lnTo>
                <a:lnTo>
                  <a:pt x="31829" y="2885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5" name="Illustrative delivered road transport cost class 1; reference terminal Durban"/>
          <p:cNvSpPr/>
          <p:nvPr/>
        </p:nvSpPr>
        <p:spPr>
          <a:xfrm>
            <a:off x="4338787" y="5036740"/>
            <a:ext cx="52912" cy="47813"/>
          </a:xfrm>
          <a:custGeom>
            <a:avLst/>
            <a:gdLst/>
            <a:ahLst/>
            <a:cxnLst/>
            <a:rect l="l" t="t" r="r" b="b"/>
            <a:pathLst>
              <a:path w="52912" h="47813">
                <a:moveTo>
                  <a:pt x="0" y="0"/>
                </a:moveTo>
                <a:lnTo>
                  <a:pt x="52912" y="0"/>
                </a:lnTo>
                <a:lnTo>
                  <a:pt x="0" y="4781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6" name="Illustrative delivered road transport cost class 1; reference terminal Durban"/>
          <p:cNvSpPr/>
          <p:nvPr/>
        </p:nvSpPr>
        <p:spPr>
          <a:xfrm>
            <a:off x="4338787" y="4979053"/>
            <a:ext cx="57686" cy="57687"/>
          </a:xfrm>
          <a:custGeom>
            <a:avLst/>
            <a:gdLst/>
            <a:ahLst/>
            <a:cxnLst/>
            <a:rect l="l" t="t" r="r" b="b"/>
            <a:pathLst>
              <a:path w="57686" h="57687">
                <a:moveTo>
                  <a:pt x="0" y="57687"/>
                </a:moveTo>
                <a:lnTo>
                  <a:pt x="0" y="0"/>
                </a:lnTo>
                <a:lnTo>
                  <a:pt x="57686" y="0"/>
                </a:lnTo>
                <a:lnTo>
                  <a:pt x="57686" y="53373"/>
                </a:lnTo>
                <a:lnTo>
                  <a:pt x="5291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7" name="Illustrative delivered road transport cost class 1; reference terminal Durban"/>
          <p:cNvSpPr/>
          <p:nvPr/>
        </p:nvSpPr>
        <p:spPr>
          <a:xfrm>
            <a:off x="4338787" y="492136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8" name="Illustrative delivered road transport cost class 1; reference terminal Durban"/>
          <p:cNvSpPr/>
          <p:nvPr/>
        </p:nvSpPr>
        <p:spPr>
          <a:xfrm>
            <a:off x="4338787" y="486368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69" name="Illustrative delivered road transport cost class 1; reference terminal Durban"/>
          <p:cNvSpPr/>
          <p:nvPr/>
        </p:nvSpPr>
        <p:spPr>
          <a:xfrm>
            <a:off x="433878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0" name="Illustrative delivered road transport cost class 1; reference terminal Durban"/>
          <p:cNvSpPr/>
          <p:nvPr/>
        </p:nvSpPr>
        <p:spPr>
          <a:xfrm>
            <a:off x="433878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1" name="Illustrative delivered road transport cost class 1; reference terminal Durban"/>
          <p:cNvSpPr/>
          <p:nvPr/>
        </p:nvSpPr>
        <p:spPr>
          <a:xfrm>
            <a:off x="433878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2" name="Illustrative delivered road transport cost class 1; reference terminal Durban"/>
          <p:cNvSpPr/>
          <p:nvPr/>
        </p:nvSpPr>
        <p:spPr>
          <a:xfrm>
            <a:off x="433878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3" name="Illustrative delivered road transport cost class 1; reference terminal Durban"/>
          <p:cNvSpPr/>
          <p:nvPr/>
        </p:nvSpPr>
        <p:spPr>
          <a:xfrm>
            <a:off x="433878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4" name="Illustrative delivered road transport cost class None; reference terminal None"/>
          <p:cNvSpPr/>
          <p:nvPr/>
        </p:nvSpPr>
        <p:spPr>
          <a:xfrm>
            <a:off x="433878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5" name="Illustrative delivered road transport cost class None; reference terminal None"/>
          <p:cNvSpPr/>
          <p:nvPr/>
        </p:nvSpPr>
        <p:spPr>
          <a:xfrm>
            <a:off x="4338787" y="4459874"/>
            <a:ext cx="57686" cy="57687"/>
          </a:xfrm>
          <a:custGeom>
            <a:avLst/>
            <a:gdLst/>
            <a:ahLst/>
            <a:cxnLst/>
            <a:rect l="l" t="t" r="r" b="b"/>
            <a:pathLst>
              <a:path w="57686" h="57687">
                <a:moveTo>
                  <a:pt x="57686" y="0"/>
                </a:moveTo>
                <a:lnTo>
                  <a:pt x="57686" y="57687"/>
                </a:lnTo>
                <a:lnTo>
                  <a:pt x="0" y="57687"/>
                </a:lnTo>
                <a:lnTo>
                  <a:pt x="0" y="17906"/>
                </a:lnTo>
                <a:lnTo>
                  <a:pt x="7396" y="19461"/>
                </a:lnTo>
                <a:lnTo>
                  <a:pt x="32990" y="24831"/>
                </a:lnTo>
                <a:lnTo>
                  <a:pt x="41617" y="22181"/>
                </a:lnTo>
                <a:lnTo>
                  <a:pt x="50685" y="10522"/>
                </a:lnTo>
                <a:lnTo>
                  <a:pt x="55986"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6" name="Illustrative delivered road transport cost class None; reference terminal None"/>
          <p:cNvSpPr/>
          <p:nvPr/>
        </p:nvSpPr>
        <p:spPr>
          <a:xfrm>
            <a:off x="4338787" y="3998382"/>
            <a:ext cx="57686" cy="42797"/>
          </a:xfrm>
          <a:custGeom>
            <a:avLst/>
            <a:gdLst/>
            <a:ahLst/>
            <a:cxnLst/>
            <a:rect l="l" t="t" r="r" b="b"/>
            <a:pathLst>
              <a:path w="57686" h="42797">
                <a:moveTo>
                  <a:pt x="0" y="0"/>
                </a:moveTo>
                <a:lnTo>
                  <a:pt x="57686" y="0"/>
                </a:lnTo>
                <a:lnTo>
                  <a:pt x="57686" y="12496"/>
                </a:lnTo>
                <a:lnTo>
                  <a:pt x="31616" y="33586"/>
                </a:lnTo>
                <a:lnTo>
                  <a:pt x="2264" y="42017"/>
                </a:lnTo>
                <a:lnTo>
                  <a:pt x="0" y="42797"/>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7" name="Illustrative delivered road transport cost class None; reference terminal None"/>
          <p:cNvSpPr/>
          <p:nvPr/>
        </p:nvSpPr>
        <p:spPr>
          <a:xfrm>
            <a:off x="4338787"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8" name="Illustrative delivered road transport cost class None; reference terminal None"/>
          <p:cNvSpPr/>
          <p:nvPr/>
        </p:nvSpPr>
        <p:spPr>
          <a:xfrm>
            <a:off x="433878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79" name="Illustrative delivered road transport cost class 1; reference terminal Lesedi"/>
          <p:cNvSpPr/>
          <p:nvPr/>
        </p:nvSpPr>
        <p:spPr>
          <a:xfrm>
            <a:off x="433878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0" name="Illustrative delivered road transport cost class 1; reference terminal Lesedi"/>
          <p:cNvSpPr/>
          <p:nvPr/>
        </p:nvSpPr>
        <p:spPr>
          <a:xfrm>
            <a:off x="433878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1" name="Illustrative delivered road transport cost class 0; reference terminal Lesedi"/>
          <p:cNvSpPr/>
          <p:nvPr/>
        </p:nvSpPr>
        <p:spPr>
          <a:xfrm>
            <a:off x="433878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2" name="Illustrative delivered road transport cost class 0; reference terminal Lesedi"/>
          <p:cNvSpPr/>
          <p:nvPr/>
        </p:nvSpPr>
        <p:spPr>
          <a:xfrm>
            <a:off x="433878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3" name="Illustrative delivered road transport cost class 0; reference terminal Lesedi"/>
          <p:cNvSpPr/>
          <p:nvPr/>
        </p:nvSpPr>
        <p:spPr>
          <a:xfrm>
            <a:off x="433878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4" name="Illustrative delivered road transport cost class 0; reference terminal Lesedi"/>
          <p:cNvSpPr/>
          <p:nvPr/>
        </p:nvSpPr>
        <p:spPr>
          <a:xfrm>
            <a:off x="433878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5" name="Illustrative delivered road transport cost class 0; reference terminal Lesedi"/>
          <p:cNvSpPr/>
          <p:nvPr/>
        </p:nvSpPr>
        <p:spPr>
          <a:xfrm>
            <a:off x="433878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6" name="Illustrative delivered road transport cost class 0; reference terminal Lesedi"/>
          <p:cNvSpPr/>
          <p:nvPr/>
        </p:nvSpPr>
        <p:spPr>
          <a:xfrm>
            <a:off x="433878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7" name="Illustrative delivered road transport cost class 0; reference terminal Lesedi"/>
          <p:cNvSpPr/>
          <p:nvPr/>
        </p:nvSpPr>
        <p:spPr>
          <a:xfrm>
            <a:off x="433878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8" name="Illustrative delivered road transport cost class 0; reference terminal Lesedi"/>
          <p:cNvSpPr/>
          <p:nvPr/>
        </p:nvSpPr>
        <p:spPr>
          <a:xfrm>
            <a:off x="433878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89" name="Illustrative delivered road transport cost class 0; reference terminal Lesedi"/>
          <p:cNvSpPr/>
          <p:nvPr/>
        </p:nvSpPr>
        <p:spPr>
          <a:xfrm>
            <a:off x="433878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0" name="Illustrative delivered road transport cost class 0; reference terminal Lesedi"/>
          <p:cNvSpPr/>
          <p:nvPr/>
        </p:nvSpPr>
        <p:spPr>
          <a:xfrm>
            <a:off x="433878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1" name="Illustrative delivered road transport cost class 0; reference terminal Lesedi"/>
          <p:cNvSpPr/>
          <p:nvPr/>
        </p:nvSpPr>
        <p:spPr>
          <a:xfrm>
            <a:off x="433878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2" name="Illustrative delivered road transport cost class 0; reference terminal Lesedi"/>
          <p:cNvSpPr/>
          <p:nvPr/>
        </p:nvSpPr>
        <p:spPr>
          <a:xfrm>
            <a:off x="433878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3" name="Illustrative delivered road transport cost class 0; reference terminal Lesedi"/>
          <p:cNvSpPr/>
          <p:nvPr/>
        </p:nvSpPr>
        <p:spPr>
          <a:xfrm>
            <a:off x="433878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4" name="Illustrative delivered road transport cost class 0; reference terminal Lesedi"/>
          <p:cNvSpPr/>
          <p:nvPr/>
        </p:nvSpPr>
        <p:spPr>
          <a:xfrm>
            <a:off x="433878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5" name="Illustrative delivered road transport cost class 0; reference terminal Lesedi"/>
          <p:cNvSpPr/>
          <p:nvPr/>
        </p:nvSpPr>
        <p:spPr>
          <a:xfrm>
            <a:off x="433878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6" name="Illustrative delivered road transport cost class None; reference terminal None"/>
          <p:cNvSpPr/>
          <p:nvPr/>
        </p:nvSpPr>
        <p:spPr>
          <a:xfrm>
            <a:off x="433878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7" name="Illustrative delivered road transport cost class None; reference terminal None"/>
          <p:cNvSpPr/>
          <p:nvPr/>
        </p:nvSpPr>
        <p:spPr>
          <a:xfrm>
            <a:off x="433878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8" name="Illustrative delivered road transport cost class None; reference terminal None"/>
          <p:cNvSpPr/>
          <p:nvPr/>
        </p:nvSpPr>
        <p:spPr>
          <a:xfrm>
            <a:off x="433878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99" name="Illustrative delivered road transport cost class None; reference terminal None"/>
          <p:cNvSpPr/>
          <p:nvPr/>
        </p:nvSpPr>
        <p:spPr>
          <a:xfrm>
            <a:off x="433878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0" name="Illustrative delivered road transport cost class None; reference terminal None"/>
          <p:cNvSpPr/>
          <p:nvPr/>
        </p:nvSpPr>
        <p:spPr>
          <a:xfrm>
            <a:off x="433878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1" name="Illustrative delivered road transport cost class None; reference terminal None"/>
          <p:cNvSpPr/>
          <p:nvPr/>
        </p:nvSpPr>
        <p:spPr>
          <a:xfrm>
            <a:off x="4338787" y="2556217"/>
            <a:ext cx="57686" cy="57687"/>
          </a:xfrm>
          <a:custGeom>
            <a:avLst/>
            <a:gdLst/>
            <a:ahLst/>
            <a:cxnLst/>
            <a:rect l="l" t="t" r="r" b="b"/>
            <a:pathLst>
              <a:path w="57686" h="57687">
                <a:moveTo>
                  <a:pt x="57686" y="0"/>
                </a:moveTo>
                <a:lnTo>
                  <a:pt x="57686" y="57687"/>
                </a:lnTo>
                <a:lnTo>
                  <a:pt x="0" y="57687"/>
                </a:lnTo>
                <a:lnTo>
                  <a:pt x="0" y="29307"/>
                </a:lnTo>
                <a:lnTo>
                  <a:pt x="7768" y="29699"/>
                </a:lnTo>
                <a:lnTo>
                  <a:pt x="17695" y="24082"/>
                </a:lnTo>
                <a:lnTo>
                  <a:pt x="20365" y="11922"/>
                </a:lnTo>
                <a:lnTo>
                  <a:pt x="30994" y="1712"/>
                </a:lnTo>
                <a:lnTo>
                  <a:pt x="34844" y="0"/>
                </a:lnTo>
                <a:lnTo>
                  <a:pt x="57686"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2" name="Illustrative delivered road transport cost class None; reference terminal None"/>
          <p:cNvSpPr/>
          <p:nvPr/>
        </p:nvSpPr>
        <p:spPr>
          <a:xfrm>
            <a:off x="4373631" y="2541422"/>
            <a:ext cx="22842" cy="14795"/>
          </a:xfrm>
          <a:custGeom>
            <a:avLst/>
            <a:gdLst/>
            <a:ahLst/>
            <a:cxnLst/>
            <a:rect l="l" t="t" r="r" b="b"/>
            <a:pathLst>
              <a:path w="22842" h="14795">
                <a:moveTo>
                  <a:pt x="22842" y="14795"/>
                </a:moveTo>
                <a:lnTo>
                  <a:pt x="0" y="14795"/>
                </a:lnTo>
                <a:lnTo>
                  <a:pt x="14767" y="8230"/>
                </a:lnTo>
                <a:lnTo>
                  <a:pt x="22842" y="0"/>
                </a:lnTo>
                <a:lnTo>
                  <a:pt x="22842" y="14795"/>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3" name="Illustrative delivered road transport cost class 1; reference terminal Durban"/>
          <p:cNvSpPr/>
          <p:nvPr/>
        </p:nvSpPr>
        <p:spPr>
          <a:xfrm>
            <a:off x="4396473" y="4979053"/>
            <a:ext cx="57687" cy="53373"/>
          </a:xfrm>
          <a:custGeom>
            <a:avLst/>
            <a:gdLst/>
            <a:ahLst/>
            <a:cxnLst/>
            <a:rect l="l" t="t" r="r" b="b"/>
            <a:pathLst>
              <a:path w="57687" h="53373">
                <a:moveTo>
                  <a:pt x="0" y="0"/>
                </a:moveTo>
                <a:lnTo>
                  <a:pt x="57687" y="0"/>
                </a:lnTo>
                <a:lnTo>
                  <a:pt x="57687" y="12780"/>
                </a:lnTo>
                <a:lnTo>
                  <a:pt x="54944" y="15243"/>
                </a:lnTo>
                <a:lnTo>
                  <a:pt x="2897" y="50755"/>
                </a:lnTo>
                <a:lnTo>
                  <a:pt x="0" y="53373"/>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4" name="Illustrative delivered road transport cost class 1; reference terminal Durban"/>
          <p:cNvSpPr/>
          <p:nvPr/>
        </p:nvSpPr>
        <p:spPr>
          <a:xfrm>
            <a:off x="4396473" y="492136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5" name="Illustrative delivered road transport cost class 1; reference terminal Durban"/>
          <p:cNvSpPr/>
          <p:nvPr/>
        </p:nvSpPr>
        <p:spPr>
          <a:xfrm>
            <a:off x="4396473"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6" name="Illustrative delivered road transport cost class 1; reference terminal Durban"/>
          <p:cNvSpPr/>
          <p:nvPr/>
        </p:nvSpPr>
        <p:spPr>
          <a:xfrm>
            <a:off x="4396473"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7" name="Illustrative delivered road transport cost class 1; reference terminal Durban"/>
          <p:cNvSpPr/>
          <p:nvPr/>
        </p:nvSpPr>
        <p:spPr>
          <a:xfrm>
            <a:off x="439647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8" name="Illustrative delivered road transport cost class 1; reference terminal Durban"/>
          <p:cNvSpPr/>
          <p:nvPr/>
        </p:nvSpPr>
        <p:spPr>
          <a:xfrm>
            <a:off x="439647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09" name="Illustrative delivered road transport cost class 1; reference terminal Durban"/>
          <p:cNvSpPr/>
          <p:nvPr/>
        </p:nvSpPr>
        <p:spPr>
          <a:xfrm>
            <a:off x="439647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0" name="Illustrative delivered road transport cost class 1; reference terminal Durban"/>
          <p:cNvSpPr/>
          <p:nvPr/>
        </p:nvSpPr>
        <p:spPr>
          <a:xfrm>
            <a:off x="439647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1" name="Illustrative delivered road transport cost class 1; reference terminal Durban"/>
          <p:cNvSpPr/>
          <p:nvPr/>
        </p:nvSpPr>
        <p:spPr>
          <a:xfrm>
            <a:off x="439647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2" name="Illustrative delivered road transport cost class 1; reference terminal Durban"/>
          <p:cNvSpPr/>
          <p:nvPr/>
        </p:nvSpPr>
        <p:spPr>
          <a:xfrm>
            <a:off x="439647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3" name="Illustrative delivered road transport cost class None; reference terminal None"/>
          <p:cNvSpPr/>
          <p:nvPr/>
        </p:nvSpPr>
        <p:spPr>
          <a:xfrm>
            <a:off x="4396473" y="4402188"/>
            <a:ext cx="57687" cy="57686"/>
          </a:xfrm>
          <a:custGeom>
            <a:avLst/>
            <a:gdLst/>
            <a:ahLst/>
            <a:cxnLst/>
            <a:rect l="l" t="t" r="r" b="b"/>
            <a:pathLst>
              <a:path w="57687" h="57686">
                <a:moveTo>
                  <a:pt x="57687" y="0"/>
                </a:moveTo>
                <a:lnTo>
                  <a:pt x="57687" y="57686"/>
                </a:lnTo>
                <a:lnTo>
                  <a:pt x="0" y="57686"/>
                </a:lnTo>
                <a:lnTo>
                  <a:pt x="0" y="54310"/>
                </a:lnTo>
                <a:lnTo>
                  <a:pt x="566" y="53187"/>
                </a:lnTo>
                <a:lnTo>
                  <a:pt x="3386" y="34016"/>
                </a:lnTo>
                <a:lnTo>
                  <a:pt x="11889" y="23997"/>
                </a:lnTo>
                <a:lnTo>
                  <a:pt x="27990"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4" name="Illustrative delivered road transport cost class None; reference terminal None"/>
          <p:cNvSpPr/>
          <p:nvPr/>
        </p:nvSpPr>
        <p:spPr>
          <a:xfrm>
            <a:off x="4424463" y="4364487"/>
            <a:ext cx="29697" cy="37701"/>
          </a:xfrm>
          <a:custGeom>
            <a:avLst/>
            <a:gdLst/>
            <a:ahLst/>
            <a:cxnLst/>
            <a:rect l="l" t="t" r="r" b="b"/>
            <a:pathLst>
              <a:path w="29697" h="37701">
                <a:moveTo>
                  <a:pt x="29697" y="37701"/>
                </a:moveTo>
                <a:lnTo>
                  <a:pt x="0" y="37701"/>
                </a:lnTo>
                <a:lnTo>
                  <a:pt x="16171" y="13598"/>
                </a:lnTo>
                <a:lnTo>
                  <a:pt x="29697" y="0"/>
                </a:lnTo>
                <a:lnTo>
                  <a:pt x="29697" y="3770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5" name="Illustrative delivered road transport cost class None; reference terminal None"/>
          <p:cNvSpPr/>
          <p:nvPr/>
        </p:nvSpPr>
        <p:spPr>
          <a:xfrm>
            <a:off x="4396473" y="3998382"/>
            <a:ext cx="20941" cy="12496"/>
          </a:xfrm>
          <a:custGeom>
            <a:avLst/>
            <a:gdLst/>
            <a:ahLst/>
            <a:cxnLst/>
            <a:rect l="l" t="t" r="r" b="b"/>
            <a:pathLst>
              <a:path w="20941" h="12496">
                <a:moveTo>
                  <a:pt x="0" y="0"/>
                </a:moveTo>
                <a:lnTo>
                  <a:pt x="20941" y="0"/>
                </a:lnTo>
                <a:lnTo>
                  <a:pt x="2562" y="10424"/>
                </a:lnTo>
                <a:lnTo>
                  <a:pt x="0" y="12496"/>
                </a:lnTo>
                <a:lnTo>
                  <a:pt x="0"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6" name="Illustrative delivered road transport cost class 1; reference terminal Lesedi"/>
          <p:cNvSpPr/>
          <p:nvPr/>
        </p:nvSpPr>
        <p:spPr>
          <a:xfrm>
            <a:off x="4396473" y="3940695"/>
            <a:ext cx="57687" cy="57687"/>
          </a:xfrm>
          <a:custGeom>
            <a:avLst/>
            <a:gdLst/>
            <a:ahLst/>
            <a:cxnLst/>
            <a:rect l="l" t="t" r="r" b="b"/>
            <a:pathLst>
              <a:path w="57687" h="57687">
                <a:moveTo>
                  <a:pt x="0" y="57687"/>
                </a:moveTo>
                <a:lnTo>
                  <a:pt x="0" y="0"/>
                </a:lnTo>
                <a:lnTo>
                  <a:pt x="57687" y="0"/>
                </a:lnTo>
                <a:lnTo>
                  <a:pt x="57687" y="40967"/>
                </a:lnTo>
                <a:lnTo>
                  <a:pt x="36487" y="48869"/>
                </a:lnTo>
                <a:lnTo>
                  <a:pt x="20941"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7" name="Illustrative delivered road transport cost class 1; reference terminal Lesedi"/>
          <p:cNvSpPr/>
          <p:nvPr/>
        </p:nvSpPr>
        <p:spPr>
          <a:xfrm>
            <a:off x="439647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8" name="Illustrative delivered road transport cost class 1; reference terminal Lesedi"/>
          <p:cNvSpPr/>
          <p:nvPr/>
        </p:nvSpPr>
        <p:spPr>
          <a:xfrm>
            <a:off x="439647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19" name="Illustrative delivered road transport cost class 0; reference terminal Lesedi"/>
          <p:cNvSpPr/>
          <p:nvPr/>
        </p:nvSpPr>
        <p:spPr>
          <a:xfrm>
            <a:off x="439647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0" name="Illustrative delivered road transport cost class 0; reference terminal Lesedi"/>
          <p:cNvSpPr/>
          <p:nvPr/>
        </p:nvSpPr>
        <p:spPr>
          <a:xfrm>
            <a:off x="439647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1" name="Illustrative delivered road transport cost class 0; reference terminal Lesedi"/>
          <p:cNvSpPr/>
          <p:nvPr/>
        </p:nvSpPr>
        <p:spPr>
          <a:xfrm>
            <a:off x="439647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2" name="Illustrative delivered road transport cost class 0; reference terminal Lesedi"/>
          <p:cNvSpPr/>
          <p:nvPr/>
        </p:nvSpPr>
        <p:spPr>
          <a:xfrm>
            <a:off x="439647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3" name="Illustrative delivered road transport cost class 0; reference terminal Lesedi"/>
          <p:cNvSpPr/>
          <p:nvPr/>
        </p:nvSpPr>
        <p:spPr>
          <a:xfrm>
            <a:off x="439647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4" name="Illustrative delivered road transport cost class 0; reference terminal Lesedi"/>
          <p:cNvSpPr/>
          <p:nvPr/>
        </p:nvSpPr>
        <p:spPr>
          <a:xfrm>
            <a:off x="439647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5" name="Illustrative delivered road transport cost class 0; reference terminal Lesedi"/>
          <p:cNvSpPr/>
          <p:nvPr/>
        </p:nvSpPr>
        <p:spPr>
          <a:xfrm>
            <a:off x="439647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6" name="Illustrative delivered road transport cost class 0; reference terminal Lesedi"/>
          <p:cNvSpPr/>
          <p:nvPr/>
        </p:nvSpPr>
        <p:spPr>
          <a:xfrm>
            <a:off x="439647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7" name="Illustrative delivered road transport cost class 0; reference terminal Lesedi"/>
          <p:cNvSpPr/>
          <p:nvPr/>
        </p:nvSpPr>
        <p:spPr>
          <a:xfrm>
            <a:off x="439647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8" name="Illustrative delivered road transport cost class 0; reference terminal Lesedi"/>
          <p:cNvSpPr/>
          <p:nvPr/>
        </p:nvSpPr>
        <p:spPr>
          <a:xfrm>
            <a:off x="439647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29" name="Illustrative delivered road transport cost class 0; reference terminal Lesedi"/>
          <p:cNvSpPr/>
          <p:nvPr/>
        </p:nvSpPr>
        <p:spPr>
          <a:xfrm>
            <a:off x="439647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0" name="Illustrative delivered road transport cost class 0; reference terminal Lesedi"/>
          <p:cNvSpPr/>
          <p:nvPr/>
        </p:nvSpPr>
        <p:spPr>
          <a:xfrm>
            <a:off x="439647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1" name="Illustrative delivered road transport cost class 0; reference terminal Lesedi"/>
          <p:cNvSpPr/>
          <p:nvPr/>
        </p:nvSpPr>
        <p:spPr>
          <a:xfrm>
            <a:off x="439647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2" name="Illustrative delivered road transport cost class 0; reference terminal Lesedi"/>
          <p:cNvSpPr/>
          <p:nvPr/>
        </p:nvSpPr>
        <p:spPr>
          <a:xfrm>
            <a:off x="439647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3" name="Illustrative delivered road transport cost class 0; reference terminal Lesedi"/>
          <p:cNvSpPr/>
          <p:nvPr/>
        </p:nvSpPr>
        <p:spPr>
          <a:xfrm>
            <a:off x="439647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4" name="Illustrative delivered road transport cost class 0; reference terminal Lesedi"/>
          <p:cNvSpPr/>
          <p:nvPr/>
        </p:nvSpPr>
        <p:spPr>
          <a:xfrm>
            <a:off x="439647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5" name="Illustrative delivered road transport cost class 1; reference terminal Lesedi"/>
          <p:cNvSpPr/>
          <p:nvPr/>
        </p:nvSpPr>
        <p:spPr>
          <a:xfrm>
            <a:off x="439647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6" name="Illustrative delivered road transport cost class None; reference terminal None"/>
          <p:cNvSpPr/>
          <p:nvPr/>
        </p:nvSpPr>
        <p:spPr>
          <a:xfrm>
            <a:off x="439647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7" name="Illustrative delivered road transport cost class None; reference terminal None"/>
          <p:cNvSpPr/>
          <p:nvPr/>
        </p:nvSpPr>
        <p:spPr>
          <a:xfrm>
            <a:off x="439647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8" name="Illustrative delivered road transport cost class None; reference terminal None"/>
          <p:cNvSpPr/>
          <p:nvPr/>
        </p:nvSpPr>
        <p:spPr>
          <a:xfrm>
            <a:off x="439647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39" name="Illustrative delivered road transport cost class None; reference terminal None"/>
          <p:cNvSpPr/>
          <p:nvPr/>
        </p:nvSpPr>
        <p:spPr>
          <a:xfrm>
            <a:off x="439647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0" name="Illustrative delivered road transport cost class None; reference terminal None"/>
          <p:cNvSpPr/>
          <p:nvPr/>
        </p:nvSpPr>
        <p:spPr>
          <a:xfrm>
            <a:off x="439647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1" name="Illustrative delivered road transport cost class None; reference terminal None"/>
          <p:cNvSpPr/>
          <p:nvPr/>
        </p:nvSpPr>
        <p:spPr>
          <a:xfrm>
            <a:off x="4396473" y="2498531"/>
            <a:ext cx="57687" cy="57686"/>
          </a:xfrm>
          <a:custGeom>
            <a:avLst/>
            <a:gdLst/>
            <a:ahLst/>
            <a:cxnLst/>
            <a:rect l="l" t="t" r="r" b="b"/>
            <a:pathLst>
              <a:path w="57687" h="57686">
                <a:moveTo>
                  <a:pt x="57687" y="0"/>
                </a:moveTo>
                <a:lnTo>
                  <a:pt x="57687" y="57686"/>
                </a:lnTo>
                <a:lnTo>
                  <a:pt x="0" y="57686"/>
                </a:lnTo>
                <a:lnTo>
                  <a:pt x="0" y="42891"/>
                </a:lnTo>
                <a:lnTo>
                  <a:pt x="1803" y="41053"/>
                </a:lnTo>
                <a:lnTo>
                  <a:pt x="2934" y="29185"/>
                </a:lnTo>
                <a:lnTo>
                  <a:pt x="25556" y="801"/>
                </a:lnTo>
                <a:lnTo>
                  <a:pt x="26346"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2" name="Illustrative delivered road transport cost class None; reference terminal None"/>
          <p:cNvSpPr/>
          <p:nvPr/>
        </p:nvSpPr>
        <p:spPr>
          <a:xfrm>
            <a:off x="4422819" y="2466743"/>
            <a:ext cx="31341" cy="31788"/>
          </a:xfrm>
          <a:custGeom>
            <a:avLst/>
            <a:gdLst/>
            <a:ahLst/>
            <a:cxnLst/>
            <a:rect l="l" t="t" r="r" b="b"/>
            <a:pathLst>
              <a:path w="31341" h="31788">
                <a:moveTo>
                  <a:pt x="31341" y="31788"/>
                </a:moveTo>
                <a:lnTo>
                  <a:pt x="0" y="31788"/>
                </a:lnTo>
                <a:lnTo>
                  <a:pt x="31341" y="0"/>
                </a:lnTo>
                <a:lnTo>
                  <a:pt x="31341" y="31788"/>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3" name="Illustrative delivered road transport cost class 1; reference terminal Durban"/>
          <p:cNvSpPr/>
          <p:nvPr/>
        </p:nvSpPr>
        <p:spPr>
          <a:xfrm>
            <a:off x="4454160" y="4979053"/>
            <a:ext cx="14233" cy="12780"/>
          </a:xfrm>
          <a:custGeom>
            <a:avLst/>
            <a:gdLst/>
            <a:ahLst/>
            <a:cxnLst/>
            <a:rect l="l" t="t" r="r" b="b"/>
            <a:pathLst>
              <a:path w="14233" h="12780">
                <a:moveTo>
                  <a:pt x="0" y="0"/>
                </a:moveTo>
                <a:lnTo>
                  <a:pt x="14233" y="0"/>
                </a:lnTo>
                <a:lnTo>
                  <a:pt x="0" y="1278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4" name="Illustrative delivered road transport cost class 1; reference terminal Durban"/>
          <p:cNvSpPr/>
          <p:nvPr/>
        </p:nvSpPr>
        <p:spPr>
          <a:xfrm>
            <a:off x="4454160" y="4921367"/>
            <a:ext cx="57687" cy="57686"/>
          </a:xfrm>
          <a:custGeom>
            <a:avLst/>
            <a:gdLst/>
            <a:ahLst/>
            <a:cxnLst/>
            <a:rect l="l" t="t" r="r" b="b"/>
            <a:pathLst>
              <a:path w="57687" h="57686">
                <a:moveTo>
                  <a:pt x="0" y="57686"/>
                </a:moveTo>
                <a:lnTo>
                  <a:pt x="0" y="0"/>
                </a:lnTo>
                <a:lnTo>
                  <a:pt x="57687" y="0"/>
                </a:lnTo>
                <a:lnTo>
                  <a:pt x="57687" y="18669"/>
                </a:lnTo>
                <a:lnTo>
                  <a:pt x="14233"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5" name="Illustrative delivered road transport cost class 1; reference terminal Durban"/>
          <p:cNvSpPr/>
          <p:nvPr/>
        </p:nvSpPr>
        <p:spPr>
          <a:xfrm>
            <a:off x="4454160" y="486368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6" name="Illustrative delivered road transport cost class 1; reference terminal Durban"/>
          <p:cNvSpPr/>
          <p:nvPr/>
        </p:nvSpPr>
        <p:spPr>
          <a:xfrm>
            <a:off x="4454160" y="480599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7" name="Illustrative delivered road transport cost class 1; reference terminal Durban"/>
          <p:cNvSpPr/>
          <p:nvPr/>
        </p:nvSpPr>
        <p:spPr>
          <a:xfrm>
            <a:off x="4454160"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8" name="Illustrative delivered road transport cost class 1; reference terminal Durban"/>
          <p:cNvSpPr/>
          <p:nvPr/>
        </p:nvSpPr>
        <p:spPr>
          <a:xfrm>
            <a:off x="4454160"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49" name="Illustrative delivered road transport cost class 1; reference terminal Durban"/>
          <p:cNvSpPr/>
          <p:nvPr/>
        </p:nvSpPr>
        <p:spPr>
          <a:xfrm>
            <a:off x="4454160"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0" name="Illustrative delivered road transport cost class 1; reference terminal Durban"/>
          <p:cNvSpPr/>
          <p:nvPr/>
        </p:nvSpPr>
        <p:spPr>
          <a:xfrm>
            <a:off x="4454160"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1" name="Illustrative delivered road transport cost class 1; reference terminal Durban"/>
          <p:cNvSpPr/>
          <p:nvPr/>
        </p:nvSpPr>
        <p:spPr>
          <a:xfrm>
            <a:off x="4454160"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2" name="Illustrative delivered road transport cost class 0; reference terminal Durban"/>
          <p:cNvSpPr/>
          <p:nvPr/>
        </p:nvSpPr>
        <p:spPr>
          <a:xfrm>
            <a:off x="4454160"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3" name="Illustrative delivered road transport cost class 0; reference terminal Durban"/>
          <p:cNvSpPr/>
          <p:nvPr/>
        </p:nvSpPr>
        <p:spPr>
          <a:xfrm>
            <a:off x="4454160"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4" name="Illustrative delivered road transport cost class 1; reference terminal Durban"/>
          <p:cNvSpPr/>
          <p:nvPr/>
        </p:nvSpPr>
        <p:spPr>
          <a:xfrm>
            <a:off x="4454160" y="4355384"/>
            <a:ext cx="57687" cy="46804"/>
          </a:xfrm>
          <a:custGeom>
            <a:avLst/>
            <a:gdLst/>
            <a:ahLst/>
            <a:cxnLst/>
            <a:rect l="l" t="t" r="r" b="b"/>
            <a:pathLst>
              <a:path w="57687" h="46804">
                <a:moveTo>
                  <a:pt x="57687" y="46804"/>
                </a:moveTo>
                <a:lnTo>
                  <a:pt x="0" y="46804"/>
                </a:lnTo>
                <a:lnTo>
                  <a:pt x="0" y="9103"/>
                </a:lnTo>
                <a:lnTo>
                  <a:pt x="4027" y="5054"/>
                </a:lnTo>
                <a:lnTo>
                  <a:pt x="14501" y="4058"/>
                </a:lnTo>
                <a:lnTo>
                  <a:pt x="28057" y="984"/>
                </a:lnTo>
                <a:lnTo>
                  <a:pt x="45223" y="0"/>
                </a:lnTo>
                <a:lnTo>
                  <a:pt x="57687" y="1796"/>
                </a:lnTo>
                <a:lnTo>
                  <a:pt x="57687" y="4680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5" name="Illustrative delivered road transport cost class 1; reference terminal Lesedi"/>
          <p:cNvSpPr/>
          <p:nvPr/>
        </p:nvSpPr>
        <p:spPr>
          <a:xfrm>
            <a:off x="4454160" y="3940695"/>
            <a:ext cx="57687" cy="40967"/>
          </a:xfrm>
          <a:custGeom>
            <a:avLst/>
            <a:gdLst/>
            <a:ahLst/>
            <a:cxnLst/>
            <a:rect l="l" t="t" r="r" b="b"/>
            <a:pathLst>
              <a:path w="57687" h="40967">
                <a:moveTo>
                  <a:pt x="0" y="0"/>
                </a:moveTo>
                <a:lnTo>
                  <a:pt x="57687" y="0"/>
                </a:lnTo>
                <a:lnTo>
                  <a:pt x="57687" y="23923"/>
                </a:lnTo>
                <a:lnTo>
                  <a:pt x="33345" y="28537"/>
                </a:lnTo>
                <a:lnTo>
                  <a:pt x="0" y="40967"/>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6" name="Illustrative delivered road transport cost class 1; reference terminal Lesedi"/>
          <p:cNvSpPr/>
          <p:nvPr/>
        </p:nvSpPr>
        <p:spPr>
          <a:xfrm>
            <a:off x="4454160"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7" name="Illustrative delivered road transport cost class 0; reference terminal Lesedi"/>
          <p:cNvSpPr/>
          <p:nvPr/>
        </p:nvSpPr>
        <p:spPr>
          <a:xfrm>
            <a:off x="4454160"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8" name="Illustrative delivered road transport cost class 0; reference terminal Lesedi"/>
          <p:cNvSpPr/>
          <p:nvPr/>
        </p:nvSpPr>
        <p:spPr>
          <a:xfrm>
            <a:off x="4454160"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59" name="Illustrative delivered road transport cost class 0; reference terminal Lesedi"/>
          <p:cNvSpPr/>
          <p:nvPr/>
        </p:nvSpPr>
        <p:spPr>
          <a:xfrm>
            <a:off x="4454160"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0" name="Illustrative delivered road transport cost class 0; reference terminal Lesedi"/>
          <p:cNvSpPr/>
          <p:nvPr/>
        </p:nvSpPr>
        <p:spPr>
          <a:xfrm>
            <a:off x="4454160"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1" name="Illustrative delivered road transport cost class 0; reference terminal Lesedi"/>
          <p:cNvSpPr/>
          <p:nvPr/>
        </p:nvSpPr>
        <p:spPr>
          <a:xfrm>
            <a:off x="4454160"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2" name="Illustrative delivered road transport cost class 0; reference terminal Lesedi"/>
          <p:cNvSpPr/>
          <p:nvPr/>
        </p:nvSpPr>
        <p:spPr>
          <a:xfrm>
            <a:off x="4454160"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3" name="Illustrative delivered road transport cost class 0; reference terminal Lesedi"/>
          <p:cNvSpPr/>
          <p:nvPr/>
        </p:nvSpPr>
        <p:spPr>
          <a:xfrm>
            <a:off x="4454160"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4" name="Illustrative delivered road transport cost class 0; reference terminal Lesedi"/>
          <p:cNvSpPr/>
          <p:nvPr/>
        </p:nvSpPr>
        <p:spPr>
          <a:xfrm>
            <a:off x="4454160"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5" name="Illustrative delivered road transport cost class 0; reference terminal Lesedi"/>
          <p:cNvSpPr/>
          <p:nvPr/>
        </p:nvSpPr>
        <p:spPr>
          <a:xfrm>
            <a:off x="4454160"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6" name="Illustrative delivered road transport cost class 0; reference terminal Lesedi"/>
          <p:cNvSpPr/>
          <p:nvPr/>
        </p:nvSpPr>
        <p:spPr>
          <a:xfrm>
            <a:off x="4454160"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7" name="Illustrative delivered road transport cost class 0; reference terminal Lesedi"/>
          <p:cNvSpPr/>
          <p:nvPr/>
        </p:nvSpPr>
        <p:spPr>
          <a:xfrm>
            <a:off x="4454160"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8" name="Illustrative delivered road transport cost class 0; reference terminal Lesedi"/>
          <p:cNvSpPr/>
          <p:nvPr/>
        </p:nvSpPr>
        <p:spPr>
          <a:xfrm>
            <a:off x="4454160"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69" name="Illustrative delivered road transport cost class 0; reference terminal Lesedi"/>
          <p:cNvSpPr/>
          <p:nvPr/>
        </p:nvSpPr>
        <p:spPr>
          <a:xfrm>
            <a:off x="4454160"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0" name="Illustrative delivered road transport cost class 0; reference terminal Lesedi"/>
          <p:cNvSpPr/>
          <p:nvPr/>
        </p:nvSpPr>
        <p:spPr>
          <a:xfrm>
            <a:off x="4454160"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1" name="Illustrative delivered road transport cost class 0; reference terminal Lesedi"/>
          <p:cNvSpPr/>
          <p:nvPr/>
        </p:nvSpPr>
        <p:spPr>
          <a:xfrm>
            <a:off x="4454160"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2" name="Illustrative delivered road transport cost class 0; reference terminal Lesedi"/>
          <p:cNvSpPr/>
          <p:nvPr/>
        </p:nvSpPr>
        <p:spPr>
          <a:xfrm>
            <a:off x="4454160"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3" name="Illustrative delivered road transport cost class 0; reference terminal Lesedi"/>
          <p:cNvSpPr/>
          <p:nvPr/>
        </p:nvSpPr>
        <p:spPr>
          <a:xfrm>
            <a:off x="4454160"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4" name="Illustrative delivered road transport cost class 1; reference terminal Lesedi"/>
          <p:cNvSpPr/>
          <p:nvPr/>
        </p:nvSpPr>
        <p:spPr>
          <a:xfrm>
            <a:off x="4454160"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5" name="Illustrative delivered road transport cost class 1; reference terminal Lesedi"/>
          <p:cNvSpPr/>
          <p:nvPr/>
        </p:nvSpPr>
        <p:spPr>
          <a:xfrm>
            <a:off x="4454160"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6" name="Illustrative delivered road transport cost class 1; reference terminal Lesedi"/>
          <p:cNvSpPr/>
          <p:nvPr/>
        </p:nvSpPr>
        <p:spPr>
          <a:xfrm>
            <a:off x="4454160"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7" name="Illustrative delivered road transport cost class None; reference terminal None"/>
          <p:cNvSpPr/>
          <p:nvPr/>
        </p:nvSpPr>
        <p:spPr>
          <a:xfrm>
            <a:off x="4454160"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8" name="Illustrative delivered road transport cost class None; reference terminal None"/>
          <p:cNvSpPr/>
          <p:nvPr/>
        </p:nvSpPr>
        <p:spPr>
          <a:xfrm>
            <a:off x="4454160"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79" name="Illustrative delivered road transport cost class None; reference terminal None"/>
          <p:cNvSpPr/>
          <p:nvPr/>
        </p:nvSpPr>
        <p:spPr>
          <a:xfrm>
            <a:off x="4454160"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0" name="Illustrative delivered road transport cost class None; reference terminal None"/>
          <p:cNvSpPr/>
          <p:nvPr/>
        </p:nvSpPr>
        <p:spPr>
          <a:xfrm>
            <a:off x="4454160"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1" name="Illustrative delivered road transport cost class None; reference terminal None"/>
          <p:cNvSpPr/>
          <p:nvPr/>
        </p:nvSpPr>
        <p:spPr>
          <a:xfrm>
            <a:off x="4454160" y="2440844"/>
            <a:ext cx="57687" cy="57687"/>
          </a:xfrm>
          <a:custGeom>
            <a:avLst/>
            <a:gdLst/>
            <a:ahLst/>
            <a:cxnLst/>
            <a:rect l="l" t="t" r="r" b="b"/>
            <a:pathLst>
              <a:path w="57687" h="57687">
                <a:moveTo>
                  <a:pt x="57687" y="0"/>
                </a:moveTo>
                <a:lnTo>
                  <a:pt x="57687" y="57687"/>
                </a:lnTo>
                <a:lnTo>
                  <a:pt x="0" y="57687"/>
                </a:lnTo>
                <a:lnTo>
                  <a:pt x="0" y="25899"/>
                </a:lnTo>
                <a:lnTo>
                  <a:pt x="12112" y="13614"/>
                </a:lnTo>
                <a:lnTo>
                  <a:pt x="35064" y="0"/>
                </a:lnTo>
                <a:lnTo>
                  <a:pt x="57687" y="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2" name="Illustrative delivered road transport cost class None; reference terminal None"/>
          <p:cNvSpPr/>
          <p:nvPr/>
        </p:nvSpPr>
        <p:spPr>
          <a:xfrm>
            <a:off x="4489224" y="2429483"/>
            <a:ext cx="22623" cy="11361"/>
          </a:xfrm>
          <a:custGeom>
            <a:avLst/>
            <a:gdLst/>
            <a:ahLst/>
            <a:cxnLst/>
            <a:rect l="l" t="t" r="r" b="b"/>
            <a:pathLst>
              <a:path w="22623" h="11361">
                <a:moveTo>
                  <a:pt x="22623" y="11361"/>
                </a:moveTo>
                <a:lnTo>
                  <a:pt x="0" y="11361"/>
                </a:lnTo>
                <a:lnTo>
                  <a:pt x="18382" y="458"/>
                </a:lnTo>
                <a:lnTo>
                  <a:pt x="22623" y="0"/>
                </a:lnTo>
                <a:lnTo>
                  <a:pt x="22623" y="1136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3" name="Illustrative delivered road transport cost class 1; reference terminal Durban"/>
          <p:cNvSpPr/>
          <p:nvPr/>
        </p:nvSpPr>
        <p:spPr>
          <a:xfrm>
            <a:off x="4511847" y="4921367"/>
            <a:ext cx="20792" cy="18669"/>
          </a:xfrm>
          <a:custGeom>
            <a:avLst/>
            <a:gdLst/>
            <a:ahLst/>
            <a:cxnLst/>
            <a:rect l="l" t="t" r="r" b="b"/>
            <a:pathLst>
              <a:path w="20792" h="18669">
                <a:moveTo>
                  <a:pt x="0" y="0"/>
                </a:moveTo>
                <a:lnTo>
                  <a:pt x="20792" y="0"/>
                </a:lnTo>
                <a:lnTo>
                  <a:pt x="0" y="1866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4" name="Illustrative delivered road transport cost class 1; reference terminal Durban"/>
          <p:cNvSpPr/>
          <p:nvPr/>
        </p:nvSpPr>
        <p:spPr>
          <a:xfrm>
            <a:off x="4511847" y="4863680"/>
            <a:ext cx="57686" cy="57687"/>
          </a:xfrm>
          <a:custGeom>
            <a:avLst/>
            <a:gdLst/>
            <a:ahLst/>
            <a:cxnLst/>
            <a:rect l="l" t="t" r="r" b="b"/>
            <a:pathLst>
              <a:path w="57686" h="57687">
                <a:moveTo>
                  <a:pt x="0" y="57687"/>
                </a:moveTo>
                <a:lnTo>
                  <a:pt x="0" y="0"/>
                </a:lnTo>
                <a:lnTo>
                  <a:pt x="57686" y="0"/>
                </a:lnTo>
                <a:lnTo>
                  <a:pt x="57686" y="17156"/>
                </a:lnTo>
                <a:lnTo>
                  <a:pt x="30553" y="48922"/>
                </a:lnTo>
                <a:lnTo>
                  <a:pt x="2079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5" name="Illustrative delivered road transport cost class 1; reference terminal Durban"/>
          <p:cNvSpPr/>
          <p:nvPr/>
        </p:nvSpPr>
        <p:spPr>
          <a:xfrm>
            <a:off x="4511847" y="480599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6" name="Illustrative delivered road transport cost class 1; reference terminal Durban"/>
          <p:cNvSpPr/>
          <p:nvPr/>
        </p:nvSpPr>
        <p:spPr>
          <a:xfrm>
            <a:off x="4511847" y="474830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7" name="Illustrative delivered road transport cost class 1; reference terminal Durban"/>
          <p:cNvSpPr/>
          <p:nvPr/>
        </p:nvSpPr>
        <p:spPr>
          <a:xfrm>
            <a:off x="4511847"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8" name="Illustrative delivered road transport cost class 1; reference terminal Durban"/>
          <p:cNvSpPr/>
          <p:nvPr/>
        </p:nvSpPr>
        <p:spPr>
          <a:xfrm>
            <a:off x="4511847"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89" name="Illustrative delivered road transport cost class 0; reference terminal Durban"/>
          <p:cNvSpPr/>
          <p:nvPr/>
        </p:nvSpPr>
        <p:spPr>
          <a:xfrm>
            <a:off x="4511847"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0" name="Illustrative delivered road transport cost class 0; reference terminal Durban"/>
          <p:cNvSpPr/>
          <p:nvPr/>
        </p:nvSpPr>
        <p:spPr>
          <a:xfrm>
            <a:off x="4511847"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1" name="Illustrative delivered road transport cost class 0; reference terminal Durban"/>
          <p:cNvSpPr/>
          <p:nvPr/>
        </p:nvSpPr>
        <p:spPr>
          <a:xfrm>
            <a:off x="4511847"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2" name="Illustrative delivered road transport cost class 0; reference terminal Durban"/>
          <p:cNvSpPr/>
          <p:nvPr/>
        </p:nvSpPr>
        <p:spPr>
          <a:xfrm>
            <a:off x="4511847"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3" name="Illustrative delivered road transport cost class 0; reference terminal Durban"/>
          <p:cNvSpPr/>
          <p:nvPr/>
        </p:nvSpPr>
        <p:spPr>
          <a:xfrm>
            <a:off x="4511847" y="4344501"/>
            <a:ext cx="57686" cy="57687"/>
          </a:xfrm>
          <a:custGeom>
            <a:avLst/>
            <a:gdLst/>
            <a:ahLst/>
            <a:cxnLst/>
            <a:rect l="l" t="t" r="r" b="b"/>
            <a:pathLst>
              <a:path w="57686" h="57687">
                <a:moveTo>
                  <a:pt x="57686" y="0"/>
                </a:moveTo>
                <a:lnTo>
                  <a:pt x="57686" y="57687"/>
                </a:lnTo>
                <a:lnTo>
                  <a:pt x="0" y="57687"/>
                </a:lnTo>
                <a:lnTo>
                  <a:pt x="0" y="12679"/>
                </a:lnTo>
                <a:lnTo>
                  <a:pt x="314" y="12725"/>
                </a:lnTo>
                <a:lnTo>
                  <a:pt x="3108" y="12261"/>
                </a:lnTo>
                <a:lnTo>
                  <a:pt x="23316" y="6595"/>
                </a:lnTo>
                <a:lnTo>
                  <a:pt x="39543"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4" name="Illustrative delivered road transport cost class 1; reference terminal Durban"/>
          <p:cNvSpPr/>
          <p:nvPr/>
        </p:nvSpPr>
        <p:spPr>
          <a:xfrm>
            <a:off x="4551390" y="4337127"/>
            <a:ext cx="18143" cy="7374"/>
          </a:xfrm>
          <a:custGeom>
            <a:avLst/>
            <a:gdLst/>
            <a:ahLst/>
            <a:cxnLst/>
            <a:rect l="l" t="t" r="r" b="b"/>
            <a:pathLst>
              <a:path w="18143" h="7374">
                <a:moveTo>
                  <a:pt x="18143" y="7374"/>
                </a:moveTo>
                <a:lnTo>
                  <a:pt x="0" y="7374"/>
                </a:lnTo>
                <a:lnTo>
                  <a:pt x="18143" y="0"/>
                </a:lnTo>
                <a:lnTo>
                  <a:pt x="18143" y="73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5" name="Illustrative delivered road transport cost class 0; reference terminal Durban"/>
          <p:cNvSpPr/>
          <p:nvPr/>
        </p:nvSpPr>
        <p:spPr>
          <a:xfrm>
            <a:off x="4553217" y="3998382"/>
            <a:ext cx="16316" cy="12749"/>
          </a:xfrm>
          <a:custGeom>
            <a:avLst/>
            <a:gdLst/>
            <a:ahLst/>
            <a:cxnLst/>
            <a:rect l="l" t="t" r="r" b="b"/>
            <a:pathLst>
              <a:path w="16316" h="12749">
                <a:moveTo>
                  <a:pt x="16316" y="0"/>
                </a:moveTo>
                <a:lnTo>
                  <a:pt x="16316" y="12749"/>
                </a:lnTo>
                <a:lnTo>
                  <a:pt x="10754" y="9811"/>
                </a:lnTo>
                <a:lnTo>
                  <a:pt x="0" y="0"/>
                </a:lnTo>
                <a:lnTo>
                  <a:pt x="1631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6" name="Illustrative delivered road transport cost class 0; reference terminal Lesedi"/>
          <p:cNvSpPr/>
          <p:nvPr/>
        </p:nvSpPr>
        <p:spPr>
          <a:xfrm>
            <a:off x="4511847" y="3940695"/>
            <a:ext cx="57686" cy="57687"/>
          </a:xfrm>
          <a:custGeom>
            <a:avLst/>
            <a:gdLst/>
            <a:ahLst/>
            <a:cxnLst/>
            <a:rect l="l" t="t" r="r" b="b"/>
            <a:pathLst>
              <a:path w="57686" h="57687">
                <a:moveTo>
                  <a:pt x="0" y="0"/>
                </a:moveTo>
                <a:lnTo>
                  <a:pt x="57686" y="0"/>
                </a:lnTo>
                <a:lnTo>
                  <a:pt x="57686" y="57687"/>
                </a:lnTo>
                <a:lnTo>
                  <a:pt x="41370" y="57687"/>
                </a:lnTo>
                <a:lnTo>
                  <a:pt x="31431" y="48619"/>
                </a:lnTo>
                <a:lnTo>
                  <a:pt x="22601" y="37871"/>
                </a:lnTo>
                <a:lnTo>
                  <a:pt x="16556" y="25162"/>
                </a:lnTo>
                <a:lnTo>
                  <a:pt x="10625" y="20856"/>
                </a:lnTo>
                <a:lnTo>
                  <a:pt x="971" y="23738"/>
                </a:lnTo>
                <a:lnTo>
                  <a:pt x="0" y="2392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7" name="Illustrative delivered road transport cost class 0; reference terminal Lesedi"/>
          <p:cNvSpPr/>
          <p:nvPr/>
        </p:nvSpPr>
        <p:spPr>
          <a:xfrm>
            <a:off x="4511847"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8" name="Illustrative delivered road transport cost class 0; reference terminal Lesedi"/>
          <p:cNvSpPr/>
          <p:nvPr/>
        </p:nvSpPr>
        <p:spPr>
          <a:xfrm>
            <a:off x="4511847"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99" name="Illustrative delivered road transport cost class 0; reference terminal Lesedi"/>
          <p:cNvSpPr/>
          <p:nvPr/>
        </p:nvSpPr>
        <p:spPr>
          <a:xfrm>
            <a:off x="4511847"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0" name="Illustrative delivered road transport cost class 0; reference terminal Lesedi"/>
          <p:cNvSpPr/>
          <p:nvPr/>
        </p:nvSpPr>
        <p:spPr>
          <a:xfrm>
            <a:off x="4511847"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1" name="Illustrative delivered road transport cost class 0; reference terminal Lesedi"/>
          <p:cNvSpPr/>
          <p:nvPr/>
        </p:nvSpPr>
        <p:spPr>
          <a:xfrm>
            <a:off x="4511847"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2" name="Illustrative delivered road transport cost class 0; reference terminal Lesedi"/>
          <p:cNvSpPr/>
          <p:nvPr/>
        </p:nvSpPr>
        <p:spPr>
          <a:xfrm>
            <a:off x="4511847"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3" name="Illustrative delivered road transport cost class 0; reference terminal Lesedi"/>
          <p:cNvSpPr/>
          <p:nvPr/>
        </p:nvSpPr>
        <p:spPr>
          <a:xfrm>
            <a:off x="4511847"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4" name="Illustrative delivered road transport cost class 0; reference terminal Lesedi"/>
          <p:cNvSpPr/>
          <p:nvPr/>
        </p:nvSpPr>
        <p:spPr>
          <a:xfrm>
            <a:off x="4511847"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5" name="Illustrative delivered road transport cost class 0; reference terminal Lesedi"/>
          <p:cNvSpPr/>
          <p:nvPr/>
        </p:nvSpPr>
        <p:spPr>
          <a:xfrm>
            <a:off x="4511847"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6" name="Illustrative delivered road transport cost class 0; reference terminal Lesedi"/>
          <p:cNvSpPr/>
          <p:nvPr/>
        </p:nvSpPr>
        <p:spPr>
          <a:xfrm>
            <a:off x="4511847"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7" name="Illustrative delivered road transport cost class 0; reference terminal Lesedi"/>
          <p:cNvSpPr/>
          <p:nvPr/>
        </p:nvSpPr>
        <p:spPr>
          <a:xfrm>
            <a:off x="4511847"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8" name="Illustrative delivered road transport cost class 0; reference terminal Lesedi"/>
          <p:cNvSpPr/>
          <p:nvPr/>
        </p:nvSpPr>
        <p:spPr>
          <a:xfrm>
            <a:off x="4511847"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09" name="Illustrative delivered road transport cost class 0; reference terminal Lesedi"/>
          <p:cNvSpPr/>
          <p:nvPr/>
        </p:nvSpPr>
        <p:spPr>
          <a:xfrm>
            <a:off x="4511847"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0" name="Illustrative delivered road transport cost class 0; reference terminal Lesedi"/>
          <p:cNvSpPr/>
          <p:nvPr/>
        </p:nvSpPr>
        <p:spPr>
          <a:xfrm>
            <a:off x="4511847"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1" name="Illustrative delivered road transport cost class 0; reference terminal Lesedi"/>
          <p:cNvSpPr/>
          <p:nvPr/>
        </p:nvSpPr>
        <p:spPr>
          <a:xfrm>
            <a:off x="4511847"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2" name="Illustrative delivered road transport cost class 0; reference terminal Lesedi"/>
          <p:cNvSpPr/>
          <p:nvPr/>
        </p:nvSpPr>
        <p:spPr>
          <a:xfrm>
            <a:off x="4511847"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3" name="Illustrative delivered road transport cost class 0; reference terminal Lesedi"/>
          <p:cNvSpPr/>
          <p:nvPr/>
        </p:nvSpPr>
        <p:spPr>
          <a:xfrm>
            <a:off x="4511847"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4" name="Illustrative delivered road transport cost class 0; reference terminal Lesedi"/>
          <p:cNvSpPr/>
          <p:nvPr/>
        </p:nvSpPr>
        <p:spPr>
          <a:xfrm>
            <a:off x="4511847"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5" name="Illustrative delivered road transport cost class 1; reference terminal Lesedi"/>
          <p:cNvSpPr/>
          <p:nvPr/>
        </p:nvSpPr>
        <p:spPr>
          <a:xfrm>
            <a:off x="4511847"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6" name="Illustrative delivered road transport cost class 1; reference terminal Lesedi"/>
          <p:cNvSpPr/>
          <p:nvPr/>
        </p:nvSpPr>
        <p:spPr>
          <a:xfrm>
            <a:off x="4511847"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7" name="Illustrative delivered road transport cost class 1; reference terminal Lesedi"/>
          <p:cNvSpPr/>
          <p:nvPr/>
        </p:nvSpPr>
        <p:spPr>
          <a:xfrm>
            <a:off x="4511847"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8" name="Illustrative delivered road transport cost class 1; reference terminal Lesedi"/>
          <p:cNvSpPr/>
          <p:nvPr/>
        </p:nvSpPr>
        <p:spPr>
          <a:xfrm>
            <a:off x="4511847"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19" name="Illustrative delivered road transport cost class None; reference terminal None"/>
          <p:cNvSpPr/>
          <p:nvPr/>
        </p:nvSpPr>
        <p:spPr>
          <a:xfrm>
            <a:off x="4511847"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0" name="Illustrative delivered road transport cost class None; reference terminal None"/>
          <p:cNvSpPr/>
          <p:nvPr/>
        </p:nvSpPr>
        <p:spPr>
          <a:xfrm>
            <a:off x="4511847"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1" name="Illustrative delivered road transport cost class None; reference terminal None"/>
          <p:cNvSpPr/>
          <p:nvPr/>
        </p:nvSpPr>
        <p:spPr>
          <a:xfrm>
            <a:off x="4511847"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2" name="Illustrative delivered road transport cost class None; reference terminal None"/>
          <p:cNvSpPr/>
          <p:nvPr/>
        </p:nvSpPr>
        <p:spPr>
          <a:xfrm>
            <a:off x="4511847"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3" name="Illustrative delivered road transport cost class None; reference terminal None"/>
          <p:cNvSpPr/>
          <p:nvPr/>
        </p:nvSpPr>
        <p:spPr>
          <a:xfrm>
            <a:off x="4511847" y="2420300"/>
            <a:ext cx="57686" cy="20544"/>
          </a:xfrm>
          <a:custGeom>
            <a:avLst/>
            <a:gdLst/>
            <a:ahLst/>
            <a:cxnLst/>
            <a:rect l="l" t="t" r="r" b="b"/>
            <a:pathLst>
              <a:path w="57686" h="20544">
                <a:moveTo>
                  <a:pt x="57686" y="20544"/>
                </a:moveTo>
                <a:lnTo>
                  <a:pt x="0" y="20544"/>
                </a:lnTo>
                <a:lnTo>
                  <a:pt x="0" y="9183"/>
                </a:lnTo>
                <a:lnTo>
                  <a:pt x="34152" y="5493"/>
                </a:lnTo>
                <a:lnTo>
                  <a:pt x="57686" y="0"/>
                </a:lnTo>
                <a:lnTo>
                  <a:pt x="57686" y="20544"/>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4" name="Illustrative delivered road transport cost class 1; reference terminal Durban"/>
          <p:cNvSpPr/>
          <p:nvPr/>
        </p:nvSpPr>
        <p:spPr>
          <a:xfrm>
            <a:off x="4569533" y="4863680"/>
            <a:ext cx="14654" cy="17156"/>
          </a:xfrm>
          <a:custGeom>
            <a:avLst/>
            <a:gdLst/>
            <a:ahLst/>
            <a:cxnLst/>
            <a:rect l="l" t="t" r="r" b="b"/>
            <a:pathLst>
              <a:path w="14654" h="17156">
                <a:moveTo>
                  <a:pt x="0" y="0"/>
                </a:moveTo>
                <a:lnTo>
                  <a:pt x="14654" y="0"/>
                </a:lnTo>
                <a:lnTo>
                  <a:pt x="0" y="1715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5" name="Illustrative delivered road transport cost class 1; reference terminal Durban"/>
          <p:cNvSpPr/>
          <p:nvPr/>
        </p:nvSpPr>
        <p:spPr>
          <a:xfrm>
            <a:off x="4569533" y="4805994"/>
            <a:ext cx="57687" cy="57686"/>
          </a:xfrm>
          <a:custGeom>
            <a:avLst/>
            <a:gdLst/>
            <a:ahLst/>
            <a:cxnLst/>
            <a:rect l="l" t="t" r="r" b="b"/>
            <a:pathLst>
              <a:path w="57687" h="57686">
                <a:moveTo>
                  <a:pt x="0" y="57686"/>
                </a:moveTo>
                <a:lnTo>
                  <a:pt x="0" y="0"/>
                </a:lnTo>
                <a:lnTo>
                  <a:pt x="57687" y="0"/>
                </a:lnTo>
                <a:lnTo>
                  <a:pt x="57687" y="11126"/>
                </a:lnTo>
                <a:lnTo>
                  <a:pt x="34711" y="34204"/>
                </a:lnTo>
                <a:lnTo>
                  <a:pt x="14654"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6" name="Illustrative delivered road transport cost class 1; reference terminal Durban"/>
          <p:cNvSpPr/>
          <p:nvPr/>
        </p:nvSpPr>
        <p:spPr>
          <a:xfrm>
            <a:off x="4569533" y="474830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7" name="Illustrative delivered road transport cost class 1; reference terminal Durban"/>
          <p:cNvSpPr/>
          <p:nvPr/>
        </p:nvSpPr>
        <p:spPr>
          <a:xfrm>
            <a:off x="4569533" y="469062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8" name="Illustrative delivered road transport cost class 1; reference terminal Durban"/>
          <p:cNvSpPr/>
          <p:nvPr/>
        </p:nvSpPr>
        <p:spPr>
          <a:xfrm>
            <a:off x="4569533"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29" name="Illustrative delivered road transport cost class 0; reference terminal Durban"/>
          <p:cNvSpPr/>
          <p:nvPr/>
        </p:nvSpPr>
        <p:spPr>
          <a:xfrm>
            <a:off x="4569533"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0" name="Illustrative delivered road transport cost class 0; reference terminal Durban"/>
          <p:cNvSpPr/>
          <p:nvPr/>
        </p:nvSpPr>
        <p:spPr>
          <a:xfrm>
            <a:off x="4569533"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1" name="Illustrative delivered road transport cost class 0; reference terminal Durban"/>
          <p:cNvSpPr/>
          <p:nvPr/>
        </p:nvSpPr>
        <p:spPr>
          <a:xfrm>
            <a:off x="4569533"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2" name="Illustrative delivered road transport cost class 0; reference terminal Durban"/>
          <p:cNvSpPr/>
          <p:nvPr/>
        </p:nvSpPr>
        <p:spPr>
          <a:xfrm>
            <a:off x="4569533"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3" name="Illustrative delivered road transport cost class 0; reference terminal Durban"/>
          <p:cNvSpPr/>
          <p:nvPr/>
        </p:nvSpPr>
        <p:spPr>
          <a:xfrm>
            <a:off x="4569533"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4" name="Illustrative delivered road transport cost class 0; reference terminal Durban"/>
          <p:cNvSpPr/>
          <p:nvPr/>
        </p:nvSpPr>
        <p:spPr>
          <a:xfrm>
            <a:off x="4569533" y="4286814"/>
            <a:ext cx="57687" cy="57687"/>
          </a:xfrm>
          <a:custGeom>
            <a:avLst/>
            <a:gdLst/>
            <a:ahLst/>
            <a:cxnLst/>
            <a:rect l="l" t="t" r="r" b="b"/>
            <a:pathLst>
              <a:path w="57687" h="57687">
                <a:moveTo>
                  <a:pt x="57687" y="0"/>
                </a:moveTo>
                <a:lnTo>
                  <a:pt x="57687" y="57687"/>
                </a:lnTo>
                <a:lnTo>
                  <a:pt x="0" y="57687"/>
                </a:lnTo>
                <a:lnTo>
                  <a:pt x="0" y="50313"/>
                </a:lnTo>
                <a:lnTo>
                  <a:pt x="2657" y="49233"/>
                </a:lnTo>
                <a:lnTo>
                  <a:pt x="19503" y="39795"/>
                </a:lnTo>
                <a:lnTo>
                  <a:pt x="31732" y="32059"/>
                </a:lnTo>
                <a:lnTo>
                  <a:pt x="47533" y="20177"/>
                </a:lnTo>
                <a:lnTo>
                  <a:pt x="51841" y="0"/>
                </a:lnTo>
                <a:lnTo>
                  <a:pt x="57687"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5" name="Illustrative delivered road transport cost class 0; reference terminal Durban"/>
          <p:cNvSpPr/>
          <p:nvPr/>
        </p:nvSpPr>
        <p:spPr>
          <a:xfrm>
            <a:off x="4621374" y="4259370"/>
            <a:ext cx="5846" cy="27444"/>
          </a:xfrm>
          <a:custGeom>
            <a:avLst/>
            <a:gdLst/>
            <a:ahLst/>
            <a:cxnLst/>
            <a:rect l="l" t="t" r="r" b="b"/>
            <a:pathLst>
              <a:path w="5846" h="27444">
                <a:moveTo>
                  <a:pt x="5846" y="27444"/>
                </a:moveTo>
                <a:lnTo>
                  <a:pt x="0" y="27444"/>
                </a:lnTo>
                <a:lnTo>
                  <a:pt x="2088" y="17663"/>
                </a:lnTo>
                <a:lnTo>
                  <a:pt x="5846" y="0"/>
                </a:lnTo>
                <a:lnTo>
                  <a:pt x="5846" y="27444"/>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6" name="Illustrative delivered road transport cost class 0; reference terminal Durban"/>
          <p:cNvSpPr/>
          <p:nvPr/>
        </p:nvSpPr>
        <p:spPr>
          <a:xfrm>
            <a:off x="4612267" y="4056068"/>
            <a:ext cx="14953" cy="12657"/>
          </a:xfrm>
          <a:custGeom>
            <a:avLst/>
            <a:gdLst/>
            <a:ahLst/>
            <a:cxnLst/>
            <a:rect l="l" t="t" r="r" b="b"/>
            <a:pathLst>
              <a:path w="14953" h="12657">
                <a:moveTo>
                  <a:pt x="14953" y="0"/>
                </a:moveTo>
                <a:lnTo>
                  <a:pt x="14953" y="12657"/>
                </a:lnTo>
                <a:lnTo>
                  <a:pt x="4438" y="3748"/>
                </a:lnTo>
                <a:lnTo>
                  <a:pt x="0" y="0"/>
                </a:lnTo>
                <a:lnTo>
                  <a:pt x="14953"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7" name="Illustrative delivered road transport cost class 0; reference terminal Durban"/>
          <p:cNvSpPr/>
          <p:nvPr/>
        </p:nvSpPr>
        <p:spPr>
          <a:xfrm>
            <a:off x="4569533" y="3998382"/>
            <a:ext cx="57687" cy="57686"/>
          </a:xfrm>
          <a:custGeom>
            <a:avLst/>
            <a:gdLst/>
            <a:ahLst/>
            <a:cxnLst/>
            <a:rect l="l" t="t" r="r" b="b"/>
            <a:pathLst>
              <a:path w="57687" h="57686">
                <a:moveTo>
                  <a:pt x="0" y="0"/>
                </a:moveTo>
                <a:lnTo>
                  <a:pt x="57687" y="0"/>
                </a:lnTo>
                <a:lnTo>
                  <a:pt x="57687" y="57686"/>
                </a:lnTo>
                <a:lnTo>
                  <a:pt x="42734" y="57686"/>
                </a:lnTo>
                <a:lnTo>
                  <a:pt x="24352" y="42163"/>
                </a:lnTo>
                <a:lnTo>
                  <a:pt x="3310" y="14497"/>
                </a:lnTo>
                <a:lnTo>
                  <a:pt x="0" y="12749"/>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8" name="Illustrative delivered road transport cost class 0; reference terminal Lesedi"/>
          <p:cNvSpPr/>
          <p:nvPr/>
        </p:nvSpPr>
        <p:spPr>
          <a:xfrm>
            <a:off x="4569533"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39" name="Illustrative delivered road transport cost class 0; reference terminal Lesedi"/>
          <p:cNvSpPr/>
          <p:nvPr/>
        </p:nvSpPr>
        <p:spPr>
          <a:xfrm>
            <a:off x="4569533"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0" name="Illustrative delivered road transport cost class 0; reference terminal Lesedi"/>
          <p:cNvSpPr/>
          <p:nvPr/>
        </p:nvSpPr>
        <p:spPr>
          <a:xfrm>
            <a:off x="4569533"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1" name="Illustrative delivered road transport cost class 0; reference terminal Lesedi"/>
          <p:cNvSpPr/>
          <p:nvPr/>
        </p:nvSpPr>
        <p:spPr>
          <a:xfrm>
            <a:off x="4569533"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2" name="Illustrative delivered road transport cost class 0; reference terminal Lesedi"/>
          <p:cNvSpPr/>
          <p:nvPr/>
        </p:nvSpPr>
        <p:spPr>
          <a:xfrm>
            <a:off x="4569533"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3" name="Illustrative delivered road transport cost class 0; reference terminal Lesedi"/>
          <p:cNvSpPr/>
          <p:nvPr/>
        </p:nvSpPr>
        <p:spPr>
          <a:xfrm>
            <a:off x="4569533"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4" name="Illustrative delivered road transport cost class 0; reference terminal Lesedi"/>
          <p:cNvSpPr/>
          <p:nvPr/>
        </p:nvSpPr>
        <p:spPr>
          <a:xfrm>
            <a:off x="4569533"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5" name="Illustrative delivered road transport cost class 0; reference terminal Lesedi"/>
          <p:cNvSpPr/>
          <p:nvPr/>
        </p:nvSpPr>
        <p:spPr>
          <a:xfrm>
            <a:off x="4569533"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6" name="Illustrative delivered road transport cost class 0; reference terminal Lesedi"/>
          <p:cNvSpPr/>
          <p:nvPr/>
        </p:nvSpPr>
        <p:spPr>
          <a:xfrm>
            <a:off x="4569533"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7" name="Illustrative delivered road transport cost class 0; reference terminal Lesedi"/>
          <p:cNvSpPr/>
          <p:nvPr/>
        </p:nvSpPr>
        <p:spPr>
          <a:xfrm>
            <a:off x="4569533"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8" name="Illustrative delivered road transport cost class 0; reference terminal Lesedi"/>
          <p:cNvSpPr/>
          <p:nvPr/>
        </p:nvSpPr>
        <p:spPr>
          <a:xfrm>
            <a:off x="4569533"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49" name="Illustrative delivered road transport cost class 0; reference terminal Lesedi"/>
          <p:cNvSpPr/>
          <p:nvPr/>
        </p:nvSpPr>
        <p:spPr>
          <a:xfrm>
            <a:off x="4569533"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0" name="Illustrative delivered road transport cost class 0; reference terminal Lesedi"/>
          <p:cNvSpPr/>
          <p:nvPr/>
        </p:nvSpPr>
        <p:spPr>
          <a:xfrm>
            <a:off x="4569533"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1" name="Illustrative delivered road transport cost class 0; reference terminal Lesedi"/>
          <p:cNvSpPr/>
          <p:nvPr/>
        </p:nvSpPr>
        <p:spPr>
          <a:xfrm>
            <a:off x="4569533"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2" name="Illustrative delivered road transport cost class 0; reference terminal Lesedi"/>
          <p:cNvSpPr/>
          <p:nvPr/>
        </p:nvSpPr>
        <p:spPr>
          <a:xfrm>
            <a:off x="4569533"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3" name="Illustrative delivered road transport cost class 0; reference terminal Lesedi"/>
          <p:cNvSpPr/>
          <p:nvPr/>
        </p:nvSpPr>
        <p:spPr>
          <a:xfrm>
            <a:off x="4569533"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4" name="Illustrative delivered road transport cost class 0; reference terminal Lesedi"/>
          <p:cNvSpPr/>
          <p:nvPr/>
        </p:nvSpPr>
        <p:spPr>
          <a:xfrm>
            <a:off x="4569533"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5" name="Illustrative delivered road transport cost class 0; reference terminal Lesedi"/>
          <p:cNvSpPr/>
          <p:nvPr/>
        </p:nvSpPr>
        <p:spPr>
          <a:xfrm>
            <a:off x="4569533"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6" name="Illustrative delivered road transport cost class 0; reference terminal Lesedi"/>
          <p:cNvSpPr/>
          <p:nvPr/>
        </p:nvSpPr>
        <p:spPr>
          <a:xfrm>
            <a:off x="4569533"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7" name="Illustrative delivered road transport cost class 0; reference terminal Lesedi"/>
          <p:cNvSpPr/>
          <p:nvPr/>
        </p:nvSpPr>
        <p:spPr>
          <a:xfrm>
            <a:off x="4569533"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8" name="Illustrative delivered road transport cost class 1; reference terminal Lesedi"/>
          <p:cNvSpPr/>
          <p:nvPr/>
        </p:nvSpPr>
        <p:spPr>
          <a:xfrm>
            <a:off x="4569533"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59" name="Illustrative delivered road transport cost class 1; reference terminal Lesedi"/>
          <p:cNvSpPr/>
          <p:nvPr/>
        </p:nvSpPr>
        <p:spPr>
          <a:xfrm>
            <a:off x="4569533"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0" name="Illustrative delivered road transport cost class 1; reference terminal Lesedi"/>
          <p:cNvSpPr/>
          <p:nvPr/>
        </p:nvSpPr>
        <p:spPr>
          <a:xfrm>
            <a:off x="4569533"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1" name="Illustrative delivered road transport cost class 1; reference terminal Lesedi"/>
          <p:cNvSpPr/>
          <p:nvPr/>
        </p:nvSpPr>
        <p:spPr>
          <a:xfrm>
            <a:off x="4569533"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2" name="Illustrative delivered road transport cost class 1; reference terminal Lesedi"/>
          <p:cNvSpPr/>
          <p:nvPr/>
        </p:nvSpPr>
        <p:spPr>
          <a:xfrm>
            <a:off x="4569533"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3" name="Illustrative delivered road transport cost class 1; reference terminal Lesedi"/>
          <p:cNvSpPr/>
          <p:nvPr/>
        </p:nvSpPr>
        <p:spPr>
          <a:xfrm>
            <a:off x="4569533"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4" name="Illustrative delivered road transport cost class None; reference terminal None"/>
          <p:cNvSpPr/>
          <p:nvPr/>
        </p:nvSpPr>
        <p:spPr>
          <a:xfrm>
            <a:off x="4569533"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5" name="Illustrative delivered road transport cost class None; reference terminal None"/>
          <p:cNvSpPr/>
          <p:nvPr/>
        </p:nvSpPr>
        <p:spPr>
          <a:xfrm>
            <a:off x="4569533" y="2396154"/>
            <a:ext cx="57687" cy="44690"/>
          </a:xfrm>
          <a:custGeom>
            <a:avLst/>
            <a:gdLst/>
            <a:ahLst/>
            <a:cxnLst/>
            <a:rect l="l" t="t" r="r" b="b"/>
            <a:pathLst>
              <a:path w="57687" h="44690">
                <a:moveTo>
                  <a:pt x="57687" y="44690"/>
                </a:moveTo>
                <a:lnTo>
                  <a:pt x="0" y="44690"/>
                </a:lnTo>
                <a:lnTo>
                  <a:pt x="0" y="24146"/>
                </a:lnTo>
                <a:lnTo>
                  <a:pt x="12965" y="21120"/>
                </a:lnTo>
                <a:lnTo>
                  <a:pt x="47630" y="8224"/>
                </a:lnTo>
                <a:lnTo>
                  <a:pt x="57687" y="0"/>
                </a:lnTo>
                <a:lnTo>
                  <a:pt x="57687" y="44690"/>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6" name="Illustrative delivered road transport cost class 1; reference terminal Durban"/>
          <p:cNvSpPr/>
          <p:nvPr/>
        </p:nvSpPr>
        <p:spPr>
          <a:xfrm>
            <a:off x="4627220" y="4805994"/>
            <a:ext cx="11076" cy="11126"/>
          </a:xfrm>
          <a:custGeom>
            <a:avLst/>
            <a:gdLst/>
            <a:ahLst/>
            <a:cxnLst/>
            <a:rect l="l" t="t" r="r" b="b"/>
            <a:pathLst>
              <a:path w="11076" h="11126">
                <a:moveTo>
                  <a:pt x="0" y="0"/>
                </a:moveTo>
                <a:lnTo>
                  <a:pt x="11076" y="0"/>
                </a:lnTo>
                <a:lnTo>
                  <a:pt x="0" y="1112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7" name="Illustrative delivered road transport cost class 1; reference terminal Durban"/>
          <p:cNvSpPr/>
          <p:nvPr/>
        </p:nvSpPr>
        <p:spPr>
          <a:xfrm>
            <a:off x="4627220" y="4748307"/>
            <a:ext cx="57686" cy="57687"/>
          </a:xfrm>
          <a:custGeom>
            <a:avLst/>
            <a:gdLst/>
            <a:ahLst/>
            <a:cxnLst/>
            <a:rect l="l" t="t" r="r" b="b"/>
            <a:pathLst>
              <a:path w="57686" h="57687">
                <a:moveTo>
                  <a:pt x="0" y="57687"/>
                </a:moveTo>
                <a:lnTo>
                  <a:pt x="0" y="0"/>
                </a:lnTo>
                <a:lnTo>
                  <a:pt x="57686" y="0"/>
                </a:lnTo>
                <a:lnTo>
                  <a:pt x="57686" y="10868"/>
                </a:lnTo>
                <a:lnTo>
                  <a:pt x="1107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8" name="Illustrative delivered road transport cost class 1; reference terminal Durban"/>
          <p:cNvSpPr/>
          <p:nvPr/>
        </p:nvSpPr>
        <p:spPr>
          <a:xfrm>
            <a:off x="4627220" y="469062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69" name="Illustrative delivered road transport cost class 0; reference terminal Durban"/>
          <p:cNvSpPr/>
          <p:nvPr/>
        </p:nvSpPr>
        <p:spPr>
          <a:xfrm>
            <a:off x="4627220" y="463293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0" name="Illustrative delivered road transport cost class 0; reference terminal Durban"/>
          <p:cNvSpPr/>
          <p:nvPr/>
        </p:nvSpPr>
        <p:spPr>
          <a:xfrm>
            <a:off x="4627220"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1" name="Illustrative delivered road transport cost class 0; reference terminal Durban"/>
          <p:cNvSpPr/>
          <p:nvPr/>
        </p:nvSpPr>
        <p:spPr>
          <a:xfrm>
            <a:off x="4627220"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2" name="Illustrative delivered road transport cost class 0; reference terminal Durban"/>
          <p:cNvSpPr/>
          <p:nvPr/>
        </p:nvSpPr>
        <p:spPr>
          <a:xfrm>
            <a:off x="4627220"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3" name="Illustrative delivered road transport cost class 0; reference terminal Durban"/>
          <p:cNvSpPr/>
          <p:nvPr/>
        </p:nvSpPr>
        <p:spPr>
          <a:xfrm>
            <a:off x="4627220"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4" name="Illustrative delivered road transport cost class 0; reference terminal Durban"/>
          <p:cNvSpPr/>
          <p:nvPr/>
        </p:nvSpPr>
        <p:spPr>
          <a:xfrm>
            <a:off x="4627220"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5" name="Illustrative delivered road transport cost class 0; reference terminal Durban"/>
          <p:cNvSpPr/>
          <p:nvPr/>
        </p:nvSpPr>
        <p:spPr>
          <a:xfrm>
            <a:off x="4627220"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6" name="Illustrative delivered road transport cost class 0; reference terminal Durban"/>
          <p:cNvSpPr/>
          <p:nvPr/>
        </p:nvSpPr>
        <p:spPr>
          <a:xfrm>
            <a:off x="4627220" y="4229128"/>
            <a:ext cx="57686" cy="57686"/>
          </a:xfrm>
          <a:custGeom>
            <a:avLst/>
            <a:gdLst/>
            <a:ahLst/>
            <a:cxnLst/>
            <a:rect l="l" t="t" r="r" b="b"/>
            <a:pathLst>
              <a:path w="57686" h="57686">
                <a:moveTo>
                  <a:pt x="57686" y="0"/>
                </a:moveTo>
                <a:lnTo>
                  <a:pt x="57686" y="57686"/>
                </a:lnTo>
                <a:lnTo>
                  <a:pt x="0" y="57686"/>
                </a:lnTo>
                <a:lnTo>
                  <a:pt x="0" y="30242"/>
                </a:lnTo>
                <a:lnTo>
                  <a:pt x="1660" y="22439"/>
                </a:lnTo>
                <a:lnTo>
                  <a:pt x="13920" y="10244"/>
                </a:lnTo>
                <a:lnTo>
                  <a:pt x="26299" y="2285"/>
                </a:lnTo>
                <a:lnTo>
                  <a:pt x="28135" y="0"/>
                </a:lnTo>
                <a:lnTo>
                  <a:pt x="57686"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7" name="Illustrative delivered road transport cost class 0; reference terminal Durban"/>
          <p:cNvSpPr/>
          <p:nvPr/>
        </p:nvSpPr>
        <p:spPr>
          <a:xfrm>
            <a:off x="4655355" y="4171441"/>
            <a:ext cx="29551" cy="57687"/>
          </a:xfrm>
          <a:custGeom>
            <a:avLst/>
            <a:gdLst/>
            <a:ahLst/>
            <a:cxnLst/>
            <a:rect l="l" t="t" r="r" b="b"/>
            <a:pathLst>
              <a:path w="29551" h="57687">
                <a:moveTo>
                  <a:pt x="29551" y="0"/>
                </a:moveTo>
                <a:lnTo>
                  <a:pt x="29551" y="57687"/>
                </a:lnTo>
                <a:lnTo>
                  <a:pt x="0" y="57687"/>
                </a:lnTo>
                <a:lnTo>
                  <a:pt x="8550" y="47044"/>
                </a:lnTo>
                <a:lnTo>
                  <a:pt x="22082" y="15554"/>
                </a:lnTo>
                <a:lnTo>
                  <a:pt x="26926" y="0"/>
                </a:lnTo>
                <a:lnTo>
                  <a:pt x="29551"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8" name="Illustrative delivered road transport cost class 0; reference terminal Durban"/>
          <p:cNvSpPr/>
          <p:nvPr/>
        </p:nvSpPr>
        <p:spPr>
          <a:xfrm>
            <a:off x="4682281" y="4163014"/>
            <a:ext cx="2625" cy="8427"/>
          </a:xfrm>
          <a:custGeom>
            <a:avLst/>
            <a:gdLst/>
            <a:ahLst/>
            <a:cxnLst/>
            <a:rect l="l" t="t" r="r" b="b"/>
            <a:pathLst>
              <a:path w="2625" h="8427">
                <a:moveTo>
                  <a:pt x="2625" y="8427"/>
                </a:moveTo>
                <a:lnTo>
                  <a:pt x="0" y="8427"/>
                </a:lnTo>
                <a:lnTo>
                  <a:pt x="2625" y="0"/>
                </a:lnTo>
                <a:lnTo>
                  <a:pt x="2625" y="842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79" name="Illustrative delivered road transport cost class 0; reference terminal Durban"/>
          <p:cNvSpPr/>
          <p:nvPr/>
        </p:nvSpPr>
        <p:spPr>
          <a:xfrm>
            <a:off x="4676458" y="4113755"/>
            <a:ext cx="8448" cy="17626"/>
          </a:xfrm>
          <a:custGeom>
            <a:avLst/>
            <a:gdLst/>
            <a:ahLst/>
            <a:cxnLst/>
            <a:rect l="l" t="t" r="r" b="b"/>
            <a:pathLst>
              <a:path w="8448" h="17626">
                <a:moveTo>
                  <a:pt x="8448" y="0"/>
                </a:moveTo>
                <a:lnTo>
                  <a:pt x="8448" y="17626"/>
                </a:lnTo>
                <a:lnTo>
                  <a:pt x="8041" y="16258"/>
                </a:lnTo>
                <a:lnTo>
                  <a:pt x="722" y="1960"/>
                </a:lnTo>
                <a:lnTo>
                  <a:pt x="0" y="0"/>
                </a:lnTo>
                <a:lnTo>
                  <a:pt x="8448"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0" name="Illustrative delivered road transport cost class 0; reference terminal Durban"/>
          <p:cNvSpPr/>
          <p:nvPr/>
        </p:nvSpPr>
        <p:spPr>
          <a:xfrm>
            <a:off x="4627220" y="4056068"/>
            <a:ext cx="57686" cy="57687"/>
          </a:xfrm>
          <a:custGeom>
            <a:avLst/>
            <a:gdLst/>
            <a:ahLst/>
            <a:cxnLst/>
            <a:rect l="l" t="t" r="r" b="b"/>
            <a:pathLst>
              <a:path w="57686" h="57687">
                <a:moveTo>
                  <a:pt x="0" y="0"/>
                </a:moveTo>
                <a:lnTo>
                  <a:pt x="57686" y="0"/>
                </a:lnTo>
                <a:lnTo>
                  <a:pt x="57686" y="57687"/>
                </a:lnTo>
                <a:lnTo>
                  <a:pt x="49238" y="57687"/>
                </a:lnTo>
                <a:lnTo>
                  <a:pt x="42897" y="40485"/>
                </a:lnTo>
                <a:lnTo>
                  <a:pt x="33670" y="37201"/>
                </a:lnTo>
                <a:lnTo>
                  <a:pt x="15701" y="25960"/>
                </a:lnTo>
                <a:lnTo>
                  <a:pt x="0" y="12657"/>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1" name="Illustrative delivered road transport cost class 0; reference terminal Durban"/>
          <p:cNvSpPr/>
          <p:nvPr/>
        </p:nvSpPr>
        <p:spPr>
          <a:xfrm>
            <a:off x="4627220"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2" name="Illustrative delivered road transport cost class 0; reference terminal Durban"/>
          <p:cNvSpPr/>
          <p:nvPr/>
        </p:nvSpPr>
        <p:spPr>
          <a:xfrm>
            <a:off x="4627220"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3" name="Illustrative delivered road transport cost class 0; reference terminal Lesedi"/>
          <p:cNvSpPr/>
          <p:nvPr/>
        </p:nvSpPr>
        <p:spPr>
          <a:xfrm>
            <a:off x="4627220"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4" name="Illustrative delivered road transport cost class 0; reference terminal Lesedi"/>
          <p:cNvSpPr/>
          <p:nvPr/>
        </p:nvSpPr>
        <p:spPr>
          <a:xfrm>
            <a:off x="4627220"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5" name="Illustrative delivered road transport cost class 0; reference terminal Lesedi"/>
          <p:cNvSpPr/>
          <p:nvPr/>
        </p:nvSpPr>
        <p:spPr>
          <a:xfrm>
            <a:off x="4627220"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6" name="Illustrative delivered road transport cost class 0; reference terminal Lesedi"/>
          <p:cNvSpPr/>
          <p:nvPr/>
        </p:nvSpPr>
        <p:spPr>
          <a:xfrm>
            <a:off x="4627220"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7" name="Illustrative delivered road transport cost class 0; reference terminal Lesedi"/>
          <p:cNvSpPr/>
          <p:nvPr/>
        </p:nvSpPr>
        <p:spPr>
          <a:xfrm>
            <a:off x="4627220"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8" name="Illustrative delivered road transport cost class 0; reference terminal Lesedi"/>
          <p:cNvSpPr/>
          <p:nvPr/>
        </p:nvSpPr>
        <p:spPr>
          <a:xfrm>
            <a:off x="4627220"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89" name="Illustrative delivered road transport cost class 0; reference terminal Lesedi"/>
          <p:cNvSpPr/>
          <p:nvPr/>
        </p:nvSpPr>
        <p:spPr>
          <a:xfrm>
            <a:off x="4627220"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0" name="Illustrative delivered road transport cost class 0; reference terminal Lesedi"/>
          <p:cNvSpPr/>
          <p:nvPr/>
        </p:nvSpPr>
        <p:spPr>
          <a:xfrm>
            <a:off x="4627220"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1" name="Illustrative delivered road transport cost class 0; reference terminal Lesedi"/>
          <p:cNvSpPr/>
          <p:nvPr/>
        </p:nvSpPr>
        <p:spPr>
          <a:xfrm>
            <a:off x="4627220"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2" name="Illustrative delivered road transport cost class 0; reference terminal Lesedi"/>
          <p:cNvSpPr/>
          <p:nvPr/>
        </p:nvSpPr>
        <p:spPr>
          <a:xfrm>
            <a:off x="4627220"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3" name="Illustrative delivered road transport cost class 0; reference terminal Lesedi"/>
          <p:cNvSpPr/>
          <p:nvPr/>
        </p:nvSpPr>
        <p:spPr>
          <a:xfrm>
            <a:off x="4627220"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4" name="Illustrative delivered road transport cost class 0; reference terminal Lesedi"/>
          <p:cNvSpPr/>
          <p:nvPr/>
        </p:nvSpPr>
        <p:spPr>
          <a:xfrm>
            <a:off x="4627220"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5" name="Illustrative delivered road transport cost class 0; reference terminal Lesedi"/>
          <p:cNvSpPr/>
          <p:nvPr/>
        </p:nvSpPr>
        <p:spPr>
          <a:xfrm>
            <a:off x="4627220"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6" name="Illustrative delivered road transport cost class 0; reference terminal Lesedi"/>
          <p:cNvSpPr/>
          <p:nvPr/>
        </p:nvSpPr>
        <p:spPr>
          <a:xfrm>
            <a:off x="4627220"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7" name="Illustrative delivered road transport cost class 0; reference terminal Lesedi"/>
          <p:cNvSpPr/>
          <p:nvPr/>
        </p:nvSpPr>
        <p:spPr>
          <a:xfrm>
            <a:off x="4627220"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8" name="Illustrative delivered road transport cost class 0; reference terminal Lesedi"/>
          <p:cNvSpPr/>
          <p:nvPr/>
        </p:nvSpPr>
        <p:spPr>
          <a:xfrm>
            <a:off x="4627220"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99" name="Illustrative delivered road transport cost class 0; reference terminal Lesedi"/>
          <p:cNvSpPr/>
          <p:nvPr/>
        </p:nvSpPr>
        <p:spPr>
          <a:xfrm>
            <a:off x="4627220"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0" name="Illustrative delivered road transport cost class 0; reference terminal Lesedi"/>
          <p:cNvSpPr/>
          <p:nvPr/>
        </p:nvSpPr>
        <p:spPr>
          <a:xfrm>
            <a:off x="4627220"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1" name="Illustrative delivered road transport cost class 0; reference terminal Lesedi"/>
          <p:cNvSpPr/>
          <p:nvPr/>
        </p:nvSpPr>
        <p:spPr>
          <a:xfrm>
            <a:off x="4627220"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2" name="Illustrative delivered road transport cost class 1; reference terminal Lesedi"/>
          <p:cNvSpPr/>
          <p:nvPr/>
        </p:nvSpPr>
        <p:spPr>
          <a:xfrm>
            <a:off x="4627220"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3" name="Illustrative delivered road transport cost class 1; reference terminal Lesedi"/>
          <p:cNvSpPr/>
          <p:nvPr/>
        </p:nvSpPr>
        <p:spPr>
          <a:xfrm>
            <a:off x="4627220"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4" name="Illustrative delivered road transport cost class 1; reference terminal Lesedi"/>
          <p:cNvSpPr/>
          <p:nvPr/>
        </p:nvSpPr>
        <p:spPr>
          <a:xfrm>
            <a:off x="4627220"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5" name="Illustrative delivered road transport cost class 1; reference terminal Lesedi"/>
          <p:cNvSpPr/>
          <p:nvPr/>
        </p:nvSpPr>
        <p:spPr>
          <a:xfrm>
            <a:off x="4627220"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6" name="Illustrative delivered road transport cost class 1; reference terminal Lesedi"/>
          <p:cNvSpPr/>
          <p:nvPr/>
        </p:nvSpPr>
        <p:spPr>
          <a:xfrm>
            <a:off x="4627220"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7" name="Illustrative delivered road transport cost class 1; reference terminal Lesedi"/>
          <p:cNvSpPr/>
          <p:nvPr/>
        </p:nvSpPr>
        <p:spPr>
          <a:xfrm>
            <a:off x="4627220"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8" name="Illustrative delivered road transport cost class 1; reference terminal Lesedi"/>
          <p:cNvSpPr/>
          <p:nvPr/>
        </p:nvSpPr>
        <p:spPr>
          <a:xfrm>
            <a:off x="4627220"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09" name="Illustrative delivered road transport cost class 2; reference terminal Lesedi"/>
          <p:cNvSpPr/>
          <p:nvPr/>
        </p:nvSpPr>
        <p:spPr>
          <a:xfrm>
            <a:off x="4627220" y="2383158"/>
            <a:ext cx="57686" cy="57686"/>
          </a:xfrm>
          <a:custGeom>
            <a:avLst/>
            <a:gdLst/>
            <a:ahLst/>
            <a:cxnLst/>
            <a:rect l="l" t="t" r="r" b="b"/>
            <a:pathLst>
              <a:path w="57686" h="57686">
                <a:moveTo>
                  <a:pt x="57686" y="0"/>
                </a:moveTo>
                <a:lnTo>
                  <a:pt x="57686" y="57686"/>
                </a:lnTo>
                <a:lnTo>
                  <a:pt x="0" y="57686"/>
                </a:lnTo>
                <a:lnTo>
                  <a:pt x="0" y="12996"/>
                </a:lnTo>
                <a:lnTo>
                  <a:pt x="15735" y="127"/>
                </a:lnTo>
                <a:lnTo>
                  <a:pt x="15809" y="0"/>
                </a:lnTo>
                <a:lnTo>
                  <a:pt x="57686" y="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0" name="Illustrative delivered road transport cost class 2; reference terminal Lesedi"/>
          <p:cNvSpPr/>
          <p:nvPr/>
        </p:nvSpPr>
        <p:spPr>
          <a:xfrm>
            <a:off x="4643029" y="2340078"/>
            <a:ext cx="41877" cy="43080"/>
          </a:xfrm>
          <a:custGeom>
            <a:avLst/>
            <a:gdLst/>
            <a:ahLst/>
            <a:cxnLst/>
            <a:rect l="l" t="t" r="r" b="b"/>
            <a:pathLst>
              <a:path w="41877" h="43080">
                <a:moveTo>
                  <a:pt x="41877" y="43080"/>
                </a:moveTo>
                <a:lnTo>
                  <a:pt x="0" y="43080"/>
                </a:lnTo>
                <a:lnTo>
                  <a:pt x="16866" y="13946"/>
                </a:lnTo>
                <a:lnTo>
                  <a:pt x="41877" y="0"/>
                </a:lnTo>
                <a:lnTo>
                  <a:pt x="41877" y="43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1" name="Illustrative delivered road transport cost class 1; reference terminal Durban"/>
          <p:cNvSpPr/>
          <p:nvPr/>
        </p:nvSpPr>
        <p:spPr>
          <a:xfrm>
            <a:off x="4684906" y="4748307"/>
            <a:ext cx="12440" cy="10868"/>
          </a:xfrm>
          <a:custGeom>
            <a:avLst/>
            <a:gdLst/>
            <a:ahLst/>
            <a:cxnLst/>
            <a:rect l="l" t="t" r="r" b="b"/>
            <a:pathLst>
              <a:path w="12440" h="10868">
                <a:moveTo>
                  <a:pt x="0" y="0"/>
                </a:moveTo>
                <a:lnTo>
                  <a:pt x="12440" y="0"/>
                </a:lnTo>
                <a:lnTo>
                  <a:pt x="85" y="10783"/>
                </a:lnTo>
                <a:lnTo>
                  <a:pt x="0" y="1086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2" name="Illustrative delivered road transport cost class 1; reference terminal Durban"/>
          <p:cNvSpPr/>
          <p:nvPr/>
        </p:nvSpPr>
        <p:spPr>
          <a:xfrm>
            <a:off x="4684906" y="4690620"/>
            <a:ext cx="57687" cy="57687"/>
          </a:xfrm>
          <a:custGeom>
            <a:avLst/>
            <a:gdLst/>
            <a:ahLst/>
            <a:cxnLst/>
            <a:rect l="l" t="t" r="r" b="b"/>
            <a:pathLst>
              <a:path w="57687" h="57687">
                <a:moveTo>
                  <a:pt x="0" y="57687"/>
                </a:moveTo>
                <a:lnTo>
                  <a:pt x="0" y="0"/>
                </a:lnTo>
                <a:lnTo>
                  <a:pt x="57687" y="0"/>
                </a:lnTo>
                <a:lnTo>
                  <a:pt x="57687" y="18285"/>
                </a:lnTo>
                <a:lnTo>
                  <a:pt x="57434" y="18416"/>
                </a:lnTo>
                <a:lnTo>
                  <a:pt x="124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3" name="Illustrative delivered road transport cost class 0; reference terminal Durban"/>
          <p:cNvSpPr/>
          <p:nvPr/>
        </p:nvSpPr>
        <p:spPr>
          <a:xfrm>
            <a:off x="4684906" y="463293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4" name="Illustrative delivered road transport cost class 0; reference terminal Durban"/>
          <p:cNvSpPr/>
          <p:nvPr/>
        </p:nvSpPr>
        <p:spPr>
          <a:xfrm>
            <a:off x="4684906" y="457524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5" name="Illustrative delivered road transport cost class 0; reference terminal Durban"/>
          <p:cNvSpPr/>
          <p:nvPr/>
        </p:nvSpPr>
        <p:spPr>
          <a:xfrm>
            <a:off x="4684906"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6" name="Illustrative delivered road transport cost class 0; reference terminal Durban"/>
          <p:cNvSpPr/>
          <p:nvPr/>
        </p:nvSpPr>
        <p:spPr>
          <a:xfrm>
            <a:off x="468490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7" name="Illustrative delivered road transport cost class 0; reference terminal Durban"/>
          <p:cNvSpPr/>
          <p:nvPr/>
        </p:nvSpPr>
        <p:spPr>
          <a:xfrm>
            <a:off x="468490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8" name="Illustrative delivered road transport cost class 0; reference terminal Durban"/>
          <p:cNvSpPr/>
          <p:nvPr/>
        </p:nvSpPr>
        <p:spPr>
          <a:xfrm>
            <a:off x="468490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19" name="Illustrative delivered road transport cost class 0; reference terminal Durban"/>
          <p:cNvSpPr/>
          <p:nvPr/>
        </p:nvSpPr>
        <p:spPr>
          <a:xfrm>
            <a:off x="468490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0" name="Illustrative delivered road transport cost class 0; reference terminal Durban"/>
          <p:cNvSpPr/>
          <p:nvPr/>
        </p:nvSpPr>
        <p:spPr>
          <a:xfrm>
            <a:off x="468490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1" name="Illustrative delivered road transport cost class 0; reference terminal Durban"/>
          <p:cNvSpPr/>
          <p:nvPr/>
        </p:nvSpPr>
        <p:spPr>
          <a:xfrm>
            <a:off x="468490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2" name="Illustrative delivered road transport cost class 0; reference terminal Durban"/>
          <p:cNvSpPr/>
          <p:nvPr/>
        </p:nvSpPr>
        <p:spPr>
          <a:xfrm>
            <a:off x="4684906" y="4113755"/>
            <a:ext cx="57687" cy="57686"/>
          </a:xfrm>
          <a:custGeom>
            <a:avLst/>
            <a:gdLst/>
            <a:ahLst/>
            <a:cxnLst/>
            <a:rect l="l" t="t" r="r" b="b"/>
            <a:pathLst>
              <a:path w="57687" h="57686">
                <a:moveTo>
                  <a:pt x="0" y="0"/>
                </a:moveTo>
                <a:lnTo>
                  <a:pt x="57687" y="0"/>
                </a:lnTo>
                <a:lnTo>
                  <a:pt x="57687" y="57686"/>
                </a:lnTo>
                <a:lnTo>
                  <a:pt x="0" y="57686"/>
                </a:lnTo>
                <a:lnTo>
                  <a:pt x="0" y="49259"/>
                </a:lnTo>
                <a:lnTo>
                  <a:pt x="2172" y="42287"/>
                </a:lnTo>
                <a:lnTo>
                  <a:pt x="3546" y="29534"/>
                </a:lnTo>
                <a:lnTo>
                  <a:pt x="0" y="17626"/>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3" name="Illustrative delivered road transport cost class 0; reference terminal Durban"/>
          <p:cNvSpPr/>
          <p:nvPr/>
        </p:nvSpPr>
        <p:spPr>
          <a:xfrm>
            <a:off x="468490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4" name="Illustrative delivered road transport cost class 0; reference terminal Durban"/>
          <p:cNvSpPr/>
          <p:nvPr/>
        </p:nvSpPr>
        <p:spPr>
          <a:xfrm>
            <a:off x="468490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5" name="Illustrative delivered road transport cost class 0; reference terminal Durban"/>
          <p:cNvSpPr/>
          <p:nvPr/>
        </p:nvSpPr>
        <p:spPr>
          <a:xfrm>
            <a:off x="468490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6" name="Illustrative delivered road transport cost class 0; reference terminal Durban"/>
          <p:cNvSpPr/>
          <p:nvPr/>
        </p:nvSpPr>
        <p:spPr>
          <a:xfrm>
            <a:off x="468490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7" name="Illustrative delivered road transport cost class 0; reference terminal Lesedi"/>
          <p:cNvSpPr/>
          <p:nvPr/>
        </p:nvSpPr>
        <p:spPr>
          <a:xfrm>
            <a:off x="468490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8" name="Illustrative delivered road transport cost class 0; reference terminal Lesedi"/>
          <p:cNvSpPr/>
          <p:nvPr/>
        </p:nvSpPr>
        <p:spPr>
          <a:xfrm>
            <a:off x="468490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29" name="Illustrative delivered road transport cost class 0; reference terminal Lesedi"/>
          <p:cNvSpPr/>
          <p:nvPr/>
        </p:nvSpPr>
        <p:spPr>
          <a:xfrm>
            <a:off x="468490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0" name="Illustrative delivered road transport cost class 0; reference terminal Lesedi"/>
          <p:cNvSpPr/>
          <p:nvPr/>
        </p:nvSpPr>
        <p:spPr>
          <a:xfrm>
            <a:off x="468490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1" name="Illustrative delivered road transport cost class 0; reference terminal Lesedi"/>
          <p:cNvSpPr/>
          <p:nvPr/>
        </p:nvSpPr>
        <p:spPr>
          <a:xfrm>
            <a:off x="468490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2" name="Illustrative delivered road transport cost class 0; reference terminal Lesedi"/>
          <p:cNvSpPr/>
          <p:nvPr/>
        </p:nvSpPr>
        <p:spPr>
          <a:xfrm>
            <a:off x="468490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3" name="Illustrative delivered road transport cost class 0; reference terminal Lesedi"/>
          <p:cNvSpPr/>
          <p:nvPr/>
        </p:nvSpPr>
        <p:spPr>
          <a:xfrm>
            <a:off x="468490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4" name="Illustrative delivered road transport cost class 0; reference terminal Lesedi"/>
          <p:cNvSpPr/>
          <p:nvPr/>
        </p:nvSpPr>
        <p:spPr>
          <a:xfrm>
            <a:off x="468490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5" name="Illustrative delivered road transport cost class 0; reference terminal Lesedi"/>
          <p:cNvSpPr/>
          <p:nvPr/>
        </p:nvSpPr>
        <p:spPr>
          <a:xfrm>
            <a:off x="468490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6" name="Illustrative delivered road transport cost class 0; reference terminal Lesedi"/>
          <p:cNvSpPr/>
          <p:nvPr/>
        </p:nvSpPr>
        <p:spPr>
          <a:xfrm>
            <a:off x="468490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7" name="Illustrative delivered road transport cost class 0; reference terminal Lesedi"/>
          <p:cNvSpPr/>
          <p:nvPr/>
        </p:nvSpPr>
        <p:spPr>
          <a:xfrm>
            <a:off x="468490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8" name="Illustrative delivered road transport cost class 0; reference terminal Lesedi"/>
          <p:cNvSpPr/>
          <p:nvPr/>
        </p:nvSpPr>
        <p:spPr>
          <a:xfrm>
            <a:off x="468490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39" name="Illustrative delivered road transport cost class 0; reference terminal Lesedi"/>
          <p:cNvSpPr/>
          <p:nvPr/>
        </p:nvSpPr>
        <p:spPr>
          <a:xfrm>
            <a:off x="468490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0" name="Illustrative delivered road transport cost class 0; reference terminal Lesedi"/>
          <p:cNvSpPr/>
          <p:nvPr/>
        </p:nvSpPr>
        <p:spPr>
          <a:xfrm>
            <a:off x="468490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1" name="Illustrative delivered road transport cost class 0; reference terminal Lesedi"/>
          <p:cNvSpPr/>
          <p:nvPr/>
        </p:nvSpPr>
        <p:spPr>
          <a:xfrm>
            <a:off x="468490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2" name="Illustrative delivered road transport cost class 0; reference terminal Lesedi"/>
          <p:cNvSpPr/>
          <p:nvPr/>
        </p:nvSpPr>
        <p:spPr>
          <a:xfrm>
            <a:off x="468490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3" name="Illustrative delivered road transport cost class 1; reference terminal Lesedi"/>
          <p:cNvSpPr/>
          <p:nvPr/>
        </p:nvSpPr>
        <p:spPr>
          <a:xfrm>
            <a:off x="468490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4" name="Illustrative delivered road transport cost class 1; reference terminal Lesedi"/>
          <p:cNvSpPr/>
          <p:nvPr/>
        </p:nvSpPr>
        <p:spPr>
          <a:xfrm>
            <a:off x="468490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5" name="Illustrative delivered road transport cost class 1; reference terminal Lesedi"/>
          <p:cNvSpPr/>
          <p:nvPr/>
        </p:nvSpPr>
        <p:spPr>
          <a:xfrm>
            <a:off x="468490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6" name="Illustrative delivered road transport cost class 1; reference terminal Lesedi"/>
          <p:cNvSpPr/>
          <p:nvPr/>
        </p:nvSpPr>
        <p:spPr>
          <a:xfrm>
            <a:off x="468490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7" name="Illustrative delivered road transport cost class 1; reference terminal Lesedi"/>
          <p:cNvSpPr/>
          <p:nvPr/>
        </p:nvSpPr>
        <p:spPr>
          <a:xfrm>
            <a:off x="468490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8" name="Illustrative delivered road transport cost class 1; reference terminal Lesedi"/>
          <p:cNvSpPr/>
          <p:nvPr/>
        </p:nvSpPr>
        <p:spPr>
          <a:xfrm>
            <a:off x="468490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49" name="Illustrative delivered road transport cost class 1; reference terminal Lesedi"/>
          <p:cNvSpPr/>
          <p:nvPr/>
        </p:nvSpPr>
        <p:spPr>
          <a:xfrm>
            <a:off x="468490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0" name="Illustrative delivered road transport cost class 1; reference terminal Lesedi"/>
          <p:cNvSpPr/>
          <p:nvPr/>
        </p:nvSpPr>
        <p:spPr>
          <a:xfrm>
            <a:off x="468490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1" name="Illustrative delivered road transport cost class 1; reference terminal Lesedi"/>
          <p:cNvSpPr/>
          <p:nvPr/>
        </p:nvSpPr>
        <p:spPr>
          <a:xfrm>
            <a:off x="468490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2" name="Illustrative delivered road transport cost class 1; reference terminal Lesedi"/>
          <p:cNvSpPr/>
          <p:nvPr/>
        </p:nvSpPr>
        <p:spPr>
          <a:xfrm>
            <a:off x="468490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3" name="Illustrative delivered road transport cost class 2; reference terminal Lesedi"/>
          <p:cNvSpPr/>
          <p:nvPr/>
        </p:nvSpPr>
        <p:spPr>
          <a:xfrm>
            <a:off x="4684906" y="2335355"/>
            <a:ext cx="57687" cy="47803"/>
          </a:xfrm>
          <a:custGeom>
            <a:avLst/>
            <a:gdLst/>
            <a:ahLst/>
            <a:cxnLst/>
            <a:rect l="l" t="t" r="r" b="b"/>
            <a:pathLst>
              <a:path w="57687" h="47803">
                <a:moveTo>
                  <a:pt x="57687" y="47803"/>
                </a:moveTo>
                <a:lnTo>
                  <a:pt x="0" y="47803"/>
                </a:lnTo>
                <a:lnTo>
                  <a:pt x="0" y="4723"/>
                </a:lnTo>
                <a:lnTo>
                  <a:pt x="3175" y="2952"/>
                </a:lnTo>
                <a:lnTo>
                  <a:pt x="57687" y="0"/>
                </a:lnTo>
                <a:lnTo>
                  <a:pt x="57687" y="47803"/>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4" name="Illustrative delivered road transport cost class 0; reference terminal Durban"/>
          <p:cNvSpPr/>
          <p:nvPr/>
        </p:nvSpPr>
        <p:spPr>
          <a:xfrm>
            <a:off x="4742593" y="4690620"/>
            <a:ext cx="30629" cy="18285"/>
          </a:xfrm>
          <a:custGeom>
            <a:avLst/>
            <a:gdLst/>
            <a:ahLst/>
            <a:cxnLst/>
            <a:rect l="l" t="t" r="r" b="b"/>
            <a:pathLst>
              <a:path w="30629" h="18285">
                <a:moveTo>
                  <a:pt x="0" y="0"/>
                </a:moveTo>
                <a:lnTo>
                  <a:pt x="30629" y="0"/>
                </a:lnTo>
                <a:lnTo>
                  <a:pt x="21093" y="7360"/>
                </a:lnTo>
                <a:lnTo>
                  <a:pt x="0" y="1828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5" name="Illustrative delivered road transport cost class 0; reference terminal Durban"/>
          <p:cNvSpPr/>
          <p:nvPr/>
        </p:nvSpPr>
        <p:spPr>
          <a:xfrm>
            <a:off x="4742593" y="4632934"/>
            <a:ext cx="57686" cy="57686"/>
          </a:xfrm>
          <a:custGeom>
            <a:avLst/>
            <a:gdLst/>
            <a:ahLst/>
            <a:cxnLst/>
            <a:rect l="l" t="t" r="r" b="b"/>
            <a:pathLst>
              <a:path w="57686" h="57686">
                <a:moveTo>
                  <a:pt x="0" y="57686"/>
                </a:moveTo>
                <a:lnTo>
                  <a:pt x="0" y="0"/>
                </a:lnTo>
                <a:lnTo>
                  <a:pt x="57686" y="0"/>
                </a:lnTo>
                <a:lnTo>
                  <a:pt x="57686" y="34953"/>
                </a:lnTo>
                <a:lnTo>
                  <a:pt x="53122" y="40326"/>
                </a:lnTo>
                <a:lnTo>
                  <a:pt x="30629"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6" name="Illustrative delivered road transport cost class 0; reference terminal Durban"/>
          <p:cNvSpPr/>
          <p:nvPr/>
        </p:nvSpPr>
        <p:spPr>
          <a:xfrm>
            <a:off x="4742593" y="457524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7" name="Illustrative delivered road transport cost class 0; reference terminal Durban"/>
          <p:cNvSpPr/>
          <p:nvPr/>
        </p:nvSpPr>
        <p:spPr>
          <a:xfrm>
            <a:off x="4742593" y="451756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8" name="Illustrative delivered road transport cost class 0; reference terminal Durban"/>
          <p:cNvSpPr/>
          <p:nvPr/>
        </p:nvSpPr>
        <p:spPr>
          <a:xfrm>
            <a:off x="4742593" y="445987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59" name="Illustrative delivered road transport cost class 0; reference terminal Durban"/>
          <p:cNvSpPr/>
          <p:nvPr/>
        </p:nvSpPr>
        <p:spPr>
          <a:xfrm>
            <a:off x="4742593" y="440218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0" name="Illustrative delivered road transport cost class 0; reference terminal Durban"/>
          <p:cNvSpPr/>
          <p:nvPr/>
        </p:nvSpPr>
        <p:spPr>
          <a:xfrm>
            <a:off x="474259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1" name="Illustrative delivered road transport cost class 0; reference terminal Durban"/>
          <p:cNvSpPr/>
          <p:nvPr/>
        </p:nvSpPr>
        <p:spPr>
          <a:xfrm>
            <a:off x="474259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2" name="Illustrative delivered road transport cost class 0; reference terminal Durban"/>
          <p:cNvSpPr/>
          <p:nvPr/>
        </p:nvSpPr>
        <p:spPr>
          <a:xfrm>
            <a:off x="474259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3" name="Illustrative delivered road transport cost class 0; reference terminal Durban"/>
          <p:cNvSpPr/>
          <p:nvPr/>
        </p:nvSpPr>
        <p:spPr>
          <a:xfrm>
            <a:off x="474259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4" name="Illustrative delivered road transport cost class 0; reference terminal Durban"/>
          <p:cNvSpPr/>
          <p:nvPr/>
        </p:nvSpPr>
        <p:spPr>
          <a:xfrm>
            <a:off x="474259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5" name="Illustrative delivered road transport cost class 0; reference terminal Durban"/>
          <p:cNvSpPr/>
          <p:nvPr/>
        </p:nvSpPr>
        <p:spPr>
          <a:xfrm>
            <a:off x="474259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6" name="Illustrative delivered road transport cost class 0; reference terminal Durban"/>
          <p:cNvSpPr/>
          <p:nvPr/>
        </p:nvSpPr>
        <p:spPr>
          <a:xfrm>
            <a:off x="474259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7" name="Illustrative delivered road transport cost class 0; reference terminal Durban"/>
          <p:cNvSpPr/>
          <p:nvPr/>
        </p:nvSpPr>
        <p:spPr>
          <a:xfrm>
            <a:off x="474259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8" name="Illustrative delivered road transport cost class 0; reference terminal Durban"/>
          <p:cNvSpPr/>
          <p:nvPr/>
        </p:nvSpPr>
        <p:spPr>
          <a:xfrm>
            <a:off x="474259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69" name="Illustrative delivered road transport cost class 0; reference terminal Lesedi"/>
          <p:cNvSpPr/>
          <p:nvPr/>
        </p:nvSpPr>
        <p:spPr>
          <a:xfrm>
            <a:off x="474259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0" name="Illustrative delivered road transport cost class 0; reference terminal Lesedi"/>
          <p:cNvSpPr/>
          <p:nvPr/>
        </p:nvSpPr>
        <p:spPr>
          <a:xfrm>
            <a:off x="474259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1" name="Illustrative delivered road transport cost class 0; reference terminal Lesedi"/>
          <p:cNvSpPr/>
          <p:nvPr/>
        </p:nvSpPr>
        <p:spPr>
          <a:xfrm>
            <a:off x="474259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2" name="Illustrative delivered road transport cost class 0; reference terminal Lesedi"/>
          <p:cNvSpPr/>
          <p:nvPr/>
        </p:nvSpPr>
        <p:spPr>
          <a:xfrm>
            <a:off x="474259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3" name="Illustrative delivered road transport cost class 0; reference terminal Lesedi"/>
          <p:cNvSpPr/>
          <p:nvPr/>
        </p:nvSpPr>
        <p:spPr>
          <a:xfrm>
            <a:off x="474259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4" name="Illustrative delivered road transport cost class 0; reference terminal Lesedi"/>
          <p:cNvSpPr/>
          <p:nvPr/>
        </p:nvSpPr>
        <p:spPr>
          <a:xfrm>
            <a:off x="474259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5" name="Illustrative delivered road transport cost class 0; reference terminal Lesedi"/>
          <p:cNvSpPr/>
          <p:nvPr/>
        </p:nvSpPr>
        <p:spPr>
          <a:xfrm>
            <a:off x="474259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6" name="Illustrative delivered road transport cost class 0; reference terminal Lesedi"/>
          <p:cNvSpPr/>
          <p:nvPr/>
        </p:nvSpPr>
        <p:spPr>
          <a:xfrm>
            <a:off x="474259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7" name="Illustrative delivered road transport cost class 0; reference terminal Lesedi"/>
          <p:cNvSpPr/>
          <p:nvPr/>
        </p:nvSpPr>
        <p:spPr>
          <a:xfrm>
            <a:off x="474259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8" name="Illustrative delivered road transport cost class 0; reference terminal Lesedi"/>
          <p:cNvSpPr/>
          <p:nvPr/>
        </p:nvSpPr>
        <p:spPr>
          <a:xfrm>
            <a:off x="474259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79" name="Illustrative delivered road transport cost class 0; reference terminal Lesedi"/>
          <p:cNvSpPr/>
          <p:nvPr/>
        </p:nvSpPr>
        <p:spPr>
          <a:xfrm>
            <a:off x="474259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0" name="Illustrative delivered road transport cost class 0; reference terminal Lesedi"/>
          <p:cNvSpPr/>
          <p:nvPr/>
        </p:nvSpPr>
        <p:spPr>
          <a:xfrm>
            <a:off x="474259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1" name="Illustrative delivered road transport cost class 0; reference terminal Lesedi"/>
          <p:cNvSpPr/>
          <p:nvPr/>
        </p:nvSpPr>
        <p:spPr>
          <a:xfrm>
            <a:off x="474259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2" name="Illustrative delivered road transport cost class 0; reference terminal Lesedi"/>
          <p:cNvSpPr/>
          <p:nvPr/>
        </p:nvSpPr>
        <p:spPr>
          <a:xfrm>
            <a:off x="474259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3" name="Illustrative delivered road transport cost class 1; reference terminal Lesedi"/>
          <p:cNvSpPr/>
          <p:nvPr/>
        </p:nvSpPr>
        <p:spPr>
          <a:xfrm>
            <a:off x="474259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4" name="Illustrative delivered road transport cost class 1; reference terminal Lesedi"/>
          <p:cNvSpPr/>
          <p:nvPr/>
        </p:nvSpPr>
        <p:spPr>
          <a:xfrm>
            <a:off x="474259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5" name="Illustrative delivered road transport cost class 1; reference terminal Lesedi"/>
          <p:cNvSpPr/>
          <p:nvPr/>
        </p:nvSpPr>
        <p:spPr>
          <a:xfrm>
            <a:off x="474259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6" name="Illustrative delivered road transport cost class 1; reference terminal Lesedi"/>
          <p:cNvSpPr/>
          <p:nvPr/>
        </p:nvSpPr>
        <p:spPr>
          <a:xfrm>
            <a:off x="474259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7" name="Illustrative delivered road transport cost class 1; reference terminal Lesedi"/>
          <p:cNvSpPr/>
          <p:nvPr/>
        </p:nvSpPr>
        <p:spPr>
          <a:xfrm>
            <a:off x="474259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8" name="Illustrative delivered road transport cost class 1; reference terminal Lesedi"/>
          <p:cNvSpPr/>
          <p:nvPr/>
        </p:nvSpPr>
        <p:spPr>
          <a:xfrm>
            <a:off x="474259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89" name="Illustrative delivered road transport cost class 1; reference terminal Lesedi"/>
          <p:cNvSpPr/>
          <p:nvPr/>
        </p:nvSpPr>
        <p:spPr>
          <a:xfrm>
            <a:off x="474259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0" name="Illustrative delivered road transport cost class 1; reference terminal Lesedi"/>
          <p:cNvSpPr/>
          <p:nvPr/>
        </p:nvSpPr>
        <p:spPr>
          <a:xfrm>
            <a:off x="474259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1" name="Illustrative delivered road transport cost class 1; reference terminal Lesedi"/>
          <p:cNvSpPr/>
          <p:nvPr/>
        </p:nvSpPr>
        <p:spPr>
          <a:xfrm>
            <a:off x="474259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2" name="Illustrative delivered road transport cost class 1; reference terminal Lesedi"/>
          <p:cNvSpPr/>
          <p:nvPr/>
        </p:nvSpPr>
        <p:spPr>
          <a:xfrm>
            <a:off x="474259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3" name="Illustrative delivered road transport cost class 1; reference terminal Lesedi"/>
          <p:cNvSpPr/>
          <p:nvPr/>
        </p:nvSpPr>
        <p:spPr>
          <a:xfrm>
            <a:off x="474259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4" name="Illustrative delivered road transport cost class 1; reference terminal Lesedi"/>
          <p:cNvSpPr/>
          <p:nvPr/>
        </p:nvSpPr>
        <p:spPr>
          <a:xfrm>
            <a:off x="474259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5" name="Illustrative delivered road transport cost class 2; reference terminal Lesedi"/>
          <p:cNvSpPr/>
          <p:nvPr/>
        </p:nvSpPr>
        <p:spPr>
          <a:xfrm>
            <a:off x="4742593" y="2327771"/>
            <a:ext cx="57686" cy="55387"/>
          </a:xfrm>
          <a:custGeom>
            <a:avLst/>
            <a:gdLst/>
            <a:ahLst/>
            <a:cxnLst/>
            <a:rect l="l" t="t" r="r" b="b"/>
            <a:pathLst>
              <a:path w="57686" h="55387">
                <a:moveTo>
                  <a:pt x="57686" y="55387"/>
                </a:moveTo>
                <a:lnTo>
                  <a:pt x="0" y="55387"/>
                </a:lnTo>
                <a:lnTo>
                  <a:pt x="0" y="7584"/>
                </a:lnTo>
                <a:lnTo>
                  <a:pt x="1574" y="7498"/>
                </a:lnTo>
                <a:lnTo>
                  <a:pt x="4582" y="7304"/>
                </a:lnTo>
                <a:lnTo>
                  <a:pt x="57686" y="0"/>
                </a:lnTo>
                <a:lnTo>
                  <a:pt x="57686" y="553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6" name="Illustrative delivered road transport cost class 0; reference terminal Durban"/>
          <p:cNvSpPr/>
          <p:nvPr/>
        </p:nvSpPr>
        <p:spPr>
          <a:xfrm>
            <a:off x="4800279" y="4632934"/>
            <a:ext cx="29693" cy="34953"/>
          </a:xfrm>
          <a:custGeom>
            <a:avLst/>
            <a:gdLst/>
            <a:ahLst/>
            <a:cxnLst/>
            <a:rect l="l" t="t" r="r" b="b"/>
            <a:pathLst>
              <a:path w="29693" h="34953">
                <a:moveTo>
                  <a:pt x="0" y="0"/>
                </a:moveTo>
                <a:lnTo>
                  <a:pt x="29693" y="0"/>
                </a:lnTo>
                <a:lnTo>
                  <a:pt x="0" y="34953"/>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7" name="Illustrative delivered road transport cost class 0; reference terminal Durban"/>
          <p:cNvSpPr/>
          <p:nvPr/>
        </p:nvSpPr>
        <p:spPr>
          <a:xfrm>
            <a:off x="4800279" y="4575247"/>
            <a:ext cx="57687" cy="57687"/>
          </a:xfrm>
          <a:custGeom>
            <a:avLst/>
            <a:gdLst/>
            <a:ahLst/>
            <a:cxnLst/>
            <a:rect l="l" t="t" r="r" b="b"/>
            <a:pathLst>
              <a:path w="57687" h="57687">
                <a:moveTo>
                  <a:pt x="0" y="57687"/>
                </a:moveTo>
                <a:lnTo>
                  <a:pt x="0" y="0"/>
                </a:lnTo>
                <a:lnTo>
                  <a:pt x="57687" y="0"/>
                </a:lnTo>
                <a:lnTo>
                  <a:pt x="57687" y="24734"/>
                </a:lnTo>
                <a:lnTo>
                  <a:pt x="2969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8" name="Illustrative delivered road transport cost class 0; reference terminal Durban"/>
          <p:cNvSpPr/>
          <p:nvPr/>
        </p:nvSpPr>
        <p:spPr>
          <a:xfrm>
            <a:off x="4800279" y="451756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99" name="Illustrative delivered road transport cost class 0; reference terminal Durban"/>
          <p:cNvSpPr/>
          <p:nvPr/>
        </p:nvSpPr>
        <p:spPr>
          <a:xfrm>
            <a:off x="4800279"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0" name="Illustrative delivered road transport cost class 0; reference terminal Durban"/>
          <p:cNvSpPr/>
          <p:nvPr/>
        </p:nvSpPr>
        <p:spPr>
          <a:xfrm>
            <a:off x="4800279"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1" name="Illustrative delivered road transport cost class 0; reference terminal Durban"/>
          <p:cNvSpPr/>
          <p:nvPr/>
        </p:nvSpPr>
        <p:spPr>
          <a:xfrm>
            <a:off x="4800279"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2" name="Illustrative delivered road transport cost class 0; reference terminal Durban"/>
          <p:cNvSpPr/>
          <p:nvPr/>
        </p:nvSpPr>
        <p:spPr>
          <a:xfrm>
            <a:off x="4800279"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3" name="Illustrative delivered road transport cost class 0; reference terminal Durban"/>
          <p:cNvSpPr/>
          <p:nvPr/>
        </p:nvSpPr>
        <p:spPr>
          <a:xfrm>
            <a:off x="480027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4" name="Illustrative delivered road transport cost class 0; reference terminal Durban"/>
          <p:cNvSpPr/>
          <p:nvPr/>
        </p:nvSpPr>
        <p:spPr>
          <a:xfrm>
            <a:off x="480027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5" name="Illustrative delivered road transport cost class 0; reference terminal Durban"/>
          <p:cNvSpPr/>
          <p:nvPr/>
        </p:nvSpPr>
        <p:spPr>
          <a:xfrm>
            <a:off x="480027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6" name="Illustrative delivered road transport cost class 0; reference terminal Durban"/>
          <p:cNvSpPr/>
          <p:nvPr/>
        </p:nvSpPr>
        <p:spPr>
          <a:xfrm>
            <a:off x="480027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7" name="Illustrative delivered road transport cost class 0; reference terminal Durban"/>
          <p:cNvSpPr/>
          <p:nvPr/>
        </p:nvSpPr>
        <p:spPr>
          <a:xfrm>
            <a:off x="480027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8" name="Illustrative delivered road transport cost class 0; reference terminal Durban"/>
          <p:cNvSpPr/>
          <p:nvPr/>
        </p:nvSpPr>
        <p:spPr>
          <a:xfrm>
            <a:off x="480027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09" name="Illustrative delivered road transport cost class 0; reference terminal Durban"/>
          <p:cNvSpPr/>
          <p:nvPr/>
        </p:nvSpPr>
        <p:spPr>
          <a:xfrm>
            <a:off x="480027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0" name="Illustrative delivered road transport cost class 0; reference terminal Lesedi"/>
          <p:cNvSpPr/>
          <p:nvPr/>
        </p:nvSpPr>
        <p:spPr>
          <a:xfrm>
            <a:off x="480027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1" name="Illustrative delivered road transport cost class 0; reference terminal Lesedi"/>
          <p:cNvSpPr/>
          <p:nvPr/>
        </p:nvSpPr>
        <p:spPr>
          <a:xfrm>
            <a:off x="480027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2" name="Illustrative delivered road transport cost class 0; reference terminal Lesedi"/>
          <p:cNvSpPr/>
          <p:nvPr/>
        </p:nvSpPr>
        <p:spPr>
          <a:xfrm>
            <a:off x="480027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3" name="Illustrative delivered road transport cost class 0; reference terminal Lesedi"/>
          <p:cNvSpPr/>
          <p:nvPr/>
        </p:nvSpPr>
        <p:spPr>
          <a:xfrm>
            <a:off x="480027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4" name="Illustrative delivered road transport cost class 0; reference terminal Lesedi"/>
          <p:cNvSpPr/>
          <p:nvPr/>
        </p:nvSpPr>
        <p:spPr>
          <a:xfrm>
            <a:off x="480027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5" name="Illustrative delivered road transport cost class 0; reference terminal Lesedi"/>
          <p:cNvSpPr/>
          <p:nvPr/>
        </p:nvSpPr>
        <p:spPr>
          <a:xfrm>
            <a:off x="480027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6" name="Illustrative delivered road transport cost class 0; reference terminal Lesedi"/>
          <p:cNvSpPr/>
          <p:nvPr/>
        </p:nvSpPr>
        <p:spPr>
          <a:xfrm>
            <a:off x="480027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7" name="Illustrative delivered road transport cost class 0; reference terminal Lesedi"/>
          <p:cNvSpPr/>
          <p:nvPr/>
        </p:nvSpPr>
        <p:spPr>
          <a:xfrm>
            <a:off x="480027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8" name="Illustrative delivered road transport cost class 0; reference terminal Lesedi"/>
          <p:cNvSpPr/>
          <p:nvPr/>
        </p:nvSpPr>
        <p:spPr>
          <a:xfrm>
            <a:off x="480027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19" name="Illustrative delivered road transport cost class 0; reference terminal Lesedi"/>
          <p:cNvSpPr/>
          <p:nvPr/>
        </p:nvSpPr>
        <p:spPr>
          <a:xfrm>
            <a:off x="480027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0" name="Illustrative delivered road transport cost class 0; reference terminal Lesedi"/>
          <p:cNvSpPr/>
          <p:nvPr/>
        </p:nvSpPr>
        <p:spPr>
          <a:xfrm>
            <a:off x="480027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1" name="Illustrative delivered road transport cost class 0; reference terminal Lesedi"/>
          <p:cNvSpPr/>
          <p:nvPr/>
        </p:nvSpPr>
        <p:spPr>
          <a:xfrm>
            <a:off x="480027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2" name="Illustrative delivered road transport cost class 0; reference terminal Lesedi"/>
          <p:cNvSpPr/>
          <p:nvPr/>
        </p:nvSpPr>
        <p:spPr>
          <a:xfrm>
            <a:off x="480027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3" name="Illustrative delivered road transport cost class 0; reference terminal Lesedi"/>
          <p:cNvSpPr/>
          <p:nvPr/>
        </p:nvSpPr>
        <p:spPr>
          <a:xfrm>
            <a:off x="480027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4" name="Illustrative delivered road transport cost class 1; reference terminal Lesedi"/>
          <p:cNvSpPr/>
          <p:nvPr/>
        </p:nvSpPr>
        <p:spPr>
          <a:xfrm>
            <a:off x="480027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5" name="Illustrative delivered road transport cost class 1; reference terminal Lesedi"/>
          <p:cNvSpPr/>
          <p:nvPr/>
        </p:nvSpPr>
        <p:spPr>
          <a:xfrm>
            <a:off x="480027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6" name="Illustrative delivered road transport cost class 1; reference terminal Lesedi"/>
          <p:cNvSpPr/>
          <p:nvPr/>
        </p:nvSpPr>
        <p:spPr>
          <a:xfrm>
            <a:off x="480027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7" name="Illustrative delivered road transport cost class 1; reference terminal Lesedi"/>
          <p:cNvSpPr/>
          <p:nvPr/>
        </p:nvSpPr>
        <p:spPr>
          <a:xfrm>
            <a:off x="480027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8" name="Illustrative delivered road transport cost class 1; reference terminal Lesedi"/>
          <p:cNvSpPr/>
          <p:nvPr/>
        </p:nvSpPr>
        <p:spPr>
          <a:xfrm>
            <a:off x="480027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29" name="Illustrative delivered road transport cost class 1; reference terminal Lesedi"/>
          <p:cNvSpPr/>
          <p:nvPr/>
        </p:nvSpPr>
        <p:spPr>
          <a:xfrm>
            <a:off x="480027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0" name="Illustrative delivered road transport cost class 1; reference terminal Lesedi"/>
          <p:cNvSpPr/>
          <p:nvPr/>
        </p:nvSpPr>
        <p:spPr>
          <a:xfrm>
            <a:off x="480027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1" name="Illustrative delivered road transport cost class 1; reference terminal Lesedi"/>
          <p:cNvSpPr/>
          <p:nvPr/>
        </p:nvSpPr>
        <p:spPr>
          <a:xfrm>
            <a:off x="480027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2" name="Illustrative delivered road transport cost class 1; reference terminal Lesedi"/>
          <p:cNvSpPr/>
          <p:nvPr/>
        </p:nvSpPr>
        <p:spPr>
          <a:xfrm>
            <a:off x="480027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3" name="Illustrative delivered road transport cost class 1; reference terminal Lesedi"/>
          <p:cNvSpPr/>
          <p:nvPr/>
        </p:nvSpPr>
        <p:spPr>
          <a:xfrm>
            <a:off x="480027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4" name="Illustrative delivered road transport cost class 1; reference terminal Lesedi"/>
          <p:cNvSpPr/>
          <p:nvPr/>
        </p:nvSpPr>
        <p:spPr>
          <a:xfrm>
            <a:off x="480027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5" name="Illustrative delivered road transport cost class 1; reference terminal Lesedi"/>
          <p:cNvSpPr/>
          <p:nvPr/>
        </p:nvSpPr>
        <p:spPr>
          <a:xfrm>
            <a:off x="480027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6" name="Illustrative delivered road transport cost class 1; reference terminal Lesedi"/>
          <p:cNvSpPr/>
          <p:nvPr/>
        </p:nvSpPr>
        <p:spPr>
          <a:xfrm>
            <a:off x="4800279" y="2325669"/>
            <a:ext cx="57687" cy="57489"/>
          </a:xfrm>
          <a:custGeom>
            <a:avLst/>
            <a:gdLst/>
            <a:ahLst/>
            <a:cxnLst/>
            <a:rect l="l" t="t" r="r" b="b"/>
            <a:pathLst>
              <a:path w="57687" h="57489">
                <a:moveTo>
                  <a:pt x="57687" y="57489"/>
                </a:moveTo>
                <a:lnTo>
                  <a:pt x="0" y="57489"/>
                </a:lnTo>
                <a:lnTo>
                  <a:pt x="0" y="2102"/>
                </a:lnTo>
                <a:lnTo>
                  <a:pt x="15287" y="0"/>
                </a:lnTo>
                <a:lnTo>
                  <a:pt x="57687" y="8864"/>
                </a:lnTo>
                <a:lnTo>
                  <a:pt x="57687" y="57489"/>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7" name="Illustrative delivered road transport cost class 0; reference terminal Durban"/>
          <p:cNvSpPr/>
          <p:nvPr/>
        </p:nvSpPr>
        <p:spPr>
          <a:xfrm>
            <a:off x="4857966" y="4575247"/>
            <a:ext cx="19200" cy="24734"/>
          </a:xfrm>
          <a:custGeom>
            <a:avLst/>
            <a:gdLst/>
            <a:ahLst/>
            <a:cxnLst/>
            <a:rect l="l" t="t" r="r" b="b"/>
            <a:pathLst>
              <a:path w="19200" h="24734">
                <a:moveTo>
                  <a:pt x="0" y="0"/>
                </a:moveTo>
                <a:lnTo>
                  <a:pt x="19200" y="0"/>
                </a:lnTo>
                <a:lnTo>
                  <a:pt x="11598" y="11082"/>
                </a:lnTo>
                <a:lnTo>
                  <a:pt x="0" y="2473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8" name="Illustrative delivered road transport cost class 0; reference terminal Durban"/>
          <p:cNvSpPr/>
          <p:nvPr/>
        </p:nvSpPr>
        <p:spPr>
          <a:xfrm>
            <a:off x="4857966" y="4517561"/>
            <a:ext cx="57687" cy="57686"/>
          </a:xfrm>
          <a:custGeom>
            <a:avLst/>
            <a:gdLst/>
            <a:ahLst/>
            <a:cxnLst/>
            <a:rect l="l" t="t" r="r" b="b"/>
            <a:pathLst>
              <a:path w="57687" h="57686">
                <a:moveTo>
                  <a:pt x="0" y="57686"/>
                </a:moveTo>
                <a:lnTo>
                  <a:pt x="0" y="0"/>
                </a:lnTo>
                <a:lnTo>
                  <a:pt x="57687" y="0"/>
                </a:lnTo>
                <a:lnTo>
                  <a:pt x="57687" y="1421"/>
                </a:lnTo>
                <a:lnTo>
                  <a:pt x="55153" y="5279"/>
                </a:lnTo>
                <a:lnTo>
                  <a:pt x="19200"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39" name="Illustrative delivered road transport cost class 0; reference terminal Durban"/>
          <p:cNvSpPr/>
          <p:nvPr/>
        </p:nvSpPr>
        <p:spPr>
          <a:xfrm>
            <a:off x="4857966" y="445987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0" name="Illustrative delivered road transport cost class 0; reference terminal Durban"/>
          <p:cNvSpPr/>
          <p:nvPr/>
        </p:nvSpPr>
        <p:spPr>
          <a:xfrm>
            <a:off x="4857966" y="440218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1" name="Illustrative delivered road transport cost class 0; reference terminal Durban"/>
          <p:cNvSpPr/>
          <p:nvPr/>
        </p:nvSpPr>
        <p:spPr>
          <a:xfrm>
            <a:off x="4857966" y="434450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2" name="Illustrative delivered road transport cost class 0; reference terminal Durban"/>
          <p:cNvSpPr/>
          <p:nvPr/>
        </p:nvSpPr>
        <p:spPr>
          <a:xfrm>
            <a:off x="4857966" y="428681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3" name="Illustrative delivered road transport cost class 0; reference terminal Durban"/>
          <p:cNvSpPr/>
          <p:nvPr/>
        </p:nvSpPr>
        <p:spPr>
          <a:xfrm>
            <a:off x="4857966"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4" name="Illustrative delivered road transport cost class 0; reference terminal Durban"/>
          <p:cNvSpPr/>
          <p:nvPr/>
        </p:nvSpPr>
        <p:spPr>
          <a:xfrm>
            <a:off x="4857966"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5" name="Illustrative delivered road transport cost class 0; reference terminal Durban"/>
          <p:cNvSpPr/>
          <p:nvPr/>
        </p:nvSpPr>
        <p:spPr>
          <a:xfrm>
            <a:off x="4857966"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6" name="Illustrative delivered road transport cost class 0; reference terminal Durban"/>
          <p:cNvSpPr/>
          <p:nvPr/>
        </p:nvSpPr>
        <p:spPr>
          <a:xfrm>
            <a:off x="4857966"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7" name="Illustrative delivered road transport cost class 0; reference terminal Durban"/>
          <p:cNvSpPr/>
          <p:nvPr/>
        </p:nvSpPr>
        <p:spPr>
          <a:xfrm>
            <a:off x="4857966"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8" name="Illustrative delivered road transport cost class 0; reference terminal Durban"/>
          <p:cNvSpPr/>
          <p:nvPr/>
        </p:nvSpPr>
        <p:spPr>
          <a:xfrm>
            <a:off x="4857966"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49" name="Illustrative delivered road transport cost class 0; reference terminal Durban"/>
          <p:cNvSpPr/>
          <p:nvPr/>
        </p:nvSpPr>
        <p:spPr>
          <a:xfrm>
            <a:off x="4857966"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0" name="Illustrative delivered road transport cost class None; reference terminal None"/>
          <p:cNvSpPr/>
          <p:nvPr/>
        </p:nvSpPr>
        <p:spPr>
          <a:xfrm>
            <a:off x="4857966"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1" name="Illustrative delivered road transport cost class None; reference terminal None"/>
          <p:cNvSpPr/>
          <p:nvPr/>
        </p:nvSpPr>
        <p:spPr>
          <a:xfrm>
            <a:off x="4857966"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2" name="Illustrative delivered road transport cost class None; reference terminal None"/>
          <p:cNvSpPr/>
          <p:nvPr/>
        </p:nvSpPr>
        <p:spPr>
          <a:xfrm>
            <a:off x="4857966"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3" name="Illustrative delivered road transport cost class 1; reference terminal Lesedi"/>
          <p:cNvSpPr/>
          <p:nvPr/>
        </p:nvSpPr>
        <p:spPr>
          <a:xfrm>
            <a:off x="4857966"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4" name="Illustrative delivered road transport cost class 1; reference terminal Lesedi"/>
          <p:cNvSpPr/>
          <p:nvPr/>
        </p:nvSpPr>
        <p:spPr>
          <a:xfrm>
            <a:off x="4857966"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5" name="Illustrative delivered road transport cost class 1; reference terminal Lesedi"/>
          <p:cNvSpPr/>
          <p:nvPr/>
        </p:nvSpPr>
        <p:spPr>
          <a:xfrm>
            <a:off x="4857966"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6" name="Illustrative delivered road transport cost class 0; reference terminal Lesedi"/>
          <p:cNvSpPr/>
          <p:nvPr/>
        </p:nvSpPr>
        <p:spPr>
          <a:xfrm>
            <a:off x="4857966"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7" name="Illustrative delivered road transport cost class 0; reference terminal Lesedi"/>
          <p:cNvSpPr/>
          <p:nvPr/>
        </p:nvSpPr>
        <p:spPr>
          <a:xfrm>
            <a:off x="4857966"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8" name="Illustrative delivered road transport cost class 0; reference terminal Lesedi"/>
          <p:cNvSpPr/>
          <p:nvPr/>
        </p:nvSpPr>
        <p:spPr>
          <a:xfrm>
            <a:off x="4857966"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59" name="Illustrative delivered road transport cost class 0; reference terminal Lesedi"/>
          <p:cNvSpPr/>
          <p:nvPr/>
        </p:nvSpPr>
        <p:spPr>
          <a:xfrm>
            <a:off x="4857966"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0" name="Illustrative delivered road transport cost class 0; reference terminal Lesedi"/>
          <p:cNvSpPr/>
          <p:nvPr/>
        </p:nvSpPr>
        <p:spPr>
          <a:xfrm>
            <a:off x="4857966"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1" name="Illustrative delivered road transport cost class 0; reference terminal Lesedi"/>
          <p:cNvSpPr/>
          <p:nvPr/>
        </p:nvSpPr>
        <p:spPr>
          <a:xfrm>
            <a:off x="4857966"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2" name="Illustrative delivered road transport cost class 0; reference terminal Lesedi"/>
          <p:cNvSpPr/>
          <p:nvPr/>
        </p:nvSpPr>
        <p:spPr>
          <a:xfrm>
            <a:off x="4857966"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3" name="Illustrative delivered road transport cost class 1; reference terminal Lesedi"/>
          <p:cNvSpPr/>
          <p:nvPr/>
        </p:nvSpPr>
        <p:spPr>
          <a:xfrm>
            <a:off x="4857966"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4" name="Illustrative delivered road transport cost class 1; reference terminal Lesedi"/>
          <p:cNvSpPr/>
          <p:nvPr/>
        </p:nvSpPr>
        <p:spPr>
          <a:xfrm>
            <a:off x="4857966"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5" name="Illustrative delivered road transport cost class None; reference terminal None"/>
          <p:cNvSpPr/>
          <p:nvPr/>
        </p:nvSpPr>
        <p:spPr>
          <a:xfrm>
            <a:off x="4857966"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6" name="Illustrative delivered road transport cost class 1; reference terminal Lesedi"/>
          <p:cNvSpPr/>
          <p:nvPr/>
        </p:nvSpPr>
        <p:spPr>
          <a:xfrm>
            <a:off x="4857966"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7" name="Illustrative delivered road transport cost class 1; reference terminal Lesedi"/>
          <p:cNvSpPr/>
          <p:nvPr/>
        </p:nvSpPr>
        <p:spPr>
          <a:xfrm>
            <a:off x="4857966"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8" name="Illustrative delivered road transport cost class 1; reference terminal Lesedi"/>
          <p:cNvSpPr/>
          <p:nvPr/>
        </p:nvSpPr>
        <p:spPr>
          <a:xfrm>
            <a:off x="4857966"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69" name="Illustrative delivered road transport cost class 1; reference terminal Lesedi"/>
          <p:cNvSpPr/>
          <p:nvPr/>
        </p:nvSpPr>
        <p:spPr>
          <a:xfrm>
            <a:off x="4857966"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0" name="Illustrative delivered road transport cost class 1; reference terminal Lesedi"/>
          <p:cNvSpPr/>
          <p:nvPr/>
        </p:nvSpPr>
        <p:spPr>
          <a:xfrm>
            <a:off x="4857966"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1" name="Illustrative delivered road transport cost class 1; reference terminal Lesedi"/>
          <p:cNvSpPr/>
          <p:nvPr/>
        </p:nvSpPr>
        <p:spPr>
          <a:xfrm>
            <a:off x="4857966"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2" name="Illustrative delivered road transport cost class 1; reference terminal Lesedi"/>
          <p:cNvSpPr/>
          <p:nvPr/>
        </p:nvSpPr>
        <p:spPr>
          <a:xfrm>
            <a:off x="4857966"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3" name="Illustrative delivered road transport cost class 1; reference terminal Lesedi"/>
          <p:cNvSpPr/>
          <p:nvPr/>
        </p:nvSpPr>
        <p:spPr>
          <a:xfrm>
            <a:off x="4857966"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4" name="Illustrative delivered road transport cost class 1; reference terminal Lesedi"/>
          <p:cNvSpPr/>
          <p:nvPr/>
        </p:nvSpPr>
        <p:spPr>
          <a:xfrm>
            <a:off x="4857966"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5" name="Illustrative delivered road transport cost class 1; reference terminal Lesedi"/>
          <p:cNvSpPr/>
          <p:nvPr/>
        </p:nvSpPr>
        <p:spPr>
          <a:xfrm>
            <a:off x="4857966"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6" name="Illustrative delivered road transport cost class 1; reference terminal Lesedi"/>
          <p:cNvSpPr/>
          <p:nvPr/>
        </p:nvSpPr>
        <p:spPr>
          <a:xfrm>
            <a:off x="4857966" y="2334533"/>
            <a:ext cx="57687" cy="48625"/>
          </a:xfrm>
          <a:custGeom>
            <a:avLst/>
            <a:gdLst/>
            <a:ahLst/>
            <a:cxnLst/>
            <a:rect l="l" t="t" r="r" b="b"/>
            <a:pathLst>
              <a:path w="57687" h="48625">
                <a:moveTo>
                  <a:pt x="57687" y="48625"/>
                </a:moveTo>
                <a:lnTo>
                  <a:pt x="0" y="48625"/>
                </a:lnTo>
                <a:lnTo>
                  <a:pt x="0" y="0"/>
                </a:lnTo>
                <a:lnTo>
                  <a:pt x="14232" y="2975"/>
                </a:lnTo>
                <a:lnTo>
                  <a:pt x="57687" y="22297"/>
                </a:lnTo>
                <a:lnTo>
                  <a:pt x="57687" y="48625"/>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7" name="Illustrative delivered road transport cost class 0; reference terminal Durban"/>
          <p:cNvSpPr/>
          <p:nvPr/>
        </p:nvSpPr>
        <p:spPr>
          <a:xfrm>
            <a:off x="4915653" y="4459874"/>
            <a:ext cx="38817" cy="57687"/>
          </a:xfrm>
          <a:custGeom>
            <a:avLst/>
            <a:gdLst/>
            <a:ahLst/>
            <a:cxnLst/>
            <a:rect l="l" t="t" r="r" b="b"/>
            <a:pathLst>
              <a:path w="38817" h="57687">
                <a:moveTo>
                  <a:pt x="0" y="57687"/>
                </a:moveTo>
                <a:lnTo>
                  <a:pt x="0" y="0"/>
                </a:lnTo>
                <a:lnTo>
                  <a:pt x="38817" y="0"/>
                </a:lnTo>
                <a:lnTo>
                  <a:pt x="933"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8" name="Illustrative delivered road transport cost class 0; reference terminal Durban"/>
          <p:cNvSpPr/>
          <p:nvPr/>
        </p:nvSpPr>
        <p:spPr>
          <a:xfrm>
            <a:off x="4915653" y="4402188"/>
            <a:ext cx="57686" cy="57686"/>
          </a:xfrm>
          <a:custGeom>
            <a:avLst/>
            <a:gdLst/>
            <a:ahLst/>
            <a:cxnLst/>
            <a:rect l="l" t="t" r="r" b="b"/>
            <a:pathLst>
              <a:path w="57686" h="57686">
                <a:moveTo>
                  <a:pt x="0" y="57686"/>
                </a:moveTo>
                <a:lnTo>
                  <a:pt x="0" y="0"/>
                </a:lnTo>
                <a:lnTo>
                  <a:pt x="57686" y="0"/>
                </a:lnTo>
                <a:lnTo>
                  <a:pt x="57686" y="25851"/>
                </a:lnTo>
                <a:lnTo>
                  <a:pt x="43228" y="50968"/>
                </a:lnTo>
                <a:lnTo>
                  <a:pt x="3881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79" name="Illustrative delivered road transport cost class 0; reference terminal Durban"/>
          <p:cNvSpPr/>
          <p:nvPr/>
        </p:nvSpPr>
        <p:spPr>
          <a:xfrm>
            <a:off x="4915653" y="434450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0" name="Illustrative delivered road transport cost class 0; reference terminal Durban"/>
          <p:cNvSpPr/>
          <p:nvPr/>
        </p:nvSpPr>
        <p:spPr>
          <a:xfrm>
            <a:off x="4915653" y="428681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1" name="Illustrative delivered road transport cost class 0; reference terminal Durban"/>
          <p:cNvSpPr/>
          <p:nvPr/>
        </p:nvSpPr>
        <p:spPr>
          <a:xfrm>
            <a:off x="4915653" y="422912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2" name="Illustrative delivered road transport cost class 0; reference terminal Durban"/>
          <p:cNvSpPr/>
          <p:nvPr/>
        </p:nvSpPr>
        <p:spPr>
          <a:xfrm>
            <a:off x="4915653"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3" name="Illustrative delivered road transport cost class 0; reference terminal Durban"/>
          <p:cNvSpPr/>
          <p:nvPr/>
        </p:nvSpPr>
        <p:spPr>
          <a:xfrm>
            <a:off x="4915653"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4" name="Illustrative delivered road transport cost class 0; reference terminal Durban"/>
          <p:cNvSpPr/>
          <p:nvPr/>
        </p:nvSpPr>
        <p:spPr>
          <a:xfrm>
            <a:off x="4915653"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5" name="Illustrative delivered road transport cost class 0; reference terminal Durban"/>
          <p:cNvSpPr/>
          <p:nvPr/>
        </p:nvSpPr>
        <p:spPr>
          <a:xfrm>
            <a:off x="4915653"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6" name="Illustrative delivered road transport cost class 0; reference terminal Durban"/>
          <p:cNvSpPr/>
          <p:nvPr/>
        </p:nvSpPr>
        <p:spPr>
          <a:xfrm>
            <a:off x="4915653"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7" name="Illustrative delivered road transport cost class None; reference terminal None"/>
          <p:cNvSpPr/>
          <p:nvPr/>
        </p:nvSpPr>
        <p:spPr>
          <a:xfrm>
            <a:off x="4915653"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8" name="Illustrative delivered road transport cost class None; reference terminal None"/>
          <p:cNvSpPr/>
          <p:nvPr/>
        </p:nvSpPr>
        <p:spPr>
          <a:xfrm>
            <a:off x="4915653"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89" name="Illustrative delivered road transport cost class None; reference terminal None"/>
          <p:cNvSpPr/>
          <p:nvPr/>
        </p:nvSpPr>
        <p:spPr>
          <a:xfrm>
            <a:off x="4915653"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0" name="Illustrative delivered road transport cost class 1; reference terminal Lesedi"/>
          <p:cNvSpPr/>
          <p:nvPr/>
        </p:nvSpPr>
        <p:spPr>
          <a:xfrm>
            <a:off x="4915653"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1" name="Illustrative delivered road transport cost class 1; reference terminal Lesedi"/>
          <p:cNvSpPr/>
          <p:nvPr/>
        </p:nvSpPr>
        <p:spPr>
          <a:xfrm>
            <a:off x="4915653"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2" name="Illustrative delivered road transport cost class 1; reference terminal Lesedi"/>
          <p:cNvSpPr/>
          <p:nvPr/>
        </p:nvSpPr>
        <p:spPr>
          <a:xfrm>
            <a:off x="4915653"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3" name="Illustrative delivered road transport cost class 1; reference terminal Lesedi"/>
          <p:cNvSpPr/>
          <p:nvPr/>
        </p:nvSpPr>
        <p:spPr>
          <a:xfrm>
            <a:off x="4915653" y="353688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4" name="Illustrative delivered road transport cost class 0; reference terminal Lesedi"/>
          <p:cNvSpPr/>
          <p:nvPr/>
        </p:nvSpPr>
        <p:spPr>
          <a:xfrm>
            <a:off x="4915653" y="347920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5" name="Illustrative delivered road transport cost class 0; reference terminal Lesedi"/>
          <p:cNvSpPr/>
          <p:nvPr/>
        </p:nvSpPr>
        <p:spPr>
          <a:xfrm>
            <a:off x="4915653" y="342151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6" name="Illustrative delivered road transport cost class 0; reference terminal Lesedi"/>
          <p:cNvSpPr/>
          <p:nvPr/>
        </p:nvSpPr>
        <p:spPr>
          <a:xfrm>
            <a:off x="4915653" y="3363829"/>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7" name="Illustrative delivered road transport cost class 1; reference terminal Lesedi"/>
          <p:cNvSpPr/>
          <p:nvPr/>
        </p:nvSpPr>
        <p:spPr>
          <a:xfrm>
            <a:off x="4915653" y="3306143"/>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8" name="Illustrative delivered road transport cost class 1; reference terminal Lesedi"/>
          <p:cNvSpPr/>
          <p:nvPr/>
        </p:nvSpPr>
        <p:spPr>
          <a:xfrm>
            <a:off x="4915653"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99" name="Illustrative delivered road transport cost class 0; reference terminal Lesedi"/>
          <p:cNvSpPr/>
          <p:nvPr/>
        </p:nvSpPr>
        <p:spPr>
          <a:xfrm>
            <a:off x="4915653"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0" name="Illustrative delivered road transport cost class 1; reference terminal Lesedi"/>
          <p:cNvSpPr/>
          <p:nvPr/>
        </p:nvSpPr>
        <p:spPr>
          <a:xfrm>
            <a:off x="4915653"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1" name="Illustrative delivered road transport cost class 1; reference terminal Lesedi"/>
          <p:cNvSpPr/>
          <p:nvPr/>
        </p:nvSpPr>
        <p:spPr>
          <a:xfrm>
            <a:off x="4915653"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2" name="Illustrative delivered road transport cost class 1; reference terminal Lesedi"/>
          <p:cNvSpPr/>
          <p:nvPr/>
        </p:nvSpPr>
        <p:spPr>
          <a:xfrm>
            <a:off x="4915653"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3" name="Illustrative delivered road transport cost class 1; reference terminal Lesedi"/>
          <p:cNvSpPr/>
          <p:nvPr/>
        </p:nvSpPr>
        <p:spPr>
          <a:xfrm>
            <a:off x="4915653"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4" name="Illustrative delivered road transport cost class None; reference terminal None"/>
          <p:cNvSpPr/>
          <p:nvPr/>
        </p:nvSpPr>
        <p:spPr>
          <a:xfrm>
            <a:off x="4915653"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5" name="Illustrative delivered road transport cost class 1; reference terminal Lesedi"/>
          <p:cNvSpPr/>
          <p:nvPr/>
        </p:nvSpPr>
        <p:spPr>
          <a:xfrm>
            <a:off x="4915653"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6" name="Illustrative delivered road transport cost class 1; reference terminal Lesedi"/>
          <p:cNvSpPr/>
          <p:nvPr/>
        </p:nvSpPr>
        <p:spPr>
          <a:xfrm>
            <a:off x="4915653"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7" name="Illustrative delivered road transport cost class 1; reference terminal Lesedi"/>
          <p:cNvSpPr/>
          <p:nvPr/>
        </p:nvSpPr>
        <p:spPr>
          <a:xfrm>
            <a:off x="4915653"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8" name="Illustrative delivered road transport cost class 1; reference terminal Lesedi"/>
          <p:cNvSpPr/>
          <p:nvPr/>
        </p:nvSpPr>
        <p:spPr>
          <a:xfrm>
            <a:off x="4915653"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09" name="Illustrative delivered road transport cost class 1; reference terminal Lesedi"/>
          <p:cNvSpPr/>
          <p:nvPr/>
        </p:nvSpPr>
        <p:spPr>
          <a:xfrm>
            <a:off x="4915653"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0" name="Illustrative delivered road transport cost class 1; reference terminal Lesedi"/>
          <p:cNvSpPr/>
          <p:nvPr/>
        </p:nvSpPr>
        <p:spPr>
          <a:xfrm>
            <a:off x="4915653"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1" name="Illustrative delivered road transport cost class 1; reference terminal Lesedi"/>
          <p:cNvSpPr/>
          <p:nvPr/>
        </p:nvSpPr>
        <p:spPr>
          <a:xfrm>
            <a:off x="4915653"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2" name="Illustrative delivered road transport cost class 1; reference terminal Lesedi"/>
          <p:cNvSpPr/>
          <p:nvPr/>
        </p:nvSpPr>
        <p:spPr>
          <a:xfrm>
            <a:off x="4915653"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3" name="Illustrative delivered road transport cost class 1; reference terminal Lesedi"/>
          <p:cNvSpPr/>
          <p:nvPr/>
        </p:nvSpPr>
        <p:spPr>
          <a:xfrm>
            <a:off x="4915653"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4" name="Illustrative delivered road transport cost class 2; reference terminal Lesedi"/>
          <p:cNvSpPr/>
          <p:nvPr/>
        </p:nvSpPr>
        <p:spPr>
          <a:xfrm>
            <a:off x="4915653" y="2356830"/>
            <a:ext cx="57686" cy="26328"/>
          </a:xfrm>
          <a:custGeom>
            <a:avLst/>
            <a:gdLst/>
            <a:ahLst/>
            <a:cxnLst/>
            <a:rect l="l" t="t" r="r" b="b"/>
            <a:pathLst>
              <a:path w="57686" h="26328">
                <a:moveTo>
                  <a:pt x="57686" y="26328"/>
                </a:moveTo>
                <a:lnTo>
                  <a:pt x="0" y="26328"/>
                </a:lnTo>
                <a:lnTo>
                  <a:pt x="0" y="0"/>
                </a:lnTo>
                <a:lnTo>
                  <a:pt x="24105" y="10719"/>
                </a:lnTo>
                <a:lnTo>
                  <a:pt x="57686" y="17248"/>
                </a:lnTo>
                <a:lnTo>
                  <a:pt x="57686" y="26328"/>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5" name="Illustrative delivered road transport cost class 0; reference terminal Durban"/>
          <p:cNvSpPr/>
          <p:nvPr/>
        </p:nvSpPr>
        <p:spPr>
          <a:xfrm>
            <a:off x="4973339" y="4402188"/>
            <a:ext cx="14881" cy="25851"/>
          </a:xfrm>
          <a:custGeom>
            <a:avLst/>
            <a:gdLst/>
            <a:ahLst/>
            <a:cxnLst/>
            <a:rect l="l" t="t" r="r" b="b"/>
            <a:pathLst>
              <a:path w="14881" h="25851">
                <a:moveTo>
                  <a:pt x="0" y="0"/>
                </a:moveTo>
                <a:lnTo>
                  <a:pt x="14881" y="0"/>
                </a:lnTo>
                <a:lnTo>
                  <a:pt x="0" y="2585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6" name="Illustrative delivered road transport cost class 0; reference terminal Durban"/>
          <p:cNvSpPr/>
          <p:nvPr/>
        </p:nvSpPr>
        <p:spPr>
          <a:xfrm>
            <a:off x="4973339" y="4344501"/>
            <a:ext cx="52634" cy="57687"/>
          </a:xfrm>
          <a:custGeom>
            <a:avLst/>
            <a:gdLst/>
            <a:ahLst/>
            <a:cxnLst/>
            <a:rect l="l" t="t" r="r" b="b"/>
            <a:pathLst>
              <a:path w="52634" h="57687">
                <a:moveTo>
                  <a:pt x="0" y="57687"/>
                </a:moveTo>
                <a:lnTo>
                  <a:pt x="0" y="0"/>
                </a:lnTo>
                <a:lnTo>
                  <a:pt x="52634" y="0"/>
                </a:lnTo>
                <a:lnTo>
                  <a:pt x="37641" y="18144"/>
                </a:lnTo>
                <a:lnTo>
                  <a:pt x="1488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7" name="Illustrative delivered road transport cost class 0; reference terminal Durban"/>
          <p:cNvSpPr/>
          <p:nvPr/>
        </p:nvSpPr>
        <p:spPr>
          <a:xfrm>
            <a:off x="4973339" y="4286814"/>
            <a:ext cx="57687" cy="57687"/>
          </a:xfrm>
          <a:custGeom>
            <a:avLst/>
            <a:gdLst/>
            <a:ahLst/>
            <a:cxnLst/>
            <a:rect l="l" t="t" r="r" b="b"/>
            <a:pathLst>
              <a:path w="57687" h="57687">
                <a:moveTo>
                  <a:pt x="0" y="57687"/>
                </a:moveTo>
                <a:lnTo>
                  <a:pt x="0" y="0"/>
                </a:lnTo>
                <a:lnTo>
                  <a:pt x="57687" y="0"/>
                </a:lnTo>
                <a:lnTo>
                  <a:pt x="57687" y="51572"/>
                </a:lnTo>
                <a:lnTo>
                  <a:pt x="52634"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8" name="Illustrative delivered road transport cost class 0; reference terminal Durban"/>
          <p:cNvSpPr/>
          <p:nvPr/>
        </p:nvSpPr>
        <p:spPr>
          <a:xfrm>
            <a:off x="4973339" y="422912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19" name="Illustrative delivered road transport cost class 0; reference terminal Durban"/>
          <p:cNvSpPr/>
          <p:nvPr/>
        </p:nvSpPr>
        <p:spPr>
          <a:xfrm>
            <a:off x="4973339" y="4171441"/>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0" name="Illustrative delivered road transport cost class 0; reference terminal Durban"/>
          <p:cNvSpPr/>
          <p:nvPr/>
        </p:nvSpPr>
        <p:spPr>
          <a:xfrm>
            <a:off x="4973339" y="4113755"/>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1" name="Illustrative delivered road transport cost class 0; reference terminal Durban"/>
          <p:cNvSpPr/>
          <p:nvPr/>
        </p:nvSpPr>
        <p:spPr>
          <a:xfrm>
            <a:off x="4973339"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2" name="Illustrative delivered road transport cost class 0; reference terminal Durban"/>
          <p:cNvSpPr/>
          <p:nvPr/>
        </p:nvSpPr>
        <p:spPr>
          <a:xfrm>
            <a:off x="4973339"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3" name="Illustrative delivered road transport cost class None; reference terminal None"/>
          <p:cNvSpPr/>
          <p:nvPr/>
        </p:nvSpPr>
        <p:spPr>
          <a:xfrm>
            <a:off x="4973339"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4" name="Illustrative delivered road transport cost class None; reference terminal None"/>
          <p:cNvSpPr/>
          <p:nvPr/>
        </p:nvSpPr>
        <p:spPr>
          <a:xfrm>
            <a:off x="4973339"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5" name="Illustrative delivered road transport cost class None; reference terminal None"/>
          <p:cNvSpPr/>
          <p:nvPr/>
        </p:nvSpPr>
        <p:spPr>
          <a:xfrm>
            <a:off x="4973339"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6" name="Illustrative delivered road transport cost class 1; reference terminal Lesedi"/>
          <p:cNvSpPr/>
          <p:nvPr/>
        </p:nvSpPr>
        <p:spPr>
          <a:xfrm>
            <a:off x="4973339"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7" name="Illustrative delivered road transport cost class 1; reference terminal Lesedi"/>
          <p:cNvSpPr/>
          <p:nvPr/>
        </p:nvSpPr>
        <p:spPr>
          <a:xfrm>
            <a:off x="4973339"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8" name="Illustrative delivered road transport cost class 1; reference terminal Lesedi"/>
          <p:cNvSpPr/>
          <p:nvPr/>
        </p:nvSpPr>
        <p:spPr>
          <a:xfrm>
            <a:off x="4973339"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29" name="Illustrative delivered road transport cost class 1; reference terminal Lesedi"/>
          <p:cNvSpPr/>
          <p:nvPr/>
        </p:nvSpPr>
        <p:spPr>
          <a:xfrm>
            <a:off x="4973339"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0" name="Illustrative delivered road transport cost class 1; reference terminal Lesedi"/>
          <p:cNvSpPr/>
          <p:nvPr/>
        </p:nvSpPr>
        <p:spPr>
          <a:xfrm>
            <a:off x="4973339" y="353688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1" name="Illustrative delivered road transport cost class 1; reference terminal Lesedi"/>
          <p:cNvSpPr/>
          <p:nvPr/>
        </p:nvSpPr>
        <p:spPr>
          <a:xfrm>
            <a:off x="4973339" y="347920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2" name="Illustrative delivered road transport cost class 1; reference terminal Lesedi"/>
          <p:cNvSpPr/>
          <p:nvPr/>
        </p:nvSpPr>
        <p:spPr>
          <a:xfrm>
            <a:off x="4973339" y="342151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3" name="Illustrative delivered road transport cost class 1; reference terminal Lesedi"/>
          <p:cNvSpPr/>
          <p:nvPr/>
        </p:nvSpPr>
        <p:spPr>
          <a:xfrm>
            <a:off x="4973339" y="3363829"/>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4" name="Illustrative delivered road transport cost class 1; reference terminal Lesedi"/>
          <p:cNvSpPr/>
          <p:nvPr/>
        </p:nvSpPr>
        <p:spPr>
          <a:xfrm>
            <a:off x="4973339" y="3306143"/>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5" name="Illustrative delivered road transport cost class 1; reference terminal Lesedi"/>
          <p:cNvSpPr/>
          <p:nvPr/>
        </p:nvSpPr>
        <p:spPr>
          <a:xfrm>
            <a:off x="4973339" y="324845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6" name="Illustrative delivered road transport cost class 1; reference terminal Lesedi"/>
          <p:cNvSpPr/>
          <p:nvPr/>
        </p:nvSpPr>
        <p:spPr>
          <a:xfrm>
            <a:off x="4973339"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7" name="Illustrative delivered road transport cost class 1; reference terminal Lesedi"/>
          <p:cNvSpPr/>
          <p:nvPr/>
        </p:nvSpPr>
        <p:spPr>
          <a:xfrm>
            <a:off x="4973339"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8" name="Illustrative delivered road transport cost class 1; reference terminal Lesedi"/>
          <p:cNvSpPr/>
          <p:nvPr/>
        </p:nvSpPr>
        <p:spPr>
          <a:xfrm>
            <a:off x="4973339"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39" name="Illustrative delivered road transport cost class 1; reference terminal Lesedi"/>
          <p:cNvSpPr/>
          <p:nvPr/>
        </p:nvSpPr>
        <p:spPr>
          <a:xfrm>
            <a:off x="4973339"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0" name="Illustrative delivered road transport cost class 1; reference terminal Lesedi"/>
          <p:cNvSpPr/>
          <p:nvPr/>
        </p:nvSpPr>
        <p:spPr>
          <a:xfrm>
            <a:off x="4973339"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1" name="Illustrative delivered road transport cost class None; reference terminal None"/>
          <p:cNvSpPr/>
          <p:nvPr/>
        </p:nvSpPr>
        <p:spPr>
          <a:xfrm>
            <a:off x="4973339"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2" name="Illustrative delivered road transport cost class None; reference terminal None"/>
          <p:cNvSpPr/>
          <p:nvPr/>
        </p:nvSpPr>
        <p:spPr>
          <a:xfrm>
            <a:off x="4973339"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3" name="Illustrative delivered road transport cost class None; reference terminal None"/>
          <p:cNvSpPr/>
          <p:nvPr/>
        </p:nvSpPr>
        <p:spPr>
          <a:xfrm>
            <a:off x="4973339"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4" name="Illustrative delivered road transport cost class None; reference terminal None"/>
          <p:cNvSpPr/>
          <p:nvPr/>
        </p:nvSpPr>
        <p:spPr>
          <a:xfrm>
            <a:off x="4973339"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5" name="Illustrative delivered road transport cost class 1; reference terminal Lesedi"/>
          <p:cNvSpPr/>
          <p:nvPr/>
        </p:nvSpPr>
        <p:spPr>
          <a:xfrm>
            <a:off x="4973339"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6" name="Illustrative delivered road transport cost class 1; reference terminal Lesedi"/>
          <p:cNvSpPr/>
          <p:nvPr/>
        </p:nvSpPr>
        <p:spPr>
          <a:xfrm>
            <a:off x="4973339"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7" name="Illustrative delivered road transport cost class 1; reference terminal Lesedi"/>
          <p:cNvSpPr/>
          <p:nvPr/>
        </p:nvSpPr>
        <p:spPr>
          <a:xfrm>
            <a:off x="4973339"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8" name="Illustrative delivered road transport cost class 1; reference terminal Lesedi"/>
          <p:cNvSpPr/>
          <p:nvPr/>
        </p:nvSpPr>
        <p:spPr>
          <a:xfrm>
            <a:off x="4973339"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49" name="Illustrative delivered road transport cost class 2; reference terminal Lesedi"/>
          <p:cNvSpPr/>
          <p:nvPr/>
        </p:nvSpPr>
        <p:spPr>
          <a:xfrm>
            <a:off x="4973339"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0" name="Illustrative delivered road transport cost class 2; reference terminal Lesedi"/>
          <p:cNvSpPr/>
          <p:nvPr/>
        </p:nvSpPr>
        <p:spPr>
          <a:xfrm>
            <a:off x="4973339"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1" name="Illustrative delivered road transport cost class 2; reference terminal Lesedi"/>
          <p:cNvSpPr/>
          <p:nvPr/>
        </p:nvSpPr>
        <p:spPr>
          <a:xfrm>
            <a:off x="4973339" y="2374078"/>
            <a:ext cx="57687" cy="9080"/>
          </a:xfrm>
          <a:custGeom>
            <a:avLst/>
            <a:gdLst/>
            <a:ahLst/>
            <a:cxnLst/>
            <a:rect l="l" t="t" r="r" b="b"/>
            <a:pathLst>
              <a:path w="57687" h="9080">
                <a:moveTo>
                  <a:pt x="57687" y="9080"/>
                </a:moveTo>
                <a:lnTo>
                  <a:pt x="0" y="9080"/>
                </a:lnTo>
                <a:lnTo>
                  <a:pt x="0" y="0"/>
                </a:lnTo>
                <a:lnTo>
                  <a:pt x="30175" y="5866"/>
                </a:lnTo>
                <a:lnTo>
                  <a:pt x="57687" y="3449"/>
                </a:lnTo>
                <a:lnTo>
                  <a:pt x="57687" y="9080"/>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2" name="Illustrative delivered road transport cost class 0; reference terminal Durban"/>
          <p:cNvSpPr/>
          <p:nvPr/>
        </p:nvSpPr>
        <p:spPr>
          <a:xfrm>
            <a:off x="5031026" y="4286814"/>
            <a:ext cx="30662" cy="51572"/>
          </a:xfrm>
          <a:custGeom>
            <a:avLst/>
            <a:gdLst/>
            <a:ahLst/>
            <a:cxnLst/>
            <a:rect l="l" t="t" r="r" b="b"/>
            <a:pathLst>
              <a:path w="30662" h="51572">
                <a:moveTo>
                  <a:pt x="0" y="0"/>
                </a:moveTo>
                <a:lnTo>
                  <a:pt x="30662" y="0"/>
                </a:lnTo>
                <a:lnTo>
                  <a:pt x="14564" y="33945"/>
                </a:lnTo>
                <a:lnTo>
                  <a:pt x="0" y="51572"/>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3" name="Illustrative delivered road transport cost class 0; reference terminal Durban"/>
          <p:cNvSpPr/>
          <p:nvPr/>
        </p:nvSpPr>
        <p:spPr>
          <a:xfrm>
            <a:off x="5031026" y="4229128"/>
            <a:ext cx="57686" cy="57686"/>
          </a:xfrm>
          <a:custGeom>
            <a:avLst/>
            <a:gdLst/>
            <a:ahLst/>
            <a:cxnLst/>
            <a:rect l="l" t="t" r="r" b="b"/>
            <a:pathLst>
              <a:path w="57686" h="57686">
                <a:moveTo>
                  <a:pt x="0" y="57686"/>
                </a:moveTo>
                <a:lnTo>
                  <a:pt x="0" y="0"/>
                </a:lnTo>
                <a:lnTo>
                  <a:pt x="57686" y="0"/>
                </a:lnTo>
                <a:lnTo>
                  <a:pt x="57686" y="5704"/>
                </a:lnTo>
                <a:lnTo>
                  <a:pt x="51361" y="14039"/>
                </a:lnTo>
                <a:lnTo>
                  <a:pt x="30662"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4" name="Illustrative delivered road transport cost class 0; reference terminal Durban"/>
          <p:cNvSpPr/>
          <p:nvPr/>
        </p:nvSpPr>
        <p:spPr>
          <a:xfrm>
            <a:off x="5031026" y="4171441"/>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5" name="Illustrative delivered road transport cost class 0; reference terminal Durban"/>
          <p:cNvSpPr/>
          <p:nvPr/>
        </p:nvSpPr>
        <p:spPr>
          <a:xfrm>
            <a:off x="5031026" y="4113755"/>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6" name="Illustrative delivered road transport cost class 0; reference terminal Durban"/>
          <p:cNvSpPr/>
          <p:nvPr/>
        </p:nvSpPr>
        <p:spPr>
          <a:xfrm>
            <a:off x="5031026" y="405606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7" name="Illustrative delivered road transport cost class 0; reference terminal Durban"/>
          <p:cNvSpPr/>
          <p:nvPr/>
        </p:nvSpPr>
        <p:spPr>
          <a:xfrm>
            <a:off x="5031026"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8" name="Illustrative delivered road transport cost class 0; reference terminal Durban"/>
          <p:cNvSpPr/>
          <p:nvPr/>
        </p:nvSpPr>
        <p:spPr>
          <a:xfrm>
            <a:off x="5031026"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59" name="Illustrative delivered road transport cost class 0; reference terminal Durban"/>
          <p:cNvSpPr/>
          <p:nvPr/>
        </p:nvSpPr>
        <p:spPr>
          <a:xfrm>
            <a:off x="5031026"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0" name="Illustrative delivered road transport cost class 1; reference terminal Durban"/>
          <p:cNvSpPr/>
          <p:nvPr/>
        </p:nvSpPr>
        <p:spPr>
          <a:xfrm>
            <a:off x="5031026"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1" name="Illustrative delivered road transport cost class 1; reference terminal Lesedi"/>
          <p:cNvSpPr/>
          <p:nvPr/>
        </p:nvSpPr>
        <p:spPr>
          <a:xfrm>
            <a:off x="5031026"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2" name="Illustrative delivered road transport cost class 1; reference terminal Lesedi"/>
          <p:cNvSpPr/>
          <p:nvPr/>
        </p:nvSpPr>
        <p:spPr>
          <a:xfrm>
            <a:off x="5031026"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3" name="Illustrative delivered road transport cost class 1; reference terminal Lesedi"/>
          <p:cNvSpPr/>
          <p:nvPr/>
        </p:nvSpPr>
        <p:spPr>
          <a:xfrm>
            <a:off x="5031026"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4" name="Illustrative delivered road transport cost class 1; reference terminal Lesedi"/>
          <p:cNvSpPr/>
          <p:nvPr/>
        </p:nvSpPr>
        <p:spPr>
          <a:xfrm>
            <a:off x="5031026" y="3594576"/>
            <a:ext cx="57686" cy="57686"/>
          </a:xfrm>
          <a:custGeom>
            <a:avLst/>
            <a:gdLst/>
            <a:ahLst/>
            <a:cxnLst/>
            <a:rect l="l" t="t" r="r" b="b"/>
            <a:pathLst>
              <a:path w="57686" h="57686">
                <a:moveTo>
                  <a:pt x="57686" y="57686"/>
                </a:moveTo>
                <a:lnTo>
                  <a:pt x="0" y="57686"/>
                </a:lnTo>
                <a:lnTo>
                  <a:pt x="0" y="0"/>
                </a:lnTo>
                <a:lnTo>
                  <a:pt x="52632" y="0"/>
                </a:lnTo>
                <a:lnTo>
                  <a:pt x="57686" y="9962"/>
                </a:lnTo>
                <a:lnTo>
                  <a:pt x="57686"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5" name="Illustrative delivered road transport cost class 1; reference terminal Lesedi"/>
          <p:cNvSpPr/>
          <p:nvPr/>
        </p:nvSpPr>
        <p:spPr>
          <a:xfrm>
            <a:off x="5031026" y="3536889"/>
            <a:ext cx="52632" cy="57687"/>
          </a:xfrm>
          <a:custGeom>
            <a:avLst/>
            <a:gdLst/>
            <a:ahLst/>
            <a:cxnLst/>
            <a:rect l="l" t="t" r="r" b="b"/>
            <a:pathLst>
              <a:path w="52632" h="57687">
                <a:moveTo>
                  <a:pt x="0" y="57687"/>
                </a:moveTo>
                <a:lnTo>
                  <a:pt x="0" y="0"/>
                </a:lnTo>
                <a:lnTo>
                  <a:pt x="26602" y="0"/>
                </a:lnTo>
                <a:lnTo>
                  <a:pt x="33371" y="19719"/>
                </a:lnTo>
                <a:lnTo>
                  <a:pt x="5263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6" name="Illustrative delivered road transport cost class 1; reference terminal Lesedi"/>
          <p:cNvSpPr/>
          <p:nvPr/>
        </p:nvSpPr>
        <p:spPr>
          <a:xfrm>
            <a:off x="5031026" y="3479202"/>
            <a:ext cx="26602" cy="57687"/>
          </a:xfrm>
          <a:custGeom>
            <a:avLst/>
            <a:gdLst/>
            <a:ahLst/>
            <a:cxnLst/>
            <a:rect l="l" t="t" r="r" b="b"/>
            <a:pathLst>
              <a:path w="26602" h="57687">
                <a:moveTo>
                  <a:pt x="0" y="57687"/>
                </a:moveTo>
                <a:lnTo>
                  <a:pt x="0" y="0"/>
                </a:lnTo>
                <a:lnTo>
                  <a:pt x="2497" y="0"/>
                </a:lnTo>
                <a:lnTo>
                  <a:pt x="2291" y="37066"/>
                </a:lnTo>
                <a:lnTo>
                  <a:pt x="4883" y="42569"/>
                </a:lnTo>
                <a:lnTo>
                  <a:pt x="22330" y="45241"/>
                </a:lnTo>
                <a:lnTo>
                  <a:pt x="26602"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7" name="Illustrative delivered road transport cost class 1; reference terminal Lesedi"/>
          <p:cNvSpPr/>
          <p:nvPr/>
        </p:nvSpPr>
        <p:spPr>
          <a:xfrm>
            <a:off x="5031026" y="3421516"/>
            <a:ext cx="12263" cy="57686"/>
          </a:xfrm>
          <a:custGeom>
            <a:avLst/>
            <a:gdLst/>
            <a:ahLst/>
            <a:cxnLst/>
            <a:rect l="l" t="t" r="r" b="b"/>
            <a:pathLst>
              <a:path w="12263" h="57686">
                <a:moveTo>
                  <a:pt x="0" y="57686"/>
                </a:moveTo>
                <a:lnTo>
                  <a:pt x="0" y="0"/>
                </a:lnTo>
                <a:lnTo>
                  <a:pt x="12263" y="0"/>
                </a:lnTo>
                <a:lnTo>
                  <a:pt x="8495" y="5195"/>
                </a:lnTo>
                <a:lnTo>
                  <a:pt x="4726" y="15770"/>
                </a:lnTo>
                <a:lnTo>
                  <a:pt x="2505" y="56187"/>
                </a:lnTo>
                <a:lnTo>
                  <a:pt x="249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8" name="Illustrative delivered road transport cost class 1; reference terminal Lesedi"/>
          <p:cNvSpPr/>
          <p:nvPr/>
        </p:nvSpPr>
        <p:spPr>
          <a:xfrm>
            <a:off x="5031026" y="3363829"/>
            <a:ext cx="54119" cy="57687"/>
          </a:xfrm>
          <a:custGeom>
            <a:avLst/>
            <a:gdLst/>
            <a:ahLst/>
            <a:cxnLst/>
            <a:rect l="l" t="t" r="r" b="b"/>
            <a:pathLst>
              <a:path w="54119" h="57687">
                <a:moveTo>
                  <a:pt x="0" y="57687"/>
                </a:moveTo>
                <a:lnTo>
                  <a:pt x="0" y="0"/>
                </a:lnTo>
                <a:lnTo>
                  <a:pt x="54119" y="0"/>
                </a:lnTo>
                <a:lnTo>
                  <a:pt x="43438" y="14699"/>
                </a:lnTo>
                <a:lnTo>
                  <a:pt x="1226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69" name="Illustrative delivered road transport cost class 1; reference terminal Lesedi"/>
          <p:cNvSpPr/>
          <p:nvPr/>
        </p:nvSpPr>
        <p:spPr>
          <a:xfrm>
            <a:off x="5031026" y="3306143"/>
            <a:ext cx="57686" cy="57686"/>
          </a:xfrm>
          <a:custGeom>
            <a:avLst/>
            <a:gdLst/>
            <a:ahLst/>
            <a:cxnLst/>
            <a:rect l="l" t="t" r="r" b="b"/>
            <a:pathLst>
              <a:path w="57686" h="57686">
                <a:moveTo>
                  <a:pt x="0" y="57686"/>
                </a:moveTo>
                <a:lnTo>
                  <a:pt x="0" y="0"/>
                </a:lnTo>
                <a:lnTo>
                  <a:pt x="57686" y="0"/>
                </a:lnTo>
                <a:lnTo>
                  <a:pt x="57686" y="52778"/>
                </a:lnTo>
                <a:lnTo>
                  <a:pt x="5411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0" name="Illustrative delivered road transport cost class 1; reference terminal Lesedi"/>
          <p:cNvSpPr/>
          <p:nvPr/>
        </p:nvSpPr>
        <p:spPr>
          <a:xfrm>
            <a:off x="5031026" y="324845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1" name="Illustrative delivered road transport cost class 1; reference terminal Lesedi"/>
          <p:cNvSpPr/>
          <p:nvPr/>
        </p:nvSpPr>
        <p:spPr>
          <a:xfrm>
            <a:off x="5031026"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2" name="Illustrative delivered road transport cost class 1; reference terminal Lesedi"/>
          <p:cNvSpPr/>
          <p:nvPr/>
        </p:nvSpPr>
        <p:spPr>
          <a:xfrm>
            <a:off x="5031026"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3" name="Illustrative delivered road transport cost class 1; reference terminal Lesedi"/>
          <p:cNvSpPr/>
          <p:nvPr/>
        </p:nvSpPr>
        <p:spPr>
          <a:xfrm>
            <a:off x="5031026"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4" name="Illustrative delivered road transport cost class 1; reference terminal Lesedi"/>
          <p:cNvSpPr/>
          <p:nvPr/>
        </p:nvSpPr>
        <p:spPr>
          <a:xfrm>
            <a:off x="5031026"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5" name="Illustrative delivered road transport cost class 1; reference terminal Lesedi"/>
          <p:cNvSpPr/>
          <p:nvPr/>
        </p:nvSpPr>
        <p:spPr>
          <a:xfrm>
            <a:off x="5031026"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6" name="Illustrative delivered road transport cost class None; reference terminal None"/>
          <p:cNvSpPr/>
          <p:nvPr/>
        </p:nvSpPr>
        <p:spPr>
          <a:xfrm>
            <a:off x="5031026"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7" name="Illustrative delivered road transport cost class None; reference terminal None"/>
          <p:cNvSpPr/>
          <p:nvPr/>
        </p:nvSpPr>
        <p:spPr>
          <a:xfrm>
            <a:off x="5031026"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8" name="Illustrative delivered road transport cost class None; reference terminal None"/>
          <p:cNvSpPr/>
          <p:nvPr/>
        </p:nvSpPr>
        <p:spPr>
          <a:xfrm>
            <a:off x="5031026"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79" name="Illustrative delivered road transport cost class None; reference terminal None"/>
          <p:cNvSpPr/>
          <p:nvPr/>
        </p:nvSpPr>
        <p:spPr>
          <a:xfrm>
            <a:off x="5031026"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0" name="Illustrative delivered road transport cost class None; reference terminal None"/>
          <p:cNvSpPr/>
          <p:nvPr/>
        </p:nvSpPr>
        <p:spPr>
          <a:xfrm>
            <a:off x="5031026"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1" name="Illustrative delivered road transport cost class None; reference terminal None"/>
          <p:cNvSpPr/>
          <p:nvPr/>
        </p:nvSpPr>
        <p:spPr>
          <a:xfrm>
            <a:off x="5031026"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2" name="Illustrative delivered road transport cost class None; reference terminal None"/>
          <p:cNvSpPr/>
          <p:nvPr/>
        </p:nvSpPr>
        <p:spPr>
          <a:xfrm>
            <a:off x="5031026"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3" name="Illustrative delivered road transport cost class 2; reference terminal Lesedi"/>
          <p:cNvSpPr/>
          <p:nvPr/>
        </p:nvSpPr>
        <p:spPr>
          <a:xfrm>
            <a:off x="5031026"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4" name="Illustrative delivered road transport cost class 2; reference terminal Lesedi"/>
          <p:cNvSpPr/>
          <p:nvPr/>
        </p:nvSpPr>
        <p:spPr>
          <a:xfrm>
            <a:off x="5031026"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5" name="Illustrative delivered road transport cost class 2; reference terminal Lesedi"/>
          <p:cNvSpPr/>
          <p:nvPr/>
        </p:nvSpPr>
        <p:spPr>
          <a:xfrm>
            <a:off x="5031026" y="2383158"/>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6" name="Illustrative delivered road transport cost class 2; reference terminal Lesedi"/>
          <p:cNvSpPr/>
          <p:nvPr/>
        </p:nvSpPr>
        <p:spPr>
          <a:xfrm>
            <a:off x="5031026" y="2374664"/>
            <a:ext cx="57686" cy="8494"/>
          </a:xfrm>
          <a:custGeom>
            <a:avLst/>
            <a:gdLst/>
            <a:ahLst/>
            <a:cxnLst/>
            <a:rect l="l" t="t" r="r" b="b"/>
            <a:pathLst>
              <a:path w="57686" h="8494">
                <a:moveTo>
                  <a:pt x="57686" y="8494"/>
                </a:moveTo>
                <a:lnTo>
                  <a:pt x="0" y="8494"/>
                </a:lnTo>
                <a:lnTo>
                  <a:pt x="0" y="2863"/>
                </a:lnTo>
                <a:lnTo>
                  <a:pt x="32573" y="0"/>
                </a:lnTo>
                <a:lnTo>
                  <a:pt x="57686" y="227"/>
                </a:lnTo>
                <a:lnTo>
                  <a:pt x="57686" y="8494"/>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7" name="Illustrative delivered road transport cost class 0; reference terminal Durban"/>
          <p:cNvSpPr/>
          <p:nvPr/>
        </p:nvSpPr>
        <p:spPr>
          <a:xfrm>
            <a:off x="5088712" y="4229128"/>
            <a:ext cx="4329" cy="5704"/>
          </a:xfrm>
          <a:custGeom>
            <a:avLst/>
            <a:gdLst/>
            <a:ahLst/>
            <a:cxnLst/>
            <a:rect l="l" t="t" r="r" b="b"/>
            <a:pathLst>
              <a:path w="4329" h="5704">
                <a:moveTo>
                  <a:pt x="0" y="0"/>
                </a:moveTo>
                <a:lnTo>
                  <a:pt x="4329" y="0"/>
                </a:lnTo>
                <a:lnTo>
                  <a:pt x="0" y="570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8" name="Illustrative delivered road transport cost class 0; reference terminal Durban"/>
          <p:cNvSpPr/>
          <p:nvPr/>
        </p:nvSpPr>
        <p:spPr>
          <a:xfrm>
            <a:off x="5088712" y="4171441"/>
            <a:ext cx="52435" cy="57687"/>
          </a:xfrm>
          <a:custGeom>
            <a:avLst/>
            <a:gdLst/>
            <a:ahLst/>
            <a:cxnLst/>
            <a:rect l="l" t="t" r="r" b="b"/>
            <a:pathLst>
              <a:path w="52435" h="57687">
                <a:moveTo>
                  <a:pt x="0" y="57687"/>
                </a:moveTo>
                <a:lnTo>
                  <a:pt x="0" y="0"/>
                </a:lnTo>
                <a:lnTo>
                  <a:pt x="52435" y="0"/>
                </a:lnTo>
                <a:lnTo>
                  <a:pt x="33464" y="19296"/>
                </a:lnTo>
                <a:lnTo>
                  <a:pt x="4329"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89" name="Illustrative delivered road transport cost class 0; reference terminal Durban"/>
          <p:cNvSpPr/>
          <p:nvPr/>
        </p:nvSpPr>
        <p:spPr>
          <a:xfrm>
            <a:off x="5088712" y="4113755"/>
            <a:ext cx="57687" cy="57686"/>
          </a:xfrm>
          <a:custGeom>
            <a:avLst/>
            <a:gdLst/>
            <a:ahLst/>
            <a:cxnLst/>
            <a:rect l="l" t="t" r="r" b="b"/>
            <a:pathLst>
              <a:path w="57687" h="57686">
                <a:moveTo>
                  <a:pt x="0" y="57686"/>
                </a:moveTo>
                <a:lnTo>
                  <a:pt x="0" y="0"/>
                </a:lnTo>
                <a:lnTo>
                  <a:pt x="57687" y="0"/>
                </a:lnTo>
                <a:lnTo>
                  <a:pt x="57687" y="52345"/>
                </a:lnTo>
                <a:lnTo>
                  <a:pt x="52435"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0" name="Illustrative delivered road transport cost class 0; reference terminal Durban"/>
          <p:cNvSpPr/>
          <p:nvPr/>
        </p:nvSpPr>
        <p:spPr>
          <a:xfrm>
            <a:off x="5088712" y="405606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1" name="Illustrative delivered road transport cost class 0; reference terminal Durban"/>
          <p:cNvSpPr/>
          <p:nvPr/>
        </p:nvSpPr>
        <p:spPr>
          <a:xfrm>
            <a:off x="5088712"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2" name="Illustrative delivered road transport cost class 0; reference terminal Durban"/>
          <p:cNvSpPr/>
          <p:nvPr/>
        </p:nvSpPr>
        <p:spPr>
          <a:xfrm>
            <a:off x="508871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3" name="Illustrative delivered road transport cost class 0; reference terminal Durban"/>
          <p:cNvSpPr/>
          <p:nvPr/>
        </p:nvSpPr>
        <p:spPr>
          <a:xfrm>
            <a:off x="508871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4" name="Illustrative delivered road transport cost class 0; reference terminal Durban"/>
          <p:cNvSpPr/>
          <p:nvPr/>
        </p:nvSpPr>
        <p:spPr>
          <a:xfrm>
            <a:off x="508871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5" name="Illustrative delivered road transport cost class 1; reference terminal Durban"/>
          <p:cNvSpPr/>
          <p:nvPr/>
        </p:nvSpPr>
        <p:spPr>
          <a:xfrm>
            <a:off x="508871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6" name="Illustrative delivered road transport cost class 1; reference terminal Durban"/>
          <p:cNvSpPr/>
          <p:nvPr/>
        </p:nvSpPr>
        <p:spPr>
          <a:xfrm>
            <a:off x="508871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7" name="Illustrative delivered road transport cost class 1; reference terminal Durban"/>
          <p:cNvSpPr/>
          <p:nvPr/>
        </p:nvSpPr>
        <p:spPr>
          <a:xfrm>
            <a:off x="5088712"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8" name="Illustrative delivered road transport cost class 1; reference terminal Lesedi"/>
          <p:cNvSpPr/>
          <p:nvPr/>
        </p:nvSpPr>
        <p:spPr>
          <a:xfrm>
            <a:off x="5088712" y="3604538"/>
            <a:ext cx="57687" cy="47724"/>
          </a:xfrm>
          <a:custGeom>
            <a:avLst/>
            <a:gdLst/>
            <a:ahLst/>
            <a:cxnLst/>
            <a:rect l="l" t="t" r="r" b="b"/>
            <a:pathLst>
              <a:path w="57687" h="47724">
                <a:moveTo>
                  <a:pt x="57687" y="47724"/>
                </a:moveTo>
                <a:lnTo>
                  <a:pt x="0" y="47724"/>
                </a:lnTo>
                <a:lnTo>
                  <a:pt x="0" y="0"/>
                </a:lnTo>
                <a:lnTo>
                  <a:pt x="1888" y="3721"/>
                </a:lnTo>
                <a:lnTo>
                  <a:pt x="48337" y="38415"/>
                </a:lnTo>
                <a:lnTo>
                  <a:pt x="57687" y="42036"/>
                </a:lnTo>
                <a:lnTo>
                  <a:pt x="57687" y="4772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99" name="Illustrative delivered road transport cost class 1; reference terminal Lesedi"/>
          <p:cNvSpPr/>
          <p:nvPr/>
        </p:nvSpPr>
        <p:spPr>
          <a:xfrm>
            <a:off x="5088712" y="3306143"/>
            <a:ext cx="32964" cy="52778"/>
          </a:xfrm>
          <a:custGeom>
            <a:avLst/>
            <a:gdLst/>
            <a:ahLst/>
            <a:cxnLst/>
            <a:rect l="l" t="t" r="r" b="b"/>
            <a:pathLst>
              <a:path w="32964" h="52778">
                <a:moveTo>
                  <a:pt x="0" y="0"/>
                </a:moveTo>
                <a:lnTo>
                  <a:pt x="32964" y="0"/>
                </a:lnTo>
                <a:lnTo>
                  <a:pt x="21545" y="13175"/>
                </a:lnTo>
                <a:lnTo>
                  <a:pt x="7493" y="42466"/>
                </a:lnTo>
                <a:lnTo>
                  <a:pt x="0" y="5277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0" name="Illustrative delivered road transport cost class 1; reference terminal Lesedi"/>
          <p:cNvSpPr/>
          <p:nvPr/>
        </p:nvSpPr>
        <p:spPr>
          <a:xfrm>
            <a:off x="5088712" y="3248456"/>
            <a:ext cx="57687" cy="57687"/>
          </a:xfrm>
          <a:custGeom>
            <a:avLst/>
            <a:gdLst/>
            <a:ahLst/>
            <a:cxnLst/>
            <a:rect l="l" t="t" r="r" b="b"/>
            <a:pathLst>
              <a:path w="57687" h="57687">
                <a:moveTo>
                  <a:pt x="0" y="57687"/>
                </a:moveTo>
                <a:lnTo>
                  <a:pt x="0" y="0"/>
                </a:lnTo>
                <a:lnTo>
                  <a:pt x="57687" y="0"/>
                </a:lnTo>
                <a:lnTo>
                  <a:pt x="57687" y="32428"/>
                </a:lnTo>
                <a:lnTo>
                  <a:pt x="50745" y="37169"/>
                </a:lnTo>
                <a:lnTo>
                  <a:pt x="32964"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1" name="Illustrative delivered road transport cost class 1; reference terminal Lesedi"/>
          <p:cNvSpPr/>
          <p:nvPr/>
        </p:nvSpPr>
        <p:spPr>
          <a:xfrm>
            <a:off x="5088712"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2" name="Illustrative delivered road transport cost class 1; reference terminal Lesedi"/>
          <p:cNvSpPr/>
          <p:nvPr/>
        </p:nvSpPr>
        <p:spPr>
          <a:xfrm>
            <a:off x="508871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3" name="Illustrative delivered road transport cost class 1; reference terminal Lesedi"/>
          <p:cNvSpPr/>
          <p:nvPr/>
        </p:nvSpPr>
        <p:spPr>
          <a:xfrm>
            <a:off x="508871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4" name="Illustrative delivered road transport cost class 1; reference terminal Lesedi"/>
          <p:cNvSpPr/>
          <p:nvPr/>
        </p:nvSpPr>
        <p:spPr>
          <a:xfrm>
            <a:off x="508871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5" name="Illustrative delivered road transport cost class 1; reference terminal Lesedi"/>
          <p:cNvSpPr/>
          <p:nvPr/>
        </p:nvSpPr>
        <p:spPr>
          <a:xfrm>
            <a:off x="508871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6" name="Illustrative delivered road transport cost class None; reference terminal None"/>
          <p:cNvSpPr/>
          <p:nvPr/>
        </p:nvSpPr>
        <p:spPr>
          <a:xfrm>
            <a:off x="508871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7" name="Illustrative delivered road transport cost class None; reference terminal None"/>
          <p:cNvSpPr/>
          <p:nvPr/>
        </p:nvSpPr>
        <p:spPr>
          <a:xfrm>
            <a:off x="5088712"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8" name="Illustrative delivered road transport cost class None; reference terminal None"/>
          <p:cNvSpPr/>
          <p:nvPr/>
        </p:nvSpPr>
        <p:spPr>
          <a:xfrm>
            <a:off x="5088712"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09" name="Illustrative delivered road transport cost class None; reference terminal None"/>
          <p:cNvSpPr/>
          <p:nvPr/>
        </p:nvSpPr>
        <p:spPr>
          <a:xfrm>
            <a:off x="5088712"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0" name="Illustrative delivered road transport cost class None; reference terminal None"/>
          <p:cNvSpPr/>
          <p:nvPr/>
        </p:nvSpPr>
        <p:spPr>
          <a:xfrm>
            <a:off x="5088712" y="267159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1" name="Illustrative delivered road transport cost class None; reference terminal None"/>
          <p:cNvSpPr/>
          <p:nvPr/>
        </p:nvSpPr>
        <p:spPr>
          <a:xfrm>
            <a:off x="5088712" y="261390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2" name="Illustrative delivered road transport cost class None; reference terminal None"/>
          <p:cNvSpPr/>
          <p:nvPr/>
        </p:nvSpPr>
        <p:spPr>
          <a:xfrm>
            <a:off x="5088712" y="255621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3" name="Illustrative delivered road transport cost class None; reference terminal None"/>
          <p:cNvSpPr/>
          <p:nvPr/>
        </p:nvSpPr>
        <p:spPr>
          <a:xfrm>
            <a:off x="5088712" y="2498531"/>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4" name="Illustrative delivered road transport cost class None; reference terminal None"/>
          <p:cNvSpPr/>
          <p:nvPr/>
        </p:nvSpPr>
        <p:spPr>
          <a:xfrm>
            <a:off x="5088712" y="2440844"/>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5" name="Illustrative delivered road transport cost class None; reference terminal None"/>
          <p:cNvSpPr/>
          <p:nvPr/>
        </p:nvSpPr>
        <p:spPr>
          <a:xfrm>
            <a:off x="5088712" y="2383158"/>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6" name="Illustrative delivered road transport cost class 2; reference terminal Lesedi"/>
          <p:cNvSpPr/>
          <p:nvPr/>
        </p:nvSpPr>
        <p:spPr>
          <a:xfrm>
            <a:off x="5088712" y="2374891"/>
            <a:ext cx="57687" cy="8267"/>
          </a:xfrm>
          <a:custGeom>
            <a:avLst/>
            <a:gdLst/>
            <a:ahLst/>
            <a:cxnLst/>
            <a:rect l="l" t="t" r="r" b="b"/>
            <a:pathLst>
              <a:path w="57687" h="8267">
                <a:moveTo>
                  <a:pt x="57687" y="8267"/>
                </a:moveTo>
                <a:lnTo>
                  <a:pt x="0" y="8267"/>
                </a:lnTo>
                <a:lnTo>
                  <a:pt x="0" y="0"/>
                </a:lnTo>
                <a:lnTo>
                  <a:pt x="23566" y="212"/>
                </a:lnTo>
                <a:lnTo>
                  <a:pt x="57687" y="5855"/>
                </a:lnTo>
                <a:lnTo>
                  <a:pt x="57687" y="8267"/>
                </a:lnTo>
                <a:close/>
              </a:path>
            </a:pathLst>
          </a:custGeom>
          <a:solidFill>
            <a:srgbClr val="728BB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7" name="Illustrative delivered road transport cost class 0; reference terminal Durban"/>
          <p:cNvSpPr/>
          <p:nvPr/>
        </p:nvSpPr>
        <p:spPr>
          <a:xfrm>
            <a:off x="5146399" y="4113755"/>
            <a:ext cx="51467" cy="52345"/>
          </a:xfrm>
          <a:custGeom>
            <a:avLst/>
            <a:gdLst/>
            <a:ahLst/>
            <a:cxnLst/>
            <a:rect l="l" t="t" r="r" b="b"/>
            <a:pathLst>
              <a:path w="51467" h="52345">
                <a:moveTo>
                  <a:pt x="0" y="0"/>
                </a:moveTo>
                <a:lnTo>
                  <a:pt x="51467" y="0"/>
                </a:lnTo>
                <a:lnTo>
                  <a:pt x="0" y="5234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8" name="Illustrative delivered road transport cost class 0; reference terminal Durban"/>
          <p:cNvSpPr/>
          <p:nvPr/>
        </p:nvSpPr>
        <p:spPr>
          <a:xfrm>
            <a:off x="5146399" y="4056068"/>
            <a:ext cx="57686" cy="57687"/>
          </a:xfrm>
          <a:custGeom>
            <a:avLst/>
            <a:gdLst/>
            <a:ahLst/>
            <a:cxnLst/>
            <a:rect l="l" t="t" r="r" b="b"/>
            <a:pathLst>
              <a:path w="57686" h="57687">
                <a:moveTo>
                  <a:pt x="0" y="57687"/>
                </a:moveTo>
                <a:lnTo>
                  <a:pt x="0" y="0"/>
                </a:lnTo>
                <a:lnTo>
                  <a:pt x="57686" y="0"/>
                </a:lnTo>
                <a:lnTo>
                  <a:pt x="57686" y="51361"/>
                </a:lnTo>
                <a:lnTo>
                  <a:pt x="514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19" name="Illustrative delivered road transport cost class 0; reference terminal Durban"/>
          <p:cNvSpPr/>
          <p:nvPr/>
        </p:nvSpPr>
        <p:spPr>
          <a:xfrm>
            <a:off x="5146399" y="399838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0" name="Illustrative delivered road transport cost class 0; reference terminal Durban"/>
          <p:cNvSpPr/>
          <p:nvPr/>
        </p:nvSpPr>
        <p:spPr>
          <a:xfrm>
            <a:off x="5146399" y="394069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1" name="Illustrative delivered road transport cost class 0; reference terminal Durban"/>
          <p:cNvSpPr/>
          <p:nvPr/>
        </p:nvSpPr>
        <p:spPr>
          <a:xfrm>
            <a:off x="514639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2" name="Illustrative delivered road transport cost class 0; reference terminal Durban"/>
          <p:cNvSpPr/>
          <p:nvPr/>
        </p:nvSpPr>
        <p:spPr>
          <a:xfrm>
            <a:off x="514639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3" name="Illustrative delivered road transport cost class 1; reference terminal Durban"/>
          <p:cNvSpPr/>
          <p:nvPr/>
        </p:nvSpPr>
        <p:spPr>
          <a:xfrm>
            <a:off x="514639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4" name="Illustrative delivered road transport cost class 1; reference terminal Durban"/>
          <p:cNvSpPr/>
          <p:nvPr/>
        </p:nvSpPr>
        <p:spPr>
          <a:xfrm>
            <a:off x="514639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5" name="Illustrative delivered road transport cost class 1; reference terminal Durban"/>
          <p:cNvSpPr/>
          <p:nvPr/>
        </p:nvSpPr>
        <p:spPr>
          <a:xfrm>
            <a:off x="5146399" y="3652262"/>
            <a:ext cx="57686" cy="57687"/>
          </a:xfrm>
          <a:custGeom>
            <a:avLst/>
            <a:gdLst/>
            <a:ahLst/>
            <a:cxnLst/>
            <a:rect l="l" t="t" r="r" b="b"/>
            <a:pathLst>
              <a:path w="57686" h="57687">
                <a:moveTo>
                  <a:pt x="57686" y="57687"/>
                </a:moveTo>
                <a:lnTo>
                  <a:pt x="0" y="57687"/>
                </a:lnTo>
                <a:lnTo>
                  <a:pt x="0" y="0"/>
                </a:lnTo>
                <a:lnTo>
                  <a:pt x="14684" y="0"/>
                </a:lnTo>
                <a:lnTo>
                  <a:pt x="34456" y="7658"/>
                </a:lnTo>
                <a:lnTo>
                  <a:pt x="57686" y="10325"/>
                </a:lnTo>
                <a:lnTo>
                  <a:pt x="57686"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6" name="Illustrative delivered road transport cost class 1; reference terminal Durban"/>
          <p:cNvSpPr/>
          <p:nvPr/>
        </p:nvSpPr>
        <p:spPr>
          <a:xfrm>
            <a:off x="5146399" y="3646574"/>
            <a:ext cx="14684" cy="5688"/>
          </a:xfrm>
          <a:custGeom>
            <a:avLst/>
            <a:gdLst/>
            <a:ahLst/>
            <a:cxnLst/>
            <a:rect l="l" t="t" r="r" b="b"/>
            <a:pathLst>
              <a:path w="14684" h="5688">
                <a:moveTo>
                  <a:pt x="0" y="5688"/>
                </a:moveTo>
                <a:lnTo>
                  <a:pt x="0" y="0"/>
                </a:lnTo>
                <a:lnTo>
                  <a:pt x="14684" y="5688"/>
                </a:lnTo>
                <a:lnTo>
                  <a:pt x="0" y="5688"/>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7" name="Illustrative delivered road transport cost class 1; reference terminal Lesedi"/>
          <p:cNvSpPr/>
          <p:nvPr/>
        </p:nvSpPr>
        <p:spPr>
          <a:xfrm>
            <a:off x="5146399" y="3248456"/>
            <a:ext cx="57686" cy="32428"/>
          </a:xfrm>
          <a:custGeom>
            <a:avLst/>
            <a:gdLst/>
            <a:ahLst/>
            <a:cxnLst/>
            <a:rect l="l" t="t" r="r" b="b"/>
            <a:pathLst>
              <a:path w="57686" h="32428">
                <a:moveTo>
                  <a:pt x="0" y="0"/>
                </a:moveTo>
                <a:lnTo>
                  <a:pt x="57686" y="0"/>
                </a:lnTo>
                <a:lnTo>
                  <a:pt x="57686" y="25216"/>
                </a:lnTo>
                <a:lnTo>
                  <a:pt x="42266" y="14932"/>
                </a:lnTo>
                <a:lnTo>
                  <a:pt x="34799" y="13613"/>
                </a:lnTo>
                <a:lnTo>
                  <a:pt x="23676" y="16259"/>
                </a:lnTo>
                <a:lnTo>
                  <a:pt x="0" y="324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8" name="Illustrative delivered road transport cost class 1; reference terminal Lesedi"/>
          <p:cNvSpPr/>
          <p:nvPr/>
        </p:nvSpPr>
        <p:spPr>
          <a:xfrm>
            <a:off x="5146399" y="319077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29" name="Illustrative delivered road transport cost class 1; reference terminal Lesedi"/>
          <p:cNvSpPr/>
          <p:nvPr/>
        </p:nvSpPr>
        <p:spPr>
          <a:xfrm>
            <a:off x="5146399" y="313308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0" name="Illustrative delivered road transport cost class 1; reference terminal Lesedi"/>
          <p:cNvSpPr/>
          <p:nvPr/>
        </p:nvSpPr>
        <p:spPr>
          <a:xfrm>
            <a:off x="5146399" y="3075396"/>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1" name="Illustrative delivered road transport cost class 1; reference terminal Lesedi"/>
          <p:cNvSpPr/>
          <p:nvPr/>
        </p:nvSpPr>
        <p:spPr>
          <a:xfrm>
            <a:off x="5146399" y="3017710"/>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2" name="Illustrative delivered road transport cost class 1; reference terminal Lesedi"/>
          <p:cNvSpPr/>
          <p:nvPr/>
        </p:nvSpPr>
        <p:spPr>
          <a:xfrm>
            <a:off x="5146399" y="2960023"/>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3" name="Illustrative delivered road transport cost class None; reference terminal None"/>
          <p:cNvSpPr/>
          <p:nvPr/>
        </p:nvSpPr>
        <p:spPr>
          <a:xfrm>
            <a:off x="5146399" y="2902337"/>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4" name="Illustrative delivered road transport cost class None; reference terminal None"/>
          <p:cNvSpPr/>
          <p:nvPr/>
        </p:nvSpPr>
        <p:spPr>
          <a:xfrm>
            <a:off x="5146399" y="284465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5" name="Illustrative delivered road transport cost class None; reference terminal None"/>
          <p:cNvSpPr/>
          <p:nvPr/>
        </p:nvSpPr>
        <p:spPr>
          <a:xfrm>
            <a:off x="5146399" y="278696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6" name="Illustrative delivered road transport cost class None; reference terminal None"/>
          <p:cNvSpPr/>
          <p:nvPr/>
        </p:nvSpPr>
        <p:spPr>
          <a:xfrm>
            <a:off x="5146399" y="272927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7" name="Illustrative delivered road transport cost class None; reference terminal None"/>
          <p:cNvSpPr/>
          <p:nvPr/>
        </p:nvSpPr>
        <p:spPr>
          <a:xfrm>
            <a:off x="5146399" y="2671590"/>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8" name="Illustrative delivered road transport cost class None; reference terminal None"/>
          <p:cNvSpPr/>
          <p:nvPr/>
        </p:nvSpPr>
        <p:spPr>
          <a:xfrm>
            <a:off x="5146399" y="2613904"/>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39" name="Illustrative delivered road transport cost class None; reference terminal None"/>
          <p:cNvSpPr/>
          <p:nvPr/>
        </p:nvSpPr>
        <p:spPr>
          <a:xfrm>
            <a:off x="5146399" y="2556217"/>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0" name="Illustrative delivered road transport cost class None; reference terminal None"/>
          <p:cNvSpPr/>
          <p:nvPr/>
        </p:nvSpPr>
        <p:spPr>
          <a:xfrm>
            <a:off x="5146399" y="2498531"/>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1" name="Illustrative delivered road transport cost class None; reference terminal None"/>
          <p:cNvSpPr/>
          <p:nvPr/>
        </p:nvSpPr>
        <p:spPr>
          <a:xfrm>
            <a:off x="5146399" y="2440844"/>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2" name="Illustrative delivered road transport cost class None; reference terminal None"/>
          <p:cNvSpPr/>
          <p:nvPr/>
        </p:nvSpPr>
        <p:spPr>
          <a:xfrm>
            <a:off x="5146399" y="2383158"/>
            <a:ext cx="57686" cy="57686"/>
          </a:xfrm>
          <a:custGeom>
            <a:avLst/>
            <a:gdLst/>
            <a:ahLst/>
            <a:cxnLst/>
            <a:rect l="l" t="t" r="r" b="b"/>
            <a:pathLst>
              <a:path w="57686" h="57686">
                <a:moveTo>
                  <a:pt x="57686" y="57686"/>
                </a:moveTo>
                <a:lnTo>
                  <a:pt x="0" y="57686"/>
                </a:lnTo>
                <a:lnTo>
                  <a:pt x="0" y="0"/>
                </a:lnTo>
                <a:lnTo>
                  <a:pt x="8138" y="0"/>
                </a:lnTo>
                <a:lnTo>
                  <a:pt x="32085" y="9008"/>
                </a:lnTo>
                <a:lnTo>
                  <a:pt x="52957" y="24659"/>
                </a:lnTo>
                <a:lnTo>
                  <a:pt x="53606" y="38152"/>
                </a:lnTo>
                <a:lnTo>
                  <a:pt x="55000" y="44341"/>
                </a:lnTo>
                <a:lnTo>
                  <a:pt x="57686" y="54279"/>
                </a:lnTo>
                <a:lnTo>
                  <a:pt x="57686"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3" name="Illustrative delivered road transport cost class None; reference terminal None"/>
          <p:cNvSpPr/>
          <p:nvPr/>
        </p:nvSpPr>
        <p:spPr>
          <a:xfrm>
            <a:off x="5146399" y="2380746"/>
            <a:ext cx="8138" cy="2412"/>
          </a:xfrm>
          <a:custGeom>
            <a:avLst/>
            <a:gdLst/>
            <a:ahLst/>
            <a:cxnLst/>
            <a:rect l="l" t="t" r="r" b="b"/>
            <a:pathLst>
              <a:path w="8138" h="2412">
                <a:moveTo>
                  <a:pt x="0" y="2412"/>
                </a:moveTo>
                <a:lnTo>
                  <a:pt x="0" y="0"/>
                </a:lnTo>
                <a:lnTo>
                  <a:pt x="3080" y="509"/>
                </a:lnTo>
                <a:lnTo>
                  <a:pt x="8138" y="2412"/>
                </a:lnTo>
                <a:lnTo>
                  <a:pt x="0" y="241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4" name="Illustrative delivered road transport cost class 0; reference terminal Durban"/>
          <p:cNvSpPr/>
          <p:nvPr/>
        </p:nvSpPr>
        <p:spPr>
          <a:xfrm>
            <a:off x="5204085" y="4056068"/>
            <a:ext cx="57687" cy="51361"/>
          </a:xfrm>
          <a:custGeom>
            <a:avLst/>
            <a:gdLst/>
            <a:ahLst/>
            <a:cxnLst/>
            <a:rect l="l" t="t" r="r" b="b"/>
            <a:pathLst>
              <a:path w="57687" h="51361">
                <a:moveTo>
                  <a:pt x="0" y="0"/>
                </a:moveTo>
                <a:lnTo>
                  <a:pt x="57687" y="0"/>
                </a:lnTo>
                <a:lnTo>
                  <a:pt x="57687" y="18855"/>
                </a:lnTo>
                <a:lnTo>
                  <a:pt x="49331" y="22482"/>
                </a:lnTo>
                <a:lnTo>
                  <a:pt x="23552" y="27408"/>
                </a:lnTo>
                <a:lnTo>
                  <a:pt x="0" y="51361"/>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5" name="Illustrative delivered road transport cost class 0; reference terminal Durban"/>
          <p:cNvSpPr/>
          <p:nvPr/>
        </p:nvSpPr>
        <p:spPr>
          <a:xfrm>
            <a:off x="5204085" y="399838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6" name="Illustrative delivered road transport cost class 0; reference terminal Durban"/>
          <p:cNvSpPr/>
          <p:nvPr/>
        </p:nvSpPr>
        <p:spPr>
          <a:xfrm>
            <a:off x="5204085"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7" name="Illustrative delivered road transport cost class 0; reference terminal Durban"/>
          <p:cNvSpPr/>
          <p:nvPr/>
        </p:nvSpPr>
        <p:spPr>
          <a:xfrm>
            <a:off x="5204085"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8" name="Illustrative delivered road transport cost class 0; reference terminal Durban"/>
          <p:cNvSpPr/>
          <p:nvPr/>
        </p:nvSpPr>
        <p:spPr>
          <a:xfrm>
            <a:off x="5204085"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49" name="Illustrative delivered road transport cost class 0; reference terminal Durban"/>
          <p:cNvSpPr/>
          <p:nvPr/>
        </p:nvSpPr>
        <p:spPr>
          <a:xfrm>
            <a:off x="5204085"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0" name="Illustrative delivered road transport cost class 1; reference terminal Durban"/>
          <p:cNvSpPr/>
          <p:nvPr/>
        </p:nvSpPr>
        <p:spPr>
          <a:xfrm>
            <a:off x="520408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1" name="Illustrative delivered road transport cost class 1; reference terminal Durban"/>
          <p:cNvSpPr/>
          <p:nvPr/>
        </p:nvSpPr>
        <p:spPr>
          <a:xfrm>
            <a:off x="5204085" y="3662587"/>
            <a:ext cx="57687" cy="47362"/>
          </a:xfrm>
          <a:custGeom>
            <a:avLst/>
            <a:gdLst/>
            <a:ahLst/>
            <a:cxnLst/>
            <a:rect l="l" t="t" r="r" b="b"/>
            <a:pathLst>
              <a:path w="57687" h="47362">
                <a:moveTo>
                  <a:pt x="57687" y="47362"/>
                </a:moveTo>
                <a:lnTo>
                  <a:pt x="0" y="47362"/>
                </a:lnTo>
                <a:lnTo>
                  <a:pt x="0" y="0"/>
                </a:lnTo>
                <a:lnTo>
                  <a:pt x="38771" y="4451"/>
                </a:lnTo>
                <a:lnTo>
                  <a:pt x="57687" y="5127"/>
                </a:lnTo>
                <a:lnTo>
                  <a:pt x="57687" y="4736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2" name="Illustrative delivered road transport cost class 1; reference terminal Lesedi"/>
          <p:cNvSpPr/>
          <p:nvPr/>
        </p:nvSpPr>
        <p:spPr>
          <a:xfrm>
            <a:off x="5253756" y="3306143"/>
            <a:ext cx="8016" cy="4988"/>
          </a:xfrm>
          <a:custGeom>
            <a:avLst/>
            <a:gdLst/>
            <a:ahLst/>
            <a:cxnLst/>
            <a:rect l="l" t="t" r="r" b="b"/>
            <a:pathLst>
              <a:path w="8016" h="4988">
                <a:moveTo>
                  <a:pt x="8016" y="0"/>
                </a:moveTo>
                <a:lnTo>
                  <a:pt x="8016" y="4988"/>
                </a:lnTo>
                <a:lnTo>
                  <a:pt x="0" y="0"/>
                </a:lnTo>
                <a:lnTo>
                  <a:pt x="8016"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3" name="Illustrative delivered road transport cost class 1; reference terminal Lesedi"/>
          <p:cNvSpPr/>
          <p:nvPr/>
        </p:nvSpPr>
        <p:spPr>
          <a:xfrm>
            <a:off x="5204085" y="3248456"/>
            <a:ext cx="57687" cy="57687"/>
          </a:xfrm>
          <a:custGeom>
            <a:avLst/>
            <a:gdLst/>
            <a:ahLst/>
            <a:cxnLst/>
            <a:rect l="l" t="t" r="r" b="b"/>
            <a:pathLst>
              <a:path w="57687" h="57687">
                <a:moveTo>
                  <a:pt x="0" y="0"/>
                </a:moveTo>
                <a:lnTo>
                  <a:pt x="57687" y="0"/>
                </a:lnTo>
                <a:lnTo>
                  <a:pt x="57687" y="57687"/>
                </a:lnTo>
                <a:lnTo>
                  <a:pt x="49671" y="57687"/>
                </a:lnTo>
                <a:lnTo>
                  <a:pt x="35018" y="48569"/>
                </a:lnTo>
                <a:lnTo>
                  <a:pt x="0" y="25216"/>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4" name="Illustrative delivered road transport cost class 1; reference terminal Lesedi"/>
          <p:cNvSpPr/>
          <p:nvPr/>
        </p:nvSpPr>
        <p:spPr>
          <a:xfrm>
            <a:off x="5204085" y="319077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5" name="Illustrative delivered road transport cost class 1; reference terminal Lesedi"/>
          <p:cNvSpPr/>
          <p:nvPr/>
        </p:nvSpPr>
        <p:spPr>
          <a:xfrm>
            <a:off x="5204085"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6" name="Illustrative delivered road transport cost class 1; reference terminal Lesedi"/>
          <p:cNvSpPr/>
          <p:nvPr/>
        </p:nvSpPr>
        <p:spPr>
          <a:xfrm>
            <a:off x="5204085"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7" name="Illustrative delivered road transport cost class 1; reference terminal Lesedi"/>
          <p:cNvSpPr/>
          <p:nvPr/>
        </p:nvSpPr>
        <p:spPr>
          <a:xfrm>
            <a:off x="5204085"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8" name="Illustrative delivered road transport cost class 1; reference terminal Lesedi"/>
          <p:cNvSpPr/>
          <p:nvPr/>
        </p:nvSpPr>
        <p:spPr>
          <a:xfrm>
            <a:off x="5204085"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59" name="Illustrative delivered road transport cost class None; reference terminal None"/>
          <p:cNvSpPr/>
          <p:nvPr/>
        </p:nvSpPr>
        <p:spPr>
          <a:xfrm>
            <a:off x="5204085"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0" name="Illustrative delivered road transport cost class None; reference terminal None"/>
          <p:cNvSpPr/>
          <p:nvPr/>
        </p:nvSpPr>
        <p:spPr>
          <a:xfrm>
            <a:off x="5204085" y="2844650"/>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1" name="Illustrative delivered road transport cost class None; reference terminal None"/>
          <p:cNvSpPr/>
          <p:nvPr/>
        </p:nvSpPr>
        <p:spPr>
          <a:xfrm>
            <a:off x="5204085" y="2786964"/>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2" name="Illustrative delivered road transport cost class None; reference terminal None"/>
          <p:cNvSpPr/>
          <p:nvPr/>
        </p:nvSpPr>
        <p:spPr>
          <a:xfrm>
            <a:off x="5204085" y="2729277"/>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3" name="Illustrative delivered road transport cost class None; reference terminal None"/>
          <p:cNvSpPr/>
          <p:nvPr/>
        </p:nvSpPr>
        <p:spPr>
          <a:xfrm>
            <a:off x="5204085" y="2671590"/>
            <a:ext cx="57687" cy="57687"/>
          </a:xfrm>
          <a:custGeom>
            <a:avLst/>
            <a:gdLst/>
            <a:ahLst/>
            <a:cxnLst/>
            <a:rect l="l" t="t" r="r" b="b"/>
            <a:pathLst>
              <a:path w="57687" h="57687">
                <a:moveTo>
                  <a:pt x="57687" y="57687"/>
                </a:moveTo>
                <a:lnTo>
                  <a:pt x="0" y="57687"/>
                </a:lnTo>
                <a:lnTo>
                  <a:pt x="0" y="0"/>
                </a:lnTo>
                <a:lnTo>
                  <a:pt x="40358" y="0"/>
                </a:lnTo>
                <a:lnTo>
                  <a:pt x="40331" y="447"/>
                </a:lnTo>
                <a:lnTo>
                  <a:pt x="43386" y="15080"/>
                </a:lnTo>
                <a:lnTo>
                  <a:pt x="56278" y="33836"/>
                </a:lnTo>
                <a:lnTo>
                  <a:pt x="57687" y="36774"/>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4" name="Illustrative delivered road transport cost class None; reference terminal None"/>
          <p:cNvSpPr/>
          <p:nvPr/>
        </p:nvSpPr>
        <p:spPr>
          <a:xfrm>
            <a:off x="5204085" y="2613904"/>
            <a:ext cx="42599" cy="57686"/>
          </a:xfrm>
          <a:custGeom>
            <a:avLst/>
            <a:gdLst/>
            <a:ahLst/>
            <a:cxnLst/>
            <a:rect l="l" t="t" r="r" b="b"/>
            <a:pathLst>
              <a:path w="42599" h="57686">
                <a:moveTo>
                  <a:pt x="0" y="57686"/>
                </a:moveTo>
                <a:lnTo>
                  <a:pt x="0" y="0"/>
                </a:lnTo>
                <a:lnTo>
                  <a:pt x="38866" y="0"/>
                </a:lnTo>
                <a:lnTo>
                  <a:pt x="42599" y="20814"/>
                </a:lnTo>
                <a:lnTo>
                  <a:pt x="40358"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5" name="Illustrative delivered road transport cost class None; reference terminal None"/>
          <p:cNvSpPr/>
          <p:nvPr/>
        </p:nvSpPr>
        <p:spPr>
          <a:xfrm>
            <a:off x="5204085" y="2556217"/>
            <a:ext cx="38866" cy="57687"/>
          </a:xfrm>
          <a:custGeom>
            <a:avLst/>
            <a:gdLst/>
            <a:ahLst/>
            <a:cxnLst/>
            <a:rect l="l" t="t" r="r" b="b"/>
            <a:pathLst>
              <a:path w="38866" h="57687">
                <a:moveTo>
                  <a:pt x="0" y="57687"/>
                </a:moveTo>
                <a:lnTo>
                  <a:pt x="0" y="0"/>
                </a:lnTo>
                <a:lnTo>
                  <a:pt x="28510" y="0"/>
                </a:lnTo>
                <a:lnTo>
                  <a:pt x="30424" y="10620"/>
                </a:lnTo>
                <a:lnTo>
                  <a:pt x="38866"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6" name="Illustrative delivered road transport cost class None; reference terminal None"/>
          <p:cNvSpPr/>
          <p:nvPr/>
        </p:nvSpPr>
        <p:spPr>
          <a:xfrm>
            <a:off x="5204085" y="2498531"/>
            <a:ext cx="28510" cy="57686"/>
          </a:xfrm>
          <a:custGeom>
            <a:avLst/>
            <a:gdLst/>
            <a:ahLst/>
            <a:cxnLst/>
            <a:rect l="l" t="t" r="r" b="b"/>
            <a:pathLst>
              <a:path w="28510" h="57686">
                <a:moveTo>
                  <a:pt x="0" y="57686"/>
                </a:moveTo>
                <a:lnTo>
                  <a:pt x="0" y="0"/>
                </a:lnTo>
                <a:lnTo>
                  <a:pt x="16451" y="0"/>
                </a:lnTo>
                <a:lnTo>
                  <a:pt x="21505" y="18825"/>
                </a:lnTo>
                <a:lnTo>
                  <a:pt x="28510"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7" name="Illustrative delivered road transport cost class None; reference terminal None"/>
          <p:cNvSpPr/>
          <p:nvPr/>
        </p:nvSpPr>
        <p:spPr>
          <a:xfrm>
            <a:off x="5204085" y="2440844"/>
            <a:ext cx="16451" cy="57687"/>
          </a:xfrm>
          <a:custGeom>
            <a:avLst/>
            <a:gdLst/>
            <a:ahLst/>
            <a:cxnLst/>
            <a:rect l="l" t="t" r="r" b="b"/>
            <a:pathLst>
              <a:path w="16451" h="57687">
                <a:moveTo>
                  <a:pt x="0" y="57687"/>
                </a:moveTo>
                <a:lnTo>
                  <a:pt x="0" y="0"/>
                </a:lnTo>
                <a:lnTo>
                  <a:pt x="921" y="0"/>
                </a:lnTo>
                <a:lnTo>
                  <a:pt x="7056" y="22690"/>
                </a:lnTo>
                <a:lnTo>
                  <a:pt x="16451"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8" name="Illustrative delivered road transport cost class 0; reference terminal Durban"/>
          <p:cNvSpPr/>
          <p:nvPr/>
        </p:nvSpPr>
        <p:spPr>
          <a:xfrm>
            <a:off x="5261772" y="4056068"/>
            <a:ext cx="29918" cy="18855"/>
          </a:xfrm>
          <a:custGeom>
            <a:avLst/>
            <a:gdLst/>
            <a:ahLst/>
            <a:cxnLst/>
            <a:rect l="l" t="t" r="r" b="b"/>
            <a:pathLst>
              <a:path w="29918" h="18855">
                <a:moveTo>
                  <a:pt x="0" y="0"/>
                </a:moveTo>
                <a:lnTo>
                  <a:pt x="29918" y="0"/>
                </a:lnTo>
                <a:lnTo>
                  <a:pt x="23193" y="5720"/>
                </a:lnTo>
                <a:lnTo>
                  <a:pt x="6396" y="16079"/>
                </a:lnTo>
                <a:lnTo>
                  <a:pt x="0" y="18855"/>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69" name="Illustrative delivered road transport cost class 0; reference terminal Durban"/>
          <p:cNvSpPr/>
          <p:nvPr/>
        </p:nvSpPr>
        <p:spPr>
          <a:xfrm>
            <a:off x="5261772" y="3998382"/>
            <a:ext cx="57687" cy="57686"/>
          </a:xfrm>
          <a:custGeom>
            <a:avLst/>
            <a:gdLst/>
            <a:ahLst/>
            <a:cxnLst/>
            <a:rect l="l" t="t" r="r" b="b"/>
            <a:pathLst>
              <a:path w="57687" h="57686">
                <a:moveTo>
                  <a:pt x="0" y="57686"/>
                </a:moveTo>
                <a:lnTo>
                  <a:pt x="0" y="0"/>
                </a:lnTo>
                <a:lnTo>
                  <a:pt x="57687" y="0"/>
                </a:lnTo>
                <a:lnTo>
                  <a:pt x="57687" y="34068"/>
                </a:lnTo>
                <a:lnTo>
                  <a:pt x="29918"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0" name="Illustrative delivered road transport cost class 0; reference terminal Durban"/>
          <p:cNvSpPr/>
          <p:nvPr/>
        </p:nvSpPr>
        <p:spPr>
          <a:xfrm>
            <a:off x="5261772" y="394069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1" name="Illustrative delivered road transport cost class 0; reference terminal Durban"/>
          <p:cNvSpPr/>
          <p:nvPr/>
        </p:nvSpPr>
        <p:spPr>
          <a:xfrm>
            <a:off x="5261772" y="3883008"/>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2" name="Illustrative delivered road transport cost class 0; reference terminal Durban"/>
          <p:cNvSpPr/>
          <p:nvPr/>
        </p:nvSpPr>
        <p:spPr>
          <a:xfrm>
            <a:off x="5261772" y="3825322"/>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3" name="Illustrative delivered road transport cost class 0; reference terminal Durban"/>
          <p:cNvSpPr/>
          <p:nvPr/>
        </p:nvSpPr>
        <p:spPr>
          <a:xfrm>
            <a:off x="5261772" y="3767635"/>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4" name="Illustrative delivered road transport cost class 0; reference terminal Durban"/>
          <p:cNvSpPr/>
          <p:nvPr/>
        </p:nvSpPr>
        <p:spPr>
          <a:xfrm>
            <a:off x="5261772"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5" name="Illustrative delivered road transport cost class 1; reference terminal Durban"/>
          <p:cNvSpPr/>
          <p:nvPr/>
        </p:nvSpPr>
        <p:spPr>
          <a:xfrm>
            <a:off x="5261772" y="3652262"/>
            <a:ext cx="57687" cy="57687"/>
          </a:xfrm>
          <a:custGeom>
            <a:avLst/>
            <a:gdLst/>
            <a:ahLst/>
            <a:cxnLst/>
            <a:rect l="l" t="t" r="r" b="b"/>
            <a:pathLst>
              <a:path w="57687" h="57687">
                <a:moveTo>
                  <a:pt x="57687" y="0"/>
                </a:moveTo>
                <a:lnTo>
                  <a:pt x="57687" y="57687"/>
                </a:lnTo>
                <a:lnTo>
                  <a:pt x="0" y="57687"/>
                </a:lnTo>
                <a:lnTo>
                  <a:pt x="0" y="15452"/>
                </a:lnTo>
                <a:lnTo>
                  <a:pt x="30293" y="16534"/>
                </a:lnTo>
                <a:lnTo>
                  <a:pt x="29855" y="0"/>
                </a:lnTo>
                <a:lnTo>
                  <a:pt x="57687"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6" name="Illustrative delivered road transport cost class 1; reference terminal Durban"/>
          <p:cNvSpPr/>
          <p:nvPr/>
        </p:nvSpPr>
        <p:spPr>
          <a:xfrm>
            <a:off x="5291165" y="3594576"/>
            <a:ext cx="28294" cy="57686"/>
          </a:xfrm>
          <a:custGeom>
            <a:avLst/>
            <a:gdLst/>
            <a:ahLst/>
            <a:cxnLst/>
            <a:rect l="l" t="t" r="r" b="b"/>
            <a:pathLst>
              <a:path w="28294" h="57686">
                <a:moveTo>
                  <a:pt x="28294" y="0"/>
                </a:moveTo>
                <a:lnTo>
                  <a:pt x="28294" y="57686"/>
                </a:lnTo>
                <a:lnTo>
                  <a:pt x="462" y="57686"/>
                </a:lnTo>
                <a:lnTo>
                  <a:pt x="0" y="40259"/>
                </a:lnTo>
                <a:lnTo>
                  <a:pt x="5849" y="0"/>
                </a:lnTo>
                <a:lnTo>
                  <a:pt x="28294"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7" name="Illustrative delivered road transport cost class 1; reference terminal Durban"/>
          <p:cNvSpPr/>
          <p:nvPr/>
        </p:nvSpPr>
        <p:spPr>
          <a:xfrm>
            <a:off x="5297014" y="3543224"/>
            <a:ext cx="22445" cy="51352"/>
          </a:xfrm>
          <a:custGeom>
            <a:avLst/>
            <a:gdLst/>
            <a:ahLst/>
            <a:cxnLst/>
            <a:rect l="l" t="t" r="r" b="b"/>
            <a:pathLst>
              <a:path w="22445" h="51352">
                <a:moveTo>
                  <a:pt x="22445" y="51352"/>
                </a:moveTo>
                <a:lnTo>
                  <a:pt x="0" y="51352"/>
                </a:lnTo>
                <a:lnTo>
                  <a:pt x="2019" y="37449"/>
                </a:lnTo>
                <a:lnTo>
                  <a:pt x="10365" y="1222"/>
                </a:lnTo>
                <a:lnTo>
                  <a:pt x="17336" y="0"/>
                </a:lnTo>
                <a:lnTo>
                  <a:pt x="22445" y="1698"/>
                </a:lnTo>
                <a:lnTo>
                  <a:pt x="22445" y="51352"/>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8" name="Illustrative delivered road transport cost class 1; reference terminal Lesedi"/>
          <p:cNvSpPr/>
          <p:nvPr/>
        </p:nvSpPr>
        <p:spPr>
          <a:xfrm>
            <a:off x="5261772" y="3306143"/>
            <a:ext cx="47082" cy="23070"/>
          </a:xfrm>
          <a:custGeom>
            <a:avLst/>
            <a:gdLst/>
            <a:ahLst/>
            <a:cxnLst/>
            <a:rect l="l" t="t" r="r" b="b"/>
            <a:pathLst>
              <a:path w="47082" h="23070">
                <a:moveTo>
                  <a:pt x="0" y="0"/>
                </a:moveTo>
                <a:lnTo>
                  <a:pt x="43645" y="0"/>
                </a:lnTo>
                <a:lnTo>
                  <a:pt x="47082" y="17939"/>
                </a:lnTo>
                <a:lnTo>
                  <a:pt x="40806" y="20433"/>
                </a:lnTo>
                <a:lnTo>
                  <a:pt x="29060" y="23070"/>
                </a:lnTo>
                <a:lnTo>
                  <a:pt x="0" y="498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79" name="Illustrative delivered road transport cost class 1; reference terminal Lesedi"/>
          <p:cNvSpPr/>
          <p:nvPr/>
        </p:nvSpPr>
        <p:spPr>
          <a:xfrm>
            <a:off x="5261772" y="3248456"/>
            <a:ext cx="56621" cy="57687"/>
          </a:xfrm>
          <a:custGeom>
            <a:avLst/>
            <a:gdLst/>
            <a:ahLst/>
            <a:cxnLst/>
            <a:rect l="l" t="t" r="r" b="b"/>
            <a:pathLst>
              <a:path w="56621" h="57687">
                <a:moveTo>
                  <a:pt x="0" y="57687"/>
                </a:moveTo>
                <a:lnTo>
                  <a:pt x="0" y="0"/>
                </a:lnTo>
                <a:lnTo>
                  <a:pt x="56621" y="0"/>
                </a:lnTo>
                <a:lnTo>
                  <a:pt x="43187" y="28320"/>
                </a:lnTo>
                <a:lnTo>
                  <a:pt x="43493" y="56897"/>
                </a:lnTo>
                <a:lnTo>
                  <a:pt x="4364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0" name="Illustrative delivered road transport cost class 1; reference terminal Lesedi"/>
          <p:cNvSpPr/>
          <p:nvPr/>
        </p:nvSpPr>
        <p:spPr>
          <a:xfrm>
            <a:off x="5261772" y="3190770"/>
            <a:ext cx="57687" cy="57686"/>
          </a:xfrm>
          <a:custGeom>
            <a:avLst/>
            <a:gdLst/>
            <a:ahLst/>
            <a:cxnLst/>
            <a:rect l="l" t="t" r="r" b="b"/>
            <a:pathLst>
              <a:path w="57687" h="57686">
                <a:moveTo>
                  <a:pt x="0" y="57686"/>
                </a:moveTo>
                <a:lnTo>
                  <a:pt x="0" y="0"/>
                </a:lnTo>
                <a:lnTo>
                  <a:pt x="57687" y="0"/>
                </a:lnTo>
                <a:lnTo>
                  <a:pt x="57687" y="55440"/>
                </a:lnTo>
                <a:lnTo>
                  <a:pt x="56621"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1" name="Illustrative delivered road transport cost class 1; reference terminal Lesedi"/>
          <p:cNvSpPr/>
          <p:nvPr/>
        </p:nvSpPr>
        <p:spPr>
          <a:xfrm>
            <a:off x="5261772" y="313308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2" name="Illustrative delivered road transport cost class 1; reference terminal Lesedi"/>
          <p:cNvSpPr/>
          <p:nvPr/>
        </p:nvSpPr>
        <p:spPr>
          <a:xfrm>
            <a:off x="5261772" y="3075396"/>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3" name="Illustrative delivered road transport cost class 1; reference terminal Lesedi"/>
          <p:cNvSpPr/>
          <p:nvPr/>
        </p:nvSpPr>
        <p:spPr>
          <a:xfrm>
            <a:off x="5261772" y="3017710"/>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4" name="Illustrative delivered road transport cost class 1; reference terminal Lesedi"/>
          <p:cNvSpPr/>
          <p:nvPr/>
        </p:nvSpPr>
        <p:spPr>
          <a:xfrm>
            <a:off x="5261772" y="2960023"/>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5" name="Illustrative delivered road transport cost class None; reference terminal None"/>
          <p:cNvSpPr/>
          <p:nvPr/>
        </p:nvSpPr>
        <p:spPr>
          <a:xfrm>
            <a:off x="5261772" y="2902337"/>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6" name="Illustrative delivered road transport cost class None; reference terminal None"/>
          <p:cNvSpPr/>
          <p:nvPr/>
        </p:nvSpPr>
        <p:spPr>
          <a:xfrm>
            <a:off x="5261772" y="2844650"/>
            <a:ext cx="57687" cy="57687"/>
          </a:xfrm>
          <a:custGeom>
            <a:avLst/>
            <a:gdLst/>
            <a:ahLst/>
            <a:cxnLst/>
            <a:rect l="l" t="t" r="r" b="b"/>
            <a:pathLst>
              <a:path w="57687" h="57687">
                <a:moveTo>
                  <a:pt x="57687" y="57687"/>
                </a:moveTo>
                <a:lnTo>
                  <a:pt x="0" y="57687"/>
                </a:lnTo>
                <a:lnTo>
                  <a:pt x="0" y="0"/>
                </a:lnTo>
                <a:lnTo>
                  <a:pt x="54116" y="0"/>
                </a:lnTo>
                <a:lnTo>
                  <a:pt x="57687" y="19985"/>
                </a:lnTo>
                <a:lnTo>
                  <a:pt x="57687"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7" name="Illustrative delivered road transport cost class None; reference terminal None"/>
          <p:cNvSpPr/>
          <p:nvPr/>
        </p:nvSpPr>
        <p:spPr>
          <a:xfrm>
            <a:off x="5261772" y="2786964"/>
            <a:ext cx="54116" cy="57686"/>
          </a:xfrm>
          <a:custGeom>
            <a:avLst/>
            <a:gdLst/>
            <a:ahLst/>
            <a:cxnLst/>
            <a:rect l="l" t="t" r="r" b="b"/>
            <a:pathLst>
              <a:path w="54116" h="57686">
                <a:moveTo>
                  <a:pt x="0" y="57686"/>
                </a:moveTo>
                <a:lnTo>
                  <a:pt x="0" y="0"/>
                </a:lnTo>
                <a:lnTo>
                  <a:pt x="35399" y="0"/>
                </a:lnTo>
                <a:lnTo>
                  <a:pt x="40218" y="7573"/>
                </a:lnTo>
                <a:lnTo>
                  <a:pt x="52053" y="46139"/>
                </a:lnTo>
                <a:lnTo>
                  <a:pt x="54116"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8" name="Illustrative delivered road transport cost class None; reference terminal None"/>
          <p:cNvSpPr/>
          <p:nvPr/>
        </p:nvSpPr>
        <p:spPr>
          <a:xfrm>
            <a:off x="5261772" y="2729277"/>
            <a:ext cx="35399" cy="57687"/>
          </a:xfrm>
          <a:custGeom>
            <a:avLst/>
            <a:gdLst/>
            <a:ahLst/>
            <a:cxnLst/>
            <a:rect l="l" t="t" r="r" b="b"/>
            <a:pathLst>
              <a:path w="35399" h="57687">
                <a:moveTo>
                  <a:pt x="0" y="57687"/>
                </a:moveTo>
                <a:lnTo>
                  <a:pt x="0" y="0"/>
                </a:lnTo>
                <a:lnTo>
                  <a:pt x="10034" y="0"/>
                </a:lnTo>
                <a:lnTo>
                  <a:pt x="13880" y="8018"/>
                </a:lnTo>
                <a:lnTo>
                  <a:pt x="18746" y="25906"/>
                </a:lnTo>
                <a:lnTo>
                  <a:pt x="23734" y="39353"/>
                </a:lnTo>
                <a:lnTo>
                  <a:pt x="35399" y="57687"/>
                </a:lnTo>
                <a:lnTo>
                  <a:pt x="0" y="57687"/>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89" name="Illustrative delivered road transport cost class None; reference terminal None"/>
          <p:cNvSpPr/>
          <p:nvPr/>
        </p:nvSpPr>
        <p:spPr>
          <a:xfrm>
            <a:off x="5261772" y="2708364"/>
            <a:ext cx="10034" cy="20913"/>
          </a:xfrm>
          <a:custGeom>
            <a:avLst/>
            <a:gdLst/>
            <a:ahLst/>
            <a:cxnLst/>
            <a:rect l="l" t="t" r="r" b="b"/>
            <a:pathLst>
              <a:path w="10034" h="20913">
                <a:moveTo>
                  <a:pt x="0" y="20913"/>
                </a:moveTo>
                <a:lnTo>
                  <a:pt x="0" y="0"/>
                </a:lnTo>
                <a:lnTo>
                  <a:pt x="10034" y="20913"/>
                </a:lnTo>
                <a:lnTo>
                  <a:pt x="0" y="20913"/>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0" name="Illustrative delivered road transport cost class 0; reference terminal Durban"/>
          <p:cNvSpPr/>
          <p:nvPr/>
        </p:nvSpPr>
        <p:spPr>
          <a:xfrm>
            <a:off x="5319459" y="3998382"/>
            <a:ext cx="35067" cy="34068"/>
          </a:xfrm>
          <a:custGeom>
            <a:avLst/>
            <a:gdLst/>
            <a:ahLst/>
            <a:cxnLst/>
            <a:rect l="l" t="t" r="r" b="b"/>
            <a:pathLst>
              <a:path w="35067" h="34068">
                <a:moveTo>
                  <a:pt x="0" y="0"/>
                </a:moveTo>
                <a:lnTo>
                  <a:pt x="35067" y="0"/>
                </a:lnTo>
                <a:lnTo>
                  <a:pt x="26933" y="11159"/>
                </a:lnTo>
                <a:lnTo>
                  <a:pt x="0" y="34068"/>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1" name="Illustrative delivered road transport cost class 0; reference terminal Durban"/>
          <p:cNvSpPr/>
          <p:nvPr/>
        </p:nvSpPr>
        <p:spPr>
          <a:xfrm>
            <a:off x="5319459" y="3940695"/>
            <a:ext cx="57686" cy="57687"/>
          </a:xfrm>
          <a:custGeom>
            <a:avLst/>
            <a:gdLst/>
            <a:ahLst/>
            <a:cxnLst/>
            <a:rect l="l" t="t" r="r" b="b"/>
            <a:pathLst>
              <a:path w="57686" h="57687">
                <a:moveTo>
                  <a:pt x="0" y="57687"/>
                </a:moveTo>
                <a:lnTo>
                  <a:pt x="0" y="0"/>
                </a:lnTo>
                <a:lnTo>
                  <a:pt x="57686" y="0"/>
                </a:lnTo>
                <a:lnTo>
                  <a:pt x="57686" y="22764"/>
                </a:lnTo>
                <a:lnTo>
                  <a:pt x="48992" y="38582"/>
                </a:lnTo>
                <a:lnTo>
                  <a:pt x="35067"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2" name="Illustrative delivered road transport cost class 0; reference terminal Durban"/>
          <p:cNvSpPr/>
          <p:nvPr/>
        </p:nvSpPr>
        <p:spPr>
          <a:xfrm>
            <a:off x="5319459" y="3883008"/>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3" name="Illustrative delivered road transport cost class 0; reference terminal Durban"/>
          <p:cNvSpPr/>
          <p:nvPr/>
        </p:nvSpPr>
        <p:spPr>
          <a:xfrm>
            <a:off x="5319459" y="3825322"/>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4" name="Illustrative delivered road transport cost class 0; reference terminal Durban"/>
          <p:cNvSpPr/>
          <p:nvPr/>
        </p:nvSpPr>
        <p:spPr>
          <a:xfrm>
            <a:off x="5319459" y="3767635"/>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5" name="Illustrative delivered road transport cost class 1; reference terminal Durban"/>
          <p:cNvSpPr/>
          <p:nvPr/>
        </p:nvSpPr>
        <p:spPr>
          <a:xfrm>
            <a:off x="5319459" y="3709949"/>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6" name="Illustrative delivered road transport cost class 1; reference terminal Durban"/>
          <p:cNvSpPr/>
          <p:nvPr/>
        </p:nvSpPr>
        <p:spPr>
          <a:xfrm>
            <a:off x="5319459" y="3652262"/>
            <a:ext cx="57686" cy="57687"/>
          </a:xfrm>
          <a:custGeom>
            <a:avLst/>
            <a:gdLst/>
            <a:ahLst/>
            <a:cxnLst/>
            <a:rect l="l" t="t" r="r" b="b"/>
            <a:pathLst>
              <a:path w="57686" h="57687">
                <a:moveTo>
                  <a:pt x="0" y="57687"/>
                </a:moveTo>
                <a:lnTo>
                  <a:pt x="0" y="0"/>
                </a:lnTo>
                <a:lnTo>
                  <a:pt x="57686" y="0"/>
                </a:lnTo>
                <a:lnTo>
                  <a:pt x="5768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7" name="Illustrative delivered road transport cost class 1; reference terminal Durban"/>
          <p:cNvSpPr/>
          <p:nvPr/>
        </p:nvSpPr>
        <p:spPr>
          <a:xfrm>
            <a:off x="5319459" y="3594576"/>
            <a:ext cx="57686" cy="57686"/>
          </a:xfrm>
          <a:custGeom>
            <a:avLst/>
            <a:gdLst/>
            <a:ahLst/>
            <a:cxnLst/>
            <a:rect l="l" t="t" r="r" b="b"/>
            <a:pathLst>
              <a:path w="57686" h="57686">
                <a:moveTo>
                  <a:pt x="0" y="57686"/>
                </a:moveTo>
                <a:lnTo>
                  <a:pt x="0" y="0"/>
                </a:lnTo>
                <a:lnTo>
                  <a:pt x="57686" y="0"/>
                </a:lnTo>
                <a:lnTo>
                  <a:pt x="57686"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8" name="Illustrative delivered road transport cost class 1; reference terminal Durban"/>
          <p:cNvSpPr/>
          <p:nvPr/>
        </p:nvSpPr>
        <p:spPr>
          <a:xfrm>
            <a:off x="5319459" y="3544922"/>
            <a:ext cx="57686" cy="49654"/>
          </a:xfrm>
          <a:custGeom>
            <a:avLst/>
            <a:gdLst/>
            <a:ahLst/>
            <a:cxnLst/>
            <a:rect l="l" t="t" r="r" b="b"/>
            <a:pathLst>
              <a:path w="57686" h="49654">
                <a:moveTo>
                  <a:pt x="57686" y="49654"/>
                </a:moveTo>
                <a:lnTo>
                  <a:pt x="0" y="49654"/>
                </a:lnTo>
                <a:lnTo>
                  <a:pt x="0" y="0"/>
                </a:lnTo>
                <a:lnTo>
                  <a:pt x="7692" y="2558"/>
                </a:lnTo>
                <a:lnTo>
                  <a:pt x="14625" y="6723"/>
                </a:lnTo>
                <a:lnTo>
                  <a:pt x="34541" y="6379"/>
                </a:lnTo>
                <a:lnTo>
                  <a:pt x="57686" y="12580"/>
                </a:lnTo>
                <a:lnTo>
                  <a:pt x="57686" y="4965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99" name="Illustrative delivered road transport cost class 1; reference terminal Lesedi"/>
          <p:cNvSpPr/>
          <p:nvPr/>
        </p:nvSpPr>
        <p:spPr>
          <a:xfrm>
            <a:off x="5319459" y="3190770"/>
            <a:ext cx="4173" cy="55440"/>
          </a:xfrm>
          <a:custGeom>
            <a:avLst/>
            <a:gdLst/>
            <a:ahLst/>
            <a:cxnLst/>
            <a:rect l="l" t="t" r="r" b="b"/>
            <a:pathLst>
              <a:path w="4173" h="55440">
                <a:moveTo>
                  <a:pt x="0" y="0"/>
                </a:moveTo>
                <a:lnTo>
                  <a:pt x="4173" y="0"/>
                </a:lnTo>
                <a:lnTo>
                  <a:pt x="2308" y="50574"/>
                </a:lnTo>
                <a:lnTo>
                  <a:pt x="0" y="55440"/>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0" name="Illustrative delivered road transport cost class 1; reference terminal Lesedi"/>
          <p:cNvSpPr/>
          <p:nvPr/>
        </p:nvSpPr>
        <p:spPr>
          <a:xfrm>
            <a:off x="5319459" y="3133083"/>
            <a:ext cx="8638" cy="57687"/>
          </a:xfrm>
          <a:custGeom>
            <a:avLst/>
            <a:gdLst/>
            <a:ahLst/>
            <a:cxnLst/>
            <a:rect l="l" t="t" r="r" b="b"/>
            <a:pathLst>
              <a:path w="8638" h="57687">
                <a:moveTo>
                  <a:pt x="0" y="57687"/>
                </a:moveTo>
                <a:lnTo>
                  <a:pt x="0" y="0"/>
                </a:lnTo>
                <a:lnTo>
                  <a:pt x="8638" y="0"/>
                </a:lnTo>
                <a:lnTo>
                  <a:pt x="7964" y="14155"/>
                </a:lnTo>
                <a:lnTo>
                  <a:pt x="4878" y="38579"/>
                </a:lnTo>
                <a:lnTo>
                  <a:pt x="4173"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1" name="Illustrative delivered road transport cost class 1; reference terminal Lesedi"/>
          <p:cNvSpPr/>
          <p:nvPr/>
        </p:nvSpPr>
        <p:spPr>
          <a:xfrm>
            <a:off x="5319459" y="3075396"/>
            <a:ext cx="11392" cy="57687"/>
          </a:xfrm>
          <a:custGeom>
            <a:avLst/>
            <a:gdLst/>
            <a:ahLst/>
            <a:cxnLst/>
            <a:rect l="l" t="t" r="r" b="b"/>
            <a:pathLst>
              <a:path w="11392" h="57687">
                <a:moveTo>
                  <a:pt x="0" y="57687"/>
                </a:moveTo>
                <a:lnTo>
                  <a:pt x="0" y="0"/>
                </a:lnTo>
                <a:lnTo>
                  <a:pt x="11392" y="0"/>
                </a:lnTo>
                <a:lnTo>
                  <a:pt x="10271" y="23375"/>
                </a:lnTo>
                <a:lnTo>
                  <a:pt x="8638"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2" name="Illustrative delivered road transport cost class 1; reference terminal Lesedi"/>
          <p:cNvSpPr/>
          <p:nvPr/>
        </p:nvSpPr>
        <p:spPr>
          <a:xfrm>
            <a:off x="5319459" y="3017710"/>
            <a:ext cx="14156" cy="57686"/>
          </a:xfrm>
          <a:custGeom>
            <a:avLst/>
            <a:gdLst/>
            <a:ahLst/>
            <a:cxnLst/>
            <a:rect l="l" t="t" r="r" b="b"/>
            <a:pathLst>
              <a:path w="14156" h="57686">
                <a:moveTo>
                  <a:pt x="0" y="57686"/>
                </a:moveTo>
                <a:lnTo>
                  <a:pt x="0" y="0"/>
                </a:lnTo>
                <a:lnTo>
                  <a:pt x="14156" y="0"/>
                </a:lnTo>
                <a:lnTo>
                  <a:pt x="13087" y="22344"/>
                </a:lnTo>
                <a:lnTo>
                  <a:pt x="11392"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3" name="Illustrative delivered road transport cost class 1; reference terminal Lesedi"/>
          <p:cNvSpPr/>
          <p:nvPr/>
        </p:nvSpPr>
        <p:spPr>
          <a:xfrm>
            <a:off x="5319459" y="2960023"/>
            <a:ext cx="17427" cy="57687"/>
          </a:xfrm>
          <a:custGeom>
            <a:avLst/>
            <a:gdLst/>
            <a:ahLst/>
            <a:cxnLst/>
            <a:rect l="l" t="t" r="r" b="b"/>
            <a:pathLst>
              <a:path w="17427" h="57687">
                <a:moveTo>
                  <a:pt x="0" y="57687"/>
                </a:moveTo>
                <a:lnTo>
                  <a:pt x="0" y="0"/>
                </a:lnTo>
                <a:lnTo>
                  <a:pt x="17427" y="0"/>
                </a:lnTo>
                <a:lnTo>
                  <a:pt x="15603" y="27458"/>
                </a:lnTo>
                <a:lnTo>
                  <a:pt x="14156"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4" name="Illustrative delivered road transport cost class None; reference terminal None"/>
          <p:cNvSpPr/>
          <p:nvPr/>
        </p:nvSpPr>
        <p:spPr>
          <a:xfrm>
            <a:off x="5319459" y="2902337"/>
            <a:ext cx="18614" cy="57686"/>
          </a:xfrm>
          <a:custGeom>
            <a:avLst/>
            <a:gdLst/>
            <a:ahLst/>
            <a:cxnLst/>
            <a:rect l="l" t="t" r="r" b="b"/>
            <a:pathLst>
              <a:path w="18614" h="57686">
                <a:moveTo>
                  <a:pt x="0" y="57686"/>
                </a:moveTo>
                <a:lnTo>
                  <a:pt x="0" y="0"/>
                </a:lnTo>
                <a:lnTo>
                  <a:pt x="9987" y="0"/>
                </a:lnTo>
                <a:lnTo>
                  <a:pt x="12128" y="6045"/>
                </a:lnTo>
                <a:lnTo>
                  <a:pt x="15252" y="18054"/>
                </a:lnTo>
                <a:lnTo>
                  <a:pt x="18614" y="39809"/>
                </a:lnTo>
                <a:lnTo>
                  <a:pt x="17427" y="57686"/>
                </a:lnTo>
                <a:lnTo>
                  <a:pt x="0" y="57686"/>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5" name="Illustrative delivered road transport cost class None; reference terminal None"/>
          <p:cNvSpPr/>
          <p:nvPr/>
        </p:nvSpPr>
        <p:spPr>
          <a:xfrm>
            <a:off x="5319459" y="2864635"/>
            <a:ext cx="9987" cy="37702"/>
          </a:xfrm>
          <a:custGeom>
            <a:avLst/>
            <a:gdLst/>
            <a:ahLst/>
            <a:cxnLst/>
            <a:rect l="l" t="t" r="r" b="b"/>
            <a:pathLst>
              <a:path w="9987" h="37702">
                <a:moveTo>
                  <a:pt x="0" y="37702"/>
                </a:moveTo>
                <a:lnTo>
                  <a:pt x="0" y="0"/>
                </a:lnTo>
                <a:lnTo>
                  <a:pt x="3424" y="19169"/>
                </a:lnTo>
                <a:lnTo>
                  <a:pt x="9987" y="37702"/>
                </a:lnTo>
                <a:lnTo>
                  <a:pt x="0" y="37702"/>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6" name="Illustrative delivered road transport cost class 0; reference terminal Durban"/>
          <p:cNvSpPr/>
          <p:nvPr/>
        </p:nvSpPr>
        <p:spPr>
          <a:xfrm>
            <a:off x="5377145" y="3940695"/>
            <a:ext cx="12511" cy="22764"/>
          </a:xfrm>
          <a:custGeom>
            <a:avLst/>
            <a:gdLst/>
            <a:ahLst/>
            <a:cxnLst/>
            <a:rect l="l" t="t" r="r" b="b"/>
            <a:pathLst>
              <a:path w="12511" h="22764">
                <a:moveTo>
                  <a:pt x="0" y="0"/>
                </a:moveTo>
                <a:lnTo>
                  <a:pt x="12511" y="0"/>
                </a:lnTo>
                <a:lnTo>
                  <a:pt x="0" y="22764"/>
                </a:lnTo>
                <a:lnTo>
                  <a:pt x="0" y="0"/>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7" name="Illustrative delivered road transport cost class 0; reference terminal Durban"/>
          <p:cNvSpPr/>
          <p:nvPr/>
        </p:nvSpPr>
        <p:spPr>
          <a:xfrm>
            <a:off x="5377145" y="3883008"/>
            <a:ext cx="37524" cy="57687"/>
          </a:xfrm>
          <a:custGeom>
            <a:avLst/>
            <a:gdLst/>
            <a:ahLst/>
            <a:cxnLst/>
            <a:rect l="l" t="t" r="r" b="b"/>
            <a:pathLst>
              <a:path w="37524" h="57687">
                <a:moveTo>
                  <a:pt x="0" y="57687"/>
                </a:moveTo>
                <a:lnTo>
                  <a:pt x="0" y="0"/>
                </a:lnTo>
                <a:lnTo>
                  <a:pt x="37524" y="0"/>
                </a:lnTo>
                <a:lnTo>
                  <a:pt x="32013" y="22204"/>
                </a:lnTo>
                <a:lnTo>
                  <a:pt x="12511" y="57687"/>
                </a:lnTo>
                <a:lnTo>
                  <a:pt x="0" y="57687"/>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8" name="Illustrative delivered road transport cost class 0; reference terminal Durban"/>
          <p:cNvSpPr/>
          <p:nvPr/>
        </p:nvSpPr>
        <p:spPr>
          <a:xfrm>
            <a:off x="5377145" y="3825322"/>
            <a:ext cx="51840" cy="57686"/>
          </a:xfrm>
          <a:custGeom>
            <a:avLst/>
            <a:gdLst/>
            <a:ahLst/>
            <a:cxnLst/>
            <a:rect l="l" t="t" r="r" b="b"/>
            <a:pathLst>
              <a:path w="51840" h="57686">
                <a:moveTo>
                  <a:pt x="0" y="57686"/>
                </a:moveTo>
                <a:lnTo>
                  <a:pt x="0" y="0"/>
                </a:lnTo>
                <a:lnTo>
                  <a:pt x="51840" y="0"/>
                </a:lnTo>
                <a:lnTo>
                  <a:pt x="37524" y="57686"/>
                </a:lnTo>
                <a:lnTo>
                  <a:pt x="0" y="57686"/>
                </a:lnTo>
                <a:close/>
              </a:path>
            </a:pathLst>
          </a:cu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09" name="Illustrative delivered road transport cost class 1; reference terminal Durban"/>
          <p:cNvSpPr/>
          <p:nvPr/>
        </p:nvSpPr>
        <p:spPr>
          <a:xfrm>
            <a:off x="5377145" y="3767635"/>
            <a:ext cx="57687" cy="57687"/>
          </a:xfrm>
          <a:custGeom>
            <a:avLst/>
            <a:gdLst/>
            <a:ahLst/>
            <a:cxnLst/>
            <a:rect l="l" t="t" r="r" b="b"/>
            <a:pathLst>
              <a:path w="57687" h="57687">
                <a:moveTo>
                  <a:pt x="0" y="57687"/>
                </a:moveTo>
                <a:lnTo>
                  <a:pt x="0" y="0"/>
                </a:lnTo>
                <a:lnTo>
                  <a:pt x="57687" y="0"/>
                </a:lnTo>
                <a:lnTo>
                  <a:pt x="57687" y="34128"/>
                </a:lnTo>
                <a:lnTo>
                  <a:pt x="51840"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0" name="Illustrative delivered road transport cost class 1; reference terminal Durban"/>
          <p:cNvSpPr/>
          <p:nvPr/>
        </p:nvSpPr>
        <p:spPr>
          <a:xfrm>
            <a:off x="5377145" y="3709949"/>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1" name="Illustrative delivered road transport cost class 1; reference terminal Durban"/>
          <p:cNvSpPr/>
          <p:nvPr/>
        </p:nvSpPr>
        <p:spPr>
          <a:xfrm>
            <a:off x="5377145" y="3652262"/>
            <a:ext cx="57687" cy="57687"/>
          </a:xfrm>
          <a:custGeom>
            <a:avLst/>
            <a:gdLst/>
            <a:ahLst/>
            <a:cxnLst/>
            <a:rect l="l" t="t" r="r" b="b"/>
            <a:pathLst>
              <a:path w="57687" h="57687">
                <a:moveTo>
                  <a:pt x="0" y="57687"/>
                </a:moveTo>
                <a:lnTo>
                  <a:pt x="0" y="0"/>
                </a:lnTo>
                <a:lnTo>
                  <a:pt x="57687" y="0"/>
                </a:lnTo>
                <a:lnTo>
                  <a:pt x="57687"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2" name="Illustrative delivered road transport cost class 1; reference terminal Durban"/>
          <p:cNvSpPr/>
          <p:nvPr/>
        </p:nvSpPr>
        <p:spPr>
          <a:xfrm>
            <a:off x="5377145" y="3594576"/>
            <a:ext cx="57687" cy="57686"/>
          </a:xfrm>
          <a:custGeom>
            <a:avLst/>
            <a:gdLst/>
            <a:ahLst/>
            <a:cxnLst/>
            <a:rect l="l" t="t" r="r" b="b"/>
            <a:pathLst>
              <a:path w="57687" h="57686">
                <a:moveTo>
                  <a:pt x="0" y="57686"/>
                </a:moveTo>
                <a:lnTo>
                  <a:pt x="0" y="0"/>
                </a:lnTo>
                <a:lnTo>
                  <a:pt x="57687" y="0"/>
                </a:lnTo>
                <a:lnTo>
                  <a:pt x="57687"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3" name="Illustrative delivered road transport cost class 1; reference terminal Durban"/>
          <p:cNvSpPr/>
          <p:nvPr/>
        </p:nvSpPr>
        <p:spPr>
          <a:xfrm>
            <a:off x="5377145" y="3557502"/>
            <a:ext cx="57687" cy="37074"/>
          </a:xfrm>
          <a:custGeom>
            <a:avLst/>
            <a:gdLst/>
            <a:ahLst/>
            <a:cxnLst/>
            <a:rect l="l" t="t" r="r" b="b"/>
            <a:pathLst>
              <a:path w="57687" h="37074">
                <a:moveTo>
                  <a:pt x="57687" y="37074"/>
                </a:moveTo>
                <a:lnTo>
                  <a:pt x="0" y="37074"/>
                </a:lnTo>
                <a:lnTo>
                  <a:pt x="0" y="0"/>
                </a:lnTo>
                <a:lnTo>
                  <a:pt x="11619" y="3113"/>
                </a:lnTo>
                <a:lnTo>
                  <a:pt x="40056" y="4064"/>
                </a:lnTo>
                <a:lnTo>
                  <a:pt x="57687" y="4681"/>
                </a:lnTo>
                <a:lnTo>
                  <a:pt x="57687" y="37074"/>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4" name="Illustrative delivered road transport cost class 1; reference terminal Durban"/>
          <p:cNvSpPr/>
          <p:nvPr/>
        </p:nvSpPr>
        <p:spPr>
          <a:xfrm>
            <a:off x="5434832" y="3767635"/>
            <a:ext cx="8469" cy="34128"/>
          </a:xfrm>
          <a:custGeom>
            <a:avLst/>
            <a:gdLst/>
            <a:ahLst/>
            <a:cxnLst/>
            <a:rect l="l" t="t" r="r" b="b"/>
            <a:pathLst>
              <a:path w="8469" h="34128">
                <a:moveTo>
                  <a:pt x="0" y="0"/>
                </a:moveTo>
                <a:lnTo>
                  <a:pt x="8469" y="0"/>
                </a:lnTo>
                <a:lnTo>
                  <a:pt x="0" y="34128"/>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5" name="Illustrative delivered road transport cost class 1; reference terminal Durban"/>
          <p:cNvSpPr/>
          <p:nvPr/>
        </p:nvSpPr>
        <p:spPr>
          <a:xfrm>
            <a:off x="5434832" y="3709949"/>
            <a:ext cx="26895" cy="57686"/>
          </a:xfrm>
          <a:custGeom>
            <a:avLst/>
            <a:gdLst/>
            <a:ahLst/>
            <a:cxnLst/>
            <a:rect l="l" t="t" r="r" b="b"/>
            <a:pathLst>
              <a:path w="26895" h="57686">
                <a:moveTo>
                  <a:pt x="0" y="57686"/>
                </a:moveTo>
                <a:lnTo>
                  <a:pt x="0" y="0"/>
                </a:lnTo>
                <a:lnTo>
                  <a:pt x="26895" y="0"/>
                </a:lnTo>
                <a:lnTo>
                  <a:pt x="25214" y="3946"/>
                </a:lnTo>
                <a:lnTo>
                  <a:pt x="11470" y="45595"/>
                </a:lnTo>
                <a:lnTo>
                  <a:pt x="8469"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6" name="Illustrative delivered road transport cost class 1; reference terminal Durban"/>
          <p:cNvSpPr/>
          <p:nvPr/>
        </p:nvSpPr>
        <p:spPr>
          <a:xfrm>
            <a:off x="5434832" y="3652262"/>
            <a:ext cx="51458" cy="57687"/>
          </a:xfrm>
          <a:custGeom>
            <a:avLst/>
            <a:gdLst/>
            <a:ahLst/>
            <a:cxnLst/>
            <a:rect l="l" t="t" r="r" b="b"/>
            <a:pathLst>
              <a:path w="51458" h="57687">
                <a:moveTo>
                  <a:pt x="0" y="57687"/>
                </a:moveTo>
                <a:lnTo>
                  <a:pt x="0" y="0"/>
                </a:lnTo>
                <a:lnTo>
                  <a:pt x="51458" y="0"/>
                </a:lnTo>
                <a:lnTo>
                  <a:pt x="26895" y="57687"/>
                </a:lnTo>
                <a:lnTo>
                  <a:pt x="0" y="57687"/>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7" name="Illustrative delivered road transport cost class 1; reference terminal Durban"/>
          <p:cNvSpPr/>
          <p:nvPr/>
        </p:nvSpPr>
        <p:spPr>
          <a:xfrm>
            <a:off x="5434832" y="3594576"/>
            <a:ext cx="57686" cy="57686"/>
          </a:xfrm>
          <a:custGeom>
            <a:avLst/>
            <a:gdLst/>
            <a:ahLst/>
            <a:cxnLst/>
            <a:rect l="l" t="t" r="r" b="b"/>
            <a:pathLst>
              <a:path w="57686" h="57686">
                <a:moveTo>
                  <a:pt x="0" y="57686"/>
                </a:moveTo>
                <a:lnTo>
                  <a:pt x="0" y="0"/>
                </a:lnTo>
                <a:lnTo>
                  <a:pt x="57686" y="0"/>
                </a:lnTo>
                <a:lnTo>
                  <a:pt x="57686" y="43059"/>
                </a:lnTo>
                <a:lnTo>
                  <a:pt x="51458" y="57686"/>
                </a:lnTo>
                <a:lnTo>
                  <a:pt x="0" y="57686"/>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8" name="Illustrative delivered road transport cost class 1; reference terminal Durban"/>
          <p:cNvSpPr/>
          <p:nvPr/>
        </p:nvSpPr>
        <p:spPr>
          <a:xfrm>
            <a:off x="5434832" y="3562183"/>
            <a:ext cx="57686" cy="32393"/>
          </a:xfrm>
          <a:custGeom>
            <a:avLst/>
            <a:gdLst/>
            <a:ahLst/>
            <a:cxnLst/>
            <a:rect l="l" t="t" r="r" b="b"/>
            <a:pathLst>
              <a:path w="57686" h="32393">
                <a:moveTo>
                  <a:pt x="57686" y="32393"/>
                </a:moveTo>
                <a:lnTo>
                  <a:pt x="0" y="32393"/>
                </a:lnTo>
                <a:lnTo>
                  <a:pt x="0" y="0"/>
                </a:lnTo>
                <a:lnTo>
                  <a:pt x="7786" y="273"/>
                </a:lnTo>
                <a:lnTo>
                  <a:pt x="50772" y="1789"/>
                </a:lnTo>
                <a:lnTo>
                  <a:pt x="57686" y="2122"/>
                </a:lnTo>
                <a:lnTo>
                  <a:pt x="57686" y="32393"/>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19" name="Illustrative delivered road transport cost class 1; reference terminal Durban"/>
          <p:cNvSpPr/>
          <p:nvPr/>
        </p:nvSpPr>
        <p:spPr>
          <a:xfrm>
            <a:off x="5492518" y="3594576"/>
            <a:ext cx="12020" cy="43059"/>
          </a:xfrm>
          <a:custGeom>
            <a:avLst/>
            <a:gdLst/>
            <a:ahLst/>
            <a:cxnLst/>
            <a:rect l="l" t="t" r="r" b="b"/>
            <a:pathLst>
              <a:path w="12020" h="43059">
                <a:moveTo>
                  <a:pt x="0" y="0"/>
                </a:moveTo>
                <a:lnTo>
                  <a:pt x="12020" y="0"/>
                </a:lnTo>
                <a:lnTo>
                  <a:pt x="5964" y="29053"/>
                </a:lnTo>
                <a:lnTo>
                  <a:pt x="0" y="43059"/>
                </a:lnTo>
                <a:lnTo>
                  <a:pt x="0" y="0"/>
                </a:lnTo>
                <a:close/>
              </a:path>
            </a:pathLst>
          </a:custGeom>
          <a:solidFill>
            <a:srgbClr val="37579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20" name="Illustrative delivered road transport cost class None; reference terminal None"/>
          <p:cNvSpPr/>
          <p:nvPr/>
        </p:nvSpPr>
        <p:spPr>
          <a:xfrm>
            <a:off x="5492518" y="3564305"/>
            <a:ext cx="18147" cy="30271"/>
          </a:xfrm>
          <a:custGeom>
            <a:avLst/>
            <a:gdLst/>
            <a:ahLst/>
            <a:cxnLst/>
            <a:rect l="l" t="t" r="r" b="b"/>
            <a:pathLst>
              <a:path w="18147" h="30271">
                <a:moveTo>
                  <a:pt x="0" y="30271"/>
                </a:moveTo>
                <a:lnTo>
                  <a:pt x="0" y="0"/>
                </a:lnTo>
                <a:lnTo>
                  <a:pt x="18147" y="872"/>
                </a:lnTo>
                <a:lnTo>
                  <a:pt x="12020" y="30271"/>
                </a:lnTo>
                <a:lnTo>
                  <a:pt x="0" y="30271"/>
                </a:lnTo>
                <a:close/>
              </a:path>
            </a:pathLst>
          </a:cu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TextBox 512"/>
          <p:cNvSpPr txBox="1"/>
          <p:nvPr/>
        </p:nvSpPr>
        <p:spPr>
          <a:xfrm>
            <a:off x="5166221" y="4169192"/>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Durban</a:t>
            </a:r>
          </a:p>
        </p:txBody>
      </p:sp>
      <p:sp>
        <p:nvSpPr>
          <p:cNvPr id="514" name="Diamond 513"/>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TextBox 514"/>
          <p:cNvSpPr txBox="1"/>
          <p:nvPr/>
        </p:nvSpPr>
        <p:spPr>
          <a:xfrm>
            <a:off x="4603291" y="3266119"/>
            <a:ext cx="1051560" cy="228600"/>
          </a:xfrm>
          <a:prstGeom prst="rect">
            <a:avLst/>
          </a:prstGeom>
          <a:solidFill>
            <a:srgbClr val="FFFFFF"/>
          </a:solidFill>
        </p:spPr>
        <p:txBody>
          <a:bodyPr wrap="square" lIns="22860" rIns="22860" tIns="0" bIns="0">
            <a:spAutoFit/>
          </a:bodyPr>
          <a:lstStyle/>
          <a:p>
            <a:pPr>
              <a:spcAft>
                <a:spcPts val="300"/>
              </a:spcAft>
              <a:defRPr sz="900" b="0">
                <a:solidFill>
                  <a:srgbClr val="0A2373"/>
                </a:solidFill>
                <a:latin typeface="Lato"/>
              </a:defRPr>
            </a:pPr>
            <a:r>
              <a:t>Lesedi*</a:t>
            </a:r>
          </a:p>
        </p:txBody>
      </p:sp>
      <p:sp>
        <p:nvSpPr>
          <p:cNvPr id="516" name="TextBox 515"/>
          <p:cNvSpPr txBox="1"/>
          <p:nvPr/>
        </p:nvSpPr>
        <p:spPr>
          <a:xfrm>
            <a:off x="731520" y="248716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Inland market | illustrative</a:t>
            </a:r>
          </a:p>
          <a:p>
            <a:pPr>
              <a:spcAft>
                <a:spcPts val="300"/>
              </a:spcAft>
              <a:defRPr sz="1100" b="1">
                <a:solidFill>
                  <a:srgbClr val="0A2373"/>
                </a:solidFill>
                <a:latin typeface="Lato"/>
              </a:defRPr>
            </a:pPr>
            <a:r>
              <a:t>Demand 10.0 | envelope 6.0</a:t>
            </a:r>
          </a:p>
          <a:p>
            <a:pPr>
              <a:spcAft>
                <a:spcPts val="300"/>
              </a:spcAft>
              <a:defRPr sz="1100" b="1">
                <a:solidFill>
                  <a:srgbClr val="0A2373"/>
                </a:solidFill>
                <a:latin typeface="Lato"/>
              </a:defRPr>
            </a:pPr>
            <a:r>
              <a:t>Current 2.0 | candidate 4.0</a:t>
            </a:r>
          </a:p>
        </p:txBody>
      </p:sp>
      <p:sp>
        <p:nvSpPr>
          <p:cNvPr id="517" name="TextBox 516"/>
          <p:cNvSpPr txBox="1"/>
          <p:nvPr/>
        </p:nvSpPr>
        <p:spPr>
          <a:xfrm>
            <a:off x="4343400" y="5047488"/>
            <a:ext cx="2468880" cy="667512"/>
          </a:xfrm>
          <a:prstGeom prst="rect">
            <a:avLst/>
          </a:prstGeom>
          <a:solidFill>
            <a:srgbClr val="FFFFFF"/>
          </a:solidFill>
        </p:spPr>
        <p:txBody>
          <a:bodyPr wrap="square" lIns="22860" rIns="22860" tIns="0" bIns="0">
            <a:spAutoFit/>
          </a:bodyPr>
          <a:lstStyle/>
          <a:p>
            <a:pPr>
              <a:spcAft>
                <a:spcPts val="300"/>
              </a:spcAft>
              <a:defRPr sz="1100" b="1">
                <a:solidFill>
                  <a:srgbClr val="0A2373"/>
                </a:solidFill>
                <a:latin typeface="Lato"/>
              </a:defRPr>
            </a:pPr>
            <a:r>
              <a:t>Eastern/coastal | illustrative</a:t>
            </a:r>
          </a:p>
          <a:p>
            <a:pPr>
              <a:spcAft>
                <a:spcPts val="300"/>
              </a:spcAft>
              <a:defRPr sz="1100" b="1">
                <a:solidFill>
                  <a:srgbClr val="0A2373"/>
                </a:solidFill>
                <a:latin typeface="Lato"/>
              </a:defRPr>
            </a:pPr>
            <a:r>
              <a:t>Demand 4.5 | envelope 2.5</a:t>
            </a:r>
          </a:p>
          <a:p>
            <a:pPr>
              <a:spcAft>
                <a:spcPts val="300"/>
              </a:spcAft>
              <a:defRPr sz="1100" b="1">
                <a:solidFill>
                  <a:srgbClr val="0A2373"/>
                </a:solidFill>
                <a:latin typeface="Lato"/>
              </a:defRPr>
            </a:pPr>
            <a:r>
              <a:t>Current 1.0 | candidate 1.5</a:t>
            </a:r>
          </a:p>
        </p:txBody>
      </p:sp>
      <p:sp>
        <p:nvSpPr>
          <p:cNvPr id="518" name="Rectangle 517"/>
          <p:cNvSpPr/>
          <p:nvPr/>
        </p:nvSpPr>
        <p:spPr>
          <a:xfrm>
            <a:off x="507492" y="5966460"/>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TextBox 518"/>
          <p:cNvSpPr txBox="1"/>
          <p:nvPr/>
        </p:nvSpPr>
        <p:spPr>
          <a:xfrm>
            <a:off x="685800"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a:t>
            </a:r>
          </a:p>
        </p:txBody>
      </p:sp>
      <p:sp>
        <p:nvSpPr>
          <p:cNvPr id="520" name="Rectangle 519"/>
          <p:cNvSpPr/>
          <p:nvPr/>
        </p:nvSpPr>
        <p:spPr>
          <a:xfrm>
            <a:off x="1440180" y="5966460"/>
            <a:ext cx="100584" cy="100584"/>
          </a:xfrm>
          <a:prstGeom prst="rect">
            <a:avLst/>
          </a:prstGeom>
          <a:solidFill>
            <a:srgbClr val="375798"/>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TextBox 520"/>
          <p:cNvSpPr txBox="1"/>
          <p:nvPr/>
        </p:nvSpPr>
        <p:spPr>
          <a:xfrm>
            <a:off x="1618488"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0.75–1.25</a:t>
            </a:r>
          </a:p>
        </p:txBody>
      </p:sp>
      <p:sp>
        <p:nvSpPr>
          <p:cNvPr id="522" name="Rectangle 521"/>
          <p:cNvSpPr/>
          <p:nvPr/>
        </p:nvSpPr>
        <p:spPr>
          <a:xfrm>
            <a:off x="2372868" y="5966460"/>
            <a:ext cx="100584" cy="100584"/>
          </a:xfrm>
          <a:prstGeom prst="rect">
            <a:avLst/>
          </a:prstGeom>
          <a:solidFill>
            <a:srgbClr val="728BBB"/>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TextBox 522"/>
          <p:cNvSpPr txBox="1"/>
          <p:nvPr/>
        </p:nvSpPr>
        <p:spPr>
          <a:xfrm>
            <a:off x="2551176"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1.25–1.75</a:t>
            </a:r>
          </a:p>
        </p:txBody>
      </p:sp>
      <p:sp>
        <p:nvSpPr>
          <p:cNvPr id="524" name="Rectangle 523"/>
          <p:cNvSpPr/>
          <p:nvPr/>
        </p:nvSpPr>
        <p:spPr>
          <a:xfrm>
            <a:off x="3305556" y="5966460"/>
            <a:ext cx="100584" cy="100584"/>
          </a:xfrm>
          <a:prstGeom prst="rect">
            <a:avLst/>
          </a:prstGeom>
          <a:solidFill>
            <a:srgbClr val="A9BDDC"/>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5" name="TextBox 524"/>
          <p:cNvSpPr txBox="1"/>
          <p:nvPr/>
        </p:nvSpPr>
        <p:spPr>
          <a:xfrm>
            <a:off x="3483864"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1.75–2.25</a:t>
            </a:r>
          </a:p>
        </p:txBody>
      </p:sp>
      <p:sp>
        <p:nvSpPr>
          <p:cNvPr id="526" name="Rectangle 525"/>
          <p:cNvSpPr/>
          <p:nvPr/>
        </p:nvSpPr>
        <p:spPr>
          <a:xfrm>
            <a:off x="4238244" y="5966460"/>
            <a:ext cx="100584" cy="100584"/>
          </a:xfrm>
          <a:prstGeom prst="rect">
            <a:avLst/>
          </a:prstGeom>
          <a:solidFill>
            <a:srgbClr val="DDE6F2"/>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7" name="TextBox 526"/>
          <p:cNvSpPr txBox="1"/>
          <p:nvPr/>
        </p:nvSpPr>
        <p:spPr>
          <a:xfrm>
            <a:off x="4416552" y="5916168"/>
            <a:ext cx="960120" cy="201168"/>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&gt;2.25</a:t>
            </a:r>
          </a:p>
        </p:txBody>
      </p:sp>
      <p:sp>
        <p:nvSpPr>
          <p:cNvPr id="528" name="Rectangle 527"/>
          <p:cNvSpPr/>
          <p:nvPr/>
        </p:nvSpPr>
        <p:spPr>
          <a:xfrm>
            <a:off x="5253228" y="5966460"/>
            <a:ext cx="100584" cy="100584"/>
          </a:xfrm>
          <a:prstGeom prst="rect">
            <a:avLst/>
          </a:pr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9" name="TextBox 528"/>
          <p:cNvSpPr txBox="1"/>
          <p:nvPr/>
        </p:nvSpPr>
        <p:spPr>
          <a:xfrm>
            <a:off x="5431536" y="5916168"/>
            <a:ext cx="73152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Unassessed</a:t>
            </a:r>
          </a:p>
        </p:txBody>
      </p:sp>
      <p:sp>
        <p:nvSpPr>
          <p:cNvPr id="530" name="TextBox 529"/>
          <p:cNvSpPr txBox="1"/>
          <p:nvPr/>
        </p:nvSpPr>
        <p:spPr>
          <a:xfrm>
            <a:off x="6254496" y="5916168"/>
            <a:ext cx="640080" cy="201168"/>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R/litre</a:t>
            </a:r>
          </a:p>
        </p:txBody>
      </p:sp>
      <p:sp>
        <p:nvSpPr>
          <p:cNvPr id="531" name="TextBox 530"/>
          <p:cNvSpPr txBox="1"/>
          <p:nvPr/>
        </p:nvSpPr>
        <p:spPr>
          <a:xfrm>
            <a:off x="457200" y="6144768"/>
            <a:ext cx="6446520" cy="210312"/>
          </a:xfrm>
          <a:prstGeom prst="rect">
            <a:avLst/>
          </a:prstGeom>
          <a:noFill/>
        </p:spPr>
        <p:txBody>
          <a:bodyPr wrap="square" lIns="22860" rIns="22860" tIns="0" bIns="0">
            <a:spAutoFit/>
          </a:bodyPr>
          <a:lstStyle/>
          <a:p>
            <a:pPr>
              <a:spcAft>
                <a:spcPts val="300"/>
              </a:spcAft>
              <a:defRPr sz="1200" b="1">
                <a:solidFill>
                  <a:srgbClr val="0A2373"/>
                </a:solidFill>
                <a:latin typeface="Lato"/>
              </a:defRPr>
            </a:pPr>
            <a:r>
              <a:t>Receipts 2.8 + 2.0 − transfer 1.8 = unique demand 3.0</a:t>
            </a:r>
          </a:p>
        </p:txBody>
      </p:sp>
      <p:sp>
        <p:nvSpPr>
          <p:cNvPr id="532" name="TextBox 531"/>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Example rates: R0.15/L + R0.002/L/km. Grey = unassessed. Volumes: bn L/year.</a:t>
            </a:r>
          </a:p>
        </p:txBody>
      </p:sp>
      <p:sp>
        <p:nvSpPr>
          <p:cNvPr id="2521" name="Transnet lease overlay: Isosceles Triangle 2520"/>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2" name="Transnet lease overlay: Connector 2521"/>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3" name="Transnet lease overlay: TextBox 2522"/>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2524" name="Transnet lease overlay: Isosceles Triangle 2523"/>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5" name="Transnet lease overlay: Connector 2524"/>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6" name="Transnet lease overlay: TextBox 2525"/>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2527" name="Transnet lease overlay: Isosceles Triangle 2526"/>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28" name="Transnet lease overlay: Connector 2527"/>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29" name="Transnet lease overlay: TextBox 2528"/>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2530" name="Transnet lease overlay: Isosceles Triangle 2529"/>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1" name="Transnet lease overlay: Connector 2530"/>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2" name="Transnet lease overlay: TextBox 2531"/>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2533" name="Transnet lease overlay: Isosceles Triangle 2532"/>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534" name="Transnet lease overlay: Connector 2533"/>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2535" name="Transnet lease overlay: TextBox 2534"/>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2536" name="Transnet lease overlay: TextBox 2535"/>
          <p:cNvSpPr txBox="1"/>
          <p:nvPr/>
        </p:nvSpPr>
        <p:spPr>
          <a:xfrm>
            <a:off x="594360" y="3776472"/>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2537" name="Transnet lease overlay: Isosceles Triangle 2536"/>
          <p:cNvSpPr/>
          <p:nvPr/>
        </p:nvSpPr>
        <p:spPr>
          <a:xfrm>
            <a:off x="612647" y="3808476"/>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1588750" cy="6858000"/>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image.jpg"/>
          <p:cNvPicPr>
            <a:picLocks noChangeAspect="1"/>
          </p:cNvPicPr>
          <p:nvPr/>
        </p:nvPicPr>
        <p:blipFill>
          <a:blip r:embed="rId2"/>
          <a:srcRect l="26237" r="26237"/>
          <a:stretch>
            <a:fillRect/>
          </a:stretch>
        </p:blipFill>
        <p:spPr>
          <a:xfrm>
            <a:off x="5794375" y="0"/>
            <a:ext cx="5794375" cy="6858000"/>
          </a:xfrm>
          <a:prstGeom prst="rect">
            <a:avLst/>
          </a:prstGeom>
        </p:spPr>
      </p:pic>
      <p:pic>
        <p:nvPicPr>
          <p:cNvPr id="4" name="Picture 3" descr="image.png"/>
          <p:cNvPicPr>
            <a:picLocks noChangeAspect="1"/>
          </p:cNvPicPr>
          <p:nvPr/>
        </p:nvPicPr>
        <p:blipFill>
          <a:blip r:embed="rId3"/>
          <a:srcRect/>
          <a:stretch>
            <a:fillRect/>
          </a:stretch>
        </p:blipFill>
        <p:spPr>
          <a:xfrm>
            <a:off x="502920" y="457200"/>
            <a:ext cx="1965960" cy="438614"/>
          </a:xfrm>
          <a:prstGeom prst="rect">
            <a:avLst/>
          </a:prstGeom>
        </p:spPr>
      </p:pic>
      <p:sp>
        <p:nvSpPr>
          <p:cNvPr id="5" name="TextBox 4"/>
          <p:cNvSpPr txBox="1"/>
          <p:nvPr/>
        </p:nvSpPr>
        <p:spPr>
          <a:xfrm>
            <a:off x="594360" y="2468880"/>
            <a:ext cx="4709160" cy="1554480"/>
          </a:xfrm>
          <a:prstGeom prst="rect">
            <a:avLst/>
          </a:prstGeom>
          <a:noFill/>
        </p:spPr>
        <p:txBody>
          <a:bodyPr wrap="square" lIns="18288" rIns="18288" tIns="0" bIns="0">
            <a:spAutoFit/>
          </a:bodyPr>
          <a:lstStyle/>
          <a:p>
            <a:pPr>
              <a:spcAft>
                <a:spcPts val="800"/>
              </a:spcAft>
              <a:defRPr sz="3100" b="0">
                <a:solidFill>
                  <a:srgbClr val="FFFFFF"/>
                </a:solidFill>
                <a:latin typeface="Lato"/>
              </a:defRPr>
            </a:pPr>
            <a:r>
              <a:t>Agree priorities</a:t>
            </a:r>
          </a:p>
          <a:p>
            <a:pPr>
              <a:spcAft>
                <a:spcPts val="800"/>
              </a:spcAft>
              <a:defRPr sz="3100" b="0">
                <a:solidFill>
                  <a:srgbClr val="FFFFFF"/>
                </a:solidFill>
                <a:latin typeface="Lato"/>
              </a:defRPr>
            </a:pPr>
            <a:r>
              <a:t>and next steps</a:t>
            </a:r>
          </a:p>
        </p:txBody>
      </p:sp>
      <p:cxnSp>
        <p:nvCxnSpPr>
          <p:cNvPr id="6" name="Connector 5"/>
          <p:cNvCxnSpPr/>
          <p:nvPr/>
        </p:nvCxnSpPr>
        <p:spPr>
          <a:xfrm>
            <a:off x="594360" y="4251960"/>
            <a:ext cx="4617720" cy="0"/>
          </a:xfrm>
          <a:prstGeom prst="line">
            <a:avLst/>
          </a:prstGeom>
          <a:ln w="7620">
            <a:solidFill>
              <a:srgbClr val="FFFFFF"/>
            </a:solidFill>
          </a:ln>
        </p:spPr>
        <p:style>
          <a:lnRef idx="2">
            <a:schemeClr val="accent1"/>
          </a:lnRef>
          <a:fillRef idx="0">
            <a:schemeClr val="accent1"/>
          </a:fillRef>
          <a:effectRef idx="1">
            <a:schemeClr val="accent1"/>
          </a:effectRef>
          <a:fontRef idx="minor">
            <a:schemeClr val="tx1"/>
          </a:fontRef>
        </p:style>
      </p:cxnSp>
      <p:sp>
        <p:nvSpPr>
          <p:cNvPr id="7" name="TextBox 6"/>
          <p:cNvSpPr txBox="1"/>
          <p:nvPr/>
        </p:nvSpPr>
        <p:spPr>
          <a:xfrm>
            <a:off x="594360" y="4617720"/>
            <a:ext cx="4572000" cy="640080"/>
          </a:xfrm>
          <a:prstGeom prst="rect">
            <a:avLst/>
          </a:prstGeom>
          <a:noFill/>
        </p:spPr>
        <p:txBody>
          <a:bodyPr wrap="square" lIns="18288" rIns="18288" tIns="0" bIns="0">
            <a:spAutoFit/>
          </a:bodyPr>
          <a:lstStyle/>
          <a:p>
            <a:pPr>
              <a:spcAft>
                <a:spcPts val="800"/>
              </a:spcAft>
              <a:defRPr sz="2100" b="0">
                <a:solidFill>
                  <a:srgbClr val="FFFFFF"/>
                </a:solidFill>
                <a:latin typeface="Lato"/>
              </a:defRPr>
            </a:pPr>
            <a:r>
              <a:t>Confirm demand, routes and access</a:t>
            </a:r>
          </a:p>
        </p:txBody>
      </p:sp>
      <p:sp>
        <p:nvSpPr>
          <p:cNvPr id="8" name="TextBox 7"/>
          <p:cNvSpPr txBox="1"/>
          <p:nvPr/>
        </p:nvSpPr>
        <p:spPr>
          <a:xfrm>
            <a:off x="594360" y="5696712"/>
            <a:ext cx="4572000" cy="274320"/>
          </a:xfrm>
          <a:prstGeom prst="rect">
            <a:avLst/>
          </a:prstGeom>
          <a:noFill/>
        </p:spPr>
        <p:txBody>
          <a:bodyPr wrap="square" lIns="18288" rIns="18288" tIns="0" bIns="0">
            <a:spAutoFit/>
          </a:bodyPr>
          <a:lstStyle/>
          <a:p>
            <a:pPr>
              <a:spcAft>
                <a:spcPts val="800"/>
              </a:spcAft>
              <a:defRPr sz="1300" b="0">
                <a:solidFill>
                  <a:srgbClr val="FFFFFF"/>
                </a:solidFill>
                <a:latin typeface="Lato"/>
              </a:defRPr>
            </a:pPr>
            <a:r>
              <a:t>6 October 2026</a:t>
            </a:r>
          </a:p>
        </p:txBody>
      </p:sp>
      <p:sp>
        <p:nvSpPr>
          <p:cNvPr id="9" name="TextBox 8"/>
          <p:cNvSpPr txBox="1"/>
          <p:nvPr/>
        </p:nvSpPr>
        <p:spPr>
          <a:xfrm>
            <a:off x="594360" y="6053328"/>
            <a:ext cx="4572000" cy="274320"/>
          </a:xfrm>
          <a:prstGeom prst="rect">
            <a:avLst/>
          </a:prstGeom>
          <a:noFill/>
        </p:spPr>
        <p:txBody>
          <a:bodyPr wrap="square" lIns="18288" rIns="18288" tIns="0" bIns="0">
            <a:spAutoFit/>
          </a:bodyPr>
          <a:lstStyle/>
          <a:p>
            <a:pPr>
              <a:spcAft>
                <a:spcPts val="800"/>
              </a:spcAft>
              <a:defRPr sz="1200" b="0">
                <a:solidFill>
                  <a:srgbClr val="FFFFFF"/>
                </a:solidFill>
                <a:latin typeface="Lato"/>
              </a:defRPr>
            </a:pPr>
            <a:r>
              <a:t>Internal working discussion</a:t>
            </a:r>
          </a:p>
        </p:txBody>
      </p:sp>
      <p:sp>
        <p:nvSpPr>
          <p:cNvPr id="10" name="Photo source credit">
            <a:hlinkClick r:id="rId4"/>
          </p:cNvPr>
          <p:cNvSpPr txBox="1"/>
          <p:nvPr/>
        </p:nvSpPr>
        <p:spPr>
          <a:xfrm>
            <a:off x="594360" y="6400800"/>
            <a:ext cx="4754880" cy="164592"/>
          </a:xfrm>
          <a:prstGeom prst="rect">
            <a:avLst/>
          </a:prstGeom>
          <a:noFill/>
        </p:spPr>
        <p:txBody>
          <a:bodyPr wrap="square" lIns="18288" rIns="18288" tIns="0" bIns="0">
            <a:spAutoFit/>
          </a:bodyPr>
          <a:lstStyle/>
          <a:p>
            <a:pPr algn="l">
              <a:spcAft>
                <a:spcPts val="800"/>
              </a:spcAft>
              <a:defRPr sz="800" b="0">
                <a:solidFill>
                  <a:srgbClr val="FFFFFF"/>
                </a:solidFill>
                <a:latin typeface="Lato"/>
              </a:defRPr>
            </a:pPr>
            <a:r>
              <a:t>Photo source: Royal Vopak | Terminal Lesedi | vopak.com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Locate fuel demand alongside the infrastructure serving it</a:t>
            </a:r>
          </a:p>
        </p:txBody>
      </p:sp>
      <p:sp>
        <p:nvSpPr>
          <p:cNvPr id="3" name="Slide Number Placeholder"/>
          <p:cNvSpPr>
            <a:spLocks noGrp="1"/>
          </p:cNvSpPr>
          <p:nvPr>
            <p:ph type="sldNum" sz="quarter" idx="12"/>
          </p:nvPr>
        </p:nvSpPr>
        <p:spPr/>
        <p:txBody>
          <a:bodyPr/>
          <a:lstStyle/>
          <a:p>
            <a:fld id="{DCB302F4-FFF7-497E-A036-DBC3BDAD48DD}"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sales; geoBoundaries/OCHA/MDB 2020 provinces (CC BY 3.0 IGO); operator sources on slide 7.</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Petrol + diesel sales by province | 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concentrates in three provinces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Gauteng 6.81, KwaZulu-Natal 4.28 and Western Cape 3.93 bn litres represent 68.6% of reported sales.</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Regions have explicit boundaries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Eastern coast = EC + KZN; inland = GP, FS, LP, MP and NW; western coast = WC; other = NC. These are working groupings.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Five Transnet lease offers added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Numbered triangles locate stranded depots offered for lease. Refurbishment, licensing and customer access remain conditional.</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Sales do not establish accessible volume</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All four quarters of 2022 reconcile to national sales. Current demand, delivered cost and customer rights need separate evidence.</a:t>
            </a:r>
          </a:p>
        </p:txBody>
      </p:sp>
      <p:sp>
        <p:nvSpPr>
          <p:cNvPr id="22" name="Map frame; common geographic extent"/>
          <p:cNvSpPr/>
          <p:nvPr/>
        </p:nvSpPr>
        <p:spPr>
          <a:xfrm>
            <a:off x="457200" y="2176272"/>
            <a:ext cx="6446520" cy="3657600"/>
          </a:xfrm>
          <a:prstGeom prst="rect">
            <a:avLst/>
          </a:prstGeom>
          <a:solidFill>
            <a:srgbClr val="F5F8FB"/>
          </a:solidFill>
          <a:ln w="6350">
            <a:solidFill>
              <a:srgbClr val="EEEEE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Natural Earth 1:50m boundary: Zimbabwe"/>
          <p:cNvSpPr/>
          <p:nvPr/>
        </p:nvSpPr>
        <p:spPr>
          <a:xfrm>
            <a:off x="4666558" y="2283150"/>
            <a:ext cx="640603" cy="124667"/>
          </a:xfrm>
          <a:custGeom>
            <a:avLst/>
            <a:gdLst/>
            <a:ahLst/>
            <a:cxnLst/>
            <a:rect l="l" t="t" r="r" b="b"/>
            <a:pathLst>
              <a:path w="640603" h="124667">
                <a:moveTo>
                  <a:pt x="532798" y="124667"/>
                </a:moveTo>
                <a:lnTo>
                  <a:pt x="511926" y="109016"/>
                </a:lnTo>
                <a:lnTo>
                  <a:pt x="482921" y="98105"/>
                </a:lnTo>
                <a:lnTo>
                  <a:pt x="445720" y="91953"/>
                </a:lnTo>
                <a:lnTo>
                  <a:pt x="397041" y="91514"/>
                </a:lnTo>
                <a:lnTo>
                  <a:pt x="336956" y="96794"/>
                </a:lnTo>
                <a:lnTo>
                  <a:pt x="273200" y="84399"/>
                </a:lnTo>
                <a:lnTo>
                  <a:pt x="205640" y="54358"/>
                </a:lnTo>
                <a:lnTo>
                  <a:pt x="149008" y="42519"/>
                </a:lnTo>
                <a:lnTo>
                  <a:pt x="80617" y="51925"/>
                </a:lnTo>
                <a:lnTo>
                  <a:pt x="77609" y="52119"/>
                </a:lnTo>
                <a:lnTo>
                  <a:pt x="66080" y="42468"/>
                </a:lnTo>
                <a:lnTo>
                  <a:pt x="48096" y="21881"/>
                </a:lnTo>
                <a:lnTo>
                  <a:pt x="17130" y="17336"/>
                </a:lnTo>
                <a:lnTo>
                  <a:pt x="8838" y="12403"/>
                </a:lnTo>
                <a:lnTo>
                  <a:pt x="2113" y="4755"/>
                </a:lnTo>
                <a:lnTo>
                  <a:pt x="0" y="0"/>
                </a:lnTo>
                <a:lnTo>
                  <a:pt x="640603" y="27451"/>
                </a:lnTo>
                <a:lnTo>
                  <a:pt x="603077" y="64721"/>
                </a:lnTo>
                <a:lnTo>
                  <a:pt x="567618" y="100041"/>
                </a:lnTo>
                <a:lnTo>
                  <a:pt x="532798" y="124667"/>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atural Earth 1:50m boundary: eSwatini"/>
          <p:cNvSpPr/>
          <p:nvPr/>
        </p:nvSpPr>
        <p:spPr>
          <a:xfrm>
            <a:off x="5033317" y="3262069"/>
            <a:ext cx="303816" cy="406727"/>
          </a:xfrm>
          <a:custGeom>
            <a:avLst/>
            <a:gdLst/>
            <a:ahLst/>
            <a:cxnLst/>
            <a:rect l="l" t="t" r="r" b="b"/>
            <a:pathLst>
              <a:path w="303816" h="406727">
                <a:moveTo>
                  <a:pt x="275537" y="62013"/>
                </a:moveTo>
                <a:lnTo>
                  <a:pt x="279992" y="66023"/>
                </a:lnTo>
                <a:lnTo>
                  <a:pt x="300559" y="79029"/>
                </a:lnTo>
                <a:lnTo>
                  <a:pt x="301167" y="102598"/>
                </a:lnTo>
                <a:lnTo>
                  <a:pt x="297630" y="129281"/>
                </a:lnTo>
                <a:lnTo>
                  <a:pt x="292422" y="145953"/>
                </a:lnTo>
                <a:lnTo>
                  <a:pt x="293076" y="162892"/>
                </a:lnTo>
                <a:lnTo>
                  <a:pt x="298399" y="189519"/>
                </a:lnTo>
                <a:lnTo>
                  <a:pt x="303816" y="207841"/>
                </a:lnTo>
                <a:lnTo>
                  <a:pt x="300767" y="289576"/>
                </a:lnTo>
                <a:lnTo>
                  <a:pt x="293834" y="285411"/>
                </a:lnTo>
                <a:lnTo>
                  <a:pt x="281033" y="281155"/>
                </a:lnTo>
                <a:lnTo>
                  <a:pt x="274062" y="282377"/>
                </a:lnTo>
                <a:lnTo>
                  <a:pt x="265716" y="318604"/>
                </a:lnTo>
                <a:lnTo>
                  <a:pt x="257848" y="372766"/>
                </a:lnTo>
                <a:lnTo>
                  <a:pt x="258748" y="406727"/>
                </a:lnTo>
                <a:lnTo>
                  <a:pt x="209539" y="404969"/>
                </a:lnTo>
                <a:lnTo>
                  <a:pt x="147538" y="397851"/>
                </a:lnTo>
                <a:lnTo>
                  <a:pt x="103732" y="380884"/>
                </a:lnTo>
                <a:lnTo>
                  <a:pt x="57283" y="346190"/>
                </a:lnTo>
                <a:lnTo>
                  <a:pt x="31080" y="294539"/>
                </a:lnTo>
                <a:lnTo>
                  <a:pt x="20039" y="262374"/>
                </a:lnTo>
                <a:lnTo>
                  <a:pt x="2592" y="259702"/>
                </a:lnTo>
                <a:lnTo>
                  <a:pt x="0" y="254199"/>
                </a:lnTo>
                <a:lnTo>
                  <a:pt x="214" y="215634"/>
                </a:lnTo>
                <a:lnTo>
                  <a:pt x="2435" y="175217"/>
                </a:lnTo>
                <a:lnTo>
                  <a:pt x="6204" y="164642"/>
                </a:lnTo>
                <a:lnTo>
                  <a:pt x="41147" y="116459"/>
                </a:lnTo>
                <a:lnTo>
                  <a:pt x="62888" y="86540"/>
                </a:lnTo>
                <a:lnTo>
                  <a:pt x="76940" y="57249"/>
                </a:lnTo>
                <a:lnTo>
                  <a:pt x="106140" y="23556"/>
                </a:lnTo>
                <a:lnTo>
                  <a:pt x="136758" y="2646"/>
                </a:lnTo>
                <a:lnTo>
                  <a:pt x="147881" y="0"/>
                </a:lnTo>
                <a:lnTo>
                  <a:pt x="155348" y="1319"/>
                </a:lnTo>
                <a:lnTo>
                  <a:pt x="205786" y="34956"/>
                </a:lnTo>
                <a:lnTo>
                  <a:pt x="257515" y="67144"/>
                </a:lnTo>
                <a:lnTo>
                  <a:pt x="269261" y="64507"/>
                </a:lnTo>
                <a:lnTo>
                  <a:pt x="275537" y="62013"/>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Natural Earth 1:50m boundary: South Africa"/>
          <p:cNvSpPr/>
          <p:nvPr/>
        </p:nvSpPr>
        <p:spPr>
          <a:xfrm>
            <a:off x="1777332" y="2325669"/>
            <a:ext cx="3733333" cy="3233142"/>
          </a:xfrm>
          <a:custGeom>
            <a:avLst/>
            <a:gdLst/>
            <a:ahLst/>
            <a:cxnLst/>
            <a:rect l="l" t="t" r="r" b="b"/>
            <a:pathLst>
              <a:path w="3733333" h="3233142">
                <a:moveTo>
                  <a:pt x="2966835" y="9600"/>
                </a:moveTo>
                <a:lnTo>
                  <a:pt x="2969843" y="9406"/>
                </a:lnTo>
                <a:lnTo>
                  <a:pt x="3038234" y="0"/>
                </a:lnTo>
                <a:lnTo>
                  <a:pt x="3094866" y="11839"/>
                </a:lnTo>
                <a:lnTo>
                  <a:pt x="3162426" y="41880"/>
                </a:lnTo>
                <a:lnTo>
                  <a:pt x="3226182" y="54275"/>
                </a:lnTo>
                <a:lnTo>
                  <a:pt x="3286267" y="48995"/>
                </a:lnTo>
                <a:lnTo>
                  <a:pt x="3334946" y="49434"/>
                </a:lnTo>
                <a:lnTo>
                  <a:pt x="3372147" y="55586"/>
                </a:lnTo>
                <a:lnTo>
                  <a:pt x="3401152" y="66497"/>
                </a:lnTo>
                <a:lnTo>
                  <a:pt x="3422024" y="82148"/>
                </a:lnTo>
                <a:lnTo>
                  <a:pt x="3422673" y="95641"/>
                </a:lnTo>
                <a:lnTo>
                  <a:pt x="3424067" y="101830"/>
                </a:lnTo>
                <a:lnTo>
                  <a:pt x="3433809" y="137865"/>
                </a:lnTo>
                <a:lnTo>
                  <a:pt x="3448258" y="191687"/>
                </a:lnTo>
                <a:lnTo>
                  <a:pt x="3457177" y="241168"/>
                </a:lnTo>
                <a:lnTo>
                  <a:pt x="3469352" y="309049"/>
                </a:lnTo>
                <a:lnTo>
                  <a:pt x="3467084" y="346368"/>
                </a:lnTo>
                <a:lnTo>
                  <a:pt x="3470139" y="361001"/>
                </a:lnTo>
                <a:lnTo>
                  <a:pt x="3483031" y="379757"/>
                </a:lnTo>
                <a:lnTo>
                  <a:pt x="3498320" y="411626"/>
                </a:lnTo>
                <a:lnTo>
                  <a:pt x="3503186" y="429514"/>
                </a:lnTo>
                <a:lnTo>
                  <a:pt x="3508174" y="442961"/>
                </a:lnTo>
                <a:lnTo>
                  <a:pt x="3524658" y="468868"/>
                </a:lnTo>
                <a:lnTo>
                  <a:pt x="3536493" y="507434"/>
                </a:lnTo>
                <a:lnTo>
                  <a:pt x="3545551" y="558135"/>
                </a:lnTo>
                <a:lnTo>
                  <a:pt x="3554255" y="582713"/>
                </a:lnTo>
                <a:lnTo>
                  <a:pt x="3557379" y="594722"/>
                </a:lnTo>
                <a:lnTo>
                  <a:pt x="3560741" y="616477"/>
                </a:lnTo>
                <a:lnTo>
                  <a:pt x="3557730" y="661812"/>
                </a:lnTo>
                <a:lnTo>
                  <a:pt x="3555214" y="714385"/>
                </a:lnTo>
                <a:lnTo>
                  <a:pt x="3552398" y="773102"/>
                </a:lnTo>
                <a:lnTo>
                  <a:pt x="3550091" y="821569"/>
                </a:lnTo>
                <a:lnTo>
                  <a:pt x="3547005" y="845993"/>
                </a:lnTo>
                <a:lnTo>
                  <a:pt x="3544435" y="915675"/>
                </a:lnTo>
                <a:lnTo>
                  <a:pt x="3527627" y="951107"/>
                </a:lnTo>
                <a:lnTo>
                  <a:pt x="3527933" y="979684"/>
                </a:lnTo>
                <a:lnTo>
                  <a:pt x="3531522" y="998413"/>
                </a:lnTo>
                <a:lnTo>
                  <a:pt x="3525246" y="1000907"/>
                </a:lnTo>
                <a:lnTo>
                  <a:pt x="3513500" y="1003544"/>
                </a:lnTo>
                <a:lnTo>
                  <a:pt x="3461771" y="971356"/>
                </a:lnTo>
                <a:lnTo>
                  <a:pt x="3411333" y="937719"/>
                </a:lnTo>
                <a:lnTo>
                  <a:pt x="3403866" y="936400"/>
                </a:lnTo>
                <a:lnTo>
                  <a:pt x="3392743" y="939046"/>
                </a:lnTo>
                <a:lnTo>
                  <a:pt x="3362125" y="959956"/>
                </a:lnTo>
                <a:lnTo>
                  <a:pt x="3332925" y="993649"/>
                </a:lnTo>
                <a:lnTo>
                  <a:pt x="3318873" y="1022940"/>
                </a:lnTo>
                <a:lnTo>
                  <a:pt x="3297132" y="1052859"/>
                </a:lnTo>
                <a:lnTo>
                  <a:pt x="3262189" y="1101042"/>
                </a:lnTo>
                <a:lnTo>
                  <a:pt x="3258420" y="1111617"/>
                </a:lnTo>
                <a:lnTo>
                  <a:pt x="3256199" y="1152034"/>
                </a:lnTo>
                <a:lnTo>
                  <a:pt x="3255985" y="1190599"/>
                </a:lnTo>
                <a:lnTo>
                  <a:pt x="3258577" y="1196102"/>
                </a:lnTo>
                <a:lnTo>
                  <a:pt x="3276024" y="1198774"/>
                </a:lnTo>
                <a:lnTo>
                  <a:pt x="3287065" y="1230939"/>
                </a:lnTo>
                <a:lnTo>
                  <a:pt x="3313268" y="1282590"/>
                </a:lnTo>
                <a:lnTo>
                  <a:pt x="3359717" y="1317284"/>
                </a:lnTo>
                <a:lnTo>
                  <a:pt x="3403523" y="1334251"/>
                </a:lnTo>
                <a:lnTo>
                  <a:pt x="3465524" y="1341369"/>
                </a:lnTo>
                <a:lnTo>
                  <a:pt x="3514733" y="1343127"/>
                </a:lnTo>
                <a:lnTo>
                  <a:pt x="3513833" y="1309166"/>
                </a:lnTo>
                <a:lnTo>
                  <a:pt x="3521701" y="1255004"/>
                </a:lnTo>
                <a:lnTo>
                  <a:pt x="3530047" y="1218777"/>
                </a:lnTo>
                <a:lnTo>
                  <a:pt x="3537018" y="1217555"/>
                </a:lnTo>
                <a:lnTo>
                  <a:pt x="3549819" y="1221811"/>
                </a:lnTo>
                <a:lnTo>
                  <a:pt x="3556752" y="1225976"/>
                </a:lnTo>
                <a:lnTo>
                  <a:pt x="3576668" y="1225632"/>
                </a:lnTo>
                <a:lnTo>
                  <a:pt x="3611432" y="1234946"/>
                </a:lnTo>
                <a:lnTo>
                  <a:pt x="3639869" y="1235897"/>
                </a:lnTo>
                <a:lnTo>
                  <a:pt x="3665286" y="1236787"/>
                </a:lnTo>
                <a:lnTo>
                  <a:pt x="3708272" y="1238303"/>
                </a:lnTo>
                <a:lnTo>
                  <a:pt x="3733333" y="1239508"/>
                </a:lnTo>
                <a:lnTo>
                  <a:pt x="3721150" y="1297960"/>
                </a:lnTo>
                <a:lnTo>
                  <a:pt x="3682714" y="1388226"/>
                </a:lnTo>
                <a:lnTo>
                  <a:pt x="3668970" y="1429875"/>
                </a:lnTo>
                <a:lnTo>
                  <a:pt x="3631826" y="1579543"/>
                </a:lnTo>
                <a:lnTo>
                  <a:pt x="3591119" y="1653608"/>
                </a:lnTo>
                <a:lnTo>
                  <a:pt x="3569060" y="1683872"/>
                </a:lnTo>
                <a:lnTo>
                  <a:pt x="3507633" y="1736119"/>
                </a:lnTo>
                <a:lnTo>
                  <a:pt x="3490836" y="1746478"/>
                </a:lnTo>
                <a:lnTo>
                  <a:pt x="3476084" y="1752881"/>
                </a:lnTo>
                <a:lnTo>
                  <a:pt x="3450305" y="1757807"/>
                </a:lnTo>
                <a:lnTo>
                  <a:pt x="3344844" y="1865068"/>
                </a:lnTo>
                <a:lnTo>
                  <a:pt x="3305055" y="1917498"/>
                </a:lnTo>
                <a:lnTo>
                  <a:pt x="3268258" y="1995090"/>
                </a:lnTo>
                <a:lnTo>
                  <a:pt x="3233648" y="2036976"/>
                </a:lnTo>
                <a:lnTo>
                  <a:pt x="3181549" y="2127487"/>
                </a:lnTo>
                <a:lnTo>
                  <a:pt x="3135787" y="2197171"/>
                </a:lnTo>
                <a:lnTo>
                  <a:pt x="3092232" y="2260660"/>
                </a:lnTo>
                <a:lnTo>
                  <a:pt x="3018383" y="2347591"/>
                </a:lnTo>
                <a:lnTo>
                  <a:pt x="2986354" y="2372311"/>
                </a:lnTo>
                <a:lnTo>
                  <a:pt x="2965008" y="2383367"/>
                </a:lnTo>
                <a:lnTo>
                  <a:pt x="2907659" y="2433421"/>
                </a:lnTo>
                <a:lnTo>
                  <a:pt x="2826912" y="2514529"/>
                </a:lnTo>
                <a:lnTo>
                  <a:pt x="2765068" y="2586933"/>
                </a:lnTo>
                <a:lnTo>
                  <a:pt x="2674085" y="2668627"/>
                </a:lnTo>
                <a:lnTo>
                  <a:pt x="2622038" y="2704139"/>
                </a:lnTo>
                <a:lnTo>
                  <a:pt x="2543709" y="2774920"/>
                </a:lnTo>
                <a:lnTo>
                  <a:pt x="2522195" y="2785163"/>
                </a:lnTo>
                <a:lnTo>
                  <a:pt x="2434882" y="2850899"/>
                </a:lnTo>
                <a:lnTo>
                  <a:pt x="2372565" y="2890785"/>
                </a:lnTo>
                <a:lnTo>
                  <a:pt x="2272369" y="2936803"/>
                </a:lnTo>
                <a:lnTo>
                  <a:pt x="2232763" y="2949613"/>
                </a:lnTo>
                <a:lnTo>
                  <a:pt x="2138751" y="2936283"/>
                </a:lnTo>
                <a:lnTo>
                  <a:pt x="2099377" y="2942567"/>
                </a:lnTo>
                <a:lnTo>
                  <a:pt x="2066366" y="2971124"/>
                </a:lnTo>
                <a:lnTo>
                  <a:pt x="2063070" y="3012406"/>
                </a:lnTo>
                <a:lnTo>
                  <a:pt x="2049388" y="3018526"/>
                </a:lnTo>
                <a:lnTo>
                  <a:pt x="2028712" y="3016583"/>
                </a:lnTo>
                <a:lnTo>
                  <a:pt x="1963138" y="2999169"/>
                </a:lnTo>
                <a:lnTo>
                  <a:pt x="1927528" y="3002438"/>
                </a:lnTo>
                <a:lnTo>
                  <a:pt x="1906765" y="3024469"/>
                </a:lnTo>
                <a:lnTo>
                  <a:pt x="1890088" y="3052403"/>
                </a:lnTo>
                <a:lnTo>
                  <a:pt x="1840757" y="3053951"/>
                </a:lnTo>
                <a:lnTo>
                  <a:pt x="1752685" y="3025533"/>
                </a:lnTo>
                <a:lnTo>
                  <a:pt x="1649019" y="3008915"/>
                </a:lnTo>
                <a:lnTo>
                  <a:pt x="1625028" y="3007252"/>
                </a:lnTo>
                <a:lnTo>
                  <a:pt x="1575181" y="3029348"/>
                </a:lnTo>
                <a:lnTo>
                  <a:pt x="1557702" y="3032728"/>
                </a:lnTo>
                <a:lnTo>
                  <a:pt x="1484593" y="3029351"/>
                </a:lnTo>
                <a:lnTo>
                  <a:pt x="1443792" y="3016589"/>
                </a:lnTo>
                <a:lnTo>
                  <a:pt x="1405029" y="3017338"/>
                </a:lnTo>
                <a:lnTo>
                  <a:pt x="1375581" y="3029178"/>
                </a:lnTo>
                <a:lnTo>
                  <a:pt x="1339670" y="3033940"/>
                </a:lnTo>
                <a:lnTo>
                  <a:pt x="1244748" y="3114071"/>
                </a:lnTo>
                <a:lnTo>
                  <a:pt x="1194697" y="3115634"/>
                </a:lnTo>
                <a:lnTo>
                  <a:pt x="1151823" y="3125967"/>
                </a:lnTo>
                <a:lnTo>
                  <a:pt x="1130405" y="3126363"/>
                </a:lnTo>
                <a:lnTo>
                  <a:pt x="1089944" y="3116883"/>
                </a:lnTo>
                <a:lnTo>
                  <a:pt x="1075046" y="3118128"/>
                </a:lnTo>
                <a:lnTo>
                  <a:pt x="1052435" y="3123810"/>
                </a:lnTo>
                <a:lnTo>
                  <a:pt x="1030149" y="3138300"/>
                </a:lnTo>
                <a:lnTo>
                  <a:pt x="978466" y="3146201"/>
                </a:lnTo>
                <a:lnTo>
                  <a:pt x="958790" y="3158634"/>
                </a:lnTo>
                <a:lnTo>
                  <a:pt x="874461" y="3233142"/>
                </a:lnTo>
                <a:lnTo>
                  <a:pt x="854409" y="3231205"/>
                </a:lnTo>
                <a:lnTo>
                  <a:pt x="838078" y="3227314"/>
                </a:lnTo>
                <a:lnTo>
                  <a:pt x="792630" y="3228571"/>
                </a:lnTo>
                <a:lnTo>
                  <a:pt x="739203" y="3193329"/>
                </a:lnTo>
                <a:lnTo>
                  <a:pt x="719614" y="3196707"/>
                </a:lnTo>
                <a:lnTo>
                  <a:pt x="724285" y="3185139"/>
                </a:lnTo>
                <a:lnTo>
                  <a:pt x="724790" y="3165021"/>
                </a:lnTo>
                <a:lnTo>
                  <a:pt x="713141" y="3151417"/>
                </a:lnTo>
                <a:lnTo>
                  <a:pt x="705430" y="3145475"/>
                </a:lnTo>
                <a:lnTo>
                  <a:pt x="685257" y="3147682"/>
                </a:lnTo>
                <a:lnTo>
                  <a:pt x="673538" y="3131169"/>
                </a:lnTo>
                <a:lnTo>
                  <a:pt x="642449" y="3131176"/>
                </a:lnTo>
                <a:lnTo>
                  <a:pt x="631975" y="3136066"/>
                </a:lnTo>
                <a:lnTo>
                  <a:pt x="617143" y="3137743"/>
                </a:lnTo>
                <a:lnTo>
                  <a:pt x="614803" y="3120547"/>
                </a:lnTo>
                <a:lnTo>
                  <a:pt x="615345" y="3109603"/>
                </a:lnTo>
                <a:lnTo>
                  <a:pt x="613453" y="3092933"/>
                </a:lnTo>
                <a:lnTo>
                  <a:pt x="608515" y="3072622"/>
                </a:lnTo>
                <a:lnTo>
                  <a:pt x="596089" y="3066742"/>
                </a:lnTo>
                <a:lnTo>
                  <a:pt x="586685" y="3064505"/>
                </a:lnTo>
                <a:lnTo>
                  <a:pt x="564760" y="3067129"/>
                </a:lnTo>
                <a:lnTo>
                  <a:pt x="549739" y="3070181"/>
                </a:lnTo>
                <a:lnTo>
                  <a:pt x="542986" y="3076550"/>
                </a:lnTo>
                <a:lnTo>
                  <a:pt x="535782" y="3092038"/>
                </a:lnTo>
                <a:lnTo>
                  <a:pt x="538518" y="3137733"/>
                </a:lnTo>
                <a:lnTo>
                  <a:pt x="526832" y="3125261"/>
                </a:lnTo>
                <a:lnTo>
                  <a:pt x="512741" y="3098608"/>
                </a:lnTo>
                <a:lnTo>
                  <a:pt x="506935" y="3069645"/>
                </a:lnTo>
                <a:lnTo>
                  <a:pt x="509228" y="3034847"/>
                </a:lnTo>
                <a:lnTo>
                  <a:pt x="531976" y="3020383"/>
                </a:lnTo>
                <a:lnTo>
                  <a:pt x="528707" y="2997154"/>
                </a:lnTo>
                <a:lnTo>
                  <a:pt x="522458" y="2977202"/>
                </a:lnTo>
                <a:lnTo>
                  <a:pt x="492840" y="2926898"/>
                </a:lnTo>
                <a:lnTo>
                  <a:pt x="481028" y="2903795"/>
                </a:lnTo>
                <a:lnTo>
                  <a:pt x="457545" y="2889055"/>
                </a:lnTo>
                <a:lnTo>
                  <a:pt x="437580" y="2851396"/>
                </a:lnTo>
                <a:lnTo>
                  <a:pt x="419021" y="2838418"/>
                </a:lnTo>
                <a:lnTo>
                  <a:pt x="409914" y="2811788"/>
                </a:lnTo>
                <a:lnTo>
                  <a:pt x="391251" y="2791162"/>
                </a:lnTo>
                <a:lnTo>
                  <a:pt x="383149" y="2757257"/>
                </a:lnTo>
                <a:lnTo>
                  <a:pt x="391392" y="2736997"/>
                </a:lnTo>
                <a:lnTo>
                  <a:pt x="405777" y="2725361"/>
                </a:lnTo>
                <a:lnTo>
                  <a:pt x="422247" y="2741424"/>
                </a:lnTo>
                <a:lnTo>
                  <a:pt x="440903" y="2733636"/>
                </a:lnTo>
                <a:lnTo>
                  <a:pt x="466517" y="2707240"/>
                </a:lnTo>
                <a:lnTo>
                  <a:pt x="480283" y="2668683"/>
                </a:lnTo>
                <a:lnTo>
                  <a:pt x="477610" y="2608438"/>
                </a:lnTo>
                <a:lnTo>
                  <a:pt x="471173" y="2571082"/>
                </a:lnTo>
                <a:lnTo>
                  <a:pt x="443515" y="2475208"/>
                </a:lnTo>
                <a:lnTo>
                  <a:pt x="431858" y="2453493"/>
                </a:lnTo>
                <a:lnTo>
                  <a:pt x="378341" y="2386908"/>
                </a:lnTo>
                <a:lnTo>
                  <a:pt x="315146" y="2297348"/>
                </a:lnTo>
                <a:lnTo>
                  <a:pt x="232726" y="2155215"/>
                </a:lnTo>
                <a:lnTo>
                  <a:pt x="191840" y="2069318"/>
                </a:lnTo>
                <a:lnTo>
                  <a:pt x="126553" y="1894872"/>
                </a:lnTo>
                <a:lnTo>
                  <a:pt x="72533" y="1797388"/>
                </a:lnTo>
                <a:lnTo>
                  <a:pt x="7894" y="1707460"/>
                </a:lnTo>
                <a:lnTo>
                  <a:pt x="0" y="1701881"/>
                </a:lnTo>
                <a:lnTo>
                  <a:pt x="8068" y="1689808"/>
                </a:lnTo>
                <a:lnTo>
                  <a:pt x="37797" y="1665865"/>
                </a:lnTo>
                <a:lnTo>
                  <a:pt x="51623" y="1658998"/>
                </a:lnTo>
                <a:lnTo>
                  <a:pt x="59368" y="1661166"/>
                </a:lnTo>
                <a:lnTo>
                  <a:pt x="66317" y="1654687"/>
                </a:lnTo>
                <a:lnTo>
                  <a:pt x="72454" y="1639513"/>
                </a:lnTo>
                <a:lnTo>
                  <a:pt x="73095" y="1625624"/>
                </a:lnTo>
                <a:lnTo>
                  <a:pt x="75287" y="1605884"/>
                </a:lnTo>
                <a:lnTo>
                  <a:pt x="81499" y="1593745"/>
                </a:lnTo>
                <a:lnTo>
                  <a:pt x="87619" y="1569953"/>
                </a:lnTo>
                <a:lnTo>
                  <a:pt x="99719" y="1554159"/>
                </a:lnTo>
                <a:lnTo>
                  <a:pt x="126845" y="1542432"/>
                </a:lnTo>
                <a:lnTo>
                  <a:pt x="148749" y="1554118"/>
                </a:lnTo>
                <a:lnTo>
                  <a:pt x="158405" y="1566394"/>
                </a:lnTo>
                <a:lnTo>
                  <a:pt x="163138" y="1583107"/>
                </a:lnTo>
                <a:lnTo>
                  <a:pt x="172965" y="1590687"/>
                </a:lnTo>
                <a:lnTo>
                  <a:pt x="187867" y="1589144"/>
                </a:lnTo>
                <a:lnTo>
                  <a:pt x="199062" y="1598901"/>
                </a:lnTo>
                <a:lnTo>
                  <a:pt x="206519" y="1619930"/>
                </a:lnTo>
                <a:lnTo>
                  <a:pt x="206273" y="1635537"/>
                </a:lnTo>
                <a:lnTo>
                  <a:pt x="198397" y="1645719"/>
                </a:lnTo>
                <a:lnTo>
                  <a:pt x="200393" y="1658300"/>
                </a:lnTo>
                <a:lnTo>
                  <a:pt x="212207" y="1673334"/>
                </a:lnTo>
                <a:lnTo>
                  <a:pt x="217614" y="1687978"/>
                </a:lnTo>
                <a:lnTo>
                  <a:pt x="226106" y="1707214"/>
                </a:lnTo>
                <a:lnTo>
                  <a:pt x="264754" y="1716310"/>
                </a:lnTo>
                <a:lnTo>
                  <a:pt x="283685" y="1721628"/>
                </a:lnTo>
                <a:lnTo>
                  <a:pt x="315771" y="1721877"/>
                </a:lnTo>
                <a:lnTo>
                  <a:pt x="346491" y="1728859"/>
                </a:lnTo>
                <a:lnTo>
                  <a:pt x="375827" y="1742620"/>
                </a:lnTo>
                <a:lnTo>
                  <a:pt x="422745" y="1743662"/>
                </a:lnTo>
                <a:lnTo>
                  <a:pt x="487310" y="1732159"/>
                </a:lnTo>
                <a:lnTo>
                  <a:pt x="541028" y="1732870"/>
                </a:lnTo>
                <a:lnTo>
                  <a:pt x="583850" y="1745749"/>
                </a:lnTo>
                <a:lnTo>
                  <a:pt x="614437" y="1747004"/>
                </a:lnTo>
                <a:lnTo>
                  <a:pt x="632851" y="1736593"/>
                </a:lnTo>
                <a:lnTo>
                  <a:pt x="640370" y="1722463"/>
                </a:lnTo>
                <a:lnTo>
                  <a:pt x="636981" y="1704632"/>
                </a:lnTo>
                <a:lnTo>
                  <a:pt x="645814" y="1692820"/>
                </a:lnTo>
                <a:lnTo>
                  <a:pt x="666852" y="1686991"/>
                </a:lnTo>
                <a:lnTo>
                  <a:pt x="683256" y="1672686"/>
                </a:lnTo>
                <a:lnTo>
                  <a:pt x="695056" y="1649846"/>
                </a:lnTo>
                <a:lnTo>
                  <a:pt x="723913" y="1630422"/>
                </a:lnTo>
                <a:lnTo>
                  <a:pt x="769850" y="1614446"/>
                </a:lnTo>
                <a:lnTo>
                  <a:pt x="793029" y="1613935"/>
                </a:lnTo>
                <a:lnTo>
                  <a:pt x="791523" y="1577904"/>
                </a:lnTo>
                <a:lnTo>
                  <a:pt x="786804" y="1464172"/>
                </a:lnTo>
                <a:lnTo>
                  <a:pt x="782135" y="1350449"/>
                </a:lnTo>
                <a:lnTo>
                  <a:pt x="777519" y="1236763"/>
                </a:lnTo>
                <a:lnTo>
                  <a:pt x="772953" y="1123063"/>
                </a:lnTo>
                <a:lnTo>
                  <a:pt x="768438" y="1009378"/>
                </a:lnTo>
                <a:lnTo>
                  <a:pt x="763976" y="895733"/>
                </a:lnTo>
                <a:lnTo>
                  <a:pt x="759564" y="782080"/>
                </a:lnTo>
                <a:lnTo>
                  <a:pt x="755446" y="674783"/>
                </a:lnTo>
                <a:lnTo>
                  <a:pt x="766963" y="682059"/>
                </a:lnTo>
                <a:lnTo>
                  <a:pt x="842788" y="736091"/>
                </a:lnTo>
                <a:lnTo>
                  <a:pt x="863721" y="765280"/>
                </a:lnTo>
                <a:lnTo>
                  <a:pt x="874257" y="783874"/>
                </a:lnTo>
                <a:lnTo>
                  <a:pt x="908224" y="851684"/>
                </a:lnTo>
                <a:lnTo>
                  <a:pt x="933808" y="912681"/>
                </a:lnTo>
                <a:lnTo>
                  <a:pt x="954409" y="958632"/>
                </a:lnTo>
                <a:lnTo>
                  <a:pt x="956555" y="979895"/>
                </a:lnTo>
                <a:lnTo>
                  <a:pt x="959923" y="1000641"/>
                </a:lnTo>
                <a:lnTo>
                  <a:pt x="962940" y="1010781"/>
                </a:lnTo>
                <a:lnTo>
                  <a:pt x="961557" y="1022172"/>
                </a:lnTo>
                <a:lnTo>
                  <a:pt x="949036" y="1047994"/>
                </a:lnTo>
                <a:lnTo>
                  <a:pt x="936068" y="1067893"/>
                </a:lnTo>
                <a:lnTo>
                  <a:pt x="920626" y="1094985"/>
                </a:lnTo>
                <a:lnTo>
                  <a:pt x="920274" y="1130061"/>
                </a:lnTo>
                <a:lnTo>
                  <a:pt x="926642" y="1171119"/>
                </a:lnTo>
                <a:lnTo>
                  <a:pt x="937361" y="1191279"/>
                </a:lnTo>
                <a:lnTo>
                  <a:pt x="950146" y="1197572"/>
                </a:lnTo>
                <a:lnTo>
                  <a:pt x="979833" y="1186294"/>
                </a:lnTo>
                <a:lnTo>
                  <a:pt x="998961" y="1188796"/>
                </a:lnTo>
                <a:lnTo>
                  <a:pt x="1026043" y="1195747"/>
                </a:lnTo>
                <a:lnTo>
                  <a:pt x="1113898" y="1188181"/>
                </a:lnTo>
                <a:lnTo>
                  <a:pt x="1124602" y="1190392"/>
                </a:lnTo>
                <a:lnTo>
                  <a:pt x="1157898" y="1192395"/>
                </a:lnTo>
                <a:lnTo>
                  <a:pt x="1168910" y="1188694"/>
                </a:lnTo>
                <a:lnTo>
                  <a:pt x="1178621" y="1179711"/>
                </a:lnTo>
                <a:lnTo>
                  <a:pt x="1189495" y="1154665"/>
                </a:lnTo>
                <a:lnTo>
                  <a:pt x="1199600" y="1146280"/>
                </a:lnTo>
                <a:lnTo>
                  <a:pt x="1218172" y="1141604"/>
                </a:lnTo>
                <a:lnTo>
                  <a:pt x="1240145" y="1134383"/>
                </a:lnTo>
                <a:lnTo>
                  <a:pt x="1258184" y="1119707"/>
                </a:lnTo>
                <a:lnTo>
                  <a:pt x="1286209" y="1070124"/>
                </a:lnTo>
                <a:lnTo>
                  <a:pt x="1343655" y="1025442"/>
                </a:lnTo>
                <a:lnTo>
                  <a:pt x="1361377" y="1014692"/>
                </a:lnTo>
                <a:lnTo>
                  <a:pt x="1372462" y="1002785"/>
                </a:lnTo>
                <a:lnTo>
                  <a:pt x="1381995" y="986869"/>
                </a:lnTo>
                <a:lnTo>
                  <a:pt x="1401516" y="931823"/>
                </a:lnTo>
                <a:lnTo>
                  <a:pt x="1416250" y="885995"/>
                </a:lnTo>
                <a:lnTo>
                  <a:pt x="1421180" y="864439"/>
                </a:lnTo>
                <a:lnTo>
                  <a:pt x="1434482" y="829136"/>
                </a:lnTo>
                <a:lnTo>
                  <a:pt x="1450946" y="806467"/>
                </a:lnTo>
                <a:lnTo>
                  <a:pt x="1467211" y="794394"/>
                </a:lnTo>
                <a:lnTo>
                  <a:pt x="1475403" y="791243"/>
                </a:lnTo>
                <a:lnTo>
                  <a:pt x="1496514" y="784876"/>
                </a:lnTo>
                <a:lnTo>
                  <a:pt x="1523703" y="778838"/>
                </a:lnTo>
                <a:lnTo>
                  <a:pt x="1552435" y="784784"/>
                </a:lnTo>
                <a:lnTo>
                  <a:pt x="1583327" y="797944"/>
                </a:lnTo>
                <a:lnTo>
                  <a:pt x="1618235" y="820427"/>
                </a:lnTo>
                <a:lnTo>
                  <a:pt x="1653956" y="848335"/>
                </a:lnTo>
                <a:lnTo>
                  <a:pt x="1670390" y="862556"/>
                </a:lnTo>
                <a:lnTo>
                  <a:pt x="1688012" y="868840"/>
                </a:lnTo>
                <a:lnTo>
                  <a:pt x="1719314" y="870839"/>
                </a:lnTo>
                <a:lnTo>
                  <a:pt x="1739821" y="870197"/>
                </a:lnTo>
                <a:lnTo>
                  <a:pt x="1771863" y="898103"/>
                </a:lnTo>
                <a:lnTo>
                  <a:pt x="1787997" y="899791"/>
                </a:lnTo>
                <a:lnTo>
                  <a:pt x="1824076" y="908146"/>
                </a:lnTo>
                <a:lnTo>
                  <a:pt x="1868611" y="916778"/>
                </a:lnTo>
                <a:lnTo>
                  <a:pt x="1896637" y="915736"/>
                </a:lnTo>
                <a:lnTo>
                  <a:pt x="1926654" y="900522"/>
                </a:lnTo>
                <a:lnTo>
                  <a:pt x="1948319" y="899881"/>
                </a:lnTo>
                <a:lnTo>
                  <a:pt x="1976315" y="901139"/>
                </a:lnTo>
                <a:lnTo>
                  <a:pt x="2007082" y="897042"/>
                </a:lnTo>
                <a:lnTo>
                  <a:pt x="2029677" y="890602"/>
                </a:lnTo>
                <a:lnTo>
                  <a:pt x="2046991" y="877469"/>
                </a:lnTo>
                <a:lnTo>
                  <a:pt x="2062266" y="863089"/>
                </a:lnTo>
                <a:lnTo>
                  <a:pt x="2079966" y="820159"/>
                </a:lnTo>
                <a:lnTo>
                  <a:pt x="2090244" y="785583"/>
                </a:lnTo>
                <a:lnTo>
                  <a:pt x="2106122" y="745856"/>
                </a:lnTo>
                <a:lnTo>
                  <a:pt x="2125682" y="692021"/>
                </a:lnTo>
                <a:lnTo>
                  <a:pt x="2132789" y="654450"/>
                </a:lnTo>
                <a:lnTo>
                  <a:pt x="2139928" y="644149"/>
                </a:lnTo>
                <a:lnTo>
                  <a:pt x="2167980" y="632871"/>
                </a:lnTo>
                <a:lnTo>
                  <a:pt x="2191182" y="625167"/>
                </a:lnTo>
                <a:lnTo>
                  <a:pt x="2253570" y="611015"/>
                </a:lnTo>
                <a:lnTo>
                  <a:pt x="2266419" y="603281"/>
                </a:lnTo>
                <a:lnTo>
                  <a:pt x="2278267" y="585686"/>
                </a:lnTo>
                <a:lnTo>
                  <a:pt x="2305824" y="555951"/>
                </a:lnTo>
                <a:lnTo>
                  <a:pt x="2339731" y="531296"/>
                </a:lnTo>
                <a:lnTo>
                  <a:pt x="2357256" y="517158"/>
                </a:lnTo>
                <a:lnTo>
                  <a:pt x="2390827" y="395759"/>
                </a:lnTo>
                <a:lnTo>
                  <a:pt x="2394910" y="380786"/>
                </a:lnTo>
                <a:lnTo>
                  <a:pt x="2418612" y="348831"/>
                </a:lnTo>
                <a:lnTo>
                  <a:pt x="2433169" y="335413"/>
                </a:lnTo>
                <a:lnTo>
                  <a:pt x="2442408" y="335325"/>
                </a:lnTo>
                <a:lnTo>
                  <a:pt x="2455675" y="327033"/>
                </a:lnTo>
                <a:lnTo>
                  <a:pt x="2472984" y="310543"/>
                </a:lnTo>
                <a:lnTo>
                  <a:pt x="2493424" y="300557"/>
                </a:lnTo>
                <a:lnTo>
                  <a:pt x="2516987" y="297131"/>
                </a:lnTo>
                <a:lnTo>
                  <a:pt x="2532413" y="286273"/>
                </a:lnTo>
                <a:lnTo>
                  <a:pt x="2539727" y="268046"/>
                </a:lnTo>
                <a:lnTo>
                  <a:pt x="2551991" y="259377"/>
                </a:lnTo>
                <a:lnTo>
                  <a:pt x="2569223" y="260247"/>
                </a:lnTo>
                <a:lnTo>
                  <a:pt x="2579150" y="254630"/>
                </a:lnTo>
                <a:lnTo>
                  <a:pt x="2581820" y="242470"/>
                </a:lnTo>
                <a:lnTo>
                  <a:pt x="2592449" y="232260"/>
                </a:lnTo>
                <a:lnTo>
                  <a:pt x="2611066" y="223983"/>
                </a:lnTo>
                <a:lnTo>
                  <a:pt x="2620944" y="213915"/>
                </a:lnTo>
                <a:lnTo>
                  <a:pt x="2622075" y="202047"/>
                </a:lnTo>
                <a:lnTo>
                  <a:pt x="2644697" y="173663"/>
                </a:lnTo>
                <a:lnTo>
                  <a:pt x="2688940" y="128789"/>
                </a:lnTo>
                <a:lnTo>
                  <a:pt x="2730274" y="104272"/>
                </a:lnTo>
                <a:lnTo>
                  <a:pt x="2768667" y="100124"/>
                </a:lnTo>
                <a:lnTo>
                  <a:pt x="2805166" y="91605"/>
                </a:lnTo>
                <a:lnTo>
                  <a:pt x="2839831" y="78709"/>
                </a:lnTo>
                <a:lnTo>
                  <a:pt x="2865623" y="57616"/>
                </a:lnTo>
                <a:lnTo>
                  <a:pt x="2882563" y="28355"/>
                </a:lnTo>
                <a:lnTo>
                  <a:pt x="2910749" y="12638"/>
                </a:lnTo>
                <a:lnTo>
                  <a:pt x="2966835" y="9600"/>
                </a:lnTo>
                <a:close/>
              </a:path>
            </a:pathLst>
          </a:custGeom>
          <a:solidFill>
            <a:srgbClr val="F2F1E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Natural Earth 1:50m boundary: Namibia"/>
          <p:cNvSpPr/>
          <p:nvPr/>
        </p:nvSpPr>
        <p:spPr>
          <a:xfrm>
            <a:off x="1559449" y="2283120"/>
            <a:ext cx="1183416" cy="1789553"/>
          </a:xfrm>
          <a:custGeom>
            <a:avLst/>
            <a:gdLst/>
            <a:ahLst/>
            <a:cxnLst/>
            <a:rect l="l" t="t" r="r" b="b"/>
            <a:pathLst>
              <a:path w="1183416" h="1789553">
                <a:moveTo>
                  <a:pt x="1183416" y="0"/>
                </a:moveTo>
                <a:lnTo>
                  <a:pt x="1183408" y="50"/>
                </a:lnTo>
                <a:lnTo>
                  <a:pt x="1148059" y="1205"/>
                </a:lnTo>
                <a:lnTo>
                  <a:pt x="1068126" y="3970"/>
                </a:lnTo>
                <a:lnTo>
                  <a:pt x="1000871" y="6463"/>
                </a:lnTo>
                <a:lnTo>
                  <a:pt x="946521" y="8588"/>
                </a:lnTo>
                <a:lnTo>
                  <a:pt x="948786" y="70417"/>
                </a:lnTo>
                <a:lnTo>
                  <a:pt x="951473" y="143567"/>
                </a:lnTo>
                <a:lnTo>
                  <a:pt x="954181" y="216704"/>
                </a:lnTo>
                <a:lnTo>
                  <a:pt x="956910" y="289852"/>
                </a:lnTo>
                <a:lnTo>
                  <a:pt x="959683" y="363010"/>
                </a:lnTo>
                <a:lnTo>
                  <a:pt x="962477" y="436179"/>
                </a:lnTo>
                <a:lnTo>
                  <a:pt x="965269" y="509359"/>
                </a:lnTo>
                <a:lnTo>
                  <a:pt x="968082" y="582549"/>
                </a:lnTo>
                <a:lnTo>
                  <a:pt x="970918" y="655773"/>
                </a:lnTo>
                <a:lnTo>
                  <a:pt x="973087" y="710996"/>
                </a:lnTo>
                <a:lnTo>
                  <a:pt x="973329" y="717332"/>
                </a:lnTo>
                <a:lnTo>
                  <a:pt x="977447" y="824629"/>
                </a:lnTo>
                <a:lnTo>
                  <a:pt x="981859" y="938282"/>
                </a:lnTo>
                <a:lnTo>
                  <a:pt x="986321" y="1051927"/>
                </a:lnTo>
                <a:lnTo>
                  <a:pt x="990836" y="1165612"/>
                </a:lnTo>
                <a:lnTo>
                  <a:pt x="995402" y="1279312"/>
                </a:lnTo>
                <a:lnTo>
                  <a:pt x="1000018" y="1392998"/>
                </a:lnTo>
                <a:lnTo>
                  <a:pt x="1004687" y="1506721"/>
                </a:lnTo>
                <a:lnTo>
                  <a:pt x="1009406" y="1620453"/>
                </a:lnTo>
                <a:lnTo>
                  <a:pt x="1010912" y="1656484"/>
                </a:lnTo>
                <a:lnTo>
                  <a:pt x="987733" y="1656995"/>
                </a:lnTo>
                <a:lnTo>
                  <a:pt x="941796" y="1672971"/>
                </a:lnTo>
                <a:lnTo>
                  <a:pt x="912939" y="1692395"/>
                </a:lnTo>
                <a:lnTo>
                  <a:pt x="901139" y="1715235"/>
                </a:lnTo>
                <a:lnTo>
                  <a:pt x="884735" y="1729540"/>
                </a:lnTo>
                <a:lnTo>
                  <a:pt x="863697" y="1735369"/>
                </a:lnTo>
                <a:lnTo>
                  <a:pt x="854864" y="1747181"/>
                </a:lnTo>
                <a:lnTo>
                  <a:pt x="858253" y="1765012"/>
                </a:lnTo>
                <a:lnTo>
                  <a:pt x="850734" y="1779142"/>
                </a:lnTo>
                <a:lnTo>
                  <a:pt x="832320" y="1789553"/>
                </a:lnTo>
                <a:lnTo>
                  <a:pt x="801733" y="1788298"/>
                </a:lnTo>
                <a:lnTo>
                  <a:pt x="758911" y="1775419"/>
                </a:lnTo>
                <a:lnTo>
                  <a:pt x="705193" y="1774708"/>
                </a:lnTo>
                <a:lnTo>
                  <a:pt x="640628" y="1786211"/>
                </a:lnTo>
                <a:lnTo>
                  <a:pt x="593710" y="1785169"/>
                </a:lnTo>
                <a:lnTo>
                  <a:pt x="564374" y="1771408"/>
                </a:lnTo>
                <a:lnTo>
                  <a:pt x="533654" y="1764426"/>
                </a:lnTo>
                <a:lnTo>
                  <a:pt x="501568" y="1764177"/>
                </a:lnTo>
                <a:lnTo>
                  <a:pt x="482637" y="1758859"/>
                </a:lnTo>
                <a:lnTo>
                  <a:pt x="443989" y="1749763"/>
                </a:lnTo>
                <a:lnTo>
                  <a:pt x="435497" y="1730527"/>
                </a:lnTo>
                <a:lnTo>
                  <a:pt x="430090" y="1715883"/>
                </a:lnTo>
                <a:lnTo>
                  <a:pt x="418276" y="1700849"/>
                </a:lnTo>
                <a:lnTo>
                  <a:pt x="416280" y="1688268"/>
                </a:lnTo>
                <a:lnTo>
                  <a:pt x="424156" y="1678086"/>
                </a:lnTo>
                <a:lnTo>
                  <a:pt x="424402" y="1662479"/>
                </a:lnTo>
                <a:lnTo>
                  <a:pt x="416945" y="1641450"/>
                </a:lnTo>
                <a:lnTo>
                  <a:pt x="405750" y="1631693"/>
                </a:lnTo>
                <a:lnTo>
                  <a:pt x="390848" y="1633236"/>
                </a:lnTo>
                <a:lnTo>
                  <a:pt x="381021" y="1625656"/>
                </a:lnTo>
                <a:lnTo>
                  <a:pt x="376288" y="1608943"/>
                </a:lnTo>
                <a:lnTo>
                  <a:pt x="366632" y="1596667"/>
                </a:lnTo>
                <a:lnTo>
                  <a:pt x="344728" y="1584981"/>
                </a:lnTo>
                <a:lnTo>
                  <a:pt x="317602" y="1596708"/>
                </a:lnTo>
                <a:lnTo>
                  <a:pt x="305502" y="1612502"/>
                </a:lnTo>
                <a:lnTo>
                  <a:pt x="299382" y="1636294"/>
                </a:lnTo>
                <a:lnTo>
                  <a:pt x="293170" y="1648433"/>
                </a:lnTo>
                <a:lnTo>
                  <a:pt x="290978" y="1668173"/>
                </a:lnTo>
                <a:lnTo>
                  <a:pt x="290337" y="1682062"/>
                </a:lnTo>
                <a:lnTo>
                  <a:pt x="284200" y="1697236"/>
                </a:lnTo>
                <a:lnTo>
                  <a:pt x="277251" y="1703715"/>
                </a:lnTo>
                <a:lnTo>
                  <a:pt x="269506" y="1701547"/>
                </a:lnTo>
                <a:lnTo>
                  <a:pt x="255680" y="1708414"/>
                </a:lnTo>
                <a:lnTo>
                  <a:pt x="225951" y="1732357"/>
                </a:lnTo>
                <a:lnTo>
                  <a:pt x="217883" y="1744430"/>
                </a:lnTo>
                <a:lnTo>
                  <a:pt x="191115" y="1725546"/>
                </a:lnTo>
                <a:lnTo>
                  <a:pt x="111591" y="1653127"/>
                </a:lnTo>
                <a:lnTo>
                  <a:pt x="109892" y="1652007"/>
                </a:lnTo>
                <a:lnTo>
                  <a:pt x="0" y="61502"/>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Natural Earth 1:50m boundary: Mozambique"/>
          <p:cNvSpPr/>
          <p:nvPr/>
        </p:nvSpPr>
        <p:spPr>
          <a:xfrm>
            <a:off x="5199356" y="2310601"/>
            <a:ext cx="602150" cy="1254576"/>
          </a:xfrm>
          <a:custGeom>
            <a:avLst/>
            <a:gdLst/>
            <a:ahLst/>
            <a:cxnLst/>
            <a:rect l="l" t="t" r="r" b="b"/>
            <a:pathLst>
              <a:path w="602150" h="1254576">
                <a:moveTo>
                  <a:pt x="0" y="97216"/>
                </a:moveTo>
                <a:lnTo>
                  <a:pt x="34820" y="72590"/>
                </a:lnTo>
                <a:lnTo>
                  <a:pt x="70279" y="37270"/>
                </a:lnTo>
                <a:lnTo>
                  <a:pt x="107805" y="0"/>
                </a:lnTo>
                <a:lnTo>
                  <a:pt x="602150" y="30639"/>
                </a:lnTo>
                <a:lnTo>
                  <a:pt x="551179" y="817534"/>
                </a:lnTo>
                <a:lnTo>
                  <a:pt x="486819" y="840334"/>
                </a:lnTo>
                <a:lnTo>
                  <a:pt x="443328" y="855816"/>
                </a:lnTo>
                <a:lnTo>
                  <a:pt x="350248" y="908459"/>
                </a:lnTo>
                <a:lnTo>
                  <a:pt x="308806" y="945252"/>
                </a:lnTo>
                <a:lnTo>
                  <a:pt x="290010" y="989339"/>
                </a:lnTo>
                <a:lnTo>
                  <a:pt x="273391" y="1009025"/>
                </a:lnTo>
                <a:lnTo>
                  <a:pt x="256757" y="1034229"/>
                </a:lnTo>
                <a:lnTo>
                  <a:pt x="268537" y="1057514"/>
                </a:lnTo>
                <a:lnTo>
                  <a:pt x="280401" y="1075326"/>
                </a:lnTo>
                <a:lnTo>
                  <a:pt x="294903" y="1087677"/>
                </a:lnTo>
                <a:lnTo>
                  <a:pt x="302176" y="1097992"/>
                </a:lnTo>
                <a:lnTo>
                  <a:pt x="312073" y="1105473"/>
                </a:lnTo>
                <a:lnTo>
                  <a:pt x="324657" y="1070837"/>
                </a:lnTo>
                <a:lnTo>
                  <a:pt x="330483" y="1060193"/>
                </a:lnTo>
                <a:lnTo>
                  <a:pt x="339386" y="1059925"/>
                </a:lnTo>
                <a:lnTo>
                  <a:pt x="331791" y="1102726"/>
                </a:lnTo>
                <a:lnTo>
                  <a:pt x="312305" y="1249805"/>
                </a:lnTo>
                <a:lnTo>
                  <a:pt x="311309" y="1254576"/>
                </a:lnTo>
                <a:lnTo>
                  <a:pt x="286248" y="1253371"/>
                </a:lnTo>
                <a:lnTo>
                  <a:pt x="243262" y="1251855"/>
                </a:lnTo>
                <a:lnTo>
                  <a:pt x="217845" y="1250965"/>
                </a:lnTo>
                <a:lnTo>
                  <a:pt x="189408" y="1250014"/>
                </a:lnTo>
                <a:lnTo>
                  <a:pt x="154644" y="1240700"/>
                </a:lnTo>
                <a:lnTo>
                  <a:pt x="134728" y="1241044"/>
                </a:lnTo>
                <a:lnTo>
                  <a:pt x="137777" y="1159309"/>
                </a:lnTo>
                <a:lnTo>
                  <a:pt x="132360" y="1140987"/>
                </a:lnTo>
                <a:lnTo>
                  <a:pt x="127037" y="1114360"/>
                </a:lnTo>
                <a:lnTo>
                  <a:pt x="126383" y="1097421"/>
                </a:lnTo>
                <a:lnTo>
                  <a:pt x="131591" y="1080749"/>
                </a:lnTo>
                <a:lnTo>
                  <a:pt x="135128" y="1054066"/>
                </a:lnTo>
                <a:lnTo>
                  <a:pt x="134520" y="1030497"/>
                </a:lnTo>
                <a:lnTo>
                  <a:pt x="113953" y="1017491"/>
                </a:lnTo>
                <a:lnTo>
                  <a:pt x="109498" y="1013481"/>
                </a:lnTo>
                <a:lnTo>
                  <a:pt x="105909" y="994752"/>
                </a:lnTo>
                <a:lnTo>
                  <a:pt x="105603" y="966175"/>
                </a:lnTo>
                <a:lnTo>
                  <a:pt x="122411" y="930743"/>
                </a:lnTo>
                <a:lnTo>
                  <a:pt x="124981" y="861061"/>
                </a:lnTo>
                <a:lnTo>
                  <a:pt x="128067" y="836637"/>
                </a:lnTo>
                <a:lnTo>
                  <a:pt x="130374" y="788170"/>
                </a:lnTo>
                <a:lnTo>
                  <a:pt x="133190" y="729453"/>
                </a:lnTo>
                <a:lnTo>
                  <a:pt x="135706" y="676880"/>
                </a:lnTo>
                <a:lnTo>
                  <a:pt x="138717" y="631545"/>
                </a:lnTo>
                <a:lnTo>
                  <a:pt x="135355" y="609790"/>
                </a:lnTo>
                <a:lnTo>
                  <a:pt x="132231" y="597781"/>
                </a:lnTo>
                <a:lnTo>
                  <a:pt x="123527" y="573203"/>
                </a:lnTo>
                <a:lnTo>
                  <a:pt x="114469" y="522502"/>
                </a:lnTo>
                <a:lnTo>
                  <a:pt x="102634" y="483936"/>
                </a:lnTo>
                <a:lnTo>
                  <a:pt x="86150" y="458029"/>
                </a:lnTo>
                <a:lnTo>
                  <a:pt x="81162" y="444582"/>
                </a:lnTo>
                <a:lnTo>
                  <a:pt x="76296" y="426694"/>
                </a:lnTo>
                <a:lnTo>
                  <a:pt x="61007" y="394825"/>
                </a:lnTo>
                <a:lnTo>
                  <a:pt x="48115" y="376069"/>
                </a:lnTo>
                <a:lnTo>
                  <a:pt x="45060" y="361436"/>
                </a:lnTo>
                <a:lnTo>
                  <a:pt x="47328" y="324117"/>
                </a:lnTo>
                <a:lnTo>
                  <a:pt x="35153" y="256236"/>
                </a:lnTo>
                <a:lnTo>
                  <a:pt x="26234" y="206755"/>
                </a:lnTo>
                <a:lnTo>
                  <a:pt x="11785" y="152933"/>
                </a:lnTo>
                <a:lnTo>
                  <a:pt x="2043" y="116898"/>
                </a:lnTo>
                <a:lnTo>
                  <a:pt x="649" y="110709"/>
                </a:lnTo>
                <a:lnTo>
                  <a:pt x="0" y="97216"/>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Natural Earth 1:50m boundary: Lesotho"/>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Natural Earth 1:50m boundary: Botswana"/>
          <p:cNvSpPr/>
          <p:nvPr/>
        </p:nvSpPr>
        <p:spPr>
          <a:xfrm>
            <a:off x="2505970" y="2283120"/>
            <a:ext cx="2238197" cy="1240121"/>
          </a:xfrm>
          <a:custGeom>
            <a:avLst/>
            <a:gdLst/>
            <a:ahLst/>
            <a:cxnLst/>
            <a:rect l="l" t="t" r="r" b="b"/>
            <a:pathLst>
              <a:path w="2238197" h="1240121">
                <a:moveTo>
                  <a:pt x="2160588" y="30"/>
                </a:moveTo>
                <a:lnTo>
                  <a:pt x="2162701" y="4785"/>
                </a:lnTo>
                <a:lnTo>
                  <a:pt x="2169426" y="12433"/>
                </a:lnTo>
                <a:lnTo>
                  <a:pt x="2177718" y="17366"/>
                </a:lnTo>
                <a:lnTo>
                  <a:pt x="2208684" y="21911"/>
                </a:lnTo>
                <a:lnTo>
                  <a:pt x="2226668" y="42498"/>
                </a:lnTo>
                <a:lnTo>
                  <a:pt x="2238197" y="52149"/>
                </a:lnTo>
                <a:lnTo>
                  <a:pt x="2182111" y="55187"/>
                </a:lnTo>
                <a:lnTo>
                  <a:pt x="2153925" y="70904"/>
                </a:lnTo>
                <a:lnTo>
                  <a:pt x="2136985" y="100165"/>
                </a:lnTo>
                <a:lnTo>
                  <a:pt x="2111193" y="121258"/>
                </a:lnTo>
                <a:lnTo>
                  <a:pt x="2076528" y="134154"/>
                </a:lnTo>
                <a:lnTo>
                  <a:pt x="2040029" y="142673"/>
                </a:lnTo>
                <a:lnTo>
                  <a:pt x="2001636" y="146821"/>
                </a:lnTo>
                <a:lnTo>
                  <a:pt x="1960302" y="171338"/>
                </a:lnTo>
                <a:lnTo>
                  <a:pt x="1916059" y="216212"/>
                </a:lnTo>
                <a:lnTo>
                  <a:pt x="1893437" y="244596"/>
                </a:lnTo>
                <a:lnTo>
                  <a:pt x="1892306" y="256464"/>
                </a:lnTo>
                <a:lnTo>
                  <a:pt x="1882428" y="266532"/>
                </a:lnTo>
                <a:lnTo>
                  <a:pt x="1863811" y="274809"/>
                </a:lnTo>
                <a:lnTo>
                  <a:pt x="1853182" y="285019"/>
                </a:lnTo>
                <a:lnTo>
                  <a:pt x="1850512" y="297179"/>
                </a:lnTo>
                <a:lnTo>
                  <a:pt x="1840585" y="302796"/>
                </a:lnTo>
                <a:lnTo>
                  <a:pt x="1823353" y="301926"/>
                </a:lnTo>
                <a:lnTo>
                  <a:pt x="1811089" y="310595"/>
                </a:lnTo>
                <a:lnTo>
                  <a:pt x="1803775" y="328822"/>
                </a:lnTo>
                <a:lnTo>
                  <a:pt x="1788349" y="339680"/>
                </a:lnTo>
                <a:lnTo>
                  <a:pt x="1764786" y="343106"/>
                </a:lnTo>
                <a:lnTo>
                  <a:pt x="1744346" y="353092"/>
                </a:lnTo>
                <a:lnTo>
                  <a:pt x="1727037" y="369582"/>
                </a:lnTo>
                <a:lnTo>
                  <a:pt x="1713770" y="377874"/>
                </a:lnTo>
                <a:lnTo>
                  <a:pt x="1704531" y="377962"/>
                </a:lnTo>
                <a:lnTo>
                  <a:pt x="1689974" y="391380"/>
                </a:lnTo>
                <a:lnTo>
                  <a:pt x="1666272" y="423335"/>
                </a:lnTo>
                <a:lnTo>
                  <a:pt x="1662189" y="438308"/>
                </a:lnTo>
                <a:lnTo>
                  <a:pt x="1628618" y="559707"/>
                </a:lnTo>
                <a:lnTo>
                  <a:pt x="1611093" y="573845"/>
                </a:lnTo>
                <a:lnTo>
                  <a:pt x="1577186" y="598500"/>
                </a:lnTo>
                <a:lnTo>
                  <a:pt x="1549629" y="628235"/>
                </a:lnTo>
                <a:lnTo>
                  <a:pt x="1537781" y="645830"/>
                </a:lnTo>
                <a:lnTo>
                  <a:pt x="1524932" y="653564"/>
                </a:lnTo>
                <a:lnTo>
                  <a:pt x="1462544" y="667716"/>
                </a:lnTo>
                <a:lnTo>
                  <a:pt x="1439342" y="675420"/>
                </a:lnTo>
                <a:lnTo>
                  <a:pt x="1411290" y="686698"/>
                </a:lnTo>
                <a:lnTo>
                  <a:pt x="1404151" y="696999"/>
                </a:lnTo>
                <a:lnTo>
                  <a:pt x="1397044" y="734570"/>
                </a:lnTo>
                <a:lnTo>
                  <a:pt x="1377484" y="788405"/>
                </a:lnTo>
                <a:lnTo>
                  <a:pt x="1361606" y="828132"/>
                </a:lnTo>
                <a:lnTo>
                  <a:pt x="1351328" y="862708"/>
                </a:lnTo>
                <a:lnTo>
                  <a:pt x="1333628" y="905638"/>
                </a:lnTo>
                <a:lnTo>
                  <a:pt x="1318353" y="920018"/>
                </a:lnTo>
                <a:lnTo>
                  <a:pt x="1301039" y="933151"/>
                </a:lnTo>
                <a:lnTo>
                  <a:pt x="1278444" y="939591"/>
                </a:lnTo>
                <a:lnTo>
                  <a:pt x="1247677" y="943688"/>
                </a:lnTo>
                <a:lnTo>
                  <a:pt x="1219681" y="942430"/>
                </a:lnTo>
                <a:lnTo>
                  <a:pt x="1198016" y="943071"/>
                </a:lnTo>
                <a:lnTo>
                  <a:pt x="1167999" y="958285"/>
                </a:lnTo>
                <a:lnTo>
                  <a:pt x="1139973" y="959327"/>
                </a:lnTo>
                <a:lnTo>
                  <a:pt x="1095438" y="950695"/>
                </a:lnTo>
                <a:lnTo>
                  <a:pt x="1059359" y="942340"/>
                </a:lnTo>
                <a:lnTo>
                  <a:pt x="1043225" y="940652"/>
                </a:lnTo>
                <a:lnTo>
                  <a:pt x="1011183" y="912746"/>
                </a:lnTo>
                <a:lnTo>
                  <a:pt x="990676" y="913388"/>
                </a:lnTo>
                <a:lnTo>
                  <a:pt x="959374" y="911389"/>
                </a:lnTo>
                <a:lnTo>
                  <a:pt x="941752" y="905105"/>
                </a:lnTo>
                <a:lnTo>
                  <a:pt x="925318" y="890884"/>
                </a:lnTo>
                <a:lnTo>
                  <a:pt x="889597" y="862976"/>
                </a:lnTo>
                <a:lnTo>
                  <a:pt x="854689" y="840493"/>
                </a:lnTo>
                <a:lnTo>
                  <a:pt x="823797" y="827333"/>
                </a:lnTo>
                <a:lnTo>
                  <a:pt x="795065" y="821387"/>
                </a:lnTo>
                <a:lnTo>
                  <a:pt x="767876" y="827425"/>
                </a:lnTo>
                <a:lnTo>
                  <a:pt x="746765" y="833792"/>
                </a:lnTo>
                <a:lnTo>
                  <a:pt x="738573" y="836943"/>
                </a:lnTo>
                <a:lnTo>
                  <a:pt x="722308" y="849016"/>
                </a:lnTo>
                <a:lnTo>
                  <a:pt x="705844" y="871685"/>
                </a:lnTo>
                <a:lnTo>
                  <a:pt x="692542" y="906988"/>
                </a:lnTo>
                <a:lnTo>
                  <a:pt x="687612" y="928544"/>
                </a:lnTo>
                <a:lnTo>
                  <a:pt x="672878" y="974372"/>
                </a:lnTo>
                <a:lnTo>
                  <a:pt x="653357" y="1029418"/>
                </a:lnTo>
                <a:lnTo>
                  <a:pt x="643824" y="1045334"/>
                </a:lnTo>
                <a:lnTo>
                  <a:pt x="632739" y="1057241"/>
                </a:lnTo>
                <a:lnTo>
                  <a:pt x="615017" y="1067991"/>
                </a:lnTo>
                <a:lnTo>
                  <a:pt x="557571" y="1112673"/>
                </a:lnTo>
                <a:lnTo>
                  <a:pt x="529546" y="1162256"/>
                </a:lnTo>
                <a:lnTo>
                  <a:pt x="511507" y="1176932"/>
                </a:lnTo>
                <a:lnTo>
                  <a:pt x="489534" y="1184153"/>
                </a:lnTo>
                <a:lnTo>
                  <a:pt x="470962" y="1188829"/>
                </a:lnTo>
                <a:lnTo>
                  <a:pt x="460857" y="1197214"/>
                </a:lnTo>
                <a:lnTo>
                  <a:pt x="449983" y="1222260"/>
                </a:lnTo>
                <a:lnTo>
                  <a:pt x="440272" y="1231243"/>
                </a:lnTo>
                <a:lnTo>
                  <a:pt x="429260" y="1234944"/>
                </a:lnTo>
                <a:lnTo>
                  <a:pt x="395964" y="1232941"/>
                </a:lnTo>
                <a:lnTo>
                  <a:pt x="385260" y="1230730"/>
                </a:lnTo>
                <a:lnTo>
                  <a:pt x="297405" y="1238296"/>
                </a:lnTo>
                <a:lnTo>
                  <a:pt x="270323" y="1231345"/>
                </a:lnTo>
                <a:lnTo>
                  <a:pt x="251195" y="1228843"/>
                </a:lnTo>
                <a:lnTo>
                  <a:pt x="221508" y="1240121"/>
                </a:lnTo>
                <a:lnTo>
                  <a:pt x="208723" y="1233828"/>
                </a:lnTo>
                <a:lnTo>
                  <a:pt x="198004" y="1213668"/>
                </a:lnTo>
                <a:lnTo>
                  <a:pt x="191636" y="1172610"/>
                </a:lnTo>
                <a:lnTo>
                  <a:pt x="191988" y="1137534"/>
                </a:lnTo>
                <a:lnTo>
                  <a:pt x="207430" y="1110442"/>
                </a:lnTo>
                <a:lnTo>
                  <a:pt x="220398" y="1090543"/>
                </a:lnTo>
                <a:lnTo>
                  <a:pt x="232919" y="1064721"/>
                </a:lnTo>
                <a:lnTo>
                  <a:pt x="234302" y="1053330"/>
                </a:lnTo>
                <a:lnTo>
                  <a:pt x="231285" y="1043190"/>
                </a:lnTo>
                <a:lnTo>
                  <a:pt x="227917" y="1022444"/>
                </a:lnTo>
                <a:lnTo>
                  <a:pt x="225771" y="1001181"/>
                </a:lnTo>
                <a:lnTo>
                  <a:pt x="205170" y="955230"/>
                </a:lnTo>
                <a:lnTo>
                  <a:pt x="179586" y="894233"/>
                </a:lnTo>
                <a:lnTo>
                  <a:pt x="145619" y="826423"/>
                </a:lnTo>
                <a:lnTo>
                  <a:pt x="135083" y="807829"/>
                </a:lnTo>
                <a:lnTo>
                  <a:pt x="114150" y="778640"/>
                </a:lnTo>
                <a:lnTo>
                  <a:pt x="38325" y="724608"/>
                </a:lnTo>
                <a:lnTo>
                  <a:pt x="26808" y="717332"/>
                </a:lnTo>
                <a:lnTo>
                  <a:pt x="26566" y="710996"/>
                </a:lnTo>
                <a:lnTo>
                  <a:pt x="24397" y="655773"/>
                </a:lnTo>
                <a:lnTo>
                  <a:pt x="21561" y="582549"/>
                </a:lnTo>
                <a:lnTo>
                  <a:pt x="18748" y="509359"/>
                </a:lnTo>
                <a:lnTo>
                  <a:pt x="15956" y="436179"/>
                </a:lnTo>
                <a:lnTo>
                  <a:pt x="13162" y="363010"/>
                </a:lnTo>
                <a:lnTo>
                  <a:pt x="10389" y="289852"/>
                </a:lnTo>
                <a:lnTo>
                  <a:pt x="7660" y="216704"/>
                </a:lnTo>
                <a:lnTo>
                  <a:pt x="4952" y="143567"/>
                </a:lnTo>
                <a:lnTo>
                  <a:pt x="2265" y="70417"/>
                </a:lnTo>
                <a:lnTo>
                  <a:pt x="0" y="8588"/>
                </a:lnTo>
                <a:lnTo>
                  <a:pt x="54350" y="6463"/>
                </a:lnTo>
                <a:lnTo>
                  <a:pt x="121605" y="3970"/>
                </a:lnTo>
                <a:lnTo>
                  <a:pt x="201538" y="1205"/>
                </a:lnTo>
                <a:lnTo>
                  <a:pt x="236887" y="50"/>
                </a:lnTo>
                <a:lnTo>
                  <a:pt x="236895" y="0"/>
                </a:lnTo>
                <a:close/>
              </a:path>
            </a:pathLst>
          </a:custGeom>
          <a:solidFill>
            <a:srgbClr val="EEEEEE"/>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23" name="Connector 22"/>
          <p:cNvCxnSpPr/>
          <p:nvPr/>
        </p:nvCxnSpPr>
        <p:spPr>
          <a:xfrm flipH="1" flipV="1">
            <a:off x="2647004"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flipH="1" flipV="1">
            <a:off x="264394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flipH="1" flipV="1">
            <a:off x="2640901"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flipH="1" flipV="1">
            <a:off x="2637873"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flipH="1" flipV="1">
            <a:off x="2634861"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flipH="1" flipV="1">
            <a:off x="2631865"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flipH="1" flipV="1">
            <a:off x="2628885"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flipH="1" flipV="1">
            <a:off x="2625920"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flipH="1" flipV="1">
            <a:off x="2622972"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flipH="1" flipV="1">
            <a:off x="2620039"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H="1" flipV="1">
            <a:off x="2617123" y="4910806"/>
            <a:ext cx="2916"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H="1" flipV="1">
            <a:off x="2614222" y="4846882"/>
            <a:ext cx="2901"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flipH="1" flipV="1">
            <a:off x="261133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flipH="1" flipV="1">
            <a:off x="2608468"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flipH="1" flipV="1">
            <a:off x="2605615"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flipV="1">
            <a:off x="2602778"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 name="Connector 38"/>
          <p:cNvCxnSpPr/>
          <p:nvPr/>
        </p:nvCxnSpPr>
        <p:spPr>
          <a:xfrm flipH="1" flipV="1">
            <a:off x="2599957"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0" name="Connector 39"/>
          <p:cNvCxnSpPr/>
          <p:nvPr/>
        </p:nvCxnSpPr>
        <p:spPr>
          <a:xfrm flipH="1" flipV="1">
            <a:off x="259715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1" name="Connector 40"/>
          <p:cNvCxnSpPr/>
          <p:nvPr/>
        </p:nvCxnSpPr>
        <p:spPr>
          <a:xfrm flipH="1" flipV="1">
            <a:off x="2594363"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flipH="1" flipV="1">
            <a:off x="2591590"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H="1" flipV="1">
            <a:off x="2588833"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flipH="1" flipV="1">
            <a:off x="2586092"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flipV="1">
            <a:off x="258336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flipH="1" flipV="1">
            <a:off x="2580658"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flipV="1">
            <a:off x="2577965"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8" name="Connector 47"/>
          <p:cNvCxnSpPr/>
          <p:nvPr/>
        </p:nvCxnSpPr>
        <p:spPr>
          <a:xfrm flipH="1" flipV="1">
            <a:off x="2575288"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49" name="Connector 48"/>
          <p:cNvCxnSpPr/>
          <p:nvPr/>
        </p:nvCxnSpPr>
        <p:spPr>
          <a:xfrm flipH="1" flipV="1">
            <a:off x="2572628" y="3887956"/>
            <a:ext cx="266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0" name="Connector 49"/>
          <p:cNvCxnSpPr/>
          <p:nvPr/>
        </p:nvCxnSpPr>
        <p:spPr>
          <a:xfrm flipH="1" flipV="1">
            <a:off x="2569983" y="3824036"/>
            <a:ext cx="2645"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H="1" flipV="1">
            <a:off x="2567354"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2" name="Connector 51"/>
          <p:cNvCxnSpPr/>
          <p:nvPr/>
        </p:nvCxnSpPr>
        <p:spPr>
          <a:xfrm flipH="1" flipV="1">
            <a:off x="2564742"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3" name="Connector 52"/>
          <p:cNvCxnSpPr/>
          <p:nvPr/>
        </p:nvCxnSpPr>
        <p:spPr>
          <a:xfrm flipH="1" flipV="1">
            <a:off x="2562146" y="3632294"/>
            <a:ext cx="2596"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4" name="Connector 53"/>
          <p:cNvCxnSpPr/>
          <p:nvPr/>
        </p:nvCxnSpPr>
        <p:spPr>
          <a:xfrm flipH="1" flipV="1">
            <a:off x="2559565" y="3568387"/>
            <a:ext cx="2581"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5" name="Connector 54"/>
          <p:cNvCxnSpPr/>
          <p:nvPr/>
        </p:nvCxnSpPr>
        <p:spPr>
          <a:xfrm flipH="1" flipV="1">
            <a:off x="2557001"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6" name="Connector 55"/>
          <p:cNvCxnSpPr/>
          <p:nvPr/>
        </p:nvCxnSpPr>
        <p:spPr>
          <a:xfrm flipH="1" flipV="1">
            <a:off x="2554453"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7" name="Connector 56"/>
          <p:cNvCxnSpPr/>
          <p:nvPr/>
        </p:nvCxnSpPr>
        <p:spPr>
          <a:xfrm flipH="1" flipV="1">
            <a:off x="2551922"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8" name="Connector 57"/>
          <p:cNvCxnSpPr/>
          <p:nvPr/>
        </p:nvCxnSpPr>
        <p:spPr>
          <a:xfrm flipH="1" flipV="1">
            <a:off x="2549406"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59" name="Connector 58"/>
          <p:cNvCxnSpPr/>
          <p:nvPr/>
        </p:nvCxnSpPr>
        <p:spPr>
          <a:xfrm flipH="1" flipV="1">
            <a:off x="2546907"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0" name="Connector 59"/>
          <p:cNvCxnSpPr/>
          <p:nvPr/>
        </p:nvCxnSpPr>
        <p:spPr>
          <a:xfrm flipH="1" flipV="1">
            <a:off x="2544424" y="3185035"/>
            <a:ext cx="2483"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1" name="Connector 60"/>
          <p:cNvCxnSpPr/>
          <p:nvPr/>
        </p:nvCxnSpPr>
        <p:spPr>
          <a:xfrm flipH="1" flipV="1">
            <a:off x="2541957" y="3121161"/>
            <a:ext cx="2467"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flipH="1" flipV="1">
            <a:off x="2539506"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3" name="Connector 62"/>
          <p:cNvCxnSpPr/>
          <p:nvPr/>
        </p:nvCxnSpPr>
        <p:spPr>
          <a:xfrm flipH="1" flipV="1">
            <a:off x="2537072" y="2993431"/>
            <a:ext cx="2434"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4" name="Connector 63"/>
          <p:cNvCxnSpPr/>
          <p:nvPr/>
        </p:nvCxnSpPr>
        <p:spPr>
          <a:xfrm flipH="1" flipV="1">
            <a:off x="2534653" y="2929576"/>
            <a:ext cx="2419"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5" name="Connector 64"/>
          <p:cNvCxnSpPr/>
          <p:nvPr/>
        </p:nvCxnSpPr>
        <p:spPr>
          <a:xfrm flipH="1" flipV="1">
            <a:off x="2532251"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6" name="Connector 65"/>
          <p:cNvCxnSpPr/>
          <p:nvPr/>
        </p:nvCxnSpPr>
        <p:spPr>
          <a:xfrm flipH="1" flipV="1">
            <a:off x="2529866"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7" name="Connector 66"/>
          <p:cNvCxnSpPr/>
          <p:nvPr/>
        </p:nvCxnSpPr>
        <p:spPr>
          <a:xfrm flipH="1" flipV="1">
            <a:off x="2527496"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flipH="1" flipV="1">
            <a:off x="252514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69" name="Connector 68"/>
          <p:cNvCxnSpPr/>
          <p:nvPr/>
        </p:nvCxnSpPr>
        <p:spPr>
          <a:xfrm flipH="1" flipV="1">
            <a:off x="252280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0" name="Connector 69"/>
          <p:cNvCxnSpPr/>
          <p:nvPr/>
        </p:nvCxnSpPr>
        <p:spPr>
          <a:xfrm flipH="1" flipV="1">
            <a:off x="2520486"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1" name="Connector 70"/>
          <p:cNvCxnSpPr/>
          <p:nvPr/>
        </p:nvCxnSpPr>
        <p:spPr>
          <a:xfrm flipH="1" flipV="1">
            <a:off x="2518182"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2" name="Connector 71"/>
          <p:cNvCxnSpPr/>
          <p:nvPr/>
        </p:nvCxnSpPr>
        <p:spPr>
          <a:xfrm flipH="1" flipV="1">
            <a:off x="2515894"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3" name="Connector 72"/>
          <p:cNvCxnSpPr/>
          <p:nvPr/>
        </p:nvCxnSpPr>
        <p:spPr>
          <a:xfrm flipH="1" flipV="1">
            <a:off x="2513623" y="2355217"/>
            <a:ext cx="2271"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4" name="Connector 73"/>
          <p:cNvCxnSpPr/>
          <p:nvPr/>
        </p:nvCxnSpPr>
        <p:spPr>
          <a:xfrm flipH="1" flipV="1">
            <a:off x="2511368"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5" name="Connector 74"/>
          <p:cNvCxnSpPr/>
          <p:nvPr/>
        </p:nvCxnSpPr>
        <p:spPr>
          <a:xfrm flipV="1">
            <a:off x="3704235" y="5526594"/>
            <a:ext cx="0"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6" name="Connector 75"/>
          <p:cNvCxnSpPr/>
          <p:nvPr/>
        </p:nvCxnSpPr>
        <p:spPr>
          <a:xfrm flipV="1">
            <a:off x="3704235" y="5462683"/>
            <a:ext cx="0"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7" name="Connector 76"/>
          <p:cNvCxnSpPr/>
          <p:nvPr/>
        </p:nvCxnSpPr>
        <p:spPr>
          <a:xfrm flipV="1">
            <a:off x="3704235" y="5398768"/>
            <a:ext cx="0" cy="6391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8" name="Connector 77"/>
          <p:cNvCxnSpPr/>
          <p:nvPr/>
        </p:nvCxnSpPr>
        <p:spPr>
          <a:xfrm flipV="1">
            <a:off x="3704235" y="5334848"/>
            <a:ext cx="0"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79" name="Connector 78"/>
          <p:cNvCxnSpPr/>
          <p:nvPr/>
        </p:nvCxnSpPr>
        <p:spPr>
          <a:xfrm flipV="1">
            <a:off x="3704235" y="5270926"/>
            <a:ext cx="0"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0" name="Connector 79"/>
          <p:cNvCxnSpPr/>
          <p:nvPr/>
        </p:nvCxnSpPr>
        <p:spPr>
          <a:xfrm flipV="1">
            <a:off x="3704235" y="5206999"/>
            <a:ext cx="0" cy="639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1" name="Connector 80"/>
          <p:cNvCxnSpPr/>
          <p:nvPr/>
        </p:nvCxnSpPr>
        <p:spPr>
          <a:xfrm flipV="1">
            <a:off x="3704235" y="5143070"/>
            <a:ext cx="0"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2" name="Connector 81"/>
          <p:cNvCxnSpPr/>
          <p:nvPr/>
        </p:nvCxnSpPr>
        <p:spPr>
          <a:xfrm flipV="1">
            <a:off x="3704235" y="5079137"/>
            <a:ext cx="0" cy="639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3" name="Connector 82"/>
          <p:cNvCxnSpPr/>
          <p:nvPr/>
        </p:nvCxnSpPr>
        <p:spPr>
          <a:xfrm flipV="1">
            <a:off x="3704235" y="5015202"/>
            <a:ext cx="0" cy="639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4" name="Connector 83"/>
          <p:cNvCxnSpPr/>
          <p:nvPr/>
        </p:nvCxnSpPr>
        <p:spPr>
          <a:xfrm flipV="1">
            <a:off x="3704235" y="4951265"/>
            <a:ext cx="0" cy="639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5" name="Connector 84"/>
          <p:cNvCxnSpPr/>
          <p:nvPr/>
        </p:nvCxnSpPr>
        <p:spPr>
          <a:xfrm flipV="1">
            <a:off x="3704235" y="4887326"/>
            <a:ext cx="0" cy="639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6" name="Connector 85"/>
          <p:cNvCxnSpPr/>
          <p:nvPr/>
        </p:nvCxnSpPr>
        <p:spPr>
          <a:xfrm flipV="1">
            <a:off x="3704235" y="4823385"/>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7" name="Connector 86"/>
          <p:cNvCxnSpPr/>
          <p:nvPr/>
        </p:nvCxnSpPr>
        <p:spPr>
          <a:xfrm flipV="1">
            <a:off x="3704235" y="4759442"/>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8" name="Connector 87"/>
          <p:cNvCxnSpPr/>
          <p:nvPr/>
        </p:nvCxnSpPr>
        <p:spPr>
          <a:xfrm flipV="1">
            <a:off x="3704235" y="4695499"/>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89" name="Connector 88"/>
          <p:cNvCxnSpPr/>
          <p:nvPr/>
        </p:nvCxnSpPr>
        <p:spPr>
          <a:xfrm flipV="1">
            <a:off x="3704235" y="4631554"/>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0" name="Connector 89"/>
          <p:cNvCxnSpPr/>
          <p:nvPr/>
        </p:nvCxnSpPr>
        <p:spPr>
          <a:xfrm flipV="1">
            <a:off x="3704235" y="4567610"/>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1" name="Connector 90"/>
          <p:cNvCxnSpPr/>
          <p:nvPr/>
        </p:nvCxnSpPr>
        <p:spPr>
          <a:xfrm flipV="1">
            <a:off x="3704235" y="450366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2" name="Connector 91"/>
          <p:cNvCxnSpPr/>
          <p:nvPr/>
        </p:nvCxnSpPr>
        <p:spPr>
          <a:xfrm flipV="1">
            <a:off x="3704235" y="4439720"/>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3" name="Connector 92"/>
          <p:cNvCxnSpPr/>
          <p:nvPr/>
        </p:nvCxnSpPr>
        <p:spPr>
          <a:xfrm flipV="1">
            <a:off x="3704235" y="4375775"/>
            <a:ext cx="0" cy="6394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4" name="Connector 93"/>
          <p:cNvCxnSpPr/>
          <p:nvPr/>
        </p:nvCxnSpPr>
        <p:spPr>
          <a:xfrm flipV="1">
            <a:off x="3704235" y="4311831"/>
            <a:ext cx="0" cy="6394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5" name="Connector 94"/>
          <p:cNvCxnSpPr/>
          <p:nvPr/>
        </p:nvCxnSpPr>
        <p:spPr>
          <a:xfrm flipV="1">
            <a:off x="3704235" y="4247888"/>
            <a:ext cx="0" cy="6394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6" name="Connector 95"/>
          <p:cNvCxnSpPr/>
          <p:nvPr/>
        </p:nvCxnSpPr>
        <p:spPr>
          <a:xfrm flipV="1">
            <a:off x="3704235" y="4183947"/>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7" name="Connector 96"/>
          <p:cNvCxnSpPr/>
          <p:nvPr/>
        </p:nvCxnSpPr>
        <p:spPr>
          <a:xfrm flipV="1">
            <a:off x="3704235" y="4120006"/>
            <a:ext cx="0" cy="639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8" name="Connector 97"/>
          <p:cNvCxnSpPr/>
          <p:nvPr/>
        </p:nvCxnSpPr>
        <p:spPr>
          <a:xfrm flipV="1">
            <a:off x="3704235" y="4056068"/>
            <a:ext cx="0" cy="6393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flipV="1">
            <a:off x="3704235" y="3992132"/>
            <a:ext cx="0" cy="6393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flipV="1">
            <a:off x="3704235" y="3928198"/>
            <a:ext cx="0" cy="639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V="1">
            <a:off x="3704235" y="3864267"/>
            <a:ext cx="0"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3704235" y="3800339"/>
            <a:ext cx="0"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3704235" y="3736414"/>
            <a:ext cx="0"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4" name="Connector 103"/>
          <p:cNvCxnSpPr/>
          <p:nvPr/>
        </p:nvCxnSpPr>
        <p:spPr>
          <a:xfrm flipV="1">
            <a:off x="3704235" y="3672493"/>
            <a:ext cx="0"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flipV="1">
            <a:off x="3704235" y="3608575"/>
            <a:ext cx="0" cy="639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flipV="1">
            <a:off x="3704235" y="3544662"/>
            <a:ext cx="0"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flipV="1">
            <a:off x="3704235" y="3480753"/>
            <a:ext cx="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flipV="1">
            <a:off x="3704235" y="3416849"/>
            <a:ext cx="0"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flipV="1">
            <a:off x="3704235" y="3352950"/>
            <a:ext cx="0"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flipV="1">
            <a:off x="3704235" y="3289056"/>
            <a:ext cx="0" cy="63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3704235" y="3225168"/>
            <a:ext cx="0"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flipV="1">
            <a:off x="3704235" y="3161285"/>
            <a:ext cx="0" cy="6388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flipV="1">
            <a:off x="3704235" y="3097409"/>
            <a:ext cx="0" cy="638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flipV="1">
            <a:off x="3704235" y="3033540"/>
            <a:ext cx="0" cy="638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flipV="1">
            <a:off x="3704235" y="2969677"/>
            <a:ext cx="0" cy="638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6" name="Connector 115"/>
          <p:cNvCxnSpPr/>
          <p:nvPr/>
        </p:nvCxnSpPr>
        <p:spPr>
          <a:xfrm flipV="1">
            <a:off x="3704235" y="2905821"/>
            <a:ext cx="0" cy="638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7" name="Connector 116"/>
          <p:cNvCxnSpPr/>
          <p:nvPr/>
        </p:nvCxnSpPr>
        <p:spPr>
          <a:xfrm flipV="1">
            <a:off x="3704235" y="2841972"/>
            <a:ext cx="0"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8" name="Connector 117"/>
          <p:cNvCxnSpPr/>
          <p:nvPr/>
        </p:nvCxnSpPr>
        <p:spPr>
          <a:xfrm flipV="1">
            <a:off x="3704235" y="2778131"/>
            <a:ext cx="0"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19" name="Connector 118"/>
          <p:cNvCxnSpPr/>
          <p:nvPr/>
        </p:nvCxnSpPr>
        <p:spPr>
          <a:xfrm flipV="1">
            <a:off x="3704235" y="2714298"/>
            <a:ext cx="0" cy="6383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0" name="Connector 119"/>
          <p:cNvCxnSpPr/>
          <p:nvPr/>
        </p:nvCxnSpPr>
        <p:spPr>
          <a:xfrm flipV="1">
            <a:off x="3704235" y="2650473"/>
            <a:ext cx="0" cy="638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1" name="Connector 120"/>
          <p:cNvCxnSpPr/>
          <p:nvPr/>
        </p:nvCxnSpPr>
        <p:spPr>
          <a:xfrm flipV="1">
            <a:off x="3704235" y="2586657"/>
            <a:ext cx="0" cy="638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2" name="Connector 121"/>
          <p:cNvCxnSpPr/>
          <p:nvPr/>
        </p:nvCxnSpPr>
        <p:spPr>
          <a:xfrm flipV="1">
            <a:off x="3704235" y="2522849"/>
            <a:ext cx="0" cy="6380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3" name="Connector 122"/>
          <p:cNvCxnSpPr/>
          <p:nvPr/>
        </p:nvCxnSpPr>
        <p:spPr>
          <a:xfrm flipV="1">
            <a:off x="3704235" y="2459050"/>
            <a:ext cx="0" cy="637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4" name="Connector 123"/>
          <p:cNvCxnSpPr/>
          <p:nvPr/>
        </p:nvCxnSpPr>
        <p:spPr>
          <a:xfrm flipV="1">
            <a:off x="3704235" y="2395261"/>
            <a:ext cx="0" cy="6378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5" name="Connector 124"/>
          <p:cNvCxnSpPr/>
          <p:nvPr/>
        </p:nvCxnSpPr>
        <p:spPr>
          <a:xfrm flipV="1">
            <a:off x="3704235" y="2331481"/>
            <a:ext cx="0" cy="6378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6" name="Connector 125"/>
          <p:cNvCxnSpPr/>
          <p:nvPr/>
        </p:nvCxnSpPr>
        <p:spPr>
          <a:xfrm flipV="1">
            <a:off x="3704235" y="2267712"/>
            <a:ext cx="0" cy="6376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7" name="Connector 126"/>
          <p:cNvCxnSpPr/>
          <p:nvPr/>
        </p:nvCxnSpPr>
        <p:spPr>
          <a:xfrm flipV="1">
            <a:off x="4758389" y="5549869"/>
            <a:ext cx="3076" cy="6388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8" name="Connector 127"/>
          <p:cNvCxnSpPr/>
          <p:nvPr/>
        </p:nvCxnSpPr>
        <p:spPr>
          <a:xfrm flipV="1">
            <a:off x="4761465" y="5485981"/>
            <a:ext cx="3059" cy="638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29" name="Connector 128"/>
          <p:cNvCxnSpPr/>
          <p:nvPr/>
        </p:nvCxnSpPr>
        <p:spPr>
          <a:xfrm flipV="1">
            <a:off x="4764524" y="5422089"/>
            <a:ext cx="3044" cy="638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0" name="Connector 129"/>
          <p:cNvCxnSpPr/>
          <p:nvPr/>
        </p:nvCxnSpPr>
        <p:spPr>
          <a:xfrm flipV="1">
            <a:off x="4767568" y="5358191"/>
            <a:ext cx="3028" cy="638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1" name="Connector 130"/>
          <p:cNvCxnSpPr/>
          <p:nvPr/>
        </p:nvCxnSpPr>
        <p:spPr>
          <a:xfrm flipV="1">
            <a:off x="4770596" y="5294290"/>
            <a:ext cx="3012" cy="6390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2" name="Connector 131"/>
          <p:cNvCxnSpPr/>
          <p:nvPr/>
        </p:nvCxnSpPr>
        <p:spPr>
          <a:xfrm flipV="1">
            <a:off x="4773608" y="5230384"/>
            <a:ext cx="2996" cy="6390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3" name="Connector 132"/>
          <p:cNvCxnSpPr/>
          <p:nvPr/>
        </p:nvCxnSpPr>
        <p:spPr>
          <a:xfrm flipV="1">
            <a:off x="4776604" y="5166475"/>
            <a:ext cx="2980" cy="639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4" name="Connector 133"/>
          <p:cNvCxnSpPr/>
          <p:nvPr/>
        </p:nvCxnSpPr>
        <p:spPr>
          <a:xfrm flipV="1">
            <a:off x="4779584" y="5102562"/>
            <a:ext cx="2965" cy="639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5" name="Connector 134"/>
          <p:cNvCxnSpPr/>
          <p:nvPr/>
        </p:nvCxnSpPr>
        <p:spPr>
          <a:xfrm flipV="1">
            <a:off x="4782549" y="5038646"/>
            <a:ext cx="2948" cy="639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6" name="Connector 135"/>
          <p:cNvCxnSpPr/>
          <p:nvPr/>
        </p:nvCxnSpPr>
        <p:spPr>
          <a:xfrm flipV="1">
            <a:off x="4785497" y="4974727"/>
            <a:ext cx="2933" cy="63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7" name="Connector 136"/>
          <p:cNvCxnSpPr/>
          <p:nvPr/>
        </p:nvCxnSpPr>
        <p:spPr>
          <a:xfrm flipV="1">
            <a:off x="4788430" y="4910806"/>
            <a:ext cx="2917" cy="639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8" name="Connector 137"/>
          <p:cNvCxnSpPr/>
          <p:nvPr/>
        </p:nvCxnSpPr>
        <p:spPr>
          <a:xfrm flipV="1">
            <a:off x="4791347" y="4846882"/>
            <a:ext cx="2900" cy="639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39" name="Connector 138"/>
          <p:cNvCxnSpPr/>
          <p:nvPr/>
        </p:nvCxnSpPr>
        <p:spPr>
          <a:xfrm flipV="1">
            <a:off x="4794247" y="4782957"/>
            <a:ext cx="2885"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0" name="Connector 139"/>
          <p:cNvCxnSpPr/>
          <p:nvPr/>
        </p:nvCxnSpPr>
        <p:spPr>
          <a:xfrm flipV="1">
            <a:off x="4797132" y="4719029"/>
            <a:ext cx="286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1" name="Connector 140"/>
          <p:cNvCxnSpPr/>
          <p:nvPr/>
        </p:nvCxnSpPr>
        <p:spPr>
          <a:xfrm flipV="1">
            <a:off x="4800001" y="4655101"/>
            <a:ext cx="2853"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2" name="Connector 141"/>
          <p:cNvCxnSpPr/>
          <p:nvPr/>
        </p:nvCxnSpPr>
        <p:spPr>
          <a:xfrm flipV="1">
            <a:off x="4802854" y="4591171"/>
            <a:ext cx="2837"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3" name="Connector 142"/>
          <p:cNvCxnSpPr/>
          <p:nvPr/>
        </p:nvCxnSpPr>
        <p:spPr>
          <a:xfrm flipV="1">
            <a:off x="4805691" y="4527241"/>
            <a:ext cx="282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4" name="Connector 143"/>
          <p:cNvCxnSpPr/>
          <p:nvPr/>
        </p:nvCxnSpPr>
        <p:spPr>
          <a:xfrm flipV="1">
            <a:off x="4808512" y="4463309"/>
            <a:ext cx="2805" cy="639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5" name="Connector 144"/>
          <p:cNvCxnSpPr/>
          <p:nvPr/>
        </p:nvCxnSpPr>
        <p:spPr>
          <a:xfrm flipV="1">
            <a:off x="4811317" y="4399378"/>
            <a:ext cx="2789"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6" name="Connector 145"/>
          <p:cNvCxnSpPr/>
          <p:nvPr/>
        </p:nvCxnSpPr>
        <p:spPr>
          <a:xfrm flipV="1">
            <a:off x="4814106" y="4335447"/>
            <a:ext cx="2773"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flipV="1">
            <a:off x="4816879" y="4271516"/>
            <a:ext cx="2757" cy="639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flipV="1">
            <a:off x="4819636" y="4207586"/>
            <a:ext cx="2741" cy="639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49" name="Connector 148"/>
          <p:cNvCxnSpPr/>
          <p:nvPr/>
        </p:nvCxnSpPr>
        <p:spPr>
          <a:xfrm flipV="1">
            <a:off x="4822377" y="4143657"/>
            <a:ext cx="2725" cy="639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0" name="Connector 149"/>
          <p:cNvCxnSpPr/>
          <p:nvPr/>
        </p:nvCxnSpPr>
        <p:spPr>
          <a:xfrm flipV="1">
            <a:off x="4825102" y="4079729"/>
            <a:ext cx="2709" cy="639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flipV="1">
            <a:off x="4827811" y="4015803"/>
            <a:ext cx="2693" cy="6392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flipV="1">
            <a:off x="4830504" y="3951878"/>
            <a:ext cx="2677" cy="6392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3" name="Connector 152"/>
          <p:cNvCxnSpPr/>
          <p:nvPr/>
        </p:nvCxnSpPr>
        <p:spPr>
          <a:xfrm flipV="1">
            <a:off x="4833181" y="3887956"/>
            <a:ext cx="2661" cy="639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4" name="Connector 153"/>
          <p:cNvCxnSpPr/>
          <p:nvPr/>
        </p:nvCxnSpPr>
        <p:spPr>
          <a:xfrm flipV="1">
            <a:off x="4835842" y="3824036"/>
            <a:ext cx="2644" cy="6392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5" name="Connector 154"/>
          <p:cNvCxnSpPr/>
          <p:nvPr/>
        </p:nvCxnSpPr>
        <p:spPr>
          <a:xfrm flipV="1">
            <a:off x="4838486" y="3760119"/>
            <a:ext cx="2629" cy="639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flipV="1">
            <a:off x="4841115" y="3696205"/>
            <a:ext cx="2612" cy="639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7" name="Connector 156"/>
          <p:cNvCxnSpPr/>
          <p:nvPr/>
        </p:nvCxnSpPr>
        <p:spPr>
          <a:xfrm flipV="1">
            <a:off x="4843727" y="3632294"/>
            <a:ext cx="2597" cy="639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8" name="Connector 157"/>
          <p:cNvCxnSpPr/>
          <p:nvPr/>
        </p:nvCxnSpPr>
        <p:spPr>
          <a:xfrm flipV="1">
            <a:off x="4846324" y="3568387"/>
            <a:ext cx="2580" cy="639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flipV="1">
            <a:off x="4848904" y="3504483"/>
            <a:ext cx="2564" cy="639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0" name="Connector 159"/>
          <p:cNvCxnSpPr/>
          <p:nvPr/>
        </p:nvCxnSpPr>
        <p:spPr>
          <a:xfrm flipV="1">
            <a:off x="4851468" y="3440584"/>
            <a:ext cx="2548" cy="638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1" name="Connector 160"/>
          <p:cNvCxnSpPr/>
          <p:nvPr/>
        </p:nvCxnSpPr>
        <p:spPr>
          <a:xfrm flipV="1">
            <a:off x="4854016" y="3376689"/>
            <a:ext cx="2531" cy="6389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2" name="Connector 161"/>
          <p:cNvCxnSpPr/>
          <p:nvPr/>
        </p:nvCxnSpPr>
        <p:spPr>
          <a:xfrm flipV="1">
            <a:off x="4856547" y="3312799"/>
            <a:ext cx="2516" cy="6389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3" name="Connector 162"/>
          <p:cNvCxnSpPr/>
          <p:nvPr/>
        </p:nvCxnSpPr>
        <p:spPr>
          <a:xfrm flipV="1">
            <a:off x="4859063" y="3248914"/>
            <a:ext cx="2499" cy="638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4" name="Connector 163"/>
          <p:cNvCxnSpPr/>
          <p:nvPr/>
        </p:nvCxnSpPr>
        <p:spPr>
          <a:xfrm flipV="1">
            <a:off x="4861562" y="3185035"/>
            <a:ext cx="2484" cy="638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5" name="Connector 164"/>
          <p:cNvCxnSpPr/>
          <p:nvPr/>
        </p:nvCxnSpPr>
        <p:spPr>
          <a:xfrm flipV="1">
            <a:off x="4864046" y="3121161"/>
            <a:ext cx="2466" cy="638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6" name="Connector 165"/>
          <p:cNvCxnSpPr/>
          <p:nvPr/>
        </p:nvCxnSpPr>
        <p:spPr>
          <a:xfrm flipV="1">
            <a:off x="4866512" y="3057293"/>
            <a:ext cx="2451" cy="6386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7" name="Connector 166"/>
          <p:cNvCxnSpPr/>
          <p:nvPr/>
        </p:nvCxnSpPr>
        <p:spPr>
          <a:xfrm flipV="1">
            <a:off x="4868963" y="2993431"/>
            <a:ext cx="2435" cy="6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8" name="Connector 167"/>
          <p:cNvCxnSpPr/>
          <p:nvPr/>
        </p:nvCxnSpPr>
        <p:spPr>
          <a:xfrm flipV="1">
            <a:off x="4871398" y="2929576"/>
            <a:ext cx="2418" cy="6385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69" name="Connector 168"/>
          <p:cNvCxnSpPr/>
          <p:nvPr/>
        </p:nvCxnSpPr>
        <p:spPr>
          <a:xfrm flipV="1">
            <a:off x="4873816" y="2865727"/>
            <a:ext cx="2402" cy="63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0" name="Connector 169"/>
          <p:cNvCxnSpPr/>
          <p:nvPr/>
        </p:nvCxnSpPr>
        <p:spPr>
          <a:xfrm flipV="1">
            <a:off x="4876218" y="2801886"/>
            <a:ext cx="2385" cy="63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1" name="Connector 170"/>
          <p:cNvCxnSpPr/>
          <p:nvPr/>
        </p:nvCxnSpPr>
        <p:spPr>
          <a:xfrm flipV="1">
            <a:off x="4878603" y="2738052"/>
            <a:ext cx="2370" cy="638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2" name="Connector 171"/>
          <p:cNvCxnSpPr/>
          <p:nvPr/>
        </p:nvCxnSpPr>
        <p:spPr>
          <a:xfrm flipV="1">
            <a:off x="4880973" y="2674225"/>
            <a:ext cx="2353" cy="6382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3" name="Connector 172"/>
          <p:cNvCxnSpPr/>
          <p:nvPr/>
        </p:nvCxnSpPr>
        <p:spPr>
          <a:xfrm flipV="1">
            <a:off x="4883326" y="2610407"/>
            <a:ext cx="2337" cy="638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4" name="Connector 173"/>
          <p:cNvCxnSpPr/>
          <p:nvPr/>
        </p:nvCxnSpPr>
        <p:spPr>
          <a:xfrm flipV="1">
            <a:off x="4885663" y="2546596"/>
            <a:ext cx="2320" cy="638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5" name="Connector 174"/>
          <p:cNvCxnSpPr/>
          <p:nvPr/>
        </p:nvCxnSpPr>
        <p:spPr>
          <a:xfrm flipV="1">
            <a:off x="4887983" y="2482794"/>
            <a:ext cx="2304" cy="63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6" name="Connector 175"/>
          <p:cNvCxnSpPr/>
          <p:nvPr/>
        </p:nvCxnSpPr>
        <p:spPr>
          <a:xfrm flipV="1">
            <a:off x="4890287" y="2419001"/>
            <a:ext cx="2288" cy="6379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7" name="Connector 176"/>
          <p:cNvCxnSpPr/>
          <p:nvPr/>
        </p:nvCxnSpPr>
        <p:spPr>
          <a:xfrm flipV="1">
            <a:off x="4892575" y="2355217"/>
            <a:ext cx="2272" cy="637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8" name="Connector 177"/>
          <p:cNvCxnSpPr/>
          <p:nvPr/>
        </p:nvCxnSpPr>
        <p:spPr>
          <a:xfrm flipV="1">
            <a:off x="4894847" y="2291443"/>
            <a:ext cx="2255" cy="637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79" name="Connector 178"/>
          <p:cNvCxnSpPr/>
          <p:nvPr/>
        </p:nvCxnSpPr>
        <p:spPr>
          <a:xfrm flipV="1">
            <a:off x="1610133" y="3106301"/>
            <a:ext cx="57983" cy="421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0" name="Connector 179"/>
          <p:cNvCxnSpPr/>
          <p:nvPr/>
        </p:nvCxnSpPr>
        <p:spPr>
          <a:xfrm flipV="1">
            <a:off x="1668116"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1" name="Connector 180"/>
          <p:cNvCxnSpPr/>
          <p:nvPr/>
        </p:nvCxnSpPr>
        <p:spPr>
          <a:xfrm flipV="1">
            <a:off x="1726116" y="3098220"/>
            <a:ext cx="58015"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2" name="Connector 181"/>
          <p:cNvCxnSpPr/>
          <p:nvPr/>
        </p:nvCxnSpPr>
        <p:spPr>
          <a:xfrm flipV="1">
            <a:off x="1784131" y="3094358"/>
            <a:ext cx="58029"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3" name="Connector 182"/>
          <p:cNvCxnSpPr/>
          <p:nvPr/>
        </p:nvCxnSpPr>
        <p:spPr>
          <a:xfrm flipV="1">
            <a:off x="1842160"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4" name="Connector 183"/>
          <p:cNvCxnSpPr/>
          <p:nvPr/>
        </p:nvCxnSpPr>
        <p:spPr>
          <a:xfrm flipV="1">
            <a:off x="1900204"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5" name="Connector 184"/>
          <p:cNvCxnSpPr/>
          <p:nvPr/>
        </p:nvCxnSpPr>
        <p:spPr>
          <a:xfrm flipV="1">
            <a:off x="1958262"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6" name="Connector 185"/>
          <p:cNvCxnSpPr/>
          <p:nvPr/>
        </p:nvCxnSpPr>
        <p:spPr>
          <a:xfrm flipV="1">
            <a:off x="2016333" y="3080101"/>
            <a:ext cx="58085"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7" name="Connector 186"/>
          <p:cNvCxnSpPr/>
          <p:nvPr/>
        </p:nvCxnSpPr>
        <p:spPr>
          <a:xfrm flipV="1">
            <a:off x="2074418" y="3076834"/>
            <a:ext cx="58096"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8" name="Connector 187"/>
          <p:cNvCxnSpPr/>
          <p:nvPr/>
        </p:nvCxnSpPr>
        <p:spPr>
          <a:xfrm flipV="1">
            <a:off x="2132514"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89" name="Connector 188"/>
          <p:cNvCxnSpPr/>
          <p:nvPr/>
        </p:nvCxnSpPr>
        <p:spPr>
          <a:xfrm flipV="1">
            <a:off x="2190623"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0" name="Connector 189"/>
          <p:cNvCxnSpPr/>
          <p:nvPr/>
        </p:nvCxnSpPr>
        <p:spPr>
          <a:xfrm flipV="1">
            <a:off x="2248744"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1" name="Connector 190"/>
          <p:cNvCxnSpPr/>
          <p:nvPr/>
        </p:nvCxnSpPr>
        <p:spPr>
          <a:xfrm flipV="1">
            <a:off x="2306876"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2" name="Connector 191"/>
          <p:cNvCxnSpPr/>
          <p:nvPr/>
        </p:nvCxnSpPr>
        <p:spPr>
          <a:xfrm flipV="1">
            <a:off x="236501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3" name="Connector 192"/>
          <p:cNvCxnSpPr/>
          <p:nvPr/>
        </p:nvCxnSpPr>
        <p:spPr>
          <a:xfrm flipV="1">
            <a:off x="2423171"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4" name="Connector 193"/>
          <p:cNvCxnSpPr/>
          <p:nvPr/>
        </p:nvCxnSpPr>
        <p:spPr>
          <a:xfrm flipV="1">
            <a:off x="2481334"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5" name="Connector 194"/>
          <p:cNvCxnSpPr/>
          <p:nvPr/>
        </p:nvCxnSpPr>
        <p:spPr>
          <a:xfrm flipV="1">
            <a:off x="2539506"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6" name="Connector 195"/>
          <p:cNvCxnSpPr/>
          <p:nvPr/>
        </p:nvCxnSpPr>
        <p:spPr>
          <a:xfrm flipV="1">
            <a:off x="2597687"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7" name="Connector 196"/>
          <p:cNvCxnSpPr/>
          <p:nvPr/>
        </p:nvCxnSpPr>
        <p:spPr>
          <a:xfrm flipV="1">
            <a:off x="2655877"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8" name="Connector 197"/>
          <p:cNvCxnSpPr/>
          <p:nvPr/>
        </p:nvCxnSpPr>
        <p:spPr>
          <a:xfrm flipV="1">
            <a:off x="2714074"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199" name="Connector 198"/>
          <p:cNvCxnSpPr/>
          <p:nvPr/>
        </p:nvCxnSpPr>
        <p:spPr>
          <a:xfrm flipV="1">
            <a:off x="2772280"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0" name="Connector 199"/>
          <p:cNvCxnSpPr/>
          <p:nvPr/>
        </p:nvCxnSpPr>
        <p:spPr>
          <a:xfrm flipV="1">
            <a:off x="2830492"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1" name="Connector 200"/>
          <p:cNvCxnSpPr/>
          <p:nvPr/>
        </p:nvCxnSpPr>
        <p:spPr>
          <a:xfrm flipV="1">
            <a:off x="2888711"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2" name="Connector 201"/>
          <p:cNvCxnSpPr/>
          <p:nvPr/>
        </p:nvCxnSpPr>
        <p:spPr>
          <a:xfrm flipV="1">
            <a:off x="2946937"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3" name="Connector 202"/>
          <p:cNvCxnSpPr/>
          <p:nvPr/>
        </p:nvCxnSpPr>
        <p:spPr>
          <a:xfrm flipV="1">
            <a:off x="3005168"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4" name="Connector 203"/>
          <p:cNvCxnSpPr/>
          <p:nvPr/>
        </p:nvCxnSpPr>
        <p:spPr>
          <a:xfrm flipV="1">
            <a:off x="3063405"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5" name="Connector 204"/>
          <p:cNvCxnSpPr/>
          <p:nvPr/>
        </p:nvCxnSpPr>
        <p:spPr>
          <a:xfrm flipV="1">
            <a:off x="3121646"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6" name="Connector 205"/>
          <p:cNvCxnSpPr/>
          <p:nvPr/>
        </p:nvCxnSpPr>
        <p:spPr>
          <a:xfrm flipV="1">
            <a:off x="3179892" y="3037340"/>
            <a:ext cx="58251"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7" name="Connector 206"/>
          <p:cNvCxnSpPr/>
          <p:nvPr/>
        </p:nvCxnSpPr>
        <p:spPr>
          <a:xfrm flipV="1">
            <a:off x="3238143" y="3036449"/>
            <a:ext cx="58253"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8" name="Connector 207"/>
          <p:cNvCxnSpPr/>
          <p:nvPr/>
        </p:nvCxnSpPr>
        <p:spPr>
          <a:xfrm flipV="1">
            <a:off x="329639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09" name="Connector 208"/>
          <p:cNvCxnSpPr/>
          <p:nvPr/>
        </p:nvCxnSpPr>
        <p:spPr>
          <a:xfrm flipV="1">
            <a:off x="3354653" y="3035024"/>
            <a:ext cx="58260"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0" name="Connector 209"/>
          <p:cNvCxnSpPr/>
          <p:nvPr/>
        </p:nvCxnSpPr>
        <p:spPr>
          <a:xfrm flipV="1">
            <a:off x="3412913" y="3034490"/>
            <a:ext cx="58261"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1" name="Connector 210"/>
          <p:cNvCxnSpPr/>
          <p:nvPr/>
        </p:nvCxnSpPr>
        <p:spPr>
          <a:xfrm flipV="1">
            <a:off x="3471174"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2" name="Connector 211"/>
          <p:cNvCxnSpPr/>
          <p:nvPr/>
        </p:nvCxnSpPr>
        <p:spPr>
          <a:xfrm flipV="1">
            <a:off x="3529438" y="3033777"/>
            <a:ext cx="58265"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3" name="Connector 212"/>
          <p:cNvCxnSpPr/>
          <p:nvPr/>
        </p:nvCxnSpPr>
        <p:spPr>
          <a:xfrm flipV="1">
            <a:off x="3587703" y="3033599"/>
            <a:ext cx="58265"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4" name="Connector 213"/>
          <p:cNvCxnSpPr/>
          <p:nvPr/>
        </p:nvCxnSpPr>
        <p:spPr>
          <a:xfrm flipV="1">
            <a:off x="3645968" y="3033540"/>
            <a:ext cx="58267"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5" name="Connector 214"/>
          <p:cNvCxnSpPr/>
          <p:nvPr/>
        </p:nvCxnSpPr>
        <p:spPr>
          <a:xfrm>
            <a:off x="3704235" y="3033540"/>
            <a:ext cx="58266"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6" name="Connector 215"/>
          <p:cNvCxnSpPr/>
          <p:nvPr/>
        </p:nvCxnSpPr>
        <p:spPr>
          <a:xfrm>
            <a:off x="3762501" y="3033599"/>
            <a:ext cx="58266" cy="1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7" name="Connector 216"/>
          <p:cNvCxnSpPr/>
          <p:nvPr/>
        </p:nvCxnSpPr>
        <p:spPr>
          <a:xfrm>
            <a:off x="3820767" y="3033777"/>
            <a:ext cx="58264" cy="29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8" name="Connector 217"/>
          <p:cNvCxnSpPr/>
          <p:nvPr/>
        </p:nvCxnSpPr>
        <p:spPr>
          <a:xfrm>
            <a:off x="3879031" y="3034074"/>
            <a:ext cx="58264" cy="4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19" name="Connector 218"/>
          <p:cNvCxnSpPr/>
          <p:nvPr/>
        </p:nvCxnSpPr>
        <p:spPr>
          <a:xfrm>
            <a:off x="3937295" y="3034490"/>
            <a:ext cx="58262" cy="5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0" name="Connector 219"/>
          <p:cNvCxnSpPr/>
          <p:nvPr/>
        </p:nvCxnSpPr>
        <p:spPr>
          <a:xfrm>
            <a:off x="3995557" y="3035024"/>
            <a:ext cx="58259" cy="6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1" name="Connector 220"/>
          <p:cNvCxnSpPr/>
          <p:nvPr/>
        </p:nvCxnSpPr>
        <p:spPr>
          <a:xfrm>
            <a:off x="4053816" y="3035677"/>
            <a:ext cx="58257" cy="7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2" name="Connector 221"/>
          <p:cNvCxnSpPr/>
          <p:nvPr/>
        </p:nvCxnSpPr>
        <p:spPr>
          <a:xfrm>
            <a:off x="4112073" y="3036449"/>
            <a:ext cx="58254" cy="8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3" name="Connector 222"/>
          <p:cNvCxnSpPr/>
          <p:nvPr/>
        </p:nvCxnSpPr>
        <p:spPr>
          <a:xfrm>
            <a:off x="4170327" y="3037340"/>
            <a:ext cx="58250" cy="100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4" name="Connector 223"/>
          <p:cNvCxnSpPr/>
          <p:nvPr/>
        </p:nvCxnSpPr>
        <p:spPr>
          <a:xfrm>
            <a:off x="4228577" y="3038349"/>
            <a:ext cx="58246" cy="112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5" name="Connector 224"/>
          <p:cNvCxnSpPr/>
          <p:nvPr/>
        </p:nvCxnSpPr>
        <p:spPr>
          <a:xfrm>
            <a:off x="4286823" y="3039477"/>
            <a:ext cx="58241" cy="12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6" name="Connector 225"/>
          <p:cNvCxnSpPr/>
          <p:nvPr/>
        </p:nvCxnSpPr>
        <p:spPr>
          <a:xfrm>
            <a:off x="4345064" y="3040724"/>
            <a:ext cx="58237" cy="1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7" name="Connector 226"/>
          <p:cNvCxnSpPr/>
          <p:nvPr/>
        </p:nvCxnSpPr>
        <p:spPr>
          <a:xfrm>
            <a:off x="4403301" y="3042090"/>
            <a:ext cx="58231" cy="1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8" name="Connector 227"/>
          <p:cNvCxnSpPr/>
          <p:nvPr/>
        </p:nvCxnSpPr>
        <p:spPr>
          <a:xfrm>
            <a:off x="4461532" y="3043575"/>
            <a:ext cx="58226" cy="16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29" name="Connector 228"/>
          <p:cNvCxnSpPr/>
          <p:nvPr/>
        </p:nvCxnSpPr>
        <p:spPr>
          <a:xfrm>
            <a:off x="4519758" y="3045178"/>
            <a:ext cx="58219" cy="17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0" name="Connector 229"/>
          <p:cNvCxnSpPr/>
          <p:nvPr/>
        </p:nvCxnSpPr>
        <p:spPr>
          <a:xfrm>
            <a:off x="4577977" y="3046900"/>
            <a:ext cx="58212" cy="184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1" name="Connector 230"/>
          <p:cNvCxnSpPr/>
          <p:nvPr/>
        </p:nvCxnSpPr>
        <p:spPr>
          <a:xfrm>
            <a:off x="4636189" y="3048741"/>
            <a:ext cx="58206" cy="196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2" name="Connector 231"/>
          <p:cNvCxnSpPr/>
          <p:nvPr/>
        </p:nvCxnSpPr>
        <p:spPr>
          <a:xfrm>
            <a:off x="4694395" y="3050701"/>
            <a:ext cx="58197" cy="207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3" name="Connector 232"/>
          <p:cNvCxnSpPr/>
          <p:nvPr/>
        </p:nvCxnSpPr>
        <p:spPr>
          <a:xfrm>
            <a:off x="4752592" y="3052779"/>
            <a:ext cx="58190" cy="2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4" name="Connector 233"/>
          <p:cNvCxnSpPr/>
          <p:nvPr/>
        </p:nvCxnSpPr>
        <p:spPr>
          <a:xfrm>
            <a:off x="4810782" y="3054977"/>
            <a:ext cx="58181" cy="231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5" name="Connector 234"/>
          <p:cNvCxnSpPr/>
          <p:nvPr/>
        </p:nvCxnSpPr>
        <p:spPr>
          <a:xfrm>
            <a:off x="4868963" y="3057293"/>
            <a:ext cx="58172" cy="243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6" name="Connector 235"/>
          <p:cNvCxnSpPr/>
          <p:nvPr/>
        </p:nvCxnSpPr>
        <p:spPr>
          <a:xfrm>
            <a:off x="4927135" y="3059728"/>
            <a:ext cx="58163" cy="255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7" name="Connector 236"/>
          <p:cNvCxnSpPr/>
          <p:nvPr/>
        </p:nvCxnSpPr>
        <p:spPr>
          <a:xfrm>
            <a:off x="4985298" y="3062282"/>
            <a:ext cx="58153" cy="26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8" name="Connector 237"/>
          <p:cNvCxnSpPr/>
          <p:nvPr/>
        </p:nvCxnSpPr>
        <p:spPr>
          <a:xfrm>
            <a:off x="5043451" y="3064954"/>
            <a:ext cx="58142" cy="279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39" name="Connector 238"/>
          <p:cNvCxnSpPr/>
          <p:nvPr/>
        </p:nvCxnSpPr>
        <p:spPr>
          <a:xfrm>
            <a:off x="5101593" y="3067746"/>
            <a:ext cx="58132" cy="291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0" name="Connector 239"/>
          <p:cNvCxnSpPr/>
          <p:nvPr/>
        </p:nvCxnSpPr>
        <p:spPr>
          <a:xfrm>
            <a:off x="5159725" y="3070656"/>
            <a:ext cx="58121" cy="30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1" name="Connector 240"/>
          <p:cNvCxnSpPr/>
          <p:nvPr/>
        </p:nvCxnSpPr>
        <p:spPr>
          <a:xfrm>
            <a:off x="5217846" y="3073686"/>
            <a:ext cx="58109" cy="31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2" name="Connector 241"/>
          <p:cNvCxnSpPr/>
          <p:nvPr/>
        </p:nvCxnSpPr>
        <p:spPr>
          <a:xfrm>
            <a:off x="5275955" y="3076834"/>
            <a:ext cx="58097" cy="3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3" name="Connector 242"/>
          <p:cNvCxnSpPr/>
          <p:nvPr/>
        </p:nvCxnSpPr>
        <p:spPr>
          <a:xfrm>
            <a:off x="5334052" y="3080101"/>
            <a:ext cx="58084" cy="33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4" name="Connector 243"/>
          <p:cNvCxnSpPr/>
          <p:nvPr/>
        </p:nvCxnSpPr>
        <p:spPr>
          <a:xfrm>
            <a:off x="5392136" y="3083487"/>
            <a:ext cx="58071" cy="350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5" name="Connector 244"/>
          <p:cNvCxnSpPr/>
          <p:nvPr/>
        </p:nvCxnSpPr>
        <p:spPr>
          <a:xfrm>
            <a:off x="5450207" y="3086992"/>
            <a:ext cx="58058" cy="362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6" name="Connector 245"/>
          <p:cNvCxnSpPr/>
          <p:nvPr/>
        </p:nvCxnSpPr>
        <p:spPr>
          <a:xfrm>
            <a:off x="5508265" y="3090616"/>
            <a:ext cx="58044" cy="374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7" name="Connector 246"/>
          <p:cNvCxnSpPr/>
          <p:nvPr/>
        </p:nvCxnSpPr>
        <p:spPr>
          <a:xfrm>
            <a:off x="5566309" y="3094358"/>
            <a:ext cx="58030" cy="386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8" name="Connector 247"/>
          <p:cNvCxnSpPr/>
          <p:nvPr/>
        </p:nvCxnSpPr>
        <p:spPr>
          <a:xfrm>
            <a:off x="5624339" y="3098220"/>
            <a:ext cx="58014" cy="39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49" name="Connector 248"/>
          <p:cNvCxnSpPr/>
          <p:nvPr/>
        </p:nvCxnSpPr>
        <p:spPr>
          <a:xfrm>
            <a:off x="5682353" y="3102201"/>
            <a:ext cx="58000" cy="410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0" name="Connector 249"/>
          <p:cNvCxnSpPr/>
          <p:nvPr/>
        </p:nvCxnSpPr>
        <p:spPr>
          <a:xfrm flipV="1">
            <a:off x="1703930" y="4384168"/>
            <a:ext cx="55375" cy="41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1" name="Connector 250"/>
          <p:cNvCxnSpPr/>
          <p:nvPr/>
        </p:nvCxnSpPr>
        <p:spPr>
          <a:xfrm flipV="1">
            <a:off x="1759305" y="4380092"/>
            <a:ext cx="55390"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2" name="Connector 251"/>
          <p:cNvCxnSpPr/>
          <p:nvPr/>
        </p:nvCxnSpPr>
        <p:spPr>
          <a:xfrm flipV="1">
            <a:off x="1814695" y="4376135"/>
            <a:ext cx="55407"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3" name="Connector 252"/>
          <p:cNvCxnSpPr/>
          <p:nvPr/>
        </p:nvCxnSpPr>
        <p:spPr>
          <a:xfrm flipV="1">
            <a:off x="1870102" y="4372296"/>
            <a:ext cx="55421"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4" name="Connector 253"/>
          <p:cNvCxnSpPr/>
          <p:nvPr/>
        </p:nvCxnSpPr>
        <p:spPr>
          <a:xfrm flipV="1">
            <a:off x="1925523"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5" name="Connector 254"/>
          <p:cNvCxnSpPr/>
          <p:nvPr/>
        </p:nvCxnSpPr>
        <p:spPr>
          <a:xfrm flipV="1">
            <a:off x="1980959"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6" name="Connector 255"/>
          <p:cNvCxnSpPr/>
          <p:nvPr/>
        </p:nvCxnSpPr>
        <p:spPr>
          <a:xfrm flipV="1">
            <a:off x="2036409"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7" name="Connector 256"/>
          <p:cNvCxnSpPr/>
          <p:nvPr/>
        </p:nvCxnSpPr>
        <p:spPr>
          <a:xfrm flipV="1">
            <a:off x="2091873"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8" name="Connector 257"/>
          <p:cNvCxnSpPr/>
          <p:nvPr/>
        </p:nvCxnSpPr>
        <p:spPr>
          <a:xfrm flipV="1">
            <a:off x="2147350"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59" name="Connector 258"/>
          <p:cNvCxnSpPr/>
          <p:nvPr/>
        </p:nvCxnSpPr>
        <p:spPr>
          <a:xfrm flipV="1">
            <a:off x="2202840" y="4351744"/>
            <a:ext cx="55503"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0" name="Connector 259"/>
          <p:cNvCxnSpPr/>
          <p:nvPr/>
        </p:nvCxnSpPr>
        <p:spPr>
          <a:xfrm flipV="1">
            <a:off x="2258343" y="4348733"/>
            <a:ext cx="55514"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1" name="Connector 260"/>
          <p:cNvCxnSpPr/>
          <p:nvPr/>
        </p:nvCxnSpPr>
        <p:spPr>
          <a:xfrm flipV="1">
            <a:off x="231385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2" name="Connector 261"/>
          <p:cNvCxnSpPr/>
          <p:nvPr/>
        </p:nvCxnSpPr>
        <p:spPr>
          <a:xfrm flipV="1">
            <a:off x="2369382"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3" name="Connector 262"/>
          <p:cNvCxnSpPr/>
          <p:nvPr/>
        </p:nvCxnSpPr>
        <p:spPr>
          <a:xfrm flipV="1">
            <a:off x="2424919"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4" name="Connector 263"/>
          <p:cNvCxnSpPr/>
          <p:nvPr/>
        </p:nvCxnSpPr>
        <p:spPr>
          <a:xfrm flipV="1">
            <a:off x="248046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5" name="Connector 264"/>
          <p:cNvCxnSpPr/>
          <p:nvPr/>
        </p:nvCxnSpPr>
        <p:spPr>
          <a:xfrm flipV="1">
            <a:off x="2536023"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6" name="Connector 265"/>
          <p:cNvCxnSpPr/>
          <p:nvPr/>
        </p:nvCxnSpPr>
        <p:spPr>
          <a:xfrm flipV="1">
            <a:off x="2591590"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7" name="Connector 266"/>
          <p:cNvCxnSpPr/>
          <p:nvPr/>
        </p:nvCxnSpPr>
        <p:spPr>
          <a:xfrm flipV="1">
            <a:off x="2647166"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8" name="Connector 267"/>
          <p:cNvCxnSpPr/>
          <p:nvPr/>
        </p:nvCxnSpPr>
        <p:spPr>
          <a:xfrm flipV="1">
            <a:off x="2702750"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69" name="Connector 268"/>
          <p:cNvCxnSpPr/>
          <p:nvPr/>
        </p:nvCxnSpPr>
        <p:spPr>
          <a:xfrm flipV="1">
            <a:off x="2758343" y="4326945"/>
            <a:ext cx="55601"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0" name="Connector 269"/>
          <p:cNvCxnSpPr/>
          <p:nvPr/>
        </p:nvCxnSpPr>
        <p:spPr>
          <a:xfrm flipV="1">
            <a:off x="2813944" y="4325115"/>
            <a:ext cx="55607"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1" name="Connector 270"/>
          <p:cNvCxnSpPr/>
          <p:nvPr/>
        </p:nvCxnSpPr>
        <p:spPr>
          <a:xfrm flipV="1">
            <a:off x="2869551"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2" name="Connector 271"/>
          <p:cNvCxnSpPr/>
          <p:nvPr/>
        </p:nvCxnSpPr>
        <p:spPr>
          <a:xfrm flipV="1">
            <a:off x="2925166"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3" name="Connector 272"/>
          <p:cNvCxnSpPr/>
          <p:nvPr/>
        </p:nvCxnSpPr>
        <p:spPr>
          <a:xfrm flipV="1">
            <a:off x="2980787"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4" name="Connector 273"/>
          <p:cNvCxnSpPr/>
          <p:nvPr/>
        </p:nvCxnSpPr>
        <p:spPr>
          <a:xfrm flipV="1">
            <a:off x="3036414" y="4318975"/>
            <a:ext cx="55633"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5" name="Connector 274"/>
          <p:cNvCxnSpPr/>
          <p:nvPr/>
        </p:nvCxnSpPr>
        <p:spPr>
          <a:xfrm flipV="1">
            <a:off x="3092047" y="4317735"/>
            <a:ext cx="55637"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6" name="Connector 275"/>
          <p:cNvCxnSpPr/>
          <p:nvPr/>
        </p:nvCxnSpPr>
        <p:spPr>
          <a:xfrm flipV="1">
            <a:off x="3147684"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7" name="Connector 276"/>
          <p:cNvCxnSpPr/>
          <p:nvPr/>
        </p:nvCxnSpPr>
        <p:spPr>
          <a:xfrm flipV="1">
            <a:off x="3203326"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8" name="Connector 277"/>
          <p:cNvCxnSpPr/>
          <p:nvPr/>
        </p:nvCxnSpPr>
        <p:spPr>
          <a:xfrm flipV="1">
            <a:off x="3258972"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79" name="Connector 278"/>
          <p:cNvCxnSpPr/>
          <p:nvPr/>
        </p:nvCxnSpPr>
        <p:spPr>
          <a:xfrm flipV="1">
            <a:off x="3314622"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0" name="Connector 279"/>
          <p:cNvCxnSpPr/>
          <p:nvPr/>
        </p:nvCxnSpPr>
        <p:spPr>
          <a:xfrm flipV="1">
            <a:off x="3370275"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1" name="Connector 280"/>
          <p:cNvCxnSpPr/>
          <p:nvPr/>
        </p:nvCxnSpPr>
        <p:spPr>
          <a:xfrm flipV="1">
            <a:off x="3425931"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2" name="Connector 281"/>
          <p:cNvCxnSpPr/>
          <p:nvPr/>
        </p:nvCxnSpPr>
        <p:spPr>
          <a:xfrm flipV="1">
            <a:off x="3481589" y="4312363"/>
            <a:ext cx="55660"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3" name="Connector 282"/>
          <p:cNvCxnSpPr/>
          <p:nvPr/>
        </p:nvCxnSpPr>
        <p:spPr>
          <a:xfrm flipV="1">
            <a:off x="3537249" y="4312067"/>
            <a:ext cx="55661"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4" name="Connector 283"/>
          <p:cNvCxnSpPr/>
          <p:nvPr/>
        </p:nvCxnSpPr>
        <p:spPr>
          <a:xfrm flipV="1">
            <a:off x="3592910"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5" name="Connector 284"/>
          <p:cNvCxnSpPr/>
          <p:nvPr/>
        </p:nvCxnSpPr>
        <p:spPr>
          <a:xfrm flipV="1">
            <a:off x="3648572" y="4311831"/>
            <a:ext cx="55663"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6" name="Connector 285"/>
          <p:cNvCxnSpPr/>
          <p:nvPr/>
        </p:nvCxnSpPr>
        <p:spPr>
          <a:xfrm>
            <a:off x="3704235" y="4311831"/>
            <a:ext cx="55662" cy="5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7" name="Connector 286"/>
          <p:cNvCxnSpPr/>
          <p:nvPr/>
        </p:nvCxnSpPr>
        <p:spPr>
          <a:xfrm>
            <a:off x="3759897" y="4311890"/>
            <a:ext cx="55662" cy="17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8" name="Connector 287"/>
          <p:cNvCxnSpPr/>
          <p:nvPr/>
        </p:nvCxnSpPr>
        <p:spPr>
          <a:xfrm>
            <a:off x="3815559" y="4312067"/>
            <a:ext cx="55662" cy="2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89" name="Connector 288"/>
          <p:cNvCxnSpPr/>
          <p:nvPr/>
        </p:nvCxnSpPr>
        <p:spPr>
          <a:xfrm>
            <a:off x="3871221" y="4312363"/>
            <a:ext cx="55659" cy="4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0" name="Connector 289"/>
          <p:cNvCxnSpPr/>
          <p:nvPr/>
        </p:nvCxnSpPr>
        <p:spPr>
          <a:xfrm>
            <a:off x="3926880" y="4312776"/>
            <a:ext cx="55658" cy="53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1" name="Connector 290"/>
          <p:cNvCxnSpPr/>
          <p:nvPr/>
        </p:nvCxnSpPr>
        <p:spPr>
          <a:xfrm>
            <a:off x="3982538" y="4313307"/>
            <a:ext cx="55656" cy="65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2" name="Connector 291"/>
          <p:cNvCxnSpPr/>
          <p:nvPr/>
        </p:nvCxnSpPr>
        <p:spPr>
          <a:xfrm>
            <a:off x="4038194" y="4313957"/>
            <a:ext cx="55653" cy="7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3" name="Connector 292"/>
          <p:cNvCxnSpPr/>
          <p:nvPr/>
        </p:nvCxnSpPr>
        <p:spPr>
          <a:xfrm>
            <a:off x="4093847" y="4314724"/>
            <a:ext cx="55650" cy="88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4" name="Connector 293"/>
          <p:cNvCxnSpPr/>
          <p:nvPr/>
        </p:nvCxnSpPr>
        <p:spPr>
          <a:xfrm>
            <a:off x="4149497" y="4315610"/>
            <a:ext cx="55646" cy="10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5" name="Connector 294"/>
          <p:cNvCxnSpPr/>
          <p:nvPr/>
        </p:nvCxnSpPr>
        <p:spPr>
          <a:xfrm>
            <a:off x="4205143" y="4316613"/>
            <a:ext cx="55642" cy="112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6" name="Connector 295"/>
          <p:cNvCxnSpPr/>
          <p:nvPr/>
        </p:nvCxnSpPr>
        <p:spPr>
          <a:xfrm>
            <a:off x="4260785" y="4317735"/>
            <a:ext cx="55638" cy="124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7" name="Connector 296"/>
          <p:cNvCxnSpPr/>
          <p:nvPr/>
        </p:nvCxnSpPr>
        <p:spPr>
          <a:xfrm>
            <a:off x="4316423" y="4318975"/>
            <a:ext cx="55632" cy="13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8" name="Connector 297"/>
          <p:cNvCxnSpPr/>
          <p:nvPr/>
        </p:nvCxnSpPr>
        <p:spPr>
          <a:xfrm>
            <a:off x="4372055" y="4320332"/>
            <a:ext cx="55627" cy="14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299" name="Connector 298"/>
          <p:cNvCxnSpPr/>
          <p:nvPr/>
        </p:nvCxnSpPr>
        <p:spPr>
          <a:xfrm>
            <a:off x="4427682" y="4321808"/>
            <a:ext cx="55621" cy="15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0" name="Connector 299"/>
          <p:cNvCxnSpPr/>
          <p:nvPr/>
        </p:nvCxnSpPr>
        <p:spPr>
          <a:xfrm>
            <a:off x="4483303" y="4323402"/>
            <a:ext cx="55615" cy="171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1" name="Connector 300"/>
          <p:cNvCxnSpPr/>
          <p:nvPr/>
        </p:nvCxnSpPr>
        <p:spPr>
          <a:xfrm>
            <a:off x="4538918" y="4325115"/>
            <a:ext cx="55608" cy="18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2" name="Connector 301"/>
          <p:cNvCxnSpPr/>
          <p:nvPr/>
        </p:nvCxnSpPr>
        <p:spPr>
          <a:xfrm>
            <a:off x="4594526" y="4326945"/>
            <a:ext cx="55600" cy="19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3" name="Connector 302"/>
          <p:cNvCxnSpPr/>
          <p:nvPr/>
        </p:nvCxnSpPr>
        <p:spPr>
          <a:xfrm>
            <a:off x="4650126" y="4328893"/>
            <a:ext cx="55593" cy="20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4" name="Connector 303"/>
          <p:cNvCxnSpPr/>
          <p:nvPr/>
        </p:nvCxnSpPr>
        <p:spPr>
          <a:xfrm>
            <a:off x="4705719" y="4330960"/>
            <a:ext cx="55584" cy="21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5" name="Connector 304"/>
          <p:cNvCxnSpPr/>
          <p:nvPr/>
        </p:nvCxnSpPr>
        <p:spPr>
          <a:xfrm>
            <a:off x="4761303" y="4333144"/>
            <a:ext cx="55576" cy="230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6" name="Connector 305"/>
          <p:cNvCxnSpPr/>
          <p:nvPr/>
        </p:nvCxnSpPr>
        <p:spPr>
          <a:xfrm>
            <a:off x="4816879" y="4335447"/>
            <a:ext cx="55567" cy="24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7" name="Connector 306"/>
          <p:cNvCxnSpPr/>
          <p:nvPr/>
        </p:nvCxnSpPr>
        <p:spPr>
          <a:xfrm>
            <a:off x="4872446" y="4337868"/>
            <a:ext cx="55557" cy="25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8" name="Connector 307"/>
          <p:cNvCxnSpPr/>
          <p:nvPr/>
        </p:nvCxnSpPr>
        <p:spPr>
          <a:xfrm>
            <a:off x="4928003" y="4340407"/>
            <a:ext cx="55547" cy="26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09" name="Connector 308"/>
          <p:cNvCxnSpPr/>
          <p:nvPr/>
        </p:nvCxnSpPr>
        <p:spPr>
          <a:xfrm>
            <a:off x="4983550" y="4343064"/>
            <a:ext cx="55537" cy="277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0" name="Connector 309"/>
          <p:cNvCxnSpPr/>
          <p:nvPr/>
        </p:nvCxnSpPr>
        <p:spPr>
          <a:xfrm>
            <a:off x="5039087" y="4345839"/>
            <a:ext cx="55525" cy="289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1" name="Connector 310"/>
          <p:cNvCxnSpPr/>
          <p:nvPr/>
        </p:nvCxnSpPr>
        <p:spPr>
          <a:xfrm>
            <a:off x="5094612" y="4348733"/>
            <a:ext cx="55515" cy="301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2" name="Connector 311"/>
          <p:cNvCxnSpPr/>
          <p:nvPr/>
        </p:nvCxnSpPr>
        <p:spPr>
          <a:xfrm>
            <a:off x="5150127" y="4351744"/>
            <a:ext cx="55502" cy="31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3" name="Connector 312"/>
          <p:cNvCxnSpPr/>
          <p:nvPr/>
        </p:nvCxnSpPr>
        <p:spPr>
          <a:xfrm>
            <a:off x="5205629" y="4354874"/>
            <a:ext cx="55490" cy="324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4" name="Connector 313"/>
          <p:cNvCxnSpPr/>
          <p:nvPr/>
        </p:nvCxnSpPr>
        <p:spPr>
          <a:xfrm>
            <a:off x="5261119" y="4358122"/>
            <a:ext cx="55477" cy="336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5" name="Connector 314"/>
          <p:cNvCxnSpPr/>
          <p:nvPr/>
        </p:nvCxnSpPr>
        <p:spPr>
          <a:xfrm>
            <a:off x="5316596" y="4361488"/>
            <a:ext cx="55464" cy="34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6" name="Connector 315"/>
          <p:cNvCxnSpPr/>
          <p:nvPr/>
        </p:nvCxnSpPr>
        <p:spPr>
          <a:xfrm>
            <a:off x="5372060" y="4364973"/>
            <a:ext cx="55450" cy="36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7" name="Connector 316"/>
          <p:cNvCxnSpPr/>
          <p:nvPr/>
        </p:nvCxnSpPr>
        <p:spPr>
          <a:xfrm>
            <a:off x="5427510" y="4368575"/>
            <a:ext cx="55436" cy="37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8" name="Connector 317"/>
          <p:cNvCxnSpPr/>
          <p:nvPr/>
        </p:nvCxnSpPr>
        <p:spPr>
          <a:xfrm>
            <a:off x="5482946" y="4372296"/>
            <a:ext cx="55422" cy="38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19" name="Connector 318"/>
          <p:cNvCxnSpPr/>
          <p:nvPr/>
        </p:nvCxnSpPr>
        <p:spPr>
          <a:xfrm>
            <a:off x="5538368" y="4376135"/>
            <a:ext cx="55406" cy="395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0" name="Connector 319"/>
          <p:cNvCxnSpPr/>
          <p:nvPr/>
        </p:nvCxnSpPr>
        <p:spPr>
          <a:xfrm>
            <a:off x="5593774" y="4380092"/>
            <a:ext cx="55391" cy="407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1" name="Connector 320"/>
          <p:cNvCxnSpPr/>
          <p:nvPr/>
        </p:nvCxnSpPr>
        <p:spPr>
          <a:xfrm flipV="1">
            <a:off x="1809240" y="5661717"/>
            <a:ext cx="52447" cy="412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2" name="Connector 321"/>
          <p:cNvCxnSpPr/>
          <p:nvPr/>
        </p:nvCxnSpPr>
        <p:spPr>
          <a:xfrm flipV="1">
            <a:off x="1861687"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3" name="Connector 322"/>
          <p:cNvCxnSpPr/>
          <p:nvPr/>
        </p:nvCxnSpPr>
        <p:spPr>
          <a:xfrm flipV="1">
            <a:off x="1914151"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4" name="Connector 323"/>
          <p:cNvCxnSpPr/>
          <p:nvPr/>
        </p:nvCxnSpPr>
        <p:spPr>
          <a:xfrm flipV="1">
            <a:off x="1966630" y="5650030"/>
            <a:ext cx="52495"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5" name="Connector 324"/>
          <p:cNvCxnSpPr/>
          <p:nvPr/>
        </p:nvCxnSpPr>
        <p:spPr>
          <a:xfrm flipV="1">
            <a:off x="2019125" y="5646367"/>
            <a:ext cx="52509"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6" name="Connector 325"/>
          <p:cNvCxnSpPr/>
          <p:nvPr/>
        </p:nvCxnSpPr>
        <p:spPr>
          <a:xfrm flipV="1">
            <a:off x="2071634"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7" name="Connector 326"/>
          <p:cNvCxnSpPr/>
          <p:nvPr/>
        </p:nvCxnSpPr>
        <p:spPr>
          <a:xfrm flipV="1">
            <a:off x="2124157"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8" name="Connector 327"/>
          <p:cNvCxnSpPr/>
          <p:nvPr/>
        </p:nvCxnSpPr>
        <p:spPr>
          <a:xfrm flipV="1">
            <a:off x="2176695"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29" name="Connector 328"/>
          <p:cNvCxnSpPr/>
          <p:nvPr/>
        </p:nvCxnSpPr>
        <p:spPr>
          <a:xfrm flipV="1">
            <a:off x="2229246" y="5632878"/>
            <a:ext cx="52564"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0" name="Connector 329"/>
          <p:cNvCxnSpPr/>
          <p:nvPr/>
        </p:nvCxnSpPr>
        <p:spPr>
          <a:xfrm flipV="1">
            <a:off x="2281810" y="5629797"/>
            <a:ext cx="52576"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1" name="Connector 330"/>
          <p:cNvCxnSpPr/>
          <p:nvPr/>
        </p:nvCxnSpPr>
        <p:spPr>
          <a:xfrm flipV="1">
            <a:off x="2334386"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2" name="Connector 331"/>
          <p:cNvCxnSpPr/>
          <p:nvPr/>
        </p:nvCxnSpPr>
        <p:spPr>
          <a:xfrm flipV="1">
            <a:off x="2386974"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3" name="Connector 332"/>
          <p:cNvCxnSpPr/>
          <p:nvPr/>
        </p:nvCxnSpPr>
        <p:spPr>
          <a:xfrm flipV="1">
            <a:off x="243957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4" name="Connector 333"/>
          <p:cNvCxnSpPr/>
          <p:nvPr/>
        </p:nvCxnSpPr>
        <p:spPr>
          <a:xfrm flipV="1">
            <a:off x="2492185" y="5618634"/>
            <a:ext cx="52622"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5" name="Connector 334"/>
          <p:cNvCxnSpPr/>
          <p:nvPr/>
        </p:nvCxnSpPr>
        <p:spPr>
          <a:xfrm flipV="1">
            <a:off x="2544807" y="5616135"/>
            <a:ext cx="52631"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6" name="Connector 335"/>
          <p:cNvCxnSpPr/>
          <p:nvPr/>
        </p:nvCxnSpPr>
        <p:spPr>
          <a:xfrm flipV="1">
            <a:off x="2597438"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7" name="Connector 336"/>
          <p:cNvCxnSpPr/>
          <p:nvPr/>
        </p:nvCxnSpPr>
        <p:spPr>
          <a:xfrm flipV="1">
            <a:off x="2650080" y="5611484"/>
            <a:ext cx="52651"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8" name="Connector 337"/>
          <p:cNvCxnSpPr/>
          <p:nvPr/>
        </p:nvCxnSpPr>
        <p:spPr>
          <a:xfrm flipV="1">
            <a:off x="2702731" y="5609333"/>
            <a:ext cx="52659"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39" name="Connector 338"/>
          <p:cNvCxnSpPr/>
          <p:nvPr/>
        </p:nvCxnSpPr>
        <p:spPr>
          <a:xfrm flipV="1">
            <a:off x="2755390"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0" name="Connector 339"/>
          <p:cNvCxnSpPr/>
          <p:nvPr/>
        </p:nvCxnSpPr>
        <p:spPr>
          <a:xfrm flipV="1">
            <a:off x="2808058"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1" name="Connector 340"/>
          <p:cNvCxnSpPr/>
          <p:nvPr/>
        </p:nvCxnSpPr>
        <p:spPr>
          <a:xfrm flipV="1">
            <a:off x="286073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2" name="Connector 341"/>
          <p:cNvCxnSpPr/>
          <p:nvPr/>
        </p:nvCxnSpPr>
        <p:spPr>
          <a:xfrm flipV="1">
            <a:off x="2913416"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3" name="Connector 342"/>
          <p:cNvCxnSpPr/>
          <p:nvPr/>
        </p:nvCxnSpPr>
        <p:spPr>
          <a:xfrm flipV="1">
            <a:off x="296610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4" name="Connector 343"/>
          <p:cNvCxnSpPr/>
          <p:nvPr/>
        </p:nvCxnSpPr>
        <p:spPr>
          <a:xfrm flipV="1">
            <a:off x="3018803"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5" name="Connector 344"/>
          <p:cNvCxnSpPr/>
          <p:nvPr/>
        </p:nvCxnSpPr>
        <p:spPr>
          <a:xfrm flipV="1">
            <a:off x="3071505"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6" name="Connector 345"/>
          <p:cNvCxnSpPr/>
          <p:nvPr/>
        </p:nvCxnSpPr>
        <p:spPr>
          <a:xfrm flipV="1">
            <a:off x="312421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7" name="Connector 346"/>
          <p:cNvCxnSpPr/>
          <p:nvPr/>
        </p:nvCxnSpPr>
        <p:spPr>
          <a:xfrm flipV="1">
            <a:off x="3176926"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8" name="Connector 347"/>
          <p:cNvCxnSpPr/>
          <p:nvPr/>
        </p:nvCxnSpPr>
        <p:spPr>
          <a:xfrm flipV="1">
            <a:off x="3229644"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49" name="Connector 348"/>
          <p:cNvCxnSpPr/>
          <p:nvPr/>
        </p:nvCxnSpPr>
        <p:spPr>
          <a:xfrm flipV="1">
            <a:off x="3282366"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0" name="Connector 349"/>
          <p:cNvCxnSpPr/>
          <p:nvPr/>
        </p:nvCxnSpPr>
        <p:spPr>
          <a:xfrm flipV="1">
            <a:off x="3335091"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1" name="Connector 350"/>
          <p:cNvCxnSpPr/>
          <p:nvPr/>
        </p:nvCxnSpPr>
        <p:spPr>
          <a:xfrm flipV="1">
            <a:off x="3387820" y="5591953"/>
            <a:ext cx="52732"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2" name="Connector 351"/>
          <p:cNvCxnSpPr/>
          <p:nvPr/>
        </p:nvCxnSpPr>
        <p:spPr>
          <a:xfrm flipV="1">
            <a:off x="3440552" y="5591430"/>
            <a:ext cx="52733"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3" name="Connector 352"/>
          <p:cNvCxnSpPr/>
          <p:nvPr/>
        </p:nvCxnSpPr>
        <p:spPr>
          <a:xfrm flipV="1">
            <a:off x="3493285"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4" name="Connector 353"/>
          <p:cNvCxnSpPr/>
          <p:nvPr/>
        </p:nvCxnSpPr>
        <p:spPr>
          <a:xfrm flipV="1">
            <a:off x="354602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5" name="Connector 354"/>
          <p:cNvCxnSpPr/>
          <p:nvPr/>
        </p:nvCxnSpPr>
        <p:spPr>
          <a:xfrm flipV="1">
            <a:off x="3598758"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6" name="Connector 355"/>
          <p:cNvCxnSpPr/>
          <p:nvPr/>
        </p:nvCxnSpPr>
        <p:spPr>
          <a:xfrm flipV="1">
            <a:off x="3651496" y="5590500"/>
            <a:ext cx="52739"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7" name="Connector 356"/>
          <p:cNvCxnSpPr/>
          <p:nvPr/>
        </p:nvCxnSpPr>
        <p:spPr>
          <a:xfrm>
            <a:off x="3704235" y="5590500"/>
            <a:ext cx="52738" cy="5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8" name="Connector 357"/>
          <p:cNvCxnSpPr/>
          <p:nvPr/>
        </p:nvCxnSpPr>
        <p:spPr>
          <a:xfrm>
            <a:off x="3756973" y="5590558"/>
            <a:ext cx="52738" cy="17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59" name="Connector 358"/>
          <p:cNvCxnSpPr/>
          <p:nvPr/>
        </p:nvCxnSpPr>
        <p:spPr>
          <a:xfrm>
            <a:off x="3809711" y="5590732"/>
            <a:ext cx="52737" cy="29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0" name="Connector 359"/>
          <p:cNvCxnSpPr/>
          <p:nvPr/>
        </p:nvCxnSpPr>
        <p:spPr>
          <a:xfrm>
            <a:off x="3862448" y="5591023"/>
            <a:ext cx="52736" cy="40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1" name="Connector 360"/>
          <p:cNvCxnSpPr/>
          <p:nvPr/>
        </p:nvCxnSpPr>
        <p:spPr>
          <a:xfrm>
            <a:off x="3915184" y="5591430"/>
            <a:ext cx="52734" cy="52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2" name="Connector 361"/>
          <p:cNvCxnSpPr/>
          <p:nvPr/>
        </p:nvCxnSpPr>
        <p:spPr>
          <a:xfrm>
            <a:off x="3967918" y="5591953"/>
            <a:ext cx="52731" cy="63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3" name="Connector 362"/>
          <p:cNvCxnSpPr/>
          <p:nvPr/>
        </p:nvCxnSpPr>
        <p:spPr>
          <a:xfrm>
            <a:off x="4020649" y="5592592"/>
            <a:ext cx="52729" cy="75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4" name="Connector 363"/>
          <p:cNvCxnSpPr/>
          <p:nvPr/>
        </p:nvCxnSpPr>
        <p:spPr>
          <a:xfrm>
            <a:off x="4073378" y="5593348"/>
            <a:ext cx="52725" cy="87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5" name="Connector 364"/>
          <p:cNvCxnSpPr/>
          <p:nvPr/>
        </p:nvCxnSpPr>
        <p:spPr>
          <a:xfrm>
            <a:off x="4126103" y="5594220"/>
            <a:ext cx="52722" cy="98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6" name="Connector 365"/>
          <p:cNvCxnSpPr/>
          <p:nvPr/>
        </p:nvCxnSpPr>
        <p:spPr>
          <a:xfrm>
            <a:off x="4178825" y="5595208"/>
            <a:ext cx="52718" cy="110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7" name="Connector 366"/>
          <p:cNvCxnSpPr/>
          <p:nvPr/>
        </p:nvCxnSpPr>
        <p:spPr>
          <a:xfrm>
            <a:off x="4231543" y="5596312"/>
            <a:ext cx="52713" cy="122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8" name="Connector 367"/>
          <p:cNvCxnSpPr/>
          <p:nvPr/>
        </p:nvCxnSpPr>
        <p:spPr>
          <a:xfrm>
            <a:off x="4284256" y="5597533"/>
            <a:ext cx="52708" cy="133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69" name="Connector 368"/>
          <p:cNvCxnSpPr/>
          <p:nvPr/>
        </p:nvCxnSpPr>
        <p:spPr>
          <a:xfrm>
            <a:off x="4336964" y="5598870"/>
            <a:ext cx="52702" cy="145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0" name="Connector 369"/>
          <p:cNvCxnSpPr/>
          <p:nvPr/>
        </p:nvCxnSpPr>
        <p:spPr>
          <a:xfrm>
            <a:off x="4389666" y="5600323"/>
            <a:ext cx="52697" cy="157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1" name="Connector 370"/>
          <p:cNvCxnSpPr/>
          <p:nvPr/>
        </p:nvCxnSpPr>
        <p:spPr>
          <a:xfrm>
            <a:off x="4442363" y="5601893"/>
            <a:ext cx="52690" cy="168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2" name="Connector 371"/>
          <p:cNvCxnSpPr/>
          <p:nvPr/>
        </p:nvCxnSpPr>
        <p:spPr>
          <a:xfrm>
            <a:off x="4495053" y="5603578"/>
            <a:ext cx="52683" cy="180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3" name="Connector 372"/>
          <p:cNvCxnSpPr/>
          <p:nvPr/>
        </p:nvCxnSpPr>
        <p:spPr>
          <a:xfrm>
            <a:off x="4547736" y="5605380"/>
            <a:ext cx="52675" cy="191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4" name="Connector 373"/>
          <p:cNvCxnSpPr/>
          <p:nvPr/>
        </p:nvCxnSpPr>
        <p:spPr>
          <a:xfrm>
            <a:off x="4600411" y="5607299"/>
            <a:ext cx="52668" cy="203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5" name="Connector 374"/>
          <p:cNvCxnSpPr/>
          <p:nvPr/>
        </p:nvCxnSpPr>
        <p:spPr>
          <a:xfrm>
            <a:off x="4653079" y="5609333"/>
            <a:ext cx="52660" cy="215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6" name="Connector 375"/>
          <p:cNvCxnSpPr/>
          <p:nvPr/>
        </p:nvCxnSpPr>
        <p:spPr>
          <a:xfrm>
            <a:off x="4705739" y="5611484"/>
            <a:ext cx="52650" cy="226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7" name="Connector 376"/>
          <p:cNvCxnSpPr/>
          <p:nvPr/>
        </p:nvCxnSpPr>
        <p:spPr>
          <a:xfrm>
            <a:off x="4758389" y="5613751"/>
            <a:ext cx="52642" cy="238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8" name="Connector 377"/>
          <p:cNvCxnSpPr/>
          <p:nvPr/>
        </p:nvCxnSpPr>
        <p:spPr>
          <a:xfrm>
            <a:off x="4811031" y="5616135"/>
            <a:ext cx="52632" cy="249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79" name="Connector 378"/>
          <p:cNvCxnSpPr/>
          <p:nvPr/>
        </p:nvCxnSpPr>
        <p:spPr>
          <a:xfrm>
            <a:off x="4863663" y="5618634"/>
            <a:ext cx="52621" cy="261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0" name="Connector 379"/>
          <p:cNvCxnSpPr/>
          <p:nvPr/>
        </p:nvCxnSpPr>
        <p:spPr>
          <a:xfrm>
            <a:off x="4916284" y="5621251"/>
            <a:ext cx="52611" cy="273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1" name="Connector 380"/>
          <p:cNvCxnSpPr/>
          <p:nvPr/>
        </p:nvCxnSpPr>
        <p:spPr>
          <a:xfrm>
            <a:off x="4968895" y="5623983"/>
            <a:ext cx="52600" cy="284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1495" y="5626832"/>
            <a:ext cx="52588" cy="2965"/>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3" name="Connector 382"/>
          <p:cNvCxnSpPr/>
          <p:nvPr/>
        </p:nvCxnSpPr>
        <p:spPr>
          <a:xfrm>
            <a:off x="5074083" y="5629797"/>
            <a:ext cx="52577" cy="3081"/>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4" name="Connector 383"/>
          <p:cNvCxnSpPr/>
          <p:nvPr/>
        </p:nvCxnSpPr>
        <p:spPr>
          <a:xfrm>
            <a:off x="5126660" y="5632878"/>
            <a:ext cx="52563" cy="3198"/>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5179223" y="5636076"/>
            <a:ext cx="52551" cy="3314"/>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6" name="Connector 385"/>
          <p:cNvCxnSpPr/>
          <p:nvPr/>
        </p:nvCxnSpPr>
        <p:spPr>
          <a:xfrm>
            <a:off x="5231774" y="5639390"/>
            <a:ext cx="52538" cy="3430"/>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7" name="Connector 386"/>
          <p:cNvCxnSpPr/>
          <p:nvPr/>
        </p:nvCxnSpPr>
        <p:spPr>
          <a:xfrm>
            <a:off x="5284312" y="5642820"/>
            <a:ext cx="52523" cy="3547"/>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8" name="Connector 387"/>
          <p:cNvCxnSpPr/>
          <p:nvPr/>
        </p:nvCxnSpPr>
        <p:spPr>
          <a:xfrm>
            <a:off x="5336835" y="5646367"/>
            <a:ext cx="52510" cy="3663"/>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89" name="Connector 388"/>
          <p:cNvCxnSpPr/>
          <p:nvPr/>
        </p:nvCxnSpPr>
        <p:spPr>
          <a:xfrm>
            <a:off x="5389345" y="5650030"/>
            <a:ext cx="52494" cy="3779"/>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a:off x="5441839" y="5653809"/>
            <a:ext cx="52479" cy="3896"/>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a:off x="5494318" y="5657705"/>
            <a:ext cx="52464" cy="4012"/>
          </a:xfrm>
          <a:prstGeom prst="line">
            <a:avLst/>
          </a:prstGeom>
          <a:ln w="3810">
            <a:solidFill>
              <a:srgbClr val="EEEEEE"/>
            </a:solidFill>
            <a:prstDash val="sysDot"/>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flipH="1" flipV="1">
            <a:off x="1817670" y="2685759"/>
            <a:ext cx="9059" cy="153194"/>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393" name="TextBox 392"/>
          <p:cNvSpPr txBox="1"/>
          <p:nvPr/>
        </p:nvSpPr>
        <p:spPr>
          <a:xfrm>
            <a:off x="1744518" y="2475447"/>
            <a:ext cx="182880" cy="182880"/>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N</a:t>
            </a:r>
          </a:p>
        </p:txBody>
      </p:sp>
      <p:cxnSp>
        <p:nvCxnSpPr>
          <p:cNvPr id="394" name="Connector 393"/>
          <p:cNvCxnSpPr/>
          <p:nvPr/>
        </p:nvCxnSpPr>
        <p:spPr>
          <a:xfrm flipH="1">
            <a:off x="1781094"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1817670" y="2685759"/>
            <a:ext cx="36576" cy="82296"/>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6" name="Connector 395"/>
          <p:cNvCxnSpPr/>
          <p:nvPr/>
        </p:nvCxnSpPr>
        <p:spPr>
          <a:xfrm>
            <a:off x="640080" y="5632704"/>
            <a:ext cx="1153731" cy="0"/>
          </a:xfrm>
          <a:prstGeom prst="line">
            <a:avLst/>
          </a:prstGeom>
          <a:ln w="215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7" name="Connector 396"/>
          <p:cNvCxnSpPr/>
          <p:nvPr/>
        </p:nvCxnSpPr>
        <p:spPr>
          <a:xfrm>
            <a:off x="640080"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8" name="Connector 397"/>
          <p:cNvCxnSpPr/>
          <p:nvPr/>
        </p:nvCxnSpPr>
        <p:spPr>
          <a:xfrm>
            <a:off x="1216945"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399" name="Connector 398"/>
          <p:cNvCxnSpPr/>
          <p:nvPr/>
        </p:nvCxnSpPr>
        <p:spPr>
          <a:xfrm>
            <a:off x="1793811" y="5600700"/>
            <a:ext cx="0" cy="64008"/>
          </a:xfrm>
          <a:prstGeom prst="line">
            <a:avLst/>
          </a:prstGeom>
          <a:ln w="8890">
            <a:solidFill>
              <a:srgbClr val="000000"/>
            </a:solidFill>
          </a:ln>
        </p:spPr>
        <p:style>
          <a:lnRef idx="2">
            <a:schemeClr val="accent1"/>
          </a:lnRef>
          <a:fillRef idx="0">
            <a:schemeClr val="accent1"/>
          </a:fillRef>
          <a:effectRef idx="1">
            <a:schemeClr val="accent1"/>
          </a:effectRef>
          <a:fontRef idx="minor">
            <a:schemeClr val="tx1"/>
          </a:fontRef>
        </p:style>
      </p:cxnSp>
      <p:sp>
        <p:nvSpPr>
          <p:cNvPr id="400" name="TextBox 399"/>
          <p:cNvSpPr txBox="1"/>
          <p:nvPr/>
        </p:nvSpPr>
        <p:spPr>
          <a:xfrm>
            <a:off x="621792" y="5422392"/>
            <a:ext cx="164592"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0</a:t>
            </a:r>
          </a:p>
        </p:txBody>
      </p:sp>
      <p:sp>
        <p:nvSpPr>
          <p:cNvPr id="401" name="TextBox 400"/>
          <p:cNvSpPr txBox="1"/>
          <p:nvPr/>
        </p:nvSpPr>
        <p:spPr>
          <a:xfrm>
            <a:off x="1647507" y="5422392"/>
            <a:ext cx="502920" cy="164592"/>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500 km</a:t>
            </a:r>
          </a:p>
        </p:txBody>
      </p:sp>
      <p:sp>
        <p:nvSpPr>
          <p:cNvPr id="402" name="2022 provincial petrol/diesel sales: EC"/>
          <p:cNvSpPr/>
          <p:nvPr/>
        </p:nvSpPr>
        <p:spPr>
          <a:xfrm>
            <a:off x="3217820" y="4327517"/>
            <a:ext cx="1626648" cy="1062036"/>
          </a:xfrm>
          <a:custGeom>
            <a:avLst/>
            <a:gdLst/>
            <a:ahLst/>
            <a:cxnLst/>
            <a:rect l="l" t="t" r="r" b="b"/>
            <a:pathLst>
              <a:path w="1626648" h="1062036">
                <a:moveTo>
                  <a:pt x="1626648" y="291217"/>
                </a:moveTo>
                <a:lnTo>
                  <a:pt x="1600396" y="324955"/>
                </a:lnTo>
                <a:lnTo>
                  <a:pt x="1552222" y="372068"/>
                </a:lnTo>
                <a:lnTo>
                  <a:pt x="1532452" y="375347"/>
                </a:lnTo>
                <a:lnTo>
                  <a:pt x="1481036" y="423881"/>
                </a:lnTo>
                <a:lnTo>
                  <a:pt x="1453741" y="435408"/>
                </a:lnTo>
                <a:lnTo>
                  <a:pt x="1449105" y="446073"/>
                </a:lnTo>
                <a:lnTo>
                  <a:pt x="1438747" y="451957"/>
                </a:lnTo>
                <a:lnTo>
                  <a:pt x="1436318" y="463441"/>
                </a:lnTo>
                <a:lnTo>
                  <a:pt x="1417163" y="478127"/>
                </a:lnTo>
                <a:lnTo>
                  <a:pt x="1405540" y="498493"/>
                </a:lnTo>
                <a:lnTo>
                  <a:pt x="1388233" y="510898"/>
                </a:lnTo>
                <a:lnTo>
                  <a:pt x="1377202" y="532111"/>
                </a:lnTo>
                <a:lnTo>
                  <a:pt x="1362051" y="541960"/>
                </a:lnTo>
                <a:lnTo>
                  <a:pt x="1330982" y="581759"/>
                </a:lnTo>
                <a:lnTo>
                  <a:pt x="1308715" y="596970"/>
                </a:lnTo>
                <a:lnTo>
                  <a:pt x="1256150" y="654155"/>
                </a:lnTo>
                <a:lnTo>
                  <a:pt x="1230251" y="668343"/>
                </a:lnTo>
                <a:lnTo>
                  <a:pt x="1216543" y="686817"/>
                </a:lnTo>
                <a:lnTo>
                  <a:pt x="1165080" y="711568"/>
                </a:lnTo>
                <a:lnTo>
                  <a:pt x="1151740" y="738027"/>
                </a:lnTo>
                <a:lnTo>
                  <a:pt x="1125327" y="754410"/>
                </a:lnTo>
                <a:lnTo>
                  <a:pt x="1117376" y="766896"/>
                </a:lnTo>
                <a:lnTo>
                  <a:pt x="1074306" y="789536"/>
                </a:lnTo>
                <a:lnTo>
                  <a:pt x="1046671" y="814744"/>
                </a:lnTo>
                <a:lnTo>
                  <a:pt x="949172" y="878333"/>
                </a:lnTo>
                <a:lnTo>
                  <a:pt x="939555" y="889984"/>
                </a:lnTo>
                <a:lnTo>
                  <a:pt x="901724" y="903829"/>
                </a:lnTo>
                <a:lnTo>
                  <a:pt x="886408" y="915044"/>
                </a:lnTo>
                <a:lnTo>
                  <a:pt x="859634" y="921425"/>
                </a:lnTo>
                <a:lnTo>
                  <a:pt x="819926" y="945234"/>
                </a:lnTo>
                <a:lnTo>
                  <a:pt x="800548" y="951402"/>
                </a:lnTo>
                <a:lnTo>
                  <a:pt x="769694" y="949621"/>
                </a:lnTo>
                <a:lnTo>
                  <a:pt x="707203" y="932919"/>
                </a:lnTo>
                <a:lnTo>
                  <a:pt x="655271" y="942321"/>
                </a:lnTo>
                <a:lnTo>
                  <a:pt x="628675" y="962207"/>
                </a:lnTo>
                <a:lnTo>
                  <a:pt x="617419" y="986949"/>
                </a:lnTo>
                <a:lnTo>
                  <a:pt x="617199" y="994455"/>
                </a:lnTo>
                <a:lnTo>
                  <a:pt x="636585" y="1015956"/>
                </a:lnTo>
                <a:lnTo>
                  <a:pt x="610310" y="1020625"/>
                </a:lnTo>
                <a:lnTo>
                  <a:pt x="573395" y="1016635"/>
                </a:lnTo>
                <a:lnTo>
                  <a:pt x="529835" y="999060"/>
                </a:lnTo>
                <a:lnTo>
                  <a:pt x="490048" y="1000441"/>
                </a:lnTo>
                <a:lnTo>
                  <a:pt x="471149" y="1011118"/>
                </a:lnTo>
                <a:lnTo>
                  <a:pt x="469864" y="1027741"/>
                </a:lnTo>
                <a:lnTo>
                  <a:pt x="452936" y="1043577"/>
                </a:lnTo>
                <a:lnTo>
                  <a:pt x="450696" y="1050279"/>
                </a:lnTo>
                <a:lnTo>
                  <a:pt x="459042" y="1057644"/>
                </a:lnTo>
                <a:lnTo>
                  <a:pt x="451741" y="1062036"/>
                </a:lnTo>
                <a:lnTo>
                  <a:pt x="411111" y="1051678"/>
                </a:lnTo>
                <a:lnTo>
                  <a:pt x="403086" y="1056406"/>
                </a:lnTo>
                <a:lnTo>
                  <a:pt x="378057" y="1050435"/>
                </a:lnTo>
                <a:lnTo>
                  <a:pt x="354681" y="1034044"/>
                </a:lnTo>
                <a:lnTo>
                  <a:pt x="339416" y="1033817"/>
                </a:lnTo>
                <a:lnTo>
                  <a:pt x="314495" y="1023274"/>
                </a:lnTo>
                <a:lnTo>
                  <a:pt x="197202" y="1006379"/>
                </a:lnTo>
                <a:lnTo>
                  <a:pt x="195364" y="986818"/>
                </a:lnTo>
                <a:lnTo>
                  <a:pt x="209291" y="974144"/>
                </a:lnTo>
                <a:lnTo>
                  <a:pt x="178963" y="965525"/>
                </a:lnTo>
                <a:lnTo>
                  <a:pt x="177856" y="956453"/>
                </a:lnTo>
                <a:lnTo>
                  <a:pt x="169576" y="953672"/>
                </a:lnTo>
                <a:lnTo>
                  <a:pt x="163303" y="960252"/>
                </a:lnTo>
                <a:lnTo>
                  <a:pt x="143142" y="956718"/>
                </a:lnTo>
                <a:lnTo>
                  <a:pt x="152462" y="937345"/>
                </a:lnTo>
                <a:lnTo>
                  <a:pt x="174088" y="932495"/>
                </a:lnTo>
                <a:lnTo>
                  <a:pt x="177187" y="920180"/>
                </a:lnTo>
                <a:lnTo>
                  <a:pt x="183552" y="925525"/>
                </a:lnTo>
                <a:lnTo>
                  <a:pt x="201656" y="925259"/>
                </a:lnTo>
                <a:lnTo>
                  <a:pt x="202480" y="913310"/>
                </a:lnTo>
                <a:lnTo>
                  <a:pt x="185421" y="899869"/>
                </a:lnTo>
                <a:lnTo>
                  <a:pt x="186839" y="880384"/>
                </a:lnTo>
                <a:lnTo>
                  <a:pt x="163393" y="867136"/>
                </a:lnTo>
                <a:lnTo>
                  <a:pt x="133168" y="866970"/>
                </a:lnTo>
                <a:lnTo>
                  <a:pt x="135221" y="872205"/>
                </a:lnTo>
                <a:lnTo>
                  <a:pt x="120555" y="853719"/>
                </a:lnTo>
                <a:lnTo>
                  <a:pt x="85680" y="854000"/>
                </a:lnTo>
                <a:lnTo>
                  <a:pt x="42919" y="865353"/>
                </a:lnTo>
                <a:lnTo>
                  <a:pt x="8442" y="863593"/>
                </a:lnTo>
                <a:lnTo>
                  <a:pt x="0" y="857370"/>
                </a:lnTo>
                <a:lnTo>
                  <a:pt x="377" y="839254"/>
                </a:lnTo>
                <a:lnTo>
                  <a:pt x="11249" y="834778"/>
                </a:lnTo>
                <a:lnTo>
                  <a:pt x="45596" y="774241"/>
                </a:lnTo>
                <a:lnTo>
                  <a:pt x="40770" y="761158"/>
                </a:lnTo>
                <a:lnTo>
                  <a:pt x="48217" y="753789"/>
                </a:lnTo>
                <a:lnTo>
                  <a:pt x="43585" y="742786"/>
                </a:lnTo>
                <a:lnTo>
                  <a:pt x="55889" y="722817"/>
                </a:lnTo>
                <a:lnTo>
                  <a:pt x="79366" y="718628"/>
                </a:lnTo>
                <a:lnTo>
                  <a:pt x="73248" y="703680"/>
                </a:lnTo>
                <a:lnTo>
                  <a:pt x="94332" y="695223"/>
                </a:lnTo>
                <a:lnTo>
                  <a:pt x="135896" y="709335"/>
                </a:lnTo>
                <a:lnTo>
                  <a:pt x="139796" y="693540"/>
                </a:lnTo>
                <a:lnTo>
                  <a:pt x="129817" y="693760"/>
                </a:lnTo>
                <a:lnTo>
                  <a:pt x="125528" y="678428"/>
                </a:lnTo>
                <a:lnTo>
                  <a:pt x="111699" y="670412"/>
                </a:lnTo>
                <a:lnTo>
                  <a:pt x="118492" y="665275"/>
                </a:lnTo>
                <a:lnTo>
                  <a:pt x="119628" y="654983"/>
                </a:lnTo>
                <a:lnTo>
                  <a:pt x="115240" y="639594"/>
                </a:lnTo>
                <a:lnTo>
                  <a:pt x="105613" y="630023"/>
                </a:lnTo>
                <a:lnTo>
                  <a:pt x="100288" y="607545"/>
                </a:lnTo>
                <a:lnTo>
                  <a:pt x="118782" y="599818"/>
                </a:lnTo>
                <a:lnTo>
                  <a:pt x="124194" y="588285"/>
                </a:lnTo>
                <a:lnTo>
                  <a:pt x="141021" y="597784"/>
                </a:lnTo>
                <a:lnTo>
                  <a:pt x="149277" y="580807"/>
                </a:lnTo>
                <a:lnTo>
                  <a:pt x="196329" y="585582"/>
                </a:lnTo>
                <a:lnTo>
                  <a:pt x="199156" y="581682"/>
                </a:lnTo>
                <a:lnTo>
                  <a:pt x="192646" y="573804"/>
                </a:lnTo>
                <a:lnTo>
                  <a:pt x="197151" y="558315"/>
                </a:lnTo>
                <a:lnTo>
                  <a:pt x="217819" y="543010"/>
                </a:lnTo>
                <a:lnTo>
                  <a:pt x="245460" y="562227"/>
                </a:lnTo>
                <a:lnTo>
                  <a:pt x="260319" y="549702"/>
                </a:lnTo>
                <a:lnTo>
                  <a:pt x="275388" y="546236"/>
                </a:lnTo>
                <a:lnTo>
                  <a:pt x="276942" y="537181"/>
                </a:lnTo>
                <a:lnTo>
                  <a:pt x="290476" y="538574"/>
                </a:lnTo>
                <a:lnTo>
                  <a:pt x="298102" y="528065"/>
                </a:lnTo>
                <a:lnTo>
                  <a:pt x="292390" y="518171"/>
                </a:lnTo>
                <a:lnTo>
                  <a:pt x="289875" y="524965"/>
                </a:lnTo>
                <a:lnTo>
                  <a:pt x="290873" y="514499"/>
                </a:lnTo>
                <a:lnTo>
                  <a:pt x="299166" y="509697"/>
                </a:lnTo>
                <a:lnTo>
                  <a:pt x="299043" y="499556"/>
                </a:lnTo>
                <a:lnTo>
                  <a:pt x="309628" y="499618"/>
                </a:lnTo>
                <a:lnTo>
                  <a:pt x="316725" y="485090"/>
                </a:lnTo>
                <a:lnTo>
                  <a:pt x="303920" y="471564"/>
                </a:lnTo>
                <a:lnTo>
                  <a:pt x="291087" y="472795"/>
                </a:lnTo>
                <a:lnTo>
                  <a:pt x="294946" y="457501"/>
                </a:lnTo>
                <a:lnTo>
                  <a:pt x="301452" y="459432"/>
                </a:lnTo>
                <a:lnTo>
                  <a:pt x="301718" y="451135"/>
                </a:lnTo>
                <a:lnTo>
                  <a:pt x="308010" y="448737"/>
                </a:lnTo>
                <a:lnTo>
                  <a:pt x="301562" y="444954"/>
                </a:lnTo>
                <a:lnTo>
                  <a:pt x="303037" y="430067"/>
                </a:lnTo>
                <a:lnTo>
                  <a:pt x="330074" y="436289"/>
                </a:lnTo>
                <a:lnTo>
                  <a:pt x="342169" y="423083"/>
                </a:lnTo>
                <a:lnTo>
                  <a:pt x="360237" y="422427"/>
                </a:lnTo>
                <a:lnTo>
                  <a:pt x="357871" y="416522"/>
                </a:lnTo>
                <a:lnTo>
                  <a:pt x="364168" y="422656"/>
                </a:lnTo>
                <a:lnTo>
                  <a:pt x="380104" y="420630"/>
                </a:lnTo>
                <a:lnTo>
                  <a:pt x="381038" y="367662"/>
                </a:lnTo>
                <a:lnTo>
                  <a:pt x="389663" y="363520"/>
                </a:lnTo>
                <a:lnTo>
                  <a:pt x="391430" y="347348"/>
                </a:lnTo>
                <a:lnTo>
                  <a:pt x="397756" y="342348"/>
                </a:lnTo>
                <a:lnTo>
                  <a:pt x="412866" y="338330"/>
                </a:lnTo>
                <a:lnTo>
                  <a:pt x="422899" y="344915"/>
                </a:lnTo>
                <a:lnTo>
                  <a:pt x="440024" y="339750"/>
                </a:lnTo>
                <a:lnTo>
                  <a:pt x="448094" y="331309"/>
                </a:lnTo>
                <a:lnTo>
                  <a:pt x="456304" y="335672"/>
                </a:lnTo>
                <a:lnTo>
                  <a:pt x="454121" y="324062"/>
                </a:lnTo>
                <a:lnTo>
                  <a:pt x="471825" y="322043"/>
                </a:lnTo>
                <a:lnTo>
                  <a:pt x="487650" y="307388"/>
                </a:lnTo>
                <a:lnTo>
                  <a:pt x="499266" y="308998"/>
                </a:lnTo>
                <a:lnTo>
                  <a:pt x="523898" y="301297"/>
                </a:lnTo>
                <a:lnTo>
                  <a:pt x="532823" y="289272"/>
                </a:lnTo>
                <a:lnTo>
                  <a:pt x="564344" y="300575"/>
                </a:lnTo>
                <a:lnTo>
                  <a:pt x="571349" y="295952"/>
                </a:lnTo>
                <a:lnTo>
                  <a:pt x="571045" y="278847"/>
                </a:lnTo>
                <a:lnTo>
                  <a:pt x="584703" y="265910"/>
                </a:lnTo>
                <a:lnTo>
                  <a:pt x="583079" y="256002"/>
                </a:lnTo>
                <a:lnTo>
                  <a:pt x="596965" y="242220"/>
                </a:lnTo>
                <a:lnTo>
                  <a:pt x="591132" y="236182"/>
                </a:lnTo>
                <a:lnTo>
                  <a:pt x="599085" y="229013"/>
                </a:lnTo>
                <a:lnTo>
                  <a:pt x="600655" y="215154"/>
                </a:lnTo>
                <a:lnTo>
                  <a:pt x="590431" y="207010"/>
                </a:lnTo>
                <a:lnTo>
                  <a:pt x="607753" y="186914"/>
                </a:lnTo>
                <a:lnTo>
                  <a:pt x="592496" y="183760"/>
                </a:lnTo>
                <a:lnTo>
                  <a:pt x="589765" y="144179"/>
                </a:lnTo>
                <a:lnTo>
                  <a:pt x="610847" y="142256"/>
                </a:lnTo>
                <a:lnTo>
                  <a:pt x="618483" y="135653"/>
                </a:lnTo>
                <a:lnTo>
                  <a:pt x="624657" y="144364"/>
                </a:lnTo>
                <a:lnTo>
                  <a:pt x="622161" y="152462"/>
                </a:lnTo>
                <a:lnTo>
                  <a:pt x="635844" y="148468"/>
                </a:lnTo>
                <a:lnTo>
                  <a:pt x="639716" y="157701"/>
                </a:lnTo>
                <a:lnTo>
                  <a:pt x="655389" y="160971"/>
                </a:lnTo>
                <a:lnTo>
                  <a:pt x="661857" y="147863"/>
                </a:lnTo>
                <a:lnTo>
                  <a:pt x="683577" y="141154"/>
                </a:lnTo>
                <a:lnTo>
                  <a:pt x="682521" y="124151"/>
                </a:lnTo>
                <a:lnTo>
                  <a:pt x="692479" y="134772"/>
                </a:lnTo>
                <a:lnTo>
                  <a:pt x="702772" y="122864"/>
                </a:lnTo>
                <a:lnTo>
                  <a:pt x="729484" y="117552"/>
                </a:lnTo>
                <a:lnTo>
                  <a:pt x="739321" y="123721"/>
                </a:lnTo>
                <a:lnTo>
                  <a:pt x="736766" y="113428"/>
                </a:lnTo>
                <a:lnTo>
                  <a:pt x="744002" y="109255"/>
                </a:lnTo>
                <a:lnTo>
                  <a:pt x="751578" y="121630"/>
                </a:lnTo>
                <a:lnTo>
                  <a:pt x="766102" y="124714"/>
                </a:lnTo>
                <a:lnTo>
                  <a:pt x="769754" y="136677"/>
                </a:lnTo>
                <a:lnTo>
                  <a:pt x="786525" y="138229"/>
                </a:lnTo>
                <a:lnTo>
                  <a:pt x="807211" y="131917"/>
                </a:lnTo>
                <a:lnTo>
                  <a:pt x="816051" y="138295"/>
                </a:lnTo>
                <a:lnTo>
                  <a:pt x="814589" y="147437"/>
                </a:lnTo>
                <a:lnTo>
                  <a:pt x="830954" y="156458"/>
                </a:lnTo>
                <a:lnTo>
                  <a:pt x="846691" y="156075"/>
                </a:lnTo>
                <a:lnTo>
                  <a:pt x="846671" y="164297"/>
                </a:lnTo>
                <a:lnTo>
                  <a:pt x="856910" y="157698"/>
                </a:lnTo>
                <a:lnTo>
                  <a:pt x="862977" y="162743"/>
                </a:lnTo>
                <a:lnTo>
                  <a:pt x="885759" y="150925"/>
                </a:lnTo>
                <a:lnTo>
                  <a:pt x="898464" y="162575"/>
                </a:lnTo>
                <a:lnTo>
                  <a:pt x="901923" y="156357"/>
                </a:lnTo>
                <a:lnTo>
                  <a:pt x="917422" y="156354"/>
                </a:lnTo>
                <a:lnTo>
                  <a:pt x="913262" y="147558"/>
                </a:lnTo>
                <a:lnTo>
                  <a:pt x="917444" y="143314"/>
                </a:lnTo>
                <a:lnTo>
                  <a:pt x="936451" y="141853"/>
                </a:lnTo>
                <a:lnTo>
                  <a:pt x="930541" y="125533"/>
                </a:lnTo>
                <a:lnTo>
                  <a:pt x="948202" y="123480"/>
                </a:lnTo>
                <a:lnTo>
                  <a:pt x="952665" y="131304"/>
                </a:lnTo>
                <a:lnTo>
                  <a:pt x="959866" y="124757"/>
                </a:lnTo>
                <a:lnTo>
                  <a:pt x="958298" y="119081"/>
                </a:lnTo>
                <a:lnTo>
                  <a:pt x="970610" y="123013"/>
                </a:lnTo>
                <a:lnTo>
                  <a:pt x="976640" y="113498"/>
                </a:lnTo>
                <a:lnTo>
                  <a:pt x="980275" y="119341"/>
                </a:lnTo>
                <a:lnTo>
                  <a:pt x="982581" y="111978"/>
                </a:lnTo>
                <a:lnTo>
                  <a:pt x="995498" y="120147"/>
                </a:lnTo>
                <a:lnTo>
                  <a:pt x="1002261" y="113080"/>
                </a:lnTo>
                <a:lnTo>
                  <a:pt x="996312" y="102787"/>
                </a:lnTo>
                <a:lnTo>
                  <a:pt x="1011446" y="101386"/>
                </a:lnTo>
                <a:lnTo>
                  <a:pt x="1001657" y="97647"/>
                </a:lnTo>
                <a:lnTo>
                  <a:pt x="1005040" y="91350"/>
                </a:lnTo>
                <a:lnTo>
                  <a:pt x="1013406" y="94218"/>
                </a:lnTo>
                <a:lnTo>
                  <a:pt x="1019395" y="90128"/>
                </a:lnTo>
                <a:lnTo>
                  <a:pt x="1008113" y="73675"/>
                </a:lnTo>
                <a:lnTo>
                  <a:pt x="1017203" y="76634"/>
                </a:lnTo>
                <a:lnTo>
                  <a:pt x="1030933" y="70206"/>
                </a:lnTo>
                <a:lnTo>
                  <a:pt x="1038546" y="85673"/>
                </a:lnTo>
                <a:lnTo>
                  <a:pt x="1052509" y="93073"/>
                </a:lnTo>
                <a:lnTo>
                  <a:pt x="1055407" y="104303"/>
                </a:lnTo>
                <a:lnTo>
                  <a:pt x="1063453" y="105305"/>
                </a:lnTo>
                <a:lnTo>
                  <a:pt x="1064500" y="117508"/>
                </a:lnTo>
                <a:lnTo>
                  <a:pt x="1082101" y="129478"/>
                </a:lnTo>
                <a:lnTo>
                  <a:pt x="1093114" y="145870"/>
                </a:lnTo>
                <a:lnTo>
                  <a:pt x="1104866" y="150040"/>
                </a:lnTo>
                <a:lnTo>
                  <a:pt x="1131525" y="146131"/>
                </a:lnTo>
                <a:lnTo>
                  <a:pt x="1136779" y="157219"/>
                </a:lnTo>
                <a:lnTo>
                  <a:pt x="1168558" y="160562"/>
                </a:lnTo>
                <a:lnTo>
                  <a:pt x="1174818" y="166255"/>
                </a:lnTo>
                <a:lnTo>
                  <a:pt x="1175253" y="146890"/>
                </a:lnTo>
                <a:lnTo>
                  <a:pt x="1183788" y="143059"/>
                </a:lnTo>
                <a:lnTo>
                  <a:pt x="1189922" y="128185"/>
                </a:lnTo>
                <a:lnTo>
                  <a:pt x="1185757" y="112789"/>
                </a:lnTo>
                <a:lnTo>
                  <a:pt x="1192569" y="105213"/>
                </a:lnTo>
                <a:lnTo>
                  <a:pt x="1208565" y="101083"/>
                </a:lnTo>
                <a:lnTo>
                  <a:pt x="1211712" y="84792"/>
                </a:lnTo>
                <a:lnTo>
                  <a:pt x="1198193" y="68443"/>
                </a:lnTo>
                <a:lnTo>
                  <a:pt x="1204924" y="60731"/>
                </a:lnTo>
                <a:lnTo>
                  <a:pt x="1229466" y="54241"/>
                </a:lnTo>
                <a:lnTo>
                  <a:pt x="1234213" y="38136"/>
                </a:lnTo>
                <a:lnTo>
                  <a:pt x="1242109" y="31979"/>
                </a:lnTo>
                <a:lnTo>
                  <a:pt x="1258170" y="35499"/>
                </a:lnTo>
                <a:lnTo>
                  <a:pt x="1275789" y="27073"/>
                </a:lnTo>
                <a:lnTo>
                  <a:pt x="1301627" y="33007"/>
                </a:lnTo>
                <a:lnTo>
                  <a:pt x="1343760" y="21407"/>
                </a:lnTo>
                <a:lnTo>
                  <a:pt x="1379968" y="0"/>
                </a:lnTo>
                <a:lnTo>
                  <a:pt x="1402758" y="25620"/>
                </a:lnTo>
                <a:lnTo>
                  <a:pt x="1397903" y="45505"/>
                </a:lnTo>
                <a:lnTo>
                  <a:pt x="1404552" y="67280"/>
                </a:lnTo>
                <a:lnTo>
                  <a:pt x="1430477" y="79371"/>
                </a:lnTo>
                <a:lnTo>
                  <a:pt x="1426871" y="69525"/>
                </a:lnTo>
                <a:lnTo>
                  <a:pt x="1440782" y="83662"/>
                </a:lnTo>
                <a:lnTo>
                  <a:pt x="1440906" y="98966"/>
                </a:lnTo>
                <a:lnTo>
                  <a:pt x="1434755" y="97816"/>
                </a:lnTo>
                <a:lnTo>
                  <a:pt x="1435755" y="102841"/>
                </a:lnTo>
                <a:lnTo>
                  <a:pt x="1416416" y="112042"/>
                </a:lnTo>
                <a:lnTo>
                  <a:pt x="1411347" y="132691"/>
                </a:lnTo>
                <a:lnTo>
                  <a:pt x="1405434" y="131113"/>
                </a:lnTo>
                <a:lnTo>
                  <a:pt x="1402962" y="137028"/>
                </a:lnTo>
                <a:lnTo>
                  <a:pt x="1410242" y="141875"/>
                </a:lnTo>
                <a:lnTo>
                  <a:pt x="1397029" y="148545"/>
                </a:lnTo>
                <a:lnTo>
                  <a:pt x="1401213" y="155227"/>
                </a:lnTo>
                <a:lnTo>
                  <a:pt x="1412146" y="159046"/>
                </a:lnTo>
                <a:lnTo>
                  <a:pt x="1411417" y="164861"/>
                </a:lnTo>
                <a:lnTo>
                  <a:pt x="1416392" y="159618"/>
                </a:lnTo>
                <a:lnTo>
                  <a:pt x="1428929" y="160322"/>
                </a:lnTo>
                <a:lnTo>
                  <a:pt x="1447068" y="173940"/>
                </a:lnTo>
                <a:lnTo>
                  <a:pt x="1459689" y="166141"/>
                </a:lnTo>
                <a:lnTo>
                  <a:pt x="1484432" y="161648"/>
                </a:lnTo>
                <a:lnTo>
                  <a:pt x="1486836" y="167616"/>
                </a:lnTo>
                <a:lnTo>
                  <a:pt x="1500645" y="172718"/>
                </a:lnTo>
                <a:lnTo>
                  <a:pt x="1502954" y="180631"/>
                </a:lnTo>
                <a:lnTo>
                  <a:pt x="1519550" y="176089"/>
                </a:lnTo>
                <a:lnTo>
                  <a:pt x="1533756" y="190528"/>
                </a:lnTo>
                <a:lnTo>
                  <a:pt x="1543928" y="187533"/>
                </a:lnTo>
                <a:lnTo>
                  <a:pt x="1542869" y="183737"/>
                </a:lnTo>
                <a:lnTo>
                  <a:pt x="1549971" y="185065"/>
                </a:lnTo>
                <a:lnTo>
                  <a:pt x="1548548" y="192741"/>
                </a:lnTo>
                <a:lnTo>
                  <a:pt x="1557234" y="194854"/>
                </a:lnTo>
                <a:lnTo>
                  <a:pt x="1557893" y="201337"/>
                </a:lnTo>
                <a:lnTo>
                  <a:pt x="1566891" y="200995"/>
                </a:lnTo>
                <a:lnTo>
                  <a:pt x="1565312" y="207538"/>
                </a:lnTo>
                <a:lnTo>
                  <a:pt x="1571643" y="204304"/>
                </a:lnTo>
                <a:lnTo>
                  <a:pt x="1569865" y="211195"/>
                </a:lnTo>
                <a:lnTo>
                  <a:pt x="1574635" y="209797"/>
                </a:lnTo>
                <a:lnTo>
                  <a:pt x="1573354" y="203771"/>
                </a:lnTo>
                <a:lnTo>
                  <a:pt x="1579262" y="204571"/>
                </a:lnTo>
                <a:lnTo>
                  <a:pt x="1575113" y="213706"/>
                </a:lnTo>
                <a:lnTo>
                  <a:pt x="1584025" y="212828"/>
                </a:lnTo>
                <a:lnTo>
                  <a:pt x="1581997" y="220451"/>
                </a:lnTo>
                <a:lnTo>
                  <a:pt x="1591539" y="219167"/>
                </a:lnTo>
                <a:lnTo>
                  <a:pt x="1594353" y="227241"/>
                </a:lnTo>
                <a:lnTo>
                  <a:pt x="1603293" y="225390"/>
                </a:lnTo>
                <a:lnTo>
                  <a:pt x="1610310" y="229341"/>
                </a:lnTo>
                <a:lnTo>
                  <a:pt x="1605870" y="234259"/>
                </a:lnTo>
                <a:lnTo>
                  <a:pt x="1615457" y="236158"/>
                </a:lnTo>
                <a:lnTo>
                  <a:pt x="1620986" y="245203"/>
                </a:lnTo>
                <a:lnTo>
                  <a:pt x="1617882" y="255679"/>
                </a:lnTo>
                <a:lnTo>
                  <a:pt x="1622570" y="258989"/>
                </a:lnTo>
                <a:lnTo>
                  <a:pt x="1617568" y="267249"/>
                </a:lnTo>
                <a:lnTo>
                  <a:pt x="1624986" y="271774"/>
                </a:lnTo>
                <a:lnTo>
                  <a:pt x="1626648" y="29121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3" name="2022 provincial petrol/diesel sales: FS"/>
          <p:cNvSpPr/>
          <p:nvPr/>
        </p:nvSpPr>
        <p:spPr>
          <a:xfrm>
            <a:off x="3558265" y="3468483"/>
            <a:ext cx="1235577" cy="1023331"/>
          </a:xfrm>
          <a:custGeom>
            <a:avLst/>
            <a:gdLst/>
            <a:ahLst/>
            <a:cxnLst/>
            <a:rect l="l" t="t" r="r" b="b"/>
            <a:pathLst>
              <a:path w="1235577" h="1023331">
                <a:moveTo>
                  <a:pt x="670255" y="931412"/>
                </a:moveTo>
                <a:lnTo>
                  <a:pt x="671266" y="943502"/>
                </a:lnTo>
                <a:lnTo>
                  <a:pt x="676451" y="940178"/>
                </a:lnTo>
                <a:lnTo>
                  <a:pt x="678950" y="949162"/>
                </a:lnTo>
                <a:lnTo>
                  <a:pt x="672961" y="953252"/>
                </a:lnTo>
                <a:lnTo>
                  <a:pt x="664595" y="950384"/>
                </a:lnTo>
                <a:lnTo>
                  <a:pt x="661212" y="956681"/>
                </a:lnTo>
                <a:lnTo>
                  <a:pt x="671001" y="960420"/>
                </a:lnTo>
                <a:lnTo>
                  <a:pt x="655867" y="961821"/>
                </a:lnTo>
                <a:lnTo>
                  <a:pt x="661816" y="972114"/>
                </a:lnTo>
                <a:lnTo>
                  <a:pt x="655053" y="979181"/>
                </a:lnTo>
                <a:lnTo>
                  <a:pt x="642136" y="971012"/>
                </a:lnTo>
                <a:lnTo>
                  <a:pt x="639830" y="978375"/>
                </a:lnTo>
                <a:lnTo>
                  <a:pt x="636195" y="972532"/>
                </a:lnTo>
                <a:lnTo>
                  <a:pt x="630165" y="982047"/>
                </a:lnTo>
                <a:lnTo>
                  <a:pt x="617853" y="978115"/>
                </a:lnTo>
                <a:lnTo>
                  <a:pt x="619421" y="983791"/>
                </a:lnTo>
                <a:lnTo>
                  <a:pt x="612220" y="990338"/>
                </a:lnTo>
                <a:lnTo>
                  <a:pt x="607757" y="982514"/>
                </a:lnTo>
                <a:lnTo>
                  <a:pt x="590096" y="984567"/>
                </a:lnTo>
                <a:lnTo>
                  <a:pt x="596006" y="1000887"/>
                </a:lnTo>
                <a:lnTo>
                  <a:pt x="576999" y="1002348"/>
                </a:lnTo>
                <a:lnTo>
                  <a:pt x="572817" y="1006592"/>
                </a:lnTo>
                <a:lnTo>
                  <a:pt x="576977" y="1015388"/>
                </a:lnTo>
                <a:lnTo>
                  <a:pt x="561478" y="1015391"/>
                </a:lnTo>
                <a:lnTo>
                  <a:pt x="558019" y="1021609"/>
                </a:lnTo>
                <a:lnTo>
                  <a:pt x="545314" y="1009959"/>
                </a:lnTo>
                <a:lnTo>
                  <a:pt x="522532" y="1021777"/>
                </a:lnTo>
                <a:lnTo>
                  <a:pt x="516465" y="1016732"/>
                </a:lnTo>
                <a:lnTo>
                  <a:pt x="506226" y="1023331"/>
                </a:lnTo>
                <a:lnTo>
                  <a:pt x="506246" y="1015109"/>
                </a:lnTo>
                <a:lnTo>
                  <a:pt x="490509" y="1015492"/>
                </a:lnTo>
                <a:lnTo>
                  <a:pt x="474144" y="1006471"/>
                </a:lnTo>
                <a:lnTo>
                  <a:pt x="475606" y="997329"/>
                </a:lnTo>
                <a:lnTo>
                  <a:pt x="466766" y="990951"/>
                </a:lnTo>
                <a:lnTo>
                  <a:pt x="446080" y="997263"/>
                </a:lnTo>
                <a:lnTo>
                  <a:pt x="429309" y="995711"/>
                </a:lnTo>
                <a:lnTo>
                  <a:pt x="425657" y="983748"/>
                </a:lnTo>
                <a:lnTo>
                  <a:pt x="411133" y="980664"/>
                </a:lnTo>
                <a:lnTo>
                  <a:pt x="403557" y="968289"/>
                </a:lnTo>
                <a:lnTo>
                  <a:pt x="396321" y="972462"/>
                </a:lnTo>
                <a:lnTo>
                  <a:pt x="398876" y="982755"/>
                </a:lnTo>
                <a:lnTo>
                  <a:pt x="389039" y="976586"/>
                </a:lnTo>
                <a:lnTo>
                  <a:pt x="362327" y="981898"/>
                </a:lnTo>
                <a:lnTo>
                  <a:pt x="352034" y="993806"/>
                </a:lnTo>
                <a:lnTo>
                  <a:pt x="342076" y="983185"/>
                </a:lnTo>
                <a:lnTo>
                  <a:pt x="343132" y="1000188"/>
                </a:lnTo>
                <a:lnTo>
                  <a:pt x="321412" y="1006897"/>
                </a:lnTo>
                <a:lnTo>
                  <a:pt x="314944" y="1020005"/>
                </a:lnTo>
                <a:lnTo>
                  <a:pt x="299271" y="1016735"/>
                </a:lnTo>
                <a:lnTo>
                  <a:pt x="295399" y="1007502"/>
                </a:lnTo>
                <a:lnTo>
                  <a:pt x="281716" y="1011496"/>
                </a:lnTo>
                <a:lnTo>
                  <a:pt x="284212" y="1003398"/>
                </a:lnTo>
                <a:lnTo>
                  <a:pt x="278038" y="994687"/>
                </a:lnTo>
                <a:lnTo>
                  <a:pt x="250972" y="1005990"/>
                </a:lnTo>
                <a:lnTo>
                  <a:pt x="238504" y="991273"/>
                </a:lnTo>
                <a:lnTo>
                  <a:pt x="219843" y="986093"/>
                </a:lnTo>
                <a:lnTo>
                  <a:pt x="213577" y="990905"/>
                </a:lnTo>
                <a:lnTo>
                  <a:pt x="198098" y="971271"/>
                </a:lnTo>
                <a:lnTo>
                  <a:pt x="187972" y="970864"/>
                </a:lnTo>
                <a:lnTo>
                  <a:pt x="167291" y="938803"/>
                </a:lnTo>
                <a:lnTo>
                  <a:pt x="154462" y="936010"/>
                </a:lnTo>
                <a:lnTo>
                  <a:pt x="153611" y="916542"/>
                </a:lnTo>
                <a:lnTo>
                  <a:pt x="142933" y="917516"/>
                </a:lnTo>
                <a:lnTo>
                  <a:pt x="134092" y="907758"/>
                </a:lnTo>
                <a:lnTo>
                  <a:pt x="135795" y="901173"/>
                </a:lnTo>
                <a:lnTo>
                  <a:pt x="129329" y="894683"/>
                </a:lnTo>
                <a:lnTo>
                  <a:pt x="123748" y="896227"/>
                </a:lnTo>
                <a:lnTo>
                  <a:pt x="117317" y="877768"/>
                </a:lnTo>
                <a:lnTo>
                  <a:pt x="100977" y="856577"/>
                </a:lnTo>
                <a:lnTo>
                  <a:pt x="100096" y="843128"/>
                </a:lnTo>
                <a:lnTo>
                  <a:pt x="73468" y="837200"/>
                </a:lnTo>
                <a:lnTo>
                  <a:pt x="71320" y="818376"/>
                </a:lnTo>
                <a:lnTo>
                  <a:pt x="58598" y="820796"/>
                </a:lnTo>
                <a:lnTo>
                  <a:pt x="33929" y="796537"/>
                </a:lnTo>
                <a:lnTo>
                  <a:pt x="20807" y="796267"/>
                </a:lnTo>
                <a:lnTo>
                  <a:pt x="1851" y="770371"/>
                </a:lnTo>
                <a:lnTo>
                  <a:pt x="0" y="755749"/>
                </a:lnTo>
                <a:lnTo>
                  <a:pt x="123825" y="497580"/>
                </a:lnTo>
                <a:lnTo>
                  <a:pt x="107099" y="492211"/>
                </a:lnTo>
                <a:lnTo>
                  <a:pt x="116114" y="464094"/>
                </a:lnTo>
                <a:lnTo>
                  <a:pt x="111382" y="460701"/>
                </a:lnTo>
                <a:lnTo>
                  <a:pt x="120384" y="450772"/>
                </a:lnTo>
                <a:lnTo>
                  <a:pt x="131854" y="414946"/>
                </a:lnTo>
                <a:lnTo>
                  <a:pt x="121150" y="411197"/>
                </a:lnTo>
                <a:lnTo>
                  <a:pt x="116649" y="401011"/>
                </a:lnTo>
                <a:lnTo>
                  <a:pt x="137947" y="395974"/>
                </a:lnTo>
                <a:lnTo>
                  <a:pt x="152339" y="350646"/>
                </a:lnTo>
                <a:lnTo>
                  <a:pt x="162726" y="348715"/>
                </a:lnTo>
                <a:lnTo>
                  <a:pt x="170353" y="334915"/>
                </a:lnTo>
                <a:lnTo>
                  <a:pt x="166536" y="327780"/>
                </a:lnTo>
                <a:lnTo>
                  <a:pt x="176298" y="312764"/>
                </a:lnTo>
                <a:lnTo>
                  <a:pt x="203722" y="297418"/>
                </a:lnTo>
                <a:lnTo>
                  <a:pt x="200160" y="289563"/>
                </a:lnTo>
                <a:lnTo>
                  <a:pt x="208520" y="279846"/>
                </a:lnTo>
                <a:lnTo>
                  <a:pt x="223383" y="279025"/>
                </a:lnTo>
                <a:lnTo>
                  <a:pt x="235737" y="262627"/>
                </a:lnTo>
                <a:lnTo>
                  <a:pt x="272492" y="252028"/>
                </a:lnTo>
                <a:lnTo>
                  <a:pt x="280477" y="244015"/>
                </a:lnTo>
                <a:lnTo>
                  <a:pt x="297275" y="253993"/>
                </a:lnTo>
                <a:lnTo>
                  <a:pt x="300575" y="237593"/>
                </a:lnTo>
                <a:lnTo>
                  <a:pt x="334508" y="221720"/>
                </a:lnTo>
                <a:lnTo>
                  <a:pt x="341401" y="236356"/>
                </a:lnTo>
                <a:lnTo>
                  <a:pt x="356527" y="231272"/>
                </a:lnTo>
                <a:lnTo>
                  <a:pt x="361710" y="238841"/>
                </a:lnTo>
                <a:lnTo>
                  <a:pt x="369592" y="237446"/>
                </a:lnTo>
                <a:lnTo>
                  <a:pt x="375603" y="246719"/>
                </a:lnTo>
                <a:lnTo>
                  <a:pt x="374167" y="257782"/>
                </a:lnTo>
                <a:lnTo>
                  <a:pt x="381555" y="265516"/>
                </a:lnTo>
                <a:lnTo>
                  <a:pt x="395173" y="253741"/>
                </a:lnTo>
                <a:lnTo>
                  <a:pt x="386081" y="248321"/>
                </a:lnTo>
                <a:lnTo>
                  <a:pt x="393300" y="242969"/>
                </a:lnTo>
                <a:lnTo>
                  <a:pt x="392977" y="229529"/>
                </a:lnTo>
                <a:lnTo>
                  <a:pt x="426161" y="208548"/>
                </a:lnTo>
                <a:lnTo>
                  <a:pt x="429399" y="187942"/>
                </a:lnTo>
                <a:lnTo>
                  <a:pt x="441603" y="184071"/>
                </a:lnTo>
                <a:lnTo>
                  <a:pt x="448066" y="188524"/>
                </a:lnTo>
                <a:lnTo>
                  <a:pt x="453120" y="176414"/>
                </a:lnTo>
                <a:lnTo>
                  <a:pt x="470723" y="182119"/>
                </a:lnTo>
                <a:lnTo>
                  <a:pt x="477361" y="176798"/>
                </a:lnTo>
                <a:lnTo>
                  <a:pt x="490849" y="179406"/>
                </a:lnTo>
                <a:lnTo>
                  <a:pt x="476216" y="167564"/>
                </a:lnTo>
                <a:lnTo>
                  <a:pt x="482984" y="157065"/>
                </a:lnTo>
                <a:lnTo>
                  <a:pt x="487037" y="159877"/>
                </a:lnTo>
                <a:lnTo>
                  <a:pt x="488068" y="146764"/>
                </a:lnTo>
                <a:lnTo>
                  <a:pt x="470745" y="121144"/>
                </a:lnTo>
                <a:lnTo>
                  <a:pt x="472820" y="116525"/>
                </a:lnTo>
                <a:lnTo>
                  <a:pt x="482904" y="117646"/>
                </a:lnTo>
                <a:lnTo>
                  <a:pt x="495810" y="101660"/>
                </a:lnTo>
                <a:lnTo>
                  <a:pt x="508317" y="106173"/>
                </a:lnTo>
                <a:lnTo>
                  <a:pt x="508100" y="92133"/>
                </a:lnTo>
                <a:lnTo>
                  <a:pt x="516843" y="79534"/>
                </a:lnTo>
                <a:lnTo>
                  <a:pt x="528200" y="77446"/>
                </a:lnTo>
                <a:lnTo>
                  <a:pt x="532692" y="83486"/>
                </a:lnTo>
                <a:lnTo>
                  <a:pt x="538975" y="72304"/>
                </a:lnTo>
                <a:lnTo>
                  <a:pt x="559641" y="61882"/>
                </a:lnTo>
                <a:lnTo>
                  <a:pt x="565433" y="66408"/>
                </a:lnTo>
                <a:lnTo>
                  <a:pt x="573089" y="58739"/>
                </a:lnTo>
                <a:lnTo>
                  <a:pt x="585836" y="72897"/>
                </a:lnTo>
                <a:lnTo>
                  <a:pt x="590901" y="46895"/>
                </a:lnTo>
                <a:lnTo>
                  <a:pt x="610762" y="63701"/>
                </a:lnTo>
                <a:lnTo>
                  <a:pt x="630240" y="61580"/>
                </a:lnTo>
                <a:lnTo>
                  <a:pt x="637149" y="65689"/>
                </a:lnTo>
                <a:lnTo>
                  <a:pt x="644772" y="61470"/>
                </a:lnTo>
                <a:lnTo>
                  <a:pt x="644027" y="72603"/>
                </a:lnTo>
                <a:lnTo>
                  <a:pt x="651729" y="75674"/>
                </a:lnTo>
                <a:lnTo>
                  <a:pt x="674779" y="43741"/>
                </a:lnTo>
                <a:lnTo>
                  <a:pt x="680945" y="44074"/>
                </a:lnTo>
                <a:lnTo>
                  <a:pt x="699274" y="62706"/>
                </a:lnTo>
                <a:lnTo>
                  <a:pt x="721919" y="40709"/>
                </a:lnTo>
                <a:lnTo>
                  <a:pt x="721783" y="27393"/>
                </a:lnTo>
                <a:lnTo>
                  <a:pt x="738460" y="24652"/>
                </a:lnTo>
                <a:lnTo>
                  <a:pt x="735850" y="17848"/>
                </a:lnTo>
                <a:lnTo>
                  <a:pt x="749628" y="14321"/>
                </a:lnTo>
                <a:lnTo>
                  <a:pt x="750160" y="24485"/>
                </a:lnTo>
                <a:lnTo>
                  <a:pt x="772127" y="22108"/>
                </a:lnTo>
                <a:lnTo>
                  <a:pt x="781445" y="32151"/>
                </a:lnTo>
                <a:lnTo>
                  <a:pt x="784618" y="19820"/>
                </a:lnTo>
                <a:lnTo>
                  <a:pt x="807035" y="19169"/>
                </a:lnTo>
                <a:lnTo>
                  <a:pt x="810260" y="10233"/>
                </a:lnTo>
                <a:lnTo>
                  <a:pt x="828807" y="0"/>
                </a:lnTo>
                <a:lnTo>
                  <a:pt x="840877" y="28759"/>
                </a:lnTo>
                <a:lnTo>
                  <a:pt x="837622" y="32041"/>
                </a:lnTo>
                <a:lnTo>
                  <a:pt x="860280" y="45604"/>
                </a:lnTo>
                <a:lnTo>
                  <a:pt x="860983" y="57107"/>
                </a:lnTo>
                <a:lnTo>
                  <a:pt x="872635" y="57309"/>
                </a:lnTo>
                <a:lnTo>
                  <a:pt x="869182" y="47603"/>
                </a:lnTo>
                <a:lnTo>
                  <a:pt x="873302" y="46319"/>
                </a:lnTo>
                <a:lnTo>
                  <a:pt x="885211" y="66546"/>
                </a:lnTo>
                <a:lnTo>
                  <a:pt x="887675" y="55784"/>
                </a:lnTo>
                <a:lnTo>
                  <a:pt x="902464" y="71415"/>
                </a:lnTo>
                <a:lnTo>
                  <a:pt x="909093" y="67259"/>
                </a:lnTo>
                <a:lnTo>
                  <a:pt x="907639" y="73619"/>
                </a:lnTo>
                <a:lnTo>
                  <a:pt x="922523" y="69362"/>
                </a:lnTo>
                <a:lnTo>
                  <a:pt x="931290" y="84568"/>
                </a:lnTo>
                <a:lnTo>
                  <a:pt x="928706" y="90586"/>
                </a:lnTo>
                <a:lnTo>
                  <a:pt x="936451" y="82710"/>
                </a:lnTo>
                <a:lnTo>
                  <a:pt x="933202" y="78324"/>
                </a:lnTo>
                <a:lnTo>
                  <a:pt x="940149" y="83182"/>
                </a:lnTo>
                <a:lnTo>
                  <a:pt x="942743" y="74949"/>
                </a:lnTo>
                <a:lnTo>
                  <a:pt x="948215" y="89880"/>
                </a:lnTo>
                <a:lnTo>
                  <a:pt x="958492" y="98687"/>
                </a:lnTo>
                <a:lnTo>
                  <a:pt x="954837" y="105150"/>
                </a:lnTo>
                <a:lnTo>
                  <a:pt x="972177" y="90635"/>
                </a:lnTo>
                <a:lnTo>
                  <a:pt x="980356" y="93974"/>
                </a:lnTo>
                <a:lnTo>
                  <a:pt x="982616" y="87634"/>
                </a:lnTo>
                <a:lnTo>
                  <a:pt x="971544" y="86776"/>
                </a:lnTo>
                <a:lnTo>
                  <a:pt x="981113" y="76699"/>
                </a:lnTo>
                <a:lnTo>
                  <a:pt x="995958" y="81371"/>
                </a:lnTo>
                <a:lnTo>
                  <a:pt x="1014746" y="97241"/>
                </a:lnTo>
                <a:lnTo>
                  <a:pt x="1017140" y="92864"/>
                </a:lnTo>
                <a:lnTo>
                  <a:pt x="1018983" y="100865"/>
                </a:lnTo>
                <a:lnTo>
                  <a:pt x="1029157" y="96673"/>
                </a:lnTo>
                <a:lnTo>
                  <a:pt x="1035912" y="105679"/>
                </a:lnTo>
                <a:lnTo>
                  <a:pt x="1037415" y="93990"/>
                </a:lnTo>
                <a:lnTo>
                  <a:pt x="1051337" y="94019"/>
                </a:lnTo>
                <a:lnTo>
                  <a:pt x="1054975" y="88987"/>
                </a:lnTo>
                <a:lnTo>
                  <a:pt x="1068787" y="99003"/>
                </a:lnTo>
                <a:lnTo>
                  <a:pt x="1073375" y="93207"/>
                </a:lnTo>
                <a:lnTo>
                  <a:pt x="1078334" y="108082"/>
                </a:lnTo>
                <a:lnTo>
                  <a:pt x="1073953" y="112581"/>
                </a:lnTo>
                <a:lnTo>
                  <a:pt x="1087173" y="136332"/>
                </a:lnTo>
                <a:lnTo>
                  <a:pt x="1097136" y="129180"/>
                </a:lnTo>
                <a:lnTo>
                  <a:pt x="1111842" y="130099"/>
                </a:lnTo>
                <a:lnTo>
                  <a:pt x="1116550" y="142364"/>
                </a:lnTo>
                <a:lnTo>
                  <a:pt x="1136689" y="147021"/>
                </a:lnTo>
                <a:lnTo>
                  <a:pt x="1135294" y="161323"/>
                </a:lnTo>
                <a:lnTo>
                  <a:pt x="1149110" y="156525"/>
                </a:lnTo>
                <a:lnTo>
                  <a:pt x="1157524" y="159685"/>
                </a:lnTo>
                <a:lnTo>
                  <a:pt x="1170122" y="178967"/>
                </a:lnTo>
                <a:lnTo>
                  <a:pt x="1168997" y="187288"/>
                </a:lnTo>
                <a:lnTo>
                  <a:pt x="1184424" y="197778"/>
                </a:lnTo>
                <a:lnTo>
                  <a:pt x="1182848" y="206005"/>
                </a:lnTo>
                <a:lnTo>
                  <a:pt x="1198636" y="225784"/>
                </a:lnTo>
                <a:lnTo>
                  <a:pt x="1217544" y="223427"/>
                </a:lnTo>
                <a:lnTo>
                  <a:pt x="1217445" y="212368"/>
                </a:lnTo>
                <a:lnTo>
                  <a:pt x="1222697" y="207965"/>
                </a:lnTo>
                <a:lnTo>
                  <a:pt x="1231089" y="210806"/>
                </a:lnTo>
                <a:lnTo>
                  <a:pt x="1219439" y="215262"/>
                </a:lnTo>
                <a:lnTo>
                  <a:pt x="1224548" y="222161"/>
                </a:lnTo>
                <a:lnTo>
                  <a:pt x="1219132" y="228516"/>
                </a:lnTo>
                <a:lnTo>
                  <a:pt x="1230178" y="232416"/>
                </a:lnTo>
                <a:lnTo>
                  <a:pt x="1235577" y="250459"/>
                </a:lnTo>
                <a:lnTo>
                  <a:pt x="1209126" y="263192"/>
                </a:lnTo>
                <a:lnTo>
                  <a:pt x="1217254" y="275790"/>
                </a:lnTo>
                <a:lnTo>
                  <a:pt x="1215333" y="293180"/>
                </a:lnTo>
                <a:lnTo>
                  <a:pt x="1221228" y="304005"/>
                </a:lnTo>
                <a:lnTo>
                  <a:pt x="1213294" y="307892"/>
                </a:lnTo>
                <a:lnTo>
                  <a:pt x="1211075" y="326049"/>
                </a:lnTo>
                <a:lnTo>
                  <a:pt x="1202513" y="332769"/>
                </a:lnTo>
                <a:lnTo>
                  <a:pt x="1208063" y="341730"/>
                </a:lnTo>
                <a:lnTo>
                  <a:pt x="1201416" y="343847"/>
                </a:lnTo>
                <a:lnTo>
                  <a:pt x="1192932" y="364036"/>
                </a:lnTo>
                <a:lnTo>
                  <a:pt x="1201257" y="375416"/>
                </a:lnTo>
                <a:lnTo>
                  <a:pt x="1202513" y="388781"/>
                </a:lnTo>
                <a:lnTo>
                  <a:pt x="1202065" y="397784"/>
                </a:lnTo>
                <a:lnTo>
                  <a:pt x="1193720" y="399634"/>
                </a:lnTo>
                <a:lnTo>
                  <a:pt x="1189637" y="406976"/>
                </a:lnTo>
                <a:lnTo>
                  <a:pt x="1191689" y="413762"/>
                </a:lnTo>
                <a:lnTo>
                  <a:pt x="1160448" y="420503"/>
                </a:lnTo>
                <a:lnTo>
                  <a:pt x="1143959" y="446442"/>
                </a:lnTo>
                <a:lnTo>
                  <a:pt x="1134757" y="445076"/>
                </a:lnTo>
                <a:lnTo>
                  <a:pt x="1115334" y="461266"/>
                </a:lnTo>
                <a:lnTo>
                  <a:pt x="1106115" y="457610"/>
                </a:lnTo>
                <a:lnTo>
                  <a:pt x="1092572" y="474765"/>
                </a:lnTo>
                <a:lnTo>
                  <a:pt x="1097930" y="481424"/>
                </a:lnTo>
                <a:lnTo>
                  <a:pt x="1093220" y="487912"/>
                </a:lnTo>
                <a:lnTo>
                  <a:pt x="1087618" y="483872"/>
                </a:lnTo>
                <a:lnTo>
                  <a:pt x="1079181" y="492864"/>
                </a:lnTo>
                <a:lnTo>
                  <a:pt x="1070643" y="487138"/>
                </a:lnTo>
                <a:lnTo>
                  <a:pt x="1042798" y="493739"/>
                </a:lnTo>
                <a:lnTo>
                  <a:pt x="1035113" y="513026"/>
                </a:lnTo>
                <a:lnTo>
                  <a:pt x="1024509" y="522909"/>
                </a:lnTo>
                <a:lnTo>
                  <a:pt x="1018535" y="543152"/>
                </a:lnTo>
                <a:lnTo>
                  <a:pt x="1015049" y="539262"/>
                </a:lnTo>
                <a:lnTo>
                  <a:pt x="1003856" y="542887"/>
                </a:lnTo>
                <a:lnTo>
                  <a:pt x="1003851" y="527106"/>
                </a:lnTo>
                <a:lnTo>
                  <a:pt x="981299" y="516552"/>
                </a:lnTo>
                <a:lnTo>
                  <a:pt x="981475" y="502907"/>
                </a:lnTo>
                <a:lnTo>
                  <a:pt x="970064" y="490448"/>
                </a:lnTo>
                <a:lnTo>
                  <a:pt x="956090" y="499649"/>
                </a:lnTo>
                <a:lnTo>
                  <a:pt x="913393" y="502462"/>
                </a:lnTo>
                <a:lnTo>
                  <a:pt x="901036" y="522365"/>
                </a:lnTo>
                <a:lnTo>
                  <a:pt x="891052" y="519255"/>
                </a:lnTo>
                <a:lnTo>
                  <a:pt x="885544" y="524874"/>
                </a:lnTo>
                <a:lnTo>
                  <a:pt x="874942" y="519509"/>
                </a:lnTo>
                <a:lnTo>
                  <a:pt x="866475" y="523411"/>
                </a:lnTo>
                <a:lnTo>
                  <a:pt x="863588" y="518888"/>
                </a:lnTo>
                <a:lnTo>
                  <a:pt x="832949" y="549863"/>
                </a:lnTo>
                <a:lnTo>
                  <a:pt x="827630" y="565360"/>
                </a:lnTo>
                <a:lnTo>
                  <a:pt x="818989" y="566123"/>
                </a:lnTo>
                <a:lnTo>
                  <a:pt x="807459" y="556959"/>
                </a:lnTo>
                <a:lnTo>
                  <a:pt x="797078" y="564624"/>
                </a:lnTo>
                <a:lnTo>
                  <a:pt x="795790" y="574186"/>
                </a:lnTo>
                <a:lnTo>
                  <a:pt x="782712" y="570496"/>
                </a:lnTo>
                <a:lnTo>
                  <a:pt x="779546" y="574914"/>
                </a:lnTo>
                <a:lnTo>
                  <a:pt x="765685" y="568507"/>
                </a:lnTo>
                <a:lnTo>
                  <a:pt x="767224" y="578956"/>
                </a:lnTo>
                <a:lnTo>
                  <a:pt x="758415" y="581652"/>
                </a:lnTo>
                <a:lnTo>
                  <a:pt x="755921" y="597139"/>
                </a:lnTo>
                <a:lnTo>
                  <a:pt x="749564" y="595331"/>
                </a:lnTo>
                <a:lnTo>
                  <a:pt x="746620" y="605597"/>
                </a:lnTo>
                <a:lnTo>
                  <a:pt x="739493" y="605903"/>
                </a:lnTo>
                <a:lnTo>
                  <a:pt x="746978" y="614123"/>
                </a:lnTo>
                <a:lnTo>
                  <a:pt x="739105" y="615042"/>
                </a:lnTo>
                <a:lnTo>
                  <a:pt x="740189" y="624300"/>
                </a:lnTo>
                <a:lnTo>
                  <a:pt x="729994" y="629044"/>
                </a:lnTo>
                <a:lnTo>
                  <a:pt x="732715" y="636040"/>
                </a:lnTo>
                <a:lnTo>
                  <a:pt x="725171" y="636422"/>
                </a:lnTo>
                <a:lnTo>
                  <a:pt x="710121" y="650965"/>
                </a:lnTo>
                <a:lnTo>
                  <a:pt x="715744" y="660157"/>
                </a:lnTo>
                <a:lnTo>
                  <a:pt x="703953" y="670676"/>
                </a:lnTo>
                <a:lnTo>
                  <a:pt x="696195" y="669419"/>
                </a:lnTo>
                <a:lnTo>
                  <a:pt x="700052" y="675274"/>
                </a:lnTo>
                <a:lnTo>
                  <a:pt x="691899" y="678659"/>
                </a:lnTo>
                <a:lnTo>
                  <a:pt x="690801" y="688567"/>
                </a:lnTo>
                <a:lnTo>
                  <a:pt x="685164" y="686179"/>
                </a:lnTo>
                <a:lnTo>
                  <a:pt x="688866" y="696592"/>
                </a:lnTo>
                <a:lnTo>
                  <a:pt x="673450" y="708610"/>
                </a:lnTo>
                <a:lnTo>
                  <a:pt x="674264" y="717098"/>
                </a:lnTo>
                <a:lnTo>
                  <a:pt x="661892" y="719781"/>
                </a:lnTo>
                <a:lnTo>
                  <a:pt x="661691" y="729054"/>
                </a:lnTo>
                <a:lnTo>
                  <a:pt x="642897" y="731516"/>
                </a:lnTo>
                <a:lnTo>
                  <a:pt x="638432" y="737619"/>
                </a:lnTo>
                <a:lnTo>
                  <a:pt x="627629" y="735452"/>
                </a:lnTo>
                <a:lnTo>
                  <a:pt x="611946" y="749002"/>
                </a:lnTo>
                <a:lnTo>
                  <a:pt x="607813" y="744375"/>
                </a:lnTo>
                <a:lnTo>
                  <a:pt x="605606" y="754535"/>
                </a:lnTo>
                <a:lnTo>
                  <a:pt x="597008" y="749193"/>
                </a:lnTo>
                <a:lnTo>
                  <a:pt x="595698" y="760461"/>
                </a:lnTo>
                <a:lnTo>
                  <a:pt x="613978" y="778426"/>
                </a:lnTo>
                <a:lnTo>
                  <a:pt x="639900" y="850564"/>
                </a:lnTo>
                <a:lnTo>
                  <a:pt x="656952" y="862681"/>
                </a:lnTo>
                <a:lnTo>
                  <a:pt x="663228" y="886346"/>
                </a:lnTo>
                <a:lnTo>
                  <a:pt x="681120" y="885788"/>
                </a:lnTo>
                <a:lnTo>
                  <a:pt x="671429" y="904380"/>
                </a:lnTo>
                <a:lnTo>
                  <a:pt x="671465" y="918679"/>
                </a:lnTo>
                <a:lnTo>
                  <a:pt x="677560" y="927461"/>
                </a:lnTo>
                <a:lnTo>
                  <a:pt x="670255" y="931412"/>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4" name="2022 provincial petrol/diesel sales: GP"/>
          <p:cNvSpPr/>
          <p:nvPr/>
        </p:nvSpPr>
        <p:spPr>
          <a:xfrm>
            <a:off x="4200203" y="3074864"/>
            <a:ext cx="454565" cy="460165"/>
          </a:xfrm>
          <a:custGeom>
            <a:avLst/>
            <a:gdLst/>
            <a:ahLst/>
            <a:cxnLst/>
            <a:rect l="l" t="t" r="r" b="b"/>
            <a:pathLst>
              <a:path w="454565" h="460165">
                <a:moveTo>
                  <a:pt x="246514" y="449498"/>
                </a:moveTo>
                <a:lnTo>
                  <a:pt x="243273" y="460165"/>
                </a:lnTo>
                <a:lnTo>
                  <a:pt x="228722" y="439756"/>
                </a:lnTo>
                <a:lnTo>
                  <a:pt x="230697" y="450928"/>
                </a:lnTo>
                <a:lnTo>
                  <a:pt x="219045" y="450726"/>
                </a:lnTo>
                <a:lnTo>
                  <a:pt x="218342" y="439223"/>
                </a:lnTo>
                <a:lnTo>
                  <a:pt x="195684" y="425660"/>
                </a:lnTo>
                <a:lnTo>
                  <a:pt x="198939" y="422378"/>
                </a:lnTo>
                <a:lnTo>
                  <a:pt x="186869" y="393619"/>
                </a:lnTo>
                <a:lnTo>
                  <a:pt x="168322" y="403852"/>
                </a:lnTo>
                <a:lnTo>
                  <a:pt x="165097" y="412788"/>
                </a:lnTo>
                <a:lnTo>
                  <a:pt x="142680" y="413439"/>
                </a:lnTo>
                <a:lnTo>
                  <a:pt x="139507" y="425770"/>
                </a:lnTo>
                <a:lnTo>
                  <a:pt x="130189" y="415727"/>
                </a:lnTo>
                <a:lnTo>
                  <a:pt x="108222" y="418104"/>
                </a:lnTo>
                <a:lnTo>
                  <a:pt x="108575" y="408304"/>
                </a:lnTo>
                <a:lnTo>
                  <a:pt x="96656" y="407357"/>
                </a:lnTo>
                <a:lnTo>
                  <a:pt x="101779" y="397606"/>
                </a:lnTo>
                <a:lnTo>
                  <a:pt x="95071" y="403446"/>
                </a:lnTo>
                <a:lnTo>
                  <a:pt x="94268" y="385866"/>
                </a:lnTo>
                <a:lnTo>
                  <a:pt x="68108" y="381019"/>
                </a:lnTo>
                <a:lnTo>
                  <a:pt x="61335" y="385776"/>
                </a:lnTo>
                <a:lnTo>
                  <a:pt x="47935" y="366170"/>
                </a:lnTo>
                <a:lnTo>
                  <a:pt x="41695" y="365512"/>
                </a:lnTo>
                <a:lnTo>
                  <a:pt x="42780" y="376119"/>
                </a:lnTo>
                <a:lnTo>
                  <a:pt x="19156" y="381636"/>
                </a:lnTo>
                <a:lnTo>
                  <a:pt x="16350" y="364860"/>
                </a:lnTo>
                <a:lnTo>
                  <a:pt x="5824" y="365581"/>
                </a:lnTo>
                <a:lnTo>
                  <a:pt x="0" y="352613"/>
                </a:lnTo>
                <a:lnTo>
                  <a:pt x="17351" y="348113"/>
                </a:lnTo>
                <a:lnTo>
                  <a:pt x="7919" y="315311"/>
                </a:lnTo>
                <a:lnTo>
                  <a:pt x="41095" y="291372"/>
                </a:lnTo>
                <a:lnTo>
                  <a:pt x="32820" y="256138"/>
                </a:lnTo>
                <a:lnTo>
                  <a:pt x="48196" y="258987"/>
                </a:lnTo>
                <a:lnTo>
                  <a:pt x="49179" y="249050"/>
                </a:lnTo>
                <a:lnTo>
                  <a:pt x="62490" y="249780"/>
                </a:lnTo>
                <a:lnTo>
                  <a:pt x="73533" y="186114"/>
                </a:lnTo>
                <a:lnTo>
                  <a:pt x="93378" y="182379"/>
                </a:lnTo>
                <a:lnTo>
                  <a:pt x="115909" y="168676"/>
                </a:lnTo>
                <a:lnTo>
                  <a:pt x="116503" y="180104"/>
                </a:lnTo>
                <a:lnTo>
                  <a:pt x="125057" y="189196"/>
                </a:lnTo>
                <a:lnTo>
                  <a:pt x="138553" y="183064"/>
                </a:lnTo>
                <a:lnTo>
                  <a:pt x="138738" y="194415"/>
                </a:lnTo>
                <a:lnTo>
                  <a:pt x="159027" y="186072"/>
                </a:lnTo>
                <a:lnTo>
                  <a:pt x="165570" y="175652"/>
                </a:lnTo>
                <a:lnTo>
                  <a:pt x="173166" y="176877"/>
                </a:lnTo>
                <a:lnTo>
                  <a:pt x="170841" y="186783"/>
                </a:lnTo>
                <a:lnTo>
                  <a:pt x="189050" y="175490"/>
                </a:lnTo>
                <a:lnTo>
                  <a:pt x="186873" y="161057"/>
                </a:lnTo>
                <a:lnTo>
                  <a:pt x="193898" y="159106"/>
                </a:lnTo>
                <a:lnTo>
                  <a:pt x="186988" y="144558"/>
                </a:lnTo>
                <a:lnTo>
                  <a:pt x="188182" y="133926"/>
                </a:lnTo>
                <a:lnTo>
                  <a:pt x="194854" y="128793"/>
                </a:lnTo>
                <a:lnTo>
                  <a:pt x="189777" y="118397"/>
                </a:lnTo>
                <a:lnTo>
                  <a:pt x="195595" y="105789"/>
                </a:lnTo>
                <a:lnTo>
                  <a:pt x="211272" y="110474"/>
                </a:lnTo>
                <a:lnTo>
                  <a:pt x="212086" y="104419"/>
                </a:lnTo>
                <a:lnTo>
                  <a:pt x="198288" y="99534"/>
                </a:lnTo>
                <a:lnTo>
                  <a:pt x="208663" y="87662"/>
                </a:lnTo>
                <a:lnTo>
                  <a:pt x="188082" y="70825"/>
                </a:lnTo>
                <a:lnTo>
                  <a:pt x="194170" y="59787"/>
                </a:lnTo>
                <a:lnTo>
                  <a:pt x="201077" y="59054"/>
                </a:lnTo>
                <a:lnTo>
                  <a:pt x="211115" y="70121"/>
                </a:lnTo>
                <a:lnTo>
                  <a:pt x="226020" y="61617"/>
                </a:lnTo>
                <a:lnTo>
                  <a:pt x="241968" y="61736"/>
                </a:lnTo>
                <a:lnTo>
                  <a:pt x="242220" y="52212"/>
                </a:lnTo>
                <a:lnTo>
                  <a:pt x="247995" y="51115"/>
                </a:lnTo>
                <a:lnTo>
                  <a:pt x="254038" y="59066"/>
                </a:lnTo>
                <a:lnTo>
                  <a:pt x="270327" y="55704"/>
                </a:lnTo>
                <a:lnTo>
                  <a:pt x="270538" y="48303"/>
                </a:lnTo>
                <a:lnTo>
                  <a:pt x="289476" y="44138"/>
                </a:lnTo>
                <a:lnTo>
                  <a:pt x="290081" y="51593"/>
                </a:lnTo>
                <a:lnTo>
                  <a:pt x="318268" y="49240"/>
                </a:lnTo>
                <a:lnTo>
                  <a:pt x="320883" y="35843"/>
                </a:lnTo>
                <a:lnTo>
                  <a:pt x="339877" y="34676"/>
                </a:lnTo>
                <a:lnTo>
                  <a:pt x="348448" y="42739"/>
                </a:lnTo>
                <a:lnTo>
                  <a:pt x="359871" y="27810"/>
                </a:lnTo>
                <a:lnTo>
                  <a:pt x="345466" y="9834"/>
                </a:lnTo>
                <a:lnTo>
                  <a:pt x="375711" y="0"/>
                </a:lnTo>
                <a:lnTo>
                  <a:pt x="384126" y="30700"/>
                </a:lnTo>
                <a:lnTo>
                  <a:pt x="379368" y="28618"/>
                </a:lnTo>
                <a:lnTo>
                  <a:pt x="373234" y="45675"/>
                </a:lnTo>
                <a:lnTo>
                  <a:pt x="345730" y="56384"/>
                </a:lnTo>
                <a:lnTo>
                  <a:pt x="349096" y="71911"/>
                </a:lnTo>
                <a:lnTo>
                  <a:pt x="343104" y="90626"/>
                </a:lnTo>
                <a:lnTo>
                  <a:pt x="354959" y="141404"/>
                </a:lnTo>
                <a:lnTo>
                  <a:pt x="363187" y="146202"/>
                </a:lnTo>
                <a:lnTo>
                  <a:pt x="367054" y="133264"/>
                </a:lnTo>
                <a:lnTo>
                  <a:pt x="376770" y="137452"/>
                </a:lnTo>
                <a:lnTo>
                  <a:pt x="374225" y="152438"/>
                </a:lnTo>
                <a:lnTo>
                  <a:pt x="395174" y="147091"/>
                </a:lnTo>
                <a:lnTo>
                  <a:pt x="387265" y="136768"/>
                </a:lnTo>
                <a:lnTo>
                  <a:pt x="400535" y="141046"/>
                </a:lnTo>
                <a:lnTo>
                  <a:pt x="401275" y="136852"/>
                </a:lnTo>
                <a:lnTo>
                  <a:pt x="395170" y="117428"/>
                </a:lnTo>
                <a:lnTo>
                  <a:pt x="387107" y="118917"/>
                </a:lnTo>
                <a:lnTo>
                  <a:pt x="384681" y="110860"/>
                </a:lnTo>
                <a:lnTo>
                  <a:pt x="397673" y="100977"/>
                </a:lnTo>
                <a:lnTo>
                  <a:pt x="402649" y="107593"/>
                </a:lnTo>
                <a:lnTo>
                  <a:pt x="398652" y="118209"/>
                </a:lnTo>
                <a:lnTo>
                  <a:pt x="411017" y="107195"/>
                </a:lnTo>
                <a:lnTo>
                  <a:pt x="418877" y="126717"/>
                </a:lnTo>
                <a:lnTo>
                  <a:pt x="433263" y="120628"/>
                </a:lnTo>
                <a:lnTo>
                  <a:pt x="428705" y="111793"/>
                </a:lnTo>
                <a:lnTo>
                  <a:pt x="435131" y="105093"/>
                </a:lnTo>
                <a:lnTo>
                  <a:pt x="445453" y="109028"/>
                </a:lnTo>
                <a:lnTo>
                  <a:pt x="450646" y="100862"/>
                </a:lnTo>
                <a:lnTo>
                  <a:pt x="454565" y="112018"/>
                </a:lnTo>
                <a:lnTo>
                  <a:pt x="439496" y="118079"/>
                </a:lnTo>
                <a:lnTo>
                  <a:pt x="445887" y="138506"/>
                </a:lnTo>
                <a:lnTo>
                  <a:pt x="423461" y="145668"/>
                </a:lnTo>
                <a:lnTo>
                  <a:pt x="418825" y="159577"/>
                </a:lnTo>
                <a:lnTo>
                  <a:pt x="425802" y="163453"/>
                </a:lnTo>
                <a:lnTo>
                  <a:pt x="415186" y="183762"/>
                </a:lnTo>
                <a:lnTo>
                  <a:pt x="414674" y="200463"/>
                </a:lnTo>
                <a:lnTo>
                  <a:pt x="402934" y="195683"/>
                </a:lnTo>
                <a:lnTo>
                  <a:pt x="397388" y="230198"/>
                </a:lnTo>
                <a:lnTo>
                  <a:pt x="375755" y="231208"/>
                </a:lnTo>
                <a:lnTo>
                  <a:pt x="373343" y="223306"/>
                </a:lnTo>
                <a:lnTo>
                  <a:pt x="343378" y="219254"/>
                </a:lnTo>
                <a:lnTo>
                  <a:pt x="333609" y="227072"/>
                </a:lnTo>
                <a:lnTo>
                  <a:pt x="330425" y="241585"/>
                </a:lnTo>
                <a:lnTo>
                  <a:pt x="321206" y="238302"/>
                </a:lnTo>
                <a:lnTo>
                  <a:pt x="312882" y="242151"/>
                </a:lnTo>
                <a:lnTo>
                  <a:pt x="315705" y="246695"/>
                </a:lnTo>
                <a:lnTo>
                  <a:pt x="309546" y="258064"/>
                </a:lnTo>
                <a:lnTo>
                  <a:pt x="319320" y="270073"/>
                </a:lnTo>
                <a:lnTo>
                  <a:pt x="318077" y="283611"/>
                </a:lnTo>
                <a:lnTo>
                  <a:pt x="339052" y="290131"/>
                </a:lnTo>
                <a:lnTo>
                  <a:pt x="339792" y="301423"/>
                </a:lnTo>
                <a:lnTo>
                  <a:pt x="358592" y="314475"/>
                </a:lnTo>
                <a:lnTo>
                  <a:pt x="380717" y="306297"/>
                </a:lnTo>
                <a:lnTo>
                  <a:pt x="392941" y="330215"/>
                </a:lnTo>
                <a:lnTo>
                  <a:pt x="376309" y="336822"/>
                </a:lnTo>
                <a:lnTo>
                  <a:pt x="369624" y="360038"/>
                </a:lnTo>
                <a:lnTo>
                  <a:pt x="341594" y="356510"/>
                </a:lnTo>
                <a:lnTo>
                  <a:pt x="340503" y="366643"/>
                </a:lnTo>
                <a:lnTo>
                  <a:pt x="315436" y="354364"/>
                </a:lnTo>
                <a:lnTo>
                  <a:pt x="314843" y="376968"/>
                </a:lnTo>
                <a:lnTo>
                  <a:pt x="305099" y="381538"/>
                </a:lnTo>
                <a:lnTo>
                  <a:pt x="305897" y="388141"/>
                </a:lnTo>
                <a:lnTo>
                  <a:pt x="285052" y="392590"/>
                </a:lnTo>
                <a:lnTo>
                  <a:pt x="280686" y="408452"/>
                </a:lnTo>
                <a:lnTo>
                  <a:pt x="285860" y="419899"/>
                </a:lnTo>
                <a:lnTo>
                  <a:pt x="265593" y="427254"/>
                </a:lnTo>
                <a:lnTo>
                  <a:pt x="262743" y="449370"/>
                </a:lnTo>
                <a:lnTo>
                  <a:pt x="257061" y="445365"/>
                </a:lnTo>
                <a:lnTo>
                  <a:pt x="246514" y="449498"/>
                </a:lnTo>
                <a:close/>
              </a:path>
            </a:pathLst>
          </a:custGeom>
          <a:solidFill>
            <a:srgbClr val="0A2373"/>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5" name="2022 provincial petrol/diesel sales: KZN"/>
          <p:cNvSpPr/>
          <p:nvPr/>
        </p:nvSpPr>
        <p:spPr>
          <a:xfrm>
            <a:off x="4576800" y="3542692"/>
            <a:ext cx="946941" cy="1069830"/>
          </a:xfrm>
          <a:custGeom>
            <a:avLst/>
            <a:gdLst/>
            <a:ahLst/>
            <a:cxnLst/>
            <a:rect l="l" t="t" r="r" b="b"/>
            <a:pathLst>
              <a:path w="946941" h="1069830">
                <a:moveTo>
                  <a:pt x="270551" y="1069830"/>
                </a:moveTo>
                <a:lnTo>
                  <a:pt x="264247" y="1062786"/>
                </a:lnTo>
                <a:lnTo>
                  <a:pt x="266006" y="1056599"/>
                </a:lnTo>
                <a:lnTo>
                  <a:pt x="258588" y="1052074"/>
                </a:lnTo>
                <a:lnTo>
                  <a:pt x="263590" y="1043814"/>
                </a:lnTo>
                <a:lnTo>
                  <a:pt x="258902" y="1040504"/>
                </a:lnTo>
                <a:lnTo>
                  <a:pt x="262006" y="1030028"/>
                </a:lnTo>
                <a:lnTo>
                  <a:pt x="256477" y="1020983"/>
                </a:lnTo>
                <a:lnTo>
                  <a:pt x="245800" y="1017105"/>
                </a:lnTo>
                <a:lnTo>
                  <a:pt x="251330" y="1014166"/>
                </a:lnTo>
                <a:lnTo>
                  <a:pt x="235373" y="1012066"/>
                </a:lnTo>
                <a:lnTo>
                  <a:pt x="232559" y="1003992"/>
                </a:lnTo>
                <a:lnTo>
                  <a:pt x="223017" y="1005276"/>
                </a:lnTo>
                <a:lnTo>
                  <a:pt x="225045" y="997653"/>
                </a:lnTo>
                <a:lnTo>
                  <a:pt x="216133" y="998531"/>
                </a:lnTo>
                <a:lnTo>
                  <a:pt x="220282" y="989396"/>
                </a:lnTo>
                <a:lnTo>
                  <a:pt x="214374" y="988596"/>
                </a:lnTo>
                <a:lnTo>
                  <a:pt x="215655" y="994622"/>
                </a:lnTo>
                <a:lnTo>
                  <a:pt x="210885" y="996020"/>
                </a:lnTo>
                <a:lnTo>
                  <a:pt x="212663" y="989129"/>
                </a:lnTo>
                <a:lnTo>
                  <a:pt x="206332" y="992363"/>
                </a:lnTo>
                <a:lnTo>
                  <a:pt x="207911" y="985820"/>
                </a:lnTo>
                <a:lnTo>
                  <a:pt x="198913" y="986162"/>
                </a:lnTo>
                <a:lnTo>
                  <a:pt x="198254" y="979679"/>
                </a:lnTo>
                <a:lnTo>
                  <a:pt x="189568" y="977566"/>
                </a:lnTo>
                <a:lnTo>
                  <a:pt x="190991" y="969890"/>
                </a:lnTo>
                <a:lnTo>
                  <a:pt x="183889" y="968562"/>
                </a:lnTo>
                <a:lnTo>
                  <a:pt x="184948" y="972358"/>
                </a:lnTo>
                <a:lnTo>
                  <a:pt x="174776" y="975353"/>
                </a:lnTo>
                <a:lnTo>
                  <a:pt x="160570" y="960914"/>
                </a:lnTo>
                <a:lnTo>
                  <a:pt x="143974" y="965456"/>
                </a:lnTo>
                <a:lnTo>
                  <a:pt x="141665" y="957543"/>
                </a:lnTo>
                <a:lnTo>
                  <a:pt x="127856" y="952441"/>
                </a:lnTo>
                <a:lnTo>
                  <a:pt x="125452" y="946473"/>
                </a:lnTo>
                <a:lnTo>
                  <a:pt x="100709" y="950966"/>
                </a:lnTo>
                <a:lnTo>
                  <a:pt x="88088" y="958765"/>
                </a:lnTo>
                <a:lnTo>
                  <a:pt x="69949" y="945147"/>
                </a:lnTo>
                <a:lnTo>
                  <a:pt x="57412" y="944443"/>
                </a:lnTo>
                <a:lnTo>
                  <a:pt x="52437" y="949686"/>
                </a:lnTo>
                <a:lnTo>
                  <a:pt x="53166" y="943871"/>
                </a:lnTo>
                <a:lnTo>
                  <a:pt x="42233" y="940052"/>
                </a:lnTo>
                <a:lnTo>
                  <a:pt x="38049" y="933370"/>
                </a:lnTo>
                <a:lnTo>
                  <a:pt x="51262" y="926700"/>
                </a:lnTo>
                <a:lnTo>
                  <a:pt x="43982" y="921853"/>
                </a:lnTo>
                <a:lnTo>
                  <a:pt x="46454" y="915938"/>
                </a:lnTo>
                <a:lnTo>
                  <a:pt x="52367" y="917516"/>
                </a:lnTo>
                <a:lnTo>
                  <a:pt x="57436" y="896867"/>
                </a:lnTo>
                <a:lnTo>
                  <a:pt x="76775" y="887666"/>
                </a:lnTo>
                <a:lnTo>
                  <a:pt x="75775" y="882641"/>
                </a:lnTo>
                <a:lnTo>
                  <a:pt x="81926" y="883791"/>
                </a:lnTo>
                <a:lnTo>
                  <a:pt x="81802" y="868487"/>
                </a:lnTo>
                <a:lnTo>
                  <a:pt x="67891" y="854350"/>
                </a:lnTo>
                <a:lnTo>
                  <a:pt x="71497" y="864196"/>
                </a:lnTo>
                <a:lnTo>
                  <a:pt x="45572" y="852105"/>
                </a:lnTo>
                <a:lnTo>
                  <a:pt x="38923" y="830330"/>
                </a:lnTo>
                <a:lnTo>
                  <a:pt x="43778" y="810445"/>
                </a:lnTo>
                <a:lnTo>
                  <a:pt x="20988" y="784825"/>
                </a:lnTo>
                <a:lnTo>
                  <a:pt x="56217" y="764098"/>
                </a:lnTo>
                <a:lnTo>
                  <a:pt x="55020" y="755797"/>
                </a:lnTo>
                <a:lnTo>
                  <a:pt x="41609" y="745868"/>
                </a:lnTo>
                <a:lnTo>
                  <a:pt x="48578" y="740739"/>
                </a:lnTo>
                <a:lnTo>
                  <a:pt x="47329" y="725716"/>
                </a:lnTo>
                <a:lnTo>
                  <a:pt x="56159" y="704303"/>
                </a:lnTo>
                <a:lnTo>
                  <a:pt x="73345" y="693929"/>
                </a:lnTo>
                <a:lnTo>
                  <a:pt x="83879" y="695090"/>
                </a:lnTo>
                <a:lnTo>
                  <a:pt x="85067" y="680222"/>
                </a:lnTo>
                <a:lnTo>
                  <a:pt x="94129" y="676793"/>
                </a:lnTo>
                <a:lnTo>
                  <a:pt x="87774" y="656139"/>
                </a:lnTo>
                <a:lnTo>
                  <a:pt x="112808" y="645388"/>
                </a:lnTo>
                <a:lnTo>
                  <a:pt x="125562" y="618155"/>
                </a:lnTo>
                <a:lnTo>
                  <a:pt x="116150" y="586055"/>
                </a:lnTo>
                <a:lnTo>
                  <a:pt x="102094" y="579185"/>
                </a:lnTo>
                <a:lnTo>
                  <a:pt x="105297" y="564110"/>
                </a:lnTo>
                <a:lnTo>
                  <a:pt x="95909" y="551263"/>
                </a:lnTo>
                <a:lnTo>
                  <a:pt x="82879" y="553397"/>
                </a:lnTo>
                <a:lnTo>
                  <a:pt x="74583" y="536857"/>
                </a:lnTo>
                <a:lnTo>
                  <a:pt x="54602" y="524435"/>
                </a:lnTo>
                <a:lnTo>
                  <a:pt x="31758" y="498465"/>
                </a:lnTo>
                <a:lnTo>
                  <a:pt x="22757" y="506548"/>
                </a:lnTo>
                <a:lnTo>
                  <a:pt x="14119" y="492881"/>
                </a:lnTo>
                <a:lnTo>
                  <a:pt x="16309" y="484301"/>
                </a:lnTo>
                <a:lnTo>
                  <a:pt x="10527" y="480060"/>
                </a:lnTo>
                <a:lnTo>
                  <a:pt x="16686" y="478096"/>
                </a:lnTo>
                <a:lnTo>
                  <a:pt x="15697" y="472518"/>
                </a:lnTo>
                <a:lnTo>
                  <a:pt x="7471" y="466200"/>
                </a:lnTo>
                <a:lnTo>
                  <a:pt x="0" y="468943"/>
                </a:lnTo>
                <a:lnTo>
                  <a:pt x="5974" y="448700"/>
                </a:lnTo>
                <a:lnTo>
                  <a:pt x="16578" y="438817"/>
                </a:lnTo>
                <a:lnTo>
                  <a:pt x="24263" y="419530"/>
                </a:lnTo>
                <a:lnTo>
                  <a:pt x="52108" y="412929"/>
                </a:lnTo>
                <a:lnTo>
                  <a:pt x="60646" y="418655"/>
                </a:lnTo>
                <a:lnTo>
                  <a:pt x="69083" y="409663"/>
                </a:lnTo>
                <a:lnTo>
                  <a:pt x="74685" y="413703"/>
                </a:lnTo>
                <a:lnTo>
                  <a:pt x="79395" y="407215"/>
                </a:lnTo>
                <a:lnTo>
                  <a:pt x="74037" y="400556"/>
                </a:lnTo>
                <a:lnTo>
                  <a:pt x="87580" y="383401"/>
                </a:lnTo>
                <a:lnTo>
                  <a:pt x="96799" y="387057"/>
                </a:lnTo>
                <a:lnTo>
                  <a:pt x="116222" y="370867"/>
                </a:lnTo>
                <a:lnTo>
                  <a:pt x="125424" y="372233"/>
                </a:lnTo>
                <a:lnTo>
                  <a:pt x="141913" y="346294"/>
                </a:lnTo>
                <a:lnTo>
                  <a:pt x="173154" y="339553"/>
                </a:lnTo>
                <a:lnTo>
                  <a:pt x="175185" y="325425"/>
                </a:lnTo>
                <a:lnTo>
                  <a:pt x="183530" y="323575"/>
                </a:lnTo>
                <a:lnTo>
                  <a:pt x="182722" y="301207"/>
                </a:lnTo>
                <a:lnTo>
                  <a:pt x="174397" y="289827"/>
                </a:lnTo>
                <a:lnTo>
                  <a:pt x="182881" y="269638"/>
                </a:lnTo>
                <a:lnTo>
                  <a:pt x="189528" y="267521"/>
                </a:lnTo>
                <a:lnTo>
                  <a:pt x="183978" y="258560"/>
                </a:lnTo>
                <a:lnTo>
                  <a:pt x="192540" y="251840"/>
                </a:lnTo>
                <a:lnTo>
                  <a:pt x="194759" y="233683"/>
                </a:lnTo>
                <a:lnTo>
                  <a:pt x="202693" y="229796"/>
                </a:lnTo>
                <a:lnTo>
                  <a:pt x="196798" y="218971"/>
                </a:lnTo>
                <a:lnTo>
                  <a:pt x="198719" y="201581"/>
                </a:lnTo>
                <a:lnTo>
                  <a:pt x="190591" y="188983"/>
                </a:lnTo>
                <a:lnTo>
                  <a:pt x="217042" y="176250"/>
                </a:lnTo>
                <a:lnTo>
                  <a:pt x="211643" y="158207"/>
                </a:lnTo>
                <a:lnTo>
                  <a:pt x="200597" y="154307"/>
                </a:lnTo>
                <a:lnTo>
                  <a:pt x="206013" y="147952"/>
                </a:lnTo>
                <a:lnTo>
                  <a:pt x="200904" y="141053"/>
                </a:lnTo>
                <a:lnTo>
                  <a:pt x="212554" y="136597"/>
                </a:lnTo>
                <a:lnTo>
                  <a:pt x="220959" y="140805"/>
                </a:lnTo>
                <a:lnTo>
                  <a:pt x="231762" y="121085"/>
                </a:lnTo>
                <a:lnTo>
                  <a:pt x="245056" y="123370"/>
                </a:lnTo>
                <a:lnTo>
                  <a:pt x="249570" y="115514"/>
                </a:lnTo>
                <a:lnTo>
                  <a:pt x="271694" y="127486"/>
                </a:lnTo>
                <a:lnTo>
                  <a:pt x="288083" y="120726"/>
                </a:lnTo>
                <a:lnTo>
                  <a:pt x="300502" y="132752"/>
                </a:lnTo>
                <a:lnTo>
                  <a:pt x="313584" y="118407"/>
                </a:lnTo>
                <a:lnTo>
                  <a:pt x="321646" y="125303"/>
                </a:lnTo>
                <a:lnTo>
                  <a:pt x="332093" y="122648"/>
                </a:lnTo>
                <a:lnTo>
                  <a:pt x="333270" y="108831"/>
                </a:lnTo>
                <a:lnTo>
                  <a:pt x="352502" y="108979"/>
                </a:lnTo>
                <a:lnTo>
                  <a:pt x="353200" y="97674"/>
                </a:lnTo>
                <a:lnTo>
                  <a:pt x="366593" y="98890"/>
                </a:lnTo>
                <a:lnTo>
                  <a:pt x="365978" y="110422"/>
                </a:lnTo>
                <a:lnTo>
                  <a:pt x="370916" y="113919"/>
                </a:lnTo>
                <a:lnTo>
                  <a:pt x="382294" y="110508"/>
                </a:lnTo>
                <a:lnTo>
                  <a:pt x="402605" y="114181"/>
                </a:lnTo>
                <a:lnTo>
                  <a:pt x="432860" y="105539"/>
                </a:lnTo>
                <a:lnTo>
                  <a:pt x="444489" y="117004"/>
                </a:lnTo>
                <a:lnTo>
                  <a:pt x="448738" y="113732"/>
                </a:lnTo>
                <a:lnTo>
                  <a:pt x="455853" y="124673"/>
                </a:lnTo>
                <a:lnTo>
                  <a:pt x="464016" y="122287"/>
                </a:lnTo>
                <a:lnTo>
                  <a:pt x="466285" y="114550"/>
                </a:lnTo>
                <a:lnTo>
                  <a:pt x="479198" y="113231"/>
                </a:lnTo>
                <a:lnTo>
                  <a:pt x="482990" y="129575"/>
                </a:lnTo>
                <a:lnTo>
                  <a:pt x="519137" y="121562"/>
                </a:lnTo>
                <a:lnTo>
                  <a:pt x="533926" y="132251"/>
                </a:lnTo>
                <a:lnTo>
                  <a:pt x="560257" y="101489"/>
                </a:lnTo>
                <a:lnTo>
                  <a:pt x="609294" y="122549"/>
                </a:lnTo>
                <a:lnTo>
                  <a:pt x="719505" y="129340"/>
                </a:lnTo>
                <a:lnTo>
                  <a:pt x="721677" y="77892"/>
                </a:lnTo>
                <a:lnTo>
                  <a:pt x="734467" y="118"/>
                </a:lnTo>
                <a:lnTo>
                  <a:pt x="754869" y="0"/>
                </a:lnTo>
                <a:lnTo>
                  <a:pt x="758974" y="8890"/>
                </a:lnTo>
                <a:lnTo>
                  <a:pt x="772748" y="15945"/>
                </a:lnTo>
                <a:lnTo>
                  <a:pt x="781810" y="8714"/>
                </a:lnTo>
                <a:lnTo>
                  <a:pt x="806794" y="18198"/>
                </a:lnTo>
                <a:lnTo>
                  <a:pt x="934915" y="24748"/>
                </a:lnTo>
                <a:lnTo>
                  <a:pt x="946941" y="29161"/>
                </a:lnTo>
                <a:lnTo>
                  <a:pt x="931801" y="92016"/>
                </a:lnTo>
                <a:lnTo>
                  <a:pt x="888252" y="189222"/>
                </a:lnTo>
                <a:lnTo>
                  <a:pt x="865563" y="270227"/>
                </a:lnTo>
                <a:lnTo>
                  <a:pt x="851324" y="348836"/>
                </a:lnTo>
                <a:lnTo>
                  <a:pt x="817674" y="409994"/>
                </a:lnTo>
                <a:lnTo>
                  <a:pt x="813336" y="434627"/>
                </a:lnTo>
                <a:lnTo>
                  <a:pt x="800906" y="431554"/>
                </a:lnTo>
                <a:lnTo>
                  <a:pt x="786796" y="456942"/>
                </a:lnTo>
                <a:lnTo>
                  <a:pt x="704354" y="528481"/>
                </a:lnTo>
                <a:lnTo>
                  <a:pt x="645845" y="549010"/>
                </a:lnTo>
                <a:lnTo>
                  <a:pt x="546409" y="649299"/>
                </a:lnTo>
                <a:lnTo>
                  <a:pt x="478658" y="745275"/>
                </a:lnTo>
                <a:lnTo>
                  <a:pt x="472672" y="761240"/>
                </a:lnTo>
                <a:lnTo>
                  <a:pt x="477149" y="773018"/>
                </a:lnTo>
                <a:lnTo>
                  <a:pt x="435953" y="816798"/>
                </a:lnTo>
                <a:lnTo>
                  <a:pt x="353947" y="958657"/>
                </a:lnTo>
                <a:lnTo>
                  <a:pt x="277872" y="1066058"/>
                </a:lnTo>
                <a:lnTo>
                  <a:pt x="270551" y="1069830"/>
                </a:lnTo>
                <a:close/>
              </a:path>
            </a:pathLst>
          </a:custGeom>
          <a:solidFill>
            <a:srgbClr val="3D619D"/>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6" name="2022 provincial petrol/diesel sales: LP"/>
          <p:cNvSpPr/>
          <p:nvPr/>
        </p:nvSpPr>
        <p:spPr>
          <a:xfrm>
            <a:off x="4033528" y="2320210"/>
            <a:ext cx="1287007" cy="840746"/>
          </a:xfrm>
          <a:custGeom>
            <a:avLst/>
            <a:gdLst/>
            <a:ahLst/>
            <a:cxnLst/>
            <a:rect l="l" t="t" r="r" b="b"/>
            <a:pathLst>
              <a:path w="1287007" h="840746">
                <a:moveTo>
                  <a:pt x="512141" y="764488"/>
                </a:moveTo>
                <a:lnTo>
                  <a:pt x="526546" y="782464"/>
                </a:lnTo>
                <a:lnTo>
                  <a:pt x="515123" y="797393"/>
                </a:lnTo>
                <a:lnTo>
                  <a:pt x="508762" y="790076"/>
                </a:lnTo>
                <a:lnTo>
                  <a:pt x="499330" y="789101"/>
                </a:lnTo>
                <a:lnTo>
                  <a:pt x="484678" y="792792"/>
                </a:lnTo>
                <a:lnTo>
                  <a:pt x="484943" y="803894"/>
                </a:lnTo>
                <a:lnTo>
                  <a:pt x="456756" y="806247"/>
                </a:lnTo>
                <a:lnTo>
                  <a:pt x="456151" y="798792"/>
                </a:lnTo>
                <a:lnTo>
                  <a:pt x="437213" y="802957"/>
                </a:lnTo>
                <a:lnTo>
                  <a:pt x="425782" y="777721"/>
                </a:lnTo>
                <a:lnTo>
                  <a:pt x="400123" y="775207"/>
                </a:lnTo>
                <a:lnTo>
                  <a:pt x="398922" y="759851"/>
                </a:lnTo>
                <a:lnTo>
                  <a:pt x="390851" y="760356"/>
                </a:lnTo>
                <a:lnTo>
                  <a:pt x="388699" y="748006"/>
                </a:lnTo>
                <a:lnTo>
                  <a:pt x="405093" y="744950"/>
                </a:lnTo>
                <a:lnTo>
                  <a:pt x="409515" y="753559"/>
                </a:lnTo>
                <a:lnTo>
                  <a:pt x="419044" y="755888"/>
                </a:lnTo>
                <a:lnTo>
                  <a:pt x="429956" y="736313"/>
                </a:lnTo>
                <a:lnTo>
                  <a:pt x="398900" y="723830"/>
                </a:lnTo>
                <a:lnTo>
                  <a:pt x="397852" y="717333"/>
                </a:lnTo>
                <a:lnTo>
                  <a:pt x="378474" y="718350"/>
                </a:lnTo>
                <a:lnTo>
                  <a:pt x="366189" y="711019"/>
                </a:lnTo>
                <a:lnTo>
                  <a:pt x="357297" y="721889"/>
                </a:lnTo>
                <a:lnTo>
                  <a:pt x="320783" y="712166"/>
                </a:lnTo>
                <a:lnTo>
                  <a:pt x="296960" y="718747"/>
                </a:lnTo>
                <a:lnTo>
                  <a:pt x="283390" y="713178"/>
                </a:lnTo>
                <a:lnTo>
                  <a:pt x="276084" y="715874"/>
                </a:lnTo>
                <a:lnTo>
                  <a:pt x="275054" y="727243"/>
                </a:lnTo>
                <a:lnTo>
                  <a:pt x="262772" y="744503"/>
                </a:lnTo>
                <a:lnTo>
                  <a:pt x="248718" y="736315"/>
                </a:lnTo>
                <a:lnTo>
                  <a:pt x="214906" y="740953"/>
                </a:lnTo>
                <a:lnTo>
                  <a:pt x="209677" y="729167"/>
                </a:lnTo>
                <a:lnTo>
                  <a:pt x="199998" y="727614"/>
                </a:lnTo>
                <a:lnTo>
                  <a:pt x="188593" y="735247"/>
                </a:lnTo>
                <a:lnTo>
                  <a:pt x="190623" y="727286"/>
                </a:lnTo>
                <a:lnTo>
                  <a:pt x="184064" y="726419"/>
                </a:lnTo>
                <a:lnTo>
                  <a:pt x="189635" y="708825"/>
                </a:lnTo>
                <a:lnTo>
                  <a:pt x="179755" y="704708"/>
                </a:lnTo>
                <a:lnTo>
                  <a:pt x="172781" y="712363"/>
                </a:lnTo>
                <a:lnTo>
                  <a:pt x="160777" y="691988"/>
                </a:lnTo>
                <a:lnTo>
                  <a:pt x="146853" y="688413"/>
                </a:lnTo>
                <a:lnTo>
                  <a:pt x="144043" y="645355"/>
                </a:lnTo>
                <a:lnTo>
                  <a:pt x="132260" y="645684"/>
                </a:lnTo>
                <a:lnTo>
                  <a:pt x="133171" y="659777"/>
                </a:lnTo>
                <a:lnTo>
                  <a:pt x="85992" y="674875"/>
                </a:lnTo>
                <a:lnTo>
                  <a:pt x="79238" y="686344"/>
                </a:lnTo>
                <a:lnTo>
                  <a:pt x="49321" y="667257"/>
                </a:lnTo>
                <a:lnTo>
                  <a:pt x="11107" y="666678"/>
                </a:lnTo>
                <a:lnTo>
                  <a:pt x="3681" y="656816"/>
                </a:lnTo>
                <a:lnTo>
                  <a:pt x="4356" y="627949"/>
                </a:lnTo>
                <a:lnTo>
                  <a:pt x="0" y="624820"/>
                </a:lnTo>
                <a:lnTo>
                  <a:pt x="14719" y="610391"/>
                </a:lnTo>
                <a:lnTo>
                  <a:pt x="24189" y="584723"/>
                </a:lnTo>
                <a:lnTo>
                  <a:pt x="42482" y="565205"/>
                </a:lnTo>
                <a:lnTo>
                  <a:pt x="60437" y="557891"/>
                </a:lnTo>
                <a:lnTo>
                  <a:pt x="70061" y="542862"/>
                </a:lnTo>
                <a:lnTo>
                  <a:pt x="89291" y="539239"/>
                </a:lnTo>
                <a:lnTo>
                  <a:pt x="108252" y="525335"/>
                </a:lnTo>
                <a:lnTo>
                  <a:pt x="112549" y="509720"/>
                </a:lnTo>
                <a:lnTo>
                  <a:pt x="108178" y="506966"/>
                </a:lnTo>
                <a:lnTo>
                  <a:pt x="111683" y="502161"/>
                </a:lnTo>
                <a:lnTo>
                  <a:pt x="107432" y="488419"/>
                </a:lnTo>
                <a:lnTo>
                  <a:pt x="113273" y="484143"/>
                </a:lnTo>
                <a:lnTo>
                  <a:pt x="124887" y="450072"/>
                </a:lnTo>
                <a:lnTo>
                  <a:pt x="130601" y="429378"/>
                </a:lnTo>
                <a:lnTo>
                  <a:pt x="125295" y="423454"/>
                </a:lnTo>
                <a:lnTo>
                  <a:pt x="131605" y="418256"/>
                </a:lnTo>
                <a:lnTo>
                  <a:pt x="134967" y="385718"/>
                </a:lnTo>
                <a:lnTo>
                  <a:pt x="142340" y="382200"/>
                </a:lnTo>
                <a:lnTo>
                  <a:pt x="142672" y="370903"/>
                </a:lnTo>
                <a:lnTo>
                  <a:pt x="148059" y="371044"/>
                </a:lnTo>
                <a:lnTo>
                  <a:pt x="150796" y="380841"/>
                </a:lnTo>
                <a:lnTo>
                  <a:pt x="158548" y="377897"/>
                </a:lnTo>
                <a:lnTo>
                  <a:pt x="161123" y="370964"/>
                </a:lnTo>
                <a:lnTo>
                  <a:pt x="156116" y="363033"/>
                </a:lnTo>
                <a:lnTo>
                  <a:pt x="165658" y="360731"/>
                </a:lnTo>
                <a:lnTo>
                  <a:pt x="169947" y="350403"/>
                </a:lnTo>
                <a:lnTo>
                  <a:pt x="178771" y="352332"/>
                </a:lnTo>
                <a:lnTo>
                  <a:pt x="174334" y="340624"/>
                </a:lnTo>
                <a:lnTo>
                  <a:pt x="189811" y="343632"/>
                </a:lnTo>
                <a:lnTo>
                  <a:pt x="187935" y="334339"/>
                </a:lnTo>
                <a:lnTo>
                  <a:pt x="214058" y="325844"/>
                </a:lnTo>
                <a:lnTo>
                  <a:pt x="220758" y="310678"/>
                </a:lnTo>
                <a:lnTo>
                  <a:pt x="226247" y="309449"/>
                </a:lnTo>
                <a:lnTo>
                  <a:pt x="225314" y="316614"/>
                </a:lnTo>
                <a:lnTo>
                  <a:pt x="231143" y="317006"/>
                </a:lnTo>
                <a:lnTo>
                  <a:pt x="231971" y="309849"/>
                </a:lnTo>
                <a:lnTo>
                  <a:pt x="239366" y="307461"/>
                </a:lnTo>
                <a:lnTo>
                  <a:pt x="237569" y="313539"/>
                </a:lnTo>
                <a:lnTo>
                  <a:pt x="242374" y="317080"/>
                </a:lnTo>
                <a:lnTo>
                  <a:pt x="247318" y="306487"/>
                </a:lnTo>
                <a:lnTo>
                  <a:pt x="267775" y="307049"/>
                </a:lnTo>
                <a:lnTo>
                  <a:pt x="277054" y="295965"/>
                </a:lnTo>
                <a:lnTo>
                  <a:pt x="278806" y="276643"/>
                </a:lnTo>
                <a:lnTo>
                  <a:pt x="285574" y="272152"/>
                </a:lnTo>
                <a:lnTo>
                  <a:pt x="286024" y="264255"/>
                </a:lnTo>
                <a:lnTo>
                  <a:pt x="297091" y="266912"/>
                </a:lnTo>
                <a:lnTo>
                  <a:pt x="306645" y="259592"/>
                </a:lnTo>
                <a:lnTo>
                  <a:pt x="318839" y="268586"/>
                </a:lnTo>
                <a:lnTo>
                  <a:pt x="329433" y="253595"/>
                </a:lnTo>
                <a:lnTo>
                  <a:pt x="325200" y="244152"/>
                </a:lnTo>
                <a:lnTo>
                  <a:pt x="335450" y="244407"/>
                </a:lnTo>
                <a:lnTo>
                  <a:pt x="336607" y="237334"/>
                </a:lnTo>
                <a:lnTo>
                  <a:pt x="365746" y="224016"/>
                </a:lnTo>
                <a:lnTo>
                  <a:pt x="366099" y="201276"/>
                </a:lnTo>
                <a:lnTo>
                  <a:pt x="390458" y="189143"/>
                </a:lnTo>
                <a:lnTo>
                  <a:pt x="391925" y="168826"/>
                </a:lnTo>
                <a:lnTo>
                  <a:pt x="418258" y="153279"/>
                </a:lnTo>
                <a:lnTo>
                  <a:pt x="426238" y="132784"/>
                </a:lnTo>
                <a:lnTo>
                  <a:pt x="464615" y="104751"/>
                </a:lnTo>
                <a:lnTo>
                  <a:pt x="507775" y="109132"/>
                </a:lnTo>
                <a:lnTo>
                  <a:pt x="581494" y="85990"/>
                </a:lnTo>
                <a:lnTo>
                  <a:pt x="581345" y="79951"/>
                </a:lnTo>
                <a:lnTo>
                  <a:pt x="587701" y="76717"/>
                </a:lnTo>
                <a:lnTo>
                  <a:pt x="603630" y="78705"/>
                </a:lnTo>
                <a:lnTo>
                  <a:pt x="615656" y="58641"/>
                </a:lnTo>
                <a:lnTo>
                  <a:pt x="614941" y="41045"/>
                </a:lnTo>
                <a:lnTo>
                  <a:pt x="632404" y="18149"/>
                </a:lnTo>
                <a:lnTo>
                  <a:pt x="659582" y="18871"/>
                </a:lnTo>
                <a:lnTo>
                  <a:pt x="675855" y="9840"/>
                </a:lnTo>
                <a:lnTo>
                  <a:pt x="700164" y="12923"/>
                </a:lnTo>
                <a:lnTo>
                  <a:pt x="703490" y="17566"/>
                </a:lnTo>
                <a:lnTo>
                  <a:pt x="734497" y="8793"/>
                </a:lnTo>
                <a:lnTo>
                  <a:pt x="749601" y="12369"/>
                </a:lnTo>
                <a:lnTo>
                  <a:pt x="752497" y="6002"/>
                </a:lnTo>
                <a:lnTo>
                  <a:pt x="769375" y="7392"/>
                </a:lnTo>
                <a:lnTo>
                  <a:pt x="780697" y="0"/>
                </a:lnTo>
                <a:lnTo>
                  <a:pt x="808392" y="5207"/>
                </a:lnTo>
                <a:lnTo>
                  <a:pt x="834339" y="19780"/>
                </a:lnTo>
                <a:lnTo>
                  <a:pt x="844183" y="18983"/>
                </a:lnTo>
                <a:lnTo>
                  <a:pt x="854388" y="28133"/>
                </a:lnTo>
                <a:lnTo>
                  <a:pt x="865697" y="29802"/>
                </a:lnTo>
                <a:lnTo>
                  <a:pt x="867382" y="36178"/>
                </a:lnTo>
                <a:lnTo>
                  <a:pt x="890764" y="51796"/>
                </a:lnTo>
                <a:lnTo>
                  <a:pt x="915865" y="48953"/>
                </a:lnTo>
                <a:lnTo>
                  <a:pt x="929337" y="64951"/>
                </a:lnTo>
                <a:lnTo>
                  <a:pt x="977060" y="56810"/>
                </a:lnTo>
                <a:lnTo>
                  <a:pt x="1010676" y="63400"/>
                </a:lnTo>
                <a:lnTo>
                  <a:pt x="1018441" y="57276"/>
                </a:lnTo>
                <a:lnTo>
                  <a:pt x="1059544" y="54308"/>
                </a:lnTo>
                <a:lnTo>
                  <a:pt x="1119060" y="71737"/>
                </a:lnTo>
                <a:lnTo>
                  <a:pt x="1136993" y="67374"/>
                </a:lnTo>
                <a:lnTo>
                  <a:pt x="1148448" y="78207"/>
                </a:lnTo>
                <a:lnTo>
                  <a:pt x="1161618" y="78573"/>
                </a:lnTo>
                <a:lnTo>
                  <a:pt x="1170698" y="92956"/>
                </a:lnTo>
                <a:lnTo>
                  <a:pt x="1221661" y="294162"/>
                </a:lnTo>
                <a:lnTo>
                  <a:pt x="1217575" y="366559"/>
                </a:lnTo>
                <a:lnTo>
                  <a:pt x="1246205" y="405842"/>
                </a:lnTo>
                <a:lnTo>
                  <a:pt x="1246645" y="429533"/>
                </a:lnTo>
                <a:lnTo>
                  <a:pt x="1261382" y="472814"/>
                </a:lnTo>
                <a:lnTo>
                  <a:pt x="1286664" y="491433"/>
                </a:lnTo>
                <a:lnTo>
                  <a:pt x="1287007" y="499018"/>
                </a:lnTo>
                <a:lnTo>
                  <a:pt x="1270109" y="501848"/>
                </a:lnTo>
                <a:lnTo>
                  <a:pt x="1260341" y="497182"/>
                </a:lnTo>
                <a:lnTo>
                  <a:pt x="1251763" y="503920"/>
                </a:lnTo>
                <a:lnTo>
                  <a:pt x="1251528" y="512803"/>
                </a:lnTo>
                <a:lnTo>
                  <a:pt x="1243410" y="515904"/>
                </a:lnTo>
                <a:lnTo>
                  <a:pt x="1234010" y="503660"/>
                </a:lnTo>
                <a:lnTo>
                  <a:pt x="1224894" y="505514"/>
                </a:lnTo>
                <a:lnTo>
                  <a:pt x="1219147" y="513673"/>
                </a:lnTo>
                <a:lnTo>
                  <a:pt x="1212434" y="507362"/>
                </a:lnTo>
                <a:lnTo>
                  <a:pt x="1202967" y="512901"/>
                </a:lnTo>
                <a:lnTo>
                  <a:pt x="1184331" y="502511"/>
                </a:lnTo>
                <a:lnTo>
                  <a:pt x="1172360" y="514081"/>
                </a:lnTo>
                <a:lnTo>
                  <a:pt x="1167882" y="509932"/>
                </a:lnTo>
                <a:lnTo>
                  <a:pt x="1138745" y="520930"/>
                </a:lnTo>
                <a:lnTo>
                  <a:pt x="1124612" y="502297"/>
                </a:lnTo>
                <a:lnTo>
                  <a:pt x="1113305" y="511621"/>
                </a:lnTo>
                <a:lnTo>
                  <a:pt x="1095587" y="514236"/>
                </a:lnTo>
                <a:lnTo>
                  <a:pt x="1106853" y="516567"/>
                </a:lnTo>
                <a:lnTo>
                  <a:pt x="1105234" y="523896"/>
                </a:lnTo>
                <a:lnTo>
                  <a:pt x="1100816" y="523204"/>
                </a:lnTo>
                <a:lnTo>
                  <a:pt x="1103090" y="530577"/>
                </a:lnTo>
                <a:lnTo>
                  <a:pt x="1089184" y="540536"/>
                </a:lnTo>
                <a:lnTo>
                  <a:pt x="1089046" y="574972"/>
                </a:lnTo>
                <a:lnTo>
                  <a:pt x="1122930" y="572324"/>
                </a:lnTo>
                <a:lnTo>
                  <a:pt x="1132020" y="588266"/>
                </a:lnTo>
                <a:lnTo>
                  <a:pt x="1112719" y="589889"/>
                </a:lnTo>
                <a:lnTo>
                  <a:pt x="1111982" y="605682"/>
                </a:lnTo>
                <a:lnTo>
                  <a:pt x="1122225" y="603394"/>
                </a:lnTo>
                <a:lnTo>
                  <a:pt x="1133129" y="622549"/>
                </a:lnTo>
                <a:lnTo>
                  <a:pt x="1126030" y="636753"/>
                </a:lnTo>
                <a:lnTo>
                  <a:pt x="1063446" y="640319"/>
                </a:lnTo>
                <a:lnTo>
                  <a:pt x="1062980" y="624736"/>
                </a:lnTo>
                <a:lnTo>
                  <a:pt x="1043494" y="628205"/>
                </a:lnTo>
                <a:lnTo>
                  <a:pt x="1018043" y="606966"/>
                </a:lnTo>
                <a:lnTo>
                  <a:pt x="1010891" y="616428"/>
                </a:lnTo>
                <a:lnTo>
                  <a:pt x="1009704" y="644584"/>
                </a:lnTo>
                <a:lnTo>
                  <a:pt x="1003237" y="638571"/>
                </a:lnTo>
                <a:lnTo>
                  <a:pt x="997620" y="647846"/>
                </a:lnTo>
                <a:lnTo>
                  <a:pt x="1006250" y="669123"/>
                </a:lnTo>
                <a:lnTo>
                  <a:pt x="996230" y="676483"/>
                </a:lnTo>
                <a:lnTo>
                  <a:pt x="986467" y="675589"/>
                </a:lnTo>
                <a:lnTo>
                  <a:pt x="985526" y="681796"/>
                </a:lnTo>
                <a:lnTo>
                  <a:pt x="992458" y="686239"/>
                </a:lnTo>
                <a:lnTo>
                  <a:pt x="990181" y="695624"/>
                </a:lnTo>
                <a:lnTo>
                  <a:pt x="971599" y="714142"/>
                </a:lnTo>
                <a:lnTo>
                  <a:pt x="971557" y="721701"/>
                </a:lnTo>
                <a:lnTo>
                  <a:pt x="967522" y="716283"/>
                </a:lnTo>
                <a:lnTo>
                  <a:pt x="951827" y="720248"/>
                </a:lnTo>
                <a:lnTo>
                  <a:pt x="950927" y="730074"/>
                </a:lnTo>
                <a:lnTo>
                  <a:pt x="935874" y="704217"/>
                </a:lnTo>
                <a:lnTo>
                  <a:pt x="927702" y="702470"/>
                </a:lnTo>
                <a:lnTo>
                  <a:pt x="929038" y="708105"/>
                </a:lnTo>
                <a:lnTo>
                  <a:pt x="919418" y="702066"/>
                </a:lnTo>
                <a:lnTo>
                  <a:pt x="918761" y="710781"/>
                </a:lnTo>
                <a:lnTo>
                  <a:pt x="908299" y="710736"/>
                </a:lnTo>
                <a:lnTo>
                  <a:pt x="905977" y="706206"/>
                </a:lnTo>
                <a:lnTo>
                  <a:pt x="881571" y="702022"/>
                </a:lnTo>
                <a:lnTo>
                  <a:pt x="875584" y="735979"/>
                </a:lnTo>
                <a:lnTo>
                  <a:pt x="881292" y="748297"/>
                </a:lnTo>
                <a:lnTo>
                  <a:pt x="869667" y="746779"/>
                </a:lnTo>
                <a:lnTo>
                  <a:pt x="867788" y="770099"/>
                </a:lnTo>
                <a:lnTo>
                  <a:pt x="855325" y="770015"/>
                </a:lnTo>
                <a:lnTo>
                  <a:pt x="841755" y="753750"/>
                </a:lnTo>
                <a:lnTo>
                  <a:pt x="841547" y="758972"/>
                </a:lnTo>
                <a:lnTo>
                  <a:pt x="829639" y="760417"/>
                </a:lnTo>
                <a:lnTo>
                  <a:pt x="835279" y="774019"/>
                </a:lnTo>
                <a:lnTo>
                  <a:pt x="833536" y="824091"/>
                </a:lnTo>
                <a:lnTo>
                  <a:pt x="806104" y="822529"/>
                </a:lnTo>
                <a:lnTo>
                  <a:pt x="805828" y="829109"/>
                </a:lnTo>
                <a:lnTo>
                  <a:pt x="794597" y="834286"/>
                </a:lnTo>
                <a:lnTo>
                  <a:pt x="790217" y="827089"/>
                </a:lnTo>
                <a:lnTo>
                  <a:pt x="783899" y="827657"/>
                </a:lnTo>
                <a:lnTo>
                  <a:pt x="778202" y="837533"/>
                </a:lnTo>
                <a:lnTo>
                  <a:pt x="756117" y="829164"/>
                </a:lnTo>
                <a:lnTo>
                  <a:pt x="741688" y="835894"/>
                </a:lnTo>
                <a:lnTo>
                  <a:pt x="720733" y="836243"/>
                </a:lnTo>
                <a:lnTo>
                  <a:pt x="719693" y="840746"/>
                </a:lnTo>
                <a:lnTo>
                  <a:pt x="680680" y="834686"/>
                </a:lnTo>
                <a:lnTo>
                  <a:pt x="679134" y="826555"/>
                </a:lnTo>
                <a:lnTo>
                  <a:pt x="661083" y="826531"/>
                </a:lnTo>
                <a:lnTo>
                  <a:pt x="647508" y="836064"/>
                </a:lnTo>
                <a:lnTo>
                  <a:pt x="645175" y="824654"/>
                </a:lnTo>
                <a:lnTo>
                  <a:pt x="630058" y="829244"/>
                </a:lnTo>
                <a:lnTo>
                  <a:pt x="637975" y="820366"/>
                </a:lnTo>
                <a:lnTo>
                  <a:pt x="639054" y="807328"/>
                </a:lnTo>
                <a:lnTo>
                  <a:pt x="622406" y="811323"/>
                </a:lnTo>
                <a:lnTo>
                  <a:pt x="621334" y="803159"/>
                </a:lnTo>
                <a:lnTo>
                  <a:pt x="609423" y="799453"/>
                </a:lnTo>
                <a:lnTo>
                  <a:pt x="608092" y="792870"/>
                </a:lnTo>
                <a:lnTo>
                  <a:pt x="611447" y="764749"/>
                </a:lnTo>
                <a:lnTo>
                  <a:pt x="622390" y="767146"/>
                </a:lnTo>
                <a:lnTo>
                  <a:pt x="631650" y="758401"/>
                </a:lnTo>
                <a:lnTo>
                  <a:pt x="622389" y="755681"/>
                </a:lnTo>
                <a:lnTo>
                  <a:pt x="618593" y="745797"/>
                </a:lnTo>
                <a:lnTo>
                  <a:pt x="595529" y="746245"/>
                </a:lnTo>
                <a:lnTo>
                  <a:pt x="587508" y="728043"/>
                </a:lnTo>
                <a:lnTo>
                  <a:pt x="581721" y="729668"/>
                </a:lnTo>
                <a:lnTo>
                  <a:pt x="577764" y="716345"/>
                </a:lnTo>
                <a:lnTo>
                  <a:pt x="589612" y="711139"/>
                </a:lnTo>
                <a:lnTo>
                  <a:pt x="585736" y="702804"/>
                </a:lnTo>
                <a:lnTo>
                  <a:pt x="567395" y="710336"/>
                </a:lnTo>
                <a:lnTo>
                  <a:pt x="565428" y="705864"/>
                </a:lnTo>
                <a:lnTo>
                  <a:pt x="547284" y="704111"/>
                </a:lnTo>
                <a:lnTo>
                  <a:pt x="510826" y="726561"/>
                </a:lnTo>
                <a:lnTo>
                  <a:pt x="517090" y="740757"/>
                </a:lnTo>
                <a:lnTo>
                  <a:pt x="479507" y="747612"/>
                </a:lnTo>
                <a:lnTo>
                  <a:pt x="484220" y="758602"/>
                </a:lnTo>
                <a:lnTo>
                  <a:pt x="457083" y="763853"/>
                </a:lnTo>
                <a:lnTo>
                  <a:pt x="464138" y="776712"/>
                </a:lnTo>
                <a:lnTo>
                  <a:pt x="458469" y="778743"/>
                </a:lnTo>
                <a:lnTo>
                  <a:pt x="475920" y="776187"/>
                </a:lnTo>
                <a:lnTo>
                  <a:pt x="520102" y="754827"/>
                </a:lnTo>
                <a:lnTo>
                  <a:pt x="520506" y="762505"/>
                </a:lnTo>
                <a:lnTo>
                  <a:pt x="512141" y="764488"/>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7" name="2022 provincial petrol/diesel sales: MP"/>
          <p:cNvSpPr/>
          <p:nvPr/>
        </p:nvSpPr>
        <p:spPr>
          <a:xfrm>
            <a:off x="4447954" y="2817392"/>
            <a:ext cx="896564" cy="876875"/>
          </a:xfrm>
          <a:custGeom>
            <a:avLst/>
            <a:gdLst/>
            <a:ahLst/>
            <a:cxnLst/>
            <a:rect l="l" t="t" r="r" b="b"/>
            <a:pathLst>
              <a:path w="896564" h="876875">
                <a:moveTo>
                  <a:pt x="338721" y="859896"/>
                </a:moveTo>
                <a:lnTo>
                  <a:pt x="327756" y="863459"/>
                </a:lnTo>
                <a:lnTo>
                  <a:pt x="327855" y="874518"/>
                </a:lnTo>
                <a:lnTo>
                  <a:pt x="308947" y="876875"/>
                </a:lnTo>
                <a:lnTo>
                  <a:pt x="293159" y="857096"/>
                </a:lnTo>
                <a:lnTo>
                  <a:pt x="294735" y="848869"/>
                </a:lnTo>
                <a:lnTo>
                  <a:pt x="279308" y="838379"/>
                </a:lnTo>
                <a:lnTo>
                  <a:pt x="280433" y="830058"/>
                </a:lnTo>
                <a:lnTo>
                  <a:pt x="267835" y="810776"/>
                </a:lnTo>
                <a:lnTo>
                  <a:pt x="259421" y="807616"/>
                </a:lnTo>
                <a:lnTo>
                  <a:pt x="245605" y="812414"/>
                </a:lnTo>
                <a:lnTo>
                  <a:pt x="247000" y="798112"/>
                </a:lnTo>
                <a:lnTo>
                  <a:pt x="226861" y="793455"/>
                </a:lnTo>
                <a:lnTo>
                  <a:pt x="222153" y="781190"/>
                </a:lnTo>
                <a:lnTo>
                  <a:pt x="207447" y="780271"/>
                </a:lnTo>
                <a:lnTo>
                  <a:pt x="197484" y="787423"/>
                </a:lnTo>
                <a:lnTo>
                  <a:pt x="184264" y="763672"/>
                </a:lnTo>
                <a:lnTo>
                  <a:pt x="188645" y="759173"/>
                </a:lnTo>
                <a:lnTo>
                  <a:pt x="183686" y="744298"/>
                </a:lnTo>
                <a:lnTo>
                  <a:pt x="179098" y="750094"/>
                </a:lnTo>
                <a:lnTo>
                  <a:pt x="165286" y="740078"/>
                </a:lnTo>
                <a:lnTo>
                  <a:pt x="161648" y="745110"/>
                </a:lnTo>
                <a:lnTo>
                  <a:pt x="147726" y="745081"/>
                </a:lnTo>
                <a:lnTo>
                  <a:pt x="146223" y="756770"/>
                </a:lnTo>
                <a:lnTo>
                  <a:pt x="139468" y="747764"/>
                </a:lnTo>
                <a:lnTo>
                  <a:pt x="129294" y="751956"/>
                </a:lnTo>
                <a:lnTo>
                  <a:pt x="127451" y="743955"/>
                </a:lnTo>
                <a:lnTo>
                  <a:pt x="125057" y="748332"/>
                </a:lnTo>
                <a:lnTo>
                  <a:pt x="106269" y="732462"/>
                </a:lnTo>
                <a:lnTo>
                  <a:pt x="91424" y="727790"/>
                </a:lnTo>
                <a:lnTo>
                  <a:pt x="81855" y="737867"/>
                </a:lnTo>
                <a:lnTo>
                  <a:pt x="92927" y="738725"/>
                </a:lnTo>
                <a:lnTo>
                  <a:pt x="90667" y="745065"/>
                </a:lnTo>
                <a:lnTo>
                  <a:pt x="82488" y="741726"/>
                </a:lnTo>
                <a:lnTo>
                  <a:pt x="65148" y="756241"/>
                </a:lnTo>
                <a:lnTo>
                  <a:pt x="68803" y="749778"/>
                </a:lnTo>
                <a:lnTo>
                  <a:pt x="58526" y="740971"/>
                </a:lnTo>
                <a:lnTo>
                  <a:pt x="53054" y="726040"/>
                </a:lnTo>
                <a:lnTo>
                  <a:pt x="50460" y="734273"/>
                </a:lnTo>
                <a:lnTo>
                  <a:pt x="43513" y="729415"/>
                </a:lnTo>
                <a:lnTo>
                  <a:pt x="46762" y="733801"/>
                </a:lnTo>
                <a:lnTo>
                  <a:pt x="39017" y="741677"/>
                </a:lnTo>
                <a:lnTo>
                  <a:pt x="41601" y="735659"/>
                </a:lnTo>
                <a:lnTo>
                  <a:pt x="35225" y="721797"/>
                </a:lnTo>
                <a:lnTo>
                  <a:pt x="17950" y="724710"/>
                </a:lnTo>
                <a:lnTo>
                  <a:pt x="19404" y="718350"/>
                </a:lnTo>
                <a:lnTo>
                  <a:pt x="12775" y="722506"/>
                </a:lnTo>
                <a:lnTo>
                  <a:pt x="0" y="707804"/>
                </a:lnTo>
                <a:lnTo>
                  <a:pt x="9310" y="702837"/>
                </a:lnTo>
                <a:lnTo>
                  <a:pt x="14992" y="706842"/>
                </a:lnTo>
                <a:lnTo>
                  <a:pt x="17842" y="684726"/>
                </a:lnTo>
                <a:lnTo>
                  <a:pt x="38109" y="677371"/>
                </a:lnTo>
                <a:lnTo>
                  <a:pt x="32935" y="665924"/>
                </a:lnTo>
                <a:lnTo>
                  <a:pt x="37301" y="650062"/>
                </a:lnTo>
                <a:lnTo>
                  <a:pt x="58146" y="645613"/>
                </a:lnTo>
                <a:lnTo>
                  <a:pt x="57348" y="639010"/>
                </a:lnTo>
                <a:lnTo>
                  <a:pt x="67092" y="634440"/>
                </a:lnTo>
                <a:lnTo>
                  <a:pt x="67685" y="611836"/>
                </a:lnTo>
                <a:lnTo>
                  <a:pt x="92752" y="624115"/>
                </a:lnTo>
                <a:lnTo>
                  <a:pt x="93843" y="613982"/>
                </a:lnTo>
                <a:lnTo>
                  <a:pt x="121873" y="617510"/>
                </a:lnTo>
                <a:lnTo>
                  <a:pt x="128558" y="594294"/>
                </a:lnTo>
                <a:lnTo>
                  <a:pt x="145190" y="587687"/>
                </a:lnTo>
                <a:lnTo>
                  <a:pt x="132966" y="563769"/>
                </a:lnTo>
                <a:lnTo>
                  <a:pt x="110841" y="571947"/>
                </a:lnTo>
                <a:lnTo>
                  <a:pt x="92041" y="558895"/>
                </a:lnTo>
                <a:lnTo>
                  <a:pt x="91301" y="547603"/>
                </a:lnTo>
                <a:lnTo>
                  <a:pt x="70326" y="541083"/>
                </a:lnTo>
                <a:lnTo>
                  <a:pt x="71569" y="527545"/>
                </a:lnTo>
                <a:lnTo>
                  <a:pt x="61795" y="515536"/>
                </a:lnTo>
                <a:lnTo>
                  <a:pt x="67954" y="504167"/>
                </a:lnTo>
                <a:lnTo>
                  <a:pt x="65131" y="499623"/>
                </a:lnTo>
                <a:lnTo>
                  <a:pt x="73455" y="495774"/>
                </a:lnTo>
                <a:lnTo>
                  <a:pt x="82674" y="499057"/>
                </a:lnTo>
                <a:lnTo>
                  <a:pt x="85858" y="484544"/>
                </a:lnTo>
                <a:lnTo>
                  <a:pt x="95627" y="476726"/>
                </a:lnTo>
                <a:lnTo>
                  <a:pt x="125592" y="480778"/>
                </a:lnTo>
                <a:lnTo>
                  <a:pt x="128004" y="488680"/>
                </a:lnTo>
                <a:lnTo>
                  <a:pt x="149637" y="487670"/>
                </a:lnTo>
                <a:lnTo>
                  <a:pt x="155183" y="453155"/>
                </a:lnTo>
                <a:lnTo>
                  <a:pt x="166923" y="457935"/>
                </a:lnTo>
                <a:lnTo>
                  <a:pt x="167435" y="441234"/>
                </a:lnTo>
                <a:lnTo>
                  <a:pt x="178051" y="420925"/>
                </a:lnTo>
                <a:lnTo>
                  <a:pt x="171074" y="417049"/>
                </a:lnTo>
                <a:lnTo>
                  <a:pt x="175710" y="403140"/>
                </a:lnTo>
                <a:lnTo>
                  <a:pt x="198136" y="395978"/>
                </a:lnTo>
                <a:lnTo>
                  <a:pt x="191745" y="375551"/>
                </a:lnTo>
                <a:lnTo>
                  <a:pt x="206814" y="369490"/>
                </a:lnTo>
                <a:lnTo>
                  <a:pt x="202895" y="358334"/>
                </a:lnTo>
                <a:lnTo>
                  <a:pt x="197702" y="366500"/>
                </a:lnTo>
                <a:lnTo>
                  <a:pt x="187380" y="362565"/>
                </a:lnTo>
                <a:lnTo>
                  <a:pt x="180954" y="369265"/>
                </a:lnTo>
                <a:lnTo>
                  <a:pt x="185512" y="378100"/>
                </a:lnTo>
                <a:lnTo>
                  <a:pt x="171126" y="384189"/>
                </a:lnTo>
                <a:lnTo>
                  <a:pt x="163266" y="364667"/>
                </a:lnTo>
                <a:lnTo>
                  <a:pt x="150901" y="375681"/>
                </a:lnTo>
                <a:lnTo>
                  <a:pt x="154898" y="365065"/>
                </a:lnTo>
                <a:lnTo>
                  <a:pt x="149922" y="358449"/>
                </a:lnTo>
                <a:lnTo>
                  <a:pt x="136930" y="368332"/>
                </a:lnTo>
                <a:lnTo>
                  <a:pt x="139356" y="376389"/>
                </a:lnTo>
                <a:lnTo>
                  <a:pt x="147419" y="374900"/>
                </a:lnTo>
                <a:lnTo>
                  <a:pt x="153524" y="394324"/>
                </a:lnTo>
                <a:lnTo>
                  <a:pt x="152784" y="398518"/>
                </a:lnTo>
                <a:lnTo>
                  <a:pt x="139514" y="394240"/>
                </a:lnTo>
                <a:lnTo>
                  <a:pt x="147423" y="404563"/>
                </a:lnTo>
                <a:lnTo>
                  <a:pt x="126474" y="409910"/>
                </a:lnTo>
                <a:lnTo>
                  <a:pt x="129019" y="394924"/>
                </a:lnTo>
                <a:lnTo>
                  <a:pt x="119303" y="390736"/>
                </a:lnTo>
                <a:lnTo>
                  <a:pt x="115436" y="403674"/>
                </a:lnTo>
                <a:lnTo>
                  <a:pt x="109698" y="401597"/>
                </a:lnTo>
                <a:lnTo>
                  <a:pt x="97513" y="364347"/>
                </a:lnTo>
                <a:lnTo>
                  <a:pt x="96775" y="333700"/>
                </a:lnTo>
                <a:lnTo>
                  <a:pt x="101345" y="329383"/>
                </a:lnTo>
                <a:lnTo>
                  <a:pt x="97979" y="313856"/>
                </a:lnTo>
                <a:lnTo>
                  <a:pt x="125483" y="303147"/>
                </a:lnTo>
                <a:lnTo>
                  <a:pt x="131617" y="286090"/>
                </a:lnTo>
                <a:lnTo>
                  <a:pt x="136375" y="288172"/>
                </a:lnTo>
                <a:lnTo>
                  <a:pt x="127960" y="257472"/>
                </a:lnTo>
                <a:lnTo>
                  <a:pt x="106080" y="265323"/>
                </a:lnTo>
                <a:lnTo>
                  <a:pt x="105676" y="257645"/>
                </a:lnTo>
                <a:lnTo>
                  <a:pt x="61494" y="279005"/>
                </a:lnTo>
                <a:lnTo>
                  <a:pt x="44043" y="281561"/>
                </a:lnTo>
                <a:lnTo>
                  <a:pt x="49712" y="279530"/>
                </a:lnTo>
                <a:lnTo>
                  <a:pt x="42657" y="266671"/>
                </a:lnTo>
                <a:lnTo>
                  <a:pt x="69794" y="261420"/>
                </a:lnTo>
                <a:lnTo>
                  <a:pt x="65081" y="250430"/>
                </a:lnTo>
                <a:lnTo>
                  <a:pt x="102664" y="243575"/>
                </a:lnTo>
                <a:lnTo>
                  <a:pt x="96400" y="229379"/>
                </a:lnTo>
                <a:lnTo>
                  <a:pt x="132858" y="206929"/>
                </a:lnTo>
                <a:lnTo>
                  <a:pt x="151002" y="208682"/>
                </a:lnTo>
                <a:lnTo>
                  <a:pt x="152969" y="213154"/>
                </a:lnTo>
                <a:lnTo>
                  <a:pt x="171310" y="205622"/>
                </a:lnTo>
                <a:lnTo>
                  <a:pt x="175186" y="213957"/>
                </a:lnTo>
                <a:lnTo>
                  <a:pt x="163338" y="219163"/>
                </a:lnTo>
                <a:lnTo>
                  <a:pt x="167295" y="232486"/>
                </a:lnTo>
                <a:lnTo>
                  <a:pt x="173082" y="230861"/>
                </a:lnTo>
                <a:lnTo>
                  <a:pt x="181103" y="249063"/>
                </a:lnTo>
                <a:lnTo>
                  <a:pt x="204167" y="248615"/>
                </a:lnTo>
                <a:lnTo>
                  <a:pt x="207963" y="258499"/>
                </a:lnTo>
                <a:lnTo>
                  <a:pt x="217224" y="261219"/>
                </a:lnTo>
                <a:lnTo>
                  <a:pt x="207964" y="269964"/>
                </a:lnTo>
                <a:lnTo>
                  <a:pt x="197021" y="267567"/>
                </a:lnTo>
                <a:lnTo>
                  <a:pt x="193666" y="295688"/>
                </a:lnTo>
                <a:lnTo>
                  <a:pt x="194997" y="302271"/>
                </a:lnTo>
                <a:lnTo>
                  <a:pt x="206908" y="305977"/>
                </a:lnTo>
                <a:lnTo>
                  <a:pt x="207980" y="314141"/>
                </a:lnTo>
                <a:lnTo>
                  <a:pt x="224628" y="310146"/>
                </a:lnTo>
                <a:lnTo>
                  <a:pt x="223549" y="323184"/>
                </a:lnTo>
                <a:lnTo>
                  <a:pt x="215632" y="332062"/>
                </a:lnTo>
                <a:lnTo>
                  <a:pt x="230749" y="327472"/>
                </a:lnTo>
                <a:lnTo>
                  <a:pt x="233082" y="338882"/>
                </a:lnTo>
                <a:lnTo>
                  <a:pt x="246657" y="329349"/>
                </a:lnTo>
                <a:lnTo>
                  <a:pt x="264708" y="329373"/>
                </a:lnTo>
                <a:lnTo>
                  <a:pt x="266254" y="337504"/>
                </a:lnTo>
                <a:lnTo>
                  <a:pt x="305267" y="343564"/>
                </a:lnTo>
                <a:lnTo>
                  <a:pt x="306307" y="339061"/>
                </a:lnTo>
                <a:lnTo>
                  <a:pt x="327262" y="338712"/>
                </a:lnTo>
                <a:lnTo>
                  <a:pt x="341691" y="331982"/>
                </a:lnTo>
                <a:lnTo>
                  <a:pt x="363776" y="340351"/>
                </a:lnTo>
                <a:lnTo>
                  <a:pt x="369473" y="330475"/>
                </a:lnTo>
                <a:lnTo>
                  <a:pt x="375791" y="329907"/>
                </a:lnTo>
                <a:lnTo>
                  <a:pt x="380171" y="337104"/>
                </a:lnTo>
                <a:lnTo>
                  <a:pt x="391402" y="331927"/>
                </a:lnTo>
                <a:lnTo>
                  <a:pt x="391678" y="325347"/>
                </a:lnTo>
                <a:lnTo>
                  <a:pt x="419110" y="326909"/>
                </a:lnTo>
                <a:lnTo>
                  <a:pt x="420853" y="276837"/>
                </a:lnTo>
                <a:lnTo>
                  <a:pt x="415213" y="263235"/>
                </a:lnTo>
                <a:lnTo>
                  <a:pt x="427121" y="261790"/>
                </a:lnTo>
                <a:lnTo>
                  <a:pt x="427329" y="256568"/>
                </a:lnTo>
                <a:lnTo>
                  <a:pt x="440899" y="272833"/>
                </a:lnTo>
                <a:lnTo>
                  <a:pt x="453362" y="272917"/>
                </a:lnTo>
                <a:lnTo>
                  <a:pt x="455241" y="249597"/>
                </a:lnTo>
                <a:lnTo>
                  <a:pt x="466866" y="251115"/>
                </a:lnTo>
                <a:lnTo>
                  <a:pt x="461158" y="238797"/>
                </a:lnTo>
                <a:lnTo>
                  <a:pt x="467145" y="204840"/>
                </a:lnTo>
                <a:lnTo>
                  <a:pt x="491551" y="209024"/>
                </a:lnTo>
                <a:lnTo>
                  <a:pt x="493873" y="213554"/>
                </a:lnTo>
                <a:lnTo>
                  <a:pt x="504335" y="213599"/>
                </a:lnTo>
                <a:lnTo>
                  <a:pt x="504992" y="204884"/>
                </a:lnTo>
                <a:lnTo>
                  <a:pt x="514612" y="210923"/>
                </a:lnTo>
                <a:lnTo>
                  <a:pt x="513276" y="205288"/>
                </a:lnTo>
                <a:lnTo>
                  <a:pt x="521448" y="207035"/>
                </a:lnTo>
                <a:lnTo>
                  <a:pt x="536501" y="232892"/>
                </a:lnTo>
                <a:lnTo>
                  <a:pt x="537401" y="223066"/>
                </a:lnTo>
                <a:lnTo>
                  <a:pt x="553096" y="219101"/>
                </a:lnTo>
                <a:lnTo>
                  <a:pt x="557131" y="224519"/>
                </a:lnTo>
                <a:lnTo>
                  <a:pt x="557173" y="216960"/>
                </a:lnTo>
                <a:lnTo>
                  <a:pt x="575755" y="198442"/>
                </a:lnTo>
                <a:lnTo>
                  <a:pt x="578032" y="189057"/>
                </a:lnTo>
                <a:lnTo>
                  <a:pt x="571100" y="184614"/>
                </a:lnTo>
                <a:lnTo>
                  <a:pt x="572041" y="178407"/>
                </a:lnTo>
                <a:lnTo>
                  <a:pt x="581804" y="179301"/>
                </a:lnTo>
                <a:lnTo>
                  <a:pt x="591824" y="171941"/>
                </a:lnTo>
                <a:lnTo>
                  <a:pt x="583194" y="150664"/>
                </a:lnTo>
                <a:lnTo>
                  <a:pt x="588811" y="141389"/>
                </a:lnTo>
                <a:lnTo>
                  <a:pt x="595278" y="147402"/>
                </a:lnTo>
                <a:lnTo>
                  <a:pt x="596465" y="119246"/>
                </a:lnTo>
                <a:lnTo>
                  <a:pt x="603617" y="109784"/>
                </a:lnTo>
                <a:lnTo>
                  <a:pt x="629068" y="131023"/>
                </a:lnTo>
                <a:lnTo>
                  <a:pt x="648554" y="127554"/>
                </a:lnTo>
                <a:lnTo>
                  <a:pt x="649020" y="143137"/>
                </a:lnTo>
                <a:lnTo>
                  <a:pt x="711604" y="139571"/>
                </a:lnTo>
                <a:lnTo>
                  <a:pt x="718703" y="125367"/>
                </a:lnTo>
                <a:lnTo>
                  <a:pt x="707799" y="106212"/>
                </a:lnTo>
                <a:lnTo>
                  <a:pt x="697556" y="108500"/>
                </a:lnTo>
                <a:lnTo>
                  <a:pt x="698293" y="92707"/>
                </a:lnTo>
                <a:lnTo>
                  <a:pt x="717594" y="91084"/>
                </a:lnTo>
                <a:lnTo>
                  <a:pt x="708504" y="75142"/>
                </a:lnTo>
                <a:lnTo>
                  <a:pt x="674620" y="77790"/>
                </a:lnTo>
                <a:lnTo>
                  <a:pt x="674758" y="43354"/>
                </a:lnTo>
                <a:lnTo>
                  <a:pt x="688664" y="33395"/>
                </a:lnTo>
                <a:lnTo>
                  <a:pt x="686390" y="26022"/>
                </a:lnTo>
                <a:lnTo>
                  <a:pt x="690808" y="26714"/>
                </a:lnTo>
                <a:lnTo>
                  <a:pt x="692427" y="19385"/>
                </a:lnTo>
                <a:lnTo>
                  <a:pt x="681161" y="17054"/>
                </a:lnTo>
                <a:lnTo>
                  <a:pt x="698879" y="14439"/>
                </a:lnTo>
                <a:lnTo>
                  <a:pt x="710186" y="5115"/>
                </a:lnTo>
                <a:lnTo>
                  <a:pt x="724319" y="23748"/>
                </a:lnTo>
                <a:lnTo>
                  <a:pt x="753456" y="12750"/>
                </a:lnTo>
                <a:lnTo>
                  <a:pt x="757934" y="16899"/>
                </a:lnTo>
                <a:lnTo>
                  <a:pt x="769905" y="5329"/>
                </a:lnTo>
                <a:lnTo>
                  <a:pt x="788541" y="15719"/>
                </a:lnTo>
                <a:lnTo>
                  <a:pt x="798008" y="10180"/>
                </a:lnTo>
                <a:lnTo>
                  <a:pt x="804721" y="16491"/>
                </a:lnTo>
                <a:lnTo>
                  <a:pt x="810468" y="8332"/>
                </a:lnTo>
                <a:lnTo>
                  <a:pt x="819584" y="6478"/>
                </a:lnTo>
                <a:lnTo>
                  <a:pt x="828984" y="18722"/>
                </a:lnTo>
                <a:lnTo>
                  <a:pt x="837102" y="15621"/>
                </a:lnTo>
                <a:lnTo>
                  <a:pt x="837337" y="6738"/>
                </a:lnTo>
                <a:lnTo>
                  <a:pt x="845915" y="0"/>
                </a:lnTo>
                <a:lnTo>
                  <a:pt x="855683" y="4666"/>
                </a:lnTo>
                <a:lnTo>
                  <a:pt x="872581" y="1836"/>
                </a:lnTo>
                <a:lnTo>
                  <a:pt x="875641" y="52673"/>
                </a:lnTo>
                <a:lnTo>
                  <a:pt x="892549" y="84305"/>
                </a:lnTo>
                <a:lnTo>
                  <a:pt x="896564" y="123570"/>
                </a:lnTo>
                <a:lnTo>
                  <a:pt x="889922" y="183433"/>
                </a:lnTo>
                <a:lnTo>
                  <a:pt x="891006" y="309909"/>
                </a:lnTo>
                <a:lnTo>
                  <a:pt x="884377" y="360630"/>
                </a:lnTo>
                <a:lnTo>
                  <a:pt x="874332" y="383680"/>
                </a:lnTo>
                <a:lnTo>
                  <a:pt x="878604" y="427626"/>
                </a:lnTo>
                <a:lnTo>
                  <a:pt x="858443" y="476598"/>
                </a:lnTo>
                <a:lnTo>
                  <a:pt x="866827" y="505897"/>
                </a:lnTo>
                <a:lnTo>
                  <a:pt x="841795" y="516363"/>
                </a:lnTo>
                <a:lnTo>
                  <a:pt x="741335" y="438901"/>
                </a:lnTo>
                <a:lnTo>
                  <a:pt x="717840" y="443891"/>
                </a:lnTo>
                <a:lnTo>
                  <a:pt x="671908" y="487165"/>
                </a:lnTo>
                <a:lnTo>
                  <a:pt x="629726" y="572304"/>
                </a:lnTo>
                <a:lnTo>
                  <a:pt x="613016" y="586622"/>
                </a:lnTo>
                <a:lnTo>
                  <a:pt x="591340" y="622934"/>
                </a:lnTo>
                <a:lnTo>
                  <a:pt x="585169" y="685554"/>
                </a:lnTo>
                <a:lnTo>
                  <a:pt x="588592" y="719331"/>
                </a:lnTo>
                <a:lnTo>
                  <a:pt x="607461" y="705275"/>
                </a:lnTo>
                <a:lnTo>
                  <a:pt x="610107" y="724586"/>
                </a:lnTo>
                <a:lnTo>
                  <a:pt x="624650" y="737672"/>
                </a:lnTo>
                <a:lnTo>
                  <a:pt x="620138" y="758950"/>
                </a:lnTo>
                <a:lnTo>
                  <a:pt x="625627" y="770714"/>
                </a:lnTo>
                <a:lnTo>
                  <a:pt x="661405" y="814826"/>
                </a:lnTo>
                <a:lnTo>
                  <a:pt x="689103" y="826789"/>
                </a:lnTo>
                <a:lnTo>
                  <a:pt x="662772" y="857551"/>
                </a:lnTo>
                <a:lnTo>
                  <a:pt x="647983" y="846862"/>
                </a:lnTo>
                <a:lnTo>
                  <a:pt x="611836" y="854875"/>
                </a:lnTo>
                <a:lnTo>
                  <a:pt x="608044" y="838531"/>
                </a:lnTo>
                <a:lnTo>
                  <a:pt x="595131" y="839850"/>
                </a:lnTo>
                <a:lnTo>
                  <a:pt x="592862" y="847587"/>
                </a:lnTo>
                <a:lnTo>
                  <a:pt x="584699" y="849973"/>
                </a:lnTo>
                <a:lnTo>
                  <a:pt x="577584" y="839032"/>
                </a:lnTo>
                <a:lnTo>
                  <a:pt x="573335" y="842304"/>
                </a:lnTo>
                <a:lnTo>
                  <a:pt x="561706" y="830839"/>
                </a:lnTo>
                <a:lnTo>
                  <a:pt x="531451" y="839481"/>
                </a:lnTo>
                <a:lnTo>
                  <a:pt x="511140" y="835808"/>
                </a:lnTo>
                <a:lnTo>
                  <a:pt x="499762" y="839219"/>
                </a:lnTo>
                <a:lnTo>
                  <a:pt x="494824" y="835722"/>
                </a:lnTo>
                <a:lnTo>
                  <a:pt x="495439" y="824190"/>
                </a:lnTo>
                <a:lnTo>
                  <a:pt x="482046" y="822974"/>
                </a:lnTo>
                <a:lnTo>
                  <a:pt x="481348" y="834279"/>
                </a:lnTo>
                <a:lnTo>
                  <a:pt x="462116" y="834131"/>
                </a:lnTo>
                <a:lnTo>
                  <a:pt x="460939" y="847948"/>
                </a:lnTo>
                <a:lnTo>
                  <a:pt x="450492" y="850603"/>
                </a:lnTo>
                <a:lnTo>
                  <a:pt x="442430" y="843707"/>
                </a:lnTo>
                <a:lnTo>
                  <a:pt x="429348" y="858052"/>
                </a:lnTo>
                <a:lnTo>
                  <a:pt x="416929" y="846026"/>
                </a:lnTo>
                <a:lnTo>
                  <a:pt x="400540" y="852786"/>
                </a:lnTo>
                <a:lnTo>
                  <a:pt x="378416" y="840814"/>
                </a:lnTo>
                <a:lnTo>
                  <a:pt x="373902" y="848670"/>
                </a:lnTo>
                <a:lnTo>
                  <a:pt x="360608" y="846385"/>
                </a:lnTo>
                <a:lnTo>
                  <a:pt x="349805" y="866105"/>
                </a:lnTo>
                <a:lnTo>
                  <a:pt x="338721" y="859896"/>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8" name="2022 provincial petrol/diesel sales: NW"/>
          <p:cNvSpPr/>
          <p:nvPr/>
        </p:nvSpPr>
        <p:spPr>
          <a:xfrm>
            <a:off x="3157044" y="2942563"/>
            <a:ext cx="1313825" cy="886727"/>
          </a:xfrm>
          <a:custGeom>
            <a:avLst/>
            <a:gdLst/>
            <a:ahLst/>
            <a:cxnLst/>
            <a:rect l="l" t="t" r="r" b="b"/>
            <a:pathLst>
              <a:path w="1313825" h="886727">
                <a:moveTo>
                  <a:pt x="1144938" y="529907"/>
                </a:moveTo>
                <a:lnTo>
                  <a:pt x="1138230" y="551828"/>
                </a:lnTo>
                <a:lnTo>
                  <a:pt x="1123004" y="553313"/>
                </a:lnTo>
                <a:lnTo>
                  <a:pt x="1123140" y="566629"/>
                </a:lnTo>
                <a:lnTo>
                  <a:pt x="1100495" y="588626"/>
                </a:lnTo>
                <a:lnTo>
                  <a:pt x="1082166" y="569994"/>
                </a:lnTo>
                <a:lnTo>
                  <a:pt x="1076000" y="569661"/>
                </a:lnTo>
                <a:lnTo>
                  <a:pt x="1051903" y="601718"/>
                </a:lnTo>
                <a:lnTo>
                  <a:pt x="1045248" y="598523"/>
                </a:lnTo>
                <a:lnTo>
                  <a:pt x="1045993" y="587390"/>
                </a:lnTo>
                <a:lnTo>
                  <a:pt x="1038370" y="591609"/>
                </a:lnTo>
                <a:lnTo>
                  <a:pt x="1031461" y="587500"/>
                </a:lnTo>
                <a:lnTo>
                  <a:pt x="1011983" y="589621"/>
                </a:lnTo>
                <a:lnTo>
                  <a:pt x="992122" y="572815"/>
                </a:lnTo>
                <a:lnTo>
                  <a:pt x="987057" y="598817"/>
                </a:lnTo>
                <a:lnTo>
                  <a:pt x="974310" y="584659"/>
                </a:lnTo>
                <a:lnTo>
                  <a:pt x="966654" y="592328"/>
                </a:lnTo>
                <a:lnTo>
                  <a:pt x="960862" y="587802"/>
                </a:lnTo>
                <a:lnTo>
                  <a:pt x="940196" y="598224"/>
                </a:lnTo>
                <a:lnTo>
                  <a:pt x="933913" y="609406"/>
                </a:lnTo>
                <a:lnTo>
                  <a:pt x="929421" y="603366"/>
                </a:lnTo>
                <a:lnTo>
                  <a:pt x="918064" y="605454"/>
                </a:lnTo>
                <a:lnTo>
                  <a:pt x="909321" y="618053"/>
                </a:lnTo>
                <a:lnTo>
                  <a:pt x="909538" y="632093"/>
                </a:lnTo>
                <a:lnTo>
                  <a:pt x="897031" y="627580"/>
                </a:lnTo>
                <a:lnTo>
                  <a:pt x="884125" y="643566"/>
                </a:lnTo>
                <a:lnTo>
                  <a:pt x="874041" y="642445"/>
                </a:lnTo>
                <a:lnTo>
                  <a:pt x="871966" y="647064"/>
                </a:lnTo>
                <a:lnTo>
                  <a:pt x="889289" y="672684"/>
                </a:lnTo>
                <a:lnTo>
                  <a:pt x="888258" y="685797"/>
                </a:lnTo>
                <a:lnTo>
                  <a:pt x="884205" y="682985"/>
                </a:lnTo>
                <a:lnTo>
                  <a:pt x="877437" y="693484"/>
                </a:lnTo>
                <a:lnTo>
                  <a:pt x="892070" y="705326"/>
                </a:lnTo>
                <a:lnTo>
                  <a:pt x="878582" y="702718"/>
                </a:lnTo>
                <a:lnTo>
                  <a:pt x="871944" y="708039"/>
                </a:lnTo>
                <a:lnTo>
                  <a:pt x="854341" y="702334"/>
                </a:lnTo>
                <a:lnTo>
                  <a:pt x="849287" y="714444"/>
                </a:lnTo>
                <a:lnTo>
                  <a:pt x="842824" y="709991"/>
                </a:lnTo>
                <a:lnTo>
                  <a:pt x="830620" y="713862"/>
                </a:lnTo>
                <a:lnTo>
                  <a:pt x="827382" y="734468"/>
                </a:lnTo>
                <a:lnTo>
                  <a:pt x="794198" y="755449"/>
                </a:lnTo>
                <a:lnTo>
                  <a:pt x="794521" y="768889"/>
                </a:lnTo>
                <a:lnTo>
                  <a:pt x="787302" y="774241"/>
                </a:lnTo>
                <a:lnTo>
                  <a:pt x="796394" y="779661"/>
                </a:lnTo>
                <a:lnTo>
                  <a:pt x="789748" y="786928"/>
                </a:lnTo>
                <a:lnTo>
                  <a:pt x="780673" y="790937"/>
                </a:lnTo>
                <a:lnTo>
                  <a:pt x="770813" y="763366"/>
                </a:lnTo>
                <a:lnTo>
                  <a:pt x="762931" y="764761"/>
                </a:lnTo>
                <a:lnTo>
                  <a:pt x="757748" y="757192"/>
                </a:lnTo>
                <a:lnTo>
                  <a:pt x="742622" y="762276"/>
                </a:lnTo>
                <a:lnTo>
                  <a:pt x="735729" y="747640"/>
                </a:lnTo>
                <a:lnTo>
                  <a:pt x="701796" y="763513"/>
                </a:lnTo>
                <a:lnTo>
                  <a:pt x="698496" y="779913"/>
                </a:lnTo>
                <a:lnTo>
                  <a:pt x="681698" y="769935"/>
                </a:lnTo>
                <a:lnTo>
                  <a:pt x="673713" y="777948"/>
                </a:lnTo>
                <a:lnTo>
                  <a:pt x="636958" y="788547"/>
                </a:lnTo>
                <a:lnTo>
                  <a:pt x="624604" y="804945"/>
                </a:lnTo>
                <a:lnTo>
                  <a:pt x="609741" y="805766"/>
                </a:lnTo>
                <a:lnTo>
                  <a:pt x="601381" y="815483"/>
                </a:lnTo>
                <a:lnTo>
                  <a:pt x="604943" y="823338"/>
                </a:lnTo>
                <a:lnTo>
                  <a:pt x="577519" y="838684"/>
                </a:lnTo>
                <a:lnTo>
                  <a:pt x="567757" y="853700"/>
                </a:lnTo>
                <a:lnTo>
                  <a:pt x="571574" y="860835"/>
                </a:lnTo>
                <a:lnTo>
                  <a:pt x="563947" y="874635"/>
                </a:lnTo>
                <a:lnTo>
                  <a:pt x="541155" y="878496"/>
                </a:lnTo>
                <a:lnTo>
                  <a:pt x="535991" y="886727"/>
                </a:lnTo>
                <a:lnTo>
                  <a:pt x="508545" y="840234"/>
                </a:lnTo>
                <a:lnTo>
                  <a:pt x="514811" y="838702"/>
                </a:lnTo>
                <a:lnTo>
                  <a:pt x="512417" y="835089"/>
                </a:lnTo>
                <a:lnTo>
                  <a:pt x="558095" y="781002"/>
                </a:lnTo>
                <a:lnTo>
                  <a:pt x="547127" y="776165"/>
                </a:lnTo>
                <a:lnTo>
                  <a:pt x="501937" y="781559"/>
                </a:lnTo>
                <a:lnTo>
                  <a:pt x="498061" y="756728"/>
                </a:lnTo>
                <a:lnTo>
                  <a:pt x="491787" y="758006"/>
                </a:lnTo>
                <a:lnTo>
                  <a:pt x="493002" y="764050"/>
                </a:lnTo>
                <a:lnTo>
                  <a:pt x="477122" y="767150"/>
                </a:lnTo>
                <a:lnTo>
                  <a:pt x="473922" y="772706"/>
                </a:lnTo>
                <a:lnTo>
                  <a:pt x="477506" y="790271"/>
                </a:lnTo>
                <a:lnTo>
                  <a:pt x="469569" y="804429"/>
                </a:lnTo>
                <a:lnTo>
                  <a:pt x="478278" y="818886"/>
                </a:lnTo>
                <a:lnTo>
                  <a:pt x="469531" y="820214"/>
                </a:lnTo>
                <a:lnTo>
                  <a:pt x="463149" y="833084"/>
                </a:lnTo>
                <a:lnTo>
                  <a:pt x="457932" y="831950"/>
                </a:lnTo>
                <a:lnTo>
                  <a:pt x="462832" y="857786"/>
                </a:lnTo>
                <a:lnTo>
                  <a:pt x="458454" y="864891"/>
                </a:lnTo>
                <a:lnTo>
                  <a:pt x="447237" y="867879"/>
                </a:lnTo>
                <a:lnTo>
                  <a:pt x="448223" y="875866"/>
                </a:lnTo>
                <a:lnTo>
                  <a:pt x="441654" y="881534"/>
                </a:lnTo>
                <a:lnTo>
                  <a:pt x="421158" y="866228"/>
                </a:lnTo>
                <a:lnTo>
                  <a:pt x="426260" y="853076"/>
                </a:lnTo>
                <a:lnTo>
                  <a:pt x="413172" y="838493"/>
                </a:lnTo>
                <a:lnTo>
                  <a:pt x="409250" y="843180"/>
                </a:lnTo>
                <a:lnTo>
                  <a:pt x="401914" y="835321"/>
                </a:lnTo>
                <a:lnTo>
                  <a:pt x="422688" y="802455"/>
                </a:lnTo>
                <a:lnTo>
                  <a:pt x="412718" y="797020"/>
                </a:lnTo>
                <a:lnTo>
                  <a:pt x="421276" y="782085"/>
                </a:lnTo>
                <a:lnTo>
                  <a:pt x="411809" y="776590"/>
                </a:lnTo>
                <a:lnTo>
                  <a:pt x="344929" y="791782"/>
                </a:lnTo>
                <a:lnTo>
                  <a:pt x="340846" y="783101"/>
                </a:lnTo>
                <a:lnTo>
                  <a:pt x="346446" y="761793"/>
                </a:lnTo>
                <a:lnTo>
                  <a:pt x="330919" y="757050"/>
                </a:lnTo>
                <a:lnTo>
                  <a:pt x="330515" y="745765"/>
                </a:lnTo>
                <a:lnTo>
                  <a:pt x="338568" y="693263"/>
                </a:lnTo>
                <a:lnTo>
                  <a:pt x="295004" y="667847"/>
                </a:lnTo>
                <a:lnTo>
                  <a:pt x="312823" y="623379"/>
                </a:lnTo>
                <a:lnTo>
                  <a:pt x="326825" y="616706"/>
                </a:lnTo>
                <a:lnTo>
                  <a:pt x="311131" y="576058"/>
                </a:lnTo>
                <a:lnTo>
                  <a:pt x="298790" y="566878"/>
                </a:lnTo>
                <a:lnTo>
                  <a:pt x="287919" y="566691"/>
                </a:lnTo>
                <a:lnTo>
                  <a:pt x="284266" y="575262"/>
                </a:lnTo>
                <a:lnTo>
                  <a:pt x="199870" y="537732"/>
                </a:lnTo>
                <a:lnTo>
                  <a:pt x="221696" y="506135"/>
                </a:lnTo>
                <a:lnTo>
                  <a:pt x="193669" y="484475"/>
                </a:lnTo>
                <a:lnTo>
                  <a:pt x="148306" y="473407"/>
                </a:lnTo>
                <a:lnTo>
                  <a:pt x="151396" y="436056"/>
                </a:lnTo>
                <a:lnTo>
                  <a:pt x="137258" y="418826"/>
                </a:lnTo>
                <a:lnTo>
                  <a:pt x="157387" y="385454"/>
                </a:lnTo>
                <a:lnTo>
                  <a:pt x="135334" y="379093"/>
                </a:lnTo>
                <a:lnTo>
                  <a:pt x="138879" y="362927"/>
                </a:lnTo>
                <a:lnTo>
                  <a:pt x="167114" y="371934"/>
                </a:lnTo>
                <a:lnTo>
                  <a:pt x="174573" y="350537"/>
                </a:lnTo>
                <a:lnTo>
                  <a:pt x="105070" y="345512"/>
                </a:lnTo>
                <a:lnTo>
                  <a:pt x="100413" y="375366"/>
                </a:lnTo>
                <a:lnTo>
                  <a:pt x="82427" y="373337"/>
                </a:lnTo>
                <a:lnTo>
                  <a:pt x="81322" y="389353"/>
                </a:lnTo>
                <a:lnTo>
                  <a:pt x="64200" y="387945"/>
                </a:lnTo>
                <a:lnTo>
                  <a:pt x="51671" y="446956"/>
                </a:lnTo>
                <a:lnTo>
                  <a:pt x="41594" y="467028"/>
                </a:lnTo>
                <a:lnTo>
                  <a:pt x="19681" y="456498"/>
                </a:lnTo>
                <a:lnTo>
                  <a:pt x="16984" y="382133"/>
                </a:lnTo>
                <a:lnTo>
                  <a:pt x="327" y="383151"/>
                </a:lnTo>
                <a:lnTo>
                  <a:pt x="0" y="376536"/>
                </a:lnTo>
                <a:lnTo>
                  <a:pt x="9877" y="370462"/>
                </a:lnTo>
                <a:lnTo>
                  <a:pt x="8532" y="355384"/>
                </a:lnTo>
                <a:lnTo>
                  <a:pt x="21732" y="354858"/>
                </a:lnTo>
                <a:lnTo>
                  <a:pt x="21045" y="338658"/>
                </a:lnTo>
                <a:lnTo>
                  <a:pt x="26757" y="330348"/>
                </a:lnTo>
                <a:lnTo>
                  <a:pt x="18041" y="324109"/>
                </a:lnTo>
                <a:lnTo>
                  <a:pt x="33853" y="306293"/>
                </a:lnTo>
                <a:lnTo>
                  <a:pt x="22805" y="298636"/>
                </a:lnTo>
                <a:lnTo>
                  <a:pt x="28511" y="297252"/>
                </a:lnTo>
                <a:lnTo>
                  <a:pt x="30575" y="282946"/>
                </a:lnTo>
                <a:lnTo>
                  <a:pt x="42469" y="271900"/>
                </a:lnTo>
                <a:lnTo>
                  <a:pt x="44350" y="263508"/>
                </a:lnTo>
                <a:lnTo>
                  <a:pt x="37338" y="257244"/>
                </a:lnTo>
                <a:lnTo>
                  <a:pt x="49534" y="252528"/>
                </a:lnTo>
                <a:lnTo>
                  <a:pt x="40283" y="244321"/>
                </a:lnTo>
                <a:lnTo>
                  <a:pt x="49214" y="231661"/>
                </a:lnTo>
                <a:lnTo>
                  <a:pt x="47378" y="220616"/>
                </a:lnTo>
                <a:lnTo>
                  <a:pt x="59910" y="219550"/>
                </a:lnTo>
                <a:lnTo>
                  <a:pt x="56422" y="214892"/>
                </a:lnTo>
                <a:lnTo>
                  <a:pt x="62376" y="202210"/>
                </a:lnTo>
                <a:lnTo>
                  <a:pt x="75628" y="192267"/>
                </a:lnTo>
                <a:lnTo>
                  <a:pt x="77307" y="181689"/>
                </a:lnTo>
                <a:lnTo>
                  <a:pt x="85047" y="180540"/>
                </a:lnTo>
                <a:lnTo>
                  <a:pt x="84088" y="170934"/>
                </a:lnTo>
                <a:lnTo>
                  <a:pt x="89630" y="174580"/>
                </a:lnTo>
                <a:lnTo>
                  <a:pt x="94874" y="168532"/>
                </a:lnTo>
                <a:lnTo>
                  <a:pt x="100282" y="179320"/>
                </a:lnTo>
                <a:lnTo>
                  <a:pt x="131461" y="163867"/>
                </a:lnTo>
                <a:lnTo>
                  <a:pt x="146814" y="163820"/>
                </a:lnTo>
                <a:lnTo>
                  <a:pt x="150824" y="168872"/>
                </a:lnTo>
                <a:lnTo>
                  <a:pt x="164867" y="166393"/>
                </a:lnTo>
                <a:lnTo>
                  <a:pt x="178621" y="174046"/>
                </a:lnTo>
                <a:lnTo>
                  <a:pt x="184993" y="164042"/>
                </a:lnTo>
                <a:lnTo>
                  <a:pt x="190736" y="164008"/>
                </a:lnTo>
                <a:lnTo>
                  <a:pt x="188755" y="169302"/>
                </a:lnTo>
                <a:lnTo>
                  <a:pt x="197225" y="174361"/>
                </a:lnTo>
                <a:lnTo>
                  <a:pt x="197757" y="182945"/>
                </a:lnTo>
                <a:lnTo>
                  <a:pt x="212498" y="183557"/>
                </a:lnTo>
                <a:lnTo>
                  <a:pt x="219520" y="194157"/>
                </a:lnTo>
                <a:lnTo>
                  <a:pt x="225684" y="190882"/>
                </a:lnTo>
                <a:lnTo>
                  <a:pt x="230798" y="203004"/>
                </a:lnTo>
                <a:lnTo>
                  <a:pt x="237934" y="198967"/>
                </a:lnTo>
                <a:lnTo>
                  <a:pt x="237614" y="205591"/>
                </a:lnTo>
                <a:lnTo>
                  <a:pt x="245978" y="210706"/>
                </a:lnTo>
                <a:lnTo>
                  <a:pt x="252083" y="206551"/>
                </a:lnTo>
                <a:lnTo>
                  <a:pt x="260106" y="220996"/>
                </a:lnTo>
                <a:lnTo>
                  <a:pt x="273595" y="223339"/>
                </a:lnTo>
                <a:lnTo>
                  <a:pt x="270784" y="231610"/>
                </a:lnTo>
                <a:lnTo>
                  <a:pt x="276955" y="230508"/>
                </a:lnTo>
                <a:lnTo>
                  <a:pt x="278067" y="237348"/>
                </a:lnTo>
                <a:lnTo>
                  <a:pt x="287493" y="239703"/>
                </a:lnTo>
                <a:lnTo>
                  <a:pt x="293231" y="252447"/>
                </a:lnTo>
                <a:lnTo>
                  <a:pt x="302915" y="255144"/>
                </a:lnTo>
                <a:lnTo>
                  <a:pt x="308986" y="249072"/>
                </a:lnTo>
                <a:lnTo>
                  <a:pt x="318145" y="251460"/>
                </a:lnTo>
                <a:lnTo>
                  <a:pt x="316628" y="258331"/>
                </a:lnTo>
                <a:lnTo>
                  <a:pt x="322320" y="253925"/>
                </a:lnTo>
                <a:lnTo>
                  <a:pt x="328994" y="258371"/>
                </a:lnTo>
                <a:lnTo>
                  <a:pt x="331076" y="253011"/>
                </a:lnTo>
                <a:lnTo>
                  <a:pt x="335292" y="256151"/>
                </a:lnTo>
                <a:lnTo>
                  <a:pt x="351755" y="247035"/>
                </a:lnTo>
                <a:lnTo>
                  <a:pt x="352334" y="252642"/>
                </a:lnTo>
                <a:lnTo>
                  <a:pt x="359810" y="250098"/>
                </a:lnTo>
                <a:lnTo>
                  <a:pt x="367975" y="256081"/>
                </a:lnTo>
                <a:lnTo>
                  <a:pt x="375963" y="272204"/>
                </a:lnTo>
                <a:lnTo>
                  <a:pt x="382320" y="268842"/>
                </a:lnTo>
                <a:lnTo>
                  <a:pt x="381654" y="277064"/>
                </a:lnTo>
                <a:lnTo>
                  <a:pt x="390798" y="272849"/>
                </a:lnTo>
                <a:lnTo>
                  <a:pt x="390821" y="278563"/>
                </a:lnTo>
                <a:lnTo>
                  <a:pt x="402457" y="286566"/>
                </a:lnTo>
                <a:lnTo>
                  <a:pt x="419032" y="278697"/>
                </a:lnTo>
                <a:lnTo>
                  <a:pt x="473559" y="301524"/>
                </a:lnTo>
                <a:lnTo>
                  <a:pt x="484465" y="296474"/>
                </a:lnTo>
                <a:lnTo>
                  <a:pt x="499684" y="301874"/>
                </a:lnTo>
                <a:lnTo>
                  <a:pt x="523334" y="298144"/>
                </a:lnTo>
                <a:lnTo>
                  <a:pt x="555868" y="275505"/>
                </a:lnTo>
                <a:lnTo>
                  <a:pt x="575299" y="286132"/>
                </a:lnTo>
                <a:lnTo>
                  <a:pt x="626401" y="287556"/>
                </a:lnTo>
                <a:lnTo>
                  <a:pt x="681846" y="254502"/>
                </a:lnTo>
                <a:lnTo>
                  <a:pt x="700341" y="212592"/>
                </a:lnTo>
                <a:lnTo>
                  <a:pt x="709893" y="165787"/>
                </a:lnTo>
                <a:lnTo>
                  <a:pt x="747928" y="72332"/>
                </a:lnTo>
                <a:lnTo>
                  <a:pt x="752856" y="69807"/>
                </a:lnTo>
                <a:lnTo>
                  <a:pt x="745297" y="29080"/>
                </a:lnTo>
                <a:lnTo>
                  <a:pt x="772427" y="27854"/>
                </a:lnTo>
                <a:lnTo>
                  <a:pt x="872887" y="0"/>
                </a:lnTo>
                <a:lnTo>
                  <a:pt x="880840" y="5596"/>
                </a:lnTo>
                <a:lnTo>
                  <a:pt x="880165" y="34463"/>
                </a:lnTo>
                <a:lnTo>
                  <a:pt x="887591" y="44325"/>
                </a:lnTo>
                <a:lnTo>
                  <a:pt x="925805" y="44904"/>
                </a:lnTo>
                <a:lnTo>
                  <a:pt x="955722" y="63991"/>
                </a:lnTo>
                <a:lnTo>
                  <a:pt x="962476" y="52522"/>
                </a:lnTo>
                <a:lnTo>
                  <a:pt x="1009655" y="37424"/>
                </a:lnTo>
                <a:lnTo>
                  <a:pt x="1008744" y="23331"/>
                </a:lnTo>
                <a:lnTo>
                  <a:pt x="1020527" y="23002"/>
                </a:lnTo>
                <a:lnTo>
                  <a:pt x="1023337" y="66060"/>
                </a:lnTo>
                <a:lnTo>
                  <a:pt x="1037261" y="69635"/>
                </a:lnTo>
                <a:lnTo>
                  <a:pt x="1049265" y="90010"/>
                </a:lnTo>
                <a:lnTo>
                  <a:pt x="1056239" y="82355"/>
                </a:lnTo>
                <a:lnTo>
                  <a:pt x="1066119" y="86472"/>
                </a:lnTo>
                <a:lnTo>
                  <a:pt x="1060548" y="104066"/>
                </a:lnTo>
                <a:lnTo>
                  <a:pt x="1067107" y="104933"/>
                </a:lnTo>
                <a:lnTo>
                  <a:pt x="1065077" y="112894"/>
                </a:lnTo>
                <a:lnTo>
                  <a:pt x="1076482" y="105261"/>
                </a:lnTo>
                <a:lnTo>
                  <a:pt x="1086161" y="106814"/>
                </a:lnTo>
                <a:lnTo>
                  <a:pt x="1091390" y="118600"/>
                </a:lnTo>
                <a:lnTo>
                  <a:pt x="1125202" y="113962"/>
                </a:lnTo>
                <a:lnTo>
                  <a:pt x="1139256" y="122150"/>
                </a:lnTo>
                <a:lnTo>
                  <a:pt x="1151538" y="104890"/>
                </a:lnTo>
                <a:lnTo>
                  <a:pt x="1152568" y="93521"/>
                </a:lnTo>
                <a:lnTo>
                  <a:pt x="1159874" y="90825"/>
                </a:lnTo>
                <a:lnTo>
                  <a:pt x="1173444" y="96394"/>
                </a:lnTo>
                <a:lnTo>
                  <a:pt x="1197267" y="89813"/>
                </a:lnTo>
                <a:lnTo>
                  <a:pt x="1233781" y="99536"/>
                </a:lnTo>
                <a:lnTo>
                  <a:pt x="1242673" y="88666"/>
                </a:lnTo>
                <a:lnTo>
                  <a:pt x="1254958" y="95997"/>
                </a:lnTo>
                <a:lnTo>
                  <a:pt x="1274336" y="94980"/>
                </a:lnTo>
                <a:lnTo>
                  <a:pt x="1275384" y="101477"/>
                </a:lnTo>
                <a:lnTo>
                  <a:pt x="1306440" y="113960"/>
                </a:lnTo>
                <a:lnTo>
                  <a:pt x="1295528" y="133535"/>
                </a:lnTo>
                <a:lnTo>
                  <a:pt x="1285999" y="131206"/>
                </a:lnTo>
                <a:lnTo>
                  <a:pt x="1281577" y="122597"/>
                </a:lnTo>
                <a:lnTo>
                  <a:pt x="1265183" y="125653"/>
                </a:lnTo>
                <a:lnTo>
                  <a:pt x="1267335" y="138003"/>
                </a:lnTo>
                <a:lnTo>
                  <a:pt x="1275406" y="137498"/>
                </a:lnTo>
                <a:lnTo>
                  <a:pt x="1276607" y="152854"/>
                </a:lnTo>
                <a:lnTo>
                  <a:pt x="1302266" y="155368"/>
                </a:lnTo>
                <a:lnTo>
                  <a:pt x="1313825" y="176223"/>
                </a:lnTo>
                <a:lnTo>
                  <a:pt x="1313486" y="188005"/>
                </a:lnTo>
                <a:lnTo>
                  <a:pt x="1297197" y="191367"/>
                </a:lnTo>
                <a:lnTo>
                  <a:pt x="1291154" y="183416"/>
                </a:lnTo>
                <a:lnTo>
                  <a:pt x="1285379" y="184513"/>
                </a:lnTo>
                <a:lnTo>
                  <a:pt x="1285127" y="194037"/>
                </a:lnTo>
                <a:lnTo>
                  <a:pt x="1269179" y="193918"/>
                </a:lnTo>
                <a:lnTo>
                  <a:pt x="1254274" y="202422"/>
                </a:lnTo>
                <a:lnTo>
                  <a:pt x="1244236" y="191355"/>
                </a:lnTo>
                <a:lnTo>
                  <a:pt x="1237329" y="192088"/>
                </a:lnTo>
                <a:lnTo>
                  <a:pt x="1231241" y="203126"/>
                </a:lnTo>
                <a:lnTo>
                  <a:pt x="1251822" y="219963"/>
                </a:lnTo>
                <a:lnTo>
                  <a:pt x="1241447" y="231835"/>
                </a:lnTo>
                <a:lnTo>
                  <a:pt x="1255245" y="236720"/>
                </a:lnTo>
                <a:lnTo>
                  <a:pt x="1254431" y="242775"/>
                </a:lnTo>
                <a:lnTo>
                  <a:pt x="1238754" y="238090"/>
                </a:lnTo>
                <a:lnTo>
                  <a:pt x="1232936" y="250698"/>
                </a:lnTo>
                <a:lnTo>
                  <a:pt x="1238013" y="261094"/>
                </a:lnTo>
                <a:lnTo>
                  <a:pt x="1231341" y="266227"/>
                </a:lnTo>
                <a:lnTo>
                  <a:pt x="1230147" y="276859"/>
                </a:lnTo>
                <a:lnTo>
                  <a:pt x="1237057" y="291407"/>
                </a:lnTo>
                <a:lnTo>
                  <a:pt x="1230032" y="293358"/>
                </a:lnTo>
                <a:lnTo>
                  <a:pt x="1232209" y="307791"/>
                </a:lnTo>
                <a:lnTo>
                  <a:pt x="1214000" y="319084"/>
                </a:lnTo>
                <a:lnTo>
                  <a:pt x="1216325" y="309178"/>
                </a:lnTo>
                <a:lnTo>
                  <a:pt x="1208729" y="307953"/>
                </a:lnTo>
                <a:lnTo>
                  <a:pt x="1202186" y="318373"/>
                </a:lnTo>
                <a:lnTo>
                  <a:pt x="1181897" y="326716"/>
                </a:lnTo>
                <a:lnTo>
                  <a:pt x="1181712" y="315365"/>
                </a:lnTo>
                <a:lnTo>
                  <a:pt x="1168216" y="321497"/>
                </a:lnTo>
                <a:lnTo>
                  <a:pt x="1159662" y="312405"/>
                </a:lnTo>
                <a:lnTo>
                  <a:pt x="1159068" y="300977"/>
                </a:lnTo>
                <a:lnTo>
                  <a:pt x="1136537" y="314680"/>
                </a:lnTo>
                <a:lnTo>
                  <a:pt x="1116692" y="318415"/>
                </a:lnTo>
                <a:lnTo>
                  <a:pt x="1105649" y="382081"/>
                </a:lnTo>
                <a:lnTo>
                  <a:pt x="1092338" y="381351"/>
                </a:lnTo>
                <a:lnTo>
                  <a:pt x="1091355" y="391288"/>
                </a:lnTo>
                <a:lnTo>
                  <a:pt x="1075979" y="388439"/>
                </a:lnTo>
                <a:lnTo>
                  <a:pt x="1084254" y="423673"/>
                </a:lnTo>
                <a:lnTo>
                  <a:pt x="1051078" y="447612"/>
                </a:lnTo>
                <a:lnTo>
                  <a:pt x="1060510" y="480414"/>
                </a:lnTo>
                <a:lnTo>
                  <a:pt x="1043159" y="484914"/>
                </a:lnTo>
                <a:lnTo>
                  <a:pt x="1048983" y="497882"/>
                </a:lnTo>
                <a:lnTo>
                  <a:pt x="1059509" y="497161"/>
                </a:lnTo>
                <a:lnTo>
                  <a:pt x="1062315" y="513937"/>
                </a:lnTo>
                <a:lnTo>
                  <a:pt x="1085939" y="508420"/>
                </a:lnTo>
                <a:lnTo>
                  <a:pt x="1084854" y="497813"/>
                </a:lnTo>
                <a:lnTo>
                  <a:pt x="1091094" y="498471"/>
                </a:lnTo>
                <a:lnTo>
                  <a:pt x="1104494" y="518077"/>
                </a:lnTo>
                <a:lnTo>
                  <a:pt x="1111267" y="513320"/>
                </a:lnTo>
                <a:lnTo>
                  <a:pt x="1137427" y="518167"/>
                </a:lnTo>
                <a:lnTo>
                  <a:pt x="1138230" y="535747"/>
                </a:lnTo>
                <a:lnTo>
                  <a:pt x="1144938" y="529907"/>
                </a:lnTo>
                <a:close/>
              </a:path>
            </a:pathLst>
          </a:custGeom>
          <a:solidFill>
            <a:srgbClr val="BACCE4"/>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9" name="2022 provincial petrol/diesel sales: NC"/>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solidFill>
            <a:srgbClr val="E3EBF6"/>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0" name="2022 provincial petrol/diesel sales: WC"/>
          <p:cNvSpPr/>
          <p:nvPr/>
        </p:nvSpPr>
        <p:spPr>
          <a:xfrm>
            <a:off x="2284853" y="5322748"/>
            <a:ext cx="5752" cy="7186"/>
          </a:xfrm>
          <a:custGeom>
            <a:avLst/>
            <a:gdLst/>
            <a:ahLst/>
            <a:cxnLst/>
            <a:rect l="l" t="t" r="r" b="b"/>
            <a:pathLst>
              <a:path w="5752" h="7186">
                <a:moveTo>
                  <a:pt x="3500" y="0"/>
                </a:moveTo>
                <a:lnTo>
                  <a:pt x="5752" y="5055"/>
                </a:lnTo>
                <a:lnTo>
                  <a:pt x="3290" y="7186"/>
                </a:lnTo>
                <a:lnTo>
                  <a:pt x="0" y="2653"/>
                </a:lnTo>
                <a:lnTo>
                  <a:pt x="3500" y="0"/>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1" name="2022 provincial petrol/diesel sales: WC"/>
          <p:cNvSpPr/>
          <p:nvPr/>
        </p:nvSpPr>
        <p:spPr>
          <a:xfrm>
            <a:off x="2220092" y="5229576"/>
            <a:ext cx="3544" cy="4871"/>
          </a:xfrm>
          <a:custGeom>
            <a:avLst/>
            <a:gdLst/>
            <a:ahLst/>
            <a:cxnLst/>
            <a:rect l="l" t="t" r="r" b="b"/>
            <a:pathLst>
              <a:path w="3544" h="4871">
                <a:moveTo>
                  <a:pt x="0" y="4871"/>
                </a:moveTo>
                <a:lnTo>
                  <a:pt x="1386" y="0"/>
                </a:lnTo>
                <a:lnTo>
                  <a:pt x="3544" y="4547"/>
                </a:lnTo>
                <a:lnTo>
                  <a:pt x="0" y="4871"/>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2" name="2022 provincial petrol/diesel sales: WC"/>
          <p:cNvSpPr/>
          <p:nvPr/>
        </p:nvSpPr>
        <p:spPr>
          <a:xfrm>
            <a:off x="2112260" y="4460901"/>
            <a:ext cx="1422285" cy="1110490"/>
          </a:xfrm>
          <a:custGeom>
            <a:avLst/>
            <a:gdLst/>
            <a:ahLst/>
            <a:cxnLst/>
            <a:rect l="l" t="t" r="r" b="b"/>
            <a:pathLst>
              <a:path w="1422285" h="1110490">
                <a:moveTo>
                  <a:pt x="1388914" y="313955"/>
                </a:moveTo>
                <a:lnTo>
                  <a:pt x="1413570" y="315353"/>
                </a:lnTo>
                <a:lnTo>
                  <a:pt x="1407278" y="317751"/>
                </a:lnTo>
                <a:lnTo>
                  <a:pt x="1407012" y="326048"/>
                </a:lnTo>
                <a:lnTo>
                  <a:pt x="1400506" y="324117"/>
                </a:ln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close/>
              </a:path>
            </a:pathLst>
          </a:custGeom>
          <a:solidFill>
            <a:srgbClr val="809CC7"/>
          </a:solidFill>
          <a:ln w="8255">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3" name="Working geographic region: Eastern coastal"/>
          <p:cNvSpPr/>
          <p:nvPr/>
        </p:nvSpPr>
        <p:spPr>
          <a:xfrm>
            <a:off x="3217820" y="3542692"/>
            <a:ext cx="2305921" cy="1846861"/>
          </a:xfrm>
          <a:custGeom>
            <a:avLst/>
            <a:gdLst/>
            <a:ahLst/>
            <a:cxnLst/>
            <a:rect l="l" t="t" r="r" b="b"/>
            <a:pathLst>
              <a:path w="2305921" h="1846861">
                <a:moveTo>
                  <a:pt x="1600396" y="1109780"/>
                </a:moveTo>
                <a:lnTo>
                  <a:pt x="1552222" y="1156893"/>
                </a:lnTo>
                <a:lnTo>
                  <a:pt x="1532452" y="1160172"/>
                </a:lnTo>
                <a:lnTo>
                  <a:pt x="1481036" y="1208706"/>
                </a:lnTo>
                <a:lnTo>
                  <a:pt x="1453741" y="1220233"/>
                </a:lnTo>
                <a:lnTo>
                  <a:pt x="1449105" y="1230898"/>
                </a:lnTo>
                <a:lnTo>
                  <a:pt x="1438747" y="1236782"/>
                </a:lnTo>
                <a:lnTo>
                  <a:pt x="1436318" y="1248266"/>
                </a:lnTo>
                <a:lnTo>
                  <a:pt x="1417163" y="1262952"/>
                </a:lnTo>
                <a:lnTo>
                  <a:pt x="1405540" y="1283318"/>
                </a:lnTo>
                <a:lnTo>
                  <a:pt x="1388233" y="1295723"/>
                </a:lnTo>
                <a:lnTo>
                  <a:pt x="1377202" y="1316936"/>
                </a:lnTo>
                <a:lnTo>
                  <a:pt x="1362051" y="1326785"/>
                </a:lnTo>
                <a:lnTo>
                  <a:pt x="1330982" y="1366584"/>
                </a:lnTo>
                <a:lnTo>
                  <a:pt x="1308715" y="1381795"/>
                </a:lnTo>
                <a:lnTo>
                  <a:pt x="1256150" y="1438980"/>
                </a:lnTo>
                <a:lnTo>
                  <a:pt x="1230251" y="1453168"/>
                </a:lnTo>
                <a:lnTo>
                  <a:pt x="1216543" y="1471642"/>
                </a:lnTo>
                <a:lnTo>
                  <a:pt x="1165080" y="1496393"/>
                </a:lnTo>
                <a:lnTo>
                  <a:pt x="1151740" y="1522852"/>
                </a:lnTo>
                <a:lnTo>
                  <a:pt x="1125327" y="1539235"/>
                </a:lnTo>
                <a:lnTo>
                  <a:pt x="1117376" y="1551721"/>
                </a:lnTo>
                <a:lnTo>
                  <a:pt x="1074306" y="1574361"/>
                </a:lnTo>
                <a:lnTo>
                  <a:pt x="1046671" y="1599569"/>
                </a:lnTo>
                <a:lnTo>
                  <a:pt x="949172" y="1663158"/>
                </a:lnTo>
                <a:lnTo>
                  <a:pt x="939555" y="1674809"/>
                </a:lnTo>
                <a:lnTo>
                  <a:pt x="901724" y="1688654"/>
                </a:lnTo>
                <a:lnTo>
                  <a:pt x="886408" y="1699869"/>
                </a:lnTo>
                <a:lnTo>
                  <a:pt x="859634" y="1706250"/>
                </a:lnTo>
                <a:lnTo>
                  <a:pt x="819926" y="1730059"/>
                </a:lnTo>
                <a:lnTo>
                  <a:pt x="800548" y="1736227"/>
                </a:lnTo>
                <a:lnTo>
                  <a:pt x="769694" y="1734446"/>
                </a:lnTo>
                <a:lnTo>
                  <a:pt x="707203" y="1717744"/>
                </a:lnTo>
                <a:lnTo>
                  <a:pt x="655271" y="1727146"/>
                </a:lnTo>
                <a:lnTo>
                  <a:pt x="628675" y="1747032"/>
                </a:lnTo>
                <a:lnTo>
                  <a:pt x="617419" y="1771774"/>
                </a:lnTo>
                <a:lnTo>
                  <a:pt x="617199" y="1779280"/>
                </a:lnTo>
                <a:lnTo>
                  <a:pt x="636585" y="1800781"/>
                </a:lnTo>
                <a:lnTo>
                  <a:pt x="610310" y="1805450"/>
                </a:lnTo>
                <a:lnTo>
                  <a:pt x="573395" y="1801460"/>
                </a:lnTo>
                <a:lnTo>
                  <a:pt x="529835" y="1783885"/>
                </a:lnTo>
                <a:lnTo>
                  <a:pt x="490048" y="1785266"/>
                </a:lnTo>
                <a:lnTo>
                  <a:pt x="471149" y="1795943"/>
                </a:lnTo>
                <a:lnTo>
                  <a:pt x="469864" y="1812566"/>
                </a:lnTo>
                <a:lnTo>
                  <a:pt x="452936" y="1828402"/>
                </a:lnTo>
                <a:lnTo>
                  <a:pt x="450696" y="1835104"/>
                </a:lnTo>
                <a:lnTo>
                  <a:pt x="459042" y="1842469"/>
                </a:lnTo>
                <a:lnTo>
                  <a:pt x="451741" y="1846861"/>
                </a:lnTo>
                <a:lnTo>
                  <a:pt x="411111" y="1836503"/>
                </a:lnTo>
                <a:lnTo>
                  <a:pt x="403086" y="1841231"/>
                </a:lnTo>
                <a:lnTo>
                  <a:pt x="378057" y="1835260"/>
                </a:lnTo>
                <a:lnTo>
                  <a:pt x="354681" y="1818869"/>
                </a:lnTo>
                <a:lnTo>
                  <a:pt x="339416" y="1818642"/>
                </a:lnTo>
                <a:lnTo>
                  <a:pt x="314495" y="1808099"/>
                </a:lnTo>
                <a:lnTo>
                  <a:pt x="197202" y="1791204"/>
                </a:lnTo>
                <a:lnTo>
                  <a:pt x="195364" y="1771643"/>
                </a:lnTo>
                <a:lnTo>
                  <a:pt x="209291" y="1758969"/>
                </a:lnTo>
                <a:lnTo>
                  <a:pt x="178963" y="1750350"/>
                </a:lnTo>
                <a:lnTo>
                  <a:pt x="177856" y="1741278"/>
                </a:lnTo>
                <a:lnTo>
                  <a:pt x="169576" y="1738497"/>
                </a:lnTo>
                <a:lnTo>
                  <a:pt x="163303" y="1745077"/>
                </a:lnTo>
                <a:lnTo>
                  <a:pt x="143142" y="1741543"/>
                </a:lnTo>
                <a:lnTo>
                  <a:pt x="152462" y="1722170"/>
                </a:lnTo>
                <a:lnTo>
                  <a:pt x="174088" y="1717320"/>
                </a:lnTo>
                <a:lnTo>
                  <a:pt x="177187" y="1705005"/>
                </a:lnTo>
                <a:lnTo>
                  <a:pt x="183552" y="1710350"/>
                </a:lnTo>
                <a:lnTo>
                  <a:pt x="201656" y="1710084"/>
                </a:lnTo>
                <a:lnTo>
                  <a:pt x="202480" y="1698135"/>
                </a:lnTo>
                <a:lnTo>
                  <a:pt x="185421" y="1684694"/>
                </a:lnTo>
                <a:lnTo>
                  <a:pt x="186839" y="1665209"/>
                </a:lnTo>
                <a:lnTo>
                  <a:pt x="163393" y="1651961"/>
                </a:lnTo>
                <a:lnTo>
                  <a:pt x="133168" y="1651795"/>
                </a:lnTo>
                <a:lnTo>
                  <a:pt x="135221" y="1657030"/>
                </a:lnTo>
                <a:lnTo>
                  <a:pt x="120555" y="1638544"/>
                </a:lnTo>
                <a:lnTo>
                  <a:pt x="85680" y="1638825"/>
                </a:lnTo>
                <a:lnTo>
                  <a:pt x="42919" y="1650178"/>
                </a:lnTo>
                <a:lnTo>
                  <a:pt x="8442" y="1648418"/>
                </a:lnTo>
                <a:lnTo>
                  <a:pt x="0" y="1642195"/>
                </a:lnTo>
                <a:lnTo>
                  <a:pt x="377" y="1624079"/>
                </a:lnTo>
                <a:lnTo>
                  <a:pt x="11249" y="1619603"/>
                </a:lnTo>
                <a:lnTo>
                  <a:pt x="45596" y="1559066"/>
                </a:lnTo>
                <a:lnTo>
                  <a:pt x="40770" y="1545983"/>
                </a:lnTo>
                <a:lnTo>
                  <a:pt x="48217" y="1538614"/>
                </a:lnTo>
                <a:lnTo>
                  <a:pt x="43585" y="1527611"/>
                </a:lnTo>
                <a:lnTo>
                  <a:pt x="55889" y="1507642"/>
                </a:lnTo>
                <a:lnTo>
                  <a:pt x="79366" y="1503453"/>
                </a:lnTo>
                <a:lnTo>
                  <a:pt x="73248" y="1488505"/>
                </a:lnTo>
                <a:lnTo>
                  <a:pt x="94332" y="1480048"/>
                </a:lnTo>
                <a:lnTo>
                  <a:pt x="135896" y="1494160"/>
                </a:lnTo>
                <a:lnTo>
                  <a:pt x="139796" y="1478365"/>
                </a:lnTo>
                <a:lnTo>
                  <a:pt x="129817" y="1478585"/>
                </a:lnTo>
                <a:lnTo>
                  <a:pt x="125528" y="1463253"/>
                </a:lnTo>
                <a:lnTo>
                  <a:pt x="111699" y="1455237"/>
                </a:lnTo>
                <a:lnTo>
                  <a:pt x="118492" y="1450100"/>
                </a:lnTo>
                <a:lnTo>
                  <a:pt x="119628" y="1439808"/>
                </a:lnTo>
                <a:lnTo>
                  <a:pt x="115240" y="1424419"/>
                </a:lnTo>
                <a:lnTo>
                  <a:pt x="105613" y="1414848"/>
                </a:lnTo>
                <a:lnTo>
                  <a:pt x="100288" y="1392370"/>
                </a:lnTo>
                <a:lnTo>
                  <a:pt x="118782" y="1384643"/>
                </a:lnTo>
                <a:lnTo>
                  <a:pt x="124194" y="1373110"/>
                </a:lnTo>
                <a:lnTo>
                  <a:pt x="141021" y="1382609"/>
                </a:lnTo>
                <a:lnTo>
                  <a:pt x="149277" y="1365632"/>
                </a:lnTo>
                <a:lnTo>
                  <a:pt x="196329" y="1370407"/>
                </a:lnTo>
                <a:lnTo>
                  <a:pt x="199156" y="1366507"/>
                </a:lnTo>
                <a:lnTo>
                  <a:pt x="192646" y="1358629"/>
                </a:lnTo>
                <a:lnTo>
                  <a:pt x="197151" y="1343140"/>
                </a:lnTo>
                <a:lnTo>
                  <a:pt x="217819" y="1327835"/>
                </a:lnTo>
                <a:lnTo>
                  <a:pt x="245460" y="1347052"/>
                </a:lnTo>
                <a:lnTo>
                  <a:pt x="260319" y="1334527"/>
                </a:lnTo>
                <a:lnTo>
                  <a:pt x="275388" y="1331061"/>
                </a:lnTo>
                <a:lnTo>
                  <a:pt x="276942" y="1322006"/>
                </a:lnTo>
                <a:lnTo>
                  <a:pt x="290476" y="1323399"/>
                </a:lnTo>
                <a:lnTo>
                  <a:pt x="298102" y="1312890"/>
                </a:lnTo>
                <a:lnTo>
                  <a:pt x="292390" y="1302996"/>
                </a:lnTo>
                <a:lnTo>
                  <a:pt x="289875" y="1309790"/>
                </a:lnTo>
                <a:lnTo>
                  <a:pt x="290873" y="1299324"/>
                </a:lnTo>
                <a:lnTo>
                  <a:pt x="299166" y="1294522"/>
                </a:lnTo>
                <a:lnTo>
                  <a:pt x="299043" y="1284381"/>
                </a:lnTo>
                <a:lnTo>
                  <a:pt x="309628" y="1284443"/>
                </a:lnTo>
                <a:lnTo>
                  <a:pt x="316725" y="1269915"/>
                </a:lnTo>
                <a:lnTo>
                  <a:pt x="303920" y="1256389"/>
                </a:lnTo>
                <a:lnTo>
                  <a:pt x="291087" y="1257620"/>
                </a:lnTo>
                <a:lnTo>
                  <a:pt x="294946" y="1242326"/>
                </a:lnTo>
                <a:lnTo>
                  <a:pt x="301452" y="1244257"/>
                </a:lnTo>
                <a:lnTo>
                  <a:pt x="301718" y="1235960"/>
                </a:lnTo>
                <a:lnTo>
                  <a:pt x="308010" y="1233562"/>
                </a:lnTo>
                <a:lnTo>
                  <a:pt x="301562" y="1229779"/>
                </a:lnTo>
                <a:lnTo>
                  <a:pt x="303037" y="1214892"/>
                </a:lnTo>
                <a:lnTo>
                  <a:pt x="330074" y="1221114"/>
                </a:lnTo>
                <a:lnTo>
                  <a:pt x="342169" y="1207908"/>
                </a:lnTo>
                <a:lnTo>
                  <a:pt x="360237" y="1207252"/>
                </a:lnTo>
                <a:lnTo>
                  <a:pt x="357871" y="1201347"/>
                </a:lnTo>
                <a:lnTo>
                  <a:pt x="364168" y="1207481"/>
                </a:lnTo>
                <a:lnTo>
                  <a:pt x="380104" y="1205455"/>
                </a:lnTo>
                <a:lnTo>
                  <a:pt x="381038" y="1152487"/>
                </a:lnTo>
                <a:lnTo>
                  <a:pt x="389663" y="1148345"/>
                </a:lnTo>
                <a:lnTo>
                  <a:pt x="391430" y="1132173"/>
                </a:lnTo>
                <a:lnTo>
                  <a:pt x="397756" y="1127173"/>
                </a:lnTo>
                <a:lnTo>
                  <a:pt x="412866" y="1123155"/>
                </a:lnTo>
                <a:lnTo>
                  <a:pt x="422899" y="1129740"/>
                </a:lnTo>
                <a:lnTo>
                  <a:pt x="440024" y="1124575"/>
                </a:lnTo>
                <a:lnTo>
                  <a:pt x="448094" y="1116134"/>
                </a:lnTo>
                <a:lnTo>
                  <a:pt x="456304" y="1120497"/>
                </a:lnTo>
                <a:lnTo>
                  <a:pt x="454121" y="1108887"/>
                </a:lnTo>
                <a:lnTo>
                  <a:pt x="471825" y="1106868"/>
                </a:lnTo>
                <a:lnTo>
                  <a:pt x="487650" y="1092213"/>
                </a:lnTo>
                <a:lnTo>
                  <a:pt x="499266" y="1093823"/>
                </a:lnTo>
                <a:lnTo>
                  <a:pt x="523898" y="1086122"/>
                </a:lnTo>
                <a:lnTo>
                  <a:pt x="532823" y="1074097"/>
                </a:lnTo>
                <a:lnTo>
                  <a:pt x="564344" y="1085400"/>
                </a:lnTo>
                <a:lnTo>
                  <a:pt x="571349" y="1080777"/>
                </a:lnTo>
                <a:lnTo>
                  <a:pt x="571045" y="1063672"/>
                </a:lnTo>
                <a:lnTo>
                  <a:pt x="584703" y="1050735"/>
                </a:lnTo>
                <a:lnTo>
                  <a:pt x="583079" y="1040827"/>
                </a:lnTo>
                <a:lnTo>
                  <a:pt x="596965" y="1027045"/>
                </a:lnTo>
                <a:lnTo>
                  <a:pt x="591132" y="1021007"/>
                </a:lnTo>
                <a:lnTo>
                  <a:pt x="599085" y="1013838"/>
                </a:lnTo>
                <a:lnTo>
                  <a:pt x="600655" y="999979"/>
                </a:lnTo>
                <a:lnTo>
                  <a:pt x="590431" y="991835"/>
                </a:lnTo>
                <a:lnTo>
                  <a:pt x="607753" y="971739"/>
                </a:lnTo>
                <a:lnTo>
                  <a:pt x="592496" y="968585"/>
                </a:lnTo>
                <a:lnTo>
                  <a:pt x="589765" y="929004"/>
                </a:lnTo>
                <a:lnTo>
                  <a:pt x="610847" y="927081"/>
                </a:lnTo>
                <a:lnTo>
                  <a:pt x="618483" y="920478"/>
                </a:lnTo>
                <a:lnTo>
                  <a:pt x="624657" y="929189"/>
                </a:lnTo>
                <a:lnTo>
                  <a:pt x="622161" y="937287"/>
                </a:lnTo>
                <a:lnTo>
                  <a:pt x="635844" y="933293"/>
                </a:lnTo>
                <a:lnTo>
                  <a:pt x="639716" y="942526"/>
                </a:lnTo>
                <a:lnTo>
                  <a:pt x="655389" y="945796"/>
                </a:lnTo>
                <a:lnTo>
                  <a:pt x="661857" y="932688"/>
                </a:lnTo>
                <a:lnTo>
                  <a:pt x="683577" y="925979"/>
                </a:lnTo>
                <a:lnTo>
                  <a:pt x="682521" y="908976"/>
                </a:lnTo>
                <a:lnTo>
                  <a:pt x="692479" y="919597"/>
                </a:lnTo>
                <a:lnTo>
                  <a:pt x="702772" y="907689"/>
                </a:lnTo>
                <a:lnTo>
                  <a:pt x="729484" y="902377"/>
                </a:lnTo>
                <a:lnTo>
                  <a:pt x="739321" y="908546"/>
                </a:lnTo>
                <a:lnTo>
                  <a:pt x="736766" y="898253"/>
                </a:lnTo>
                <a:lnTo>
                  <a:pt x="744002" y="894080"/>
                </a:lnTo>
                <a:lnTo>
                  <a:pt x="751578" y="906455"/>
                </a:lnTo>
                <a:lnTo>
                  <a:pt x="766102" y="909539"/>
                </a:lnTo>
                <a:lnTo>
                  <a:pt x="769754" y="921502"/>
                </a:lnTo>
                <a:lnTo>
                  <a:pt x="786525" y="923054"/>
                </a:lnTo>
                <a:lnTo>
                  <a:pt x="807211" y="916742"/>
                </a:lnTo>
                <a:lnTo>
                  <a:pt x="816051" y="923120"/>
                </a:lnTo>
                <a:lnTo>
                  <a:pt x="814589" y="932262"/>
                </a:lnTo>
                <a:lnTo>
                  <a:pt x="830954" y="941283"/>
                </a:lnTo>
                <a:lnTo>
                  <a:pt x="846691" y="940900"/>
                </a:lnTo>
                <a:lnTo>
                  <a:pt x="846671" y="949122"/>
                </a:lnTo>
                <a:lnTo>
                  <a:pt x="856910" y="942523"/>
                </a:lnTo>
                <a:lnTo>
                  <a:pt x="862977" y="947568"/>
                </a:lnTo>
                <a:lnTo>
                  <a:pt x="885759" y="935750"/>
                </a:lnTo>
                <a:lnTo>
                  <a:pt x="898464" y="947400"/>
                </a:lnTo>
                <a:lnTo>
                  <a:pt x="901923" y="941182"/>
                </a:lnTo>
                <a:lnTo>
                  <a:pt x="917422" y="941179"/>
                </a:lnTo>
                <a:lnTo>
                  <a:pt x="913262" y="932383"/>
                </a:lnTo>
                <a:lnTo>
                  <a:pt x="917444" y="928139"/>
                </a:lnTo>
                <a:lnTo>
                  <a:pt x="936451" y="926678"/>
                </a:lnTo>
                <a:lnTo>
                  <a:pt x="930541" y="910358"/>
                </a:lnTo>
                <a:lnTo>
                  <a:pt x="948202" y="908305"/>
                </a:lnTo>
                <a:lnTo>
                  <a:pt x="952665" y="916129"/>
                </a:lnTo>
                <a:lnTo>
                  <a:pt x="959866" y="909582"/>
                </a:lnTo>
                <a:lnTo>
                  <a:pt x="958298" y="903906"/>
                </a:lnTo>
                <a:lnTo>
                  <a:pt x="970610" y="907838"/>
                </a:lnTo>
                <a:lnTo>
                  <a:pt x="976640" y="898323"/>
                </a:lnTo>
                <a:lnTo>
                  <a:pt x="980275" y="904166"/>
                </a:lnTo>
                <a:lnTo>
                  <a:pt x="982581" y="896803"/>
                </a:lnTo>
                <a:lnTo>
                  <a:pt x="995498" y="904972"/>
                </a:lnTo>
                <a:lnTo>
                  <a:pt x="1002261" y="897905"/>
                </a:lnTo>
                <a:lnTo>
                  <a:pt x="996312" y="887612"/>
                </a:lnTo>
                <a:lnTo>
                  <a:pt x="1011446" y="886211"/>
                </a:lnTo>
                <a:lnTo>
                  <a:pt x="1001657" y="882472"/>
                </a:lnTo>
                <a:lnTo>
                  <a:pt x="1005040" y="876175"/>
                </a:lnTo>
                <a:lnTo>
                  <a:pt x="1013406" y="879043"/>
                </a:lnTo>
                <a:lnTo>
                  <a:pt x="1019395" y="874953"/>
                </a:lnTo>
                <a:lnTo>
                  <a:pt x="1008113" y="858500"/>
                </a:lnTo>
                <a:lnTo>
                  <a:pt x="1017203" y="861459"/>
                </a:lnTo>
                <a:lnTo>
                  <a:pt x="1030933" y="855031"/>
                </a:lnTo>
                <a:lnTo>
                  <a:pt x="1038546" y="870498"/>
                </a:lnTo>
                <a:lnTo>
                  <a:pt x="1052509" y="877898"/>
                </a:lnTo>
                <a:lnTo>
                  <a:pt x="1055407" y="889128"/>
                </a:lnTo>
                <a:lnTo>
                  <a:pt x="1063453" y="890130"/>
                </a:lnTo>
                <a:lnTo>
                  <a:pt x="1064500" y="902333"/>
                </a:lnTo>
                <a:lnTo>
                  <a:pt x="1082101" y="914303"/>
                </a:lnTo>
                <a:lnTo>
                  <a:pt x="1093114" y="930695"/>
                </a:lnTo>
                <a:lnTo>
                  <a:pt x="1104866" y="934865"/>
                </a:lnTo>
                <a:lnTo>
                  <a:pt x="1131525" y="930956"/>
                </a:lnTo>
                <a:lnTo>
                  <a:pt x="1136779" y="942044"/>
                </a:lnTo>
                <a:lnTo>
                  <a:pt x="1168558" y="945387"/>
                </a:lnTo>
                <a:lnTo>
                  <a:pt x="1174818" y="951080"/>
                </a:lnTo>
                <a:lnTo>
                  <a:pt x="1175253" y="931715"/>
                </a:lnTo>
                <a:lnTo>
                  <a:pt x="1183788" y="927884"/>
                </a:lnTo>
                <a:lnTo>
                  <a:pt x="1189922" y="913010"/>
                </a:lnTo>
                <a:lnTo>
                  <a:pt x="1185757" y="897614"/>
                </a:lnTo>
                <a:lnTo>
                  <a:pt x="1192569" y="890038"/>
                </a:lnTo>
                <a:lnTo>
                  <a:pt x="1208565" y="885908"/>
                </a:lnTo>
                <a:lnTo>
                  <a:pt x="1211712" y="869617"/>
                </a:lnTo>
                <a:lnTo>
                  <a:pt x="1198193" y="853268"/>
                </a:lnTo>
                <a:lnTo>
                  <a:pt x="1204924" y="845556"/>
                </a:lnTo>
                <a:lnTo>
                  <a:pt x="1229466" y="839066"/>
                </a:lnTo>
                <a:lnTo>
                  <a:pt x="1234213" y="822961"/>
                </a:lnTo>
                <a:lnTo>
                  <a:pt x="1242109" y="816804"/>
                </a:lnTo>
                <a:lnTo>
                  <a:pt x="1258170" y="820324"/>
                </a:lnTo>
                <a:lnTo>
                  <a:pt x="1275789" y="811898"/>
                </a:lnTo>
                <a:lnTo>
                  <a:pt x="1301627" y="817832"/>
                </a:lnTo>
                <a:lnTo>
                  <a:pt x="1343760" y="806232"/>
                </a:lnTo>
                <a:lnTo>
                  <a:pt x="1379968" y="784825"/>
                </a:lnTo>
                <a:lnTo>
                  <a:pt x="1415197" y="764098"/>
                </a:lnTo>
                <a:lnTo>
                  <a:pt x="1414000" y="755797"/>
                </a:lnTo>
                <a:lnTo>
                  <a:pt x="1400589" y="745868"/>
                </a:lnTo>
                <a:lnTo>
                  <a:pt x="1407558" y="740739"/>
                </a:lnTo>
                <a:lnTo>
                  <a:pt x="1406309" y="725716"/>
                </a:lnTo>
                <a:lnTo>
                  <a:pt x="1415139" y="704303"/>
                </a:lnTo>
                <a:lnTo>
                  <a:pt x="1432325" y="693929"/>
                </a:lnTo>
                <a:lnTo>
                  <a:pt x="1442859" y="695090"/>
                </a:lnTo>
                <a:lnTo>
                  <a:pt x="1444047" y="680222"/>
                </a:lnTo>
                <a:lnTo>
                  <a:pt x="1453109" y="676793"/>
                </a:lnTo>
                <a:lnTo>
                  <a:pt x="1446754" y="656139"/>
                </a:lnTo>
                <a:lnTo>
                  <a:pt x="1471788" y="645388"/>
                </a:lnTo>
                <a:lnTo>
                  <a:pt x="1484542" y="618155"/>
                </a:lnTo>
                <a:lnTo>
                  <a:pt x="1475130" y="586055"/>
                </a:lnTo>
                <a:lnTo>
                  <a:pt x="1461074" y="579185"/>
                </a:lnTo>
                <a:lnTo>
                  <a:pt x="1464277" y="564110"/>
                </a:lnTo>
                <a:lnTo>
                  <a:pt x="1454889" y="551263"/>
                </a:lnTo>
                <a:lnTo>
                  <a:pt x="1441859" y="553397"/>
                </a:lnTo>
                <a:lnTo>
                  <a:pt x="1433563" y="536857"/>
                </a:lnTo>
                <a:lnTo>
                  <a:pt x="1413582" y="524435"/>
                </a:lnTo>
                <a:lnTo>
                  <a:pt x="1390738" y="498465"/>
                </a:lnTo>
                <a:lnTo>
                  <a:pt x="1381737" y="506548"/>
                </a:lnTo>
                <a:lnTo>
                  <a:pt x="1373099" y="492881"/>
                </a:lnTo>
                <a:lnTo>
                  <a:pt x="1375289" y="484301"/>
                </a:lnTo>
                <a:lnTo>
                  <a:pt x="1369507" y="480060"/>
                </a:lnTo>
                <a:lnTo>
                  <a:pt x="1375666" y="478096"/>
                </a:lnTo>
                <a:lnTo>
                  <a:pt x="1374677" y="472518"/>
                </a:lnTo>
                <a:lnTo>
                  <a:pt x="1366451" y="466200"/>
                </a:lnTo>
                <a:lnTo>
                  <a:pt x="1358980" y="468943"/>
                </a:lnTo>
                <a:lnTo>
                  <a:pt x="1364954" y="448700"/>
                </a:lnTo>
                <a:lnTo>
                  <a:pt x="1375558" y="438817"/>
                </a:lnTo>
                <a:lnTo>
                  <a:pt x="1383243" y="419530"/>
                </a:lnTo>
                <a:lnTo>
                  <a:pt x="1411088" y="412929"/>
                </a:lnTo>
                <a:lnTo>
                  <a:pt x="1419626" y="418655"/>
                </a:lnTo>
                <a:lnTo>
                  <a:pt x="1428063" y="409663"/>
                </a:lnTo>
                <a:lnTo>
                  <a:pt x="1433665" y="413703"/>
                </a:lnTo>
                <a:lnTo>
                  <a:pt x="1438375" y="407215"/>
                </a:lnTo>
                <a:lnTo>
                  <a:pt x="1433017" y="400556"/>
                </a:lnTo>
                <a:lnTo>
                  <a:pt x="1446560" y="383401"/>
                </a:lnTo>
                <a:lnTo>
                  <a:pt x="1455779" y="387057"/>
                </a:lnTo>
                <a:lnTo>
                  <a:pt x="1475202" y="370867"/>
                </a:lnTo>
                <a:lnTo>
                  <a:pt x="1484404" y="372233"/>
                </a:lnTo>
                <a:lnTo>
                  <a:pt x="1500893" y="346294"/>
                </a:lnTo>
                <a:lnTo>
                  <a:pt x="1532134" y="339553"/>
                </a:lnTo>
                <a:lnTo>
                  <a:pt x="1534165" y="325425"/>
                </a:lnTo>
                <a:lnTo>
                  <a:pt x="1542510" y="323575"/>
                </a:lnTo>
                <a:lnTo>
                  <a:pt x="1541702" y="301207"/>
                </a:lnTo>
                <a:lnTo>
                  <a:pt x="1533377" y="289827"/>
                </a:lnTo>
                <a:lnTo>
                  <a:pt x="1541861" y="269638"/>
                </a:lnTo>
                <a:lnTo>
                  <a:pt x="1548508" y="267521"/>
                </a:lnTo>
                <a:lnTo>
                  <a:pt x="1542958" y="258560"/>
                </a:lnTo>
                <a:lnTo>
                  <a:pt x="1551520" y="251840"/>
                </a:lnTo>
                <a:lnTo>
                  <a:pt x="1553739" y="233683"/>
                </a:lnTo>
                <a:lnTo>
                  <a:pt x="1561673" y="229796"/>
                </a:lnTo>
                <a:lnTo>
                  <a:pt x="1555778" y="218971"/>
                </a:lnTo>
                <a:lnTo>
                  <a:pt x="1557699" y="201581"/>
                </a:lnTo>
                <a:lnTo>
                  <a:pt x="1549571" y="188983"/>
                </a:lnTo>
                <a:lnTo>
                  <a:pt x="1576022" y="176250"/>
                </a:lnTo>
                <a:lnTo>
                  <a:pt x="1570623" y="158207"/>
                </a:lnTo>
                <a:lnTo>
                  <a:pt x="1559577" y="154307"/>
                </a:lnTo>
                <a:lnTo>
                  <a:pt x="1564993" y="147952"/>
                </a:lnTo>
                <a:lnTo>
                  <a:pt x="1559884" y="141053"/>
                </a:lnTo>
                <a:lnTo>
                  <a:pt x="1571534" y="136597"/>
                </a:lnTo>
                <a:lnTo>
                  <a:pt x="1579939" y="140805"/>
                </a:lnTo>
                <a:lnTo>
                  <a:pt x="1590742" y="121085"/>
                </a:lnTo>
                <a:lnTo>
                  <a:pt x="1604036" y="123370"/>
                </a:lnTo>
                <a:lnTo>
                  <a:pt x="1608550" y="115514"/>
                </a:lnTo>
                <a:lnTo>
                  <a:pt x="1630674" y="127486"/>
                </a:lnTo>
                <a:lnTo>
                  <a:pt x="1647063" y="120726"/>
                </a:lnTo>
                <a:lnTo>
                  <a:pt x="1659482" y="132752"/>
                </a:lnTo>
                <a:lnTo>
                  <a:pt x="1672564" y="118407"/>
                </a:lnTo>
                <a:lnTo>
                  <a:pt x="1680626" y="125303"/>
                </a:lnTo>
                <a:lnTo>
                  <a:pt x="1691073" y="122648"/>
                </a:lnTo>
                <a:lnTo>
                  <a:pt x="1692250" y="108831"/>
                </a:lnTo>
                <a:lnTo>
                  <a:pt x="1711482" y="108979"/>
                </a:lnTo>
                <a:lnTo>
                  <a:pt x="1712180" y="97674"/>
                </a:lnTo>
                <a:lnTo>
                  <a:pt x="1725573" y="98890"/>
                </a:lnTo>
                <a:lnTo>
                  <a:pt x="1724958" y="110422"/>
                </a:lnTo>
                <a:lnTo>
                  <a:pt x="1729896" y="113919"/>
                </a:lnTo>
                <a:lnTo>
                  <a:pt x="1741274" y="110508"/>
                </a:lnTo>
                <a:lnTo>
                  <a:pt x="1761585" y="114181"/>
                </a:lnTo>
                <a:lnTo>
                  <a:pt x="1791840" y="105539"/>
                </a:lnTo>
                <a:lnTo>
                  <a:pt x="1803469" y="117004"/>
                </a:lnTo>
                <a:lnTo>
                  <a:pt x="1807718" y="113732"/>
                </a:lnTo>
                <a:lnTo>
                  <a:pt x="1814833" y="124673"/>
                </a:lnTo>
                <a:lnTo>
                  <a:pt x="1822996" y="122287"/>
                </a:lnTo>
                <a:lnTo>
                  <a:pt x="1825265" y="114550"/>
                </a:lnTo>
                <a:lnTo>
                  <a:pt x="1838178" y="113231"/>
                </a:lnTo>
                <a:lnTo>
                  <a:pt x="1841970" y="129575"/>
                </a:lnTo>
                <a:lnTo>
                  <a:pt x="1878117" y="121562"/>
                </a:lnTo>
                <a:lnTo>
                  <a:pt x="1892906" y="132251"/>
                </a:lnTo>
                <a:lnTo>
                  <a:pt x="1919237" y="101489"/>
                </a:lnTo>
                <a:lnTo>
                  <a:pt x="1968274" y="122549"/>
                </a:lnTo>
                <a:lnTo>
                  <a:pt x="2078485" y="129340"/>
                </a:lnTo>
                <a:lnTo>
                  <a:pt x="2080657" y="77892"/>
                </a:lnTo>
                <a:lnTo>
                  <a:pt x="2093447" y="118"/>
                </a:lnTo>
                <a:lnTo>
                  <a:pt x="2113849" y="0"/>
                </a:lnTo>
                <a:lnTo>
                  <a:pt x="2117954" y="8890"/>
                </a:lnTo>
                <a:lnTo>
                  <a:pt x="2131728" y="15945"/>
                </a:lnTo>
                <a:lnTo>
                  <a:pt x="2140790" y="8714"/>
                </a:lnTo>
                <a:lnTo>
                  <a:pt x="2165774" y="18198"/>
                </a:lnTo>
                <a:lnTo>
                  <a:pt x="2293895" y="24748"/>
                </a:lnTo>
                <a:lnTo>
                  <a:pt x="2305921" y="29161"/>
                </a:lnTo>
                <a:lnTo>
                  <a:pt x="2290781" y="92016"/>
                </a:lnTo>
                <a:lnTo>
                  <a:pt x="2247232" y="189222"/>
                </a:lnTo>
                <a:lnTo>
                  <a:pt x="2224543" y="270227"/>
                </a:lnTo>
                <a:lnTo>
                  <a:pt x="2210304" y="348836"/>
                </a:lnTo>
                <a:lnTo>
                  <a:pt x="2176654" y="409994"/>
                </a:lnTo>
                <a:lnTo>
                  <a:pt x="2172316" y="434627"/>
                </a:lnTo>
                <a:lnTo>
                  <a:pt x="2159886" y="431554"/>
                </a:lnTo>
                <a:lnTo>
                  <a:pt x="2145776" y="456942"/>
                </a:lnTo>
                <a:lnTo>
                  <a:pt x="2063334" y="528481"/>
                </a:lnTo>
                <a:lnTo>
                  <a:pt x="2004825" y="549010"/>
                </a:lnTo>
                <a:lnTo>
                  <a:pt x="1905389" y="649299"/>
                </a:lnTo>
                <a:lnTo>
                  <a:pt x="1837638" y="745275"/>
                </a:lnTo>
                <a:lnTo>
                  <a:pt x="1831652" y="761240"/>
                </a:lnTo>
                <a:lnTo>
                  <a:pt x="1836129" y="773018"/>
                </a:lnTo>
                <a:lnTo>
                  <a:pt x="1794933" y="816798"/>
                </a:lnTo>
                <a:lnTo>
                  <a:pt x="1712927" y="958657"/>
                </a:lnTo>
                <a:lnTo>
                  <a:pt x="1636852" y="1066058"/>
                </a:lnTo>
                <a:lnTo>
                  <a:pt x="1629531" y="1069830"/>
                </a:lnTo>
                <a:lnTo>
                  <a:pt x="1625757" y="1065613"/>
                </a:lnTo>
                <a:lnTo>
                  <a:pt x="1626648" y="1076042"/>
                </a:lnTo>
                <a:lnTo>
                  <a:pt x="1600396" y="110978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4" name="Working geographic region: Inland"/>
          <p:cNvSpPr/>
          <p:nvPr/>
        </p:nvSpPr>
        <p:spPr>
          <a:xfrm>
            <a:off x="3157044" y="2320210"/>
            <a:ext cx="2187474" cy="2171604"/>
          </a:xfrm>
          <a:custGeom>
            <a:avLst/>
            <a:gdLst/>
            <a:ahLst/>
            <a:cxnLst/>
            <a:rect l="l" t="t" r="r" b="b"/>
            <a:pathLst>
              <a:path w="2187474" h="2171604">
                <a:moveTo>
                  <a:pt x="1077672" y="2088451"/>
                </a:moveTo>
                <a:lnTo>
                  <a:pt x="1080171" y="2097435"/>
                </a:lnTo>
                <a:lnTo>
                  <a:pt x="1074182" y="2101525"/>
                </a:lnTo>
                <a:lnTo>
                  <a:pt x="1065816" y="2098657"/>
                </a:lnTo>
                <a:lnTo>
                  <a:pt x="1062433" y="2104954"/>
                </a:lnTo>
                <a:lnTo>
                  <a:pt x="1072222" y="2108693"/>
                </a:lnTo>
                <a:lnTo>
                  <a:pt x="1057088" y="2110094"/>
                </a:lnTo>
                <a:lnTo>
                  <a:pt x="1063037" y="2120387"/>
                </a:lnTo>
                <a:lnTo>
                  <a:pt x="1056274" y="2127454"/>
                </a:lnTo>
                <a:lnTo>
                  <a:pt x="1043357" y="2119285"/>
                </a:lnTo>
                <a:lnTo>
                  <a:pt x="1041051" y="2126648"/>
                </a:lnTo>
                <a:lnTo>
                  <a:pt x="1037416" y="2120805"/>
                </a:lnTo>
                <a:lnTo>
                  <a:pt x="1031386" y="2130320"/>
                </a:lnTo>
                <a:lnTo>
                  <a:pt x="1019074" y="2126388"/>
                </a:lnTo>
                <a:lnTo>
                  <a:pt x="1020642" y="2132064"/>
                </a:lnTo>
                <a:lnTo>
                  <a:pt x="1013441" y="2138611"/>
                </a:lnTo>
                <a:lnTo>
                  <a:pt x="1008978" y="2130787"/>
                </a:lnTo>
                <a:lnTo>
                  <a:pt x="991317" y="2132840"/>
                </a:lnTo>
                <a:lnTo>
                  <a:pt x="997227" y="2149160"/>
                </a:lnTo>
                <a:lnTo>
                  <a:pt x="978220" y="2150621"/>
                </a:lnTo>
                <a:lnTo>
                  <a:pt x="974038" y="2154865"/>
                </a:lnTo>
                <a:lnTo>
                  <a:pt x="978198" y="2163661"/>
                </a:lnTo>
                <a:lnTo>
                  <a:pt x="962699" y="2163664"/>
                </a:lnTo>
                <a:lnTo>
                  <a:pt x="959240" y="2169882"/>
                </a:lnTo>
                <a:lnTo>
                  <a:pt x="946535" y="2158232"/>
                </a:lnTo>
                <a:lnTo>
                  <a:pt x="923753" y="2170050"/>
                </a:lnTo>
                <a:lnTo>
                  <a:pt x="917686" y="2165005"/>
                </a:lnTo>
                <a:lnTo>
                  <a:pt x="907447" y="2171604"/>
                </a:lnTo>
                <a:lnTo>
                  <a:pt x="907467" y="2163382"/>
                </a:lnTo>
                <a:lnTo>
                  <a:pt x="891730" y="2163765"/>
                </a:lnTo>
                <a:lnTo>
                  <a:pt x="875365" y="2154744"/>
                </a:lnTo>
                <a:lnTo>
                  <a:pt x="876827" y="2145602"/>
                </a:lnTo>
                <a:lnTo>
                  <a:pt x="867987" y="2139224"/>
                </a:lnTo>
                <a:lnTo>
                  <a:pt x="847301" y="2145536"/>
                </a:lnTo>
                <a:lnTo>
                  <a:pt x="830530" y="2143984"/>
                </a:lnTo>
                <a:lnTo>
                  <a:pt x="826878" y="2132021"/>
                </a:lnTo>
                <a:lnTo>
                  <a:pt x="812354" y="2128937"/>
                </a:lnTo>
                <a:lnTo>
                  <a:pt x="804778" y="2116562"/>
                </a:lnTo>
                <a:lnTo>
                  <a:pt x="797542" y="2120735"/>
                </a:lnTo>
                <a:lnTo>
                  <a:pt x="800097" y="2131028"/>
                </a:lnTo>
                <a:lnTo>
                  <a:pt x="790260" y="2124859"/>
                </a:lnTo>
                <a:lnTo>
                  <a:pt x="763548" y="2130171"/>
                </a:lnTo>
                <a:lnTo>
                  <a:pt x="753255" y="2142079"/>
                </a:lnTo>
                <a:lnTo>
                  <a:pt x="743297" y="2131458"/>
                </a:lnTo>
                <a:lnTo>
                  <a:pt x="744353" y="2148461"/>
                </a:lnTo>
                <a:lnTo>
                  <a:pt x="722633" y="2155170"/>
                </a:lnTo>
                <a:lnTo>
                  <a:pt x="716165" y="2168278"/>
                </a:lnTo>
                <a:lnTo>
                  <a:pt x="700492" y="2165008"/>
                </a:lnTo>
                <a:lnTo>
                  <a:pt x="696620" y="2155775"/>
                </a:lnTo>
                <a:lnTo>
                  <a:pt x="682937" y="2159769"/>
                </a:lnTo>
                <a:lnTo>
                  <a:pt x="685433" y="2151671"/>
                </a:lnTo>
                <a:lnTo>
                  <a:pt x="679259" y="2142960"/>
                </a:lnTo>
                <a:lnTo>
                  <a:pt x="652193" y="2154263"/>
                </a:lnTo>
                <a:lnTo>
                  <a:pt x="639725" y="2139546"/>
                </a:lnTo>
                <a:lnTo>
                  <a:pt x="621064" y="2134366"/>
                </a:lnTo>
                <a:lnTo>
                  <a:pt x="614798" y="2139178"/>
                </a:lnTo>
                <a:lnTo>
                  <a:pt x="599319" y="2119544"/>
                </a:lnTo>
                <a:lnTo>
                  <a:pt x="589193" y="2119137"/>
                </a:lnTo>
                <a:lnTo>
                  <a:pt x="568512" y="2087076"/>
                </a:lnTo>
                <a:lnTo>
                  <a:pt x="555683" y="2084283"/>
                </a:lnTo>
                <a:lnTo>
                  <a:pt x="554832" y="2064815"/>
                </a:lnTo>
                <a:lnTo>
                  <a:pt x="544154" y="2065789"/>
                </a:lnTo>
                <a:lnTo>
                  <a:pt x="535313" y="2056031"/>
                </a:lnTo>
                <a:lnTo>
                  <a:pt x="537016" y="2049446"/>
                </a:lnTo>
                <a:lnTo>
                  <a:pt x="530550" y="2042956"/>
                </a:lnTo>
                <a:lnTo>
                  <a:pt x="524969" y="2044500"/>
                </a:lnTo>
                <a:lnTo>
                  <a:pt x="518538" y="2026041"/>
                </a:lnTo>
                <a:lnTo>
                  <a:pt x="502198" y="2004850"/>
                </a:lnTo>
                <a:lnTo>
                  <a:pt x="501317" y="1991401"/>
                </a:lnTo>
                <a:lnTo>
                  <a:pt x="474689" y="1985473"/>
                </a:lnTo>
                <a:lnTo>
                  <a:pt x="472541" y="1966649"/>
                </a:lnTo>
                <a:lnTo>
                  <a:pt x="459819" y="1969069"/>
                </a:lnTo>
                <a:lnTo>
                  <a:pt x="435150" y="1944810"/>
                </a:lnTo>
                <a:lnTo>
                  <a:pt x="422028" y="1944540"/>
                </a:lnTo>
                <a:lnTo>
                  <a:pt x="403072" y="1918644"/>
                </a:lnTo>
                <a:lnTo>
                  <a:pt x="401221" y="1904022"/>
                </a:lnTo>
                <a:lnTo>
                  <a:pt x="525046" y="1645853"/>
                </a:lnTo>
                <a:lnTo>
                  <a:pt x="508320" y="1640484"/>
                </a:lnTo>
                <a:lnTo>
                  <a:pt x="517335" y="1612367"/>
                </a:lnTo>
                <a:lnTo>
                  <a:pt x="512603" y="1608974"/>
                </a:lnTo>
                <a:lnTo>
                  <a:pt x="521605" y="1599045"/>
                </a:lnTo>
                <a:lnTo>
                  <a:pt x="533075" y="1563219"/>
                </a:lnTo>
                <a:lnTo>
                  <a:pt x="522371" y="1559470"/>
                </a:lnTo>
                <a:lnTo>
                  <a:pt x="517870" y="1549284"/>
                </a:lnTo>
                <a:lnTo>
                  <a:pt x="539168" y="1544247"/>
                </a:lnTo>
                <a:lnTo>
                  <a:pt x="553560" y="1498919"/>
                </a:lnTo>
                <a:lnTo>
                  <a:pt x="563947" y="1496988"/>
                </a:lnTo>
                <a:lnTo>
                  <a:pt x="541155" y="1500849"/>
                </a:lnTo>
                <a:lnTo>
                  <a:pt x="535991" y="1509080"/>
                </a:lnTo>
                <a:lnTo>
                  <a:pt x="508545" y="1462587"/>
                </a:lnTo>
                <a:lnTo>
                  <a:pt x="514811" y="1461055"/>
                </a:lnTo>
                <a:lnTo>
                  <a:pt x="512417" y="1457442"/>
                </a:lnTo>
                <a:lnTo>
                  <a:pt x="558095" y="1403355"/>
                </a:lnTo>
                <a:lnTo>
                  <a:pt x="547127" y="1398518"/>
                </a:lnTo>
                <a:lnTo>
                  <a:pt x="501937" y="1403912"/>
                </a:lnTo>
                <a:lnTo>
                  <a:pt x="498061" y="1379081"/>
                </a:lnTo>
                <a:lnTo>
                  <a:pt x="491787" y="1380359"/>
                </a:lnTo>
                <a:lnTo>
                  <a:pt x="493002" y="1386403"/>
                </a:lnTo>
                <a:lnTo>
                  <a:pt x="477122" y="1389503"/>
                </a:lnTo>
                <a:lnTo>
                  <a:pt x="473922" y="1395059"/>
                </a:lnTo>
                <a:lnTo>
                  <a:pt x="477506" y="1412624"/>
                </a:lnTo>
                <a:lnTo>
                  <a:pt x="469569" y="1426782"/>
                </a:lnTo>
                <a:lnTo>
                  <a:pt x="478278" y="1441239"/>
                </a:lnTo>
                <a:lnTo>
                  <a:pt x="469531" y="1442567"/>
                </a:lnTo>
                <a:lnTo>
                  <a:pt x="463149" y="1455437"/>
                </a:lnTo>
                <a:lnTo>
                  <a:pt x="457932" y="1454303"/>
                </a:lnTo>
                <a:lnTo>
                  <a:pt x="462832" y="1480139"/>
                </a:lnTo>
                <a:lnTo>
                  <a:pt x="458454" y="1487244"/>
                </a:lnTo>
                <a:lnTo>
                  <a:pt x="447237" y="1490232"/>
                </a:lnTo>
                <a:lnTo>
                  <a:pt x="448223" y="1498219"/>
                </a:lnTo>
                <a:lnTo>
                  <a:pt x="441654" y="1503887"/>
                </a:lnTo>
                <a:lnTo>
                  <a:pt x="421158" y="1488581"/>
                </a:lnTo>
                <a:lnTo>
                  <a:pt x="426260" y="1475429"/>
                </a:lnTo>
                <a:lnTo>
                  <a:pt x="413172" y="1460846"/>
                </a:lnTo>
                <a:lnTo>
                  <a:pt x="409250" y="1465533"/>
                </a:lnTo>
                <a:lnTo>
                  <a:pt x="401914" y="1457674"/>
                </a:lnTo>
                <a:lnTo>
                  <a:pt x="422688" y="1424808"/>
                </a:lnTo>
                <a:lnTo>
                  <a:pt x="412718" y="1419373"/>
                </a:lnTo>
                <a:lnTo>
                  <a:pt x="421276" y="1404438"/>
                </a:lnTo>
                <a:lnTo>
                  <a:pt x="411809" y="1398943"/>
                </a:lnTo>
                <a:lnTo>
                  <a:pt x="344929" y="1414135"/>
                </a:lnTo>
                <a:lnTo>
                  <a:pt x="340846" y="1405454"/>
                </a:lnTo>
                <a:lnTo>
                  <a:pt x="346446" y="1384146"/>
                </a:lnTo>
                <a:lnTo>
                  <a:pt x="330919" y="1379403"/>
                </a:lnTo>
                <a:lnTo>
                  <a:pt x="330515" y="1368118"/>
                </a:lnTo>
                <a:lnTo>
                  <a:pt x="338568" y="1315616"/>
                </a:lnTo>
                <a:lnTo>
                  <a:pt x="295004" y="1290200"/>
                </a:lnTo>
                <a:lnTo>
                  <a:pt x="312823" y="1245732"/>
                </a:lnTo>
                <a:lnTo>
                  <a:pt x="326825" y="1239059"/>
                </a:lnTo>
                <a:lnTo>
                  <a:pt x="311131" y="1198411"/>
                </a:lnTo>
                <a:lnTo>
                  <a:pt x="298790" y="1189231"/>
                </a:lnTo>
                <a:lnTo>
                  <a:pt x="287919" y="1189044"/>
                </a:lnTo>
                <a:lnTo>
                  <a:pt x="284266" y="1197615"/>
                </a:lnTo>
                <a:lnTo>
                  <a:pt x="199870" y="1160085"/>
                </a:lnTo>
                <a:lnTo>
                  <a:pt x="221696" y="1128488"/>
                </a:lnTo>
                <a:lnTo>
                  <a:pt x="193669" y="1106828"/>
                </a:lnTo>
                <a:lnTo>
                  <a:pt x="148306" y="1095760"/>
                </a:lnTo>
                <a:lnTo>
                  <a:pt x="151396" y="1058409"/>
                </a:lnTo>
                <a:lnTo>
                  <a:pt x="137258" y="1041179"/>
                </a:lnTo>
                <a:lnTo>
                  <a:pt x="157387" y="1007807"/>
                </a:lnTo>
                <a:lnTo>
                  <a:pt x="135334" y="1001446"/>
                </a:lnTo>
                <a:lnTo>
                  <a:pt x="138879" y="985280"/>
                </a:lnTo>
                <a:lnTo>
                  <a:pt x="167114" y="994287"/>
                </a:lnTo>
                <a:lnTo>
                  <a:pt x="174573" y="972890"/>
                </a:lnTo>
                <a:lnTo>
                  <a:pt x="105070" y="967865"/>
                </a:lnTo>
                <a:lnTo>
                  <a:pt x="100413" y="997719"/>
                </a:lnTo>
                <a:lnTo>
                  <a:pt x="82427" y="995690"/>
                </a:lnTo>
                <a:lnTo>
                  <a:pt x="81322" y="1011706"/>
                </a:lnTo>
                <a:lnTo>
                  <a:pt x="64200" y="1010298"/>
                </a:lnTo>
                <a:lnTo>
                  <a:pt x="51671" y="1069309"/>
                </a:lnTo>
                <a:lnTo>
                  <a:pt x="41594" y="1089381"/>
                </a:lnTo>
                <a:lnTo>
                  <a:pt x="19681" y="1078851"/>
                </a:lnTo>
                <a:lnTo>
                  <a:pt x="16984" y="1004486"/>
                </a:lnTo>
                <a:lnTo>
                  <a:pt x="327" y="1005504"/>
                </a:lnTo>
                <a:lnTo>
                  <a:pt x="0" y="998889"/>
                </a:lnTo>
                <a:lnTo>
                  <a:pt x="9877" y="992815"/>
                </a:lnTo>
                <a:lnTo>
                  <a:pt x="8532" y="977737"/>
                </a:lnTo>
                <a:lnTo>
                  <a:pt x="21732" y="977211"/>
                </a:lnTo>
                <a:lnTo>
                  <a:pt x="21045" y="961011"/>
                </a:lnTo>
                <a:lnTo>
                  <a:pt x="26757" y="952701"/>
                </a:lnTo>
                <a:lnTo>
                  <a:pt x="18041" y="946462"/>
                </a:lnTo>
                <a:lnTo>
                  <a:pt x="33853" y="928646"/>
                </a:lnTo>
                <a:lnTo>
                  <a:pt x="22805" y="920989"/>
                </a:lnTo>
                <a:lnTo>
                  <a:pt x="28511" y="919605"/>
                </a:lnTo>
                <a:lnTo>
                  <a:pt x="30575" y="905299"/>
                </a:lnTo>
                <a:lnTo>
                  <a:pt x="42469" y="894253"/>
                </a:lnTo>
                <a:lnTo>
                  <a:pt x="44350" y="885861"/>
                </a:lnTo>
                <a:lnTo>
                  <a:pt x="37338" y="879597"/>
                </a:lnTo>
                <a:lnTo>
                  <a:pt x="49534" y="874881"/>
                </a:lnTo>
                <a:lnTo>
                  <a:pt x="40283" y="866674"/>
                </a:lnTo>
                <a:lnTo>
                  <a:pt x="49214" y="854014"/>
                </a:lnTo>
                <a:lnTo>
                  <a:pt x="47378" y="842969"/>
                </a:lnTo>
                <a:lnTo>
                  <a:pt x="59910" y="841903"/>
                </a:lnTo>
                <a:lnTo>
                  <a:pt x="56422" y="837245"/>
                </a:lnTo>
                <a:lnTo>
                  <a:pt x="62376" y="824563"/>
                </a:lnTo>
                <a:lnTo>
                  <a:pt x="75628" y="814620"/>
                </a:lnTo>
                <a:lnTo>
                  <a:pt x="77307" y="804042"/>
                </a:lnTo>
                <a:lnTo>
                  <a:pt x="85047" y="802893"/>
                </a:lnTo>
                <a:lnTo>
                  <a:pt x="84088" y="793287"/>
                </a:lnTo>
                <a:lnTo>
                  <a:pt x="89630" y="796933"/>
                </a:lnTo>
                <a:lnTo>
                  <a:pt x="94874" y="790885"/>
                </a:lnTo>
                <a:lnTo>
                  <a:pt x="100282" y="801673"/>
                </a:lnTo>
                <a:lnTo>
                  <a:pt x="131461" y="786220"/>
                </a:lnTo>
                <a:lnTo>
                  <a:pt x="146814" y="786173"/>
                </a:lnTo>
                <a:lnTo>
                  <a:pt x="150824" y="791225"/>
                </a:lnTo>
                <a:lnTo>
                  <a:pt x="164867" y="788746"/>
                </a:lnTo>
                <a:lnTo>
                  <a:pt x="178621" y="796399"/>
                </a:lnTo>
                <a:lnTo>
                  <a:pt x="184993" y="786395"/>
                </a:lnTo>
                <a:lnTo>
                  <a:pt x="190736" y="786361"/>
                </a:lnTo>
                <a:lnTo>
                  <a:pt x="188755" y="791655"/>
                </a:lnTo>
                <a:lnTo>
                  <a:pt x="197225" y="796714"/>
                </a:lnTo>
                <a:lnTo>
                  <a:pt x="197757" y="805298"/>
                </a:lnTo>
                <a:lnTo>
                  <a:pt x="212498" y="805910"/>
                </a:lnTo>
                <a:lnTo>
                  <a:pt x="219520" y="816510"/>
                </a:lnTo>
                <a:lnTo>
                  <a:pt x="225684" y="813235"/>
                </a:lnTo>
                <a:lnTo>
                  <a:pt x="230798" y="825357"/>
                </a:lnTo>
                <a:lnTo>
                  <a:pt x="237934" y="821320"/>
                </a:lnTo>
                <a:lnTo>
                  <a:pt x="237614" y="827944"/>
                </a:lnTo>
                <a:lnTo>
                  <a:pt x="245978" y="833059"/>
                </a:lnTo>
                <a:lnTo>
                  <a:pt x="252083" y="828904"/>
                </a:lnTo>
                <a:lnTo>
                  <a:pt x="260106" y="843349"/>
                </a:lnTo>
                <a:lnTo>
                  <a:pt x="273595" y="845692"/>
                </a:lnTo>
                <a:lnTo>
                  <a:pt x="270784" y="853963"/>
                </a:lnTo>
                <a:lnTo>
                  <a:pt x="276955" y="852861"/>
                </a:lnTo>
                <a:lnTo>
                  <a:pt x="278067" y="859701"/>
                </a:lnTo>
                <a:lnTo>
                  <a:pt x="287493" y="862056"/>
                </a:lnTo>
                <a:lnTo>
                  <a:pt x="293231" y="874800"/>
                </a:lnTo>
                <a:lnTo>
                  <a:pt x="302915" y="877497"/>
                </a:lnTo>
                <a:lnTo>
                  <a:pt x="308986" y="871425"/>
                </a:lnTo>
                <a:lnTo>
                  <a:pt x="318145" y="873813"/>
                </a:lnTo>
                <a:lnTo>
                  <a:pt x="316628" y="880684"/>
                </a:lnTo>
                <a:lnTo>
                  <a:pt x="322320" y="876278"/>
                </a:lnTo>
                <a:lnTo>
                  <a:pt x="328994" y="880724"/>
                </a:lnTo>
                <a:lnTo>
                  <a:pt x="331076" y="875364"/>
                </a:lnTo>
                <a:lnTo>
                  <a:pt x="335292" y="878504"/>
                </a:lnTo>
                <a:lnTo>
                  <a:pt x="351755" y="869388"/>
                </a:lnTo>
                <a:lnTo>
                  <a:pt x="352334" y="874995"/>
                </a:lnTo>
                <a:lnTo>
                  <a:pt x="359810" y="872451"/>
                </a:lnTo>
                <a:lnTo>
                  <a:pt x="367975" y="878434"/>
                </a:lnTo>
                <a:lnTo>
                  <a:pt x="375963" y="894557"/>
                </a:lnTo>
                <a:lnTo>
                  <a:pt x="382320" y="891195"/>
                </a:lnTo>
                <a:lnTo>
                  <a:pt x="381654" y="899417"/>
                </a:lnTo>
                <a:lnTo>
                  <a:pt x="390798" y="895202"/>
                </a:lnTo>
                <a:lnTo>
                  <a:pt x="390821" y="900916"/>
                </a:lnTo>
                <a:lnTo>
                  <a:pt x="402457" y="908919"/>
                </a:lnTo>
                <a:lnTo>
                  <a:pt x="419032" y="901050"/>
                </a:lnTo>
                <a:lnTo>
                  <a:pt x="473559" y="923877"/>
                </a:lnTo>
                <a:lnTo>
                  <a:pt x="484465" y="918827"/>
                </a:lnTo>
                <a:lnTo>
                  <a:pt x="499684" y="924227"/>
                </a:lnTo>
                <a:lnTo>
                  <a:pt x="523334" y="920497"/>
                </a:lnTo>
                <a:lnTo>
                  <a:pt x="555868" y="897858"/>
                </a:lnTo>
                <a:lnTo>
                  <a:pt x="575299" y="908485"/>
                </a:lnTo>
                <a:lnTo>
                  <a:pt x="626401" y="909909"/>
                </a:lnTo>
                <a:lnTo>
                  <a:pt x="681846" y="876855"/>
                </a:lnTo>
                <a:lnTo>
                  <a:pt x="700341" y="834945"/>
                </a:lnTo>
                <a:lnTo>
                  <a:pt x="709893" y="788140"/>
                </a:lnTo>
                <a:lnTo>
                  <a:pt x="747928" y="694685"/>
                </a:lnTo>
                <a:lnTo>
                  <a:pt x="752856" y="692160"/>
                </a:lnTo>
                <a:lnTo>
                  <a:pt x="745297" y="651433"/>
                </a:lnTo>
                <a:lnTo>
                  <a:pt x="772427" y="650207"/>
                </a:lnTo>
                <a:lnTo>
                  <a:pt x="872887" y="622353"/>
                </a:lnTo>
                <a:lnTo>
                  <a:pt x="880840" y="627949"/>
                </a:lnTo>
                <a:lnTo>
                  <a:pt x="876484" y="624820"/>
                </a:lnTo>
                <a:lnTo>
                  <a:pt x="891203" y="610391"/>
                </a:lnTo>
                <a:lnTo>
                  <a:pt x="900673" y="584723"/>
                </a:lnTo>
                <a:lnTo>
                  <a:pt x="918966" y="565205"/>
                </a:lnTo>
                <a:lnTo>
                  <a:pt x="936921" y="557891"/>
                </a:lnTo>
                <a:lnTo>
                  <a:pt x="946545" y="542862"/>
                </a:lnTo>
                <a:lnTo>
                  <a:pt x="965775" y="539239"/>
                </a:lnTo>
                <a:lnTo>
                  <a:pt x="984736" y="525335"/>
                </a:lnTo>
                <a:lnTo>
                  <a:pt x="989033" y="509720"/>
                </a:lnTo>
                <a:lnTo>
                  <a:pt x="984662" y="506966"/>
                </a:lnTo>
                <a:lnTo>
                  <a:pt x="988167" y="502161"/>
                </a:lnTo>
                <a:lnTo>
                  <a:pt x="983916" y="488419"/>
                </a:lnTo>
                <a:lnTo>
                  <a:pt x="989757" y="484143"/>
                </a:lnTo>
                <a:lnTo>
                  <a:pt x="1001371" y="450072"/>
                </a:lnTo>
                <a:lnTo>
                  <a:pt x="1007085" y="429378"/>
                </a:lnTo>
                <a:lnTo>
                  <a:pt x="1001779" y="423454"/>
                </a:lnTo>
                <a:lnTo>
                  <a:pt x="1008089" y="418256"/>
                </a:lnTo>
                <a:lnTo>
                  <a:pt x="1011451" y="385718"/>
                </a:lnTo>
                <a:lnTo>
                  <a:pt x="1018824" y="382200"/>
                </a:lnTo>
                <a:lnTo>
                  <a:pt x="1019156" y="370903"/>
                </a:lnTo>
                <a:lnTo>
                  <a:pt x="1024543" y="371044"/>
                </a:lnTo>
                <a:lnTo>
                  <a:pt x="1027280" y="380841"/>
                </a:lnTo>
                <a:lnTo>
                  <a:pt x="1035032" y="377897"/>
                </a:lnTo>
                <a:lnTo>
                  <a:pt x="1037607" y="370964"/>
                </a:lnTo>
                <a:lnTo>
                  <a:pt x="1032600" y="363033"/>
                </a:lnTo>
                <a:lnTo>
                  <a:pt x="1042142" y="360731"/>
                </a:lnTo>
                <a:lnTo>
                  <a:pt x="1046431" y="350403"/>
                </a:lnTo>
                <a:lnTo>
                  <a:pt x="1055255" y="352332"/>
                </a:lnTo>
                <a:lnTo>
                  <a:pt x="1050818" y="340624"/>
                </a:lnTo>
                <a:lnTo>
                  <a:pt x="1066295" y="343632"/>
                </a:lnTo>
                <a:lnTo>
                  <a:pt x="1064419" y="334339"/>
                </a:lnTo>
                <a:lnTo>
                  <a:pt x="1090542" y="325844"/>
                </a:lnTo>
                <a:lnTo>
                  <a:pt x="1097242" y="310678"/>
                </a:lnTo>
                <a:lnTo>
                  <a:pt x="1102731" y="309449"/>
                </a:lnTo>
                <a:lnTo>
                  <a:pt x="1101798" y="316614"/>
                </a:lnTo>
                <a:lnTo>
                  <a:pt x="1107627" y="317006"/>
                </a:lnTo>
                <a:lnTo>
                  <a:pt x="1108455" y="309849"/>
                </a:lnTo>
                <a:lnTo>
                  <a:pt x="1115850" y="307461"/>
                </a:lnTo>
                <a:lnTo>
                  <a:pt x="1114053" y="313539"/>
                </a:lnTo>
                <a:lnTo>
                  <a:pt x="1118858" y="317080"/>
                </a:lnTo>
                <a:lnTo>
                  <a:pt x="1123802" y="306487"/>
                </a:lnTo>
                <a:lnTo>
                  <a:pt x="1144259" y="307049"/>
                </a:lnTo>
                <a:lnTo>
                  <a:pt x="1153538" y="295965"/>
                </a:lnTo>
                <a:lnTo>
                  <a:pt x="1155290" y="276643"/>
                </a:lnTo>
                <a:lnTo>
                  <a:pt x="1162058" y="272152"/>
                </a:lnTo>
                <a:lnTo>
                  <a:pt x="1162508" y="264255"/>
                </a:lnTo>
                <a:lnTo>
                  <a:pt x="1173575" y="266912"/>
                </a:lnTo>
                <a:lnTo>
                  <a:pt x="1183129" y="259592"/>
                </a:lnTo>
                <a:lnTo>
                  <a:pt x="1195323" y="268586"/>
                </a:lnTo>
                <a:lnTo>
                  <a:pt x="1205917" y="253595"/>
                </a:lnTo>
                <a:lnTo>
                  <a:pt x="1201684" y="244152"/>
                </a:lnTo>
                <a:lnTo>
                  <a:pt x="1211934" y="244407"/>
                </a:lnTo>
                <a:lnTo>
                  <a:pt x="1213091" y="237334"/>
                </a:lnTo>
                <a:lnTo>
                  <a:pt x="1242230" y="224016"/>
                </a:lnTo>
                <a:lnTo>
                  <a:pt x="1242583" y="201276"/>
                </a:lnTo>
                <a:lnTo>
                  <a:pt x="1266942" y="189143"/>
                </a:lnTo>
                <a:lnTo>
                  <a:pt x="1268409" y="168826"/>
                </a:lnTo>
                <a:lnTo>
                  <a:pt x="1294742" y="153279"/>
                </a:lnTo>
                <a:lnTo>
                  <a:pt x="1302722" y="132784"/>
                </a:lnTo>
                <a:lnTo>
                  <a:pt x="1341099" y="104751"/>
                </a:lnTo>
                <a:lnTo>
                  <a:pt x="1384259" y="109132"/>
                </a:lnTo>
                <a:lnTo>
                  <a:pt x="1457978" y="85990"/>
                </a:lnTo>
                <a:lnTo>
                  <a:pt x="1457829" y="79951"/>
                </a:lnTo>
                <a:lnTo>
                  <a:pt x="1464185" y="76717"/>
                </a:lnTo>
                <a:lnTo>
                  <a:pt x="1480114" y="78705"/>
                </a:lnTo>
                <a:lnTo>
                  <a:pt x="1492140" y="58641"/>
                </a:lnTo>
                <a:lnTo>
                  <a:pt x="1491425" y="41045"/>
                </a:lnTo>
                <a:lnTo>
                  <a:pt x="1508888" y="18149"/>
                </a:lnTo>
                <a:lnTo>
                  <a:pt x="1536066" y="18871"/>
                </a:lnTo>
                <a:lnTo>
                  <a:pt x="1552339" y="9840"/>
                </a:lnTo>
                <a:lnTo>
                  <a:pt x="1576648" y="12923"/>
                </a:lnTo>
                <a:lnTo>
                  <a:pt x="1579974" y="17566"/>
                </a:lnTo>
                <a:lnTo>
                  <a:pt x="1610981" y="8793"/>
                </a:lnTo>
                <a:lnTo>
                  <a:pt x="1626085" y="12369"/>
                </a:lnTo>
                <a:lnTo>
                  <a:pt x="1628981" y="6002"/>
                </a:lnTo>
                <a:lnTo>
                  <a:pt x="1645859" y="7392"/>
                </a:lnTo>
                <a:lnTo>
                  <a:pt x="1657181" y="0"/>
                </a:lnTo>
                <a:lnTo>
                  <a:pt x="1684876" y="5207"/>
                </a:lnTo>
                <a:lnTo>
                  <a:pt x="1710823" y="19780"/>
                </a:lnTo>
                <a:lnTo>
                  <a:pt x="1720667" y="18983"/>
                </a:lnTo>
                <a:lnTo>
                  <a:pt x="1730872" y="28133"/>
                </a:lnTo>
                <a:lnTo>
                  <a:pt x="1742181" y="29802"/>
                </a:lnTo>
                <a:lnTo>
                  <a:pt x="1743866" y="36178"/>
                </a:lnTo>
                <a:lnTo>
                  <a:pt x="1767248" y="51796"/>
                </a:lnTo>
                <a:lnTo>
                  <a:pt x="1792349" y="48953"/>
                </a:lnTo>
                <a:lnTo>
                  <a:pt x="1805821" y="64951"/>
                </a:lnTo>
                <a:lnTo>
                  <a:pt x="1853544" y="56810"/>
                </a:lnTo>
                <a:lnTo>
                  <a:pt x="1887160" y="63400"/>
                </a:lnTo>
                <a:lnTo>
                  <a:pt x="1894925" y="57276"/>
                </a:lnTo>
                <a:lnTo>
                  <a:pt x="1936028" y="54308"/>
                </a:lnTo>
                <a:lnTo>
                  <a:pt x="1995544" y="71737"/>
                </a:lnTo>
                <a:lnTo>
                  <a:pt x="2013477" y="67374"/>
                </a:lnTo>
                <a:lnTo>
                  <a:pt x="2024932" y="78207"/>
                </a:lnTo>
                <a:lnTo>
                  <a:pt x="2038102" y="78573"/>
                </a:lnTo>
                <a:lnTo>
                  <a:pt x="2047182" y="92956"/>
                </a:lnTo>
                <a:lnTo>
                  <a:pt x="2098145" y="294162"/>
                </a:lnTo>
                <a:lnTo>
                  <a:pt x="2094059" y="366559"/>
                </a:lnTo>
                <a:lnTo>
                  <a:pt x="2122689" y="405842"/>
                </a:lnTo>
                <a:lnTo>
                  <a:pt x="2123129" y="429533"/>
                </a:lnTo>
                <a:lnTo>
                  <a:pt x="2137866" y="472814"/>
                </a:lnTo>
                <a:lnTo>
                  <a:pt x="2163148" y="491433"/>
                </a:lnTo>
                <a:lnTo>
                  <a:pt x="2163491" y="499018"/>
                </a:lnTo>
                <a:lnTo>
                  <a:pt x="2166551" y="549855"/>
                </a:lnTo>
                <a:lnTo>
                  <a:pt x="2183459" y="581487"/>
                </a:lnTo>
                <a:lnTo>
                  <a:pt x="2187474" y="620752"/>
                </a:lnTo>
                <a:lnTo>
                  <a:pt x="2180832" y="680615"/>
                </a:lnTo>
                <a:lnTo>
                  <a:pt x="2181916" y="807091"/>
                </a:lnTo>
                <a:lnTo>
                  <a:pt x="2175287" y="857812"/>
                </a:lnTo>
                <a:lnTo>
                  <a:pt x="2165242" y="880862"/>
                </a:lnTo>
                <a:lnTo>
                  <a:pt x="2169514" y="924808"/>
                </a:lnTo>
                <a:lnTo>
                  <a:pt x="2149353" y="973780"/>
                </a:lnTo>
                <a:lnTo>
                  <a:pt x="2157737" y="1003079"/>
                </a:lnTo>
                <a:lnTo>
                  <a:pt x="2132705" y="1013545"/>
                </a:lnTo>
                <a:lnTo>
                  <a:pt x="2032245" y="936083"/>
                </a:lnTo>
                <a:lnTo>
                  <a:pt x="2008750" y="941073"/>
                </a:lnTo>
                <a:lnTo>
                  <a:pt x="1962818" y="984347"/>
                </a:lnTo>
                <a:lnTo>
                  <a:pt x="1920636" y="1069486"/>
                </a:lnTo>
                <a:lnTo>
                  <a:pt x="1903926" y="1083804"/>
                </a:lnTo>
                <a:lnTo>
                  <a:pt x="1882250" y="1120116"/>
                </a:lnTo>
                <a:lnTo>
                  <a:pt x="1876079" y="1182736"/>
                </a:lnTo>
                <a:lnTo>
                  <a:pt x="1879502" y="1216513"/>
                </a:lnTo>
                <a:lnTo>
                  <a:pt x="1898371" y="1202457"/>
                </a:lnTo>
                <a:lnTo>
                  <a:pt x="1901017" y="1221768"/>
                </a:lnTo>
                <a:lnTo>
                  <a:pt x="1915560" y="1234854"/>
                </a:lnTo>
                <a:lnTo>
                  <a:pt x="1911048" y="1256132"/>
                </a:lnTo>
                <a:lnTo>
                  <a:pt x="1916537" y="1267896"/>
                </a:lnTo>
                <a:lnTo>
                  <a:pt x="1952315" y="1312008"/>
                </a:lnTo>
                <a:lnTo>
                  <a:pt x="1980013" y="1323971"/>
                </a:lnTo>
                <a:lnTo>
                  <a:pt x="1953682" y="1354733"/>
                </a:lnTo>
                <a:lnTo>
                  <a:pt x="1938893" y="1344044"/>
                </a:lnTo>
                <a:lnTo>
                  <a:pt x="1902746" y="1352057"/>
                </a:lnTo>
                <a:lnTo>
                  <a:pt x="1898954" y="1335713"/>
                </a:lnTo>
                <a:lnTo>
                  <a:pt x="1886041" y="1337032"/>
                </a:lnTo>
                <a:lnTo>
                  <a:pt x="1883772" y="1344769"/>
                </a:lnTo>
                <a:lnTo>
                  <a:pt x="1875609" y="1347155"/>
                </a:lnTo>
                <a:lnTo>
                  <a:pt x="1868494" y="1336214"/>
                </a:lnTo>
                <a:lnTo>
                  <a:pt x="1864245" y="1339486"/>
                </a:lnTo>
                <a:lnTo>
                  <a:pt x="1852616" y="1328021"/>
                </a:lnTo>
                <a:lnTo>
                  <a:pt x="1822361" y="1336663"/>
                </a:lnTo>
                <a:lnTo>
                  <a:pt x="1802050" y="1332990"/>
                </a:lnTo>
                <a:lnTo>
                  <a:pt x="1790672" y="1336401"/>
                </a:lnTo>
                <a:lnTo>
                  <a:pt x="1785734" y="1332904"/>
                </a:lnTo>
                <a:lnTo>
                  <a:pt x="1786349" y="1321372"/>
                </a:lnTo>
                <a:lnTo>
                  <a:pt x="1772956" y="1320156"/>
                </a:lnTo>
                <a:lnTo>
                  <a:pt x="1772258" y="1331461"/>
                </a:lnTo>
                <a:lnTo>
                  <a:pt x="1753026" y="1331313"/>
                </a:lnTo>
                <a:lnTo>
                  <a:pt x="1751849" y="1345130"/>
                </a:lnTo>
                <a:lnTo>
                  <a:pt x="1741402" y="1347785"/>
                </a:lnTo>
                <a:lnTo>
                  <a:pt x="1733340" y="1340889"/>
                </a:lnTo>
                <a:lnTo>
                  <a:pt x="1720258" y="1355234"/>
                </a:lnTo>
                <a:lnTo>
                  <a:pt x="1707839" y="1343208"/>
                </a:lnTo>
                <a:lnTo>
                  <a:pt x="1691450" y="1349968"/>
                </a:lnTo>
                <a:lnTo>
                  <a:pt x="1669326" y="1337996"/>
                </a:lnTo>
                <a:lnTo>
                  <a:pt x="1664812" y="1345852"/>
                </a:lnTo>
                <a:lnTo>
                  <a:pt x="1651518" y="1343567"/>
                </a:lnTo>
                <a:lnTo>
                  <a:pt x="1640715" y="1363287"/>
                </a:lnTo>
                <a:lnTo>
                  <a:pt x="1629631" y="1357078"/>
                </a:lnTo>
                <a:lnTo>
                  <a:pt x="1627982" y="1357614"/>
                </a:lnTo>
                <a:lnTo>
                  <a:pt x="1632310" y="1359079"/>
                </a:lnTo>
                <a:lnTo>
                  <a:pt x="1620660" y="1363535"/>
                </a:lnTo>
                <a:lnTo>
                  <a:pt x="1625769" y="1370434"/>
                </a:lnTo>
                <a:lnTo>
                  <a:pt x="1620353" y="1376789"/>
                </a:lnTo>
                <a:lnTo>
                  <a:pt x="1631399" y="1380689"/>
                </a:lnTo>
                <a:lnTo>
                  <a:pt x="1636798" y="1398732"/>
                </a:lnTo>
                <a:lnTo>
                  <a:pt x="1610347" y="1411465"/>
                </a:lnTo>
                <a:lnTo>
                  <a:pt x="1618475" y="1424063"/>
                </a:lnTo>
                <a:lnTo>
                  <a:pt x="1616554" y="1441453"/>
                </a:lnTo>
                <a:lnTo>
                  <a:pt x="1622449" y="1452278"/>
                </a:lnTo>
                <a:lnTo>
                  <a:pt x="1614515" y="1456165"/>
                </a:lnTo>
                <a:lnTo>
                  <a:pt x="1612296" y="1474322"/>
                </a:lnTo>
                <a:lnTo>
                  <a:pt x="1603734" y="1481042"/>
                </a:lnTo>
                <a:lnTo>
                  <a:pt x="1609284" y="1490003"/>
                </a:lnTo>
                <a:lnTo>
                  <a:pt x="1602637" y="1492120"/>
                </a:lnTo>
                <a:lnTo>
                  <a:pt x="1594153" y="1512309"/>
                </a:lnTo>
                <a:lnTo>
                  <a:pt x="1602478" y="1523689"/>
                </a:lnTo>
                <a:lnTo>
                  <a:pt x="1603734" y="1537054"/>
                </a:lnTo>
                <a:lnTo>
                  <a:pt x="1603286" y="1546057"/>
                </a:lnTo>
                <a:lnTo>
                  <a:pt x="1594941" y="1547907"/>
                </a:lnTo>
                <a:lnTo>
                  <a:pt x="1590858" y="1555249"/>
                </a:lnTo>
                <a:lnTo>
                  <a:pt x="1592910" y="1562035"/>
                </a:lnTo>
                <a:lnTo>
                  <a:pt x="1561669" y="1568776"/>
                </a:lnTo>
                <a:lnTo>
                  <a:pt x="1545180" y="1594715"/>
                </a:lnTo>
                <a:lnTo>
                  <a:pt x="1535978" y="1593349"/>
                </a:lnTo>
                <a:lnTo>
                  <a:pt x="1516555" y="1609539"/>
                </a:lnTo>
                <a:lnTo>
                  <a:pt x="1507336" y="1605883"/>
                </a:lnTo>
                <a:lnTo>
                  <a:pt x="1493793" y="1623038"/>
                </a:lnTo>
                <a:lnTo>
                  <a:pt x="1499151" y="1629697"/>
                </a:lnTo>
                <a:lnTo>
                  <a:pt x="1494441" y="1636185"/>
                </a:lnTo>
                <a:lnTo>
                  <a:pt x="1488839" y="1632145"/>
                </a:lnTo>
                <a:lnTo>
                  <a:pt x="1480402" y="1641137"/>
                </a:lnTo>
                <a:lnTo>
                  <a:pt x="1471864" y="1635411"/>
                </a:lnTo>
                <a:lnTo>
                  <a:pt x="1444019" y="1642012"/>
                </a:lnTo>
                <a:lnTo>
                  <a:pt x="1436334" y="1661299"/>
                </a:lnTo>
                <a:lnTo>
                  <a:pt x="1425730" y="1671182"/>
                </a:lnTo>
                <a:lnTo>
                  <a:pt x="1419756" y="1691425"/>
                </a:lnTo>
                <a:lnTo>
                  <a:pt x="1416270" y="1687535"/>
                </a:lnTo>
                <a:lnTo>
                  <a:pt x="1405077" y="1691160"/>
                </a:lnTo>
                <a:lnTo>
                  <a:pt x="1405072" y="1675379"/>
                </a:lnTo>
                <a:lnTo>
                  <a:pt x="1382520" y="1664825"/>
                </a:lnTo>
                <a:lnTo>
                  <a:pt x="1382696" y="1651180"/>
                </a:lnTo>
                <a:lnTo>
                  <a:pt x="1371285" y="1638721"/>
                </a:lnTo>
                <a:lnTo>
                  <a:pt x="1357311" y="1647922"/>
                </a:lnTo>
                <a:lnTo>
                  <a:pt x="1314614" y="1650735"/>
                </a:lnTo>
                <a:lnTo>
                  <a:pt x="1302257" y="1670638"/>
                </a:lnTo>
                <a:lnTo>
                  <a:pt x="1292273" y="1667528"/>
                </a:lnTo>
                <a:lnTo>
                  <a:pt x="1286765" y="1673147"/>
                </a:lnTo>
                <a:lnTo>
                  <a:pt x="1276163" y="1667782"/>
                </a:lnTo>
                <a:lnTo>
                  <a:pt x="1267696" y="1671684"/>
                </a:lnTo>
                <a:lnTo>
                  <a:pt x="1264809" y="1667161"/>
                </a:lnTo>
                <a:lnTo>
                  <a:pt x="1234170" y="1698136"/>
                </a:lnTo>
                <a:lnTo>
                  <a:pt x="1228851" y="1713633"/>
                </a:lnTo>
                <a:lnTo>
                  <a:pt x="1220210" y="1714396"/>
                </a:lnTo>
                <a:lnTo>
                  <a:pt x="1208680" y="1705232"/>
                </a:lnTo>
                <a:lnTo>
                  <a:pt x="1198299" y="1712897"/>
                </a:lnTo>
                <a:lnTo>
                  <a:pt x="1197011" y="1722459"/>
                </a:lnTo>
                <a:lnTo>
                  <a:pt x="1183933" y="1718769"/>
                </a:lnTo>
                <a:lnTo>
                  <a:pt x="1180767" y="1723187"/>
                </a:lnTo>
                <a:lnTo>
                  <a:pt x="1166906" y="1716780"/>
                </a:lnTo>
                <a:lnTo>
                  <a:pt x="1168445" y="1727229"/>
                </a:lnTo>
                <a:lnTo>
                  <a:pt x="1159636" y="1729925"/>
                </a:lnTo>
                <a:lnTo>
                  <a:pt x="1157142" y="1745412"/>
                </a:lnTo>
                <a:lnTo>
                  <a:pt x="1150785" y="1743604"/>
                </a:lnTo>
                <a:lnTo>
                  <a:pt x="1147841" y="1753870"/>
                </a:lnTo>
                <a:lnTo>
                  <a:pt x="1140714" y="1754176"/>
                </a:lnTo>
                <a:lnTo>
                  <a:pt x="1148199" y="1762396"/>
                </a:lnTo>
                <a:lnTo>
                  <a:pt x="1140326" y="1763315"/>
                </a:lnTo>
                <a:lnTo>
                  <a:pt x="1141410" y="1772573"/>
                </a:lnTo>
                <a:lnTo>
                  <a:pt x="1131215" y="1777317"/>
                </a:lnTo>
                <a:lnTo>
                  <a:pt x="1133936" y="1784313"/>
                </a:lnTo>
                <a:lnTo>
                  <a:pt x="1126392" y="1784695"/>
                </a:lnTo>
                <a:lnTo>
                  <a:pt x="1111342" y="1799238"/>
                </a:lnTo>
                <a:lnTo>
                  <a:pt x="1116965" y="1808430"/>
                </a:lnTo>
                <a:lnTo>
                  <a:pt x="1105174" y="1818949"/>
                </a:lnTo>
                <a:lnTo>
                  <a:pt x="1097416" y="1817692"/>
                </a:lnTo>
                <a:lnTo>
                  <a:pt x="1101273" y="1823547"/>
                </a:lnTo>
                <a:lnTo>
                  <a:pt x="1093120" y="1826932"/>
                </a:lnTo>
                <a:lnTo>
                  <a:pt x="1092022" y="1836840"/>
                </a:lnTo>
                <a:lnTo>
                  <a:pt x="1086385" y="1834452"/>
                </a:lnTo>
                <a:lnTo>
                  <a:pt x="1090087" y="1844865"/>
                </a:lnTo>
                <a:lnTo>
                  <a:pt x="1074671" y="1856883"/>
                </a:lnTo>
                <a:lnTo>
                  <a:pt x="1075485" y="1865371"/>
                </a:lnTo>
                <a:lnTo>
                  <a:pt x="1063113" y="1868054"/>
                </a:lnTo>
                <a:lnTo>
                  <a:pt x="1062912" y="1877327"/>
                </a:lnTo>
                <a:lnTo>
                  <a:pt x="1044118" y="1879789"/>
                </a:lnTo>
                <a:lnTo>
                  <a:pt x="1039653" y="1885892"/>
                </a:lnTo>
                <a:lnTo>
                  <a:pt x="1028850" y="1883725"/>
                </a:lnTo>
                <a:lnTo>
                  <a:pt x="1013167" y="1897275"/>
                </a:lnTo>
                <a:lnTo>
                  <a:pt x="1009034" y="1892648"/>
                </a:lnTo>
                <a:lnTo>
                  <a:pt x="1006827" y="1902808"/>
                </a:lnTo>
                <a:lnTo>
                  <a:pt x="998229" y="1897466"/>
                </a:lnTo>
                <a:lnTo>
                  <a:pt x="996919" y="1908734"/>
                </a:lnTo>
                <a:lnTo>
                  <a:pt x="1015199" y="1926699"/>
                </a:lnTo>
                <a:lnTo>
                  <a:pt x="1041121" y="1998837"/>
                </a:lnTo>
                <a:lnTo>
                  <a:pt x="1058173" y="2010954"/>
                </a:lnTo>
                <a:lnTo>
                  <a:pt x="1064449" y="2034619"/>
                </a:lnTo>
                <a:lnTo>
                  <a:pt x="1082341" y="2034061"/>
                </a:lnTo>
                <a:lnTo>
                  <a:pt x="1072650" y="2052653"/>
                </a:lnTo>
                <a:lnTo>
                  <a:pt x="1072686" y="2066952"/>
                </a:lnTo>
                <a:lnTo>
                  <a:pt x="1078781" y="2075734"/>
                </a:lnTo>
                <a:lnTo>
                  <a:pt x="1071476" y="2079685"/>
                </a:lnTo>
                <a:lnTo>
                  <a:pt x="1072487" y="2091775"/>
                </a:lnTo>
                <a:lnTo>
                  <a:pt x="1077672" y="2088451"/>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5" name="Working geographic region: Other / Northern Cape"/>
          <p:cNvSpPr/>
          <p:nvPr/>
        </p:nvSpPr>
        <p:spPr>
          <a:xfrm>
            <a:off x="1778571" y="2997493"/>
            <a:ext cx="2047002" cy="2085814"/>
          </a:xfrm>
          <a:custGeom>
            <a:avLst/>
            <a:gdLst/>
            <a:ahLst/>
            <a:cxnLst/>
            <a:rect l="l" t="t" r="r" b="b"/>
            <a:pathLst>
              <a:path w="2047002" h="2085814">
                <a:moveTo>
                  <a:pt x="2027994" y="1475194"/>
                </a:moveTo>
                <a:lnTo>
                  <a:pt x="2031745" y="1513784"/>
                </a:lnTo>
                <a:lnTo>
                  <a:pt x="2047002" y="1516938"/>
                </a:lnTo>
                <a:lnTo>
                  <a:pt x="2029680" y="1537034"/>
                </a:lnTo>
                <a:lnTo>
                  <a:pt x="2039904" y="1545178"/>
                </a:lnTo>
                <a:lnTo>
                  <a:pt x="2038334" y="1559037"/>
                </a:lnTo>
                <a:lnTo>
                  <a:pt x="2030381" y="1566206"/>
                </a:lnTo>
                <a:lnTo>
                  <a:pt x="2036214" y="1572244"/>
                </a:lnTo>
                <a:lnTo>
                  <a:pt x="2022328" y="1586026"/>
                </a:lnTo>
                <a:lnTo>
                  <a:pt x="2023952" y="1595934"/>
                </a:lnTo>
                <a:lnTo>
                  <a:pt x="2010294" y="1608871"/>
                </a:lnTo>
                <a:lnTo>
                  <a:pt x="2010598" y="1625976"/>
                </a:lnTo>
                <a:lnTo>
                  <a:pt x="2003593" y="1630599"/>
                </a:lnTo>
                <a:lnTo>
                  <a:pt x="1972072" y="1619296"/>
                </a:lnTo>
                <a:lnTo>
                  <a:pt x="1963147" y="1631321"/>
                </a:lnTo>
                <a:lnTo>
                  <a:pt x="1938515" y="1639022"/>
                </a:lnTo>
                <a:lnTo>
                  <a:pt x="1926899" y="1637412"/>
                </a:lnTo>
                <a:lnTo>
                  <a:pt x="1911074" y="1652067"/>
                </a:lnTo>
                <a:lnTo>
                  <a:pt x="1893370" y="1654086"/>
                </a:lnTo>
                <a:lnTo>
                  <a:pt x="1895553" y="1665696"/>
                </a:lnTo>
                <a:lnTo>
                  <a:pt x="1887343" y="1661333"/>
                </a:lnTo>
                <a:lnTo>
                  <a:pt x="1879273" y="1669774"/>
                </a:lnTo>
                <a:lnTo>
                  <a:pt x="1862148" y="1674939"/>
                </a:lnTo>
                <a:lnTo>
                  <a:pt x="1852115" y="1668354"/>
                </a:lnTo>
                <a:lnTo>
                  <a:pt x="1837005" y="1672372"/>
                </a:lnTo>
                <a:lnTo>
                  <a:pt x="1830679" y="1677372"/>
                </a:lnTo>
                <a:lnTo>
                  <a:pt x="1828912" y="1693544"/>
                </a:lnTo>
                <a:lnTo>
                  <a:pt x="1820287" y="1697686"/>
                </a:lnTo>
                <a:lnTo>
                  <a:pt x="1819353" y="1750654"/>
                </a:lnTo>
                <a:lnTo>
                  <a:pt x="1803417" y="1752680"/>
                </a:lnTo>
                <a:lnTo>
                  <a:pt x="1797120" y="1746546"/>
                </a:lnTo>
                <a:lnTo>
                  <a:pt x="1799486" y="1752451"/>
                </a:lnTo>
                <a:lnTo>
                  <a:pt x="1781418" y="1753107"/>
                </a:lnTo>
                <a:lnTo>
                  <a:pt x="1769323" y="1766313"/>
                </a:lnTo>
                <a:lnTo>
                  <a:pt x="1742286" y="1760091"/>
                </a:lnTo>
                <a:lnTo>
                  <a:pt x="1740383" y="1772500"/>
                </a:lnTo>
                <a:lnTo>
                  <a:pt x="1722603" y="1777363"/>
                </a:lnTo>
                <a:lnTo>
                  <a:pt x="1713159" y="1757765"/>
                </a:lnTo>
                <a:lnTo>
                  <a:pt x="1717115" y="1751726"/>
                </a:lnTo>
                <a:lnTo>
                  <a:pt x="1698785" y="1751878"/>
                </a:lnTo>
                <a:lnTo>
                  <a:pt x="1695796" y="1768956"/>
                </a:lnTo>
                <a:lnTo>
                  <a:pt x="1684016" y="1785295"/>
                </a:lnTo>
                <a:lnTo>
                  <a:pt x="1671402" y="1767802"/>
                </a:lnTo>
                <a:lnTo>
                  <a:pt x="1665130" y="1766778"/>
                </a:lnTo>
                <a:lnTo>
                  <a:pt x="1672223" y="1754275"/>
                </a:lnTo>
                <a:lnTo>
                  <a:pt x="1653560" y="1749518"/>
                </a:lnTo>
                <a:lnTo>
                  <a:pt x="1644373" y="1737170"/>
                </a:lnTo>
                <a:lnTo>
                  <a:pt x="1623361" y="1738020"/>
                </a:lnTo>
                <a:lnTo>
                  <a:pt x="1602700" y="1752573"/>
                </a:lnTo>
                <a:lnTo>
                  <a:pt x="1579075" y="1744414"/>
                </a:lnTo>
                <a:lnTo>
                  <a:pt x="1577178" y="1755077"/>
                </a:lnTo>
                <a:lnTo>
                  <a:pt x="1554346" y="1759583"/>
                </a:lnTo>
                <a:lnTo>
                  <a:pt x="1539182" y="1797041"/>
                </a:lnTo>
                <a:lnTo>
                  <a:pt x="1510832" y="1823586"/>
                </a:lnTo>
                <a:lnTo>
                  <a:pt x="1502044" y="1817884"/>
                </a:lnTo>
                <a:lnTo>
                  <a:pt x="1503660" y="1801458"/>
                </a:lnTo>
                <a:lnTo>
                  <a:pt x="1497339" y="1798164"/>
                </a:lnTo>
                <a:lnTo>
                  <a:pt x="1483531" y="1794149"/>
                </a:lnTo>
                <a:lnTo>
                  <a:pt x="1467469" y="1798256"/>
                </a:lnTo>
                <a:lnTo>
                  <a:pt x="1457801" y="1783726"/>
                </a:lnTo>
                <a:lnTo>
                  <a:pt x="1440065" y="1793941"/>
                </a:lnTo>
                <a:lnTo>
                  <a:pt x="1430640" y="1779403"/>
                </a:lnTo>
                <a:lnTo>
                  <a:pt x="1404509" y="1785936"/>
                </a:lnTo>
                <a:lnTo>
                  <a:pt x="1396421" y="1781662"/>
                </a:lnTo>
                <a:lnTo>
                  <a:pt x="1404877" y="1760797"/>
                </a:lnTo>
                <a:lnTo>
                  <a:pt x="1393238" y="1758101"/>
                </a:lnTo>
                <a:lnTo>
                  <a:pt x="1392751" y="1749092"/>
                </a:lnTo>
                <a:lnTo>
                  <a:pt x="1377600" y="1747474"/>
                </a:lnTo>
                <a:lnTo>
                  <a:pt x="1336923" y="1726150"/>
                </a:lnTo>
                <a:lnTo>
                  <a:pt x="1328359" y="1728673"/>
                </a:lnTo>
                <a:lnTo>
                  <a:pt x="1315050" y="1780095"/>
                </a:lnTo>
                <a:lnTo>
                  <a:pt x="1305023" y="1784814"/>
                </a:lnTo>
                <a:lnTo>
                  <a:pt x="1308812" y="1787532"/>
                </a:lnTo>
                <a:lnTo>
                  <a:pt x="1307040" y="1806095"/>
                </a:lnTo>
                <a:lnTo>
                  <a:pt x="1287633" y="1796800"/>
                </a:lnTo>
                <a:lnTo>
                  <a:pt x="1292927" y="1808348"/>
                </a:lnTo>
                <a:lnTo>
                  <a:pt x="1286559" y="1818429"/>
                </a:lnTo>
                <a:lnTo>
                  <a:pt x="1292133" y="1834094"/>
                </a:lnTo>
                <a:lnTo>
                  <a:pt x="1287701" y="1838519"/>
                </a:lnTo>
                <a:lnTo>
                  <a:pt x="1301051" y="1850079"/>
                </a:lnTo>
                <a:lnTo>
                  <a:pt x="1291952" y="1871288"/>
                </a:lnTo>
                <a:lnTo>
                  <a:pt x="1287138" y="1854793"/>
                </a:lnTo>
                <a:lnTo>
                  <a:pt x="1275795" y="1863479"/>
                </a:lnTo>
                <a:lnTo>
                  <a:pt x="1272749" y="1887023"/>
                </a:lnTo>
                <a:lnTo>
                  <a:pt x="1259098" y="1891713"/>
                </a:lnTo>
                <a:lnTo>
                  <a:pt x="1256854" y="1901774"/>
                </a:lnTo>
                <a:lnTo>
                  <a:pt x="1245998" y="1905804"/>
                </a:lnTo>
                <a:lnTo>
                  <a:pt x="1225474" y="1899804"/>
                </a:lnTo>
                <a:lnTo>
                  <a:pt x="1215402" y="1888336"/>
                </a:lnTo>
                <a:lnTo>
                  <a:pt x="1206115" y="1899746"/>
                </a:lnTo>
                <a:lnTo>
                  <a:pt x="1195572" y="1889848"/>
                </a:lnTo>
                <a:lnTo>
                  <a:pt x="1172126" y="1895788"/>
                </a:lnTo>
                <a:lnTo>
                  <a:pt x="1176922" y="1919483"/>
                </a:lnTo>
                <a:lnTo>
                  <a:pt x="1159840" y="1922327"/>
                </a:lnTo>
                <a:lnTo>
                  <a:pt x="1150267" y="1933815"/>
                </a:lnTo>
                <a:lnTo>
                  <a:pt x="1133683" y="1938520"/>
                </a:lnTo>
                <a:lnTo>
                  <a:pt x="1122419" y="1935225"/>
                </a:lnTo>
                <a:lnTo>
                  <a:pt x="1118624" y="1951323"/>
                </a:lnTo>
                <a:lnTo>
                  <a:pt x="1097672" y="1969671"/>
                </a:lnTo>
                <a:lnTo>
                  <a:pt x="1089309" y="1990709"/>
                </a:lnTo>
                <a:lnTo>
                  <a:pt x="1093315" y="2000603"/>
                </a:lnTo>
                <a:lnTo>
                  <a:pt x="1080006" y="2007217"/>
                </a:lnTo>
                <a:lnTo>
                  <a:pt x="1051382" y="2004688"/>
                </a:lnTo>
                <a:lnTo>
                  <a:pt x="1025927" y="2011517"/>
                </a:lnTo>
                <a:lnTo>
                  <a:pt x="1014672" y="2024418"/>
                </a:lnTo>
                <a:lnTo>
                  <a:pt x="1024921" y="2051222"/>
                </a:lnTo>
                <a:lnTo>
                  <a:pt x="1018373" y="2071273"/>
                </a:lnTo>
                <a:lnTo>
                  <a:pt x="1006828" y="2076342"/>
                </a:lnTo>
                <a:lnTo>
                  <a:pt x="1004339" y="2084655"/>
                </a:lnTo>
                <a:lnTo>
                  <a:pt x="973891" y="2085287"/>
                </a:lnTo>
                <a:lnTo>
                  <a:pt x="967022" y="2069672"/>
                </a:lnTo>
                <a:lnTo>
                  <a:pt x="954304" y="2085700"/>
                </a:lnTo>
                <a:lnTo>
                  <a:pt x="941199" y="2085814"/>
                </a:lnTo>
                <a:lnTo>
                  <a:pt x="928158" y="2076549"/>
                </a:lnTo>
                <a:lnTo>
                  <a:pt x="924768" y="2078980"/>
                </a:lnTo>
                <a:lnTo>
                  <a:pt x="922809" y="2067091"/>
                </a:lnTo>
                <a:lnTo>
                  <a:pt x="909796" y="2052477"/>
                </a:lnTo>
                <a:lnTo>
                  <a:pt x="892109" y="2048026"/>
                </a:lnTo>
                <a:lnTo>
                  <a:pt x="884959" y="2040109"/>
                </a:lnTo>
                <a:lnTo>
                  <a:pt x="885090" y="2022965"/>
                </a:lnTo>
                <a:lnTo>
                  <a:pt x="873687" y="2012680"/>
                </a:lnTo>
                <a:lnTo>
                  <a:pt x="867121" y="1994125"/>
                </a:lnTo>
                <a:lnTo>
                  <a:pt x="857537" y="1950237"/>
                </a:lnTo>
                <a:lnTo>
                  <a:pt x="869167" y="1955843"/>
                </a:lnTo>
                <a:lnTo>
                  <a:pt x="886064" y="1924920"/>
                </a:lnTo>
                <a:lnTo>
                  <a:pt x="894429" y="1926545"/>
                </a:lnTo>
                <a:lnTo>
                  <a:pt x="890575" y="1904506"/>
                </a:lnTo>
                <a:lnTo>
                  <a:pt x="874430" y="1906021"/>
                </a:lnTo>
                <a:lnTo>
                  <a:pt x="877118" y="1894893"/>
                </a:lnTo>
                <a:lnTo>
                  <a:pt x="867417" y="1897305"/>
                </a:lnTo>
                <a:lnTo>
                  <a:pt x="859613" y="1912472"/>
                </a:lnTo>
                <a:lnTo>
                  <a:pt x="850221" y="1913403"/>
                </a:lnTo>
                <a:lnTo>
                  <a:pt x="847476" y="1924826"/>
                </a:lnTo>
                <a:lnTo>
                  <a:pt x="826478" y="1946448"/>
                </a:lnTo>
                <a:lnTo>
                  <a:pt x="812756" y="1948570"/>
                </a:lnTo>
                <a:lnTo>
                  <a:pt x="800321" y="1943365"/>
                </a:lnTo>
                <a:lnTo>
                  <a:pt x="789297" y="1956776"/>
                </a:lnTo>
                <a:lnTo>
                  <a:pt x="783019" y="1950502"/>
                </a:lnTo>
                <a:lnTo>
                  <a:pt x="777111" y="1959687"/>
                </a:lnTo>
                <a:lnTo>
                  <a:pt x="782335" y="1965098"/>
                </a:lnTo>
                <a:lnTo>
                  <a:pt x="771656" y="1971007"/>
                </a:lnTo>
                <a:lnTo>
                  <a:pt x="765959" y="1964933"/>
                </a:lnTo>
                <a:lnTo>
                  <a:pt x="759205" y="1973406"/>
                </a:lnTo>
                <a:lnTo>
                  <a:pt x="757551" y="2014187"/>
                </a:lnTo>
                <a:lnTo>
                  <a:pt x="741529" y="2026162"/>
                </a:lnTo>
                <a:lnTo>
                  <a:pt x="731178" y="1999029"/>
                </a:lnTo>
                <a:lnTo>
                  <a:pt x="736551" y="1978381"/>
                </a:lnTo>
                <a:lnTo>
                  <a:pt x="716330" y="1948554"/>
                </a:lnTo>
                <a:lnTo>
                  <a:pt x="710766" y="1929439"/>
                </a:lnTo>
                <a:lnTo>
                  <a:pt x="728256" y="1918767"/>
                </a:lnTo>
                <a:lnTo>
                  <a:pt x="729387" y="1900299"/>
                </a:lnTo>
                <a:lnTo>
                  <a:pt x="723270" y="1891985"/>
                </a:lnTo>
                <a:lnTo>
                  <a:pt x="731562" y="1883622"/>
                </a:lnTo>
                <a:lnTo>
                  <a:pt x="729519" y="1876259"/>
                </a:lnTo>
                <a:lnTo>
                  <a:pt x="725842" y="1885432"/>
                </a:lnTo>
                <a:lnTo>
                  <a:pt x="724778" y="1873996"/>
                </a:lnTo>
                <a:lnTo>
                  <a:pt x="711067" y="1863099"/>
                </a:lnTo>
                <a:lnTo>
                  <a:pt x="704316" y="1859275"/>
                </a:lnTo>
                <a:lnTo>
                  <a:pt x="697523" y="1866712"/>
                </a:lnTo>
                <a:lnTo>
                  <a:pt x="688141" y="1852294"/>
                </a:lnTo>
                <a:lnTo>
                  <a:pt x="680592" y="1847617"/>
                </a:lnTo>
                <a:lnTo>
                  <a:pt x="678095" y="1851484"/>
                </a:lnTo>
                <a:lnTo>
                  <a:pt x="679205" y="1821523"/>
                </a:lnTo>
                <a:lnTo>
                  <a:pt x="663129" y="1844110"/>
                </a:lnTo>
                <a:lnTo>
                  <a:pt x="660148" y="1833167"/>
                </a:lnTo>
                <a:lnTo>
                  <a:pt x="647635" y="1835668"/>
                </a:lnTo>
                <a:lnTo>
                  <a:pt x="621969" y="1827887"/>
                </a:lnTo>
                <a:lnTo>
                  <a:pt x="622271" y="1816899"/>
                </a:lnTo>
                <a:lnTo>
                  <a:pt x="634131" y="1805979"/>
                </a:lnTo>
                <a:lnTo>
                  <a:pt x="629248" y="1799153"/>
                </a:lnTo>
                <a:lnTo>
                  <a:pt x="635165" y="1794805"/>
                </a:lnTo>
                <a:lnTo>
                  <a:pt x="625397" y="1774809"/>
                </a:lnTo>
                <a:lnTo>
                  <a:pt x="632192" y="1755877"/>
                </a:lnTo>
                <a:lnTo>
                  <a:pt x="630724" y="1749356"/>
                </a:lnTo>
                <a:lnTo>
                  <a:pt x="623386" y="1749892"/>
                </a:lnTo>
                <a:lnTo>
                  <a:pt x="630117" y="1737819"/>
                </a:lnTo>
                <a:lnTo>
                  <a:pt x="612583" y="1734890"/>
                </a:lnTo>
                <a:lnTo>
                  <a:pt x="619449" y="1712223"/>
                </a:lnTo>
                <a:lnTo>
                  <a:pt x="604729" y="1695103"/>
                </a:lnTo>
                <a:lnTo>
                  <a:pt x="611255" y="1682059"/>
                </a:lnTo>
                <a:lnTo>
                  <a:pt x="600752" y="1677169"/>
                </a:lnTo>
                <a:lnTo>
                  <a:pt x="595287" y="1665358"/>
                </a:lnTo>
                <a:lnTo>
                  <a:pt x="594265" y="1633512"/>
                </a:lnTo>
                <a:lnTo>
                  <a:pt x="583590" y="1615830"/>
                </a:lnTo>
                <a:lnTo>
                  <a:pt x="584548" y="1599664"/>
                </a:lnTo>
                <a:lnTo>
                  <a:pt x="600090" y="1590366"/>
                </a:lnTo>
                <a:lnTo>
                  <a:pt x="575276" y="1576593"/>
                </a:lnTo>
                <a:lnTo>
                  <a:pt x="593719" y="1570260"/>
                </a:lnTo>
                <a:lnTo>
                  <a:pt x="590178" y="1539324"/>
                </a:lnTo>
                <a:lnTo>
                  <a:pt x="570192" y="1533283"/>
                </a:lnTo>
                <a:lnTo>
                  <a:pt x="554405" y="1521424"/>
                </a:lnTo>
                <a:lnTo>
                  <a:pt x="554111" y="1510474"/>
                </a:lnTo>
                <a:lnTo>
                  <a:pt x="545113" y="1496339"/>
                </a:lnTo>
                <a:lnTo>
                  <a:pt x="522087" y="1494715"/>
                </a:lnTo>
                <a:lnTo>
                  <a:pt x="501492" y="1463408"/>
                </a:lnTo>
                <a:lnTo>
                  <a:pt x="486671" y="1467858"/>
                </a:lnTo>
                <a:lnTo>
                  <a:pt x="483704" y="1487899"/>
                </a:lnTo>
                <a:lnTo>
                  <a:pt x="493465" y="1509054"/>
                </a:lnTo>
                <a:lnTo>
                  <a:pt x="460018" y="1473255"/>
                </a:lnTo>
                <a:lnTo>
                  <a:pt x="468355" y="1490154"/>
                </a:lnTo>
                <a:lnTo>
                  <a:pt x="459907" y="1507238"/>
                </a:lnTo>
                <a:lnTo>
                  <a:pt x="460887" y="1524508"/>
                </a:lnTo>
                <a:lnTo>
                  <a:pt x="439725" y="1566429"/>
                </a:lnTo>
                <a:lnTo>
                  <a:pt x="424515" y="1566721"/>
                </a:lnTo>
                <a:lnTo>
                  <a:pt x="427080" y="1570500"/>
                </a:lnTo>
                <a:lnTo>
                  <a:pt x="419279" y="1575376"/>
                </a:lnTo>
                <a:lnTo>
                  <a:pt x="398862" y="1560229"/>
                </a:lnTo>
                <a:lnTo>
                  <a:pt x="382572" y="1562842"/>
                </a:lnTo>
                <a:lnTo>
                  <a:pt x="381703" y="1595613"/>
                </a:lnTo>
                <a:lnTo>
                  <a:pt x="356925" y="1598449"/>
                </a:lnTo>
                <a:lnTo>
                  <a:pt x="368461" y="1620189"/>
                </a:lnTo>
                <a:lnTo>
                  <a:pt x="344504" y="1642483"/>
                </a:lnTo>
                <a:lnTo>
                  <a:pt x="350940" y="1663640"/>
                </a:lnTo>
                <a:lnTo>
                  <a:pt x="331713" y="1656423"/>
                </a:lnTo>
                <a:lnTo>
                  <a:pt x="213035" y="1456275"/>
                </a:lnTo>
                <a:lnTo>
                  <a:pt x="181843" y="1367974"/>
                </a:lnTo>
                <a:lnTo>
                  <a:pt x="160281" y="1326240"/>
                </a:lnTo>
                <a:lnTo>
                  <a:pt x="130696" y="1231511"/>
                </a:lnTo>
                <a:lnTo>
                  <a:pt x="96990" y="1175732"/>
                </a:lnTo>
                <a:lnTo>
                  <a:pt x="90237" y="1145820"/>
                </a:lnTo>
                <a:lnTo>
                  <a:pt x="73783" y="1133910"/>
                </a:lnTo>
                <a:lnTo>
                  <a:pt x="58499" y="1104963"/>
                </a:lnTo>
                <a:lnTo>
                  <a:pt x="38222" y="1093355"/>
                </a:lnTo>
                <a:lnTo>
                  <a:pt x="26993" y="1065139"/>
                </a:lnTo>
                <a:lnTo>
                  <a:pt x="28352" y="1056233"/>
                </a:lnTo>
                <a:lnTo>
                  <a:pt x="0" y="1033699"/>
                </a:lnTo>
                <a:lnTo>
                  <a:pt x="142" y="1023413"/>
                </a:lnTo>
                <a:lnTo>
                  <a:pt x="5277" y="1016112"/>
                </a:lnTo>
                <a:lnTo>
                  <a:pt x="31951" y="1005312"/>
                </a:lnTo>
                <a:lnTo>
                  <a:pt x="46686" y="989336"/>
                </a:lnTo>
                <a:lnTo>
                  <a:pt x="53829" y="995332"/>
                </a:lnTo>
                <a:lnTo>
                  <a:pt x="60922" y="993969"/>
                </a:lnTo>
                <a:lnTo>
                  <a:pt x="69571" y="979878"/>
                </a:lnTo>
                <a:lnTo>
                  <a:pt x="67119" y="968400"/>
                </a:lnTo>
                <a:lnTo>
                  <a:pt x="75363" y="959098"/>
                </a:lnTo>
                <a:lnTo>
                  <a:pt x="61644" y="937034"/>
                </a:lnTo>
                <a:lnTo>
                  <a:pt x="77414" y="934977"/>
                </a:lnTo>
                <a:lnTo>
                  <a:pt x="71709" y="923299"/>
                </a:lnTo>
                <a:lnTo>
                  <a:pt x="83483" y="919837"/>
                </a:lnTo>
                <a:lnTo>
                  <a:pt x="77115" y="908715"/>
                </a:lnTo>
                <a:lnTo>
                  <a:pt x="90005" y="909425"/>
                </a:lnTo>
                <a:lnTo>
                  <a:pt x="88095" y="887776"/>
                </a:lnTo>
                <a:lnTo>
                  <a:pt x="107392" y="878937"/>
                </a:lnTo>
                <a:lnTo>
                  <a:pt x="114335" y="882704"/>
                </a:lnTo>
                <a:lnTo>
                  <a:pt x="130842" y="870700"/>
                </a:lnTo>
                <a:lnTo>
                  <a:pt x="145164" y="885230"/>
                </a:lnTo>
                <a:lnTo>
                  <a:pt x="157544" y="888310"/>
                </a:lnTo>
                <a:lnTo>
                  <a:pt x="156980" y="912787"/>
                </a:lnTo>
                <a:lnTo>
                  <a:pt x="164958" y="923652"/>
                </a:lnTo>
                <a:lnTo>
                  <a:pt x="191379" y="916289"/>
                </a:lnTo>
                <a:lnTo>
                  <a:pt x="203535" y="933427"/>
                </a:lnTo>
                <a:lnTo>
                  <a:pt x="211497" y="959607"/>
                </a:lnTo>
                <a:lnTo>
                  <a:pt x="206427" y="969526"/>
                </a:lnTo>
                <a:lnTo>
                  <a:pt x="198324" y="970578"/>
                </a:lnTo>
                <a:lnTo>
                  <a:pt x="195415" y="980138"/>
                </a:lnTo>
                <a:lnTo>
                  <a:pt x="207543" y="1003332"/>
                </a:lnTo>
                <a:lnTo>
                  <a:pt x="219223" y="1003940"/>
                </a:lnTo>
                <a:lnTo>
                  <a:pt x="218578" y="1041822"/>
                </a:lnTo>
                <a:lnTo>
                  <a:pt x="251724" y="1030471"/>
                </a:lnTo>
                <a:lnTo>
                  <a:pt x="258718" y="1032359"/>
                </a:lnTo>
                <a:lnTo>
                  <a:pt x="263640" y="1048996"/>
                </a:lnTo>
                <a:lnTo>
                  <a:pt x="270799" y="1051892"/>
                </a:lnTo>
                <a:lnTo>
                  <a:pt x="293275" y="1041839"/>
                </a:lnTo>
                <a:lnTo>
                  <a:pt x="331404" y="1045739"/>
                </a:lnTo>
                <a:lnTo>
                  <a:pt x="349142" y="1056336"/>
                </a:lnTo>
                <a:lnTo>
                  <a:pt x="361911" y="1072201"/>
                </a:lnTo>
                <a:lnTo>
                  <a:pt x="370171" y="1070789"/>
                </a:lnTo>
                <a:lnTo>
                  <a:pt x="394476" y="1081053"/>
                </a:lnTo>
                <a:lnTo>
                  <a:pt x="410780" y="1070692"/>
                </a:lnTo>
                <a:lnTo>
                  <a:pt x="446991" y="1074154"/>
                </a:lnTo>
                <a:lnTo>
                  <a:pt x="514864" y="1052737"/>
                </a:lnTo>
                <a:lnTo>
                  <a:pt x="561388" y="1056881"/>
                </a:lnTo>
                <a:lnTo>
                  <a:pt x="574670" y="1063878"/>
                </a:lnTo>
                <a:lnTo>
                  <a:pt x="578823" y="1074455"/>
                </a:lnTo>
                <a:lnTo>
                  <a:pt x="599205" y="1082794"/>
                </a:lnTo>
                <a:lnTo>
                  <a:pt x="611995" y="1081168"/>
                </a:lnTo>
                <a:lnTo>
                  <a:pt x="631442" y="1065018"/>
                </a:lnTo>
                <a:lnTo>
                  <a:pt x="642756" y="1062377"/>
                </a:lnTo>
                <a:lnTo>
                  <a:pt x="629039" y="1042173"/>
                </a:lnTo>
                <a:lnTo>
                  <a:pt x="634823" y="1023868"/>
                </a:lnTo>
                <a:lnTo>
                  <a:pt x="665077" y="1020924"/>
                </a:lnTo>
                <a:lnTo>
                  <a:pt x="678922" y="1012400"/>
                </a:lnTo>
                <a:lnTo>
                  <a:pt x="686022" y="985143"/>
                </a:lnTo>
                <a:lnTo>
                  <a:pt x="693108" y="981262"/>
                </a:lnTo>
                <a:lnTo>
                  <a:pt x="699118" y="965755"/>
                </a:lnTo>
                <a:lnTo>
                  <a:pt x="712318" y="960864"/>
                </a:lnTo>
                <a:lnTo>
                  <a:pt x="722275" y="965581"/>
                </a:lnTo>
                <a:lnTo>
                  <a:pt x="737611" y="953280"/>
                </a:lnTo>
                <a:lnTo>
                  <a:pt x="754691" y="958310"/>
                </a:lnTo>
                <a:lnTo>
                  <a:pt x="768361" y="940921"/>
                </a:lnTo>
                <a:lnTo>
                  <a:pt x="795758" y="935937"/>
                </a:lnTo>
                <a:lnTo>
                  <a:pt x="758391" y="0"/>
                </a:lnTo>
                <a:lnTo>
                  <a:pt x="780335" y="16244"/>
                </a:lnTo>
                <a:lnTo>
                  <a:pt x="788079" y="29240"/>
                </a:lnTo>
                <a:lnTo>
                  <a:pt x="820582" y="37911"/>
                </a:lnTo>
                <a:lnTo>
                  <a:pt x="829763" y="52115"/>
                </a:lnTo>
                <a:lnTo>
                  <a:pt x="850654" y="65052"/>
                </a:lnTo>
                <a:lnTo>
                  <a:pt x="849660" y="72139"/>
                </a:lnTo>
                <a:lnTo>
                  <a:pt x="857717" y="77216"/>
                </a:lnTo>
                <a:lnTo>
                  <a:pt x="862599" y="95298"/>
                </a:lnTo>
                <a:lnTo>
                  <a:pt x="871479" y="95633"/>
                </a:lnTo>
                <a:lnTo>
                  <a:pt x="866600" y="106579"/>
                </a:lnTo>
                <a:lnTo>
                  <a:pt x="879069" y="113635"/>
                </a:lnTo>
                <a:lnTo>
                  <a:pt x="879629" y="124842"/>
                </a:lnTo>
                <a:lnTo>
                  <a:pt x="890498" y="128023"/>
                </a:lnTo>
                <a:lnTo>
                  <a:pt x="883333" y="136189"/>
                </a:lnTo>
                <a:lnTo>
                  <a:pt x="891043" y="136782"/>
                </a:lnTo>
                <a:lnTo>
                  <a:pt x="895029" y="154271"/>
                </a:lnTo>
                <a:lnTo>
                  <a:pt x="904366" y="155260"/>
                </a:lnTo>
                <a:lnTo>
                  <a:pt x="904562" y="163624"/>
                </a:lnTo>
                <a:lnTo>
                  <a:pt x="911447" y="162842"/>
                </a:lnTo>
                <a:lnTo>
                  <a:pt x="909805" y="172240"/>
                </a:lnTo>
                <a:lnTo>
                  <a:pt x="921753" y="169619"/>
                </a:lnTo>
                <a:lnTo>
                  <a:pt x="913083" y="175111"/>
                </a:lnTo>
                <a:lnTo>
                  <a:pt x="911892" y="188331"/>
                </a:lnTo>
                <a:lnTo>
                  <a:pt x="928484" y="205674"/>
                </a:lnTo>
                <a:lnTo>
                  <a:pt x="920958" y="208220"/>
                </a:lnTo>
                <a:lnTo>
                  <a:pt x="918097" y="216876"/>
                </a:lnTo>
                <a:lnTo>
                  <a:pt x="926441" y="216068"/>
                </a:lnTo>
                <a:lnTo>
                  <a:pt x="924600" y="230179"/>
                </a:lnTo>
                <a:lnTo>
                  <a:pt x="934148" y="237097"/>
                </a:lnTo>
                <a:lnTo>
                  <a:pt x="937754" y="250511"/>
                </a:lnTo>
                <a:lnTo>
                  <a:pt x="945164" y="252501"/>
                </a:lnTo>
                <a:lnTo>
                  <a:pt x="939936" y="263487"/>
                </a:lnTo>
                <a:lnTo>
                  <a:pt x="951083" y="258095"/>
                </a:lnTo>
                <a:lnTo>
                  <a:pt x="950248" y="271392"/>
                </a:lnTo>
                <a:lnTo>
                  <a:pt x="957398" y="274926"/>
                </a:lnTo>
                <a:lnTo>
                  <a:pt x="955455" y="288097"/>
                </a:lnTo>
                <a:lnTo>
                  <a:pt x="964416" y="296761"/>
                </a:lnTo>
                <a:lnTo>
                  <a:pt x="959052" y="309701"/>
                </a:lnTo>
                <a:lnTo>
                  <a:pt x="965782" y="328541"/>
                </a:lnTo>
                <a:lnTo>
                  <a:pt x="961172" y="335106"/>
                </a:lnTo>
                <a:lnTo>
                  <a:pt x="971169" y="341722"/>
                </a:lnTo>
                <a:lnTo>
                  <a:pt x="934316" y="410817"/>
                </a:lnTo>
                <a:lnTo>
                  <a:pt x="917239" y="423209"/>
                </a:lnTo>
                <a:lnTo>
                  <a:pt x="914978" y="441445"/>
                </a:lnTo>
                <a:lnTo>
                  <a:pt x="922044" y="460923"/>
                </a:lnTo>
                <a:lnTo>
                  <a:pt x="921436" y="510877"/>
                </a:lnTo>
                <a:lnTo>
                  <a:pt x="927090" y="521447"/>
                </a:lnTo>
                <a:lnTo>
                  <a:pt x="935742" y="524098"/>
                </a:lnTo>
                <a:lnTo>
                  <a:pt x="936945" y="541159"/>
                </a:lnTo>
                <a:lnTo>
                  <a:pt x="943397" y="531398"/>
                </a:lnTo>
                <a:lnTo>
                  <a:pt x="954481" y="530037"/>
                </a:lnTo>
                <a:lnTo>
                  <a:pt x="966371" y="523303"/>
                </a:lnTo>
                <a:lnTo>
                  <a:pt x="967178" y="517545"/>
                </a:lnTo>
                <a:lnTo>
                  <a:pt x="984728" y="511065"/>
                </a:lnTo>
                <a:lnTo>
                  <a:pt x="1039454" y="529080"/>
                </a:lnTo>
                <a:lnTo>
                  <a:pt x="1101113" y="513957"/>
                </a:lnTo>
                <a:lnTo>
                  <a:pt x="1129003" y="523308"/>
                </a:lnTo>
                <a:lnTo>
                  <a:pt x="1140351" y="517371"/>
                </a:lnTo>
                <a:lnTo>
                  <a:pt x="1152297" y="523878"/>
                </a:lnTo>
                <a:lnTo>
                  <a:pt x="1168553" y="521758"/>
                </a:lnTo>
                <a:lnTo>
                  <a:pt x="1187190" y="506469"/>
                </a:lnTo>
                <a:lnTo>
                  <a:pt x="1184377" y="477593"/>
                </a:lnTo>
                <a:lnTo>
                  <a:pt x="1196141" y="469759"/>
                </a:lnTo>
                <a:lnTo>
                  <a:pt x="1224888" y="471646"/>
                </a:lnTo>
                <a:lnTo>
                  <a:pt x="1248180" y="461731"/>
                </a:lnTo>
                <a:lnTo>
                  <a:pt x="1254212" y="447702"/>
                </a:lnTo>
                <a:lnTo>
                  <a:pt x="1273205" y="429123"/>
                </a:lnTo>
                <a:lnTo>
                  <a:pt x="1279752" y="399746"/>
                </a:lnTo>
                <a:lnTo>
                  <a:pt x="1291567" y="387454"/>
                </a:lnTo>
                <a:lnTo>
                  <a:pt x="1318096" y="381364"/>
                </a:lnTo>
                <a:lnTo>
                  <a:pt x="1317921" y="371204"/>
                </a:lnTo>
                <a:lnTo>
                  <a:pt x="1326978" y="367707"/>
                </a:lnTo>
                <a:lnTo>
                  <a:pt x="1330724" y="355239"/>
                </a:lnTo>
                <a:lnTo>
                  <a:pt x="1338596" y="355963"/>
                </a:lnTo>
                <a:lnTo>
                  <a:pt x="1343088" y="348661"/>
                </a:lnTo>
                <a:lnTo>
                  <a:pt x="1361315" y="354759"/>
                </a:lnTo>
                <a:lnTo>
                  <a:pt x="1366762" y="333572"/>
                </a:lnTo>
                <a:lnTo>
                  <a:pt x="1395457" y="327203"/>
                </a:lnTo>
                <a:lnTo>
                  <a:pt x="1398154" y="401568"/>
                </a:lnTo>
                <a:lnTo>
                  <a:pt x="1420067" y="412098"/>
                </a:lnTo>
                <a:lnTo>
                  <a:pt x="1430144" y="392026"/>
                </a:lnTo>
                <a:lnTo>
                  <a:pt x="1442673" y="333015"/>
                </a:lnTo>
                <a:lnTo>
                  <a:pt x="1459795" y="334423"/>
                </a:lnTo>
                <a:lnTo>
                  <a:pt x="1460900" y="318407"/>
                </a:lnTo>
                <a:lnTo>
                  <a:pt x="1478886" y="320436"/>
                </a:lnTo>
                <a:lnTo>
                  <a:pt x="1483543" y="290582"/>
                </a:lnTo>
                <a:lnTo>
                  <a:pt x="1537565" y="292412"/>
                </a:lnTo>
                <a:lnTo>
                  <a:pt x="1553046" y="295607"/>
                </a:lnTo>
                <a:lnTo>
                  <a:pt x="1545587" y="317004"/>
                </a:lnTo>
                <a:lnTo>
                  <a:pt x="1517352" y="307997"/>
                </a:lnTo>
                <a:lnTo>
                  <a:pt x="1513807" y="324163"/>
                </a:lnTo>
                <a:lnTo>
                  <a:pt x="1535860" y="330524"/>
                </a:lnTo>
                <a:lnTo>
                  <a:pt x="1515731" y="363896"/>
                </a:lnTo>
                <a:lnTo>
                  <a:pt x="1529869" y="381126"/>
                </a:lnTo>
                <a:lnTo>
                  <a:pt x="1526779" y="418477"/>
                </a:lnTo>
                <a:lnTo>
                  <a:pt x="1572142" y="429545"/>
                </a:lnTo>
                <a:lnTo>
                  <a:pt x="1600169" y="451205"/>
                </a:lnTo>
                <a:lnTo>
                  <a:pt x="1578343" y="482802"/>
                </a:lnTo>
                <a:lnTo>
                  <a:pt x="1662739" y="520332"/>
                </a:lnTo>
                <a:lnTo>
                  <a:pt x="1666392" y="511761"/>
                </a:lnTo>
                <a:lnTo>
                  <a:pt x="1677263" y="511948"/>
                </a:lnTo>
                <a:lnTo>
                  <a:pt x="1689604" y="521128"/>
                </a:lnTo>
                <a:lnTo>
                  <a:pt x="1705298" y="561776"/>
                </a:lnTo>
                <a:lnTo>
                  <a:pt x="1691296" y="568449"/>
                </a:lnTo>
                <a:lnTo>
                  <a:pt x="1673477" y="612917"/>
                </a:lnTo>
                <a:lnTo>
                  <a:pt x="1717041" y="638333"/>
                </a:lnTo>
                <a:lnTo>
                  <a:pt x="1709475" y="666328"/>
                </a:lnTo>
                <a:lnTo>
                  <a:pt x="1709392" y="702120"/>
                </a:lnTo>
                <a:lnTo>
                  <a:pt x="1724919" y="706863"/>
                </a:lnTo>
                <a:lnTo>
                  <a:pt x="1719319" y="728171"/>
                </a:lnTo>
                <a:lnTo>
                  <a:pt x="1723402" y="736852"/>
                </a:lnTo>
                <a:lnTo>
                  <a:pt x="1790282" y="721660"/>
                </a:lnTo>
                <a:lnTo>
                  <a:pt x="1799749" y="727155"/>
                </a:lnTo>
                <a:lnTo>
                  <a:pt x="1791191" y="742090"/>
                </a:lnTo>
                <a:lnTo>
                  <a:pt x="1801161" y="747525"/>
                </a:lnTo>
                <a:lnTo>
                  <a:pt x="1780387" y="780391"/>
                </a:lnTo>
                <a:lnTo>
                  <a:pt x="1787723" y="788250"/>
                </a:lnTo>
                <a:lnTo>
                  <a:pt x="1791645" y="783563"/>
                </a:lnTo>
                <a:lnTo>
                  <a:pt x="1804733" y="798146"/>
                </a:lnTo>
                <a:lnTo>
                  <a:pt x="1799631" y="811298"/>
                </a:lnTo>
                <a:lnTo>
                  <a:pt x="1820127" y="826604"/>
                </a:lnTo>
                <a:lnTo>
                  <a:pt x="1826696" y="820936"/>
                </a:lnTo>
                <a:lnTo>
                  <a:pt x="1825710" y="812949"/>
                </a:lnTo>
                <a:lnTo>
                  <a:pt x="1836927" y="809961"/>
                </a:lnTo>
                <a:lnTo>
                  <a:pt x="1841305" y="802856"/>
                </a:lnTo>
                <a:lnTo>
                  <a:pt x="1836405" y="777020"/>
                </a:lnTo>
                <a:lnTo>
                  <a:pt x="1841622" y="778154"/>
                </a:lnTo>
                <a:lnTo>
                  <a:pt x="1848004" y="765284"/>
                </a:lnTo>
                <a:lnTo>
                  <a:pt x="1856751" y="763956"/>
                </a:lnTo>
                <a:lnTo>
                  <a:pt x="1848042" y="749499"/>
                </a:lnTo>
                <a:lnTo>
                  <a:pt x="1855979" y="735341"/>
                </a:lnTo>
                <a:lnTo>
                  <a:pt x="1851167" y="722546"/>
                </a:lnTo>
                <a:lnTo>
                  <a:pt x="1855595" y="712220"/>
                </a:lnTo>
                <a:lnTo>
                  <a:pt x="1871475" y="709120"/>
                </a:lnTo>
                <a:lnTo>
                  <a:pt x="1870260" y="703076"/>
                </a:lnTo>
                <a:lnTo>
                  <a:pt x="1876534" y="701798"/>
                </a:lnTo>
                <a:lnTo>
                  <a:pt x="1880410" y="726629"/>
                </a:lnTo>
                <a:lnTo>
                  <a:pt x="1925600" y="721235"/>
                </a:lnTo>
                <a:lnTo>
                  <a:pt x="1936568" y="726072"/>
                </a:lnTo>
                <a:lnTo>
                  <a:pt x="1890890" y="780159"/>
                </a:lnTo>
                <a:lnTo>
                  <a:pt x="1893284" y="783772"/>
                </a:lnTo>
                <a:lnTo>
                  <a:pt x="1887018" y="785304"/>
                </a:lnTo>
                <a:lnTo>
                  <a:pt x="1914464" y="831797"/>
                </a:lnTo>
                <a:lnTo>
                  <a:pt x="1919628" y="823566"/>
                </a:lnTo>
                <a:lnTo>
                  <a:pt x="1932033" y="821636"/>
                </a:lnTo>
                <a:lnTo>
                  <a:pt x="1917641" y="866964"/>
                </a:lnTo>
                <a:lnTo>
                  <a:pt x="1896343" y="872001"/>
                </a:lnTo>
                <a:lnTo>
                  <a:pt x="1900844" y="882187"/>
                </a:lnTo>
                <a:lnTo>
                  <a:pt x="1911548" y="885936"/>
                </a:lnTo>
                <a:lnTo>
                  <a:pt x="1900078" y="921762"/>
                </a:lnTo>
                <a:lnTo>
                  <a:pt x="1891076" y="931691"/>
                </a:lnTo>
                <a:lnTo>
                  <a:pt x="1895808" y="935084"/>
                </a:lnTo>
                <a:lnTo>
                  <a:pt x="1886793" y="963201"/>
                </a:lnTo>
                <a:lnTo>
                  <a:pt x="1903519" y="968570"/>
                </a:lnTo>
                <a:lnTo>
                  <a:pt x="1779694" y="1226739"/>
                </a:lnTo>
                <a:lnTo>
                  <a:pt x="1780260" y="1238826"/>
                </a:lnTo>
                <a:lnTo>
                  <a:pt x="1800501" y="1267257"/>
                </a:lnTo>
                <a:lnTo>
                  <a:pt x="1813623" y="1267527"/>
                </a:lnTo>
                <a:lnTo>
                  <a:pt x="1838292" y="1291786"/>
                </a:lnTo>
                <a:lnTo>
                  <a:pt x="1851014" y="1289366"/>
                </a:lnTo>
                <a:lnTo>
                  <a:pt x="1853162" y="1308190"/>
                </a:lnTo>
                <a:lnTo>
                  <a:pt x="1879790" y="1314118"/>
                </a:lnTo>
                <a:lnTo>
                  <a:pt x="1880671" y="1327567"/>
                </a:lnTo>
                <a:lnTo>
                  <a:pt x="1897011" y="1348758"/>
                </a:lnTo>
                <a:lnTo>
                  <a:pt x="1903442" y="1367217"/>
                </a:lnTo>
                <a:lnTo>
                  <a:pt x="1909023" y="1365673"/>
                </a:lnTo>
                <a:lnTo>
                  <a:pt x="1915489" y="1372163"/>
                </a:lnTo>
                <a:lnTo>
                  <a:pt x="1913786" y="1378748"/>
                </a:lnTo>
                <a:lnTo>
                  <a:pt x="1922627" y="1388506"/>
                </a:lnTo>
                <a:lnTo>
                  <a:pt x="1933305" y="1387532"/>
                </a:lnTo>
                <a:lnTo>
                  <a:pt x="1934156" y="1407000"/>
                </a:lnTo>
                <a:lnTo>
                  <a:pt x="1946985" y="1409793"/>
                </a:lnTo>
                <a:lnTo>
                  <a:pt x="1967666" y="1441854"/>
                </a:lnTo>
                <a:lnTo>
                  <a:pt x="1977792" y="1442261"/>
                </a:lnTo>
                <a:lnTo>
                  <a:pt x="1993271" y="1461895"/>
                </a:lnTo>
                <a:lnTo>
                  <a:pt x="1999537" y="1457083"/>
                </a:lnTo>
                <a:lnTo>
                  <a:pt x="2018198" y="1462263"/>
                </a:lnTo>
                <a:lnTo>
                  <a:pt x="2027994" y="1475194"/>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6" name="Working geographic region: Western coastal"/>
          <p:cNvSpPr/>
          <p:nvPr/>
        </p:nvSpPr>
        <p:spPr>
          <a:xfrm>
            <a:off x="2284853" y="5322748"/>
            <a:ext cx="5752" cy="7186"/>
          </a:xfrm>
          <a:custGeom>
            <a:avLst/>
            <a:gdLst/>
            <a:ahLst/>
            <a:cxnLst/>
            <a:rect l="l" t="t" r="r" b="b"/>
            <a:pathLst>
              <a:path w="5752" h="7186">
                <a:moveTo>
                  <a:pt x="0" y="2653"/>
                </a:moveTo>
                <a:lnTo>
                  <a:pt x="3500" y="0"/>
                </a:lnTo>
                <a:lnTo>
                  <a:pt x="5752" y="5055"/>
                </a:lnTo>
                <a:lnTo>
                  <a:pt x="3290" y="7186"/>
                </a:lnTo>
                <a:lnTo>
                  <a:pt x="0" y="2653"/>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7" name="Working geographic region: Western coastal"/>
          <p:cNvSpPr/>
          <p:nvPr/>
        </p:nvSpPr>
        <p:spPr>
          <a:xfrm>
            <a:off x="2220092" y="5229576"/>
            <a:ext cx="3544" cy="4871"/>
          </a:xfrm>
          <a:custGeom>
            <a:avLst/>
            <a:gdLst/>
            <a:ahLst/>
            <a:cxnLst/>
            <a:rect l="l" t="t" r="r" b="b"/>
            <a:pathLst>
              <a:path w="3544" h="4871">
                <a:moveTo>
                  <a:pt x="1386" y="0"/>
                </a:moveTo>
                <a:lnTo>
                  <a:pt x="3544" y="4547"/>
                </a:lnTo>
                <a:lnTo>
                  <a:pt x="0" y="4871"/>
                </a:lnTo>
                <a:lnTo>
                  <a:pt x="1386" y="0"/>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8" name="Working geographic region: Western coastal"/>
          <p:cNvSpPr/>
          <p:nvPr/>
        </p:nvSpPr>
        <p:spPr>
          <a:xfrm>
            <a:off x="2112260" y="4460901"/>
            <a:ext cx="1422285" cy="1110490"/>
          </a:xfrm>
          <a:custGeom>
            <a:avLst/>
            <a:gdLst/>
            <a:ahLst/>
            <a:cxnLst/>
            <a:rect l="l" t="t" r="r" b="b"/>
            <a:pathLst>
              <a:path w="1422285" h="1110490">
                <a:moveTo>
                  <a:pt x="1400506" y="324117"/>
                </a:moveTo>
                <a:lnTo>
                  <a:pt x="1396647" y="339411"/>
                </a:lnTo>
                <a:lnTo>
                  <a:pt x="1409480" y="338180"/>
                </a:lnTo>
                <a:lnTo>
                  <a:pt x="1422285" y="351706"/>
                </a:lnTo>
                <a:lnTo>
                  <a:pt x="1415188" y="366234"/>
                </a:lnTo>
                <a:lnTo>
                  <a:pt x="1404603" y="366172"/>
                </a:lnTo>
                <a:lnTo>
                  <a:pt x="1404726" y="376313"/>
                </a:lnTo>
                <a:lnTo>
                  <a:pt x="1396433" y="381115"/>
                </a:lnTo>
                <a:lnTo>
                  <a:pt x="1395435" y="391581"/>
                </a:lnTo>
                <a:lnTo>
                  <a:pt x="1397950" y="384787"/>
                </a:lnTo>
                <a:lnTo>
                  <a:pt x="1403662" y="394681"/>
                </a:lnTo>
                <a:lnTo>
                  <a:pt x="1396036" y="405190"/>
                </a:lnTo>
                <a:lnTo>
                  <a:pt x="1382502" y="403797"/>
                </a:lnTo>
                <a:lnTo>
                  <a:pt x="1380948" y="412852"/>
                </a:lnTo>
                <a:lnTo>
                  <a:pt x="1365879" y="416318"/>
                </a:lnTo>
                <a:lnTo>
                  <a:pt x="1351020" y="428843"/>
                </a:lnTo>
                <a:lnTo>
                  <a:pt x="1323379" y="409626"/>
                </a:lnTo>
                <a:lnTo>
                  <a:pt x="1302711" y="424931"/>
                </a:lnTo>
                <a:lnTo>
                  <a:pt x="1298206" y="440420"/>
                </a:lnTo>
                <a:lnTo>
                  <a:pt x="1304716" y="448298"/>
                </a:lnTo>
                <a:lnTo>
                  <a:pt x="1301889" y="452198"/>
                </a:lnTo>
                <a:lnTo>
                  <a:pt x="1254837" y="447423"/>
                </a:lnTo>
                <a:lnTo>
                  <a:pt x="1246581" y="464400"/>
                </a:lnTo>
                <a:lnTo>
                  <a:pt x="1229754" y="454901"/>
                </a:lnTo>
                <a:lnTo>
                  <a:pt x="1224342" y="466434"/>
                </a:lnTo>
                <a:lnTo>
                  <a:pt x="1205848" y="474161"/>
                </a:lnTo>
                <a:lnTo>
                  <a:pt x="1211173" y="496639"/>
                </a:lnTo>
                <a:lnTo>
                  <a:pt x="1220800" y="506210"/>
                </a:lnTo>
                <a:lnTo>
                  <a:pt x="1225188" y="521599"/>
                </a:lnTo>
                <a:lnTo>
                  <a:pt x="1224052" y="531891"/>
                </a:lnTo>
                <a:lnTo>
                  <a:pt x="1217259" y="537028"/>
                </a:lnTo>
                <a:lnTo>
                  <a:pt x="1231088" y="545044"/>
                </a:lnTo>
                <a:lnTo>
                  <a:pt x="1235377" y="560376"/>
                </a:lnTo>
                <a:lnTo>
                  <a:pt x="1245356" y="560156"/>
                </a:lnTo>
                <a:lnTo>
                  <a:pt x="1241456" y="575951"/>
                </a:lnTo>
                <a:lnTo>
                  <a:pt x="1199892" y="561839"/>
                </a:lnTo>
                <a:lnTo>
                  <a:pt x="1178808" y="570296"/>
                </a:lnTo>
                <a:lnTo>
                  <a:pt x="1184926" y="585244"/>
                </a:lnTo>
                <a:lnTo>
                  <a:pt x="1161449" y="589433"/>
                </a:lnTo>
                <a:lnTo>
                  <a:pt x="1149145" y="609402"/>
                </a:lnTo>
                <a:lnTo>
                  <a:pt x="1153777" y="620405"/>
                </a:lnTo>
                <a:lnTo>
                  <a:pt x="1146330" y="627774"/>
                </a:lnTo>
                <a:lnTo>
                  <a:pt x="1151156" y="640857"/>
                </a:lnTo>
                <a:lnTo>
                  <a:pt x="1116809" y="701394"/>
                </a:lnTo>
                <a:lnTo>
                  <a:pt x="1105937" y="705870"/>
                </a:lnTo>
                <a:lnTo>
                  <a:pt x="1105560" y="723986"/>
                </a:lnTo>
                <a:lnTo>
                  <a:pt x="1114002" y="730209"/>
                </a:lnTo>
                <a:lnTo>
                  <a:pt x="1148479" y="731969"/>
                </a:lnTo>
                <a:lnTo>
                  <a:pt x="1191240" y="720616"/>
                </a:lnTo>
                <a:lnTo>
                  <a:pt x="1226115" y="720335"/>
                </a:lnTo>
                <a:lnTo>
                  <a:pt x="1240781" y="738821"/>
                </a:lnTo>
                <a:lnTo>
                  <a:pt x="1238728" y="733586"/>
                </a:lnTo>
                <a:lnTo>
                  <a:pt x="1268953" y="733752"/>
                </a:lnTo>
                <a:lnTo>
                  <a:pt x="1292399" y="747000"/>
                </a:lnTo>
                <a:lnTo>
                  <a:pt x="1290981" y="766485"/>
                </a:lnTo>
                <a:lnTo>
                  <a:pt x="1308040" y="779926"/>
                </a:lnTo>
                <a:lnTo>
                  <a:pt x="1307216" y="791875"/>
                </a:lnTo>
                <a:lnTo>
                  <a:pt x="1289112" y="792141"/>
                </a:lnTo>
                <a:lnTo>
                  <a:pt x="1282747" y="786796"/>
                </a:lnTo>
                <a:lnTo>
                  <a:pt x="1279648" y="799111"/>
                </a:lnTo>
                <a:lnTo>
                  <a:pt x="1258022" y="803961"/>
                </a:lnTo>
                <a:lnTo>
                  <a:pt x="1248702" y="823334"/>
                </a:lnTo>
                <a:lnTo>
                  <a:pt x="1268863" y="826868"/>
                </a:lnTo>
                <a:lnTo>
                  <a:pt x="1275136" y="820288"/>
                </a:lnTo>
                <a:lnTo>
                  <a:pt x="1283416" y="823069"/>
                </a:lnTo>
                <a:lnTo>
                  <a:pt x="1284523" y="832141"/>
                </a:lnTo>
                <a:lnTo>
                  <a:pt x="1314851" y="840760"/>
                </a:lnTo>
                <a:lnTo>
                  <a:pt x="1300924" y="853434"/>
                </a:lnTo>
                <a:lnTo>
                  <a:pt x="1303204" y="870686"/>
                </a:lnTo>
                <a:lnTo>
                  <a:pt x="1253274" y="881246"/>
                </a:lnTo>
                <a:lnTo>
                  <a:pt x="1244794" y="896550"/>
                </a:lnTo>
                <a:lnTo>
                  <a:pt x="1252468" y="904807"/>
                </a:lnTo>
                <a:lnTo>
                  <a:pt x="1167396" y="896051"/>
                </a:lnTo>
                <a:lnTo>
                  <a:pt x="1161380" y="901796"/>
                </a:lnTo>
                <a:lnTo>
                  <a:pt x="1121878" y="886424"/>
                </a:lnTo>
                <a:lnTo>
                  <a:pt x="1075660" y="878289"/>
                </a:lnTo>
                <a:lnTo>
                  <a:pt x="1055528" y="893054"/>
                </a:lnTo>
                <a:lnTo>
                  <a:pt x="1000917" y="896365"/>
                </a:lnTo>
                <a:lnTo>
                  <a:pt x="979247" y="911738"/>
                </a:lnTo>
                <a:lnTo>
                  <a:pt x="977112" y="923847"/>
                </a:lnTo>
                <a:lnTo>
                  <a:pt x="984547" y="926297"/>
                </a:lnTo>
                <a:lnTo>
                  <a:pt x="987485" y="929486"/>
                </a:lnTo>
                <a:lnTo>
                  <a:pt x="944369" y="941128"/>
                </a:lnTo>
                <a:lnTo>
                  <a:pt x="935254" y="952814"/>
                </a:lnTo>
                <a:lnTo>
                  <a:pt x="942546" y="959724"/>
                </a:lnTo>
                <a:lnTo>
                  <a:pt x="919709" y="979233"/>
                </a:lnTo>
                <a:lnTo>
                  <a:pt x="890286" y="985112"/>
                </a:lnTo>
                <a:lnTo>
                  <a:pt x="853132" y="976524"/>
                </a:lnTo>
                <a:lnTo>
                  <a:pt x="834022" y="981081"/>
                </a:lnTo>
                <a:lnTo>
                  <a:pt x="833622" y="986708"/>
                </a:lnTo>
                <a:lnTo>
                  <a:pt x="821804" y="994387"/>
                </a:lnTo>
                <a:lnTo>
                  <a:pt x="806492" y="998967"/>
                </a:lnTo>
                <a:lnTo>
                  <a:pt x="764031" y="984466"/>
                </a:lnTo>
                <a:lnTo>
                  <a:pt x="728081" y="982929"/>
                </a:lnTo>
                <a:lnTo>
                  <a:pt x="711159" y="992458"/>
                </a:lnTo>
                <a:lnTo>
                  <a:pt x="715968" y="1005109"/>
                </a:lnTo>
                <a:lnTo>
                  <a:pt x="711044" y="1011429"/>
                </a:lnTo>
                <a:lnTo>
                  <a:pt x="669990" y="1006509"/>
                </a:lnTo>
                <a:lnTo>
                  <a:pt x="643671" y="1013021"/>
                </a:lnTo>
                <a:lnTo>
                  <a:pt x="626062" y="1023868"/>
                </a:lnTo>
                <a:lnTo>
                  <a:pt x="617097" y="1039765"/>
                </a:lnTo>
                <a:lnTo>
                  <a:pt x="585693" y="1060015"/>
                </a:lnTo>
                <a:lnTo>
                  <a:pt x="583964" y="1071886"/>
                </a:lnTo>
                <a:lnTo>
                  <a:pt x="569509" y="1073654"/>
                </a:lnTo>
                <a:lnTo>
                  <a:pt x="551432" y="1084784"/>
                </a:lnTo>
                <a:lnTo>
                  <a:pt x="545161" y="1094831"/>
                </a:lnTo>
                <a:lnTo>
                  <a:pt x="548906" y="1102675"/>
                </a:lnTo>
                <a:lnTo>
                  <a:pt x="535474" y="1110490"/>
                </a:lnTo>
                <a:lnTo>
                  <a:pt x="507980" y="1094237"/>
                </a:lnTo>
                <a:lnTo>
                  <a:pt x="471107" y="1095065"/>
                </a:lnTo>
                <a:lnTo>
                  <a:pt x="458819" y="1100804"/>
                </a:lnTo>
                <a:lnTo>
                  <a:pt x="457140" y="1093822"/>
                </a:lnTo>
                <a:lnTo>
                  <a:pt x="450342" y="1093043"/>
                </a:lnTo>
                <a:lnTo>
                  <a:pt x="432430" y="1073537"/>
                </a:lnTo>
                <a:lnTo>
                  <a:pt x="417391" y="1070254"/>
                </a:lnTo>
                <a:lnTo>
                  <a:pt x="408556" y="1058323"/>
                </a:lnTo>
                <a:lnTo>
                  <a:pt x="383927" y="1066267"/>
                </a:lnTo>
                <a:lnTo>
                  <a:pt x="400739" y="1042158"/>
                </a:lnTo>
                <a:lnTo>
                  <a:pt x="391632" y="1021744"/>
                </a:lnTo>
                <a:lnTo>
                  <a:pt x="376973" y="1009082"/>
                </a:lnTo>
                <a:lnTo>
                  <a:pt x="365324" y="1017121"/>
                </a:lnTo>
                <a:lnTo>
                  <a:pt x="348965" y="1014246"/>
                </a:lnTo>
                <a:lnTo>
                  <a:pt x="326620" y="994249"/>
                </a:lnTo>
                <a:lnTo>
                  <a:pt x="281448" y="1008701"/>
                </a:lnTo>
                <a:lnTo>
                  <a:pt x="277112" y="986051"/>
                </a:lnTo>
                <a:lnTo>
                  <a:pt x="285756" y="973683"/>
                </a:lnTo>
                <a:lnTo>
                  <a:pt x="276845" y="958182"/>
                </a:lnTo>
                <a:lnTo>
                  <a:pt x="286951" y="949702"/>
                </a:lnTo>
                <a:lnTo>
                  <a:pt x="265696" y="931365"/>
                </a:lnTo>
                <a:lnTo>
                  <a:pt x="235215" y="930556"/>
                </a:lnTo>
                <a:lnTo>
                  <a:pt x="201270" y="941772"/>
                </a:lnTo>
                <a:lnTo>
                  <a:pt x="194055" y="950301"/>
                </a:lnTo>
                <a:lnTo>
                  <a:pt x="193454" y="962047"/>
                </a:lnTo>
                <a:lnTo>
                  <a:pt x="205058" y="973095"/>
                </a:lnTo>
                <a:lnTo>
                  <a:pt x="202955" y="995441"/>
                </a:lnTo>
                <a:lnTo>
                  <a:pt x="211490" y="1004682"/>
                </a:lnTo>
                <a:lnTo>
                  <a:pt x="190040" y="993428"/>
                </a:lnTo>
                <a:lnTo>
                  <a:pt x="181836" y="965055"/>
                </a:lnTo>
                <a:lnTo>
                  <a:pt x="170111" y="953546"/>
                </a:lnTo>
                <a:lnTo>
                  <a:pt x="176611" y="947367"/>
                </a:lnTo>
                <a:lnTo>
                  <a:pt x="179348" y="931068"/>
                </a:lnTo>
                <a:lnTo>
                  <a:pt x="165881" y="925870"/>
                </a:lnTo>
                <a:lnTo>
                  <a:pt x="178382" y="908350"/>
                </a:lnTo>
                <a:lnTo>
                  <a:pt x="183070" y="889228"/>
                </a:lnTo>
                <a:lnTo>
                  <a:pt x="190700" y="888031"/>
                </a:lnTo>
                <a:lnTo>
                  <a:pt x="187235" y="891101"/>
                </a:lnTo>
                <a:lnTo>
                  <a:pt x="193489" y="893692"/>
                </a:lnTo>
                <a:lnTo>
                  <a:pt x="191731" y="889356"/>
                </a:lnTo>
                <a:lnTo>
                  <a:pt x="197622" y="891329"/>
                </a:lnTo>
                <a:lnTo>
                  <a:pt x="201251" y="885525"/>
                </a:lnTo>
                <a:lnTo>
                  <a:pt x="188198" y="835591"/>
                </a:lnTo>
                <a:lnTo>
                  <a:pt x="168675" y="807481"/>
                </a:lnTo>
                <a:lnTo>
                  <a:pt x="158326" y="804635"/>
                </a:lnTo>
                <a:lnTo>
                  <a:pt x="161352" y="792123"/>
                </a:lnTo>
                <a:lnTo>
                  <a:pt x="156908" y="783218"/>
                </a:lnTo>
                <a:lnTo>
                  <a:pt x="120527" y="752912"/>
                </a:lnTo>
                <a:lnTo>
                  <a:pt x="122266" y="744768"/>
                </a:lnTo>
                <a:lnTo>
                  <a:pt x="109998" y="724284"/>
                </a:lnTo>
                <a:lnTo>
                  <a:pt x="89053" y="703683"/>
                </a:lnTo>
                <a:lnTo>
                  <a:pt x="86684" y="701926"/>
                </a:lnTo>
                <a:lnTo>
                  <a:pt x="79036" y="699556"/>
                </a:lnTo>
                <a:lnTo>
                  <a:pt x="74586" y="691841"/>
                </a:lnTo>
                <a:lnTo>
                  <a:pt x="79704" y="681435"/>
                </a:lnTo>
                <a:lnTo>
                  <a:pt x="85465" y="684198"/>
                </a:lnTo>
                <a:lnTo>
                  <a:pt x="80859" y="688682"/>
                </a:lnTo>
                <a:lnTo>
                  <a:pt x="87635" y="688466"/>
                </a:lnTo>
                <a:lnTo>
                  <a:pt x="90918" y="700800"/>
                </a:lnTo>
                <a:lnTo>
                  <a:pt x="106887" y="715038"/>
                </a:lnTo>
                <a:lnTo>
                  <a:pt x="112747" y="711678"/>
                </a:lnTo>
                <a:lnTo>
                  <a:pt x="91825" y="690618"/>
                </a:lnTo>
                <a:lnTo>
                  <a:pt x="90027" y="669857"/>
                </a:lnTo>
                <a:lnTo>
                  <a:pt x="82741" y="666187"/>
                </a:lnTo>
                <a:lnTo>
                  <a:pt x="80144" y="672604"/>
                </a:lnTo>
                <a:lnTo>
                  <a:pt x="82392" y="664176"/>
                </a:lnTo>
                <a:lnTo>
                  <a:pt x="76253" y="663602"/>
                </a:lnTo>
                <a:lnTo>
                  <a:pt x="71684" y="666672"/>
                </a:lnTo>
                <a:lnTo>
                  <a:pt x="77945" y="673504"/>
                </a:lnTo>
                <a:lnTo>
                  <a:pt x="77621" y="675997"/>
                </a:lnTo>
                <a:lnTo>
                  <a:pt x="72157" y="671370"/>
                </a:lnTo>
                <a:lnTo>
                  <a:pt x="64810" y="678610"/>
                </a:lnTo>
                <a:lnTo>
                  <a:pt x="60893" y="675984"/>
                </a:lnTo>
                <a:lnTo>
                  <a:pt x="62592" y="669268"/>
                </a:lnTo>
                <a:lnTo>
                  <a:pt x="55401" y="664004"/>
                </a:lnTo>
                <a:lnTo>
                  <a:pt x="57069" y="647838"/>
                </a:lnTo>
                <a:lnTo>
                  <a:pt x="50742" y="641839"/>
                </a:lnTo>
                <a:lnTo>
                  <a:pt x="55662" y="630570"/>
                </a:lnTo>
                <a:lnTo>
                  <a:pt x="46629" y="621615"/>
                </a:lnTo>
                <a:lnTo>
                  <a:pt x="58670" y="614853"/>
                </a:lnTo>
                <a:lnTo>
                  <a:pt x="56297" y="599648"/>
                </a:lnTo>
                <a:lnTo>
                  <a:pt x="71179" y="588009"/>
                </a:lnTo>
                <a:lnTo>
                  <a:pt x="91507" y="608266"/>
                </a:lnTo>
                <a:lnTo>
                  <a:pt x="109365" y="604394"/>
                </a:lnTo>
                <a:lnTo>
                  <a:pt x="131120" y="578706"/>
                </a:lnTo>
                <a:lnTo>
                  <a:pt x="142140" y="554568"/>
                </a:lnTo>
                <a:lnTo>
                  <a:pt x="146777" y="522928"/>
                </a:lnTo>
                <a:lnTo>
                  <a:pt x="139958" y="485536"/>
                </a:lnTo>
                <a:lnTo>
                  <a:pt x="145022" y="484479"/>
                </a:lnTo>
                <a:lnTo>
                  <a:pt x="146075" y="476060"/>
                </a:lnTo>
                <a:lnTo>
                  <a:pt x="133801" y="433726"/>
                </a:lnTo>
                <a:lnTo>
                  <a:pt x="136165" y="422648"/>
                </a:lnTo>
                <a:lnTo>
                  <a:pt x="123549" y="389670"/>
                </a:lnTo>
                <a:lnTo>
                  <a:pt x="126096" y="378898"/>
                </a:lnTo>
                <a:lnTo>
                  <a:pt x="113959" y="358778"/>
                </a:lnTo>
                <a:lnTo>
                  <a:pt x="111221" y="340294"/>
                </a:lnTo>
                <a:lnTo>
                  <a:pt x="84190" y="298438"/>
                </a:lnTo>
                <a:lnTo>
                  <a:pt x="34565" y="244223"/>
                </a:lnTo>
                <a:lnTo>
                  <a:pt x="24920" y="220581"/>
                </a:lnTo>
                <a:lnTo>
                  <a:pt x="0" y="194999"/>
                </a:lnTo>
                <a:lnTo>
                  <a:pt x="17251" y="200232"/>
                </a:lnTo>
                <a:lnTo>
                  <a:pt x="10815" y="179075"/>
                </a:lnTo>
                <a:lnTo>
                  <a:pt x="34772" y="156781"/>
                </a:lnTo>
                <a:lnTo>
                  <a:pt x="23236" y="135041"/>
                </a:lnTo>
                <a:lnTo>
                  <a:pt x="48014" y="132205"/>
                </a:lnTo>
                <a:lnTo>
                  <a:pt x="48883" y="99434"/>
                </a:lnTo>
                <a:lnTo>
                  <a:pt x="65173" y="96821"/>
                </a:lnTo>
                <a:lnTo>
                  <a:pt x="85590" y="111968"/>
                </a:lnTo>
                <a:lnTo>
                  <a:pt x="94769" y="101652"/>
                </a:lnTo>
                <a:lnTo>
                  <a:pt x="103457" y="105536"/>
                </a:lnTo>
                <a:lnTo>
                  <a:pt x="127198" y="61100"/>
                </a:lnTo>
                <a:lnTo>
                  <a:pt x="126218" y="43830"/>
                </a:lnTo>
                <a:lnTo>
                  <a:pt x="134666" y="26746"/>
                </a:lnTo>
                <a:lnTo>
                  <a:pt x="126329" y="9847"/>
                </a:lnTo>
                <a:lnTo>
                  <a:pt x="159776" y="45646"/>
                </a:lnTo>
                <a:lnTo>
                  <a:pt x="150015" y="24491"/>
                </a:lnTo>
                <a:lnTo>
                  <a:pt x="152982" y="4450"/>
                </a:lnTo>
                <a:lnTo>
                  <a:pt x="167803" y="0"/>
                </a:lnTo>
                <a:lnTo>
                  <a:pt x="188398" y="31307"/>
                </a:lnTo>
                <a:lnTo>
                  <a:pt x="211424" y="32931"/>
                </a:lnTo>
                <a:lnTo>
                  <a:pt x="220422" y="47066"/>
                </a:lnTo>
                <a:lnTo>
                  <a:pt x="220716" y="58016"/>
                </a:lnTo>
                <a:lnTo>
                  <a:pt x="236503" y="69875"/>
                </a:lnTo>
                <a:lnTo>
                  <a:pt x="256489" y="75916"/>
                </a:lnTo>
                <a:lnTo>
                  <a:pt x="260030" y="106852"/>
                </a:lnTo>
                <a:lnTo>
                  <a:pt x="241587" y="113185"/>
                </a:lnTo>
                <a:lnTo>
                  <a:pt x="266401" y="126958"/>
                </a:lnTo>
                <a:lnTo>
                  <a:pt x="250859" y="136256"/>
                </a:lnTo>
                <a:lnTo>
                  <a:pt x="249901" y="152422"/>
                </a:lnTo>
                <a:lnTo>
                  <a:pt x="260576" y="170104"/>
                </a:lnTo>
                <a:lnTo>
                  <a:pt x="261598" y="201950"/>
                </a:lnTo>
                <a:lnTo>
                  <a:pt x="267063" y="213761"/>
                </a:lnTo>
                <a:lnTo>
                  <a:pt x="277566" y="218651"/>
                </a:lnTo>
                <a:lnTo>
                  <a:pt x="271040" y="231695"/>
                </a:lnTo>
                <a:lnTo>
                  <a:pt x="285760" y="248815"/>
                </a:lnTo>
                <a:lnTo>
                  <a:pt x="278894" y="271482"/>
                </a:lnTo>
                <a:lnTo>
                  <a:pt x="296428" y="274411"/>
                </a:lnTo>
                <a:lnTo>
                  <a:pt x="289697" y="286484"/>
                </a:lnTo>
                <a:lnTo>
                  <a:pt x="297035" y="285948"/>
                </a:lnTo>
                <a:lnTo>
                  <a:pt x="298503" y="292469"/>
                </a:lnTo>
                <a:lnTo>
                  <a:pt x="291708" y="311401"/>
                </a:lnTo>
                <a:lnTo>
                  <a:pt x="301476" y="331397"/>
                </a:lnTo>
                <a:lnTo>
                  <a:pt x="295559" y="335745"/>
                </a:lnTo>
                <a:lnTo>
                  <a:pt x="300442" y="342571"/>
                </a:lnTo>
                <a:lnTo>
                  <a:pt x="288582" y="353491"/>
                </a:lnTo>
                <a:lnTo>
                  <a:pt x="288280" y="364479"/>
                </a:lnTo>
                <a:lnTo>
                  <a:pt x="313946" y="372260"/>
                </a:lnTo>
                <a:lnTo>
                  <a:pt x="326459" y="369759"/>
                </a:lnTo>
                <a:lnTo>
                  <a:pt x="329440" y="380702"/>
                </a:lnTo>
                <a:lnTo>
                  <a:pt x="345516" y="358115"/>
                </a:lnTo>
                <a:lnTo>
                  <a:pt x="344406" y="388076"/>
                </a:lnTo>
                <a:lnTo>
                  <a:pt x="346903" y="384209"/>
                </a:lnTo>
                <a:lnTo>
                  <a:pt x="354452" y="388886"/>
                </a:lnTo>
                <a:lnTo>
                  <a:pt x="363834" y="403304"/>
                </a:lnTo>
                <a:lnTo>
                  <a:pt x="370627" y="395867"/>
                </a:lnTo>
                <a:lnTo>
                  <a:pt x="377378" y="399691"/>
                </a:lnTo>
                <a:lnTo>
                  <a:pt x="391089" y="410588"/>
                </a:lnTo>
                <a:lnTo>
                  <a:pt x="392153" y="422024"/>
                </a:lnTo>
                <a:lnTo>
                  <a:pt x="395830" y="412851"/>
                </a:lnTo>
                <a:lnTo>
                  <a:pt x="397873" y="420214"/>
                </a:lnTo>
                <a:lnTo>
                  <a:pt x="389581" y="428577"/>
                </a:lnTo>
                <a:lnTo>
                  <a:pt x="395698" y="436891"/>
                </a:lnTo>
                <a:lnTo>
                  <a:pt x="394567" y="455359"/>
                </a:lnTo>
                <a:lnTo>
                  <a:pt x="377077" y="466031"/>
                </a:lnTo>
                <a:lnTo>
                  <a:pt x="382641" y="485146"/>
                </a:lnTo>
                <a:lnTo>
                  <a:pt x="402862" y="514973"/>
                </a:lnTo>
                <a:lnTo>
                  <a:pt x="397489" y="535621"/>
                </a:lnTo>
                <a:lnTo>
                  <a:pt x="407840" y="562754"/>
                </a:lnTo>
                <a:lnTo>
                  <a:pt x="423862" y="550779"/>
                </a:lnTo>
                <a:lnTo>
                  <a:pt x="425516" y="509998"/>
                </a:lnTo>
                <a:lnTo>
                  <a:pt x="432270" y="501525"/>
                </a:lnTo>
                <a:lnTo>
                  <a:pt x="437967" y="507599"/>
                </a:lnTo>
                <a:lnTo>
                  <a:pt x="448646" y="501690"/>
                </a:lnTo>
                <a:lnTo>
                  <a:pt x="443422" y="496279"/>
                </a:lnTo>
                <a:lnTo>
                  <a:pt x="449330" y="487094"/>
                </a:lnTo>
                <a:lnTo>
                  <a:pt x="455608" y="493368"/>
                </a:lnTo>
                <a:lnTo>
                  <a:pt x="466632" y="479957"/>
                </a:lnTo>
                <a:lnTo>
                  <a:pt x="479067" y="485162"/>
                </a:lnTo>
                <a:lnTo>
                  <a:pt x="492789" y="483040"/>
                </a:lnTo>
                <a:lnTo>
                  <a:pt x="513787" y="461418"/>
                </a:lnTo>
                <a:lnTo>
                  <a:pt x="516532" y="449995"/>
                </a:lnTo>
                <a:lnTo>
                  <a:pt x="525924" y="449064"/>
                </a:lnTo>
                <a:lnTo>
                  <a:pt x="533728" y="433897"/>
                </a:lnTo>
                <a:lnTo>
                  <a:pt x="543429" y="431485"/>
                </a:lnTo>
                <a:lnTo>
                  <a:pt x="540741" y="442613"/>
                </a:lnTo>
                <a:lnTo>
                  <a:pt x="556886" y="441098"/>
                </a:lnTo>
                <a:lnTo>
                  <a:pt x="560740" y="463137"/>
                </a:lnTo>
                <a:lnTo>
                  <a:pt x="552375" y="461512"/>
                </a:lnTo>
                <a:lnTo>
                  <a:pt x="535478" y="492435"/>
                </a:lnTo>
                <a:lnTo>
                  <a:pt x="523848" y="486829"/>
                </a:lnTo>
                <a:lnTo>
                  <a:pt x="533432" y="530717"/>
                </a:lnTo>
                <a:lnTo>
                  <a:pt x="539998" y="549272"/>
                </a:lnTo>
                <a:lnTo>
                  <a:pt x="551401" y="559557"/>
                </a:lnTo>
                <a:lnTo>
                  <a:pt x="551270" y="576701"/>
                </a:lnTo>
                <a:lnTo>
                  <a:pt x="558420" y="584618"/>
                </a:lnTo>
                <a:lnTo>
                  <a:pt x="576107" y="589069"/>
                </a:lnTo>
                <a:lnTo>
                  <a:pt x="589120" y="603683"/>
                </a:lnTo>
                <a:lnTo>
                  <a:pt x="591079" y="615572"/>
                </a:lnTo>
                <a:lnTo>
                  <a:pt x="594469" y="613141"/>
                </a:lnTo>
                <a:lnTo>
                  <a:pt x="607510" y="622406"/>
                </a:lnTo>
                <a:lnTo>
                  <a:pt x="620615" y="622292"/>
                </a:lnTo>
                <a:lnTo>
                  <a:pt x="633333" y="606264"/>
                </a:lnTo>
                <a:lnTo>
                  <a:pt x="640202" y="621879"/>
                </a:lnTo>
                <a:lnTo>
                  <a:pt x="670650" y="621247"/>
                </a:lnTo>
                <a:lnTo>
                  <a:pt x="673139" y="612934"/>
                </a:lnTo>
                <a:lnTo>
                  <a:pt x="684684" y="607865"/>
                </a:lnTo>
                <a:lnTo>
                  <a:pt x="691232" y="587814"/>
                </a:lnTo>
                <a:lnTo>
                  <a:pt x="680983" y="561010"/>
                </a:lnTo>
                <a:lnTo>
                  <a:pt x="692238" y="548109"/>
                </a:lnTo>
                <a:lnTo>
                  <a:pt x="717693" y="541280"/>
                </a:lnTo>
                <a:lnTo>
                  <a:pt x="746317" y="543809"/>
                </a:lnTo>
                <a:lnTo>
                  <a:pt x="759626" y="537195"/>
                </a:lnTo>
                <a:lnTo>
                  <a:pt x="755620" y="527301"/>
                </a:lnTo>
                <a:lnTo>
                  <a:pt x="763983" y="506263"/>
                </a:lnTo>
                <a:lnTo>
                  <a:pt x="784935" y="487915"/>
                </a:lnTo>
                <a:lnTo>
                  <a:pt x="788730" y="471817"/>
                </a:lnTo>
                <a:lnTo>
                  <a:pt x="799994" y="475112"/>
                </a:lnTo>
                <a:lnTo>
                  <a:pt x="816578" y="470407"/>
                </a:lnTo>
                <a:lnTo>
                  <a:pt x="826151" y="458919"/>
                </a:lnTo>
                <a:lnTo>
                  <a:pt x="843233" y="456075"/>
                </a:lnTo>
                <a:lnTo>
                  <a:pt x="838437" y="432380"/>
                </a:lnTo>
                <a:lnTo>
                  <a:pt x="861883" y="426440"/>
                </a:lnTo>
                <a:lnTo>
                  <a:pt x="872426" y="436338"/>
                </a:lnTo>
                <a:lnTo>
                  <a:pt x="881713" y="424928"/>
                </a:lnTo>
                <a:lnTo>
                  <a:pt x="891785" y="436396"/>
                </a:lnTo>
                <a:lnTo>
                  <a:pt x="912309" y="442396"/>
                </a:lnTo>
                <a:lnTo>
                  <a:pt x="923165" y="438366"/>
                </a:lnTo>
                <a:lnTo>
                  <a:pt x="925409" y="428305"/>
                </a:lnTo>
                <a:lnTo>
                  <a:pt x="939060" y="423615"/>
                </a:lnTo>
                <a:lnTo>
                  <a:pt x="942106" y="400071"/>
                </a:lnTo>
                <a:lnTo>
                  <a:pt x="953449" y="391385"/>
                </a:lnTo>
                <a:lnTo>
                  <a:pt x="958263" y="407880"/>
                </a:lnTo>
                <a:lnTo>
                  <a:pt x="967362" y="386671"/>
                </a:lnTo>
                <a:lnTo>
                  <a:pt x="954012" y="375111"/>
                </a:lnTo>
                <a:lnTo>
                  <a:pt x="958444" y="370686"/>
                </a:lnTo>
                <a:lnTo>
                  <a:pt x="952870" y="355021"/>
                </a:lnTo>
                <a:lnTo>
                  <a:pt x="959238" y="344940"/>
                </a:lnTo>
                <a:lnTo>
                  <a:pt x="953944" y="333392"/>
                </a:lnTo>
                <a:lnTo>
                  <a:pt x="973351" y="342687"/>
                </a:lnTo>
                <a:lnTo>
                  <a:pt x="975123" y="324124"/>
                </a:lnTo>
                <a:lnTo>
                  <a:pt x="971334" y="321406"/>
                </a:lnTo>
                <a:lnTo>
                  <a:pt x="981361" y="316687"/>
                </a:lnTo>
                <a:lnTo>
                  <a:pt x="994670" y="265265"/>
                </a:lnTo>
                <a:lnTo>
                  <a:pt x="1003234" y="262742"/>
                </a:lnTo>
                <a:lnTo>
                  <a:pt x="1043911" y="284066"/>
                </a:lnTo>
                <a:lnTo>
                  <a:pt x="1059062" y="285684"/>
                </a:lnTo>
                <a:lnTo>
                  <a:pt x="1059549" y="294693"/>
                </a:lnTo>
                <a:lnTo>
                  <a:pt x="1071188" y="297389"/>
                </a:lnTo>
                <a:lnTo>
                  <a:pt x="1062732" y="318254"/>
                </a:lnTo>
                <a:lnTo>
                  <a:pt x="1070820" y="322528"/>
                </a:lnTo>
                <a:lnTo>
                  <a:pt x="1096951" y="315995"/>
                </a:lnTo>
                <a:lnTo>
                  <a:pt x="1106376" y="330533"/>
                </a:lnTo>
                <a:lnTo>
                  <a:pt x="1124112" y="320318"/>
                </a:lnTo>
                <a:lnTo>
                  <a:pt x="1133780" y="334848"/>
                </a:lnTo>
                <a:lnTo>
                  <a:pt x="1149842" y="330741"/>
                </a:lnTo>
                <a:lnTo>
                  <a:pt x="1163650" y="334756"/>
                </a:lnTo>
                <a:lnTo>
                  <a:pt x="1169971" y="338050"/>
                </a:lnTo>
                <a:lnTo>
                  <a:pt x="1168355" y="354476"/>
                </a:lnTo>
                <a:lnTo>
                  <a:pt x="1177143" y="360178"/>
                </a:lnTo>
                <a:lnTo>
                  <a:pt x="1205493" y="333633"/>
                </a:lnTo>
                <a:lnTo>
                  <a:pt x="1220657" y="296175"/>
                </a:lnTo>
                <a:lnTo>
                  <a:pt x="1243489" y="291669"/>
                </a:lnTo>
                <a:lnTo>
                  <a:pt x="1245386" y="281006"/>
                </a:lnTo>
                <a:lnTo>
                  <a:pt x="1269011" y="289165"/>
                </a:lnTo>
                <a:lnTo>
                  <a:pt x="1289672" y="274612"/>
                </a:lnTo>
                <a:lnTo>
                  <a:pt x="1310684" y="273762"/>
                </a:lnTo>
                <a:lnTo>
                  <a:pt x="1319871" y="286110"/>
                </a:lnTo>
                <a:lnTo>
                  <a:pt x="1338534" y="290867"/>
                </a:lnTo>
                <a:lnTo>
                  <a:pt x="1331441" y="303370"/>
                </a:lnTo>
                <a:lnTo>
                  <a:pt x="1337713" y="304394"/>
                </a:lnTo>
                <a:lnTo>
                  <a:pt x="1350327" y="321887"/>
                </a:lnTo>
                <a:lnTo>
                  <a:pt x="1362107" y="305548"/>
                </a:lnTo>
                <a:lnTo>
                  <a:pt x="1365096" y="288470"/>
                </a:lnTo>
                <a:lnTo>
                  <a:pt x="1383426" y="288318"/>
                </a:lnTo>
                <a:lnTo>
                  <a:pt x="1379470" y="294357"/>
                </a:lnTo>
                <a:lnTo>
                  <a:pt x="1388914" y="313955"/>
                </a:lnTo>
                <a:lnTo>
                  <a:pt x="1413570" y="315353"/>
                </a:lnTo>
                <a:lnTo>
                  <a:pt x="1407278" y="317751"/>
                </a:lnTo>
                <a:lnTo>
                  <a:pt x="1407012" y="326048"/>
                </a:lnTo>
                <a:lnTo>
                  <a:pt x="1400506" y="324117"/>
                </a:lnTo>
                <a:close/>
              </a:path>
            </a:pathLst>
          </a:custGeom>
          <a:noFill/>
          <a:ln w="1905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9" name="Lesotho: outside South African demand"/>
          <p:cNvSpPr/>
          <p:nvPr/>
        </p:nvSpPr>
        <p:spPr>
          <a:xfrm>
            <a:off x="4162536" y="3961551"/>
            <a:ext cx="525916" cy="523154"/>
          </a:xfrm>
          <a:custGeom>
            <a:avLst/>
            <a:gdLst/>
            <a:ahLst/>
            <a:cxnLst/>
            <a:rect l="l" t="t" r="r" b="b"/>
            <a:pathLst>
              <a:path w="525916" h="523154">
                <a:moveTo>
                  <a:pt x="372627" y="389545"/>
                </a:moveTo>
                <a:lnTo>
                  <a:pt x="352419" y="395211"/>
                </a:lnTo>
                <a:lnTo>
                  <a:pt x="349625" y="395675"/>
                </a:lnTo>
                <a:lnTo>
                  <a:pt x="336847" y="393833"/>
                </a:lnTo>
                <a:lnTo>
                  <a:pt x="319681" y="394817"/>
                </a:lnTo>
                <a:lnTo>
                  <a:pt x="306125" y="397891"/>
                </a:lnTo>
                <a:lnTo>
                  <a:pt x="295651" y="398887"/>
                </a:lnTo>
                <a:lnTo>
                  <a:pt x="278098" y="416534"/>
                </a:lnTo>
                <a:lnTo>
                  <a:pt x="245826" y="464634"/>
                </a:lnTo>
                <a:lnTo>
                  <a:pt x="237323" y="474653"/>
                </a:lnTo>
                <a:lnTo>
                  <a:pt x="234503" y="493824"/>
                </a:lnTo>
                <a:lnTo>
                  <a:pt x="226936" y="508845"/>
                </a:lnTo>
                <a:lnTo>
                  <a:pt x="217868" y="520504"/>
                </a:lnTo>
                <a:lnTo>
                  <a:pt x="209241" y="523154"/>
                </a:lnTo>
                <a:lnTo>
                  <a:pt x="183647" y="517784"/>
                </a:lnTo>
                <a:lnTo>
                  <a:pt x="150903" y="510897"/>
                </a:lnTo>
                <a:lnTo>
                  <a:pt x="132109" y="495693"/>
                </a:lnTo>
                <a:lnTo>
                  <a:pt x="115515" y="475904"/>
                </a:lnTo>
                <a:lnTo>
                  <a:pt x="106830" y="461595"/>
                </a:lnTo>
                <a:lnTo>
                  <a:pt x="97584" y="453650"/>
                </a:lnTo>
                <a:lnTo>
                  <a:pt x="94452" y="449235"/>
                </a:lnTo>
                <a:lnTo>
                  <a:pt x="81164" y="442435"/>
                </a:lnTo>
                <a:lnTo>
                  <a:pt x="76166" y="438958"/>
                </a:lnTo>
                <a:lnTo>
                  <a:pt x="71753" y="436469"/>
                </a:lnTo>
                <a:lnTo>
                  <a:pt x="66530" y="426968"/>
                </a:lnTo>
                <a:lnTo>
                  <a:pt x="63510" y="418762"/>
                </a:lnTo>
                <a:lnTo>
                  <a:pt x="65232" y="396083"/>
                </a:lnTo>
                <a:lnTo>
                  <a:pt x="56020" y="382357"/>
                </a:lnTo>
                <a:lnTo>
                  <a:pt x="40249" y="358940"/>
                </a:lnTo>
                <a:lnTo>
                  <a:pt x="30328" y="339814"/>
                </a:lnTo>
                <a:lnTo>
                  <a:pt x="16753" y="313705"/>
                </a:lnTo>
                <a:lnTo>
                  <a:pt x="8530" y="291422"/>
                </a:lnTo>
                <a:lnTo>
                  <a:pt x="0" y="268336"/>
                </a:lnTo>
                <a:lnTo>
                  <a:pt x="1330" y="258516"/>
                </a:lnTo>
                <a:lnTo>
                  <a:pt x="10003" y="251947"/>
                </a:lnTo>
                <a:lnTo>
                  <a:pt x="35295" y="240865"/>
                </a:lnTo>
                <a:lnTo>
                  <a:pt x="54944" y="232319"/>
                </a:lnTo>
                <a:lnTo>
                  <a:pt x="69208" y="216209"/>
                </a:lnTo>
                <a:lnTo>
                  <a:pt x="84942" y="192165"/>
                </a:lnTo>
                <a:lnTo>
                  <a:pt x="92663" y="177657"/>
                </a:lnTo>
                <a:lnTo>
                  <a:pt x="100202" y="171119"/>
                </a:lnTo>
                <a:lnTo>
                  <a:pt x="108523" y="160950"/>
                </a:lnTo>
                <a:lnTo>
                  <a:pt x="123173" y="138329"/>
                </a:lnTo>
                <a:lnTo>
                  <a:pt x="139504" y="113228"/>
                </a:lnTo>
                <a:lnTo>
                  <a:pt x="157005" y="86265"/>
                </a:lnTo>
                <a:lnTo>
                  <a:pt x="178515" y="78848"/>
                </a:lnTo>
                <a:lnTo>
                  <a:pt x="207867" y="70417"/>
                </a:lnTo>
                <a:lnTo>
                  <a:pt x="236499" y="47255"/>
                </a:lnTo>
                <a:lnTo>
                  <a:pt x="270424" y="28013"/>
                </a:lnTo>
                <a:lnTo>
                  <a:pt x="324969" y="7681"/>
                </a:lnTo>
                <a:lnTo>
                  <a:pt x="350282" y="2882"/>
                </a:lnTo>
                <a:lnTo>
                  <a:pt x="359936" y="0"/>
                </a:lnTo>
                <a:lnTo>
                  <a:pt x="365867" y="4306"/>
                </a:lnTo>
                <a:lnTo>
                  <a:pt x="371912" y="17015"/>
                </a:lnTo>
                <a:lnTo>
                  <a:pt x="380742" y="27763"/>
                </a:lnTo>
                <a:lnTo>
                  <a:pt x="401435" y="46642"/>
                </a:lnTo>
                <a:lnTo>
                  <a:pt x="410307" y="51328"/>
                </a:lnTo>
                <a:lnTo>
                  <a:pt x="431349" y="78994"/>
                </a:lnTo>
                <a:lnTo>
                  <a:pt x="454169" y="98265"/>
                </a:lnTo>
                <a:lnTo>
                  <a:pt x="480385" y="120477"/>
                </a:lnTo>
                <a:lnTo>
                  <a:pt x="498354" y="131718"/>
                </a:lnTo>
                <a:lnTo>
                  <a:pt x="507581" y="135002"/>
                </a:lnTo>
                <a:lnTo>
                  <a:pt x="514644" y="154164"/>
                </a:lnTo>
                <a:lnTo>
                  <a:pt x="521963" y="168462"/>
                </a:lnTo>
                <a:lnTo>
                  <a:pt x="525916" y="181738"/>
                </a:lnTo>
                <a:lnTo>
                  <a:pt x="524542" y="194491"/>
                </a:lnTo>
                <a:lnTo>
                  <a:pt x="514901" y="225444"/>
                </a:lnTo>
                <a:lnTo>
                  <a:pt x="501369" y="256934"/>
                </a:lnTo>
                <a:lnTo>
                  <a:pt x="490983" y="269862"/>
                </a:lnTo>
                <a:lnTo>
                  <a:pt x="478604" y="277821"/>
                </a:lnTo>
                <a:lnTo>
                  <a:pt x="466344" y="290016"/>
                </a:lnTo>
                <a:lnTo>
                  <a:pt x="460926" y="315482"/>
                </a:lnTo>
                <a:lnTo>
                  <a:pt x="454530" y="345440"/>
                </a:lnTo>
                <a:lnTo>
                  <a:pt x="438729" y="357322"/>
                </a:lnTo>
                <a:lnTo>
                  <a:pt x="426500" y="365058"/>
                </a:lnTo>
                <a:lnTo>
                  <a:pt x="409654" y="374496"/>
                </a:lnTo>
                <a:lnTo>
                  <a:pt x="372627" y="389545"/>
                </a:lnTo>
                <a:close/>
              </a:path>
            </a:pathLst>
          </a:custGeom>
          <a:solidFill>
            <a:srgbClr val="EEEEEE"/>
          </a:solidFill>
          <a:ln w="762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02" name="Connector 401"/>
          <p:cNvCxnSpPr/>
          <p:nvPr/>
        </p:nvCxnSpPr>
        <p:spPr>
          <a:xfrm flipV="1">
            <a:off x="2302196" y="5274153"/>
            <a:ext cx="213860" cy="7800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flipV="1">
            <a:off x="2516056" y="4918400"/>
            <a:ext cx="662353" cy="35575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4" name="Connector 403"/>
          <p:cNvCxnSpPr/>
          <p:nvPr/>
        </p:nvCxnSpPr>
        <p:spPr>
          <a:xfrm flipV="1">
            <a:off x="3178409" y="4496001"/>
            <a:ext cx="547930" cy="4223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5" name="Connector 404"/>
          <p:cNvCxnSpPr/>
          <p:nvPr/>
        </p:nvCxnSpPr>
        <p:spPr>
          <a:xfrm flipV="1">
            <a:off x="3726339" y="4088144"/>
            <a:ext cx="249625" cy="40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6" name="Connector 405"/>
          <p:cNvCxnSpPr/>
          <p:nvPr/>
        </p:nvCxnSpPr>
        <p:spPr>
          <a:xfrm flipV="1">
            <a:off x="3975964" y="3715560"/>
            <a:ext cx="236002" cy="37258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7" name="Connector 406"/>
          <p:cNvCxnSpPr/>
          <p:nvPr/>
        </p:nvCxnSpPr>
        <p:spPr>
          <a:xfrm flipV="1">
            <a:off x="4211966" y="3349004"/>
            <a:ext cx="195717" cy="36655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8" name="Connector 407"/>
          <p:cNvCxnSpPr/>
          <p:nvPr/>
        </p:nvCxnSpPr>
        <p:spPr>
          <a:xfrm flipV="1">
            <a:off x="4407683" y="3234833"/>
            <a:ext cx="35153" cy="11417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09" name="Connector 408"/>
          <p:cNvCxnSpPr/>
          <p:nvPr/>
        </p:nvCxnSpPr>
        <p:spPr>
          <a:xfrm flipV="1">
            <a:off x="4442836" y="2771412"/>
            <a:ext cx="307542" cy="4634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0" name="Connector 409"/>
          <p:cNvCxnSpPr/>
          <p:nvPr/>
        </p:nvCxnSpPr>
        <p:spPr>
          <a:xfrm flipV="1">
            <a:off x="4750378" y="2350020"/>
            <a:ext cx="142270" cy="42139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1" name="Connector 410"/>
          <p:cNvCxnSpPr/>
          <p:nvPr/>
        </p:nvCxnSpPr>
        <p:spPr>
          <a:xfrm>
            <a:off x="2302196" y="5352156"/>
            <a:ext cx="427623" cy="986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2" name="Connector 411"/>
          <p:cNvCxnSpPr/>
          <p:nvPr/>
        </p:nvCxnSpPr>
        <p:spPr>
          <a:xfrm>
            <a:off x="2729819" y="5362017"/>
            <a:ext cx="365466" cy="2648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3" name="Connector 412"/>
          <p:cNvCxnSpPr/>
          <p:nvPr/>
        </p:nvCxnSpPr>
        <p:spPr>
          <a:xfrm flipV="1">
            <a:off x="3095285" y="5330646"/>
            <a:ext cx="66761" cy="5785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4" name="Connector 413"/>
          <p:cNvCxnSpPr/>
          <p:nvPr/>
        </p:nvCxnSpPr>
        <p:spPr>
          <a:xfrm>
            <a:off x="3162046" y="5330646"/>
            <a:ext cx="194573" cy="194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5" name="Connector 414"/>
          <p:cNvCxnSpPr/>
          <p:nvPr/>
        </p:nvCxnSpPr>
        <p:spPr>
          <a:xfrm flipV="1">
            <a:off x="3356619" y="5324992"/>
            <a:ext cx="482114" cy="2512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6" name="Connector 415"/>
          <p:cNvCxnSpPr/>
          <p:nvPr/>
        </p:nvCxnSpPr>
        <p:spPr>
          <a:xfrm flipV="1">
            <a:off x="3838733" y="5233353"/>
            <a:ext cx="270649" cy="91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7" name="Connector 416"/>
          <p:cNvCxnSpPr/>
          <p:nvPr/>
        </p:nvCxnSpPr>
        <p:spPr>
          <a:xfrm flipV="1">
            <a:off x="4109382" y="5094743"/>
            <a:ext cx="222461" cy="1386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8" name="Connector 417"/>
          <p:cNvCxnSpPr/>
          <p:nvPr/>
        </p:nvCxnSpPr>
        <p:spPr>
          <a:xfrm flipV="1">
            <a:off x="4331843" y="4731963"/>
            <a:ext cx="200210" cy="36278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19" name="Connector 418"/>
          <p:cNvCxnSpPr/>
          <p:nvPr/>
        </p:nvCxnSpPr>
        <p:spPr>
          <a:xfrm flipV="1">
            <a:off x="4532053" y="4470941"/>
            <a:ext cx="150466" cy="2610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0" name="Connector 419"/>
          <p:cNvCxnSpPr/>
          <p:nvPr/>
        </p:nvCxnSpPr>
        <p:spPr>
          <a:xfrm>
            <a:off x="4682519" y="4470941"/>
            <a:ext cx="225376" cy="5817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1" name="Connector 420"/>
          <p:cNvCxnSpPr/>
          <p:nvPr/>
        </p:nvCxnSpPr>
        <p:spPr>
          <a:xfrm flipV="1">
            <a:off x="4907895" y="4315496"/>
            <a:ext cx="139454" cy="2136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2" name="Connector 421"/>
          <p:cNvCxnSpPr/>
          <p:nvPr/>
        </p:nvCxnSpPr>
        <p:spPr>
          <a:xfrm flipV="1">
            <a:off x="5047349" y="4037215"/>
            <a:ext cx="210381" cy="2782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3" name="Connector 422"/>
          <p:cNvCxnSpPr/>
          <p:nvPr/>
        </p:nvCxnSpPr>
        <p:spPr>
          <a:xfrm flipV="1">
            <a:off x="5257730" y="3712239"/>
            <a:ext cx="57336" cy="3249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4" name="Connector 423"/>
          <p:cNvCxnSpPr/>
          <p:nvPr/>
        </p:nvCxnSpPr>
        <p:spPr>
          <a:xfrm flipH="1" flipV="1">
            <a:off x="5072949" y="3578600"/>
            <a:ext cx="242117" cy="13363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5" name="Connector 424"/>
          <p:cNvCxnSpPr/>
          <p:nvPr/>
        </p:nvCxnSpPr>
        <p:spPr>
          <a:xfrm flipH="1" flipV="1">
            <a:off x="4849118" y="3448062"/>
            <a:ext cx="223831" cy="1305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6" name="Connector 425"/>
          <p:cNvCxnSpPr/>
          <p:nvPr/>
        </p:nvCxnSpPr>
        <p:spPr>
          <a:xfrm>
            <a:off x="4407683" y="3349004"/>
            <a:ext cx="69426" cy="7856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7" name="Connector 426"/>
          <p:cNvCxnSpPr/>
          <p:nvPr/>
        </p:nvCxnSpPr>
        <p:spPr>
          <a:xfrm>
            <a:off x="4477109" y="3427567"/>
            <a:ext cx="162780" cy="22763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8" name="Connector 427"/>
          <p:cNvCxnSpPr/>
          <p:nvPr/>
        </p:nvCxnSpPr>
        <p:spPr>
          <a:xfrm flipH="1">
            <a:off x="4638838" y="3655201"/>
            <a:ext cx="1051" cy="23289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29" name="Connector 428"/>
          <p:cNvCxnSpPr/>
          <p:nvPr/>
        </p:nvCxnSpPr>
        <p:spPr>
          <a:xfrm>
            <a:off x="4638838" y="3888100"/>
            <a:ext cx="137515" cy="24073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0" name="Connector 429"/>
          <p:cNvCxnSpPr/>
          <p:nvPr/>
        </p:nvCxnSpPr>
        <p:spPr>
          <a:xfrm>
            <a:off x="4776353" y="4128835"/>
            <a:ext cx="131953" cy="1081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1" name="Connector 430"/>
          <p:cNvCxnSpPr/>
          <p:nvPr/>
        </p:nvCxnSpPr>
        <p:spPr>
          <a:xfrm>
            <a:off x="4908306" y="4236989"/>
            <a:ext cx="139043" cy="7850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2" name="Connector 431"/>
          <p:cNvCxnSpPr/>
          <p:nvPr/>
        </p:nvCxnSpPr>
        <p:spPr>
          <a:xfrm>
            <a:off x="3869319" y="3105553"/>
            <a:ext cx="353970" cy="10393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3" name="Connector 432"/>
          <p:cNvCxnSpPr/>
          <p:nvPr/>
        </p:nvCxnSpPr>
        <p:spPr>
          <a:xfrm>
            <a:off x="4223289" y="3209491"/>
            <a:ext cx="219547" cy="2534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4" name="Connector 433"/>
          <p:cNvCxnSpPr/>
          <p:nvPr/>
        </p:nvCxnSpPr>
        <p:spPr>
          <a:xfrm>
            <a:off x="4442836" y="3234833"/>
            <a:ext cx="239629" cy="379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5" name="Connector 434"/>
          <p:cNvCxnSpPr/>
          <p:nvPr/>
        </p:nvCxnSpPr>
        <p:spPr>
          <a:xfrm flipV="1">
            <a:off x="4682465" y="3187480"/>
            <a:ext cx="406634" cy="8534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6" name="Connector 435"/>
          <p:cNvCxnSpPr/>
          <p:nvPr/>
        </p:nvCxnSpPr>
        <p:spPr>
          <a:xfrm>
            <a:off x="5089099" y="3187480"/>
            <a:ext cx="234267" cy="47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7" name="Connector 436"/>
          <p:cNvCxnSpPr/>
          <p:nvPr/>
        </p:nvCxnSpPr>
        <p:spPr>
          <a:xfrm>
            <a:off x="3975964" y="4088144"/>
            <a:ext cx="106233" cy="4106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8" name="Connector 437"/>
          <p:cNvCxnSpPr/>
          <p:nvPr/>
        </p:nvCxnSpPr>
        <p:spPr>
          <a:xfrm>
            <a:off x="4082197" y="4498749"/>
            <a:ext cx="32515" cy="3023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39" name="Connector 438"/>
          <p:cNvCxnSpPr/>
          <p:nvPr/>
        </p:nvCxnSpPr>
        <p:spPr>
          <a:xfrm>
            <a:off x="4114712" y="4801131"/>
            <a:ext cx="114104" cy="173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0" name="Connector 439"/>
          <p:cNvCxnSpPr/>
          <p:nvPr/>
        </p:nvCxnSpPr>
        <p:spPr>
          <a:xfrm>
            <a:off x="4228816" y="4974662"/>
            <a:ext cx="103027" cy="1200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1" name="Connector 440"/>
          <p:cNvCxnSpPr/>
          <p:nvPr/>
        </p:nvCxnSpPr>
        <p:spPr>
          <a:xfrm flipV="1">
            <a:off x="2302196" y="5233904"/>
            <a:ext cx="50706" cy="11825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2" name="Connector 441"/>
          <p:cNvCxnSpPr/>
          <p:nvPr/>
        </p:nvCxnSpPr>
        <p:spPr>
          <a:xfrm flipV="1">
            <a:off x="2352902" y="5008399"/>
            <a:ext cx="45400" cy="2255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3" name="Connector 442"/>
          <p:cNvCxnSpPr/>
          <p:nvPr/>
        </p:nvCxnSpPr>
        <p:spPr>
          <a:xfrm flipH="1" flipV="1">
            <a:off x="2334347" y="4760509"/>
            <a:ext cx="63955" cy="24789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4" name="Connector 443"/>
          <p:cNvCxnSpPr/>
          <p:nvPr/>
        </p:nvCxnSpPr>
        <p:spPr>
          <a:xfrm flipH="1" flipV="1">
            <a:off x="2115541" y="4275351"/>
            <a:ext cx="218806" cy="48515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5" name="Connector 444"/>
          <p:cNvCxnSpPr/>
          <p:nvPr/>
        </p:nvCxnSpPr>
        <p:spPr>
          <a:xfrm flipH="1" flipV="1">
            <a:off x="2043233" y="4048820"/>
            <a:ext cx="72308" cy="22653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6" name="Connector 445"/>
          <p:cNvCxnSpPr/>
          <p:nvPr/>
        </p:nvCxnSpPr>
        <p:spPr>
          <a:xfrm flipH="1" flipV="1">
            <a:off x="3829963" y="4972041"/>
            <a:ext cx="6994" cy="29157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7" name="Connector 446"/>
          <p:cNvCxnSpPr/>
          <p:nvPr/>
        </p:nvCxnSpPr>
        <p:spPr>
          <a:xfrm flipH="1" flipV="1">
            <a:off x="3706428" y="4692941"/>
            <a:ext cx="123535" cy="27910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8" name="Connector 447"/>
          <p:cNvCxnSpPr/>
          <p:nvPr/>
        </p:nvCxnSpPr>
        <p:spPr>
          <a:xfrm flipH="1" flipV="1">
            <a:off x="3499481" y="4322862"/>
            <a:ext cx="206947" cy="3700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49" name="Connector 448"/>
          <p:cNvCxnSpPr/>
          <p:nvPr/>
        </p:nvCxnSpPr>
        <p:spPr>
          <a:xfrm flipH="1" flipV="1">
            <a:off x="3201641" y="4229654"/>
            <a:ext cx="297840" cy="9320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0" name="Connector 449"/>
          <p:cNvCxnSpPr/>
          <p:nvPr/>
        </p:nvCxnSpPr>
        <p:spPr>
          <a:xfrm flipH="1" flipV="1">
            <a:off x="2629017" y="3939432"/>
            <a:ext cx="572624" cy="2902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1" name="Connector 450"/>
          <p:cNvCxnSpPr/>
          <p:nvPr/>
        </p:nvCxnSpPr>
        <p:spPr>
          <a:xfrm flipH="1" flipV="1">
            <a:off x="2542382" y="3251660"/>
            <a:ext cx="86635" cy="68777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2" name="Connector 451"/>
          <p:cNvCxnSpPr/>
          <p:nvPr/>
        </p:nvCxnSpPr>
        <p:spPr>
          <a:xfrm flipH="1" flipV="1">
            <a:off x="3104075" y="5237344"/>
            <a:ext cx="57971" cy="9330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3" name="Connector 452"/>
          <p:cNvCxnSpPr/>
          <p:nvPr/>
        </p:nvCxnSpPr>
        <p:spPr>
          <a:xfrm flipV="1">
            <a:off x="3104075" y="4918400"/>
            <a:ext cx="74334" cy="31894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4" name="Connector 453"/>
          <p:cNvCxnSpPr/>
          <p:nvPr/>
        </p:nvCxnSpPr>
        <p:spPr>
          <a:xfrm flipV="1">
            <a:off x="3178409" y="4806141"/>
            <a:ext cx="121983" cy="11225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5" name="Connector 454"/>
          <p:cNvCxnSpPr/>
          <p:nvPr/>
        </p:nvCxnSpPr>
        <p:spPr>
          <a:xfrm flipV="1">
            <a:off x="3300392" y="4322862"/>
            <a:ext cx="199089" cy="4832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6" name="Connector 455"/>
          <p:cNvCxnSpPr/>
          <p:nvPr/>
        </p:nvCxnSpPr>
        <p:spPr>
          <a:xfrm flipV="1">
            <a:off x="3499481" y="3987067"/>
            <a:ext cx="152908" cy="33579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7" name="Connector 456"/>
          <p:cNvCxnSpPr/>
          <p:nvPr/>
        </p:nvCxnSpPr>
        <p:spPr>
          <a:xfrm flipV="1">
            <a:off x="3652389" y="3711186"/>
            <a:ext cx="188468" cy="275881"/>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8" name="Connector 457"/>
          <p:cNvCxnSpPr/>
          <p:nvPr/>
        </p:nvCxnSpPr>
        <p:spPr>
          <a:xfrm flipV="1">
            <a:off x="3840857" y="3511519"/>
            <a:ext cx="246356" cy="199667"/>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59" name="Connector 458"/>
          <p:cNvCxnSpPr/>
          <p:nvPr/>
        </p:nvCxnSpPr>
        <p:spPr>
          <a:xfrm flipV="1">
            <a:off x="4087213" y="3474714"/>
            <a:ext cx="99239" cy="3680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0" name="Connector 459"/>
          <p:cNvCxnSpPr/>
          <p:nvPr/>
        </p:nvCxnSpPr>
        <p:spPr>
          <a:xfrm flipV="1">
            <a:off x="4186452" y="3349004"/>
            <a:ext cx="221231" cy="125710"/>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1" name="Connector 460"/>
          <p:cNvCxnSpPr/>
          <p:nvPr/>
        </p:nvCxnSpPr>
        <p:spPr>
          <a:xfrm flipV="1">
            <a:off x="4407683" y="3272828"/>
            <a:ext cx="274782" cy="76176"/>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2" name="Connector 461"/>
          <p:cNvCxnSpPr/>
          <p:nvPr/>
        </p:nvCxnSpPr>
        <p:spPr>
          <a:xfrm flipV="1">
            <a:off x="2115541" y="4119096"/>
            <a:ext cx="329795" cy="15625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3" name="Connector 462"/>
          <p:cNvCxnSpPr/>
          <p:nvPr/>
        </p:nvCxnSpPr>
        <p:spPr>
          <a:xfrm flipV="1">
            <a:off x="2445336" y="3939432"/>
            <a:ext cx="183681" cy="17966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4" name="Connector 463"/>
          <p:cNvCxnSpPr/>
          <p:nvPr/>
        </p:nvCxnSpPr>
        <p:spPr>
          <a:xfrm flipV="1">
            <a:off x="2629017" y="3664603"/>
            <a:ext cx="717115" cy="27482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5" name="Connector 464"/>
          <p:cNvCxnSpPr/>
          <p:nvPr/>
        </p:nvCxnSpPr>
        <p:spPr>
          <a:xfrm flipV="1">
            <a:off x="3346132" y="3534505"/>
            <a:ext cx="296236" cy="1300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6" name="Connector 465"/>
          <p:cNvCxnSpPr/>
          <p:nvPr/>
        </p:nvCxnSpPr>
        <p:spPr>
          <a:xfrm flipV="1">
            <a:off x="3642368" y="3376077"/>
            <a:ext cx="448951" cy="1584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7" name="Connector 466"/>
          <p:cNvCxnSpPr/>
          <p:nvPr/>
        </p:nvCxnSpPr>
        <p:spPr>
          <a:xfrm flipV="1">
            <a:off x="4091319" y="3321952"/>
            <a:ext cx="254672" cy="54125"/>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8" name="Connector 467"/>
          <p:cNvCxnSpPr/>
          <p:nvPr/>
        </p:nvCxnSpPr>
        <p:spPr>
          <a:xfrm flipV="1">
            <a:off x="4345991" y="3262943"/>
            <a:ext cx="96145" cy="5900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69" name="Connector 468"/>
          <p:cNvCxnSpPr/>
          <p:nvPr/>
        </p:nvCxnSpPr>
        <p:spPr>
          <a:xfrm>
            <a:off x="4407683" y="3349004"/>
            <a:ext cx="89560" cy="1518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0" name="Connector 469"/>
          <p:cNvCxnSpPr/>
          <p:nvPr/>
        </p:nvCxnSpPr>
        <p:spPr>
          <a:xfrm>
            <a:off x="4497243" y="3364186"/>
            <a:ext cx="150223" cy="6095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1" name="Connector 470"/>
          <p:cNvCxnSpPr/>
          <p:nvPr/>
        </p:nvCxnSpPr>
        <p:spPr>
          <a:xfrm>
            <a:off x="4647466" y="3425140"/>
            <a:ext cx="201652" cy="22922"/>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2" name="Connector 471"/>
          <p:cNvCxnSpPr/>
          <p:nvPr/>
        </p:nvCxnSpPr>
        <p:spPr>
          <a:xfrm>
            <a:off x="4849118" y="3448062"/>
            <a:ext cx="188669" cy="4939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3" name="Connector 472"/>
          <p:cNvCxnSpPr/>
          <p:nvPr/>
        </p:nvCxnSpPr>
        <p:spPr>
          <a:xfrm flipV="1">
            <a:off x="3652389" y="3828488"/>
            <a:ext cx="17835" cy="158579"/>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4" name="Connector 473"/>
          <p:cNvCxnSpPr/>
          <p:nvPr/>
        </p:nvCxnSpPr>
        <p:spPr>
          <a:xfrm flipH="1" flipV="1">
            <a:off x="3642368" y="3534505"/>
            <a:ext cx="27856" cy="293983"/>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5" name="Connector 474"/>
          <p:cNvCxnSpPr/>
          <p:nvPr/>
        </p:nvCxnSpPr>
        <p:spPr>
          <a:xfrm flipV="1">
            <a:off x="3642368" y="3251111"/>
            <a:ext cx="209952" cy="283394"/>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6" name="Connector 475"/>
          <p:cNvCxnSpPr/>
          <p:nvPr/>
        </p:nvCxnSpPr>
        <p:spPr>
          <a:xfrm flipH="1" flipV="1">
            <a:off x="3836768" y="3105383"/>
            <a:ext cx="15552" cy="145728"/>
          </a:xfrm>
          <a:prstGeom prst="line">
            <a:avLst/>
          </a:prstGeom>
          <a:ln w="8255">
            <a:solidFill>
              <a:srgbClr val="A0A0A0"/>
            </a:solidFill>
          </a:ln>
        </p:spPr>
        <p:style>
          <a:lnRef idx="2">
            <a:schemeClr val="accent1"/>
          </a:lnRef>
          <a:fillRef idx="0">
            <a:schemeClr val="accent1"/>
          </a:fillRef>
          <a:effectRef idx="1">
            <a:schemeClr val="accent1"/>
          </a:effectRef>
          <a:fontRef idx="minor">
            <a:schemeClr val="tx1"/>
          </a:fontRef>
        </p:style>
      </p:cxnSp>
      <p:cxnSp>
        <p:nvCxnSpPr>
          <p:cNvPr id="477" name="Connector 476"/>
          <p:cNvCxnSpPr/>
          <p:nvPr/>
        </p:nvCxnSpPr>
        <p:spPr>
          <a:xfrm flipH="1" flipV="1">
            <a:off x="4484419" y="3412423"/>
            <a:ext cx="562930" cy="90307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8" name="Connector 477"/>
          <p:cNvCxnSpPr/>
          <p:nvPr/>
        </p:nvCxnSpPr>
        <p:spPr>
          <a:xfrm flipH="1">
            <a:off x="4358039" y="3412423"/>
            <a:ext cx="126380" cy="9137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79" name="Connector 478"/>
          <p:cNvCxnSpPr/>
          <p:nvPr/>
        </p:nvCxnSpPr>
        <p:spPr>
          <a:xfrm flipH="1">
            <a:off x="4084954" y="3503800"/>
            <a:ext cx="273085" cy="5131"/>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0" name="Connector 479"/>
          <p:cNvCxnSpPr/>
          <p:nvPr/>
        </p:nvCxnSpPr>
        <p:spPr>
          <a:xfrm>
            <a:off x="4484419" y="3412423"/>
            <a:ext cx="178462" cy="33714"/>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1" name="Connector 480"/>
          <p:cNvCxnSpPr/>
          <p:nvPr/>
        </p:nvCxnSpPr>
        <p:spPr>
          <a:xfrm flipH="1" flipV="1">
            <a:off x="4623014" y="3324544"/>
            <a:ext cx="39867" cy="121593"/>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2" name="Connector 481"/>
          <p:cNvCxnSpPr/>
          <p:nvPr/>
        </p:nvCxnSpPr>
        <p:spPr>
          <a:xfrm flipH="1" flipV="1">
            <a:off x="4473187" y="3225416"/>
            <a:ext cx="149827" cy="99128"/>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3" name="Connector 482"/>
          <p:cNvCxnSpPr/>
          <p:nvPr/>
        </p:nvCxnSpPr>
        <p:spPr>
          <a:xfrm flipH="1" flipV="1">
            <a:off x="4425368" y="3380143"/>
            <a:ext cx="59051" cy="32280"/>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4" name="Connector 483"/>
          <p:cNvCxnSpPr/>
          <p:nvPr/>
        </p:nvCxnSpPr>
        <p:spPr>
          <a:xfrm flipH="1" flipV="1">
            <a:off x="4396155" y="3348716"/>
            <a:ext cx="29213" cy="31427"/>
          </a:xfrm>
          <a:prstGeom prst="line">
            <a:avLst/>
          </a:prstGeom>
          <a:ln w="14604">
            <a:solidFill>
              <a:srgbClr val="546CA2"/>
            </a:solidFill>
          </a:ln>
        </p:spPr>
        <p:style>
          <a:lnRef idx="2">
            <a:schemeClr val="accent1"/>
          </a:lnRef>
          <a:fillRef idx="0">
            <a:schemeClr val="accent1"/>
          </a:fillRef>
          <a:effectRef idx="1">
            <a:schemeClr val="accent1"/>
          </a:effectRef>
          <a:fontRef idx="minor">
            <a:schemeClr val="tx1"/>
          </a:fontRef>
        </p:style>
      </p:cxnSp>
      <p:cxnSp>
        <p:nvCxnSpPr>
          <p:cNvPr id="485" name="Connector 484"/>
          <p:cNvCxnSpPr/>
          <p:nvPr/>
        </p:nvCxnSpPr>
        <p:spPr>
          <a:xfrm>
            <a:off x="4407683" y="3349004"/>
            <a:ext cx="639666" cy="96649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6" name="Connector 485"/>
          <p:cNvCxnSpPr/>
          <p:nvPr/>
        </p:nvCxnSpPr>
        <p:spPr>
          <a:xfrm flipH="1">
            <a:off x="3652389" y="3349004"/>
            <a:ext cx="755294" cy="638063"/>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7" name="Connector 486"/>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8" name="Connector 487"/>
          <p:cNvCxnSpPr/>
          <p:nvPr/>
        </p:nvCxnSpPr>
        <p:spPr>
          <a:xfrm flipH="1">
            <a:off x="2302196" y="4479011"/>
            <a:ext cx="1183053" cy="873145"/>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89" name="Connector 488"/>
          <p:cNvCxnSpPr/>
          <p:nvPr/>
        </p:nvCxnSpPr>
        <p:spPr>
          <a:xfrm flipH="1">
            <a:off x="3975964" y="3349004"/>
            <a:ext cx="431719" cy="73914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0" name="Connector 489"/>
          <p:cNvCxnSpPr/>
          <p:nvPr/>
        </p:nvCxnSpPr>
        <p:spPr>
          <a:xfrm>
            <a:off x="3975964" y="4088144"/>
            <a:ext cx="355879" cy="1006599"/>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1" name="Connector 490"/>
          <p:cNvCxnSpPr/>
          <p:nvPr/>
        </p:nvCxnSpPr>
        <p:spPr>
          <a:xfrm flipH="1">
            <a:off x="3485249" y="4088144"/>
            <a:ext cx="490715" cy="390867"/>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2" name="Connector 491"/>
          <p:cNvCxnSpPr/>
          <p:nvPr/>
        </p:nvCxnSpPr>
        <p:spPr>
          <a:xfrm>
            <a:off x="3485249" y="4479011"/>
            <a:ext cx="353484" cy="84598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3" name="Connector 492"/>
          <p:cNvCxnSpPr/>
          <p:nvPr/>
        </p:nvCxnSpPr>
        <p:spPr>
          <a:xfrm>
            <a:off x="3485249" y="4479011"/>
            <a:ext cx="366559" cy="8051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4" name="Connector 493"/>
          <p:cNvCxnSpPr/>
          <p:nvPr/>
        </p:nvCxnSpPr>
        <p:spPr>
          <a:xfrm flipH="1">
            <a:off x="2185167" y="3747877"/>
            <a:ext cx="1064238" cy="1385502"/>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5" name="Connector 494"/>
          <p:cNvCxnSpPr/>
          <p:nvPr/>
        </p:nvCxnSpPr>
        <p:spPr>
          <a:xfrm>
            <a:off x="3249405" y="3747877"/>
            <a:ext cx="402984" cy="239190"/>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6" name="Connector 495"/>
          <p:cNvCxnSpPr/>
          <p:nvPr/>
        </p:nvCxnSpPr>
        <p:spPr>
          <a:xfrm flipH="1">
            <a:off x="3485249" y="3987067"/>
            <a:ext cx="167140" cy="491944"/>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7" name="Connector 496"/>
          <p:cNvCxnSpPr/>
          <p:nvPr/>
        </p:nvCxnSpPr>
        <p:spPr>
          <a:xfrm>
            <a:off x="4407683" y="3349004"/>
            <a:ext cx="441435" cy="99058"/>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cxnSp>
        <p:nvCxnSpPr>
          <p:cNvPr id="498" name="Connector 497"/>
          <p:cNvCxnSpPr/>
          <p:nvPr/>
        </p:nvCxnSpPr>
        <p:spPr>
          <a:xfrm>
            <a:off x="4849118" y="3448062"/>
            <a:ext cx="443800" cy="604051"/>
          </a:xfrm>
          <a:prstGeom prst="line">
            <a:avLst/>
          </a:prstGeom>
          <a:ln w="6985">
            <a:solidFill>
              <a:srgbClr val="A0A0A0"/>
            </a:solidFill>
            <a:prstDash val="dashDot"/>
          </a:ln>
        </p:spPr>
        <p:style>
          <a:lnRef idx="2">
            <a:schemeClr val="accent1"/>
          </a:lnRef>
          <a:fillRef idx="0">
            <a:schemeClr val="accent1"/>
          </a:fillRef>
          <a:effectRef idx="1">
            <a:schemeClr val="accent1"/>
          </a:effectRef>
          <a:fontRef idx="minor">
            <a:schemeClr val="tx1"/>
          </a:fontRef>
        </p:style>
      </p:cxnSp>
      <p:sp>
        <p:nvSpPr>
          <p:cNvPr id="499" name="Oval 498"/>
          <p:cNvSpPr/>
          <p:nvPr/>
        </p:nvSpPr>
        <p:spPr>
          <a:xfrm>
            <a:off x="5006201" y="4274348"/>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0" name="Oval 499"/>
          <p:cNvSpPr/>
          <p:nvPr/>
        </p:nvSpPr>
        <p:spPr>
          <a:xfrm>
            <a:off x="4316891" y="3462652"/>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1" name="Oval 500"/>
          <p:cNvSpPr/>
          <p:nvPr/>
        </p:nvSpPr>
        <p:spPr>
          <a:xfrm>
            <a:off x="4621733" y="34049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2" name="Oval 501"/>
          <p:cNvSpPr/>
          <p:nvPr/>
        </p:nvSpPr>
        <p:spPr>
          <a:xfrm>
            <a:off x="2279591" y="5299689"/>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Oval 502"/>
          <p:cNvSpPr/>
          <p:nvPr/>
        </p:nvSpPr>
        <p:spPr>
          <a:xfrm>
            <a:off x="3011349" y="534079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Rectangle 503"/>
          <p:cNvSpPr/>
          <p:nvPr/>
        </p:nvSpPr>
        <p:spPr>
          <a:xfrm>
            <a:off x="2144019" y="5092231"/>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5" name="Rectangle 504"/>
          <p:cNvSpPr/>
          <p:nvPr/>
        </p:nvSpPr>
        <p:spPr>
          <a:xfrm>
            <a:off x="2261048" y="531100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6" name="Rectangle 505"/>
          <p:cNvSpPr/>
          <p:nvPr/>
        </p:nvSpPr>
        <p:spPr>
          <a:xfrm>
            <a:off x="3054137" y="534735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7" name="Rectangle 506"/>
          <p:cNvSpPr/>
          <p:nvPr/>
        </p:nvSpPr>
        <p:spPr>
          <a:xfrm>
            <a:off x="3797585" y="5283844"/>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8" name="Rectangle 507"/>
          <p:cNvSpPr/>
          <p:nvPr/>
        </p:nvSpPr>
        <p:spPr>
          <a:xfrm>
            <a:off x="3810660" y="5243007"/>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9" name="Rectangle 508"/>
          <p:cNvSpPr/>
          <p:nvPr/>
        </p:nvSpPr>
        <p:spPr>
          <a:xfrm>
            <a:off x="4290695" y="505359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0" name="Rectangle 509"/>
          <p:cNvSpPr/>
          <p:nvPr/>
        </p:nvSpPr>
        <p:spPr>
          <a:xfrm>
            <a:off x="5006201" y="4274348"/>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1" name="Rectangle 510"/>
          <p:cNvSpPr/>
          <p:nvPr/>
        </p:nvSpPr>
        <p:spPr>
          <a:xfrm>
            <a:off x="5251770" y="4010965"/>
            <a:ext cx="82296" cy="82296"/>
          </a:xfrm>
          <a:prstGeom prst="rect">
            <a:avLst/>
          </a:prstGeom>
          <a:solidFill>
            <a:srgbClr val="A0A0A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2" name="Diamond 511"/>
          <p:cNvSpPr/>
          <p:nvPr/>
        </p:nvSpPr>
        <p:spPr>
          <a:xfrm>
            <a:off x="5006201" y="4274348"/>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3" name="Diamond 512"/>
          <p:cNvSpPr/>
          <p:nvPr/>
        </p:nvSpPr>
        <p:spPr>
          <a:xfrm>
            <a:off x="4443271" y="3371275"/>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4" name="Hexagon 513"/>
          <p:cNvSpPr/>
          <p:nvPr/>
        </p:nvSpPr>
        <p:spPr>
          <a:xfrm>
            <a:off x="4997057" y="426520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5" name="Hexagon 514"/>
          <p:cNvSpPr/>
          <p:nvPr/>
        </p:nvSpPr>
        <p:spPr>
          <a:xfrm>
            <a:off x="5242626" y="400182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6" name="Hexagon 515"/>
          <p:cNvSpPr/>
          <p:nvPr/>
        </p:nvSpPr>
        <p:spPr>
          <a:xfrm>
            <a:off x="4394666" y="3284328"/>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7" name="Hexagon 516"/>
          <p:cNvSpPr/>
          <p:nvPr/>
        </p:nvSpPr>
        <p:spPr>
          <a:xfrm>
            <a:off x="4375076" y="332985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8" name="Hexagon 517"/>
          <p:cNvSpPr/>
          <p:nvPr/>
        </p:nvSpPr>
        <p:spPr>
          <a:xfrm>
            <a:off x="4385601" y="318436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9" name="Hexagon 518"/>
          <p:cNvSpPr/>
          <p:nvPr/>
        </p:nvSpPr>
        <p:spPr>
          <a:xfrm>
            <a:off x="4422829" y="3177679"/>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0" name="Hexagon 519"/>
          <p:cNvSpPr/>
          <p:nvPr/>
        </p:nvSpPr>
        <p:spPr>
          <a:xfrm>
            <a:off x="4303161" y="3453400"/>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1" name="Hexagon 520"/>
          <p:cNvSpPr/>
          <p:nvPr/>
        </p:nvSpPr>
        <p:spPr>
          <a:xfrm>
            <a:off x="4263607" y="326567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2" name="Hexagon 521"/>
          <p:cNvSpPr/>
          <p:nvPr/>
        </p:nvSpPr>
        <p:spPr>
          <a:xfrm>
            <a:off x="4434127" y="3362131"/>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3" name="Hexagon 522"/>
          <p:cNvSpPr/>
          <p:nvPr/>
        </p:nvSpPr>
        <p:spPr>
          <a:xfrm>
            <a:off x="2251904" y="5301864"/>
            <a:ext cx="100584" cy="100584"/>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4" name="Connector 523"/>
          <p:cNvCxnSpPr/>
          <p:nvPr/>
        </p:nvCxnSpPr>
        <p:spPr>
          <a:xfrm flipH="1">
            <a:off x="5001768" y="4315496"/>
            <a:ext cx="45581" cy="5076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5" name="TextBox 524"/>
          <p:cNvSpPr txBox="1"/>
          <p:nvPr/>
        </p:nvSpPr>
        <p:spPr>
          <a:xfrm>
            <a:off x="5001768" y="4160520"/>
            <a:ext cx="150876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Durban</a:t>
            </a:r>
          </a:p>
          <a:p>
            <a:pPr>
              <a:spcAft>
                <a:spcPts val="300"/>
              </a:spcAft>
              <a:defRPr sz="1000" b="1">
                <a:solidFill>
                  <a:srgbClr val="0A2373"/>
                </a:solidFill>
                <a:latin typeface="Lato"/>
              </a:defRPr>
            </a:pPr>
            <a:r>
              <a:t>Vopak / Bidvest</a:t>
            </a:r>
          </a:p>
        </p:txBody>
      </p:sp>
      <p:cxnSp>
        <p:nvCxnSpPr>
          <p:cNvPr id="526" name="Connector 525"/>
          <p:cNvCxnSpPr/>
          <p:nvPr/>
        </p:nvCxnSpPr>
        <p:spPr>
          <a:xfrm flipH="1" flipV="1">
            <a:off x="5148072" y="3817620"/>
            <a:ext cx="144846" cy="234493"/>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7" name="TextBox 526"/>
          <p:cNvSpPr txBox="1"/>
          <p:nvPr/>
        </p:nvSpPr>
        <p:spPr>
          <a:xfrm>
            <a:off x="5148072" y="3611880"/>
            <a:ext cx="1554480" cy="411480"/>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Richards Bay</a:t>
            </a:r>
          </a:p>
          <a:p>
            <a:pPr>
              <a:spcAft>
                <a:spcPts val="300"/>
              </a:spcAft>
              <a:defRPr sz="1000" b="1">
                <a:solidFill>
                  <a:srgbClr val="0A2373"/>
                </a:solidFill>
                <a:latin typeface="Lato"/>
              </a:defRPr>
            </a:pPr>
            <a:r>
              <a:t>Bidvest</a:t>
            </a:r>
          </a:p>
        </p:txBody>
      </p:sp>
      <p:cxnSp>
        <p:nvCxnSpPr>
          <p:cNvPr id="528" name="Connector 527"/>
          <p:cNvCxnSpPr/>
          <p:nvPr/>
        </p:nvCxnSpPr>
        <p:spPr>
          <a:xfrm flipH="1" flipV="1">
            <a:off x="566928" y="4773168"/>
            <a:ext cx="1735268" cy="578988"/>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29" name="TextBox 528"/>
          <p:cNvSpPr txBox="1"/>
          <p:nvPr/>
        </p:nvSpPr>
        <p:spPr>
          <a:xfrm>
            <a:off x="566928" y="4572000"/>
            <a:ext cx="1298448" cy="402336"/>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Cape Town</a:t>
            </a:r>
          </a:p>
          <a:p>
            <a:pPr>
              <a:spcAft>
                <a:spcPts val="300"/>
              </a:spcAft>
              <a:defRPr sz="1000" b="1">
                <a:solidFill>
                  <a:srgbClr val="0A2373"/>
                </a:solidFill>
                <a:latin typeface="Lato"/>
              </a:defRPr>
            </a:pPr>
            <a:r>
              <a:t>Burgan Cape</a:t>
            </a:r>
          </a:p>
        </p:txBody>
      </p:sp>
      <p:cxnSp>
        <p:nvCxnSpPr>
          <p:cNvPr id="530" name="Connector 529"/>
          <p:cNvCxnSpPr/>
          <p:nvPr/>
        </p:nvCxnSpPr>
        <p:spPr>
          <a:xfrm flipH="1" flipV="1">
            <a:off x="594360" y="3209544"/>
            <a:ext cx="3847905" cy="140350"/>
          </a:xfrm>
          <a:prstGeom prst="line">
            <a:avLst/>
          </a:prstGeom>
          <a:ln w="8255">
            <a:solidFill>
              <a:srgbClr val="0A2373"/>
            </a:solidFill>
          </a:ln>
        </p:spPr>
        <p:style>
          <a:lnRef idx="2">
            <a:schemeClr val="accent1"/>
          </a:lnRef>
          <a:fillRef idx="0">
            <a:schemeClr val="accent1"/>
          </a:fillRef>
          <a:effectRef idx="1">
            <a:schemeClr val="accent1"/>
          </a:effectRef>
          <a:fontRef idx="minor">
            <a:schemeClr val="tx1"/>
          </a:fontRef>
        </p:style>
      </p:cxnSp>
      <p:sp>
        <p:nvSpPr>
          <p:cNvPr id="531" name="TextBox 530"/>
          <p:cNvSpPr txBox="1"/>
          <p:nvPr/>
        </p:nvSpPr>
        <p:spPr>
          <a:xfrm>
            <a:off x="594360" y="2907792"/>
            <a:ext cx="1874519" cy="603504"/>
          </a:xfrm>
          <a:prstGeom prst="rect">
            <a:avLst/>
          </a:prstGeom>
          <a:solidFill>
            <a:srgbClr val="FFFFFF"/>
          </a:solidFill>
        </p:spPr>
        <p:txBody>
          <a:bodyPr wrap="square" lIns="22860" rIns="22860" tIns="0" bIns="0">
            <a:spAutoFit/>
          </a:bodyPr>
          <a:lstStyle/>
          <a:p>
            <a:pPr>
              <a:spcAft>
                <a:spcPts val="300"/>
              </a:spcAft>
              <a:defRPr sz="1000" b="1">
                <a:solidFill>
                  <a:srgbClr val="0A2373"/>
                </a:solidFill>
                <a:latin typeface="Lato"/>
              </a:defRPr>
            </a:pPr>
            <a:r>
              <a:t>Lesedi / inland storage</a:t>
            </a:r>
          </a:p>
          <a:p>
            <a:pPr>
              <a:spcAft>
                <a:spcPts val="300"/>
              </a:spcAft>
              <a:defRPr sz="1000" b="1">
                <a:solidFill>
                  <a:srgbClr val="0A2373"/>
                </a:solidFill>
                <a:latin typeface="Lato"/>
              </a:defRPr>
            </a:pPr>
            <a:r>
              <a:t>Vopak / Bidvest</a:t>
            </a:r>
          </a:p>
          <a:p>
            <a:pPr>
              <a:spcAft>
                <a:spcPts val="300"/>
              </a:spcAft>
              <a:defRPr sz="1000" b="1">
                <a:solidFill>
                  <a:srgbClr val="0A2373"/>
                </a:solidFill>
                <a:latin typeface="Lato"/>
              </a:defRPr>
            </a:pPr>
            <a:r>
              <a:t>Sasol / Transnet</a:t>
            </a:r>
          </a:p>
        </p:txBody>
      </p:sp>
      <p:sp>
        <p:nvSpPr>
          <p:cNvPr id="532" name="Transnet lease overlay: Isosceles Triangle 531"/>
          <p:cNvSpPr/>
          <p:nvPr/>
        </p:nvSpPr>
        <p:spPr>
          <a:xfrm>
            <a:off x="4748449" y="3924272"/>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3" name="Transnet lease overlay: Connector 532"/>
          <p:cNvCxnSpPr/>
          <p:nvPr/>
        </p:nvCxnSpPr>
        <p:spPr>
          <a:xfrm>
            <a:off x="4785025" y="3960848"/>
            <a:ext cx="137160" cy="9144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4" name="Transnet lease overlay: TextBox 533"/>
          <p:cNvSpPr txBox="1"/>
          <p:nvPr/>
        </p:nvSpPr>
        <p:spPr>
          <a:xfrm>
            <a:off x="4858177" y="398828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1</a:t>
            </a:r>
          </a:p>
        </p:txBody>
      </p:sp>
      <p:sp>
        <p:nvSpPr>
          <p:cNvPr id="535" name="Transnet lease overlay: Isosceles Triangle 534"/>
          <p:cNvSpPr/>
          <p:nvPr/>
        </p:nvSpPr>
        <p:spPr>
          <a:xfrm>
            <a:off x="4635581" y="3512195"/>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6" name="Transnet lease overlay: Connector 535"/>
          <p:cNvCxnSpPr/>
          <p:nvPr/>
        </p:nvCxnSpPr>
        <p:spPr>
          <a:xfrm flipV="1">
            <a:off x="4672157" y="3503051"/>
            <a:ext cx="137160"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37" name="Transnet lease overlay: TextBox 536"/>
          <p:cNvSpPr txBox="1"/>
          <p:nvPr/>
        </p:nvSpPr>
        <p:spPr>
          <a:xfrm>
            <a:off x="4745309" y="3439043"/>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2</a:t>
            </a:r>
          </a:p>
        </p:txBody>
      </p:sp>
      <p:sp>
        <p:nvSpPr>
          <p:cNvPr id="538" name="Transnet lease overlay: Isosceles Triangle 537"/>
          <p:cNvSpPr/>
          <p:nvPr/>
        </p:nvSpPr>
        <p:spPr>
          <a:xfrm>
            <a:off x="4174679" y="368561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39" name="Transnet lease overlay: Connector 538"/>
          <p:cNvCxnSpPr/>
          <p:nvPr/>
        </p:nvCxnSpPr>
        <p:spPr>
          <a:xfrm flipH="1" flipV="1">
            <a:off x="3909503" y="3676466"/>
            <a:ext cx="301752" cy="45720"/>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0" name="Transnet lease overlay: TextBox 539"/>
          <p:cNvSpPr txBox="1"/>
          <p:nvPr/>
        </p:nvSpPr>
        <p:spPr>
          <a:xfrm>
            <a:off x="3845495" y="3612458"/>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3</a:t>
            </a:r>
          </a:p>
        </p:txBody>
      </p:sp>
      <p:sp>
        <p:nvSpPr>
          <p:cNvPr id="541" name="Transnet lease overlay: Isosceles Triangle 540"/>
          <p:cNvSpPr/>
          <p:nvPr/>
        </p:nvSpPr>
        <p:spPr>
          <a:xfrm>
            <a:off x="4414479" y="3832751"/>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2" name="Transnet lease overlay: Connector 541"/>
          <p:cNvCxnSpPr/>
          <p:nvPr/>
        </p:nvCxnSpPr>
        <p:spPr>
          <a:xfrm flipH="1">
            <a:off x="4377903" y="3869327"/>
            <a:ext cx="73152" cy="12801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3" name="Transnet lease overlay: TextBox 542"/>
          <p:cNvSpPr txBox="1"/>
          <p:nvPr/>
        </p:nvSpPr>
        <p:spPr>
          <a:xfrm>
            <a:off x="4313895" y="3933335"/>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4</a:t>
            </a:r>
          </a:p>
        </p:txBody>
      </p:sp>
      <p:sp>
        <p:nvSpPr>
          <p:cNvPr id="544" name="Transnet lease overlay: Isosceles Triangle 543"/>
          <p:cNvSpPr/>
          <p:nvPr/>
        </p:nvSpPr>
        <p:spPr>
          <a:xfrm>
            <a:off x="4194803" y="3670658"/>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5" name="Transnet lease overlay: Connector 544"/>
          <p:cNvCxnSpPr/>
          <p:nvPr/>
        </p:nvCxnSpPr>
        <p:spPr>
          <a:xfrm flipH="1" flipV="1">
            <a:off x="4094219" y="3624938"/>
            <a:ext cx="137160" cy="82296"/>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546" name="Transnet lease overlay: TextBox 545"/>
          <p:cNvSpPr txBox="1"/>
          <p:nvPr/>
        </p:nvSpPr>
        <p:spPr>
          <a:xfrm>
            <a:off x="4030211" y="3560930"/>
            <a:ext cx="137160" cy="155448"/>
          </a:xfrm>
          <a:prstGeom prst="rect">
            <a:avLst/>
          </a:prstGeom>
          <a:solidFill>
            <a:srgbClr val="FFFFFF"/>
          </a:solidFill>
        </p:spPr>
        <p:txBody>
          <a:bodyPr wrap="square" lIns="22860" rIns="22860" tIns="0" bIns="0">
            <a:spAutoFit/>
          </a:bodyPr>
          <a:lstStyle/>
          <a:p>
            <a:pPr>
              <a:spcAft>
                <a:spcPts val="300"/>
              </a:spcAft>
              <a:defRPr sz="800" b="1">
                <a:solidFill>
                  <a:srgbClr val="000000"/>
                </a:solidFill>
                <a:latin typeface="Lato"/>
              </a:defRPr>
            </a:pPr>
            <a:r>
              <a:t>5</a:t>
            </a:r>
          </a:p>
        </p:txBody>
      </p:sp>
      <p:sp>
        <p:nvSpPr>
          <p:cNvPr id="547" name="Transnet lease overlay: TextBox 546"/>
          <p:cNvSpPr txBox="1"/>
          <p:nvPr/>
        </p:nvSpPr>
        <p:spPr>
          <a:xfrm>
            <a:off x="594360" y="3694176"/>
            <a:ext cx="1865376" cy="786384"/>
          </a:xfrm>
          <a:prstGeom prst="rect">
            <a:avLst/>
          </a:prstGeom>
          <a:solidFill>
            <a:srgbClr val="FFFFFF"/>
          </a:solidFill>
        </p:spPr>
        <p:txBody>
          <a:bodyPr wrap="square" lIns="22860" rIns="22860" tIns="0" bIns="0">
            <a:spAutoFit/>
          </a:bodyPr>
          <a:lstStyle/>
          <a:p>
            <a:pPr>
              <a:spcAft>
                <a:spcPts val="300"/>
              </a:spcAft>
              <a:defRPr sz="900" b="1">
                <a:solidFill>
                  <a:srgbClr val="000000"/>
                </a:solidFill>
                <a:latin typeface="Lato"/>
              </a:defRPr>
            </a:pPr>
            <a:r>
              <a:t>   Transnet lease offers</a:t>
            </a:r>
          </a:p>
          <a:p>
            <a:pPr>
              <a:spcAft>
                <a:spcPts val="300"/>
              </a:spcAft>
              <a:defRPr sz="900" b="1">
                <a:solidFill>
                  <a:srgbClr val="000000"/>
                </a:solidFill>
                <a:latin typeface="Lato"/>
              </a:defRPr>
            </a:pPr>
            <a:r>
              <a:t>1 Ladysmith | 2 Standerton</a:t>
            </a:r>
          </a:p>
          <a:p>
            <a:pPr>
              <a:spcAft>
                <a:spcPts val="300"/>
              </a:spcAft>
              <a:defRPr sz="900" b="1">
                <a:solidFill>
                  <a:srgbClr val="000000"/>
                </a:solidFill>
                <a:latin typeface="Lato"/>
              </a:defRPr>
            </a:pPr>
            <a:r>
              <a:t>3 Kroonstad | 4 Bethlehem</a:t>
            </a:r>
          </a:p>
          <a:p>
            <a:pPr>
              <a:spcAft>
                <a:spcPts val="300"/>
              </a:spcAft>
              <a:defRPr sz="900" b="1">
                <a:solidFill>
                  <a:srgbClr val="000000"/>
                </a:solidFill>
                <a:latin typeface="Lato"/>
              </a:defRPr>
            </a:pPr>
            <a:r>
              <a:t>5 Magdala*</a:t>
            </a:r>
          </a:p>
        </p:txBody>
      </p:sp>
      <p:sp>
        <p:nvSpPr>
          <p:cNvPr id="548" name="Transnet lease overlay: Isosceles Triangle 547"/>
          <p:cNvSpPr/>
          <p:nvPr/>
        </p:nvSpPr>
        <p:spPr>
          <a:xfrm>
            <a:off x="612647" y="3726180"/>
            <a:ext cx="73152" cy="73152"/>
          </a:xfrm>
          <a:prstGeom prst="triangle">
            <a:avLst/>
          </a:prstGeom>
          <a:no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49" name="Connector 548"/>
          <p:cNvCxnSpPr/>
          <p:nvPr/>
        </p:nvCxnSpPr>
        <p:spPr>
          <a:xfrm flipH="1" flipV="1">
            <a:off x="4078053" y="2959337"/>
            <a:ext cx="296213" cy="337706"/>
          </a:xfrm>
          <a:prstGeom prst="line">
            <a:avLst/>
          </a:prstGeom>
          <a:ln w="7620">
            <a:solidFill>
              <a:srgbClr val="0A2373"/>
            </a:solidFill>
          </a:ln>
        </p:spPr>
        <p:style>
          <a:lnRef idx="2">
            <a:schemeClr val="accent1"/>
          </a:lnRef>
          <a:fillRef idx="0">
            <a:schemeClr val="accent1"/>
          </a:fillRef>
          <a:effectRef idx="1">
            <a:schemeClr val="accent1"/>
          </a:effectRef>
          <a:fontRef idx="minor">
            <a:schemeClr val="tx1"/>
          </a:fontRef>
        </p:style>
      </p:cxnSp>
      <p:sp>
        <p:nvSpPr>
          <p:cNvPr id="550" name="TextBox 549"/>
          <p:cNvSpPr txBox="1"/>
          <p:nvPr/>
        </p:nvSpPr>
        <p:spPr>
          <a:xfrm>
            <a:off x="3733647" y="479765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EC</a:t>
            </a:r>
          </a:p>
          <a:p>
            <a:pPr>
              <a:spcAft>
                <a:spcPts val="300"/>
              </a:spcAft>
              <a:defRPr sz="900" b="1">
                <a:solidFill>
                  <a:srgbClr val="0A2373"/>
                </a:solidFill>
                <a:latin typeface="Lato"/>
              </a:defRPr>
            </a:pPr>
            <a:r>
              <a:t>1.74</a:t>
            </a:r>
          </a:p>
        </p:txBody>
      </p:sp>
      <p:sp>
        <p:nvSpPr>
          <p:cNvPr id="551" name="TextBox 550"/>
          <p:cNvSpPr txBox="1"/>
          <p:nvPr/>
        </p:nvSpPr>
        <p:spPr>
          <a:xfrm>
            <a:off x="3542762" y="379856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FS</a:t>
            </a:r>
          </a:p>
          <a:p>
            <a:pPr>
              <a:spcAft>
                <a:spcPts val="300"/>
              </a:spcAft>
              <a:defRPr sz="900" b="1">
                <a:solidFill>
                  <a:srgbClr val="0A2373"/>
                </a:solidFill>
                <a:latin typeface="Lato"/>
              </a:defRPr>
            </a:pPr>
            <a:r>
              <a:t>1.37</a:t>
            </a:r>
          </a:p>
        </p:txBody>
      </p:sp>
      <p:sp>
        <p:nvSpPr>
          <p:cNvPr id="552" name="TextBox 551"/>
          <p:cNvSpPr txBox="1"/>
          <p:nvPr/>
        </p:nvSpPr>
        <p:spPr>
          <a:xfrm>
            <a:off x="3803733" y="280388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GP</a:t>
            </a:r>
          </a:p>
          <a:p>
            <a:pPr>
              <a:spcAft>
                <a:spcPts val="300"/>
              </a:spcAft>
              <a:defRPr sz="900" b="1">
                <a:solidFill>
                  <a:srgbClr val="0A2373"/>
                </a:solidFill>
                <a:latin typeface="Lato"/>
              </a:defRPr>
            </a:pPr>
            <a:r>
              <a:t>6.81</a:t>
            </a:r>
          </a:p>
        </p:txBody>
      </p:sp>
      <p:sp>
        <p:nvSpPr>
          <p:cNvPr id="553" name="TextBox 552"/>
          <p:cNvSpPr txBox="1"/>
          <p:nvPr/>
        </p:nvSpPr>
        <p:spPr>
          <a:xfrm>
            <a:off x="4411105" y="4123524"/>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KZN</a:t>
            </a:r>
          </a:p>
          <a:p>
            <a:pPr>
              <a:spcAft>
                <a:spcPts val="300"/>
              </a:spcAft>
              <a:defRPr sz="900" b="1">
                <a:solidFill>
                  <a:srgbClr val="0A2373"/>
                </a:solidFill>
                <a:latin typeface="Lato"/>
              </a:defRPr>
            </a:pPr>
            <a:r>
              <a:t>4.28</a:t>
            </a:r>
          </a:p>
        </p:txBody>
      </p:sp>
      <p:sp>
        <p:nvSpPr>
          <p:cNvPr id="554" name="TextBox 553"/>
          <p:cNvSpPr txBox="1"/>
          <p:nvPr/>
        </p:nvSpPr>
        <p:spPr>
          <a:xfrm>
            <a:off x="4417727" y="2601143"/>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LP</a:t>
            </a:r>
          </a:p>
          <a:p>
            <a:pPr>
              <a:spcAft>
                <a:spcPts val="300"/>
              </a:spcAft>
              <a:defRPr sz="900" b="1">
                <a:solidFill>
                  <a:srgbClr val="0A2373"/>
                </a:solidFill>
                <a:latin typeface="Lato"/>
              </a:defRPr>
            </a:pPr>
            <a:r>
              <a:t>0.50</a:t>
            </a:r>
          </a:p>
        </p:txBody>
      </p:sp>
      <p:sp>
        <p:nvSpPr>
          <p:cNvPr id="555" name="TextBox 554"/>
          <p:cNvSpPr txBox="1"/>
          <p:nvPr/>
        </p:nvSpPr>
        <p:spPr>
          <a:xfrm>
            <a:off x="4643472" y="3134231"/>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MP</a:t>
            </a:r>
          </a:p>
          <a:p>
            <a:pPr>
              <a:spcAft>
                <a:spcPts val="300"/>
              </a:spcAft>
              <a:defRPr sz="900" b="1">
                <a:solidFill>
                  <a:srgbClr val="0A2373"/>
                </a:solidFill>
                <a:latin typeface="Lato"/>
              </a:defRPr>
            </a:pPr>
            <a:r>
              <a:t>1.76</a:t>
            </a:r>
          </a:p>
        </p:txBody>
      </p:sp>
      <p:sp>
        <p:nvSpPr>
          <p:cNvPr id="556" name="TextBox 555"/>
          <p:cNvSpPr txBox="1"/>
          <p:nvPr/>
        </p:nvSpPr>
        <p:spPr>
          <a:xfrm>
            <a:off x="3637071" y="3249390"/>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NW</a:t>
            </a:r>
          </a:p>
          <a:p>
            <a:pPr>
              <a:spcAft>
                <a:spcPts val="300"/>
              </a:spcAft>
              <a:defRPr sz="900" b="1">
                <a:solidFill>
                  <a:srgbClr val="0A2373"/>
                </a:solidFill>
                <a:latin typeface="Lato"/>
              </a:defRPr>
            </a:pPr>
            <a:r>
              <a:t>1.07</a:t>
            </a:r>
          </a:p>
        </p:txBody>
      </p:sp>
      <p:sp>
        <p:nvSpPr>
          <p:cNvPr id="557" name="TextBox 556"/>
          <p:cNvSpPr txBox="1"/>
          <p:nvPr/>
        </p:nvSpPr>
        <p:spPr>
          <a:xfrm>
            <a:off x="2660447" y="4116476"/>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NC</a:t>
            </a:r>
          </a:p>
          <a:p>
            <a:pPr>
              <a:spcAft>
                <a:spcPts val="300"/>
              </a:spcAft>
              <a:defRPr sz="900" b="1">
                <a:solidFill>
                  <a:srgbClr val="0A2373"/>
                </a:solidFill>
                <a:latin typeface="Lato"/>
              </a:defRPr>
            </a:pPr>
            <a:r>
              <a:t>0.45</a:t>
            </a:r>
          </a:p>
        </p:txBody>
      </p:sp>
      <p:sp>
        <p:nvSpPr>
          <p:cNvPr id="558" name="TextBox 557"/>
          <p:cNvSpPr txBox="1"/>
          <p:nvPr/>
        </p:nvSpPr>
        <p:spPr>
          <a:xfrm>
            <a:off x="2480876" y="4941829"/>
            <a:ext cx="548640" cy="329184"/>
          </a:xfrm>
          <a:prstGeom prst="rect">
            <a:avLst/>
          </a:prstGeom>
          <a:solidFill>
            <a:srgbClr val="FFFFFF"/>
          </a:solidFill>
        </p:spPr>
        <p:txBody>
          <a:bodyPr wrap="square" lIns="22860" rIns="22860" tIns="0" bIns="0">
            <a:spAutoFit/>
          </a:bodyPr>
          <a:lstStyle/>
          <a:p>
            <a:pPr>
              <a:spcAft>
                <a:spcPts val="300"/>
              </a:spcAft>
              <a:defRPr sz="900" b="1">
                <a:solidFill>
                  <a:srgbClr val="0A2373"/>
                </a:solidFill>
                <a:latin typeface="Lato"/>
              </a:defRPr>
            </a:pPr>
            <a:r>
              <a:t>WC</a:t>
            </a:r>
          </a:p>
          <a:p>
            <a:pPr>
              <a:spcAft>
                <a:spcPts val="300"/>
              </a:spcAft>
              <a:defRPr sz="900" b="1">
                <a:solidFill>
                  <a:srgbClr val="0A2373"/>
                </a:solidFill>
                <a:latin typeface="Lato"/>
              </a:defRPr>
            </a:pPr>
            <a:r>
              <a:t>3.93</a:t>
            </a:r>
          </a:p>
        </p:txBody>
      </p:sp>
      <p:sp>
        <p:nvSpPr>
          <p:cNvPr id="559" name="Rectangle 558"/>
          <p:cNvSpPr/>
          <p:nvPr/>
        </p:nvSpPr>
        <p:spPr>
          <a:xfrm>
            <a:off x="507492" y="5939028"/>
            <a:ext cx="100584" cy="100584"/>
          </a:xfrm>
          <a:prstGeom prst="rect">
            <a:avLst/>
          </a:prstGeom>
          <a:solidFill>
            <a:srgbClr val="E3EBF6"/>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0" name="TextBox 559"/>
          <p:cNvSpPr txBox="1"/>
          <p:nvPr/>
        </p:nvSpPr>
        <p:spPr>
          <a:xfrm>
            <a:off x="685800"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&lt;1</a:t>
            </a:r>
          </a:p>
        </p:txBody>
      </p:sp>
      <p:sp>
        <p:nvSpPr>
          <p:cNvPr id="561" name="Rectangle 560"/>
          <p:cNvSpPr/>
          <p:nvPr/>
        </p:nvSpPr>
        <p:spPr>
          <a:xfrm>
            <a:off x="1367028" y="5939028"/>
            <a:ext cx="100584" cy="100584"/>
          </a:xfrm>
          <a:prstGeom prst="rect">
            <a:avLst/>
          </a:prstGeom>
          <a:solidFill>
            <a:srgbClr val="BACCE4"/>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2" name="TextBox 561"/>
          <p:cNvSpPr txBox="1"/>
          <p:nvPr/>
        </p:nvSpPr>
        <p:spPr>
          <a:xfrm>
            <a:off x="1545336"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1-2</a:t>
            </a:r>
          </a:p>
        </p:txBody>
      </p:sp>
      <p:sp>
        <p:nvSpPr>
          <p:cNvPr id="563" name="Rectangle 562"/>
          <p:cNvSpPr/>
          <p:nvPr/>
        </p:nvSpPr>
        <p:spPr>
          <a:xfrm>
            <a:off x="2226563" y="5939028"/>
            <a:ext cx="100584" cy="100584"/>
          </a:xfrm>
          <a:prstGeom prst="rect">
            <a:avLst/>
          </a:prstGeom>
          <a:solidFill>
            <a:srgbClr val="809CC7"/>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4" name="TextBox 563"/>
          <p:cNvSpPr txBox="1"/>
          <p:nvPr/>
        </p:nvSpPr>
        <p:spPr>
          <a:xfrm>
            <a:off x="2404872"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2-4</a:t>
            </a:r>
          </a:p>
        </p:txBody>
      </p:sp>
      <p:sp>
        <p:nvSpPr>
          <p:cNvPr id="565" name="Rectangle 564"/>
          <p:cNvSpPr/>
          <p:nvPr/>
        </p:nvSpPr>
        <p:spPr>
          <a:xfrm>
            <a:off x="3086100" y="5939028"/>
            <a:ext cx="100584" cy="100584"/>
          </a:xfrm>
          <a:prstGeom prst="rect">
            <a:avLst/>
          </a:prstGeom>
          <a:solidFill>
            <a:srgbClr val="3D619D"/>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6" name="TextBox 565"/>
          <p:cNvSpPr txBox="1"/>
          <p:nvPr/>
        </p:nvSpPr>
        <p:spPr>
          <a:xfrm>
            <a:off x="3264408"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4-6</a:t>
            </a:r>
          </a:p>
        </p:txBody>
      </p:sp>
      <p:sp>
        <p:nvSpPr>
          <p:cNvPr id="567" name="Rectangle 566"/>
          <p:cNvSpPr/>
          <p:nvPr/>
        </p:nvSpPr>
        <p:spPr>
          <a:xfrm>
            <a:off x="3945635" y="5939028"/>
            <a:ext cx="100584" cy="100584"/>
          </a:xfrm>
          <a:prstGeom prst="rect">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8" name="TextBox 567"/>
          <p:cNvSpPr txBox="1"/>
          <p:nvPr/>
        </p:nvSpPr>
        <p:spPr>
          <a:xfrm>
            <a:off x="4123944" y="5897880"/>
            <a:ext cx="56692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sp>
        <p:nvSpPr>
          <p:cNvPr id="569" name="TextBox 568"/>
          <p:cNvSpPr txBox="1"/>
          <p:nvPr/>
        </p:nvSpPr>
        <p:spPr>
          <a:xfrm>
            <a:off x="4773168" y="5897880"/>
            <a:ext cx="2112264"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bn L/year; darker = more sales</a:t>
            </a:r>
          </a:p>
        </p:txBody>
      </p:sp>
      <p:sp>
        <p:nvSpPr>
          <p:cNvPr id="570" name="Oval 569"/>
          <p:cNvSpPr/>
          <p:nvPr/>
        </p:nvSpPr>
        <p:spPr>
          <a:xfrm>
            <a:off x="507492" y="6195060"/>
            <a:ext cx="82296" cy="82296"/>
          </a:xfrm>
          <a:prstGeom prst="ellipse">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1" name="TextBox 570"/>
          <p:cNvSpPr txBox="1"/>
          <p:nvPr/>
        </p:nvSpPr>
        <p:spPr>
          <a:xfrm>
            <a:off x="64008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Production</a:t>
            </a:r>
          </a:p>
        </p:txBody>
      </p:sp>
      <p:sp>
        <p:nvSpPr>
          <p:cNvPr id="572" name="Rectangle 571"/>
          <p:cNvSpPr/>
          <p:nvPr/>
        </p:nvSpPr>
        <p:spPr>
          <a:xfrm>
            <a:off x="1677924" y="6195060"/>
            <a:ext cx="82296" cy="82296"/>
          </a:xfrm>
          <a:prstGeom prst="rect">
            <a:avLst/>
          </a:prstGeom>
          <a:solidFill>
            <a:srgbClr val="000000"/>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3" name="TextBox 572"/>
          <p:cNvSpPr txBox="1"/>
          <p:nvPr/>
        </p:nvSpPr>
        <p:spPr>
          <a:xfrm>
            <a:off x="1810512"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Port</a:t>
            </a:r>
          </a:p>
        </p:txBody>
      </p:sp>
      <p:sp>
        <p:nvSpPr>
          <p:cNvPr id="574" name="Diamond 573"/>
          <p:cNvSpPr/>
          <p:nvPr/>
        </p:nvSpPr>
        <p:spPr>
          <a:xfrm>
            <a:off x="2382012" y="6195060"/>
            <a:ext cx="82296" cy="82296"/>
          </a:xfrm>
          <a:prstGeom prst="diamond">
            <a:avLst/>
          </a:prstGeom>
          <a:solidFill>
            <a:srgbClr val="0A2373"/>
          </a:solidFill>
          <a:ln w="635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5" name="TextBox 574"/>
          <p:cNvSpPr txBox="1"/>
          <p:nvPr/>
        </p:nvSpPr>
        <p:spPr>
          <a:xfrm>
            <a:off x="251460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Vopak</a:t>
            </a:r>
          </a:p>
        </p:txBody>
      </p:sp>
      <p:sp>
        <p:nvSpPr>
          <p:cNvPr id="576" name="Hexagon 575"/>
          <p:cNvSpPr/>
          <p:nvPr/>
        </p:nvSpPr>
        <p:spPr>
          <a:xfrm>
            <a:off x="3204972" y="6195060"/>
            <a:ext cx="82296" cy="82296"/>
          </a:xfrm>
          <a:prstGeom prst="hexagon">
            <a:avLst/>
          </a:prstGeom>
          <a:noFill/>
          <a:ln w="1270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7" name="TextBox 576"/>
          <p:cNvSpPr txBox="1"/>
          <p:nvPr/>
        </p:nvSpPr>
        <p:spPr>
          <a:xfrm>
            <a:off x="3337560" y="6144768"/>
            <a:ext cx="1124712" cy="18288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Other storage</a:t>
            </a:r>
          </a:p>
        </p:txBody>
      </p:sp>
      <p:sp>
        <p:nvSpPr>
          <p:cNvPr id="578" name="TextBox 577"/>
          <p:cNvSpPr txBox="1"/>
          <p:nvPr/>
        </p:nvSpPr>
        <p:spPr>
          <a:xfrm>
            <a:off x="4489704" y="6144768"/>
            <a:ext cx="2432304" cy="237744"/>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Lines: road / pipe / rail; heavy outlines: working regions</a:t>
            </a:r>
          </a:p>
        </p:txBody>
      </p:sp>
      <p:sp>
        <p:nvSpPr>
          <p:cNvPr id="579" name="TextBox 578"/>
          <p:cNvSpPr txBox="1"/>
          <p:nvPr/>
        </p:nvSpPr>
        <p:spPr>
          <a:xfrm>
            <a:off x="457200" y="6391656"/>
            <a:ext cx="6492240" cy="128016"/>
          </a:xfrm>
          <a:prstGeom prst="rect">
            <a:avLst/>
          </a:prstGeom>
          <a:noFill/>
        </p:spPr>
        <p:txBody>
          <a:bodyPr wrap="square" lIns="22860" rIns="22860" tIns="0" bIns="0">
            <a:spAutoFit/>
          </a:bodyPr>
          <a:lstStyle/>
          <a:p>
            <a:pPr>
              <a:spcAft>
                <a:spcPts val="300"/>
              </a:spcAft>
              <a:defRPr sz="750" b="0">
                <a:solidFill>
                  <a:srgbClr val="000000"/>
                </a:solidFill>
                <a:latin typeface="Lato"/>
              </a:defRPr>
            </a:pPr>
            <a:r>
              <a:t>Lease offers are not operating capacity. *Magdala RFP location narrative conflicts; briefing coordinate used. Jet excluded.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Track petrol and diesel sales by province over time</a:t>
            </a:r>
          </a:p>
        </p:txBody>
      </p:sp>
      <p:sp>
        <p:nvSpPr>
          <p:cNvPr id="3" name="Slide Number Placeholder"/>
          <p:cNvSpPr>
            <a:spLocks noGrp="1"/>
          </p:cNvSpPr>
          <p:nvPr>
            <p:ph type="sldNum" sz="quarter" idx="12"/>
          </p:nvPr>
        </p:nvSpPr>
        <p:spPr/>
        <p:txBody>
          <a:bodyPr/>
          <a:lstStyle/>
          <a:p>
            <a:fld id="{CC9C249A-7310-4709-9111-74BAE9A71703}"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quarterly provincial sales extract; complete calendar years only. Petrol + diesel; jet excluded.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Annual provincial sales | 2013–2022,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One line per province</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Compare provincial demand histories on one shared scale. Petrol and diesel are combined; jet is excluded.</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Keep history separate from outlook</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The latest complete year in this extract is 2022. These lines are reported sales, not a current-year forecast.</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Incomplete periods are excluded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2023 contains Q1 only. A partial year must not appear as a full-year demand collapse.</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Historical totals need reconciliation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Provincial and national series differ in 6 years. Largest gaps: 2013 +0.54 and 2018 -0.43 bn litres. Review the source workbooks.</a:t>
            </a:r>
          </a:p>
        </p:txBody>
      </p:sp>
      <p:graphicFrame>
        <p:nvGraphicFramePr>
          <p:cNvPr id="22" name="Chart 21"/>
          <p:cNvGraphicFramePr>
            <a:graphicFrameLocks noGrp="1"/>
          </p:cNvGraphicFramePr>
          <p:nvPr/>
        </p:nvGraphicFramePr>
        <p:xfrm>
          <a:off x="457200" y="2167128"/>
          <a:ext cx="6446520" cy="3593592"/>
        </p:xfrm>
        <a:graphic>
          <a:graphicData uri="http://schemas.openxmlformats.org/drawingml/2006/chart">
            <c:chart xmlns:c="http://schemas.openxmlformats.org/drawingml/2006/chart" r:id="rId3"/>
          </a:graphicData>
        </a:graphic>
      </p:graphicFrame>
      <p:cxnSp>
        <p:nvCxnSpPr>
          <p:cNvPr id="23" name="Connector 22"/>
          <p:cNvCxnSpPr/>
          <p:nvPr/>
        </p:nvCxnSpPr>
        <p:spPr>
          <a:xfrm>
            <a:off x="502920" y="5943600"/>
            <a:ext cx="246888" cy="0"/>
          </a:xfrm>
          <a:prstGeom prst="line">
            <a:avLst/>
          </a:prstGeom>
          <a:ln w="21590">
            <a:solidFill>
              <a:srgbClr val="0A2373"/>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13816"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Gauteng</a:t>
            </a:r>
          </a:p>
        </p:txBody>
      </p:sp>
      <p:cxnSp>
        <p:nvCxnSpPr>
          <p:cNvPr id="25" name="Connector 24"/>
          <p:cNvCxnSpPr/>
          <p:nvPr/>
        </p:nvCxnSpPr>
        <p:spPr>
          <a:xfrm>
            <a:off x="2606039" y="5943600"/>
            <a:ext cx="246888" cy="0"/>
          </a:xfrm>
          <a:prstGeom prst="line">
            <a:avLst/>
          </a:prstGeom>
          <a:ln w="21590">
            <a:solidFill>
              <a:srgbClr val="546CA2"/>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916935"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KwaZulu-Natal</a:t>
            </a:r>
          </a:p>
        </p:txBody>
      </p:sp>
      <p:cxnSp>
        <p:nvCxnSpPr>
          <p:cNvPr id="27" name="Connector 26"/>
          <p:cNvCxnSpPr/>
          <p:nvPr/>
        </p:nvCxnSpPr>
        <p:spPr>
          <a:xfrm>
            <a:off x="4709159" y="5943600"/>
            <a:ext cx="246889" cy="0"/>
          </a:xfrm>
          <a:prstGeom prst="line">
            <a:avLst/>
          </a:prstGeom>
          <a:ln w="21590">
            <a:solidFill>
              <a:srgbClr val="404040"/>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5020055" y="5879592"/>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Western Cape</a:t>
            </a:r>
          </a:p>
        </p:txBody>
      </p:sp>
      <p:cxnSp>
        <p:nvCxnSpPr>
          <p:cNvPr id="29" name="Connector 28"/>
          <p:cNvCxnSpPr/>
          <p:nvPr/>
        </p:nvCxnSpPr>
        <p:spPr>
          <a:xfrm>
            <a:off x="502920" y="6153912"/>
            <a:ext cx="246888" cy="0"/>
          </a:xfrm>
          <a:prstGeom prst="line">
            <a:avLst/>
          </a:prstGeom>
          <a:ln w="21590">
            <a:solidFill>
              <a:srgbClr val="546CA2"/>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813816"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Mpumalanga</a:t>
            </a:r>
          </a:p>
        </p:txBody>
      </p:sp>
      <p:cxnSp>
        <p:nvCxnSpPr>
          <p:cNvPr id="31" name="Connector 30"/>
          <p:cNvCxnSpPr/>
          <p:nvPr/>
        </p:nvCxnSpPr>
        <p:spPr>
          <a:xfrm>
            <a:off x="2606039" y="6153912"/>
            <a:ext cx="246888" cy="0"/>
          </a:xfrm>
          <a:prstGeom prst="line">
            <a:avLst/>
          </a:prstGeom>
          <a:ln w="21590">
            <a:solidFill>
              <a:srgbClr val="767676"/>
            </a:solidFill>
            <a:prstDash val="dash"/>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2916935"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Eastern Cape</a:t>
            </a:r>
          </a:p>
        </p:txBody>
      </p:sp>
      <p:cxnSp>
        <p:nvCxnSpPr>
          <p:cNvPr id="33" name="Connector 32"/>
          <p:cNvCxnSpPr/>
          <p:nvPr/>
        </p:nvCxnSpPr>
        <p:spPr>
          <a:xfrm>
            <a:off x="4709159" y="6153912"/>
            <a:ext cx="246889" cy="0"/>
          </a:xfrm>
          <a:prstGeom prst="line">
            <a:avLst/>
          </a:prstGeom>
          <a:ln w="21590">
            <a:solidFill>
              <a:srgbClr val="0A2373"/>
            </a:solidFill>
            <a:prstDash val="sysDot"/>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20055" y="6089904"/>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Free State</a:t>
            </a:r>
          </a:p>
        </p:txBody>
      </p:sp>
      <p:cxnSp>
        <p:nvCxnSpPr>
          <p:cNvPr id="35" name="Connector 34"/>
          <p:cNvCxnSpPr/>
          <p:nvPr/>
        </p:nvCxnSpPr>
        <p:spPr>
          <a:xfrm>
            <a:off x="502920" y="6364224"/>
            <a:ext cx="246888" cy="0"/>
          </a:xfrm>
          <a:prstGeom prst="line">
            <a:avLst/>
          </a:prstGeom>
          <a:ln w="21590">
            <a:solidFill>
              <a:srgbClr val="404040"/>
            </a:solidFill>
            <a:prstDash val="dashDot"/>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813816"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 West</a:t>
            </a:r>
          </a:p>
        </p:txBody>
      </p:sp>
      <p:cxnSp>
        <p:nvCxnSpPr>
          <p:cNvPr id="37" name="Connector 36"/>
          <p:cNvCxnSpPr/>
          <p:nvPr/>
        </p:nvCxnSpPr>
        <p:spPr>
          <a:xfrm>
            <a:off x="2606039" y="6364224"/>
            <a:ext cx="246888" cy="0"/>
          </a:xfrm>
          <a:prstGeom prst="line">
            <a:avLst/>
          </a:prstGeom>
          <a:ln w="21590">
            <a:solidFill>
              <a:srgbClr val="767676"/>
            </a:solidFill>
            <a:prstDash val="sysDot"/>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2916935"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Limpopo</a:t>
            </a:r>
          </a:p>
        </p:txBody>
      </p:sp>
      <p:cxnSp>
        <p:nvCxnSpPr>
          <p:cNvPr id="39" name="Connector 38"/>
          <p:cNvCxnSpPr/>
          <p:nvPr/>
        </p:nvCxnSpPr>
        <p:spPr>
          <a:xfrm>
            <a:off x="4709159" y="6364224"/>
            <a:ext cx="246889" cy="0"/>
          </a:xfrm>
          <a:prstGeom prst="line">
            <a:avLst/>
          </a:prstGeom>
          <a:ln w="21590">
            <a:solidFill>
              <a:srgbClr val="BDBEC1"/>
            </a:solidFill>
            <a:prstDash val="lgDash"/>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20055" y="6300216"/>
            <a:ext cx="1783080" cy="173736"/>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Northern Cape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Shape the provincial split between domestic fuel and imports</a:t>
            </a:r>
          </a:p>
        </p:txBody>
      </p:sp>
      <p:sp>
        <p:nvSpPr>
          <p:cNvPr id="3" name="Slide Number Placeholder"/>
          <p:cNvSpPr>
            <a:spLocks noGrp="1"/>
          </p:cNvSpPr>
          <p:nvPr>
            <p:ph type="sldNum" sz="quarter" idx="12"/>
          </p:nvPr>
        </p:nvSpPr>
        <p:spPr/>
        <p:txBody>
          <a:bodyPr/>
          <a:lstStyle/>
          <a:p>
            <a:fld id="{D1203666-8BDF-402B-95F2-82F6C681170B}"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sales totals; source mix from the existing illustrative national-balance CSV. Not observed origin.</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2022 sales totals | ILLUSTRATIVE domestic/import allocation</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Demand totals are reported sales</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Each complete bar matches its province’s reported petrol + diesel sales in 2022. The source split is illustrative.</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Allocate by product, then aggregate</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Use the existing example domestic shares separately for petrol and diesel. Provinces differ because their fuel mix differs.</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Provincial origins remain unverified</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National production/imports do not tell us which province received each litre. Obtain refinery, port and onward customer flows.</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Refined fuel origin is the distinction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Locally refined fuel counts as domestic, including output made from imported crude. Imports here mean finished petrol/diesel.</a:t>
            </a:r>
          </a:p>
        </p:txBody>
      </p:sp>
      <p:cxnSp>
        <p:nvCxnSpPr>
          <p:cNvPr id="22" name="Connector 21"/>
          <p:cNvCxnSpPr/>
          <p:nvPr/>
        </p:nvCxnSpPr>
        <p:spPr>
          <a:xfrm>
            <a:off x="187451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1792223"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4" name="Connector 23"/>
          <p:cNvCxnSpPr/>
          <p:nvPr/>
        </p:nvCxnSpPr>
        <p:spPr>
          <a:xfrm>
            <a:off x="297180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288950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2</a:t>
            </a:r>
          </a:p>
        </p:txBody>
      </p:sp>
      <p:cxnSp>
        <p:nvCxnSpPr>
          <p:cNvPr id="26" name="Connector 25"/>
          <p:cNvCxnSpPr/>
          <p:nvPr/>
        </p:nvCxnSpPr>
        <p:spPr>
          <a:xfrm>
            <a:off x="406907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3986783"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a:t>
            </a:r>
          </a:p>
        </p:txBody>
      </p:sp>
      <p:cxnSp>
        <p:nvCxnSpPr>
          <p:cNvPr id="28" name="Connector 27"/>
          <p:cNvCxnSpPr/>
          <p:nvPr/>
        </p:nvCxnSpPr>
        <p:spPr>
          <a:xfrm>
            <a:off x="5166359"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508406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6</a:t>
            </a:r>
          </a:p>
        </p:txBody>
      </p:sp>
      <p:cxnSp>
        <p:nvCxnSpPr>
          <p:cNvPr id="30" name="Connector 29"/>
          <p:cNvCxnSpPr/>
          <p:nvPr/>
        </p:nvCxnSpPr>
        <p:spPr>
          <a:xfrm>
            <a:off x="6263640" y="2468880"/>
            <a:ext cx="0" cy="30358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181344" y="2212848"/>
            <a:ext cx="320040" cy="17373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a:t>
            </a:r>
          </a:p>
        </p:txBody>
      </p:sp>
      <p:sp>
        <p:nvSpPr>
          <p:cNvPr id="32" name="TextBox 31"/>
          <p:cNvSpPr txBox="1"/>
          <p:nvPr/>
        </p:nvSpPr>
        <p:spPr>
          <a:xfrm>
            <a:off x="457200" y="2606039"/>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Gauteng</a:t>
            </a:r>
          </a:p>
        </p:txBody>
      </p:sp>
      <p:sp>
        <p:nvSpPr>
          <p:cNvPr id="33" name="Rectangle 32"/>
          <p:cNvSpPr/>
          <p:nvPr/>
        </p:nvSpPr>
        <p:spPr>
          <a:xfrm>
            <a:off x="1874519" y="2596896"/>
            <a:ext cx="1310608"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185128" y="2596896"/>
            <a:ext cx="242531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674454" y="2596896"/>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6.81</a:t>
            </a:r>
          </a:p>
        </p:txBody>
      </p:sp>
      <p:sp>
        <p:nvSpPr>
          <p:cNvPr id="36" name="TextBox 35"/>
          <p:cNvSpPr txBox="1"/>
          <p:nvPr/>
        </p:nvSpPr>
        <p:spPr>
          <a:xfrm>
            <a:off x="457200" y="2916935"/>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KwaZulu-Natal</a:t>
            </a:r>
          </a:p>
        </p:txBody>
      </p:sp>
      <p:sp>
        <p:nvSpPr>
          <p:cNvPr id="37" name="Rectangle 36"/>
          <p:cNvSpPr/>
          <p:nvPr/>
        </p:nvSpPr>
        <p:spPr>
          <a:xfrm>
            <a:off x="1874519" y="2907791"/>
            <a:ext cx="747567"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2622087" y="2907791"/>
            <a:ext cx="1603076"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289172" y="2907791"/>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4.28</a:t>
            </a:r>
          </a:p>
        </p:txBody>
      </p:sp>
      <p:sp>
        <p:nvSpPr>
          <p:cNvPr id="40" name="TextBox 39"/>
          <p:cNvSpPr txBox="1"/>
          <p:nvPr/>
        </p:nvSpPr>
        <p:spPr>
          <a:xfrm>
            <a:off x="457200" y="3227832"/>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Western Cape</a:t>
            </a:r>
          </a:p>
        </p:txBody>
      </p:sp>
      <p:sp>
        <p:nvSpPr>
          <p:cNvPr id="41" name="Rectangle 40"/>
          <p:cNvSpPr/>
          <p:nvPr/>
        </p:nvSpPr>
        <p:spPr>
          <a:xfrm>
            <a:off x="1874519" y="3218688"/>
            <a:ext cx="691804"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2566324" y="3218688"/>
            <a:ext cx="1464775"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4095108" y="3218688"/>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3.93</a:t>
            </a:r>
          </a:p>
        </p:txBody>
      </p:sp>
      <p:sp>
        <p:nvSpPr>
          <p:cNvPr id="44" name="TextBox 43"/>
          <p:cNvSpPr txBox="1"/>
          <p:nvPr/>
        </p:nvSpPr>
        <p:spPr>
          <a:xfrm>
            <a:off x="457200" y="3538727"/>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Mpumalanga</a:t>
            </a:r>
          </a:p>
        </p:txBody>
      </p:sp>
      <p:sp>
        <p:nvSpPr>
          <p:cNvPr id="45" name="Rectangle 44"/>
          <p:cNvSpPr/>
          <p:nvPr/>
        </p:nvSpPr>
        <p:spPr>
          <a:xfrm>
            <a:off x="1874519" y="3529584"/>
            <a:ext cx="306332"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2180852" y="3529584"/>
            <a:ext cx="657731"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902592" y="3529584"/>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1.76</a:t>
            </a:r>
          </a:p>
        </p:txBody>
      </p:sp>
      <p:sp>
        <p:nvSpPr>
          <p:cNvPr id="48" name="TextBox 47"/>
          <p:cNvSpPr txBox="1"/>
          <p:nvPr/>
        </p:nvSpPr>
        <p:spPr>
          <a:xfrm>
            <a:off x="457200" y="3849624"/>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Eastern Cape</a:t>
            </a:r>
          </a:p>
        </p:txBody>
      </p:sp>
      <p:sp>
        <p:nvSpPr>
          <p:cNvPr id="49" name="Rectangle 48"/>
          <p:cNvSpPr/>
          <p:nvPr/>
        </p:nvSpPr>
        <p:spPr>
          <a:xfrm>
            <a:off x="1874519" y="3840480"/>
            <a:ext cx="313049"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2187569" y="3840480"/>
            <a:ext cx="63910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2890684" y="3840480"/>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1.74</a:t>
            </a:r>
          </a:p>
        </p:txBody>
      </p:sp>
      <p:sp>
        <p:nvSpPr>
          <p:cNvPr id="52" name="TextBox 51"/>
          <p:cNvSpPr txBox="1"/>
          <p:nvPr/>
        </p:nvSpPr>
        <p:spPr>
          <a:xfrm>
            <a:off x="457200" y="4160520"/>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Free State</a:t>
            </a:r>
          </a:p>
        </p:txBody>
      </p:sp>
      <p:sp>
        <p:nvSpPr>
          <p:cNvPr id="53" name="Rectangle 52"/>
          <p:cNvSpPr/>
          <p:nvPr/>
        </p:nvSpPr>
        <p:spPr>
          <a:xfrm>
            <a:off x="1874519" y="4151376"/>
            <a:ext cx="250485"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2125005" y="4151376"/>
            <a:ext cx="50077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689791" y="4151376"/>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1.37</a:t>
            </a:r>
          </a:p>
        </p:txBody>
      </p:sp>
      <p:sp>
        <p:nvSpPr>
          <p:cNvPr id="56" name="TextBox 55"/>
          <p:cNvSpPr txBox="1"/>
          <p:nvPr/>
        </p:nvSpPr>
        <p:spPr>
          <a:xfrm>
            <a:off x="457200" y="4471416"/>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North West</a:t>
            </a:r>
          </a:p>
        </p:txBody>
      </p:sp>
      <p:sp>
        <p:nvSpPr>
          <p:cNvPr id="57" name="Rectangle 56"/>
          <p:cNvSpPr/>
          <p:nvPr/>
        </p:nvSpPr>
        <p:spPr>
          <a:xfrm>
            <a:off x="1874519" y="4462272"/>
            <a:ext cx="194304"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ectangle 57"/>
          <p:cNvSpPr/>
          <p:nvPr/>
        </p:nvSpPr>
        <p:spPr>
          <a:xfrm>
            <a:off x="2068824" y="4462272"/>
            <a:ext cx="391677"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524509" y="4462272"/>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1.07</a:t>
            </a:r>
          </a:p>
        </p:txBody>
      </p:sp>
      <p:sp>
        <p:nvSpPr>
          <p:cNvPr id="60" name="TextBox 59"/>
          <p:cNvSpPr txBox="1"/>
          <p:nvPr/>
        </p:nvSpPr>
        <p:spPr>
          <a:xfrm>
            <a:off x="457200" y="4782312"/>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Limpopo</a:t>
            </a:r>
          </a:p>
        </p:txBody>
      </p:sp>
      <p:sp>
        <p:nvSpPr>
          <p:cNvPr id="61" name="Rectangle 60"/>
          <p:cNvSpPr/>
          <p:nvPr/>
        </p:nvSpPr>
        <p:spPr>
          <a:xfrm>
            <a:off x="1874519" y="4773168"/>
            <a:ext cx="97173"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1971693" y="4773168"/>
            <a:ext cx="174750"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2210451" y="4773168"/>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0.50</a:t>
            </a:r>
          </a:p>
        </p:txBody>
      </p:sp>
      <p:sp>
        <p:nvSpPr>
          <p:cNvPr id="64" name="TextBox 63"/>
          <p:cNvSpPr txBox="1"/>
          <p:nvPr/>
        </p:nvSpPr>
        <p:spPr>
          <a:xfrm>
            <a:off x="457200" y="5093208"/>
            <a:ext cx="1389888" cy="201168"/>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Northern Cape</a:t>
            </a:r>
          </a:p>
        </p:txBody>
      </p:sp>
      <p:sp>
        <p:nvSpPr>
          <p:cNvPr id="65" name="Rectangle 64"/>
          <p:cNvSpPr/>
          <p:nvPr/>
        </p:nvSpPr>
        <p:spPr>
          <a:xfrm>
            <a:off x="1874519" y="5084064"/>
            <a:ext cx="72620" cy="20116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1947140" y="5084064"/>
            <a:ext cx="175260" cy="20116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2186409" y="5084064"/>
            <a:ext cx="457200" cy="201168"/>
          </a:xfrm>
          <a:prstGeom prst="rect">
            <a:avLst/>
          </a:prstGeom>
          <a:noFill/>
        </p:spPr>
        <p:txBody>
          <a:bodyPr wrap="square" lIns="22860" rIns="22860" tIns="0" bIns="0">
            <a:spAutoFit/>
          </a:bodyPr>
          <a:lstStyle/>
          <a:p>
            <a:pPr>
              <a:spcAft>
                <a:spcPts val="300"/>
              </a:spcAft>
              <a:defRPr sz="900" b="1">
                <a:solidFill>
                  <a:srgbClr val="000000"/>
                </a:solidFill>
                <a:latin typeface="Lato"/>
              </a:defRPr>
            </a:pPr>
            <a:r>
              <a:t>0.45</a:t>
            </a:r>
          </a:p>
        </p:txBody>
      </p:sp>
      <p:sp>
        <p:nvSpPr>
          <p:cNvPr id="68" name="Rectangle 67"/>
          <p:cNvSpPr/>
          <p:nvPr/>
        </p:nvSpPr>
        <p:spPr>
          <a:xfrm>
            <a:off x="457200" y="5715000"/>
            <a:ext cx="109728" cy="10972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621792" y="5669280"/>
            <a:ext cx="3200400" cy="21945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Illustrative domestic fuel</a:t>
            </a:r>
          </a:p>
        </p:txBody>
      </p:sp>
      <p:sp>
        <p:nvSpPr>
          <p:cNvPr id="70" name="Rectangle 69"/>
          <p:cNvSpPr/>
          <p:nvPr/>
        </p:nvSpPr>
        <p:spPr>
          <a:xfrm>
            <a:off x="3246120" y="5715000"/>
            <a:ext cx="109728" cy="109728"/>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3410712" y="5669280"/>
            <a:ext cx="3200400" cy="219456"/>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Illustrative finished-product imports</a:t>
            </a:r>
          </a:p>
        </p:txBody>
      </p:sp>
      <p:sp>
        <p:nvSpPr>
          <p:cNvPr id="72" name="TextBox 71"/>
          <p:cNvSpPr txBox="1"/>
          <p:nvPr/>
        </p:nvSpPr>
        <p:spPr>
          <a:xfrm>
            <a:off x="457200" y="6062472"/>
            <a:ext cx="6446520" cy="374904"/>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Units: bn litres/year. Imported/domestic segments are a scenario illustration, not measured provincial flows.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Size each regional market and locate competing storage</a:t>
            </a:r>
          </a:p>
        </p:txBody>
      </p:sp>
      <p:sp>
        <p:nvSpPr>
          <p:cNvPr id="3" name="Slide Number Placeholder"/>
          <p:cNvSpPr>
            <a:spLocks noGrp="1"/>
          </p:cNvSpPr>
          <p:nvPr>
            <p:ph type="sldNum" sz="quarter" idx="12"/>
          </p:nvPr>
        </p:nvSpPr>
        <p:spPr/>
        <p:txBody>
          <a:bodyPr/>
          <a:lstStyle/>
          <a:p>
            <a:fld id="{2A28A975-0F7A-44BE-98D3-E07116895F90}"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DMPR 2022 provincial petrol/diesel sales; public operator sources [1-7], checked 6 Oct 2026. Share not established.</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All four regions | reported 2022 demand, bn litres/year</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 | competitors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57200" y="2176272"/>
            <a:ext cx="6446520" cy="246888"/>
          </a:xfrm>
          <a:prstGeom prst="rect">
            <a:avLst/>
          </a:prstGeom>
          <a:noFill/>
        </p:spPr>
        <p:txBody>
          <a:bodyPr wrap="square" lIns="22860" rIns="22860" tIns="0" bIns="0">
            <a:spAutoFit/>
          </a:bodyPr>
          <a:lstStyle/>
          <a:p>
            <a:pPr>
              <a:spcAft>
                <a:spcPts val="300"/>
              </a:spcAft>
              <a:defRPr sz="1100" b="1">
                <a:solidFill>
                  <a:srgbClr val="0A2373"/>
                </a:solidFill>
                <a:latin typeface="Lato"/>
              </a:defRPr>
            </a:pPr>
            <a:r>
              <a:t>National total 21.90 bn L | petrol + diesel; jet excluded</a:t>
            </a:r>
          </a:p>
        </p:txBody>
      </p:sp>
      <p:sp>
        <p:nvSpPr>
          <p:cNvPr id="15" name="TextBox 14"/>
          <p:cNvSpPr txBox="1"/>
          <p:nvPr/>
        </p:nvSpPr>
        <p:spPr>
          <a:xfrm>
            <a:off x="457200" y="2624328"/>
            <a:ext cx="1298448"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Region / provinces</a:t>
            </a:r>
          </a:p>
        </p:txBody>
      </p:sp>
      <p:sp>
        <p:nvSpPr>
          <p:cNvPr id="16" name="TextBox 15"/>
          <p:cNvSpPr txBox="1"/>
          <p:nvPr/>
        </p:nvSpPr>
        <p:spPr>
          <a:xfrm>
            <a:off x="1847088" y="2624328"/>
            <a:ext cx="2542032" cy="228600"/>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Reported demand</a:t>
            </a:r>
          </a:p>
        </p:txBody>
      </p:sp>
      <p:sp>
        <p:nvSpPr>
          <p:cNvPr id="17" name="TextBox 16"/>
          <p:cNvSpPr txBox="1"/>
          <p:nvPr/>
        </p:nvSpPr>
        <p:spPr>
          <a:xfrm>
            <a:off x="4553712" y="2624328"/>
            <a:ext cx="1051560"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Vopak</a:t>
            </a:r>
          </a:p>
          <a:p>
            <a:pPr>
              <a:spcAft>
                <a:spcPts val="300"/>
              </a:spcAft>
              <a:defRPr sz="1000" b="1">
                <a:solidFill>
                  <a:srgbClr val="000000"/>
                </a:solidFill>
                <a:latin typeface="Lato"/>
              </a:defRPr>
            </a:pPr>
            <a:r>
              <a:t>served</a:t>
            </a:r>
          </a:p>
        </p:txBody>
      </p:sp>
      <p:sp>
        <p:nvSpPr>
          <p:cNvPr id="18" name="TextBox 17"/>
          <p:cNvSpPr txBox="1"/>
          <p:nvPr/>
        </p:nvSpPr>
        <p:spPr>
          <a:xfrm>
            <a:off x="5760720" y="2624328"/>
            <a:ext cx="1143000" cy="4389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Additional</a:t>
            </a:r>
          </a:p>
          <a:p>
            <a:pPr>
              <a:spcAft>
                <a:spcPts val="300"/>
              </a:spcAft>
              <a:defRPr sz="1000" b="1">
                <a:solidFill>
                  <a:srgbClr val="000000"/>
                </a:solidFill>
                <a:latin typeface="Lato"/>
              </a:defRPr>
            </a:pPr>
            <a:r>
              <a:t>contestable</a:t>
            </a:r>
          </a:p>
        </p:txBody>
      </p:sp>
      <p:sp>
        <p:nvSpPr>
          <p:cNvPr id="19" name="TextBox 18"/>
          <p:cNvSpPr txBox="1"/>
          <p:nvPr/>
        </p:nvSpPr>
        <p:spPr>
          <a:xfrm>
            <a:off x="1755648"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0</a:t>
            </a:r>
          </a:p>
        </p:txBody>
      </p:sp>
      <p:cxnSp>
        <p:nvCxnSpPr>
          <p:cNvPr id="20" name="Connector 19"/>
          <p:cNvCxnSpPr/>
          <p:nvPr/>
        </p:nvCxnSpPr>
        <p:spPr>
          <a:xfrm>
            <a:off x="1847088"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493264"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4</a:t>
            </a:r>
          </a:p>
        </p:txBody>
      </p:sp>
      <p:cxnSp>
        <p:nvCxnSpPr>
          <p:cNvPr id="22" name="Connector 21"/>
          <p:cNvCxnSpPr/>
          <p:nvPr/>
        </p:nvCxnSpPr>
        <p:spPr>
          <a:xfrm>
            <a:off x="2584704"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3230880"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8</a:t>
            </a:r>
          </a:p>
        </p:txBody>
      </p:sp>
      <p:cxnSp>
        <p:nvCxnSpPr>
          <p:cNvPr id="24" name="Connector 23"/>
          <p:cNvCxnSpPr/>
          <p:nvPr/>
        </p:nvCxnSpPr>
        <p:spPr>
          <a:xfrm>
            <a:off x="3322320"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3968496" y="3035808"/>
            <a:ext cx="274320" cy="182880"/>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12</a:t>
            </a:r>
          </a:p>
        </p:txBody>
      </p:sp>
      <p:cxnSp>
        <p:nvCxnSpPr>
          <p:cNvPr id="26" name="Connector 25"/>
          <p:cNvCxnSpPr/>
          <p:nvPr/>
        </p:nvCxnSpPr>
        <p:spPr>
          <a:xfrm>
            <a:off x="4059935" y="3300984"/>
            <a:ext cx="0" cy="2121408"/>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457200" y="3374136"/>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Eastern coast</a:t>
            </a:r>
          </a:p>
        </p:txBody>
      </p:sp>
      <p:sp>
        <p:nvSpPr>
          <p:cNvPr id="28" name="TextBox 27"/>
          <p:cNvSpPr txBox="1"/>
          <p:nvPr/>
        </p:nvSpPr>
        <p:spPr>
          <a:xfrm>
            <a:off x="457200" y="3621024"/>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EC / KZN</a:t>
            </a:r>
          </a:p>
        </p:txBody>
      </p:sp>
      <p:sp>
        <p:nvSpPr>
          <p:cNvPr id="29" name="Reported 2022 petrol/diesel demand: Eastern coastal: 6.019977323 bn L"/>
          <p:cNvSpPr/>
          <p:nvPr/>
        </p:nvSpPr>
        <p:spPr>
          <a:xfrm>
            <a:off x="1847088" y="3447288"/>
            <a:ext cx="1110107"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021203" y="3447288"/>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6.02</a:t>
            </a:r>
          </a:p>
        </p:txBody>
      </p:sp>
      <p:sp>
        <p:nvSpPr>
          <p:cNvPr id="31" name="Unknown share input: Eastern coastal at 4.98"/>
          <p:cNvSpPr txBox="1"/>
          <p:nvPr/>
        </p:nvSpPr>
        <p:spPr>
          <a:xfrm>
            <a:off x="4553712" y="3392424"/>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2" name="Unknown share input: Eastern coastal at 6.3"/>
          <p:cNvSpPr txBox="1"/>
          <p:nvPr/>
        </p:nvSpPr>
        <p:spPr>
          <a:xfrm>
            <a:off x="5760720" y="3392424"/>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3" name="TextBox 32"/>
          <p:cNvSpPr txBox="1"/>
          <p:nvPr/>
        </p:nvSpPr>
        <p:spPr>
          <a:xfrm>
            <a:off x="457200" y="3913632"/>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Inland</a:t>
            </a:r>
          </a:p>
        </p:txBody>
      </p:sp>
      <p:sp>
        <p:nvSpPr>
          <p:cNvPr id="34" name="TextBox 33"/>
          <p:cNvSpPr txBox="1"/>
          <p:nvPr/>
        </p:nvSpPr>
        <p:spPr>
          <a:xfrm>
            <a:off x="457200" y="4160520"/>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GP / FS / LP / MP / NW</a:t>
            </a:r>
          </a:p>
        </p:txBody>
      </p:sp>
      <p:sp>
        <p:nvSpPr>
          <p:cNvPr id="35" name="Reported 2022 petrol/diesel demand: Inland: 11.499633855 bn L"/>
          <p:cNvSpPr/>
          <p:nvPr/>
        </p:nvSpPr>
        <p:spPr>
          <a:xfrm>
            <a:off x="1847088" y="3986784"/>
            <a:ext cx="2120578"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031674" y="3986784"/>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11.50</a:t>
            </a:r>
          </a:p>
        </p:txBody>
      </p:sp>
      <p:sp>
        <p:nvSpPr>
          <p:cNvPr id="37" name="Unknown share input: Inland at 4.98"/>
          <p:cNvSpPr txBox="1"/>
          <p:nvPr/>
        </p:nvSpPr>
        <p:spPr>
          <a:xfrm>
            <a:off x="4553712" y="3931920"/>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8" name="Unknown share input: Inland at 6.3"/>
          <p:cNvSpPr txBox="1"/>
          <p:nvPr/>
        </p:nvSpPr>
        <p:spPr>
          <a:xfrm>
            <a:off x="5760720" y="3931920"/>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39" name="TextBox 38"/>
          <p:cNvSpPr txBox="1"/>
          <p:nvPr/>
        </p:nvSpPr>
        <p:spPr>
          <a:xfrm>
            <a:off x="457200" y="4453128"/>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Western coast</a:t>
            </a:r>
          </a:p>
        </p:txBody>
      </p:sp>
      <p:sp>
        <p:nvSpPr>
          <p:cNvPr id="40" name="TextBox 39"/>
          <p:cNvSpPr txBox="1"/>
          <p:nvPr/>
        </p:nvSpPr>
        <p:spPr>
          <a:xfrm>
            <a:off x="457200" y="4700016"/>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WC</a:t>
            </a:r>
          </a:p>
        </p:txBody>
      </p:sp>
      <p:sp>
        <p:nvSpPr>
          <p:cNvPr id="41" name="Reported 2022 petrol/diesel demand: Western coastal: 3.930775007 bn L"/>
          <p:cNvSpPr/>
          <p:nvPr/>
        </p:nvSpPr>
        <p:spPr>
          <a:xfrm>
            <a:off x="1847088" y="4526280"/>
            <a:ext cx="724850"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635946" y="4526280"/>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3.93</a:t>
            </a:r>
          </a:p>
        </p:txBody>
      </p:sp>
      <p:sp>
        <p:nvSpPr>
          <p:cNvPr id="43" name="Unknown share input: Western coastal at 4.98"/>
          <p:cNvSpPr txBox="1"/>
          <p:nvPr/>
        </p:nvSpPr>
        <p:spPr>
          <a:xfrm>
            <a:off x="4553712" y="4471416"/>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44" name="Unknown share input: Western coastal at 6.3"/>
          <p:cNvSpPr txBox="1"/>
          <p:nvPr/>
        </p:nvSpPr>
        <p:spPr>
          <a:xfrm>
            <a:off x="5760720" y="4471416"/>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45" name="TextBox 44"/>
          <p:cNvSpPr txBox="1"/>
          <p:nvPr/>
        </p:nvSpPr>
        <p:spPr>
          <a:xfrm>
            <a:off x="457200" y="4992624"/>
            <a:ext cx="1344168" cy="237744"/>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Other</a:t>
            </a:r>
          </a:p>
        </p:txBody>
      </p:sp>
      <p:sp>
        <p:nvSpPr>
          <p:cNvPr id="46" name="TextBox 45"/>
          <p:cNvSpPr txBox="1"/>
          <p:nvPr/>
        </p:nvSpPr>
        <p:spPr>
          <a:xfrm>
            <a:off x="457200" y="5239512"/>
            <a:ext cx="1344168" cy="210312"/>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Northern Cape</a:t>
            </a:r>
          </a:p>
        </p:txBody>
      </p:sp>
      <p:sp>
        <p:nvSpPr>
          <p:cNvPr id="47" name="Reported 2022 petrol/diesel demand: Other / Northern Cape: 0.451810049 bn L"/>
          <p:cNvSpPr/>
          <p:nvPr/>
        </p:nvSpPr>
        <p:spPr>
          <a:xfrm>
            <a:off x="1847088" y="5065776"/>
            <a:ext cx="83315" cy="246888"/>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994411" y="5065776"/>
            <a:ext cx="438912" cy="237744"/>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0.45</a:t>
            </a:r>
          </a:p>
        </p:txBody>
      </p:sp>
      <p:sp>
        <p:nvSpPr>
          <p:cNvPr id="49" name="Unknown share input: Other / Northern Cape at 4.98"/>
          <p:cNvSpPr txBox="1"/>
          <p:nvPr/>
        </p:nvSpPr>
        <p:spPr>
          <a:xfrm>
            <a:off x="4553712" y="5010912"/>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50" name="Unknown share input: Other / Northern Cape at 6.3"/>
          <p:cNvSpPr txBox="1"/>
          <p:nvPr/>
        </p:nvSpPr>
        <p:spPr>
          <a:xfrm>
            <a:off x="5760720" y="5010912"/>
            <a:ext cx="1097280" cy="393192"/>
          </a:xfrm>
          <a:prstGeom prst="rect">
            <a:avLst/>
          </a:prstGeom>
          <a:noFill/>
        </p:spPr>
        <p:txBody>
          <a:bodyPr wrap="square" lIns="22860" rIns="22860" tIns="0" bIns="0">
            <a:spAutoFit/>
          </a:bodyPr>
          <a:lstStyle/>
          <a:p>
            <a:pPr>
              <a:spcAft>
                <a:spcPts val="300"/>
              </a:spcAft>
              <a:defRPr sz="950" b="0">
                <a:solidFill>
                  <a:srgbClr val="000000"/>
                </a:solidFill>
                <a:latin typeface="Lato"/>
              </a:defRPr>
            </a:pPr>
            <a:r>
              <a:t>Not</a:t>
            </a:r>
          </a:p>
          <a:p>
            <a:pPr>
              <a:spcAft>
                <a:spcPts val="300"/>
              </a:spcAft>
              <a:defRPr sz="950" b="0">
                <a:solidFill>
                  <a:srgbClr val="000000"/>
                </a:solidFill>
                <a:latin typeface="Lato"/>
              </a:defRPr>
            </a:pPr>
            <a:r>
              <a:t>established</a:t>
            </a:r>
          </a:p>
        </p:txBody>
      </p:sp>
      <p:sp>
        <p:nvSpPr>
          <p:cNvPr id="51" name="TextBox 50"/>
          <p:cNvSpPr txBox="1"/>
          <p:nvPr/>
        </p:nvSpPr>
        <p:spPr>
          <a:xfrm>
            <a:off x="457200" y="5641848"/>
            <a:ext cx="6446520" cy="265176"/>
          </a:xfrm>
          <a:prstGeom prst="rect">
            <a:avLst/>
          </a:prstGeom>
          <a:noFill/>
        </p:spPr>
        <p:txBody>
          <a:bodyPr wrap="square" lIns="22860" rIns="22860" tIns="0" bIns="0">
            <a:spAutoFit/>
          </a:bodyPr>
          <a:lstStyle/>
          <a:p>
            <a:pPr>
              <a:spcAft>
                <a:spcPts val="300"/>
              </a:spcAft>
              <a:defRPr sz="1050" b="1">
                <a:solidFill>
                  <a:srgbClr val="0A2373"/>
                </a:solidFill>
                <a:latin typeface="Lato"/>
              </a:defRPr>
            </a:pPr>
            <a:r>
              <a:t>To calculate share: unique Vopak customer deliveries / same-year regional demand.</a:t>
            </a:r>
          </a:p>
        </p:txBody>
      </p:sp>
      <p:sp>
        <p:nvSpPr>
          <p:cNvPr id="52" name="TextBox 51"/>
          <p:cNvSpPr txBox="1"/>
          <p:nvPr/>
        </p:nvSpPr>
        <p:spPr>
          <a:xfrm>
            <a:off x="457200" y="5952744"/>
            <a:ext cx="6446520" cy="402336"/>
          </a:xfrm>
          <a:prstGeom prst="rect">
            <a:avLst/>
          </a:prstGeom>
          <a:noFill/>
        </p:spPr>
        <p:txBody>
          <a:bodyPr wrap="square" lIns="22860" rIns="22860" tIns="0" bIns="0">
            <a:spAutoFit/>
          </a:bodyPr>
          <a:lstStyle/>
          <a:p>
            <a:pPr>
              <a:spcAft>
                <a:spcPts val="300"/>
              </a:spcAft>
              <a:defRPr sz="1000" b="0">
                <a:solidFill>
                  <a:srgbClr val="000000"/>
                </a:solidFill>
                <a:latin typeface="Lato"/>
              </a:defRPr>
            </a:pPr>
            <a:r>
              <a:t>Contestable demand needs route cost, compatible tanks, contracts and switching evidence.</a:t>
            </a:r>
          </a:p>
          <a:p>
            <a:pPr>
              <a:spcAft>
                <a:spcPts val="300"/>
              </a:spcAft>
              <a:defRPr sz="1000" b="0">
                <a:solidFill>
                  <a:srgbClr val="000000"/>
                </a:solidFill>
                <a:latin typeface="Lato"/>
              </a:defRPr>
            </a:pPr>
            <a:r>
              <a:t>Count Durban-Lesedi transfers once. Region boundaries are working groupings, not catchments.</a:t>
            </a:r>
          </a:p>
        </p:txBody>
      </p:sp>
      <p:sp>
        <p:nvSpPr>
          <p:cNvPr id="53" name="TextBox 52"/>
          <p:cNvSpPr txBox="1"/>
          <p:nvPr/>
        </p:nvSpPr>
        <p:spPr>
          <a:xfrm>
            <a:off x="7424927" y="2194560"/>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01 Eastern coast</a:t>
            </a:r>
          </a:p>
        </p:txBody>
      </p:sp>
      <p:sp>
        <p:nvSpPr>
          <p:cNvPr id="54" name="TextBox 53"/>
          <p:cNvSpPr txBox="1"/>
          <p:nvPr/>
        </p:nvSpPr>
        <p:spPr>
          <a:xfrm>
            <a:off x="7424927" y="2523744"/>
            <a:ext cx="3685032" cy="704088"/>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Vopak: Durban [1]. Bidvest: Durban and Richards Bay [2]; mixed-product capacity.</a:t>
            </a:r>
          </a:p>
          <a:p>
            <a:pPr>
              <a:spcAft>
                <a:spcPts val="300"/>
              </a:spcAft>
              <a:defRPr sz="1150" b="0">
                <a:solidFill>
                  <a:srgbClr val="000000"/>
                </a:solidFill>
                <a:latin typeface="Lato"/>
              </a:defRPr>
            </a:pPr>
            <a:r>
              <a:t>Transnet: Ladysmith lease tanks [7].</a:t>
            </a:r>
          </a:p>
        </p:txBody>
      </p:sp>
      <p:sp>
        <p:nvSpPr>
          <p:cNvPr id="55" name="TextBox 54"/>
          <p:cNvSpPr txBox="1"/>
          <p:nvPr/>
        </p:nvSpPr>
        <p:spPr>
          <a:xfrm>
            <a:off x="7424927" y="3246120"/>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02 Inland</a:t>
            </a:r>
          </a:p>
        </p:txBody>
      </p:sp>
      <p:sp>
        <p:nvSpPr>
          <p:cNvPr id="56" name="TextBox 55"/>
          <p:cNvSpPr txBox="1"/>
          <p:nvPr/>
        </p:nvSpPr>
        <p:spPr>
          <a:xfrm>
            <a:off x="7424927" y="3575303"/>
            <a:ext cx="3685032" cy="832104"/>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Vopak: Lesedi [1]. Bidvest: Isando [2].</a:t>
            </a:r>
          </a:p>
          <a:p>
            <a:pPr>
              <a:spcAft>
                <a:spcPts val="300"/>
              </a:spcAft>
              <a:defRPr sz="1150" b="0">
                <a:solidFill>
                  <a:srgbClr val="000000"/>
                </a:solidFill>
                <a:latin typeface="Lato"/>
              </a:defRPr>
            </a:pPr>
            <a:r>
              <a:t>Sasol: Alrode, Pretoria West, Waltloo and Sasolburg [6]. Transnet: Tarlton / Jameson Park plus four lease sites [7].</a:t>
            </a:r>
          </a:p>
        </p:txBody>
      </p:sp>
      <p:sp>
        <p:nvSpPr>
          <p:cNvPr id="57" name="TextBox 56"/>
          <p:cNvSpPr txBox="1"/>
          <p:nvPr/>
        </p:nvSpPr>
        <p:spPr>
          <a:xfrm>
            <a:off x="7424927" y="4507992"/>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03 Western coast</a:t>
            </a:r>
          </a:p>
        </p:txBody>
      </p:sp>
      <p:sp>
        <p:nvSpPr>
          <p:cNvPr id="58" name="TextBox 57"/>
          <p:cNvSpPr txBox="1"/>
          <p:nvPr/>
        </p:nvSpPr>
        <p:spPr>
          <a:xfrm>
            <a:off x="7424927" y="4837176"/>
            <a:ext cx="3685032" cy="667512"/>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Burgan Cape: Cape Town petrol/diesel terminal [3]. Confirm current tank availability and customer access.</a:t>
            </a:r>
          </a:p>
        </p:txBody>
      </p:sp>
      <p:sp>
        <p:nvSpPr>
          <p:cNvPr id="59" name="TextBox 58"/>
          <p:cNvSpPr txBox="1"/>
          <p:nvPr/>
        </p:nvSpPr>
        <p:spPr>
          <a:xfrm>
            <a:off x="7424927" y="5550408"/>
            <a:ext cx="3685032" cy="256032"/>
          </a:xfrm>
          <a:prstGeom prst="rect">
            <a:avLst/>
          </a:prstGeom>
          <a:noFill/>
        </p:spPr>
        <p:txBody>
          <a:bodyPr wrap="square" lIns="22860" rIns="22860" tIns="0" bIns="0">
            <a:spAutoFit/>
          </a:bodyPr>
          <a:lstStyle/>
          <a:p>
            <a:pPr>
              <a:spcAft>
                <a:spcPts val="300"/>
              </a:spcAft>
              <a:defRPr sz="1350" b="1">
                <a:solidFill>
                  <a:srgbClr val="0A2373"/>
                </a:solidFill>
                <a:latin typeface="Lato"/>
              </a:defRPr>
            </a:pPr>
            <a:r>
              <a:t>04 Other / Northern Cape</a:t>
            </a:r>
          </a:p>
        </p:txBody>
      </p:sp>
      <p:sp>
        <p:nvSpPr>
          <p:cNvPr id="60" name="TextBox 59"/>
          <p:cNvSpPr txBox="1"/>
          <p:nvPr/>
        </p:nvSpPr>
        <p:spPr>
          <a:xfrm>
            <a:off x="7424927" y="5879592"/>
            <a:ext cx="3685032" cy="521207"/>
          </a:xfrm>
          <a:prstGeom prst="rect">
            <a:avLst/>
          </a:prstGeom>
          <a:noFill/>
        </p:spPr>
        <p:txBody>
          <a:bodyPr wrap="square" lIns="22860" rIns="22860" tIns="0" bIns="0">
            <a:spAutoFit/>
          </a:bodyPr>
          <a:lstStyle/>
          <a:p>
            <a:pPr>
              <a:spcAft>
                <a:spcPts val="300"/>
              </a:spcAft>
              <a:defRPr sz="1150" b="0">
                <a:solidFill>
                  <a:srgbClr val="000000"/>
                </a:solidFill>
                <a:latin typeface="Lato"/>
              </a:defRPr>
            </a:pPr>
            <a:r>
              <a:t>Regional operator inventory is incomplete. Extend it using Shell site notices [4] and NERSA licences / access records [5].</a:t>
            </a:r>
          </a:p>
        </p:txBody>
      </p:sp>
      <p:sp>
        <p:nvSpPr>
          <p:cNvPr id="61" name="TextBox 60"/>
          <p:cNvSpPr txBox="1"/>
          <p:nvPr/>
        </p:nvSpPr>
        <p:spPr>
          <a:xfrm>
            <a:off x="45720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3"/>
              </a:rPr>
              <a:t>[1] Vopak</a:t>
            </a:r>
          </a:p>
        </p:txBody>
      </p:sp>
      <p:sp>
        <p:nvSpPr>
          <p:cNvPr id="62" name="TextBox 61"/>
          <p:cNvSpPr txBox="1"/>
          <p:nvPr/>
        </p:nvSpPr>
        <p:spPr>
          <a:xfrm>
            <a:off x="135331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4"/>
              </a:rPr>
              <a:t>[2] Bidvest</a:t>
            </a:r>
          </a:p>
        </p:txBody>
      </p:sp>
      <p:sp>
        <p:nvSpPr>
          <p:cNvPr id="63" name="TextBox 62"/>
          <p:cNvSpPr txBox="1"/>
          <p:nvPr/>
        </p:nvSpPr>
        <p:spPr>
          <a:xfrm>
            <a:off x="2249424"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5"/>
              </a:rPr>
              <a:t>[3] Burgan</a:t>
            </a:r>
          </a:p>
        </p:txBody>
      </p:sp>
      <p:sp>
        <p:nvSpPr>
          <p:cNvPr id="64" name="TextBox 63"/>
          <p:cNvSpPr txBox="1"/>
          <p:nvPr/>
        </p:nvSpPr>
        <p:spPr>
          <a:xfrm>
            <a:off x="3145536"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6"/>
              </a:rPr>
              <a:t>[4] Shell</a:t>
            </a:r>
          </a:p>
        </p:txBody>
      </p:sp>
      <p:sp>
        <p:nvSpPr>
          <p:cNvPr id="65" name="TextBox 64"/>
          <p:cNvSpPr txBox="1"/>
          <p:nvPr/>
        </p:nvSpPr>
        <p:spPr>
          <a:xfrm>
            <a:off x="4041648"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7"/>
              </a:rPr>
              <a:t>[5] NERSA</a:t>
            </a:r>
          </a:p>
        </p:txBody>
      </p:sp>
      <p:sp>
        <p:nvSpPr>
          <p:cNvPr id="66" name="TextBox 65"/>
          <p:cNvSpPr txBox="1"/>
          <p:nvPr/>
        </p:nvSpPr>
        <p:spPr>
          <a:xfrm>
            <a:off x="4937760"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8"/>
              </a:rPr>
              <a:t>[6] Sasol</a:t>
            </a:r>
          </a:p>
        </p:txBody>
      </p:sp>
      <p:sp>
        <p:nvSpPr>
          <p:cNvPr id="67" name="TextBox 66"/>
          <p:cNvSpPr txBox="1"/>
          <p:nvPr/>
        </p:nvSpPr>
        <p:spPr>
          <a:xfrm>
            <a:off x="5833872" y="6391656"/>
            <a:ext cx="886968" cy="155448"/>
          </a:xfrm>
          <a:prstGeom prst="rect">
            <a:avLst/>
          </a:prstGeom>
          <a:noFill/>
        </p:spPr>
        <p:txBody>
          <a:bodyPr wrap="square" lIns="22860" rIns="22860" tIns="0" bIns="0">
            <a:spAutoFit/>
          </a:bodyPr>
          <a:lstStyle/>
          <a:p>
            <a:pPr>
              <a:spcAft>
                <a:spcPts val="300"/>
              </a:spcAft>
              <a:defRPr sz="750" b="0">
                <a:solidFill>
                  <a:srgbClr val="0A2373"/>
                </a:solidFill>
                <a:latin typeface="Lato"/>
              </a:defRPr>
            </a:pPr>
            <a:r>
              <a:rPr>
                <a:hlinkClick r:id="rId9"/>
              </a:rPr>
              <a:t>[7] Transnet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a:latin typeface="Lato"/>
              </a:rPr>
              <a:t>Compare published storage capacity by location</a:t>
            </a:r>
          </a:p>
        </p:txBody>
      </p:sp>
      <p:sp>
        <p:nvSpPr>
          <p:cNvPr id="3" name="Slide Number Placeholder"/>
          <p:cNvSpPr>
            <a:spLocks noGrp="1"/>
          </p:cNvSpPr>
          <p:nvPr>
            <p:ph type="sldNum" sz="quarter" idx="12"/>
          </p:nvPr>
        </p:nvSpPr>
        <p:spPr/>
        <p:txBody>
          <a:bodyPr/>
          <a:lstStyle/>
          <a:p>
            <a:fld id="{168D9126-7619-45F6-BB78-8E3A778D2A99}" type="slidenum">
              <a:rPr lang="en-US"/>
              <a:t>‹#›</a:t>
            </a:fld>
          </a:p>
        </p:txBody>
      </p:sp>
      <p:sp>
        <p:nvSpPr>
          <p:cNvPr id="4" name="Section navigation 1"/>
          <p:cNvSpPr/>
          <p:nvPr/>
        </p:nvSpPr>
        <p:spPr>
          <a:xfrm>
            <a:off x="457200"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1  About</a:t>
            </a:r>
          </a:p>
        </p:txBody>
      </p:sp>
      <p:sp>
        <p:nvSpPr>
          <p:cNvPr id="5" name="Section navigation 2"/>
          <p:cNvSpPr/>
          <p:nvPr/>
        </p:nvSpPr>
        <p:spPr>
          <a:xfrm>
            <a:off x="3136392" y="73152"/>
            <a:ext cx="2615184" cy="384048"/>
          </a:xfrm>
          <a:prstGeom prst="chevron">
            <a:avLst>
              <a:gd name="adj" fmla="val 12000"/>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1">
                <a:solidFill>
                  <a:srgbClr val="FFFFFF"/>
                </a:solidFill>
                <a:latin typeface="Lato"/>
              </a:defRPr>
            </a:pPr>
            <a:r>
              <a:t>2  Analytical specifications</a:t>
            </a:r>
          </a:p>
        </p:txBody>
      </p:sp>
      <p:sp>
        <p:nvSpPr>
          <p:cNvPr id="6" name="Section navigation 3"/>
          <p:cNvSpPr/>
          <p:nvPr/>
        </p:nvSpPr>
        <p:spPr>
          <a:xfrm>
            <a:off x="5815584"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3  Model build</a:t>
            </a:r>
          </a:p>
        </p:txBody>
      </p:sp>
      <p:sp>
        <p:nvSpPr>
          <p:cNvPr id="7" name="Section navigation 4"/>
          <p:cNvSpPr/>
          <p:nvPr/>
        </p:nvSpPr>
        <p:spPr>
          <a:xfrm>
            <a:off x="8494776" y="73152"/>
            <a:ext cx="2615184" cy="384048"/>
          </a:xfrm>
          <a:prstGeom prst="chevron">
            <a:avLst>
              <a:gd name="adj" fmla="val 12000"/>
            </a:avLst>
          </a:prstGeom>
          <a:solidFill>
            <a:srgbClr val="EEEEEE"/>
          </a:solidFill>
          <a:ln>
            <a:noFill/>
          </a:ln>
        </p:spPr>
        <p:style>
          <a:lnRef idx="1">
            <a:schemeClr val="accent1"/>
          </a:lnRef>
          <a:fillRef idx="3">
            <a:schemeClr val="accent1"/>
          </a:fillRef>
          <a:effectRef idx="2">
            <a:schemeClr val="accent1"/>
          </a:effectRef>
          <a:fontRef idx="minor">
            <a:schemeClr val="lt1"/>
          </a:fontRef>
        </p:style>
        <p:txBody>
          <a:bodyPr rtlCol="0" anchor="ctr" wrap="none" lIns="164592" rIns="164592" tIns="0" bIns="0"/>
          <a:lstStyle/>
          <a:p>
            <a:pPr algn="ctr">
              <a:defRPr sz="1300" b="0">
                <a:solidFill>
                  <a:srgbClr val="0A2373"/>
                </a:solidFill>
                <a:latin typeface="Lato"/>
              </a:defRPr>
            </a:pPr>
            <a:r>
              <a:t>4  Delivery approach</a:t>
            </a:r>
          </a:p>
        </p:txBody>
      </p:sp>
      <p:sp>
        <p:nvSpPr>
          <p:cNvPr id="8" name="TextBox 7"/>
          <p:cNvSpPr txBox="1"/>
          <p:nvPr/>
        </p:nvSpPr>
        <p:spPr>
          <a:xfrm>
            <a:off x="457200" y="6547104"/>
            <a:ext cx="9692640" cy="210312"/>
          </a:xfrm>
          <a:prstGeom prst="rect">
            <a:avLst/>
          </a:prstGeom>
          <a:noFill/>
        </p:spPr>
        <p:txBody>
          <a:bodyPr wrap="square" lIns="22860" rIns="22860" tIns="0" bIns="0">
            <a:spAutoFit/>
          </a:bodyPr>
          <a:lstStyle/>
          <a:p>
            <a:pPr>
              <a:spcAft>
                <a:spcPts val="300"/>
              </a:spcAft>
              <a:defRPr sz="760" b="0">
                <a:solidFill>
                  <a:srgbClr val="000000"/>
                </a:solidFill>
                <a:latin typeface="Lato"/>
              </a:defRPr>
            </a:pPr>
            <a:r>
              <a:t>Source: Vopak; Bidvest; VTTI Burgan Cape; Transnet lease RFPs (5 Oct 2026), pp. 2–3. Checked 6 Oct 2026.</a:t>
            </a:r>
          </a:p>
        </p:txBody>
      </p:sp>
      <p:sp>
        <p:nvSpPr>
          <p:cNvPr id="9" name="TextBox 8"/>
          <p:cNvSpPr txBox="1"/>
          <p:nvPr/>
        </p:nvSpPr>
        <p:spPr>
          <a:xfrm>
            <a:off x="457200" y="1627632"/>
            <a:ext cx="6446520" cy="310896"/>
          </a:xfrm>
          <a:prstGeom prst="rect">
            <a:avLst/>
          </a:prstGeom>
          <a:noFill/>
        </p:spPr>
        <p:txBody>
          <a:bodyPr wrap="square" lIns="22860" rIns="22860" tIns="0" bIns="0">
            <a:spAutoFit/>
          </a:bodyPr>
          <a:lstStyle/>
          <a:p>
            <a:pPr>
              <a:spcAft>
                <a:spcPts val="300"/>
              </a:spcAft>
              <a:defRPr sz="1500" b="1">
                <a:solidFill>
                  <a:srgbClr val="000000"/>
                </a:solidFill>
                <a:latin typeface="Lato"/>
              </a:defRPr>
            </a:pPr>
            <a:r>
              <a:t>Storage stocks and lease opportunities | thousand m³</a:t>
            </a:r>
          </a:p>
        </p:txBody>
      </p:sp>
      <p:cxnSp>
        <p:nvCxnSpPr>
          <p:cNvPr id="10" name="Connector 9"/>
          <p:cNvCxnSpPr/>
          <p:nvPr/>
        </p:nvCxnSpPr>
        <p:spPr>
          <a:xfrm>
            <a:off x="457200" y="1947672"/>
            <a:ext cx="6446520"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205472" y="1819656"/>
            <a:ext cx="0" cy="4453128"/>
          </a:xfrm>
          <a:prstGeom prst="line">
            <a:avLst/>
          </a:prstGeom>
          <a:ln w="6985">
            <a:solidFill>
              <a:srgbClr val="000000"/>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7424927" y="1627632"/>
            <a:ext cx="3685032" cy="310896"/>
          </a:xfrm>
          <a:prstGeom prst="rect">
            <a:avLst/>
          </a:prstGeom>
          <a:noFill/>
        </p:spPr>
        <p:txBody>
          <a:bodyPr wrap="square" lIns="22860" rIns="22860" tIns="0" bIns="0">
            <a:spAutoFit/>
          </a:bodyPr>
          <a:lstStyle/>
          <a:p>
            <a:pPr>
              <a:spcAft>
                <a:spcPts val="300"/>
              </a:spcAft>
              <a:defRPr sz="1800" b="1">
                <a:solidFill>
                  <a:srgbClr val="000000"/>
                </a:solidFill>
                <a:latin typeface="Lato"/>
              </a:defRPr>
            </a:pPr>
            <a:r>
              <a:t>Key takeaways</a:t>
            </a:r>
          </a:p>
        </p:txBody>
      </p:sp>
      <p:cxnSp>
        <p:nvCxnSpPr>
          <p:cNvPr id="13" name="Connector 12"/>
          <p:cNvCxnSpPr/>
          <p:nvPr/>
        </p:nvCxnSpPr>
        <p:spPr>
          <a:xfrm>
            <a:off x="7424927" y="1947672"/>
            <a:ext cx="3685033" cy="0"/>
          </a:xfrm>
          <a:prstGeom prst="line">
            <a:avLst/>
          </a:prstGeom>
          <a:ln w="8255">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7424927" y="218541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01 · Durban leads this evidenced subset</a:t>
            </a:r>
          </a:p>
        </p:txBody>
      </p:sp>
      <p:sp>
        <p:nvSpPr>
          <p:cNvPr id="15" name="TextBox 14"/>
          <p:cNvSpPr txBox="1"/>
          <p:nvPr/>
        </p:nvSpPr>
        <p:spPr>
          <a:xfrm>
            <a:off x="7424927" y="257860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Published Vopak and Bidvest gross capacity totals 799.6 thousand m³. Mixed products limit the fuel-only comparison.</a:t>
            </a:r>
          </a:p>
        </p:txBody>
      </p:sp>
      <p:sp>
        <p:nvSpPr>
          <p:cNvPr id="16" name="TextBox 15"/>
          <p:cNvSpPr txBox="1"/>
          <p:nvPr/>
        </p:nvSpPr>
        <p:spPr>
          <a:xfrm>
            <a:off x="7424927" y="319125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02 · Five Transnet lease opportunities</a:t>
            </a:r>
          </a:p>
        </p:txBody>
      </p:sp>
      <p:sp>
        <p:nvSpPr>
          <p:cNvPr id="17" name="TextBox 16"/>
          <p:cNvSpPr txBox="1"/>
          <p:nvPr/>
        </p:nvSpPr>
        <p:spPr>
          <a:xfrm>
            <a:off x="7424927" y="358444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Ladysmith, Standerton and Kroonstad have stated capacities. Bethlehem and Magdala remain unquantified, not zero.</a:t>
            </a:r>
          </a:p>
        </p:txBody>
      </p:sp>
      <p:sp>
        <p:nvSpPr>
          <p:cNvPr id="18" name="TextBox 17"/>
          <p:cNvSpPr txBox="1"/>
          <p:nvPr/>
        </p:nvSpPr>
        <p:spPr>
          <a:xfrm>
            <a:off x="7424927" y="419709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03 · Capacity bases must stay visible</a:t>
            </a:r>
          </a:p>
        </p:txBody>
      </p:sp>
      <p:sp>
        <p:nvSpPr>
          <p:cNvPr id="19" name="TextBox 18"/>
          <p:cNvSpPr txBox="1"/>
          <p:nvPr/>
        </p:nvSpPr>
        <p:spPr>
          <a:xfrm>
            <a:off x="7424927" y="459028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Ladysmith shows petrol/diesel working capacity. Kroonstad and Standerton have RFP-stated tank capacities; gross/working basis is unspecified.</a:t>
            </a:r>
          </a:p>
        </p:txBody>
      </p:sp>
      <p:sp>
        <p:nvSpPr>
          <p:cNvPr id="20" name="TextBox 19"/>
          <p:cNvSpPr txBox="1"/>
          <p:nvPr/>
        </p:nvSpPr>
        <p:spPr>
          <a:xfrm>
            <a:off x="7424927" y="5202936"/>
            <a:ext cx="3703320" cy="374904"/>
          </a:xfrm>
          <a:prstGeom prst="rect">
            <a:avLst/>
          </a:prstGeom>
          <a:noFill/>
        </p:spPr>
        <p:txBody>
          <a:bodyPr wrap="square" lIns="22860" rIns="22860" tIns="0" bIns="0">
            <a:spAutoFit/>
          </a:bodyPr>
          <a:lstStyle/>
          <a:p>
            <a:pPr>
              <a:spcAft>
                <a:spcPts val="300"/>
              </a:spcAft>
              <a:defRPr sz="1400" b="1">
                <a:solidFill>
                  <a:srgbClr val="0A2373"/>
                </a:solidFill>
                <a:latin typeface="Lato"/>
              </a:defRPr>
            </a:pPr>
            <a:r>
              <a:t>04 · Lease offers require reactivation</a:t>
            </a:r>
          </a:p>
        </p:txBody>
      </p:sp>
      <p:sp>
        <p:nvSpPr>
          <p:cNvPr id="21" name="TextBox 20"/>
          <p:cNvSpPr txBox="1"/>
          <p:nvPr/>
        </p:nvSpPr>
        <p:spPr>
          <a:xfrm>
            <a:off x="7424927" y="5596128"/>
            <a:ext cx="3703320" cy="585216"/>
          </a:xfrm>
          <a:prstGeom prst="rect">
            <a:avLst/>
          </a:prstGeom>
          <a:noFill/>
        </p:spPr>
        <p:txBody>
          <a:bodyPr wrap="square" lIns="22860" rIns="22860" tIns="0" bIns="0">
            <a:spAutoFit/>
          </a:bodyPr>
          <a:lstStyle/>
          <a:p>
            <a:pPr>
              <a:spcAft>
                <a:spcPts val="300"/>
              </a:spcAft>
              <a:defRPr sz="1250" b="0">
                <a:solidFill>
                  <a:srgbClr val="000000"/>
                </a:solidFill>
                <a:latin typeface="Lato"/>
              </a:defRPr>
            </a:pPr>
            <a:r>
              <a:t>Do not count these tanks as operating supply. Test refurbishment, receipt/dispatch, licensing and lease award. RFP close: 4 Dec 2026.</a:t>
            </a:r>
          </a:p>
        </p:txBody>
      </p:sp>
      <p:sp>
        <p:nvSpPr>
          <p:cNvPr id="22" name="TextBox 21"/>
          <p:cNvSpPr txBox="1"/>
          <p:nvPr/>
        </p:nvSpPr>
        <p:spPr>
          <a:xfrm>
            <a:off x="457200" y="2167128"/>
            <a:ext cx="6446520" cy="2103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Published gross capacity | mixed product scopes</a:t>
            </a:r>
          </a:p>
        </p:txBody>
      </p:sp>
      <p:cxnSp>
        <p:nvCxnSpPr>
          <p:cNvPr id="23" name="Connector 22"/>
          <p:cNvCxnSpPr/>
          <p:nvPr/>
        </p:nvCxnSpPr>
        <p:spPr>
          <a:xfrm>
            <a:off x="2029968" y="2615184"/>
            <a:ext cx="0" cy="1609344"/>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1892808" y="2404872"/>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a:t>
            </a:r>
          </a:p>
        </p:txBody>
      </p:sp>
      <p:cxnSp>
        <p:nvCxnSpPr>
          <p:cNvPr id="25" name="Connector 24"/>
          <p:cNvCxnSpPr/>
          <p:nvPr/>
        </p:nvCxnSpPr>
        <p:spPr>
          <a:xfrm>
            <a:off x="3026126" y="2615184"/>
            <a:ext cx="0" cy="1609344"/>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2888966" y="2404872"/>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200</a:t>
            </a:r>
          </a:p>
        </p:txBody>
      </p:sp>
      <p:cxnSp>
        <p:nvCxnSpPr>
          <p:cNvPr id="27" name="Connector 26"/>
          <p:cNvCxnSpPr/>
          <p:nvPr/>
        </p:nvCxnSpPr>
        <p:spPr>
          <a:xfrm>
            <a:off x="4022284" y="2615184"/>
            <a:ext cx="0" cy="1609344"/>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3885124" y="2404872"/>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400</a:t>
            </a:r>
          </a:p>
        </p:txBody>
      </p:sp>
      <p:cxnSp>
        <p:nvCxnSpPr>
          <p:cNvPr id="29" name="Connector 28"/>
          <p:cNvCxnSpPr/>
          <p:nvPr/>
        </p:nvCxnSpPr>
        <p:spPr>
          <a:xfrm>
            <a:off x="5018442" y="2615184"/>
            <a:ext cx="0" cy="1609344"/>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881282" y="2404872"/>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600</a:t>
            </a:r>
          </a:p>
        </p:txBody>
      </p:sp>
      <p:cxnSp>
        <p:nvCxnSpPr>
          <p:cNvPr id="31" name="Connector 30"/>
          <p:cNvCxnSpPr/>
          <p:nvPr/>
        </p:nvCxnSpPr>
        <p:spPr>
          <a:xfrm>
            <a:off x="6014600" y="2615184"/>
            <a:ext cx="0" cy="1609344"/>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877440" y="2404872"/>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800</a:t>
            </a:r>
          </a:p>
        </p:txBody>
      </p:sp>
      <p:sp>
        <p:nvSpPr>
          <p:cNvPr id="33" name="TextBox 32"/>
          <p:cNvSpPr txBox="1"/>
          <p:nvPr/>
        </p:nvSpPr>
        <p:spPr>
          <a:xfrm>
            <a:off x="457200" y="2670048"/>
            <a:ext cx="1508760" cy="219456"/>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Durban</a:t>
            </a:r>
          </a:p>
        </p:txBody>
      </p:sp>
      <p:sp>
        <p:nvSpPr>
          <p:cNvPr id="34" name="Published gross capacity: Vopak Durban: 360246 m3"/>
          <p:cNvSpPr/>
          <p:nvPr/>
        </p:nvSpPr>
        <p:spPr>
          <a:xfrm>
            <a:off x="2029968" y="2670048"/>
            <a:ext cx="1794309"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Published gross capacity: Bidvest Tank Terminals Durban: 439306 m3"/>
          <p:cNvSpPr/>
          <p:nvPr/>
        </p:nvSpPr>
        <p:spPr>
          <a:xfrm>
            <a:off x="3824277" y="2670048"/>
            <a:ext cx="2188091"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085521" y="2670048"/>
            <a:ext cx="566928" cy="219456"/>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799.6</a:t>
            </a:r>
          </a:p>
        </p:txBody>
      </p:sp>
      <p:sp>
        <p:nvSpPr>
          <p:cNvPr id="37" name="TextBox 36"/>
          <p:cNvSpPr txBox="1"/>
          <p:nvPr/>
        </p:nvSpPr>
        <p:spPr>
          <a:xfrm>
            <a:off x="457200" y="2980944"/>
            <a:ext cx="1508760" cy="219456"/>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Richards Bay</a:t>
            </a:r>
          </a:p>
        </p:txBody>
      </p:sp>
      <p:sp>
        <p:nvSpPr>
          <p:cNvPr id="38" name="Published gross capacity: Bidvest Tank Terminals Richards Bay: 483797 m3"/>
          <p:cNvSpPr/>
          <p:nvPr/>
        </p:nvSpPr>
        <p:spPr>
          <a:xfrm>
            <a:off x="2029968" y="2980944"/>
            <a:ext cx="2409691"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12811" y="2980944"/>
            <a:ext cx="566928" cy="219456"/>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483.8</a:t>
            </a:r>
          </a:p>
        </p:txBody>
      </p:sp>
      <p:sp>
        <p:nvSpPr>
          <p:cNvPr id="40" name="TextBox 39"/>
          <p:cNvSpPr txBox="1"/>
          <p:nvPr/>
        </p:nvSpPr>
        <p:spPr>
          <a:xfrm>
            <a:off x="457200" y="3291840"/>
            <a:ext cx="1508760" cy="219456"/>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Lesedi</a:t>
            </a:r>
          </a:p>
        </p:txBody>
      </p:sp>
      <p:sp>
        <p:nvSpPr>
          <p:cNvPr id="41" name="Published gross capacity: Vopak Lesedi: 140000 m3"/>
          <p:cNvSpPr/>
          <p:nvPr/>
        </p:nvSpPr>
        <p:spPr>
          <a:xfrm>
            <a:off x="2029968" y="3291840"/>
            <a:ext cx="697310" cy="210312"/>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2800430" y="3291840"/>
            <a:ext cx="566928" cy="219456"/>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140.0</a:t>
            </a:r>
          </a:p>
        </p:txBody>
      </p:sp>
      <p:sp>
        <p:nvSpPr>
          <p:cNvPr id="43" name="TextBox 42"/>
          <p:cNvSpPr txBox="1"/>
          <p:nvPr/>
        </p:nvSpPr>
        <p:spPr>
          <a:xfrm>
            <a:off x="457200" y="3602736"/>
            <a:ext cx="1508760" cy="219456"/>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Cape Town</a:t>
            </a:r>
          </a:p>
        </p:txBody>
      </p:sp>
      <p:sp>
        <p:nvSpPr>
          <p:cNvPr id="44" name="Published gross capacity: VTTI Burgan Cape Terminal Cape Town: 122000 m3"/>
          <p:cNvSpPr/>
          <p:nvPr/>
        </p:nvSpPr>
        <p:spPr>
          <a:xfrm>
            <a:off x="2029968" y="3602736"/>
            <a:ext cx="607656" cy="210312"/>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2710776" y="3602736"/>
            <a:ext cx="566928" cy="219456"/>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122.0</a:t>
            </a:r>
          </a:p>
        </p:txBody>
      </p:sp>
      <p:sp>
        <p:nvSpPr>
          <p:cNvPr id="46" name="TextBox 45"/>
          <p:cNvSpPr txBox="1"/>
          <p:nvPr/>
        </p:nvSpPr>
        <p:spPr>
          <a:xfrm>
            <a:off x="457200" y="3913632"/>
            <a:ext cx="1508760" cy="219456"/>
          </a:xfrm>
          <a:prstGeom prst="rect">
            <a:avLst/>
          </a:prstGeom>
          <a:noFill/>
        </p:spPr>
        <p:txBody>
          <a:bodyPr wrap="square" lIns="22860" rIns="22860" tIns="0" bIns="0">
            <a:spAutoFit/>
          </a:bodyPr>
          <a:lstStyle/>
          <a:p>
            <a:pPr>
              <a:spcAft>
                <a:spcPts val="300"/>
              </a:spcAft>
              <a:defRPr sz="1100" b="1">
                <a:solidFill>
                  <a:srgbClr val="000000"/>
                </a:solidFill>
                <a:latin typeface="Lato"/>
              </a:defRPr>
            </a:pPr>
            <a:r>
              <a:t>Isando</a:t>
            </a:r>
          </a:p>
        </p:txBody>
      </p:sp>
      <p:sp>
        <p:nvSpPr>
          <p:cNvPr id="47" name="Published gross capacity: Bidvest Tank Terminals Isando: 32500 m3"/>
          <p:cNvSpPr/>
          <p:nvPr/>
        </p:nvSpPr>
        <p:spPr>
          <a:xfrm>
            <a:off x="2029968" y="3913632"/>
            <a:ext cx="161875" cy="210312"/>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2264995" y="3913632"/>
            <a:ext cx="566928" cy="219456"/>
          </a:xfrm>
          <a:prstGeom prst="rect">
            <a:avLst/>
          </a:prstGeom>
          <a:noFill/>
        </p:spPr>
        <p:txBody>
          <a:bodyPr wrap="square" lIns="22860" rIns="22860" tIns="0" bIns="0">
            <a:spAutoFit/>
          </a:bodyPr>
          <a:lstStyle/>
          <a:p>
            <a:pPr>
              <a:spcAft>
                <a:spcPts val="300"/>
              </a:spcAft>
              <a:defRPr sz="1050" b="1">
                <a:solidFill>
                  <a:srgbClr val="000000"/>
                </a:solidFill>
                <a:latin typeface="Lato"/>
              </a:defRPr>
            </a:pPr>
            <a:r>
              <a:t>32.5</a:t>
            </a:r>
          </a:p>
        </p:txBody>
      </p:sp>
      <p:sp>
        <p:nvSpPr>
          <p:cNvPr id="49" name="Rectangle 48"/>
          <p:cNvSpPr/>
          <p:nvPr/>
        </p:nvSpPr>
        <p:spPr>
          <a:xfrm>
            <a:off x="457200" y="4370832"/>
            <a:ext cx="100584" cy="100584"/>
          </a:xfrm>
          <a:prstGeom prst="rect">
            <a:avLst/>
          </a:prstGeom>
          <a:solidFill>
            <a:srgbClr val="0A23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1792" y="4315968"/>
            <a:ext cx="155448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Vopak</a:t>
            </a:r>
          </a:p>
        </p:txBody>
      </p:sp>
      <p:sp>
        <p:nvSpPr>
          <p:cNvPr id="51" name="Rectangle 50"/>
          <p:cNvSpPr/>
          <p:nvPr/>
        </p:nvSpPr>
        <p:spPr>
          <a:xfrm>
            <a:off x="2194560" y="4370832"/>
            <a:ext cx="100584" cy="100584"/>
          </a:xfrm>
          <a:prstGeom prst="rect">
            <a:avLst/>
          </a:prstGeom>
          <a:solidFill>
            <a:srgbClr val="809C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2359152" y="4315968"/>
            <a:ext cx="155448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Bidvest</a:t>
            </a:r>
          </a:p>
        </p:txBody>
      </p:sp>
      <p:sp>
        <p:nvSpPr>
          <p:cNvPr id="53" name="Rectangle 52"/>
          <p:cNvSpPr/>
          <p:nvPr/>
        </p:nvSpPr>
        <p:spPr>
          <a:xfrm>
            <a:off x="4023360" y="4370832"/>
            <a:ext cx="100584" cy="100584"/>
          </a:xfrm>
          <a:prstGeom prst="rect">
            <a:avLst/>
          </a:prstGeom>
          <a:solidFill>
            <a:srgbClr val="BACCE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4187952" y="4315968"/>
            <a:ext cx="1554480" cy="210312"/>
          </a:xfrm>
          <a:prstGeom prst="rect">
            <a:avLst/>
          </a:prstGeom>
          <a:noFill/>
        </p:spPr>
        <p:txBody>
          <a:bodyPr wrap="square" lIns="22860" rIns="22860" tIns="0" bIns="0">
            <a:spAutoFit/>
          </a:bodyPr>
          <a:lstStyle/>
          <a:p>
            <a:pPr>
              <a:spcAft>
                <a:spcPts val="300"/>
              </a:spcAft>
              <a:defRPr sz="900" b="0">
                <a:solidFill>
                  <a:srgbClr val="000000"/>
                </a:solidFill>
                <a:latin typeface="Lato"/>
              </a:defRPr>
            </a:pPr>
            <a:r>
              <a:t>Burgan Cape</a:t>
            </a:r>
          </a:p>
        </p:txBody>
      </p:sp>
      <p:sp>
        <p:nvSpPr>
          <p:cNvPr id="55" name="TextBox 54"/>
          <p:cNvSpPr txBox="1"/>
          <p:nvPr/>
        </p:nvSpPr>
        <p:spPr>
          <a:xfrm>
            <a:off x="457200" y="4599432"/>
            <a:ext cx="6446520" cy="219456"/>
          </a:xfrm>
          <a:prstGeom prst="rect">
            <a:avLst/>
          </a:prstGeom>
          <a:noFill/>
        </p:spPr>
        <p:txBody>
          <a:bodyPr wrap="square" lIns="22860" rIns="22860" tIns="0" bIns="0">
            <a:spAutoFit/>
          </a:bodyPr>
          <a:lstStyle/>
          <a:p>
            <a:pPr>
              <a:spcAft>
                <a:spcPts val="300"/>
              </a:spcAft>
              <a:defRPr sz="1000" b="1">
                <a:solidFill>
                  <a:srgbClr val="0A2373"/>
                </a:solidFill>
                <a:latin typeface="Lato"/>
              </a:defRPr>
            </a:pPr>
            <a:r>
              <a:t>Transnet lease opportunities | enlarged scale; not operating supply</a:t>
            </a:r>
          </a:p>
        </p:txBody>
      </p:sp>
      <p:cxnSp>
        <p:nvCxnSpPr>
          <p:cNvPr id="56" name="Connector 55"/>
          <p:cNvCxnSpPr/>
          <p:nvPr/>
        </p:nvCxnSpPr>
        <p:spPr>
          <a:xfrm>
            <a:off x="2029968" y="5093208"/>
            <a:ext cx="0" cy="85953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57" name="TextBox 56"/>
          <p:cNvSpPr txBox="1"/>
          <p:nvPr/>
        </p:nvSpPr>
        <p:spPr>
          <a:xfrm>
            <a:off x="1892808" y="4864608"/>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0</a:t>
            </a:r>
          </a:p>
        </p:txBody>
      </p:sp>
      <p:cxnSp>
        <p:nvCxnSpPr>
          <p:cNvPr id="58" name="Connector 57"/>
          <p:cNvCxnSpPr/>
          <p:nvPr/>
        </p:nvCxnSpPr>
        <p:spPr>
          <a:xfrm>
            <a:off x="2876702" y="5093208"/>
            <a:ext cx="0" cy="85953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2739542" y="4864608"/>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2</a:t>
            </a:r>
          </a:p>
        </p:txBody>
      </p:sp>
      <p:cxnSp>
        <p:nvCxnSpPr>
          <p:cNvPr id="60" name="Connector 59"/>
          <p:cNvCxnSpPr/>
          <p:nvPr/>
        </p:nvCxnSpPr>
        <p:spPr>
          <a:xfrm>
            <a:off x="3723436" y="5093208"/>
            <a:ext cx="0" cy="85953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3586276" y="4864608"/>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4</a:t>
            </a:r>
          </a:p>
        </p:txBody>
      </p:sp>
      <p:cxnSp>
        <p:nvCxnSpPr>
          <p:cNvPr id="62" name="Connector 61"/>
          <p:cNvCxnSpPr/>
          <p:nvPr/>
        </p:nvCxnSpPr>
        <p:spPr>
          <a:xfrm>
            <a:off x="4570171" y="5093208"/>
            <a:ext cx="0" cy="85953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4433011" y="4864608"/>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6</a:t>
            </a:r>
          </a:p>
        </p:txBody>
      </p:sp>
      <p:cxnSp>
        <p:nvCxnSpPr>
          <p:cNvPr id="64" name="Connector 63"/>
          <p:cNvCxnSpPr/>
          <p:nvPr/>
        </p:nvCxnSpPr>
        <p:spPr>
          <a:xfrm>
            <a:off x="5416905" y="5093208"/>
            <a:ext cx="0" cy="85953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65" name="TextBox 64"/>
          <p:cNvSpPr txBox="1"/>
          <p:nvPr/>
        </p:nvSpPr>
        <p:spPr>
          <a:xfrm>
            <a:off x="5279745" y="4864608"/>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8</a:t>
            </a:r>
          </a:p>
        </p:txBody>
      </p:sp>
      <p:cxnSp>
        <p:nvCxnSpPr>
          <p:cNvPr id="66" name="Connector 65"/>
          <p:cNvCxnSpPr/>
          <p:nvPr/>
        </p:nvCxnSpPr>
        <p:spPr>
          <a:xfrm>
            <a:off x="6263640" y="5093208"/>
            <a:ext cx="0" cy="859536"/>
          </a:xfrm>
          <a:prstGeom prst="line">
            <a:avLst/>
          </a:prstGeom>
          <a:ln w="6350">
            <a:solidFill>
              <a:srgbClr val="EEEEEE"/>
            </a:solidFill>
          </a:ln>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126479" y="4864608"/>
            <a:ext cx="384048" cy="182880"/>
          </a:xfrm>
          <a:prstGeom prst="rect">
            <a:avLst/>
          </a:prstGeom>
          <a:noFill/>
        </p:spPr>
        <p:txBody>
          <a:bodyPr wrap="square" lIns="22860" rIns="22860" tIns="0" bIns="0">
            <a:spAutoFit/>
          </a:bodyPr>
          <a:lstStyle/>
          <a:p>
            <a:pPr>
              <a:spcAft>
                <a:spcPts val="300"/>
              </a:spcAft>
              <a:defRPr sz="850" b="0">
                <a:solidFill>
                  <a:srgbClr val="000000"/>
                </a:solidFill>
                <a:latin typeface="Lato"/>
              </a:defRPr>
            </a:pPr>
            <a:r>
              <a:t>10</a:t>
            </a:r>
          </a:p>
        </p:txBody>
      </p:sp>
      <p:sp>
        <p:nvSpPr>
          <p:cNvPr id="68" name="TextBox 67"/>
          <p:cNvSpPr txBox="1"/>
          <p:nvPr/>
        </p:nvSpPr>
        <p:spPr>
          <a:xfrm>
            <a:off x="457200" y="5120640"/>
            <a:ext cx="1508760" cy="219456"/>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Ladysmith*</a:t>
            </a:r>
          </a:p>
        </p:txBody>
      </p:sp>
      <p:sp>
        <p:nvSpPr>
          <p:cNvPr id="69" name="Transnet lease offer: Ladysmith: 8540 m3; Petrol/diesel working capacity; excludes 474 m3 intermixture"/>
          <p:cNvSpPr/>
          <p:nvPr/>
        </p:nvSpPr>
        <p:spPr>
          <a:xfrm>
            <a:off x="2029968" y="5120640"/>
            <a:ext cx="3615555" cy="182880"/>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5718675" y="5120640"/>
            <a:ext cx="566928" cy="2103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8.54</a:t>
            </a:r>
          </a:p>
        </p:txBody>
      </p:sp>
      <p:sp>
        <p:nvSpPr>
          <p:cNvPr id="71" name="TextBox 70"/>
          <p:cNvSpPr txBox="1"/>
          <p:nvPr/>
        </p:nvSpPr>
        <p:spPr>
          <a:xfrm>
            <a:off x="457200" y="5385816"/>
            <a:ext cx="1508760" cy="219456"/>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Kroonstad</a:t>
            </a:r>
          </a:p>
        </p:txBody>
      </p:sp>
      <p:sp>
        <p:nvSpPr>
          <p:cNvPr id="72" name="Transnet lease offer: Kroonstad: 3300 m3; Approximate RFP stated storage capacity; gross/working basis unspecified"/>
          <p:cNvSpPr/>
          <p:nvPr/>
        </p:nvSpPr>
        <p:spPr>
          <a:xfrm>
            <a:off x="2029968" y="5385816"/>
            <a:ext cx="1397111" cy="182880"/>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500231" y="5385816"/>
            <a:ext cx="566928" cy="2103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3.30</a:t>
            </a:r>
          </a:p>
        </p:txBody>
      </p:sp>
      <p:sp>
        <p:nvSpPr>
          <p:cNvPr id="74" name="TextBox 73"/>
          <p:cNvSpPr txBox="1"/>
          <p:nvPr/>
        </p:nvSpPr>
        <p:spPr>
          <a:xfrm>
            <a:off x="457200" y="5650992"/>
            <a:ext cx="1508760" cy="219456"/>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Standerton</a:t>
            </a:r>
          </a:p>
        </p:txBody>
      </p:sp>
      <p:sp>
        <p:nvSpPr>
          <p:cNvPr id="75" name="Transnet lease offer: Standerton: 2353 m3; RFP stated tank capacities; gross/working basis unspecified"/>
          <p:cNvSpPr/>
          <p:nvPr/>
        </p:nvSpPr>
        <p:spPr>
          <a:xfrm>
            <a:off x="2029968" y="5650992"/>
            <a:ext cx="996183" cy="182880"/>
          </a:xfrm>
          <a:prstGeom prst="rect">
            <a:avLst/>
          </a:prstGeom>
          <a:solidFill>
            <a:srgbClr val="E3EBF6"/>
          </a:solidFill>
          <a:ln w="10160">
            <a:solidFill>
              <a:srgbClr val="0A237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3099303" y="5650992"/>
            <a:ext cx="566928" cy="210312"/>
          </a:xfrm>
          <a:prstGeom prst="rect">
            <a:avLst/>
          </a:prstGeom>
          <a:noFill/>
        </p:spPr>
        <p:txBody>
          <a:bodyPr wrap="square" lIns="22860" rIns="22860" tIns="0" bIns="0">
            <a:spAutoFit/>
          </a:bodyPr>
          <a:lstStyle/>
          <a:p>
            <a:pPr>
              <a:spcAft>
                <a:spcPts val="300"/>
              </a:spcAft>
              <a:defRPr sz="1000" b="1">
                <a:solidFill>
                  <a:srgbClr val="000000"/>
                </a:solidFill>
                <a:latin typeface="Lato"/>
              </a:defRPr>
            </a:pPr>
            <a:r>
              <a:t>2.35</a:t>
            </a:r>
          </a:p>
        </p:txBody>
      </p:sp>
      <p:sp>
        <p:nvSpPr>
          <p:cNvPr id="77" name="TextBox 76"/>
          <p:cNvSpPr txBox="1"/>
          <p:nvPr/>
        </p:nvSpPr>
        <p:spPr>
          <a:xfrm>
            <a:off x="457200" y="6016752"/>
            <a:ext cx="6446520" cy="228600"/>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*Ladysmith: petrol/diesel working; excludes 0.474 intermixture. Other lease tank bases unspecified.</a:t>
            </a:r>
          </a:p>
        </p:txBody>
      </p:sp>
      <p:sp>
        <p:nvSpPr>
          <p:cNvPr id="78" name="TextBox 77"/>
          <p:cNvSpPr txBox="1"/>
          <p:nvPr/>
        </p:nvSpPr>
        <p:spPr>
          <a:xfrm>
            <a:off x="457200" y="6272784"/>
            <a:ext cx="6446520" cy="219456"/>
          </a:xfrm>
          <a:prstGeom prst="rect">
            <a:avLst/>
          </a:prstGeom>
          <a:noFill/>
        </p:spPr>
        <p:txBody>
          <a:bodyPr wrap="square" lIns="22860" rIns="22860" tIns="0" bIns="0">
            <a:spAutoFit/>
          </a:bodyPr>
          <a:lstStyle/>
          <a:p>
            <a:pPr>
              <a:spcAft>
                <a:spcPts val="300"/>
              </a:spcAft>
              <a:defRPr sz="800" b="0">
                <a:solidFill>
                  <a:srgbClr val="000000"/>
                </a:solidFill>
                <a:latin typeface="Lato"/>
              </a:defRPr>
            </a:pPr>
            <a:r>
              <a:t>Unquantified: Bethlehem, Magdala, Sasol depots, Tarlton and Jameson Park. Stock ≠ throughput.</a:t>
            </a:r>
          </a:p>
        </p:txBody>
      </p:sp>
    </p:spTree>
  </p:cSld>
  <p:clrMapOvr>
    <a:masterClrMapping/>
  </p:clrMapOvr>
</p:sld>
</file>

<file path=ppt/theme/theme1.xml><?xml version="1.0" encoding="utf-8"?>
<a:theme xmlns:a="http://schemas.openxmlformats.org/drawingml/2006/main" name="Vopak Theme">
  <a:themeElements>
    <a:clrScheme name="Vopak">
      <a:dk1>
        <a:srgbClr val="000000"/>
      </a:dk1>
      <a:lt1>
        <a:srgbClr val="FFFFFF"/>
      </a:lt1>
      <a:dk2>
        <a:srgbClr val="11151A"/>
      </a:dk2>
      <a:lt2>
        <a:srgbClr val="E7E6E6"/>
      </a:lt2>
      <a:accent1>
        <a:srgbClr val="0A2373"/>
      </a:accent1>
      <a:accent2>
        <a:srgbClr val="546CA2"/>
      </a:accent2>
      <a:accent3>
        <a:srgbClr val="BDBEC1"/>
      </a:accent3>
      <a:accent4>
        <a:srgbClr val="404040"/>
      </a:accent4>
      <a:accent5>
        <a:srgbClr val="767676"/>
      </a:accent5>
      <a:accent6>
        <a:srgbClr val="D9D9D9"/>
      </a:accent6>
      <a:hlink>
        <a:srgbClr val="0A2373"/>
      </a:hlink>
      <a:folHlink>
        <a:srgbClr val="546CA2"/>
      </a:folHlink>
    </a:clrScheme>
    <a:fontScheme name="AIA_2017">
      <a:majorFont>
        <a:latin typeface="Lato"/>
        <a:ea typeface=""/>
        <a:cs typeface=""/>
      </a:majorFont>
      <a:minorFont>
        <a:latin typeface="Lato"/>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opak Theme" id="{EB158558-B090-4A15-9406-52ADAF46E73D}" vid="{169915E9-BA5A-4298-BC78-09D6818817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729E3C0-DBBA-4E87-A833-D4D671FDC2D1}">
  <we:reference id="WA200010725" version="1.0.0.1" store="Omex" storeType="OMEX"/>
  <we:alternateReferences>
    <we:reference id="WA200010725" version="1.0.0.1" store="WA200010725" storeType="OMEX"/>
  </we:alternateReferences>
  <we:properties>
    <we:property name="claude.fileId" value="&quot;440e1679-9fef-4664-be92-b7e3c5432c29&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B14DAA3CC024F49A081857B4C9CD92A" ma:contentTypeVersion="20" ma:contentTypeDescription="Create a new document." ma:contentTypeScope="" ma:versionID="cdb2463664abbc9cc5ebc4769b50ad18">
  <xsd:schema xmlns:xsd="http://www.w3.org/2001/XMLSchema" xmlns:xs="http://www.w3.org/2001/XMLSchema" xmlns:p="http://schemas.microsoft.com/office/2006/metadata/properties" xmlns:ns2="265cb39c-7109-435c-af5d-13dc21a2db6b" xmlns:ns3="62b85a0e-09bb-4b0f-bd28-e34020cdc070" targetNamespace="http://schemas.microsoft.com/office/2006/metadata/properties" ma:root="true" ma:fieldsID="ee545d7bb76dd121542a05c73fb4a941" ns2:_="" ns3:_="">
    <xsd:import namespace="265cb39c-7109-435c-af5d-13dc21a2db6b"/>
    <xsd:import namespace="62b85a0e-09bb-4b0f-bd28-e34020cdc070"/>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Location"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Archive"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5cb39c-7109-435c-af5d-13dc21a2db6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lcf76f155ced4ddcb4097134ff3c332f" ma:index="22" nillable="true" ma:taxonomy="true" ma:internalName="lcf76f155ced4ddcb4097134ff3c332f" ma:taxonomyFieldName="MediaServiceImageTags" ma:displayName="Image Tags" ma:readOnly="false" ma:fieldId="{5cf76f15-5ced-4ddc-b409-7134ff3c332f}" ma:taxonomyMulti="true" ma:sspId="df3d1728-64fa-4f01-bb7d-5585de3a980b"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Archive" ma:index="26" nillable="true" ma:displayName="Archive" ma:default="0" ma:description="Folder to be backed up, archived and removed from SharePoint" ma:format="Dropdown" ma:internalName="Archive">
      <xsd:simpleType>
        <xsd:restriction base="dms:Boolean"/>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62b85a0e-09bb-4b0f-bd28-e34020cdc070"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element name="TaxCatchAll" ma:index="23" nillable="true" ma:displayName="Taxonomy Catch All Column" ma:hidden="true" ma:list="{744b13c9-2708-4b8b-a658-00962d7928c2}" ma:internalName="TaxCatchAll" ma:showField="CatchAllData" ma:web="62b85a0e-09bb-4b0f-bd28-e34020cdc070">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265cb39c-7109-435c-af5d-13dc21a2db6b">
      <Terms xmlns="http://schemas.microsoft.com/office/infopath/2007/PartnerControls"/>
    </lcf76f155ced4ddcb4097134ff3c332f>
    <TaxCatchAll xmlns="62b85a0e-09bb-4b0f-bd28-e34020cdc070" xsi:nil="true"/>
    <SharedWithUsers xmlns="62b85a0e-09bb-4b0f-bd28-e34020cdc070">
      <UserInfo>
        <DisplayName>Joseph Kihara</DisplayName>
        <AccountId>3747</AccountId>
        <AccountType/>
      </UserInfo>
    </SharedWithUsers>
    <Archive xmlns="265cb39c-7109-435c-af5d-13dc21a2db6b">false</Archive>
  </documentManagement>
</p:properties>
</file>

<file path=customXml/itemProps1.xml><?xml version="1.0" encoding="utf-8"?>
<ds:datastoreItem xmlns:ds="http://schemas.openxmlformats.org/officeDocument/2006/customXml" ds:itemID="{1E0AC09D-7AB9-4C7E-89AA-55CFDED1BCB9}">
  <ds:schemaRefs>
    <ds:schemaRef ds:uri="http://schemas.microsoft.com/sharepoint/v3/contenttype/forms"/>
  </ds:schemaRefs>
</ds:datastoreItem>
</file>

<file path=customXml/itemProps2.xml><?xml version="1.0" encoding="utf-8"?>
<ds:datastoreItem xmlns:ds="http://schemas.openxmlformats.org/officeDocument/2006/customXml" ds:itemID="{1B9F3023-3460-4C94-AC6C-4F171062BD4F}">
  <ds:schemaRefs>
    <ds:schemaRef ds:uri="265cb39c-7109-435c-af5d-13dc21a2db6b"/>
    <ds:schemaRef ds:uri="62b85a0e-09bb-4b0f-bd28-e34020cdc070"/>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9FA9FA0-2CB2-436E-A336-3A77ADFE4CF1}">
  <ds:schemaRefs>
    <ds:schemaRef ds:uri="http://purl.org/dc/terms/"/>
    <ds:schemaRef ds:uri="http://schemas.microsoft.com/office/infopath/2007/PartnerControls"/>
    <ds:schemaRef ds:uri="http://purl.org/dc/dcmitype/"/>
    <ds:schemaRef ds:uri="http://schemas.openxmlformats.org/package/2006/metadata/core-properties"/>
    <ds:schemaRef ds:uri="http://schemas.microsoft.com/office/2006/metadata/properties"/>
    <ds:schemaRef ds:uri="http://schemas.microsoft.com/office/2006/documentManagement/types"/>
    <ds:schemaRef ds:uri="265cb39c-7109-435c-af5d-13dc21a2db6b"/>
    <ds:schemaRef ds:uri="http://purl.org/dc/elements/1.1/"/>
    <ds:schemaRef ds:uri="62b85a0e-09bb-4b0f-bd28-e34020cdc070"/>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Vopak Theme</Template>
  <TotalTime>0</TotalTime>
  <Words>15</Words>
  <Application>Microsoft Office PowerPoint</Application>
  <PresentationFormat>Custom</PresentationFormat>
  <Paragraphs>4</Paragraphs>
  <Slides>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Arial</vt:lpstr>
      <vt:lpstr>Calibri</vt:lpstr>
      <vt:lpstr>Lato</vt:lpstr>
      <vt:lpstr>Vopak Theme</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South Africa liquid fuels: Week 1 analytical maps</dc:title>
  <dc:creator>Africa International Advisors</dc:creator>
  <cp:lastModifiedBy>Nigel Zhuwaki</cp:lastModifiedBy>
  <cp:revision>1</cp:revision>
  <dcterms:created xsi:type="dcterms:W3CDTF">2017-11-16T09:19:07Z</dcterms:created>
  <dcterms:modified xsi:type="dcterms:W3CDTF">2026-10-01T12:10:22Z</dcterms:modified>
  <dc:subject>Illustrative demand geography and conditional Vopak market access</dc:subject>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0x010100BB14DAA3CC024F49A081857B4C9CD92A</vt:lpwstr>
  </property>
  <property fmtid="{D5CDD505-2E9C-101B-9397-08002B2CF9AE}" pid="3" name="MediaServiceImageTags">
    <vt:lpwstr/>
  </property>
</Properties>
</file>