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2" r:id="rId17"/>
    <p:sldId id="263" r:id="rId6"/>
    <p:sldId id="268" r:id="rId23"/>
    <p:sldId id="264" r:id="rId19"/>
    <p:sldId id="269" r:id="rId24"/>
    <p:sldId id="270" r:id="rId25"/>
    <p:sldId id="258" r:id="rId5"/>
    <p:sldId id="271" r:id="rId26"/>
    <p:sldId id="259" r:id="rId16"/>
    <p:sldId id="265" r:id="rId20"/>
    <p:sldId id="272" r:id="rId27"/>
    <p:sldId id="266" r:id="rId21"/>
    <p:sldId id="273" r:id="rId28"/>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SCR master row R1; linked roadmap page 2. Deep-dive page 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"Energy balance 2007-2021 staged; provisional supply engine; p4 provincial source illustration.",</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"Ports and schematic corridors from kickoff appendix.",</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"Refinery assumptions and utilisation 2008-2050; provisional supply engine; duplicate-row diagnostics.",</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"Schematic appendix routes and illustrative Durban/Lesedi road-cost map.",</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"Sourced regional sales p7; published capacity p8; illustrative transfer arithmetic p6.",</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"Competitor footprint and partial published storage; lease sites explicitly conditional.",</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ports\nGap: matched-year output, trade and stocks. Reconcile the national balance before allocating provincial origin.', 'Manish\nNigel access', 'W1–W3\nFuel balance + port bridge', [5, 6]), ('C1\nComplication', 'Demand drivers and levers\nPower diesel; road/rail; BEV/hybrid and efficiency; GDP/price/activity. Define baselines and alternatives, then calibrate litres effects.', 'Manish\nNigel review', 'W1 define; W2–W4 test\nLever-to-demand bridge', [7]), ('C2\nComplication', 'Refinery and plant scenarios\nResolve repeated refinery keys; verify closures/restarts and Sasol/Natref mechanisms. Separate actual status from conditional proposals.',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Obtain client flows, count transfers once, and test customer access against competing storage and routes.',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with backlinks to page 2.</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"Energy balance 2007-2021 staged; provisional supply engine; p6 provincial source illustration.",</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"Ports and schematic corridors from kickoff appendix.",</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SCR master row S2; linked roadmap page 2. Deep-dive page 5.</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SCR master row C1; linked roadmap page 2. Deep-dive page 7.</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"Refinery assumptions and utilisation 2008-2050; provisional supply engine; duplicate-row diagnostics.",</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SCR master row C2; linked roadmap page 2. Deep-dive page 8.</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"Schematic appendix routes and illustrative Durban/Lesedi road-cost map.",</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SCR master row C3; linked roadmap page 2. Deep-dive page 10.</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"Sourced regional sales p12; published capacity p14; illustrative transfer arithmetic p11.",</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"Competitor footprint and partial published storage; lease sites explicitly conditional.",</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SCR master row R1; linked roadmap page 2. Deep-dive page 13.</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SCR master row R2; linked roadmap page 2. Deep-dive page 15.</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10.xml"/><Relationship Id="rId5" Type="http://schemas.openxmlformats.org/officeDocument/2006/relationships/slide" Target="slide5.xml"/><Relationship Id="rId6" Type="http://schemas.openxmlformats.org/officeDocument/2006/relationships/slide" Target="slide12.xml"/><Relationship Id="rId7"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10.xml"/><Relationship Id="rId11" Type="http://schemas.openxmlformats.org/officeDocument/2006/relationships/slide" Target="slide5.xml"/><Relationship Id="rId12" Type="http://schemas.openxmlformats.org/officeDocument/2006/relationships/slide" Target="slide12.xml"/><Relationship Id="rId13" Type="http://schemas.openxmlformats.org/officeDocument/2006/relationships/slide" Target="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2.xml"/><Relationship Id="rId10" Type="http://schemas.openxmlformats.org/officeDocument/2006/relationships/slide" Target="slide14.xml"/><Relationship Id="rId11" Type="http://schemas.openxmlformats.org/officeDocument/2006/relationships/slide" Target="slide3.xml"/><Relationship Id="rId12" Type="http://schemas.openxmlformats.org/officeDocument/2006/relationships/slide" Target="slide8.xml"/><Relationship Id="rId13" Type="http://schemas.openxmlformats.org/officeDocument/2006/relationships/slide" Target="slide15.xml"/><Relationship Id="rId14" Type="http://schemas.openxmlformats.org/officeDocument/2006/relationships/slide" Target="slide9.xml"/><Relationship Id="rId15" Type="http://schemas.openxmlformats.org/officeDocument/2006/relationships/slide" Target="slide16.xml"/><Relationship Id="rId16"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576" name="Transnet lease overlay: Isosceles Triangle 2575"/>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77" name="Transnet lease overlay: Connector 2576"/>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78" name="Transnet lease overlay: TextBox 2577"/>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79" name="Transnet lease overlay: Isosceles Triangle 2578"/>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80" name="Transnet lease overlay: Connector 2579"/>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81" name="Transnet lease overlay: TextBox 2580"/>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82" name="Transnet lease overlay: Isosceles Triangle 2581"/>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83" name="Transnet lease overlay: Connector 2582"/>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84" name="Transnet lease overlay: TextBox 2583"/>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85" name="Transnet lease overlay: Isosceles Triangle 2584"/>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86" name="Transnet lease overlay: Connector 2585"/>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87" name="Transnet lease overlay: TextBox 2586"/>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88" name="Transnet lease overlay: Isosceles Triangle 2587"/>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89" name="Transnet lease overlay: Connector 2588"/>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90" name="Transnet lease overlay: TextBox 2589"/>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91" name="Transnet lease overlay: TextBox 2590"/>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592" name="Transnet lease overlay: Isosceles Triangle 2591"/>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3" name="TextBox 259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2594" name="TextBox 259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Darker cells mean lower example cost</a:t>
            </a:r>
          </a:p>
        </p:txBody>
      </p:sp>
      <p:sp>
        <p:nvSpPr>
          <p:cNvPr id="2595" name="TextBox 259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surface shows illustrative delivered road-transport cost in R/litre.</a:t>
            </a:r>
          </a:p>
        </p:txBody>
      </p:sp>
      <p:sp>
        <p:nvSpPr>
          <p:cNvPr id="2596" name="TextBox 259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Other modes remain context</a:t>
            </a:r>
          </a:p>
        </p:txBody>
      </p:sp>
      <p:sp>
        <p:nvSpPr>
          <p:cNvPr id="2597" name="TextBox 259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costs, capacity and access are not evaluated in this surface.</a:t>
            </a:r>
          </a:p>
        </p:txBody>
      </p:sp>
      <p:sp>
        <p:nvSpPr>
          <p:cNvPr id="2598" name="TextBox 259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Physical proximity is insufficient</a:t>
            </a:r>
          </a:p>
        </p:txBody>
      </p:sp>
      <p:sp>
        <p:nvSpPr>
          <p:cNvPr id="2599" name="TextBox 259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No operational or commercial catchment is validated by this illustration.</a:t>
            </a:r>
          </a:p>
        </p:txBody>
      </p: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601" name="TextBox 260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602" name="TextBox 260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and Nigel: select the first destination and obtain dated route tariffs, quotations and access evidence.</a:t>
            </a:r>
          </a:p>
        </p:txBody>
      </p:sp>
      <p:sp>
        <p:nvSpPr>
          <p:cNvPr id="2603"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Illustrative road cost (R/litre) and market volumes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sp>
        <p:nvSpPr>
          <p:cNvPr id="516" name="TextBox 515"/>
          <p:cNvSpPr txBox="1"/>
          <p:nvPr/>
        </p:nvSpPr>
        <p:spPr>
          <a:xfrm>
            <a:off x="731520" y="248716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151376" y="504748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576" name="Transnet lease overlay: Isosceles Triangle 2575"/>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77" name="Transnet lease overlay: Connector 2576"/>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78" name="Transnet lease overlay: TextBox 2577"/>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79" name="Transnet lease overlay: Isosceles Triangle 2578"/>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80" name="Transnet lease overlay: Connector 2579"/>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81" name="Transnet lease overlay: TextBox 2580"/>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82" name="Transnet lease overlay: Isosceles Triangle 2581"/>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83" name="Transnet lease overlay: Connector 2582"/>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84" name="Transnet lease overlay: TextBox 2583"/>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85" name="Transnet lease overlay: Isosceles Triangle 2584"/>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86" name="Transnet lease overlay: Connector 2585"/>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87" name="Transnet lease overlay: TextBox 2586"/>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88" name="Transnet lease overlay: Isosceles Triangle 2587"/>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89" name="Transnet lease overlay: Connector 2588"/>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90" name="Transnet lease overlay: TextBox 2589"/>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91" name="Transnet lease overlay: TextBox 2590"/>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592" name="Transnet lease overlay: Isosceles Triangle 2591"/>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3" name="TextBox 259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2594" name="TextBox 259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Balance arithmetic is illustrative</a:t>
            </a:r>
          </a:p>
        </p:txBody>
      </p:sp>
      <p:sp>
        <p:nvSpPr>
          <p:cNvPr id="2595" name="TextBox 259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demand 21.0 less domestic production 7.0 gives imports 14.0, before exports and stocks.</a:t>
            </a:r>
          </a:p>
        </p:txBody>
      </p:sp>
      <p:sp>
        <p:nvSpPr>
          <p:cNvPr id="2596" name="TextBox 259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Transfers count once</a:t>
            </a:r>
          </a:p>
        </p:txBody>
      </p:sp>
      <p:sp>
        <p:nvSpPr>
          <p:cNvPr id="2597" name="TextBox 259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Durban receipts 2.8 plus Lesedi receipts 2.0 less shared transfer 1.8 gives unique served demand 3.0.</a:t>
            </a:r>
          </a:p>
        </p:txBody>
      </p:sp>
      <p:sp>
        <p:nvSpPr>
          <p:cNvPr id="2598" name="TextBox 259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volume is conditional</a:t>
            </a:r>
          </a:p>
        </p:txBody>
      </p:sp>
      <p:sp>
        <p:nvSpPr>
          <p:cNvPr id="2599" name="TextBox 259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envelope is 8.5 and additional candidate volume 5.5; neither is forecast capture.</a:t>
            </a:r>
          </a:p>
        </p:txBody>
      </p: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601" name="TextBox 260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602" name="TextBox 260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flows. Manish: replace examples with matched-year product and destination records.</a:t>
            </a:r>
          </a:p>
        </p:txBody>
      </p:sp>
      <p:sp>
        <p:nvSpPr>
          <p:cNvPr id="2603"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56CF103E-88C8-4C3E-BC1C-AD4EC874470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96484"/>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a:p>
            <a:pPr>
              <a:spcAft>
                <a:spcPts val="300"/>
              </a:spcAft>
              <a:defRPr sz="1100" b="1">
                <a:solidFill>
                  <a:srgbClr val="0A2373"/>
                </a:solidFill>
                <a:latin typeface="Lato"/>
              </a:defRPr>
            </a:pPr>
            <a:r>
              <a:t>Vopak / Bidvest</a:t>
            </a:r>
          </a:p>
        </p:txBody>
      </p:sp>
      <p:cxnSp>
        <p:nvCxnSpPr>
          <p:cNvPr id="526" name="Connector 525"/>
          <p:cNvCxnSpPr/>
          <p:nvPr/>
        </p:nvCxnSpPr>
        <p:spPr>
          <a:xfrm flipH="1" flipV="1">
            <a:off x="5148072" y="3863340"/>
            <a:ext cx="144846" cy="18877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Richards Bay</a:t>
            </a:r>
          </a:p>
          <a:p>
            <a:pPr>
              <a:spcAft>
                <a:spcPts val="300"/>
              </a:spcAft>
              <a:defRPr sz="1100" b="1">
                <a:solidFill>
                  <a:srgbClr val="0A2373"/>
                </a:solidFill>
                <a:latin typeface="Lato"/>
              </a:defRPr>
            </a:pPr>
            <a:r>
              <a:t>Bidvest</a:t>
            </a:r>
          </a:p>
        </p:txBody>
      </p:sp>
      <p:cxnSp>
        <p:nvCxnSpPr>
          <p:cNvPr id="528" name="Connector 527"/>
          <p:cNvCxnSpPr/>
          <p:nvPr/>
        </p:nvCxnSpPr>
        <p:spPr>
          <a:xfrm flipH="1" flipV="1">
            <a:off x="566928" y="4983479"/>
            <a:ext cx="1735268" cy="368677"/>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736592"/>
            <a:ext cx="1508760" cy="49377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Cape Town</a:t>
            </a:r>
          </a:p>
          <a:p>
            <a:pPr>
              <a:spcAft>
                <a:spcPts val="300"/>
              </a:spcAft>
              <a:defRPr sz="1100" b="1">
                <a:solidFill>
                  <a:srgbClr val="0A2373"/>
                </a:solidFill>
                <a:latin typeface="Lato"/>
              </a:defRPr>
            </a:pPr>
            <a:r>
              <a:t>Burgan Cape</a:t>
            </a:r>
          </a:p>
        </p:txBody>
      </p:sp>
      <p:cxnSp>
        <p:nvCxnSpPr>
          <p:cNvPr id="530" name="Connector 529"/>
          <p:cNvCxnSpPr/>
          <p:nvPr/>
        </p:nvCxnSpPr>
        <p:spPr>
          <a:xfrm flipH="1" flipV="1">
            <a:off x="594360" y="3255264"/>
            <a:ext cx="3847905" cy="9463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2011680" cy="694944"/>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 / inland storage</a:t>
            </a:r>
          </a:p>
          <a:p>
            <a:pPr>
              <a:spcAft>
                <a:spcPts val="300"/>
              </a:spcAft>
              <a:defRPr sz="1100" b="1">
                <a:solidFill>
                  <a:srgbClr val="0A2373"/>
                </a:solidFill>
                <a:latin typeface="Lato"/>
              </a:defRPr>
            </a:pPr>
            <a:r>
              <a:t>Vopak / Bidvest</a:t>
            </a:r>
          </a:p>
          <a:p>
            <a:pPr>
              <a:spcAft>
                <a:spcPts val="300"/>
              </a:spcAft>
              <a:defRPr sz="11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
        <p:nvSpPr>
          <p:cNvPr id="580" name="TextBox 5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581" name="TextBox 5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is concentrated</a:t>
            </a:r>
          </a:p>
        </p:txBody>
      </p:sp>
      <p:sp>
        <p:nvSpPr>
          <p:cNvPr id="582" name="TextBox 5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83" name="TextBox 5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are working groups</a:t>
            </a:r>
          </a:p>
        </p:txBody>
      </p:sp>
      <p:sp>
        <p:nvSpPr>
          <p:cNvPr id="584" name="TextBox 5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Province boundaries define reporting groups; they do not establish terminal catchments.</a:t>
            </a:r>
          </a:p>
        </p:txBody>
      </p:sp>
      <p:sp>
        <p:nvSpPr>
          <p:cNvPr id="585" name="TextBox 5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Sales are historical demand evidence</a:t>
            </a:r>
          </a:p>
        </p:txBody>
      </p:sp>
      <p:sp>
        <p:nvSpPr>
          <p:cNvPr id="586" name="TextBox 5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map is sourced provincial sales, rather than a current-year outlook or commercial accessibility result.</a:t>
            </a:r>
          </a:p>
        </p:txBody>
      </p:sp>
      <p:cxnSp>
        <p:nvCxnSpPr>
          <p:cNvPr id="587" name="Connector 5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88" name="TextBox 5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89" name="TextBox 5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a later complete year and test actual destinations, route costs and customer access.</a:t>
            </a:r>
          </a:p>
        </p:txBody>
      </p:sp>
      <p:sp>
        <p:nvSpPr>
          <p:cNvPr id="590" name="SCR backlink S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D666E544-B4CC-41E6-96A0-9B41EFB6A360}"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ends in 2022</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provincial year in this extract is 2022.</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2023 is incomplete</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Only Q1 is present; it is excluded from annual comparisons.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Six years are flagged</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sums differ from national sales in 2013, 2014, 2015, 2017, 2018 and 2021.</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each flagged value to its original workbook cell and log old value, proposed value and reason.</a:t>
            </a:r>
          </a:p>
        </p:txBody>
      </p:sp>
      <p:sp>
        <p:nvSpPr>
          <p:cNvPr id="51" name="SCR backlink S1">
            <a:hlinkClick action="ppaction://hlinksldjump" r:id="rId4"/>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CD8EDEBF-E630-4C9C-A63B-538DCC0A5384}"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AEEF5819-B23E-4911-ABB7-5D478832520D}"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a:t>
            </a:r>
          </a:p>
          <a:p>
            <a:pPr>
              <a:spcAft>
                <a:spcPts val="300"/>
              </a:spcAft>
              <a:defRPr sz="1200" b="1">
                <a:solidFill>
                  <a:srgbClr val="000000"/>
                </a:solidFill>
                <a:latin typeface="Lato"/>
              </a:defRPr>
            </a:pPr>
            <a:r>
              <a:t>served</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Additional</a:t>
            </a:r>
          </a:p>
          <a:p>
            <a:pPr>
              <a:spcAft>
                <a:spcPts val="300"/>
              </a:spcAft>
              <a:defRPr sz="1200" b="1">
                <a:solidFill>
                  <a:srgbClr val="000000"/>
                </a:solidFill>
                <a:latin typeface="Lato"/>
              </a:defRPr>
            </a:pPr>
            <a:r>
              <a:t>contestable</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Unknown share input: Eastern coastal at 4.98"/>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2" name="Unknown share input: Eastern coastal at 6.3"/>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Unknown share input: Inland at 4.98"/>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8" name="Unknown share input: Inland at 6.3"/>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Unknown share input: Western coastal at 4.98"/>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4" name="Unknown share input: Western coastal at 6.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Unknown share input: Other / Northern Cape at 4.9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0" name="Unknown share input: Other / Northern Cape at 6.3"/>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backlink R1">
            <a:hlinkClick action="ppaction://hlinksldjump" r:id="rId10"/>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357CBAFB-05FF-455E-8C2B-44A52ED5C41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Resolve the SA fuel outlook, then test Vopak’s accessible market</a:t>
            </a:r>
          </a:p>
        </p:txBody>
      </p:sp>
      <p:sp>
        <p:nvSpPr>
          <p:cNvPr id="3" name="Slide Number Placeholder"/>
          <p:cNvSpPr>
            <a:spLocks noGrp="1"/>
          </p:cNvSpPr>
          <p:nvPr>
            <p:ph type="sldNum" sz="quarter" idx="12"/>
          </p:nvPr>
        </p:nvSpPr>
        <p:spPr/>
        <p:txBody>
          <a:bodyPr/>
          <a:lstStyle/>
          <a:p>
            <a:fld id="{308FCA23-C9AB-4EC0-BC09-F64769A19ABC}"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SCR overview</a:t>
            </a:r>
          </a:p>
        </p:txBody>
      </p:sp>
      <p:sp>
        <p:nvSpPr>
          <p:cNvPr id="5" name="Section navigation 2">
            <a:hlinkClick action="ppaction://hlinksldjump" r:id="rId3"/>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sp>
        <p:nvSpPr>
          <p:cNvPr id="42" name="TextBox 41"/>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Situation → Complication → Resolution | evidence, actions and delivery roadmap</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baseline and regional market</a:t>
                      </a:r>
                    </a:p>
                    <a:p>
                      <a:pPr>
                        <a:spcAft>
                          <a:spcPts val="0"/>
                        </a:spcAft>
                        <a:defRPr sz="1050" b="0">
                          <a:solidFill>
                            <a:srgbClr val="000000"/>
                          </a:solidFill>
                          <a:latin typeface="Lato"/>
                        </a:defRPr>
                      </a:pPr>
                      <a:r>
                        <a:t>Have: provincial sales history and map. Reconcile six flagged years; refresh a complete year.</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3</a:t>
                      </a:r>
                      <a:r>
                        <a:rPr sz="1100">
                          <a:solidFill>
                            <a:srgbClr val="0A2373"/>
                          </a:solidFill>
                          <a:latin typeface="Lato"/>
                          <a:hlinkClick r:id="rId4" action="ppaction://hlinksldjump"/>
                        </a:rPr>
                        <a:t> / 4</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Domestic supply, finished imports and entry ports</a:t>
                      </a:r>
                    </a:p>
                    <a:p>
                      <a:pPr>
                        <a:spcAft>
                          <a:spcPts val="0"/>
                        </a:spcAft>
                        <a:defRPr sz="1050" b="0">
                          <a:solidFill>
                            <a:srgbClr val="000000"/>
                          </a:solidFill>
                          <a:latin typeface="Lato"/>
                        </a:defRPr>
                      </a:pPr>
                      <a:r>
                        <a:t>Gap: matched-year output, trade and stocks. Reconcile the national balance before allocating provincial origin.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5</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and levers</a:t>
                      </a:r>
                    </a:p>
                    <a:p>
                      <a:pPr>
                        <a:spcAft>
                          <a:spcPts val="0"/>
                        </a:spcAft>
                        <a:defRPr sz="1050" b="0">
                          <a:solidFill>
                            <a:srgbClr val="000000"/>
                          </a:solidFill>
                          <a:latin typeface="Lato"/>
                        </a:defRPr>
                      </a:pPr>
                      <a:r>
                        <a:t>Power diesel; road/rail; BEV/hybrid and efficiency; GDP/price/activity. Define baselines and alternatives, then calibrate litres effects.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Refinery and plant scenarios</a:t>
                      </a:r>
                    </a:p>
                    <a:p>
                      <a:pPr>
                        <a:spcAft>
                          <a:spcPts val="0"/>
                        </a:spcAft>
                        <a:defRPr sz="1050" b="0">
                          <a:solidFill>
                            <a:srgbClr val="000000"/>
                          </a:solidFill>
                          <a:latin typeface="Lato"/>
                        </a:defRPr>
                      </a:pPr>
                      <a:r>
                        <a:t>Resolve repeated refinery keys; verify closures/restarts and Sasol/Natref mechanisms. Separate actual status from conditional proposals.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Economic accessibility and competing routes</a:t>
                      </a:r>
                    </a:p>
                    <a:p>
                      <a:pPr>
                        <a:spcAft>
                          <a:spcPts val="0"/>
                        </a:spcAft>
                        <a:defRPr sz="1050" b="0">
                          <a:solidFill>
                            <a:srgbClr val="000000"/>
                          </a:solidFill>
                          <a:latin typeface="Lato"/>
                        </a:defRPr>
                      </a:pPr>
                      <a:r>
                        <a:t>Cost map is illustrative. Compare Durban–NMPP–Lesedi, road/rail, Matola and Walvis Bay for the same product and destination.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9</a:t>
                      </a:r>
                      <a:r>
                        <a:rPr sz="1100">
                          <a:solidFill>
                            <a:srgbClr val="0A2373"/>
                          </a:solidFill>
                          <a:latin typeface="Lato"/>
                          <a:hlinkClick r:id="rId10" action="ppaction://hlinksldjump"/>
                        </a:rPr>
                        <a:t> / 10</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Actual Vopak share and contestable customer demand</a:t>
                      </a:r>
                    </a:p>
                    <a:p>
                      <a:pPr>
                        <a:spcAft>
                          <a:spcPts val="0"/>
                        </a:spcAft>
                        <a:defRPr sz="1050" b="0">
                          <a:solidFill>
                            <a:srgbClr val="000000"/>
                          </a:solidFill>
                          <a:latin typeface="Lato"/>
                        </a:defRPr>
                      </a:pPr>
                      <a:r>
                        <a:t>Share is unknown. Obtain client flows, count transfers once, and test customer access against competing storage and routes.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11</a:t>
                      </a:r>
                      <a:r>
                        <a:rPr sz="1100">
                          <a:solidFill>
                            <a:srgbClr val="0A2373"/>
                          </a:solidFill>
                          <a:latin typeface="Lato"/>
                          <a:hlinkClick r:id="rId12" action="ppaction://hlinksldjump"/>
                        </a:rPr>
                        <a:t> / 12</a:t>
                      </a:r>
                      <a:r>
                        <a:rPr sz="1100">
                          <a:solidFill>
                            <a:srgbClr val="0A2373"/>
                          </a:solidFill>
                          <a:latin typeface="Lato"/>
                          <a:hlinkClick r:id="rId13" action="ppaction://hlinksldjump"/>
                        </a:rPr>
                        <a:t> / 13</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Storage and optional investment</a:t>
                      </a:r>
                    </a:p>
                    <a:p>
                      <a:pPr>
                        <a:spcAft>
                          <a:spcPts val="0"/>
                        </a:spcAft>
                        <a:defRPr sz="1050" b="0">
                          <a:solidFill>
                            <a:srgbClr val="000000"/>
                          </a:solidFill>
                          <a:latin typeface="Lato"/>
                        </a:defRPr>
                      </a:pPr>
                      <a:r>
                        <a:t>Partial published stocks are available. Verify usable product capacity; size additional service needs only after the incremental flow case.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14</a:t>
                      </a:r>
                      <a:r>
                        <a:rPr sz="1100">
                          <a:solidFill>
                            <a:srgbClr val="0A2373"/>
                          </a:solidFill>
                          <a:latin typeface="Lato"/>
                          <a:hlinkClick r:id="rId15" action="ppaction://hlinksldjump"/>
                        </a:rPr>
                        <a:t> / 15</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Reconcile domestic supply and finished imports</a:t>
            </a:r>
          </a:p>
        </p:txBody>
      </p:sp>
      <p:sp>
        <p:nvSpPr>
          <p:cNvPr id="3" name="Slide Number Placeholder"/>
          <p:cNvSpPr>
            <a:spLocks noGrp="1"/>
          </p:cNvSpPr>
          <p:nvPr>
            <p:ph type="sldNum" sz="quarter" idx="12"/>
          </p:nvPr>
        </p:nvSpPr>
        <p:spPr/>
        <p:txBody>
          <a:bodyPr/>
          <a:lstStyle/>
          <a:p>
            <a:fld id="{34509DD4-D692-41F1-AE8A-11CC86B3FC3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Situation | national balance and import entry ports</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Domestic production versus finished imports</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Matched recent demand, output, imports, exports and stocks; actual provincial origin unavailable.</a:t>
            </a:r>
          </a:p>
          <a:p>
            <a:pPr>
              <a:spcAft>
                <a:spcPts val="300"/>
              </a:spcAft>
              <a:defRPr sz="1200" b="0">
                <a:solidFill>
                  <a:srgbClr val="000000"/>
                </a:solidFill>
                <a:latin typeface="Lato"/>
              </a:defRPr>
            </a:pPr>
            <a:r>
              <a:t>Output: Production + imports - exports - stock build = consumption by fuel/year; unit/coverage bridge and residual explained.</a:t>
            </a:r>
          </a:p>
        </p:txBody>
      </p:sp>
      <p:sp>
        <p:nvSpPr>
          <p:cNvPr id="13" name="TextBox 12"/>
          <p:cNvSpPr txBox="1"/>
          <p:nvPr/>
        </p:nvSpPr>
        <p:spPr>
          <a:xfrm>
            <a:off x="457200" y="42519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Import entry ports and origin</a:t>
            </a:r>
          </a:p>
        </p:txBody>
      </p:sp>
      <p:sp>
        <p:nvSpPr>
          <p:cNvPr id="14" name="TextBox 13"/>
          <p:cNvSpPr txBox="1"/>
          <p:nvPr/>
        </p:nvSpPr>
        <p:spPr>
          <a:xfrm>
            <a:off x="457200" y="4590288"/>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Product-specific finished imports by port/year and source country; liquid bulk is not all fuel.</a:t>
            </a:r>
          </a:p>
          <a:p>
            <a:pPr>
              <a:spcAft>
                <a:spcPts val="300"/>
              </a:spcAft>
              <a:defRPr sz="1200" b="0">
                <a:solidFill>
                  <a:srgbClr val="000000"/>
                </a:solidFill>
                <a:latin typeface="Lato"/>
              </a:defRPr>
            </a:pPr>
            <a:r>
              <a:t>Output: National finished imports tied to evidenced port allocations; unallocated remainder explicit.</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Energy balance 2007-2021 staged; provisional supply engine; p6 provincial source illustration.</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the national fuel balance, then bridge finished imports to entry ports. Nigel: secure source access. Explain all unit conversions and unallocated volumes.</a:t>
            </a:r>
          </a:p>
        </p:txBody>
      </p:sp>
      <p:sp>
        <p:nvSpPr>
          <p:cNvPr id="25"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demand drivers into explicit fuel levers</a:t>
            </a:r>
          </a:p>
        </p:txBody>
      </p:sp>
      <p:sp>
        <p:nvSpPr>
          <p:cNvPr id="3" name="Slide Number Placeholder"/>
          <p:cNvSpPr>
            <a:spLocks noGrp="1"/>
          </p:cNvSpPr>
          <p:nvPr>
            <p:ph type="sldNum" sz="quarter" idx="12"/>
          </p:nvPr>
        </p:nvSpPr>
        <p:spPr/>
        <p:txBody>
          <a:bodyPr/>
          <a:lstStyle/>
          <a:p>
            <a:fld id="{4ECB4DE1-DFBF-47FC-A1B7-BCEA12FC8963}"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Complication | power, freight, fleet and economic activity</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Power-generation diesel and potential reversal</a:t>
            </a:r>
          </a:p>
        </p:txBody>
      </p:sp>
      <p:sp>
        <p:nvSpPr>
          <p:cNvPr id="12" name="TextBox 11"/>
          <p:cNvSpPr txBox="1"/>
          <p:nvPr/>
        </p:nvSpPr>
        <p:spPr>
          <a:xfrm>
            <a:off x="457200" y="2971800"/>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Historical GWh-to-litres tie; baseline/alternative dispatch, units, dates and incremental demand effect.</a:t>
            </a:r>
          </a:p>
        </p:txBody>
      </p:sp>
      <p:sp>
        <p:nvSpPr>
          <p:cNvPr id="13" name="TextBox 12"/>
          <p:cNvSpPr txBox="1"/>
          <p:nvPr/>
        </p:nvSpPr>
        <p:spPr>
          <a:xfrm>
            <a:off x="457200" y="35661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Road-to-rail freight shift</a:t>
            </a:r>
          </a:p>
        </p:txBody>
      </p:sp>
      <p:sp>
        <p:nvSpPr>
          <p:cNvPr id="14" name="TextBox 13"/>
          <p:cNvSpPr txBox="1"/>
          <p:nvPr/>
        </p:nvSpPr>
        <p:spPr>
          <a:xfrm>
            <a:off x="457200" y="3904487"/>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Specific intervention with baseline/alternative mode shares, dates and diesel-intensity bridge; no duplicate mileage reduction.</a:t>
            </a:r>
          </a:p>
        </p:txBody>
      </p:sp>
      <p:sp>
        <p:nvSpPr>
          <p:cNvPr id="15" name="TextBox 14"/>
          <p:cNvSpPr txBox="1"/>
          <p:nvPr/>
        </p:nvSpPr>
        <p:spPr>
          <a:xfrm>
            <a:off x="457200" y="4498848"/>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BEV, hybrid, efficiency and charging effects</a:t>
            </a:r>
          </a:p>
        </p:txBody>
      </p:sp>
      <p:sp>
        <p:nvSpPr>
          <p:cNvPr id="16" name="TextBox 15"/>
          <p:cNvSpPr txBox="1"/>
          <p:nvPr/>
        </p:nvSpPr>
        <p:spPr>
          <a:xfrm>
            <a:off x="457200" y="4837176"/>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Opening-fleet/cohort tie; drivetrain-specific L/100km; dated uptake alternatives and litres effect.</a:t>
            </a:r>
          </a:p>
        </p:txBody>
      </p:sp>
      <p:sp>
        <p:nvSpPr>
          <p:cNvPr id="17" name="TextBox 16"/>
          <p:cNvSpPr txBox="1"/>
          <p:nvPr/>
        </p:nvSpPr>
        <p:spPr>
          <a:xfrm>
            <a:off x="457200" y="5431536"/>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GDP, fuel prices and kilometres travelled</a:t>
            </a:r>
          </a:p>
        </p:txBody>
      </p:sp>
      <p:sp>
        <p:nvSpPr>
          <p:cNvPr id="18" name="TextBox 17"/>
          <p:cNvSpPr txBox="1"/>
          <p:nvPr/>
        </p:nvSpPr>
        <p:spPr>
          <a:xfrm>
            <a:off x="457200" y="5769864"/>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Explicit historical/forecast boundary and consuming function; calibrated sensitivity without duplicate activity reductions.</a:t>
            </a:r>
          </a:p>
        </p:txBody>
      </p:sp>
      <p:sp>
        <p:nvSpPr>
          <p:cNvPr id="19" name="TextBox 18"/>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20" name="TextBox 19"/>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21" name="TextBox 20"/>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22" name="TextBox 21"/>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23" name="TextBox 22"/>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Eskom OCGT observations 2022-2026 staged; engine capacity/load factor/efficiency path.</a:t>
            </a:r>
          </a:p>
        </p:txBody>
      </p:sp>
      <p:sp>
        <p:nvSpPr>
          <p:cNvPr id="24" name="TextBox 23"/>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5" name="TextBox 24"/>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6" name="Connector 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8" name="TextBox 27"/>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define baseline, alternatives, units, dates and consuming equation for each lever. Nigel reviews; calibrate against source observations.</a:t>
            </a:r>
          </a:p>
        </p:txBody>
      </p:sp>
      <p:sp>
        <p:nvSpPr>
          <p:cNvPr id="29" name="SCR backlink C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C1 | Complication | Return to overview: page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Test refinery availability and plant-specific scenarios</a:t>
            </a:r>
          </a:p>
        </p:txBody>
      </p:sp>
      <p:sp>
        <p:nvSpPr>
          <p:cNvPr id="3" name="Slide Number Placeholder"/>
          <p:cNvSpPr>
            <a:spLocks noGrp="1"/>
          </p:cNvSpPr>
          <p:nvPr>
            <p:ph type="sldNum" sz="quarter" idx="12"/>
          </p:nvPr>
        </p:nvSpPr>
        <p:spPr/>
        <p:txBody>
          <a:bodyPr/>
          <a:lstStyle/>
          <a:p>
            <a:fld id="{58A18339-19C0-4611-84E2-2FEA0DDC46E8}"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Complication | refinery closures, restart proposals and Sasol / Natref</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Refinery closures, availability and SAPREF proposal</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Current output/yields/status; dated closures/restarts; SAPREF project evidence; 558 extra refinery rows unresolved.</a:t>
            </a:r>
          </a:p>
          <a:p>
            <a:pPr>
              <a:spcAft>
                <a:spcPts val="300"/>
              </a:spcAft>
              <a:defRPr sz="1200" b="0">
                <a:solidFill>
                  <a:srgbClr val="000000"/>
                </a:solidFill>
                <a:latin typeface="Lato"/>
              </a:defRPr>
            </a:pPr>
            <a:r>
              <a:t>Output: Unique country/year/scenario keys with source cells; actual/proposed distinction; per-refinery output tie and import sensitivity.</a:t>
            </a:r>
          </a:p>
        </p:txBody>
      </p:sp>
      <p:sp>
        <p:nvSpPr>
          <p:cNvPr id="13" name="TextBox 12"/>
          <p:cNvSpPr txBox="1"/>
          <p:nvPr/>
        </p:nvSpPr>
        <p:spPr>
          <a:xfrm>
            <a:off x="457200" y="42519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Secunda gas/MRG and Natref future</a:t>
            </a:r>
          </a:p>
        </p:txBody>
      </p:sp>
      <p:sp>
        <p:nvSpPr>
          <p:cNvPr id="14" name="TextBox 13"/>
          <p:cNvSpPr txBox="1"/>
          <p:nvPr/>
        </p:nvSpPr>
        <p:spPr>
          <a:xfrm>
            <a:off x="457200" y="4590288"/>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MRG timing and causal liquid-fuel effect; Natref future not established; partner propositions untested.</a:t>
            </a:r>
          </a:p>
          <a:p>
            <a:pPr>
              <a:spcAft>
                <a:spcPts val="300"/>
              </a:spcAft>
              <a:defRPr sz="1200" b="0">
                <a:solidFill>
                  <a:srgbClr val="000000"/>
                </a:solidFill>
                <a:latin typeface="Lato"/>
              </a:defRPr>
            </a:pPr>
            <a:r>
              <a:t>Output: Documented plant-level mechanism and dated scenario; no gas-to-liquid displacement inferred without evidence.</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Refinery assumptions and utilisation 2008-2050; provisional supply engine; duplicate-row diagnostics.</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resolve duplicate refinery keys and source plant status. Henry: review the gas/liquid mechanism. Nigel: agree conditional refinery scenarios.</a:t>
            </a:r>
          </a:p>
        </p:txBody>
      </p:sp>
      <p:sp>
        <p:nvSpPr>
          <p:cNvPr id="25" name="SCR backlink C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C2 | Complication | Return to overview: page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routes on the same delivered-cost basis</a:t>
            </a:r>
          </a:p>
        </p:txBody>
      </p:sp>
      <p:sp>
        <p:nvSpPr>
          <p:cNvPr id="3" name="Slide Number Placeholder"/>
          <p:cNvSpPr>
            <a:spLocks noGrp="1"/>
          </p:cNvSpPr>
          <p:nvPr>
            <p:ph type="sldNum" sz="quarter" idx="12"/>
          </p:nvPr>
        </p:nvSpPr>
        <p:spPr/>
        <p:txBody>
          <a:bodyPr/>
          <a:lstStyle/>
          <a:p>
            <a:fld id="{285DDFC1-C7A9-4DE5-B56A-DC9D43EA31F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Complication | Durban-NMPP-Lesedi, road / rail, Matola and Walvis Bay</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Durban-NMPP-Lesedi versus road/rail, Matola and Walvis Bay</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Comparable route costs, NMPP capacity/tariff, actual rail service and cross-border feasibility.</a:t>
            </a:r>
          </a:p>
          <a:p>
            <a:pPr>
              <a:spcAft>
                <a:spcPts val="300"/>
              </a:spcAft>
              <a:defRPr sz="1200" b="0">
                <a:solidFill>
                  <a:srgbClr val="000000"/>
                </a:solidFill>
                <a:latin typeface="Lato"/>
              </a:defRPr>
            </a:pPr>
            <a:r>
              <a:t>Output: Comparable delivered R/litre with cost components, capacity/access limits and dated sources; no national optimisation claim.</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Schematic appendix routes and illustrative Durban/Lesedi road-cost map.</a:t>
            </a:r>
          </a:p>
          <a:p>
            <a:pPr>
              <a:spcAft>
                <a:spcPts val="300"/>
              </a:spcAft>
              <a:defRPr sz="1200" b="0">
                <a:solidFill>
                  <a:srgbClr val="000000"/>
                </a:solidFill>
                <a:latin typeface="Lato"/>
              </a:defRPr>
            </a:pPr>
            <a:r>
              <a:t>No operational route allocation or delivered-cost engine.</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Schematic appendix routes and illustrative Durban/Lesedi road-cost map.</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choose the first product and customer destination. Manish: compare dated route costs, capacity and access on the same R/litre basis. Henry reviews.</a:t>
            </a:r>
          </a:p>
        </p:txBody>
      </p:sp>
      <p:sp>
        <p:nvSpPr>
          <p:cNvPr id="25"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Establish actual share and additional contestable demand</a:t>
            </a:r>
          </a:p>
        </p:txBody>
      </p:sp>
      <p:sp>
        <p:nvSpPr>
          <p:cNvPr id="3" name="Slide Number Placeholder"/>
          <p:cNvSpPr>
            <a:spLocks noGrp="1"/>
          </p:cNvSpPr>
          <p:nvPr>
            <p:ph type="sldNum" sz="quarter" idx="12"/>
          </p:nvPr>
        </p:nvSpPr>
        <p:spPr/>
        <p:txBody>
          <a:bodyPr/>
          <a:lstStyle/>
          <a:p>
            <a:fld id="{61C2ED9F-A04B-4EC1-BE17-6BBCA38E8C27}"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Resolution | unique deliveries, reachable customers and commercial access</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Vopak market share at Durban and Lesedi</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Unique customer deliveries, receipts, shared transfers, destinations and matched period.</a:t>
            </a:r>
          </a:p>
          <a:p>
            <a:pPr>
              <a:spcAft>
                <a:spcPts val="300"/>
              </a:spcAft>
              <a:defRPr sz="1200" b="0">
                <a:solidFill>
                  <a:srgbClr val="000000"/>
                </a:solidFill>
                <a:latin typeface="Lato"/>
              </a:defRPr>
            </a:pPr>
            <a:r>
              <a:t>Output: Separate terminal throughput and unique served-demand shares; matched-year/product denominator; traceable records, no capacity-as-share.</a:t>
            </a:r>
          </a:p>
        </p:txBody>
      </p:sp>
      <p:sp>
        <p:nvSpPr>
          <p:cNvPr id="13" name="TextBox 12"/>
          <p:cNvSpPr txBox="1"/>
          <p:nvPr/>
        </p:nvSpPr>
        <p:spPr>
          <a:xfrm>
            <a:off x="457200" y="42519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Additional commercially contestable market</a:t>
            </a:r>
          </a:p>
        </p:txBody>
      </p:sp>
      <p:sp>
        <p:nvSpPr>
          <p:cNvPr id="14" name="TextBox 13"/>
          <p:cNvSpPr txBox="1"/>
          <p:nvPr/>
        </p:nvSpPr>
        <p:spPr>
          <a:xfrm>
            <a:off x="457200" y="4590288"/>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Usable product-compatible tanks, spare routes, contracts, switching, customer overlap and Northern Cape inventory.</a:t>
            </a:r>
          </a:p>
          <a:p>
            <a:pPr>
              <a:spcAft>
                <a:spcPts val="300"/>
              </a:spcAft>
              <a:defRPr sz="1200" b="0">
                <a:solidFill>
                  <a:srgbClr val="000000"/>
                </a:solidFill>
                <a:latin typeface="Lato"/>
              </a:defRPr>
            </a:pPr>
            <a:r>
              <a:t>Output: Accessible demand by product/region/period; explicit assumptions and unassessed residual; competitors volume is not automatically capturable.</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Sourced regional sales p12; published capacity p14; illustrative transfer arithmetic p11.</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 and destination records. Manish: reconcile transfers, calculate unique served demand, then test additional customer access and competing storage.</a:t>
            </a:r>
          </a:p>
        </p:txBody>
      </p:sp>
      <p:sp>
        <p:nvSpPr>
          <p:cNvPr id="25"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Gate investment on evidenced incremental customer flows</a:t>
            </a:r>
          </a:p>
        </p:txBody>
      </p:sp>
      <p:sp>
        <p:nvSpPr>
          <p:cNvPr id="3" name="Slide Number Placeholder"/>
          <p:cNvSpPr>
            <a:spLocks noGrp="1"/>
          </p:cNvSpPr>
          <p:nvPr>
            <p:ph type="sldNum" sz="quarter" idx="12"/>
          </p:nvPr>
        </p:nvSpPr>
        <p:spPr/>
        <p:txBody>
          <a:bodyPr/>
          <a:lstStyle/>
          <a:p>
            <a:fld id="{8851AAF4-EF31-40B7-B447-08DC64209558}"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Resolution | optional service and investment assessment</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New storage and investment scope</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Incremental accessible flows, turnover/peak inventory, product compatibility, cost and commercial return criteria.</a:t>
            </a:r>
          </a:p>
          <a:p>
            <a:pPr>
              <a:spcAft>
                <a:spcPts val="300"/>
              </a:spcAft>
              <a:defRPr sz="1200" b="0">
                <a:solidFill>
                  <a:srgbClr val="000000"/>
                </a:solidFill>
                <a:latin typeface="Lato"/>
              </a:defRPr>
            </a:pPr>
            <a:r>
              <a:t>Output: Throughput-to-usable-stock bridge with seasonality, inventory days and dispatch limits; downside sensitivity; no investment claim from import deficit alone.</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Partial gross/lease stocks, without client handling/inventory profile.</a:t>
            </a:r>
          </a:p>
          <a:p>
            <a:pPr>
              <a:spcAft>
                <a:spcPts val="300"/>
              </a:spcAft>
              <a:defRPr sz="1200" b="0">
                <a:solidFill>
                  <a:srgbClr val="000000"/>
                </a:solidFill>
                <a:latin typeface="Lato"/>
              </a:defRPr>
            </a:pPr>
            <a:r>
              <a:t>Detailed service sizing deferred; infrastructure secondary to fuel integration.</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Partial gross/lease stocks, without client handling/inventory profile.</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decide whether to prioritise investment analysis after the flow case. Manish and Henry: bridge incremental flows to usable stock and service constraints.</a:t>
            </a:r>
          </a:p>
        </p:txBody>
      </p:sp>
      <p:sp>
        <p:nvSpPr>
          <p:cNvPr id="25"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