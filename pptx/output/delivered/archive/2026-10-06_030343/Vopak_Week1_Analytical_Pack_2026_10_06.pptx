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2" r:id="rId17"/>
    <p:sldId id="263" r:id="rId6"/>
    <p:sldId id="264" r:id="rId19"/>
    <p:sldId id="258" r:id="rId5"/>
    <p:sldId id="259" r:id="rId16"/>
    <p:sldId id="265" r:id="rId20"/>
    <p:sldId id="266" r:id="rId21"/>
    <p:sldId id="267" r:id="rId22"/>
    <p:sldId id="261" r:id="rId18"/>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xml"/><Relationship Id="rId6" Type="http://schemas.openxmlformats.org/officeDocument/2006/relationships/slide" Target="slides/slide6.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3.xml"/><Relationship Id="rId17" Type="http://schemas.openxmlformats.org/officeDocument/2006/relationships/slide" Target="slides/slide5.xml"/><Relationship Id="rId18" Type="http://schemas.openxmlformats.org/officeDocument/2006/relationships/slide" Target="slides/slide4.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9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9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"Energy balance 2007-2021 staged; provisional supply engine; p4 provincial source illustration.",</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"Ports and schematic corridors from kickoff appendix.",</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"Refinery assumptions and utilisation 2008-2050; provisional supply engine; duplicate-row diagnostics.",</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"Schematic appendix routes and illustrative Durban/Lesedi road-cost map.",</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"Sourced regional sales p7; published capacity p8; illustrative transfer arithmetic p6.",</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"Competitor footprint and partial published storage; lease sites explicitly conditional.",</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Map conditional market access from Durban and Lesedi</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Road-delivery accessibility | illustrative transport cost, R/litre</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Durban: coastal and inland links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Road candidates connect coastal customers and inland transfers. Pipelines are separate supply connections.</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Lesedi: inland dispatch</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receipt, dispatch, tanker cycles and customer destinations for connected inland markets.</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Lower cost means higher accessibility</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Darker cells show lower example road-delivery cost from either facility. Pipe and rail lines remain context.</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Customer access is unverified</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Contracts and competitors define the commercial envelope. Actual customer catchments are not supplied.</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916168"/>
            <a:ext cx="731520" cy="201168"/>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Unassessed</a:t>
            </a:r>
          </a:p>
        </p:txBody>
      </p:sp>
      <p:sp>
        <p:nvSpPr>
          <p:cNvPr id="557" name="TextBox 556"/>
          <p:cNvSpPr txBox="1"/>
          <p:nvPr/>
        </p:nvSpPr>
        <p:spPr>
          <a:xfrm>
            <a:off x="6254496" y="5916168"/>
            <a:ext cx="640080" cy="201168"/>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R/litre</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sp>
        <p:nvSpPr>
          <p:cNvPr id="2521" name="Transnet lease overlay: Isosceles Triangle 2520"/>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2" name="Transnet lease overlay: Connector 2521"/>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3" name="Transnet lease overlay: TextBox 2522"/>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524" name="Transnet lease overlay: Isosceles Triangle 2523"/>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5" name="Transnet lease overlay: Connector 2524"/>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6" name="Transnet lease overlay: TextBox 2525"/>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527" name="Transnet lease overlay: Isosceles Triangle 2526"/>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8" name="Transnet lease overlay: Connector 2527"/>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9" name="Transnet lease overlay: TextBox 2528"/>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530" name="Transnet lease overlay: Isosceles Triangle 2529"/>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31" name="Transnet lease overlay: Connector 2530"/>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32" name="Transnet lease overlay: TextBox 2531"/>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533" name="Transnet lease overlay: Isosceles Triangle 2532"/>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34" name="Transnet lease overlay: Connector 2533"/>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35" name="Transnet lease overlay: TextBox 2534"/>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536" name="Transnet lease overlay: TextBox 2535"/>
          <p:cNvSpPr txBox="1"/>
          <p:nvPr/>
        </p:nvSpPr>
        <p:spPr>
          <a:xfrm>
            <a:off x="594360" y="3776472"/>
            <a:ext cx="1865376" cy="786384"/>
          </a:xfrm>
          <a:prstGeom prst="rect">
            <a:avLst/>
          </a:prstGeom>
          <a:solidFill>
            <a:srgbClr val="FFFFFF"/>
          </a:solidFill>
        </p:spPr>
        <p:txBody>
          <a:bodyPr wrap="square" lIns="22860" rIns="22860" tIns="0" bIns="0">
            <a:spAutoFit/>
          </a:bodyPr>
          <a:lstStyle/>
          <a:p>
            <a:pPr>
              <a:spcAft>
                <a:spcPts val="300"/>
              </a:spcAft>
              <a:defRPr sz="900" b="1">
                <a:solidFill>
                  <a:srgbClr val="000000"/>
                </a:solidFill>
                <a:latin typeface="Lato"/>
              </a:defRPr>
            </a:pPr>
            <a:r>
              <a:t>   Transnet lease offers</a:t>
            </a:r>
          </a:p>
          <a:p>
            <a:pPr>
              <a:spcAft>
                <a:spcPts val="300"/>
              </a:spcAft>
              <a:defRPr sz="900" b="1">
                <a:solidFill>
                  <a:srgbClr val="000000"/>
                </a:solidFill>
                <a:latin typeface="Lato"/>
              </a:defRPr>
            </a:pPr>
            <a:r>
              <a:t>1 Ladysmith | 2 Standerton</a:t>
            </a:r>
          </a:p>
          <a:p>
            <a:pPr>
              <a:spcAft>
                <a:spcPts val="300"/>
              </a:spcAft>
              <a:defRPr sz="900" b="1">
                <a:solidFill>
                  <a:srgbClr val="000000"/>
                </a:solidFill>
                <a:latin typeface="Lato"/>
              </a:defRPr>
            </a:pPr>
            <a:r>
              <a:t>3 Kroonstad | 4 Bethlehem</a:t>
            </a:r>
          </a:p>
          <a:p>
            <a:pPr>
              <a:spcAft>
                <a:spcPts val="300"/>
              </a:spcAft>
              <a:defRPr sz="900" b="1">
                <a:solidFill>
                  <a:srgbClr val="000000"/>
                </a:solidFill>
                <a:latin typeface="Lato"/>
              </a:defRPr>
            </a:pPr>
            <a:r>
              <a:t>5 Magdala*</a:t>
            </a:r>
          </a:p>
        </p:txBody>
      </p:sp>
      <p:sp>
        <p:nvSpPr>
          <p:cNvPr id="2537" name="Transnet lease overlay: Isosceles Triangle 2536"/>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Separate demand, accessible volume and Vopak flows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Illustrative CSVs and road transport rates; no actual Vopak throughput or quoted transport costs supplied.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Cost accessibility and market volumes | illustrative</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National balance sets import needs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Demand of 21.0 less domestic production of 7.0 gives required imports of 14.0 in this illustration.</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Count unique customer demand once</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Receipts of 2.8 at Durban and 2.0 at Lesedi include a shared 1.8 transfer. Unique demand served is 3.0.</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Candidate opportunity is conditional</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example commercial envelope is 8.5; current unique demand served is 3.0, leaving a candidate 5.5.</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Replace examples with evidence</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Match regional demand, route constraints, customer flows and contracts by product, period and units.</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Lesedi*</a:t>
            </a:r>
          </a:p>
        </p:txBody>
      </p:sp>
      <p:sp>
        <p:nvSpPr>
          <p:cNvPr id="516" name="TextBox 515"/>
          <p:cNvSpPr txBox="1"/>
          <p:nvPr/>
        </p:nvSpPr>
        <p:spPr>
          <a:xfrm>
            <a:off x="731520" y="2487168"/>
            <a:ext cx="2468880" cy="66751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Inland market | illustrative</a:t>
            </a:r>
          </a:p>
          <a:p>
            <a:pPr>
              <a:spcAft>
                <a:spcPts val="300"/>
              </a:spcAft>
              <a:defRPr sz="1100" b="1">
                <a:solidFill>
                  <a:srgbClr val="0A2373"/>
                </a:solidFill>
                <a:latin typeface="Lato"/>
              </a:defRPr>
            </a:pPr>
            <a:r>
              <a:t>Demand 10.0 | envelope 6.0</a:t>
            </a:r>
          </a:p>
          <a:p>
            <a:pPr>
              <a:spcAft>
                <a:spcPts val="300"/>
              </a:spcAft>
              <a:defRPr sz="1100" b="1">
                <a:solidFill>
                  <a:srgbClr val="0A2373"/>
                </a:solidFill>
                <a:latin typeface="Lato"/>
              </a:defRPr>
            </a:pPr>
            <a:r>
              <a:t>Current 2.0 | candidate 4.0</a:t>
            </a:r>
          </a:p>
        </p:txBody>
      </p:sp>
      <p:sp>
        <p:nvSpPr>
          <p:cNvPr id="517" name="TextBox 516"/>
          <p:cNvSpPr txBox="1"/>
          <p:nvPr/>
        </p:nvSpPr>
        <p:spPr>
          <a:xfrm>
            <a:off x="4343400" y="5047488"/>
            <a:ext cx="2468880" cy="66751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Eastern/coastal | illustrative</a:t>
            </a:r>
          </a:p>
          <a:p>
            <a:pPr>
              <a:spcAft>
                <a:spcPts val="300"/>
              </a:spcAft>
              <a:defRPr sz="1100" b="1">
                <a:solidFill>
                  <a:srgbClr val="0A2373"/>
                </a:solidFill>
                <a:latin typeface="Lato"/>
              </a:defRPr>
            </a:pPr>
            <a:r>
              <a:t>Demand 4.5 | envelope 2.5</a:t>
            </a:r>
          </a:p>
          <a:p>
            <a:pPr>
              <a:spcAft>
                <a:spcPts val="300"/>
              </a:spcAft>
              <a:defRPr sz="1100" b="1">
                <a:solidFill>
                  <a:srgbClr val="0A2373"/>
                </a:solidFill>
                <a:latin typeface="Lato"/>
              </a:defRPr>
            </a:pPr>
            <a:r>
              <a:t>Current 1.0 | candidate 1.5</a:t>
            </a:r>
          </a:p>
        </p:txBody>
      </p:sp>
      <p:sp>
        <p:nvSpPr>
          <p:cNvPr id="518" name="Rectangle 517"/>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TextBox 518"/>
          <p:cNvSpPr txBox="1"/>
          <p:nvPr/>
        </p:nvSpPr>
        <p:spPr>
          <a:xfrm>
            <a:off x="685800"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a:t>
            </a:r>
          </a:p>
        </p:txBody>
      </p:sp>
      <p:sp>
        <p:nvSpPr>
          <p:cNvPr id="520" name="Rectangle 519"/>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TextBox 520"/>
          <p:cNvSpPr txBox="1"/>
          <p:nvPr/>
        </p:nvSpPr>
        <p:spPr>
          <a:xfrm>
            <a:off x="1618488"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0.75–1.25</a:t>
            </a:r>
          </a:p>
        </p:txBody>
      </p:sp>
      <p:sp>
        <p:nvSpPr>
          <p:cNvPr id="522" name="Rectangle 521"/>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TextBox 522"/>
          <p:cNvSpPr txBox="1"/>
          <p:nvPr/>
        </p:nvSpPr>
        <p:spPr>
          <a:xfrm>
            <a:off x="2551176"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1.25–1.75</a:t>
            </a:r>
          </a:p>
        </p:txBody>
      </p:sp>
      <p:sp>
        <p:nvSpPr>
          <p:cNvPr id="524" name="Rectangle 523"/>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TextBox 524"/>
          <p:cNvSpPr txBox="1"/>
          <p:nvPr/>
        </p:nvSpPr>
        <p:spPr>
          <a:xfrm>
            <a:off x="3483864"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1.75–2.25</a:t>
            </a:r>
          </a:p>
        </p:txBody>
      </p:sp>
      <p:sp>
        <p:nvSpPr>
          <p:cNvPr id="526" name="Rectangle 525"/>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4416552"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&gt;2.25</a:t>
            </a:r>
          </a:p>
        </p:txBody>
      </p:sp>
      <p:sp>
        <p:nvSpPr>
          <p:cNvPr id="528" name="Rectangle 527"/>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5431536" y="5916168"/>
            <a:ext cx="731520" cy="201168"/>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Unassessed</a:t>
            </a:r>
          </a:p>
        </p:txBody>
      </p:sp>
      <p:sp>
        <p:nvSpPr>
          <p:cNvPr id="530" name="TextBox 529"/>
          <p:cNvSpPr txBox="1"/>
          <p:nvPr/>
        </p:nvSpPr>
        <p:spPr>
          <a:xfrm>
            <a:off x="6254496" y="5916168"/>
            <a:ext cx="640080" cy="201168"/>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R/litre</a:t>
            </a:r>
          </a:p>
        </p:txBody>
      </p:sp>
      <p:sp>
        <p:nvSpPr>
          <p:cNvPr id="531" name="TextBox 530"/>
          <p:cNvSpPr txBox="1"/>
          <p:nvPr/>
        </p:nvSpPr>
        <p:spPr>
          <a:xfrm>
            <a:off x="457200" y="6144768"/>
            <a:ext cx="6446520" cy="21031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Receipts 2.8 + 2.0 − transfer 1.8 = unique demand 3.0</a:t>
            </a:r>
          </a:p>
        </p:txBody>
      </p:sp>
      <p:sp>
        <p:nvSpPr>
          <p:cNvPr id="532" name="TextBox 531"/>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Example rates: R0.15/L + R0.002/L/km. Grey = unassessed. Volumes: bn L/year.</a:t>
            </a:r>
          </a:p>
        </p:txBody>
      </p:sp>
      <p:sp>
        <p:nvSpPr>
          <p:cNvPr id="2521" name="Transnet lease overlay: Isosceles Triangle 2520"/>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2" name="Transnet lease overlay: Connector 2521"/>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3" name="Transnet lease overlay: TextBox 2522"/>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524" name="Transnet lease overlay: Isosceles Triangle 2523"/>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5" name="Transnet lease overlay: Connector 2524"/>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6" name="Transnet lease overlay: TextBox 2525"/>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527" name="Transnet lease overlay: Isosceles Triangle 2526"/>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8" name="Transnet lease overlay: Connector 2527"/>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9" name="Transnet lease overlay: TextBox 2528"/>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530" name="Transnet lease overlay: Isosceles Triangle 2529"/>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31" name="Transnet lease overlay: Connector 2530"/>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32" name="Transnet lease overlay: TextBox 2531"/>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533" name="Transnet lease overlay: Isosceles Triangle 2532"/>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34" name="Transnet lease overlay: Connector 2533"/>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35" name="Transnet lease overlay: TextBox 2534"/>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536" name="Transnet lease overlay: TextBox 2535"/>
          <p:cNvSpPr txBox="1"/>
          <p:nvPr/>
        </p:nvSpPr>
        <p:spPr>
          <a:xfrm>
            <a:off x="594360" y="3776472"/>
            <a:ext cx="1865376" cy="786384"/>
          </a:xfrm>
          <a:prstGeom prst="rect">
            <a:avLst/>
          </a:prstGeom>
          <a:solidFill>
            <a:srgbClr val="FFFFFF"/>
          </a:solidFill>
        </p:spPr>
        <p:txBody>
          <a:bodyPr wrap="square" lIns="22860" rIns="22860" tIns="0" bIns="0">
            <a:spAutoFit/>
          </a:bodyPr>
          <a:lstStyle/>
          <a:p>
            <a:pPr>
              <a:spcAft>
                <a:spcPts val="300"/>
              </a:spcAft>
              <a:defRPr sz="900" b="1">
                <a:solidFill>
                  <a:srgbClr val="000000"/>
                </a:solidFill>
                <a:latin typeface="Lato"/>
              </a:defRPr>
            </a:pPr>
            <a:r>
              <a:t>   Transnet lease offers</a:t>
            </a:r>
          </a:p>
          <a:p>
            <a:pPr>
              <a:spcAft>
                <a:spcPts val="300"/>
              </a:spcAft>
              <a:defRPr sz="900" b="1">
                <a:solidFill>
                  <a:srgbClr val="000000"/>
                </a:solidFill>
                <a:latin typeface="Lato"/>
              </a:defRPr>
            </a:pPr>
            <a:r>
              <a:t>1 Ladysmith | 2 Standerton</a:t>
            </a:r>
          </a:p>
          <a:p>
            <a:pPr>
              <a:spcAft>
                <a:spcPts val="300"/>
              </a:spcAft>
              <a:defRPr sz="900" b="1">
                <a:solidFill>
                  <a:srgbClr val="000000"/>
                </a:solidFill>
                <a:latin typeface="Lato"/>
              </a:defRPr>
            </a:pPr>
            <a:r>
              <a:t>3 Kroonstad | 4 Bethlehem</a:t>
            </a:r>
          </a:p>
          <a:p>
            <a:pPr>
              <a:spcAft>
                <a:spcPts val="300"/>
              </a:spcAft>
              <a:defRPr sz="900" b="1">
                <a:solidFill>
                  <a:srgbClr val="000000"/>
                </a:solidFill>
                <a:latin typeface="Lato"/>
              </a:defRPr>
            </a:pPr>
            <a:r>
              <a:t>5 Magdala*</a:t>
            </a:r>
          </a:p>
        </p:txBody>
      </p:sp>
      <p:sp>
        <p:nvSpPr>
          <p:cNvPr id="2537" name="Transnet lease overlay: Isosceles Triangle 2536"/>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Locate fuel demand alongside the infrastructure serving it</a:t>
            </a:r>
          </a:p>
        </p:txBody>
      </p:sp>
      <p:sp>
        <p:nvSpPr>
          <p:cNvPr id="3" name="Slide Number Placeholder"/>
          <p:cNvSpPr>
            <a:spLocks noGrp="1"/>
          </p:cNvSpPr>
          <p:nvPr>
            <p:ph type="sldNum" sz="quarter" idx="12"/>
          </p:nvPr>
        </p:nvSpPr>
        <p:spPr/>
        <p:txBody>
          <a:bodyPr/>
          <a:lstStyle/>
          <a:p>
            <a:fld id="{EBFBDCAF-93D3-4850-88C6-E05A5BC4D420}"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7.</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concentrates in three provinces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6.81, KwaZulu-Natal 4.28 and Western Cape 3.93 bn litres represent 68.6% of reported sales.</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Regions have explicit boundaries</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Eastern coast = EC + KZN; inland = GP, FS, LP, MP and NW; western coast = WC; other = NC. These are working groupings.</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Five Transnet lease offers added</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Numbered triangles locate stranded depots offered for lease. Refurbishment, licensing and customer access remain conditional.</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Sales do not establish accessible volume</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All four quarters of 2022 reconcile to national sales. Current demand, delivered cost and customer rights need separate evidence.</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Hexagon 513"/>
          <p:cNvSpPr/>
          <p:nvPr/>
        </p:nvSpPr>
        <p:spPr>
          <a:xfrm>
            <a:off x="4997057" y="426520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Hexagon 514"/>
          <p:cNvSpPr/>
          <p:nvPr/>
        </p:nvSpPr>
        <p:spPr>
          <a:xfrm>
            <a:off x="5242626" y="400182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Hexagon 515"/>
          <p:cNvSpPr/>
          <p:nvPr/>
        </p:nvSpPr>
        <p:spPr>
          <a:xfrm>
            <a:off x="4394666" y="3284328"/>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Hexagon 516"/>
          <p:cNvSpPr/>
          <p:nvPr/>
        </p:nvSpPr>
        <p:spPr>
          <a:xfrm>
            <a:off x="4375076" y="332985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Hexagon 517"/>
          <p:cNvSpPr/>
          <p:nvPr/>
        </p:nvSpPr>
        <p:spPr>
          <a:xfrm>
            <a:off x="4385601" y="318436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Hexagon 518"/>
          <p:cNvSpPr/>
          <p:nvPr/>
        </p:nvSpPr>
        <p:spPr>
          <a:xfrm>
            <a:off x="4422829" y="3177679"/>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Hexagon 519"/>
          <p:cNvSpPr/>
          <p:nvPr/>
        </p:nvSpPr>
        <p:spPr>
          <a:xfrm>
            <a:off x="4303161" y="345340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Hexagon 520"/>
          <p:cNvSpPr/>
          <p:nvPr/>
        </p:nvSpPr>
        <p:spPr>
          <a:xfrm>
            <a:off x="4263607" y="326567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Hexagon 521"/>
          <p:cNvSpPr/>
          <p:nvPr/>
        </p:nvSpPr>
        <p:spPr>
          <a:xfrm>
            <a:off x="4434127" y="336213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Hexagon 522"/>
          <p:cNvSpPr/>
          <p:nvPr/>
        </p:nvSpPr>
        <p:spPr>
          <a:xfrm>
            <a:off x="2251904" y="530186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4" name="Connector 523"/>
          <p:cNvCxnSpPr/>
          <p:nvPr/>
        </p:nvCxnSpPr>
        <p:spPr>
          <a:xfrm flipH="1">
            <a:off x="5001768" y="4315496"/>
            <a:ext cx="45581" cy="50763"/>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5" name="TextBox 524"/>
          <p:cNvSpPr txBox="1"/>
          <p:nvPr/>
        </p:nvSpPr>
        <p:spPr>
          <a:xfrm>
            <a:off x="5001768" y="4160520"/>
            <a:ext cx="1508760" cy="411480"/>
          </a:xfrm>
          <a:prstGeom prst="rect">
            <a:avLst/>
          </a:prstGeom>
          <a:solidFill>
            <a:srgbClr val="FFFFFF"/>
          </a:solidFill>
        </p:spPr>
        <p:txBody>
          <a:bodyPr wrap="square" lIns="22860" rIns="22860" tIns="0" bIns="0">
            <a:spAutoFit/>
          </a:bodyPr>
          <a:lstStyle/>
          <a:p>
            <a:pPr>
              <a:spcAft>
                <a:spcPts val="300"/>
              </a:spcAft>
              <a:defRPr sz="1000" b="1">
                <a:solidFill>
                  <a:srgbClr val="0A2373"/>
                </a:solidFill>
                <a:latin typeface="Lato"/>
              </a:defRPr>
            </a:pPr>
            <a:r>
              <a:t>Durban</a:t>
            </a:r>
          </a:p>
          <a:p>
            <a:pPr>
              <a:spcAft>
                <a:spcPts val="300"/>
              </a:spcAft>
              <a:defRPr sz="1000" b="1">
                <a:solidFill>
                  <a:srgbClr val="0A2373"/>
                </a:solidFill>
                <a:latin typeface="Lato"/>
              </a:defRPr>
            </a:pPr>
            <a:r>
              <a:t>Vopak / Bidvest</a:t>
            </a:r>
          </a:p>
        </p:txBody>
      </p:sp>
      <p:cxnSp>
        <p:nvCxnSpPr>
          <p:cNvPr id="526" name="Connector 525"/>
          <p:cNvCxnSpPr/>
          <p:nvPr/>
        </p:nvCxnSpPr>
        <p:spPr>
          <a:xfrm flipH="1" flipV="1">
            <a:off x="5148072" y="3817620"/>
            <a:ext cx="144846" cy="234493"/>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7" name="TextBox 526"/>
          <p:cNvSpPr txBox="1"/>
          <p:nvPr/>
        </p:nvSpPr>
        <p:spPr>
          <a:xfrm>
            <a:off x="5148072" y="3611880"/>
            <a:ext cx="1554480" cy="411480"/>
          </a:xfrm>
          <a:prstGeom prst="rect">
            <a:avLst/>
          </a:prstGeom>
          <a:solidFill>
            <a:srgbClr val="FFFFFF"/>
          </a:solidFill>
        </p:spPr>
        <p:txBody>
          <a:bodyPr wrap="square" lIns="22860" rIns="22860" tIns="0" bIns="0">
            <a:spAutoFit/>
          </a:bodyPr>
          <a:lstStyle/>
          <a:p>
            <a:pPr>
              <a:spcAft>
                <a:spcPts val="300"/>
              </a:spcAft>
              <a:defRPr sz="1000" b="1">
                <a:solidFill>
                  <a:srgbClr val="0A2373"/>
                </a:solidFill>
                <a:latin typeface="Lato"/>
              </a:defRPr>
            </a:pPr>
            <a:r>
              <a:t>Richards Bay</a:t>
            </a:r>
          </a:p>
          <a:p>
            <a:pPr>
              <a:spcAft>
                <a:spcPts val="300"/>
              </a:spcAft>
              <a:defRPr sz="1000" b="1">
                <a:solidFill>
                  <a:srgbClr val="0A2373"/>
                </a:solidFill>
                <a:latin typeface="Lato"/>
              </a:defRPr>
            </a:pPr>
            <a:r>
              <a:t>Bidvest</a:t>
            </a:r>
          </a:p>
        </p:txBody>
      </p:sp>
      <p:cxnSp>
        <p:nvCxnSpPr>
          <p:cNvPr id="528" name="Connector 527"/>
          <p:cNvCxnSpPr/>
          <p:nvPr/>
        </p:nvCxnSpPr>
        <p:spPr>
          <a:xfrm flipH="1" flipV="1">
            <a:off x="566928" y="4773168"/>
            <a:ext cx="1735268" cy="578988"/>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9" name="TextBox 528"/>
          <p:cNvSpPr txBox="1"/>
          <p:nvPr/>
        </p:nvSpPr>
        <p:spPr>
          <a:xfrm>
            <a:off x="566928" y="4572000"/>
            <a:ext cx="1298448" cy="402336"/>
          </a:xfrm>
          <a:prstGeom prst="rect">
            <a:avLst/>
          </a:prstGeom>
          <a:solidFill>
            <a:srgbClr val="FFFFFF"/>
          </a:solidFill>
        </p:spPr>
        <p:txBody>
          <a:bodyPr wrap="square" lIns="22860" rIns="22860" tIns="0" bIns="0">
            <a:spAutoFit/>
          </a:bodyPr>
          <a:lstStyle/>
          <a:p>
            <a:pPr>
              <a:spcAft>
                <a:spcPts val="300"/>
              </a:spcAft>
              <a:defRPr sz="1000" b="1">
                <a:solidFill>
                  <a:srgbClr val="0A2373"/>
                </a:solidFill>
                <a:latin typeface="Lato"/>
              </a:defRPr>
            </a:pPr>
            <a:r>
              <a:t>Cape Town</a:t>
            </a:r>
          </a:p>
          <a:p>
            <a:pPr>
              <a:spcAft>
                <a:spcPts val="300"/>
              </a:spcAft>
              <a:defRPr sz="1000" b="1">
                <a:solidFill>
                  <a:srgbClr val="0A2373"/>
                </a:solidFill>
                <a:latin typeface="Lato"/>
              </a:defRPr>
            </a:pPr>
            <a:r>
              <a:t>Burgan Cape</a:t>
            </a:r>
          </a:p>
        </p:txBody>
      </p:sp>
      <p:cxnSp>
        <p:nvCxnSpPr>
          <p:cNvPr id="530" name="Connector 529"/>
          <p:cNvCxnSpPr/>
          <p:nvPr/>
        </p:nvCxnSpPr>
        <p:spPr>
          <a:xfrm flipH="1" flipV="1">
            <a:off x="594360" y="3209544"/>
            <a:ext cx="3847905" cy="140350"/>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31" name="TextBox 530"/>
          <p:cNvSpPr txBox="1"/>
          <p:nvPr/>
        </p:nvSpPr>
        <p:spPr>
          <a:xfrm>
            <a:off x="594360" y="2907792"/>
            <a:ext cx="1874519" cy="603504"/>
          </a:xfrm>
          <a:prstGeom prst="rect">
            <a:avLst/>
          </a:prstGeom>
          <a:solidFill>
            <a:srgbClr val="FFFFFF"/>
          </a:solidFill>
        </p:spPr>
        <p:txBody>
          <a:bodyPr wrap="square" lIns="22860" rIns="22860" tIns="0" bIns="0">
            <a:spAutoFit/>
          </a:bodyPr>
          <a:lstStyle/>
          <a:p>
            <a:pPr>
              <a:spcAft>
                <a:spcPts val="300"/>
              </a:spcAft>
              <a:defRPr sz="1000" b="1">
                <a:solidFill>
                  <a:srgbClr val="0A2373"/>
                </a:solidFill>
                <a:latin typeface="Lato"/>
              </a:defRPr>
            </a:pPr>
            <a:r>
              <a:t>Lesedi / inland storage</a:t>
            </a:r>
          </a:p>
          <a:p>
            <a:pPr>
              <a:spcAft>
                <a:spcPts val="300"/>
              </a:spcAft>
              <a:defRPr sz="1000" b="1">
                <a:solidFill>
                  <a:srgbClr val="0A2373"/>
                </a:solidFill>
                <a:latin typeface="Lato"/>
              </a:defRPr>
            </a:pPr>
            <a:r>
              <a:t>Vopak / Bidvest</a:t>
            </a:r>
          </a:p>
          <a:p>
            <a:pPr>
              <a:spcAft>
                <a:spcPts val="300"/>
              </a:spcAft>
              <a:defRPr sz="1000" b="1">
                <a:solidFill>
                  <a:srgbClr val="0A2373"/>
                </a:solidFill>
                <a:latin typeface="Lato"/>
              </a:defRPr>
            </a:pPr>
            <a:r>
              <a:t>Sasol / Transnet</a:t>
            </a:r>
          </a:p>
        </p:txBody>
      </p:sp>
      <p:sp>
        <p:nvSpPr>
          <p:cNvPr id="532" name="Transnet lease overlay: Isosceles Triangle 531"/>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3" name="Transnet lease overlay: Connector 532"/>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4" name="Transnet lease overlay: TextBox 533"/>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535" name="Transnet lease overlay: Isosceles Triangle 534"/>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6" name="Transnet lease overlay: Connector 535"/>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7" name="Transnet lease overlay: TextBox 536"/>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538" name="Transnet lease overlay: Isosceles Triangle 537"/>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9" name="Transnet lease overlay: Connector 538"/>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0" name="Transnet lease overlay: TextBox 539"/>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541" name="Transnet lease overlay: Isosceles Triangle 540"/>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2" name="Transnet lease overlay: Connector 541"/>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3" name="Transnet lease overlay: TextBox 542"/>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544" name="Transnet lease overlay: Isosceles Triangle 543"/>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5" name="Transnet lease overlay: Connector 544"/>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6" name="Transnet lease overlay: TextBox 545"/>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547" name="Transnet lease overlay: TextBox 546"/>
          <p:cNvSpPr txBox="1"/>
          <p:nvPr/>
        </p:nvSpPr>
        <p:spPr>
          <a:xfrm>
            <a:off x="594360" y="3694176"/>
            <a:ext cx="1865376" cy="786384"/>
          </a:xfrm>
          <a:prstGeom prst="rect">
            <a:avLst/>
          </a:prstGeom>
          <a:solidFill>
            <a:srgbClr val="FFFFFF"/>
          </a:solidFill>
        </p:spPr>
        <p:txBody>
          <a:bodyPr wrap="square" lIns="22860" rIns="22860" tIns="0" bIns="0">
            <a:spAutoFit/>
          </a:bodyPr>
          <a:lstStyle/>
          <a:p>
            <a:pPr>
              <a:spcAft>
                <a:spcPts val="300"/>
              </a:spcAft>
              <a:defRPr sz="900" b="1">
                <a:solidFill>
                  <a:srgbClr val="000000"/>
                </a:solidFill>
                <a:latin typeface="Lato"/>
              </a:defRPr>
            </a:pPr>
            <a:r>
              <a:t>   Transnet lease offers</a:t>
            </a:r>
          </a:p>
          <a:p>
            <a:pPr>
              <a:spcAft>
                <a:spcPts val="300"/>
              </a:spcAft>
              <a:defRPr sz="900" b="1">
                <a:solidFill>
                  <a:srgbClr val="000000"/>
                </a:solidFill>
                <a:latin typeface="Lato"/>
              </a:defRPr>
            </a:pPr>
            <a:r>
              <a:t>1 Ladysmith | 2 Standerton</a:t>
            </a:r>
          </a:p>
          <a:p>
            <a:pPr>
              <a:spcAft>
                <a:spcPts val="300"/>
              </a:spcAft>
              <a:defRPr sz="900" b="1">
                <a:solidFill>
                  <a:srgbClr val="000000"/>
                </a:solidFill>
                <a:latin typeface="Lato"/>
              </a:defRPr>
            </a:pPr>
            <a:r>
              <a:t>3 Kroonstad | 4 Bethlehem</a:t>
            </a:r>
          </a:p>
          <a:p>
            <a:pPr>
              <a:spcAft>
                <a:spcPts val="300"/>
              </a:spcAft>
              <a:defRPr sz="900" b="1">
                <a:solidFill>
                  <a:srgbClr val="000000"/>
                </a:solidFill>
                <a:latin typeface="Lato"/>
              </a:defRPr>
            </a:pPr>
            <a:r>
              <a:t>5 Magdala*</a:t>
            </a:r>
          </a:p>
        </p:txBody>
      </p:sp>
      <p:sp>
        <p:nvSpPr>
          <p:cNvPr id="548" name="Transnet lease overlay: Isosceles Triangle 547"/>
          <p:cNvSpPr/>
          <p:nvPr/>
        </p:nvSpPr>
        <p:spPr>
          <a:xfrm>
            <a:off x="612647" y="372618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9" name="Connector 548"/>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50" name="TextBox 549"/>
          <p:cNvSpPr txBox="1"/>
          <p:nvPr/>
        </p:nvSpPr>
        <p:spPr>
          <a:xfrm>
            <a:off x="3733647" y="479765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51" name="TextBox 550"/>
          <p:cNvSpPr txBox="1"/>
          <p:nvPr/>
        </p:nvSpPr>
        <p:spPr>
          <a:xfrm>
            <a:off x="3542762" y="379856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52" name="TextBox 551"/>
          <p:cNvSpPr txBox="1"/>
          <p:nvPr/>
        </p:nvSpPr>
        <p:spPr>
          <a:xfrm>
            <a:off x="3803733" y="280388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53" name="TextBox 552"/>
          <p:cNvSpPr txBox="1"/>
          <p:nvPr/>
        </p:nvSpPr>
        <p:spPr>
          <a:xfrm>
            <a:off x="4411105" y="4123524"/>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KZN</a:t>
            </a:r>
          </a:p>
          <a:p>
            <a:pPr>
              <a:spcAft>
                <a:spcPts val="300"/>
              </a:spcAft>
              <a:defRPr sz="900" b="1">
                <a:solidFill>
                  <a:srgbClr val="0A2373"/>
                </a:solidFill>
                <a:latin typeface="Lato"/>
              </a:defRPr>
            </a:pPr>
            <a:r>
              <a:t>4.28</a:t>
            </a:r>
          </a:p>
        </p:txBody>
      </p:sp>
      <p:sp>
        <p:nvSpPr>
          <p:cNvPr id="554" name="TextBox 553"/>
          <p:cNvSpPr txBox="1"/>
          <p:nvPr/>
        </p:nvSpPr>
        <p:spPr>
          <a:xfrm>
            <a:off x="4417727" y="2601143"/>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55" name="TextBox 554"/>
          <p:cNvSpPr txBox="1"/>
          <p:nvPr/>
        </p:nvSpPr>
        <p:spPr>
          <a:xfrm>
            <a:off x="4643472" y="3134231"/>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56" name="TextBox 555"/>
          <p:cNvSpPr txBox="1"/>
          <p:nvPr/>
        </p:nvSpPr>
        <p:spPr>
          <a:xfrm>
            <a:off x="3637071" y="324939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57" name="TextBox 556"/>
          <p:cNvSpPr txBox="1"/>
          <p:nvPr/>
        </p:nvSpPr>
        <p:spPr>
          <a:xfrm>
            <a:off x="2660447" y="411647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58" name="TextBox 557"/>
          <p:cNvSpPr txBox="1"/>
          <p:nvPr/>
        </p:nvSpPr>
        <p:spPr>
          <a:xfrm>
            <a:off x="2480876" y="494182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59" name="Rectangle 558"/>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TextBox 559"/>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61" name="Rectangle 560"/>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TextBox 561"/>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63" name="Rectangle 562"/>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TextBox 563"/>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65" name="Rectangle 564"/>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TextBox 565"/>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67" name="Rectangle 566"/>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TextBox 567"/>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69" name="TextBox 568"/>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bn L/year; darker = more sales</a:t>
            </a:r>
          </a:p>
        </p:txBody>
      </p:sp>
      <p:sp>
        <p:nvSpPr>
          <p:cNvPr id="570" name="Oval 569"/>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TextBox 570"/>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72" name="Rectangle 571"/>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TextBox 572"/>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74" name="Diamond 573"/>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TextBox 574"/>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76" name="Hexagon 575"/>
          <p:cNvSpPr/>
          <p:nvPr/>
        </p:nvSpPr>
        <p:spPr>
          <a:xfrm>
            <a:off x="3204972" y="6195060"/>
            <a:ext cx="82296" cy="82296"/>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TextBox 576"/>
          <p:cNvSpPr txBox="1"/>
          <p:nvPr/>
        </p:nvSpPr>
        <p:spPr>
          <a:xfrm>
            <a:off x="333756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Other storage</a:t>
            </a:r>
          </a:p>
        </p:txBody>
      </p:sp>
      <p:sp>
        <p:nvSpPr>
          <p:cNvPr id="578" name="TextBox 577"/>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79" name="TextBox 578"/>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Lease offers are not operating capacity. *Magdala RFP location narrative conflicts; briefing coordinate used. Jet excluded.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Track petrol and diesel sales by province over time</a:t>
            </a:r>
          </a:p>
        </p:txBody>
      </p:sp>
      <p:sp>
        <p:nvSpPr>
          <p:cNvPr id="3" name="Slide Number Placeholder"/>
          <p:cNvSpPr>
            <a:spLocks noGrp="1"/>
          </p:cNvSpPr>
          <p:nvPr>
            <p:ph type="sldNum" sz="quarter" idx="12"/>
          </p:nvPr>
        </p:nvSpPr>
        <p:spPr/>
        <p:txBody>
          <a:bodyPr/>
          <a:lstStyle/>
          <a:p>
            <a:fld id="{969F0C0E-ECE6-403B-96DA-13030FC8D87D}"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quarterly provincial sales extract; complete calendar years only. Petrol + diesel; jet excluded.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One line per province</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Compare provincial demand histories on one shared scale. Petrol and diesel are combined; jet is excluded.</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Keep history separate from outlook</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latest complete year in this extract is 2022. These lines are reported sales, not a current-year forecast.</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Incomplete periods are excluded</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2023 contains Q1 only. A partial year must not appear as a full-year demand collapse.</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Historical totals need reconciliation</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Provincial and national series differ in 6 years. Largest gaps: 2013 +0.54 and 2018 -0.43 bn litres. Review the source workbooks.</a:t>
            </a:r>
          </a:p>
        </p:txBody>
      </p: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943600"/>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79592"/>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Gauteng</a:t>
            </a:r>
          </a:p>
        </p:txBody>
      </p:sp>
      <p:cxnSp>
        <p:nvCxnSpPr>
          <p:cNvPr id="25" name="Connector 24"/>
          <p:cNvCxnSpPr/>
          <p:nvPr/>
        </p:nvCxnSpPr>
        <p:spPr>
          <a:xfrm>
            <a:off x="2606039" y="5943600"/>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79592"/>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KwaZulu-Natal</a:t>
            </a:r>
          </a:p>
        </p:txBody>
      </p:sp>
      <p:cxnSp>
        <p:nvCxnSpPr>
          <p:cNvPr id="27" name="Connector 26"/>
          <p:cNvCxnSpPr/>
          <p:nvPr/>
        </p:nvCxnSpPr>
        <p:spPr>
          <a:xfrm>
            <a:off x="4709159" y="5943600"/>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79592"/>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Western Cape</a:t>
            </a:r>
          </a:p>
        </p:txBody>
      </p:sp>
      <p:cxnSp>
        <p:nvCxnSpPr>
          <p:cNvPr id="29" name="Connector 28"/>
          <p:cNvCxnSpPr/>
          <p:nvPr/>
        </p:nvCxnSpPr>
        <p:spPr>
          <a:xfrm>
            <a:off x="502920" y="6153912"/>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89904"/>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Mpumalanga</a:t>
            </a:r>
          </a:p>
        </p:txBody>
      </p:sp>
      <p:cxnSp>
        <p:nvCxnSpPr>
          <p:cNvPr id="31" name="Connector 30"/>
          <p:cNvCxnSpPr/>
          <p:nvPr/>
        </p:nvCxnSpPr>
        <p:spPr>
          <a:xfrm>
            <a:off x="2606039" y="6153912"/>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89904"/>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Eastern Cape</a:t>
            </a:r>
          </a:p>
        </p:txBody>
      </p:sp>
      <p:cxnSp>
        <p:nvCxnSpPr>
          <p:cNvPr id="33" name="Connector 32"/>
          <p:cNvCxnSpPr/>
          <p:nvPr/>
        </p:nvCxnSpPr>
        <p:spPr>
          <a:xfrm>
            <a:off x="4709159" y="6153912"/>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89904"/>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Free State</a:t>
            </a:r>
          </a:p>
        </p:txBody>
      </p:sp>
      <p:cxnSp>
        <p:nvCxnSpPr>
          <p:cNvPr id="35" name="Connector 34"/>
          <p:cNvCxnSpPr/>
          <p:nvPr/>
        </p:nvCxnSpPr>
        <p:spPr>
          <a:xfrm>
            <a:off x="502920" y="6364224"/>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300216"/>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North West</a:t>
            </a:r>
          </a:p>
        </p:txBody>
      </p:sp>
      <p:cxnSp>
        <p:nvCxnSpPr>
          <p:cNvPr id="37" name="Connector 36"/>
          <p:cNvCxnSpPr/>
          <p:nvPr/>
        </p:nvCxnSpPr>
        <p:spPr>
          <a:xfrm>
            <a:off x="2606039" y="6364224"/>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300216"/>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Limpopo</a:t>
            </a:r>
          </a:p>
        </p:txBody>
      </p:sp>
      <p:cxnSp>
        <p:nvCxnSpPr>
          <p:cNvPr id="39" name="Connector 38"/>
          <p:cNvCxnSpPr/>
          <p:nvPr/>
        </p:nvCxnSpPr>
        <p:spPr>
          <a:xfrm>
            <a:off x="4709159" y="6364224"/>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300216"/>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Northern Cape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Shape the provincial split between domestic fuel and imports</a:t>
            </a:r>
          </a:p>
        </p:txBody>
      </p:sp>
      <p:sp>
        <p:nvSpPr>
          <p:cNvPr id="3" name="Slide Number Placeholder"/>
          <p:cNvSpPr>
            <a:spLocks noGrp="1"/>
          </p:cNvSpPr>
          <p:nvPr>
            <p:ph type="sldNum" sz="quarter" idx="12"/>
          </p:nvPr>
        </p:nvSpPr>
        <p:spPr/>
        <p:txBody>
          <a:bodyPr/>
          <a:lstStyle/>
          <a:p>
            <a:fld id="{14A9986C-30F9-4C9E-8F2B-62BB0C6A63AE}"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totals are reported sales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Each complete bar matches its province’s reported petrol + diesel sales in 2022. The source split is illustrative.</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Allocate by product, then aggregate</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Use the existing example domestic shares separately for petrol and diesel. Provinces differ because their fuel mix differs.</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Provincial origins remain unverified</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National production/imports do not tell us which province received each litre. Obtain refinery, port and onward customer flows.</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Refined fuel origin is the distinction</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Locally refined fuel counts as domestic, including output made from imported crude. Imports here mean finished petrol/diesel.</a:t>
            </a:r>
          </a:p>
        </p:txBody>
      </p: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20040" cy="173736"/>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20040" cy="173736"/>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20040" cy="173736"/>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20040" cy="173736"/>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20040" cy="173736"/>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8</a:t>
            </a:r>
          </a:p>
        </p:txBody>
      </p:sp>
      <p:sp>
        <p:nvSpPr>
          <p:cNvPr id="32" name="TextBox 31"/>
          <p:cNvSpPr txBox="1"/>
          <p:nvPr/>
        </p:nvSpPr>
        <p:spPr>
          <a:xfrm>
            <a:off x="457200" y="2606039"/>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Gauteng</a:t>
            </a:r>
          </a:p>
        </p:txBody>
      </p:sp>
      <p:sp>
        <p:nvSpPr>
          <p:cNvPr id="33" name="Rectangle 32"/>
          <p:cNvSpPr/>
          <p:nvPr/>
        </p:nvSpPr>
        <p:spPr>
          <a:xfrm>
            <a:off x="1874519" y="2596896"/>
            <a:ext cx="1310608"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6.81</a:t>
            </a:r>
          </a:p>
        </p:txBody>
      </p:sp>
      <p:sp>
        <p:nvSpPr>
          <p:cNvPr id="36" name="TextBox 35"/>
          <p:cNvSpPr txBox="1"/>
          <p:nvPr/>
        </p:nvSpPr>
        <p:spPr>
          <a:xfrm>
            <a:off x="457200" y="2916935"/>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KwaZulu-Natal</a:t>
            </a:r>
          </a:p>
        </p:txBody>
      </p:sp>
      <p:sp>
        <p:nvSpPr>
          <p:cNvPr id="37" name="Rectangle 36"/>
          <p:cNvSpPr/>
          <p:nvPr/>
        </p:nvSpPr>
        <p:spPr>
          <a:xfrm>
            <a:off x="1874519" y="2907791"/>
            <a:ext cx="747567"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4.28</a:t>
            </a:r>
          </a:p>
        </p:txBody>
      </p:sp>
      <p:sp>
        <p:nvSpPr>
          <p:cNvPr id="40" name="TextBox 39"/>
          <p:cNvSpPr txBox="1"/>
          <p:nvPr/>
        </p:nvSpPr>
        <p:spPr>
          <a:xfrm>
            <a:off x="457200" y="3227832"/>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Western Cape</a:t>
            </a:r>
          </a:p>
        </p:txBody>
      </p:sp>
      <p:sp>
        <p:nvSpPr>
          <p:cNvPr id="41" name="Rectangle 40"/>
          <p:cNvSpPr/>
          <p:nvPr/>
        </p:nvSpPr>
        <p:spPr>
          <a:xfrm>
            <a:off x="1874519" y="3218688"/>
            <a:ext cx="691804"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3.93</a:t>
            </a:r>
          </a:p>
        </p:txBody>
      </p:sp>
      <p:sp>
        <p:nvSpPr>
          <p:cNvPr id="44" name="TextBox 43"/>
          <p:cNvSpPr txBox="1"/>
          <p:nvPr/>
        </p:nvSpPr>
        <p:spPr>
          <a:xfrm>
            <a:off x="457200" y="3538727"/>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Mpumalanga</a:t>
            </a:r>
          </a:p>
        </p:txBody>
      </p:sp>
      <p:sp>
        <p:nvSpPr>
          <p:cNvPr id="45" name="Rectangle 44"/>
          <p:cNvSpPr/>
          <p:nvPr/>
        </p:nvSpPr>
        <p:spPr>
          <a:xfrm>
            <a:off x="1874519" y="3529584"/>
            <a:ext cx="306332"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1.76</a:t>
            </a:r>
          </a:p>
        </p:txBody>
      </p:sp>
      <p:sp>
        <p:nvSpPr>
          <p:cNvPr id="48" name="TextBox 47"/>
          <p:cNvSpPr txBox="1"/>
          <p:nvPr/>
        </p:nvSpPr>
        <p:spPr>
          <a:xfrm>
            <a:off x="457200" y="3849624"/>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Eastern Cape</a:t>
            </a:r>
          </a:p>
        </p:txBody>
      </p:sp>
      <p:sp>
        <p:nvSpPr>
          <p:cNvPr id="49" name="Rectangle 48"/>
          <p:cNvSpPr/>
          <p:nvPr/>
        </p:nvSpPr>
        <p:spPr>
          <a:xfrm>
            <a:off x="1874519" y="3840480"/>
            <a:ext cx="313049"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1.74</a:t>
            </a:r>
          </a:p>
        </p:txBody>
      </p:sp>
      <p:sp>
        <p:nvSpPr>
          <p:cNvPr id="52" name="TextBox 51"/>
          <p:cNvSpPr txBox="1"/>
          <p:nvPr/>
        </p:nvSpPr>
        <p:spPr>
          <a:xfrm>
            <a:off x="457200" y="4160520"/>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Free State</a:t>
            </a:r>
          </a:p>
        </p:txBody>
      </p:sp>
      <p:sp>
        <p:nvSpPr>
          <p:cNvPr id="53" name="Rectangle 52"/>
          <p:cNvSpPr/>
          <p:nvPr/>
        </p:nvSpPr>
        <p:spPr>
          <a:xfrm>
            <a:off x="1874519" y="4151376"/>
            <a:ext cx="250485"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1.37</a:t>
            </a:r>
          </a:p>
        </p:txBody>
      </p:sp>
      <p:sp>
        <p:nvSpPr>
          <p:cNvPr id="56" name="TextBox 55"/>
          <p:cNvSpPr txBox="1"/>
          <p:nvPr/>
        </p:nvSpPr>
        <p:spPr>
          <a:xfrm>
            <a:off x="457200" y="4471416"/>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North West</a:t>
            </a:r>
          </a:p>
        </p:txBody>
      </p:sp>
      <p:sp>
        <p:nvSpPr>
          <p:cNvPr id="57" name="Rectangle 56"/>
          <p:cNvSpPr/>
          <p:nvPr/>
        </p:nvSpPr>
        <p:spPr>
          <a:xfrm>
            <a:off x="1874519" y="4462272"/>
            <a:ext cx="194304"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1.07</a:t>
            </a:r>
          </a:p>
        </p:txBody>
      </p:sp>
      <p:sp>
        <p:nvSpPr>
          <p:cNvPr id="60" name="TextBox 59"/>
          <p:cNvSpPr txBox="1"/>
          <p:nvPr/>
        </p:nvSpPr>
        <p:spPr>
          <a:xfrm>
            <a:off x="457200" y="4782312"/>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Limpopo</a:t>
            </a:r>
          </a:p>
        </p:txBody>
      </p:sp>
      <p:sp>
        <p:nvSpPr>
          <p:cNvPr id="61" name="Rectangle 60"/>
          <p:cNvSpPr/>
          <p:nvPr/>
        </p:nvSpPr>
        <p:spPr>
          <a:xfrm>
            <a:off x="1874519" y="4773168"/>
            <a:ext cx="97173"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0.50</a:t>
            </a:r>
          </a:p>
        </p:txBody>
      </p:sp>
      <p:sp>
        <p:nvSpPr>
          <p:cNvPr id="64" name="TextBox 63"/>
          <p:cNvSpPr txBox="1"/>
          <p:nvPr/>
        </p:nvSpPr>
        <p:spPr>
          <a:xfrm>
            <a:off x="457200" y="5093208"/>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Northern Cape</a:t>
            </a:r>
          </a:p>
        </p:txBody>
      </p:sp>
      <p:sp>
        <p:nvSpPr>
          <p:cNvPr id="65" name="Rectangle 64"/>
          <p:cNvSpPr/>
          <p:nvPr/>
        </p:nvSpPr>
        <p:spPr>
          <a:xfrm>
            <a:off x="1874519" y="5084064"/>
            <a:ext cx="72620"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19456"/>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19456"/>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Size each regional market and locate competing storage</a:t>
            </a:r>
          </a:p>
        </p:txBody>
      </p:sp>
      <p:sp>
        <p:nvSpPr>
          <p:cNvPr id="3" name="Slide Number Placeholder"/>
          <p:cNvSpPr>
            <a:spLocks noGrp="1"/>
          </p:cNvSpPr>
          <p:nvPr>
            <p:ph type="sldNum" sz="quarter" idx="12"/>
          </p:nvPr>
        </p:nvSpPr>
        <p:spPr/>
        <p:txBody>
          <a:bodyPr/>
          <a:lstStyle/>
          <a:p>
            <a:fld id="{7005883F-5436-4D08-B5A6-083211358643}"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 | competitors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438912"/>
          </a:xfrm>
          <a:prstGeom prst="rect">
            <a:avLst/>
          </a:prstGeom>
          <a:noFill/>
        </p:spPr>
        <p:txBody>
          <a:bodyPr wrap="square" lIns="22860" rIns="22860" tIns="0" bIns="0">
            <a:spAutoFit/>
          </a:bodyPr>
          <a:lstStyle/>
          <a:p>
            <a:pPr>
              <a:spcAft>
                <a:spcPts val="300"/>
              </a:spcAft>
              <a:defRPr sz="1000" b="1">
                <a:solidFill>
                  <a:srgbClr val="000000"/>
                </a:solidFill>
                <a:latin typeface="Lato"/>
              </a:defRPr>
            </a:pPr>
            <a:r>
              <a:t>Region / provinces</a:t>
            </a:r>
          </a:p>
        </p:txBody>
      </p:sp>
      <p:sp>
        <p:nvSpPr>
          <p:cNvPr id="16" name="TextBox 15"/>
          <p:cNvSpPr txBox="1"/>
          <p:nvPr/>
        </p:nvSpPr>
        <p:spPr>
          <a:xfrm>
            <a:off x="1847088" y="2624328"/>
            <a:ext cx="2542032" cy="228600"/>
          </a:xfrm>
          <a:prstGeom prst="rect">
            <a:avLst/>
          </a:prstGeom>
          <a:noFill/>
        </p:spPr>
        <p:txBody>
          <a:bodyPr wrap="square" lIns="22860" rIns="22860" tIns="0" bIns="0">
            <a:spAutoFit/>
          </a:bodyPr>
          <a:lstStyle/>
          <a:p>
            <a:pPr>
              <a:spcAft>
                <a:spcPts val="300"/>
              </a:spcAft>
              <a:defRPr sz="1000" b="1">
                <a:solidFill>
                  <a:srgbClr val="000000"/>
                </a:solidFill>
                <a:latin typeface="Lato"/>
              </a:defRPr>
            </a:pPr>
            <a:r>
              <a:t>Reported demand</a:t>
            </a:r>
          </a:p>
        </p:txBody>
      </p:sp>
      <p:sp>
        <p:nvSpPr>
          <p:cNvPr id="17" name="TextBox 16"/>
          <p:cNvSpPr txBox="1"/>
          <p:nvPr/>
        </p:nvSpPr>
        <p:spPr>
          <a:xfrm>
            <a:off x="4553712" y="2624328"/>
            <a:ext cx="1051560" cy="438912"/>
          </a:xfrm>
          <a:prstGeom prst="rect">
            <a:avLst/>
          </a:prstGeom>
          <a:noFill/>
        </p:spPr>
        <p:txBody>
          <a:bodyPr wrap="square" lIns="22860" rIns="22860" tIns="0" bIns="0">
            <a:spAutoFit/>
          </a:bodyPr>
          <a:lstStyle/>
          <a:p>
            <a:pPr>
              <a:spcAft>
                <a:spcPts val="300"/>
              </a:spcAft>
              <a:defRPr sz="1000" b="1">
                <a:solidFill>
                  <a:srgbClr val="000000"/>
                </a:solidFill>
                <a:latin typeface="Lato"/>
              </a:defRPr>
            </a:pPr>
            <a:r>
              <a:t>Vopak</a:t>
            </a:r>
          </a:p>
          <a:p>
            <a:pPr>
              <a:spcAft>
                <a:spcPts val="300"/>
              </a:spcAft>
              <a:defRPr sz="1000" b="1">
                <a:solidFill>
                  <a:srgbClr val="000000"/>
                </a:solidFill>
                <a:latin typeface="Lato"/>
              </a:defRPr>
            </a:pPr>
            <a:r>
              <a:t>served</a:t>
            </a:r>
          </a:p>
        </p:txBody>
      </p:sp>
      <p:sp>
        <p:nvSpPr>
          <p:cNvPr id="18" name="TextBox 17"/>
          <p:cNvSpPr txBox="1"/>
          <p:nvPr/>
        </p:nvSpPr>
        <p:spPr>
          <a:xfrm>
            <a:off x="5760720" y="2624328"/>
            <a:ext cx="1143000" cy="438912"/>
          </a:xfrm>
          <a:prstGeom prst="rect">
            <a:avLst/>
          </a:prstGeom>
          <a:noFill/>
        </p:spPr>
        <p:txBody>
          <a:bodyPr wrap="square" lIns="22860" rIns="22860" tIns="0" bIns="0">
            <a:spAutoFit/>
          </a:bodyPr>
          <a:lstStyle/>
          <a:p>
            <a:pPr>
              <a:spcAft>
                <a:spcPts val="300"/>
              </a:spcAft>
              <a:defRPr sz="1000" b="1">
                <a:solidFill>
                  <a:srgbClr val="000000"/>
                </a:solidFill>
                <a:latin typeface="Lato"/>
              </a:defRPr>
            </a:pPr>
            <a:r>
              <a:t>Additional</a:t>
            </a:r>
          </a:p>
          <a:p>
            <a:pPr>
              <a:spcAft>
                <a:spcPts val="300"/>
              </a:spcAft>
              <a:defRPr sz="1000" b="1">
                <a:solidFill>
                  <a:srgbClr val="000000"/>
                </a:solidFill>
                <a:latin typeface="Lato"/>
              </a:defRPr>
            </a:pPr>
            <a:r>
              <a:t>contestable</a:t>
            </a:r>
          </a:p>
        </p:txBody>
      </p:sp>
      <p:sp>
        <p:nvSpPr>
          <p:cNvPr id="19" name="TextBox 18"/>
          <p:cNvSpPr txBox="1"/>
          <p:nvPr/>
        </p:nvSpPr>
        <p:spPr>
          <a:xfrm>
            <a:off x="1755648" y="3035808"/>
            <a:ext cx="27432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93264" y="3035808"/>
            <a:ext cx="27432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4</a:t>
            </a:r>
          </a:p>
        </p:txBody>
      </p:sp>
      <p:cxnSp>
        <p:nvCxnSpPr>
          <p:cNvPr id="22" name="Connector 21"/>
          <p:cNvCxnSpPr/>
          <p:nvPr/>
        </p:nvCxnSpPr>
        <p:spPr>
          <a:xfrm>
            <a:off x="258470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230880" y="3035808"/>
            <a:ext cx="27432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8</a:t>
            </a:r>
          </a:p>
        </p:txBody>
      </p:sp>
      <p:cxnSp>
        <p:nvCxnSpPr>
          <p:cNvPr id="24" name="Connector 23"/>
          <p:cNvCxnSpPr/>
          <p:nvPr/>
        </p:nvCxnSpPr>
        <p:spPr>
          <a:xfrm>
            <a:off x="332232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968496" y="3035808"/>
            <a:ext cx="27432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12</a:t>
            </a:r>
          </a:p>
        </p:txBody>
      </p:sp>
      <p:cxnSp>
        <p:nvCxnSpPr>
          <p:cNvPr id="26" name="Connector 25"/>
          <p:cNvCxnSpPr/>
          <p:nvPr/>
        </p:nvCxnSpPr>
        <p:spPr>
          <a:xfrm>
            <a:off x="4059935"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37744"/>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Eastern coast</a:t>
            </a:r>
          </a:p>
        </p:txBody>
      </p:sp>
      <p:sp>
        <p:nvSpPr>
          <p:cNvPr id="28" name="TextBox 27"/>
          <p:cNvSpPr txBox="1"/>
          <p:nvPr/>
        </p:nvSpPr>
        <p:spPr>
          <a:xfrm>
            <a:off x="457200" y="3621024"/>
            <a:ext cx="1344168" cy="21031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EC / KZN</a:t>
            </a:r>
          </a:p>
        </p:txBody>
      </p:sp>
      <p:sp>
        <p:nvSpPr>
          <p:cNvPr id="29" name="Reported 2022 petrol/diesel demand: Eastern coastal: 6.019977323 bn L"/>
          <p:cNvSpPr/>
          <p:nvPr/>
        </p:nvSpPr>
        <p:spPr>
          <a:xfrm>
            <a:off x="1847088" y="3447288"/>
            <a:ext cx="111010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21203" y="3447288"/>
            <a:ext cx="438912" cy="237744"/>
          </a:xfrm>
          <a:prstGeom prst="rect">
            <a:avLst/>
          </a:prstGeom>
          <a:noFill/>
        </p:spPr>
        <p:txBody>
          <a:bodyPr wrap="square" lIns="22860" rIns="22860" tIns="0" bIns="0">
            <a:spAutoFit/>
          </a:bodyPr>
          <a:lstStyle/>
          <a:p>
            <a:pPr>
              <a:spcAft>
                <a:spcPts val="300"/>
              </a:spcAft>
              <a:defRPr sz="1050" b="1">
                <a:solidFill>
                  <a:srgbClr val="000000"/>
                </a:solidFill>
                <a:latin typeface="Lato"/>
              </a:defRPr>
            </a:pPr>
            <a:r>
              <a:t>6.02</a:t>
            </a:r>
          </a:p>
        </p:txBody>
      </p:sp>
      <p:sp>
        <p:nvSpPr>
          <p:cNvPr id="31" name="Unknown share input: Eastern coastal at 4.98"/>
          <p:cNvSpPr txBox="1"/>
          <p:nvPr/>
        </p:nvSpPr>
        <p:spPr>
          <a:xfrm>
            <a:off x="4553712" y="3392424"/>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32" name="Unknown share input: Eastern coastal at 6.3"/>
          <p:cNvSpPr txBox="1"/>
          <p:nvPr/>
        </p:nvSpPr>
        <p:spPr>
          <a:xfrm>
            <a:off x="5760720" y="3392424"/>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33" name="TextBox 32"/>
          <p:cNvSpPr txBox="1"/>
          <p:nvPr/>
        </p:nvSpPr>
        <p:spPr>
          <a:xfrm>
            <a:off x="457200" y="3913632"/>
            <a:ext cx="1344168" cy="237744"/>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Inland</a:t>
            </a:r>
          </a:p>
        </p:txBody>
      </p:sp>
      <p:sp>
        <p:nvSpPr>
          <p:cNvPr id="34" name="TextBox 33"/>
          <p:cNvSpPr txBox="1"/>
          <p:nvPr/>
        </p:nvSpPr>
        <p:spPr>
          <a:xfrm>
            <a:off x="457200" y="4160520"/>
            <a:ext cx="1344168" cy="21031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GP / FS / LP / MP / NW</a:t>
            </a:r>
          </a:p>
        </p:txBody>
      </p:sp>
      <p:sp>
        <p:nvSpPr>
          <p:cNvPr id="35" name="Reported 2022 petrol/diesel demand: Inland: 11.499633855 bn L"/>
          <p:cNvSpPr/>
          <p:nvPr/>
        </p:nvSpPr>
        <p:spPr>
          <a:xfrm>
            <a:off x="1847088" y="3986784"/>
            <a:ext cx="212057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31674" y="3986784"/>
            <a:ext cx="438912" cy="237744"/>
          </a:xfrm>
          <a:prstGeom prst="rect">
            <a:avLst/>
          </a:prstGeom>
          <a:noFill/>
        </p:spPr>
        <p:txBody>
          <a:bodyPr wrap="square" lIns="22860" rIns="22860" tIns="0" bIns="0">
            <a:spAutoFit/>
          </a:bodyPr>
          <a:lstStyle/>
          <a:p>
            <a:pPr>
              <a:spcAft>
                <a:spcPts val="300"/>
              </a:spcAft>
              <a:defRPr sz="1050" b="1">
                <a:solidFill>
                  <a:srgbClr val="000000"/>
                </a:solidFill>
                <a:latin typeface="Lato"/>
              </a:defRPr>
            </a:pPr>
            <a:r>
              <a:t>11.50</a:t>
            </a:r>
          </a:p>
        </p:txBody>
      </p:sp>
      <p:sp>
        <p:nvSpPr>
          <p:cNvPr id="37" name="Unknown share input: Inland at 4.98"/>
          <p:cNvSpPr txBox="1"/>
          <p:nvPr/>
        </p:nvSpPr>
        <p:spPr>
          <a:xfrm>
            <a:off x="4553712" y="3931920"/>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38" name="Unknown share input: Inland at 6.3"/>
          <p:cNvSpPr txBox="1"/>
          <p:nvPr/>
        </p:nvSpPr>
        <p:spPr>
          <a:xfrm>
            <a:off x="5760720" y="3931920"/>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39" name="TextBox 38"/>
          <p:cNvSpPr txBox="1"/>
          <p:nvPr/>
        </p:nvSpPr>
        <p:spPr>
          <a:xfrm>
            <a:off x="457200" y="4453128"/>
            <a:ext cx="1344168" cy="237744"/>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Western coast</a:t>
            </a:r>
          </a:p>
        </p:txBody>
      </p:sp>
      <p:sp>
        <p:nvSpPr>
          <p:cNvPr id="40" name="TextBox 39"/>
          <p:cNvSpPr txBox="1"/>
          <p:nvPr/>
        </p:nvSpPr>
        <p:spPr>
          <a:xfrm>
            <a:off x="457200" y="4700016"/>
            <a:ext cx="1344168" cy="21031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WC</a:t>
            </a:r>
          </a:p>
        </p:txBody>
      </p:sp>
      <p:sp>
        <p:nvSpPr>
          <p:cNvPr id="41" name="Reported 2022 petrol/diesel demand: Western coastal: 3.930775007 bn L"/>
          <p:cNvSpPr/>
          <p:nvPr/>
        </p:nvSpPr>
        <p:spPr>
          <a:xfrm>
            <a:off x="1847088" y="4526280"/>
            <a:ext cx="72485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35946" y="4526280"/>
            <a:ext cx="438912" cy="237744"/>
          </a:xfrm>
          <a:prstGeom prst="rect">
            <a:avLst/>
          </a:prstGeom>
          <a:noFill/>
        </p:spPr>
        <p:txBody>
          <a:bodyPr wrap="square" lIns="22860" rIns="22860" tIns="0" bIns="0">
            <a:spAutoFit/>
          </a:bodyPr>
          <a:lstStyle/>
          <a:p>
            <a:pPr>
              <a:spcAft>
                <a:spcPts val="300"/>
              </a:spcAft>
              <a:defRPr sz="1050" b="1">
                <a:solidFill>
                  <a:srgbClr val="000000"/>
                </a:solidFill>
                <a:latin typeface="Lato"/>
              </a:defRPr>
            </a:pPr>
            <a:r>
              <a:t>3.93</a:t>
            </a:r>
          </a:p>
        </p:txBody>
      </p:sp>
      <p:sp>
        <p:nvSpPr>
          <p:cNvPr id="43" name="Unknown share input: Western coastal at 4.98"/>
          <p:cNvSpPr txBox="1"/>
          <p:nvPr/>
        </p:nvSpPr>
        <p:spPr>
          <a:xfrm>
            <a:off x="4553712" y="4471416"/>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44" name="Unknown share input: Western coastal at 6.3"/>
          <p:cNvSpPr txBox="1"/>
          <p:nvPr/>
        </p:nvSpPr>
        <p:spPr>
          <a:xfrm>
            <a:off x="5760720" y="4471416"/>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45" name="TextBox 44"/>
          <p:cNvSpPr txBox="1"/>
          <p:nvPr/>
        </p:nvSpPr>
        <p:spPr>
          <a:xfrm>
            <a:off x="457200" y="4992624"/>
            <a:ext cx="1344168" cy="237744"/>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Other</a:t>
            </a:r>
          </a:p>
        </p:txBody>
      </p:sp>
      <p:sp>
        <p:nvSpPr>
          <p:cNvPr id="46" name="TextBox 45"/>
          <p:cNvSpPr txBox="1"/>
          <p:nvPr/>
        </p:nvSpPr>
        <p:spPr>
          <a:xfrm>
            <a:off x="457200" y="5239512"/>
            <a:ext cx="1344168" cy="21031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8331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94411" y="5065776"/>
            <a:ext cx="438912" cy="237744"/>
          </a:xfrm>
          <a:prstGeom prst="rect">
            <a:avLst/>
          </a:prstGeom>
          <a:noFill/>
        </p:spPr>
        <p:txBody>
          <a:bodyPr wrap="square" lIns="22860" rIns="22860" tIns="0" bIns="0">
            <a:spAutoFit/>
          </a:bodyPr>
          <a:lstStyle/>
          <a:p>
            <a:pPr>
              <a:spcAft>
                <a:spcPts val="300"/>
              </a:spcAft>
              <a:defRPr sz="1050" b="1">
                <a:solidFill>
                  <a:srgbClr val="000000"/>
                </a:solidFill>
                <a:latin typeface="Lato"/>
              </a:defRPr>
            </a:pPr>
            <a:r>
              <a:t>0.45</a:t>
            </a:r>
          </a:p>
        </p:txBody>
      </p:sp>
      <p:sp>
        <p:nvSpPr>
          <p:cNvPr id="49" name="Unknown share input: Other / Northern Cape at 4.98"/>
          <p:cNvSpPr txBox="1"/>
          <p:nvPr/>
        </p:nvSpPr>
        <p:spPr>
          <a:xfrm>
            <a:off x="4553712" y="5010912"/>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50" name="Unknown share input: Other / Northern Cape at 6.3"/>
          <p:cNvSpPr txBox="1"/>
          <p:nvPr/>
        </p:nvSpPr>
        <p:spPr>
          <a:xfrm>
            <a:off x="5760720" y="5010912"/>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To calculate share: unique Vopak customer deliveries / same-year regional demand.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Contestable demand needs route cost, compatible tanks, contracts and switching evidence.</a:t>
            </a:r>
          </a:p>
          <a:p>
            <a:pPr>
              <a:spcAft>
                <a:spcPts val="300"/>
              </a:spcAft>
              <a:defRPr sz="1000" b="0">
                <a:solidFill>
                  <a:srgbClr val="000000"/>
                </a:solidFill>
                <a:latin typeface="Lato"/>
              </a:defRPr>
            </a:pPr>
            <a:r>
              <a:t>Count Durban-Lesedi transfers once. Region boundaries are working groupings, not catchments.</a:t>
            </a:r>
          </a:p>
        </p:txBody>
      </p:sp>
      <p:sp>
        <p:nvSpPr>
          <p:cNvPr id="53" name="TextBox 52"/>
          <p:cNvSpPr txBox="1"/>
          <p:nvPr/>
        </p:nvSpPr>
        <p:spPr>
          <a:xfrm>
            <a:off x="7424927" y="2194560"/>
            <a:ext cx="3685032" cy="256032"/>
          </a:xfrm>
          <a:prstGeom prst="rect">
            <a:avLst/>
          </a:prstGeom>
          <a:noFill/>
        </p:spPr>
        <p:txBody>
          <a:bodyPr wrap="square" lIns="22860" rIns="22860" tIns="0" bIns="0">
            <a:spAutoFit/>
          </a:bodyPr>
          <a:lstStyle/>
          <a:p>
            <a:pPr>
              <a:spcAft>
                <a:spcPts val="300"/>
              </a:spcAft>
              <a:defRPr sz="1350" b="1">
                <a:solidFill>
                  <a:srgbClr val="0A2373"/>
                </a:solidFill>
                <a:latin typeface="Lato"/>
              </a:defRPr>
            </a:pPr>
            <a: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Vopak: Durban [1]. Bidvest: Durban and Richards Bay [2]; mixed-product capacity.</a:t>
            </a:r>
          </a:p>
          <a:p>
            <a:pPr>
              <a:spcAft>
                <a:spcPts val="300"/>
              </a:spcAft>
              <a:defRPr sz="1150" b="0">
                <a:solidFill>
                  <a:srgbClr val="000000"/>
                </a:solidFill>
                <a:latin typeface="Lato"/>
              </a:defRPr>
            </a:pPr>
            <a:r>
              <a:t>Transnet: Ladysmith lease tanks [7].</a:t>
            </a:r>
          </a:p>
        </p:txBody>
      </p:sp>
      <p:sp>
        <p:nvSpPr>
          <p:cNvPr id="55" name="TextBox 54"/>
          <p:cNvSpPr txBox="1"/>
          <p:nvPr/>
        </p:nvSpPr>
        <p:spPr>
          <a:xfrm>
            <a:off x="7424927" y="3246120"/>
            <a:ext cx="3685032" cy="256032"/>
          </a:xfrm>
          <a:prstGeom prst="rect">
            <a:avLst/>
          </a:prstGeom>
          <a:noFill/>
        </p:spPr>
        <p:txBody>
          <a:bodyPr wrap="square" lIns="22860" rIns="22860" tIns="0" bIns="0">
            <a:spAutoFit/>
          </a:bodyPr>
          <a:lstStyle/>
          <a:p>
            <a:pPr>
              <a:spcAft>
                <a:spcPts val="300"/>
              </a:spcAft>
              <a:defRPr sz="1350" b="1">
                <a:solidFill>
                  <a:srgbClr val="0A2373"/>
                </a:solidFill>
                <a:latin typeface="Lato"/>
              </a:defRPr>
            </a:pPr>
            <a: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Vopak: Lesedi [1]. Bidvest: Isando [2].</a:t>
            </a:r>
          </a:p>
          <a:p>
            <a:pPr>
              <a:spcAft>
                <a:spcPts val="300"/>
              </a:spcAft>
              <a:defRPr sz="1150" b="0">
                <a:solidFill>
                  <a:srgbClr val="000000"/>
                </a:solidFill>
                <a:latin typeface="Lato"/>
              </a:defRPr>
            </a:pPr>
            <a:r>
              <a:t>Sasol: Alrode, Pretoria West, Waltloo and Sasolburg [6]. Transnet: Tarlton / Jameson Park plus four lease sites [7].</a:t>
            </a:r>
          </a:p>
        </p:txBody>
      </p:sp>
      <p:sp>
        <p:nvSpPr>
          <p:cNvPr id="57" name="TextBox 56"/>
          <p:cNvSpPr txBox="1"/>
          <p:nvPr/>
        </p:nvSpPr>
        <p:spPr>
          <a:xfrm>
            <a:off x="7424927" y="4507992"/>
            <a:ext cx="3685032" cy="256032"/>
          </a:xfrm>
          <a:prstGeom prst="rect">
            <a:avLst/>
          </a:prstGeom>
          <a:noFill/>
        </p:spPr>
        <p:txBody>
          <a:bodyPr wrap="square" lIns="22860" rIns="22860" tIns="0" bIns="0">
            <a:spAutoFit/>
          </a:bodyPr>
          <a:lstStyle/>
          <a:p>
            <a:pPr>
              <a:spcAft>
                <a:spcPts val="300"/>
              </a:spcAft>
              <a:defRPr sz="1350" b="1">
                <a:solidFill>
                  <a:srgbClr val="0A2373"/>
                </a:solidFill>
                <a:latin typeface="Lato"/>
              </a:defRPr>
            </a:pPr>
            <a: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550408"/>
            <a:ext cx="3685032" cy="256032"/>
          </a:xfrm>
          <a:prstGeom prst="rect">
            <a:avLst/>
          </a:prstGeom>
          <a:noFill/>
        </p:spPr>
        <p:txBody>
          <a:bodyPr wrap="square" lIns="22860" rIns="22860" tIns="0" bIns="0">
            <a:spAutoFit/>
          </a:bodyPr>
          <a:lstStyle/>
          <a:p>
            <a:pPr>
              <a:spcAft>
                <a:spcPts val="300"/>
              </a:spcAft>
              <a:defRPr sz="1350" b="1">
                <a:solidFill>
                  <a:srgbClr val="0A2373"/>
                </a:solidFill>
                <a:latin typeface="Lato"/>
              </a:defRPr>
            </a:pPr>
            <a:r>
              <a:t>04 Other / Northern Cape</a:t>
            </a:r>
          </a:p>
        </p:txBody>
      </p:sp>
      <p:sp>
        <p:nvSpPr>
          <p:cNvPr id="60" name="TextBox 59"/>
          <p:cNvSpPr txBox="1"/>
          <p:nvPr/>
        </p:nvSpPr>
        <p:spPr>
          <a:xfrm>
            <a:off x="7424927" y="5879592"/>
            <a:ext cx="3685032" cy="521207"/>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Regional operator inventory is incomplete. Extend it using Shell site notices [4] and NERSA licences / 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published storage capacity by location</a:t>
            </a:r>
          </a:p>
        </p:txBody>
      </p:sp>
      <p:sp>
        <p:nvSpPr>
          <p:cNvPr id="3" name="Slide Number Placeholder"/>
          <p:cNvSpPr>
            <a:spLocks noGrp="1"/>
          </p:cNvSpPr>
          <p:nvPr>
            <p:ph type="sldNum" sz="quarter" idx="12"/>
          </p:nvPr>
        </p:nvSpPr>
        <p:spPr/>
        <p:txBody>
          <a:bodyPr/>
          <a:lstStyle/>
          <a:p>
            <a:fld id="{4DF588F4-638C-4952-A1AB-42996D4C286B}"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Durban leads this evidenced subset</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Vopak and Bidvest gross capacity totals 799.6 thousand m³. Mixed products limit the fuel-only comparison.</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Transnet tanks are much smaller</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Lease tankage: Ladysmith 8.54, Kroonstad 3.30, Standerton 2.35 thousand m³. Bethlehem and Magdala remain unquantified.</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Capacity bases must stay visible</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Gross stocks elsewhere; Ladysmith* uses petrol/diesel working capacity. Kroonstad/Standerton basis is unspecified.</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Lease offers require reactivation</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 not count these tanks as operating supply. Test refurbishment, receipt/dispatch, licensing and lease award. RFP close: 4 Dec 2026.</a:t>
            </a:r>
          </a:p>
        </p:txBody>
      </p: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7" name="TextBox 66"/>
          <p:cNvSpPr txBox="1"/>
          <p:nvPr/>
        </p:nvSpPr>
        <p:spPr>
          <a:xfrm>
            <a:off x="457200" y="6318504"/>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*Ladysmith excludes 0.474 intermixture. Unquantified: Bethlehem, Magdala, Sasol, Tarlton, Jameson Park.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Connect the SA market story to evidence and next actions</a:t>
            </a:r>
          </a:p>
        </p:txBody>
      </p:sp>
      <p:sp>
        <p:nvSpPr>
          <p:cNvPr id="3" name="Slide Number Placeholder"/>
          <p:cNvSpPr>
            <a:spLocks noGrp="1"/>
          </p:cNvSpPr>
          <p:nvPr>
            <p:ph type="sldNum" sz="quarter" idx="12"/>
          </p:nvPr>
        </p:nvSpPr>
        <p:spPr/>
        <p:txBody>
          <a:bodyPr/>
          <a:lstStyle/>
          <a:p>
            <a:fld id="{127DCB3D-34C2-4410-8B3B-960EA0B62DE3}"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pp.30-32; repository evidence and diagnostics, 6 Oct 2026. All gaps remain open.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Situation - Complication - Resolution | evidence and gaps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Baseline before forecasts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Manish: reconcile flagged rows; map each used/staged input to its calculation and affected output. Nigel reviews.</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Define levers in Week 1</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Rail, BEV/hybrid, efficiency, power dispatch and refinery cases need baseline, alternatives, units, dates and equations.</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Request actual Vopak flows</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Nigel requests receipts, transfers, deliveries and destinations. Manish reconciles unique demand; actual share stays unknown.</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Compare the competing routes</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Durban-NMPP-Lesedi versus Durban road/rail, Matola and Walvis Bay: same product, destination and cost basis.</a:t>
            </a:r>
          </a:p>
        </p:txBody>
      </p:sp>
      <p:sp>
        <p:nvSpPr>
          <p:cNvPr id="22" name="TextBox 21"/>
          <p:cNvSpPr txBox="1"/>
          <p:nvPr/>
        </p:nvSpPr>
        <p:spPr>
          <a:xfrm>
            <a:off x="457200" y="2194560"/>
            <a:ext cx="6446520"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Situation | establish the market baseline</a:t>
            </a:r>
          </a:p>
        </p:txBody>
      </p:sp>
      <p:sp>
        <p:nvSpPr>
          <p:cNvPr id="23" name="TextBox 22"/>
          <p:cNvSpPr txBox="1"/>
          <p:nvPr/>
        </p:nvSpPr>
        <p:spPr>
          <a:xfrm>
            <a:off x="457200" y="2587752"/>
            <a:ext cx="6446520" cy="786384"/>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Have: demand history, regions and operators (pp.2-3,7-8).</a:t>
            </a:r>
          </a:p>
          <a:p>
            <a:pPr>
              <a:spcAft>
                <a:spcPts val="300"/>
              </a:spcAft>
              <a:defRPr sz="1150" b="0">
                <a:solidFill>
                  <a:srgbClr val="000000"/>
                </a:solidFill>
                <a:latin typeface="Lato"/>
              </a:defRPr>
            </a:pPr>
            <a:r>
              <a:t>Gap: recent fuel balance, finished imports and entry ports.</a:t>
            </a:r>
          </a:p>
          <a:p>
            <a:pPr>
              <a:spcAft>
                <a:spcPts val="300"/>
              </a:spcAft>
              <a:defRPr sz="1150" b="0">
                <a:solidFill>
                  <a:srgbClr val="000000"/>
                </a:solidFill>
                <a:latin typeface="Lato"/>
              </a:defRPr>
            </a:pPr>
            <a:r>
              <a:t>Close: matched-year balance and exact data reconciliation. W1-W2.</a:t>
            </a:r>
          </a:p>
        </p:txBody>
      </p:sp>
      <p:cxnSp>
        <p:nvCxnSpPr>
          <p:cNvPr id="24" name="Connector 23"/>
          <p:cNvCxnSpPr/>
          <p:nvPr/>
        </p:nvCxnSpPr>
        <p:spPr>
          <a:xfrm>
            <a:off x="457200" y="3383280"/>
            <a:ext cx="6446520" cy="0"/>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57200" y="3493008"/>
            <a:ext cx="6446520"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Complication | quantify what could change</a:t>
            </a:r>
          </a:p>
        </p:txBody>
      </p:sp>
      <p:sp>
        <p:nvSpPr>
          <p:cNvPr id="26" name="TextBox 25"/>
          <p:cNvSpPr txBox="1"/>
          <p:nvPr/>
        </p:nvSpPr>
        <p:spPr>
          <a:xfrm>
            <a:off x="457200" y="3886200"/>
            <a:ext cx="6446520" cy="786384"/>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Have: provisional vehicle, power-diesel and supply calculations.</a:t>
            </a:r>
          </a:p>
          <a:p>
            <a:pPr>
              <a:spcAft>
                <a:spcPts val="300"/>
              </a:spcAft>
              <a:defRPr sz="1150" b="0">
                <a:solidFill>
                  <a:srgbClr val="000000"/>
                </a:solidFill>
                <a:latin typeface="Lato"/>
              </a:defRPr>
            </a:pPr>
            <a:r>
              <a:t>Gap: calibrated driver reversals, refinery cases and route costs.</a:t>
            </a:r>
          </a:p>
          <a:p>
            <a:pPr>
              <a:spcAft>
                <a:spcPts val="300"/>
              </a:spcAft>
              <a:defRPr sz="1150" b="0">
                <a:solidFill>
                  <a:srgbClr val="000000"/>
                </a:solidFill>
                <a:latin typeface="Lato"/>
              </a:defRPr>
            </a:pPr>
            <a:r>
              <a:t>Close: define levers in W1; test their litres/import effects in W2-W4.</a:t>
            </a:r>
          </a:p>
        </p:txBody>
      </p:sp>
      <p:cxnSp>
        <p:nvCxnSpPr>
          <p:cNvPr id="27" name="Connector 26"/>
          <p:cNvCxnSpPr/>
          <p:nvPr/>
        </p:nvCxnSpPr>
        <p:spPr>
          <a:xfrm>
            <a:off x="457200" y="4681728"/>
            <a:ext cx="6446520" cy="0"/>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4791456"/>
            <a:ext cx="6446520"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Resolution | establish Vopak opportunity</a:t>
            </a:r>
          </a:p>
        </p:txBody>
      </p:sp>
      <p:sp>
        <p:nvSpPr>
          <p:cNvPr id="29" name="TextBox 28"/>
          <p:cNvSpPr txBox="1"/>
          <p:nvPr/>
        </p:nvSpPr>
        <p:spPr>
          <a:xfrm>
            <a:off x="457200" y="5184648"/>
            <a:ext cx="6446520" cy="786384"/>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Have: regional competitor footprint and published tank stocks.</a:t>
            </a:r>
          </a:p>
          <a:p>
            <a:pPr>
              <a:spcAft>
                <a:spcPts val="300"/>
              </a:spcAft>
              <a:defRPr sz="1150" b="0">
                <a:solidFill>
                  <a:srgbClr val="000000"/>
                </a:solidFill>
                <a:latin typeface="Lato"/>
              </a:defRPr>
            </a:pPr>
            <a:r>
              <a:t>Gap: actual share, customer access and additional contestable volume.</a:t>
            </a:r>
          </a:p>
          <a:p>
            <a:pPr>
              <a:spcAft>
                <a:spcPts val="300"/>
              </a:spcAft>
              <a:defRPr sz="1150" b="0">
                <a:solidFill>
                  <a:srgbClr val="000000"/>
                </a:solidFill>
                <a:latin typeface="Lato"/>
              </a:defRPr>
            </a:pPr>
            <a:r>
              <a:t>Close: client flows + cost/access tests; investment follows the flow case.</a:t>
            </a:r>
          </a:p>
        </p:txBody>
      </p:sp>
      <p:cxnSp>
        <p:nvCxnSpPr>
          <p:cNvPr id="30" name="Connector 29"/>
          <p:cNvCxnSpPr/>
          <p:nvPr/>
        </p:nvCxnSpPr>
        <p:spPr>
          <a:xfrm>
            <a:off x="457200" y="5980176"/>
            <a:ext cx="6446520" cy="0"/>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57200" y="6291072"/>
            <a:ext cx="6446520" cy="210312"/>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Week windows are targets. Partner propositions require testing; they are not established findings.</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