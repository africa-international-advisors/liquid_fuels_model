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73" r:id="rId2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2.xml"/><Relationship Id="rId17" Type="http://schemas.openxmlformats.org/officeDocument/2006/relationships/slide" Target="slides/slide4.xml"/><Relationship Id="rId18" Type="http://schemas.openxmlformats.org/officeDocument/2006/relationships/slide" Target="slides/slide21.xml"/><Relationship Id="rId19" Type="http://schemas.openxmlformats.org/officeDocument/2006/relationships/slide" Target="slides/slide6.xml"/><Relationship Id="rId20"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9.xml"/><Relationship Id="rId31" Type="http://schemas.openxmlformats.org/officeDocument/2006/relationships/slide" Target="slides/slide22.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1">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Historical headline: broadly steady aggregate reported sales, with pandemic disruption and different provincial paths. This is a baseline hypothesis for back-testing; it does not establish a flat forecast. Post-2022 estimates remain separate.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Headline connects Gauteng/Lesedi and KwaZulu-Natal/Durban to the top two provincial markets. Presence does not establish a customer catchment, accessibility or market share.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18–20.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a:p>
            <a:r>
              <a:t>Overview rows numbered continuously 1–7: S1, S2, S/C3, C4, C5, R6, R7. Each analytical title starts with its matching row reference(s).</a:t>
            </a:r>
          </a:p>
          <a:p>
            <a:r>
              <a:t>Summary column now contains evidence verdicts on Henry storyline, not analyst tasks or approvals. Every analytical page maps to one of the seven rows; source register pptx/story/overview_story_verdicts_2026_10_06.json.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Measured trade is shown alongside reported sales as a consumption proxy. The chart does not show measured production, stock changes or balance-derived consumption. Sales minus net imports is a balancing requirement, not measured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a:p>
            <a:r>
              <a:t>Title supports overview row(s) S/C3; Overview chevron returns to page 2.</a:t>
            </a:r>
          </a:p>
          <a:p>
            <a:r>
              <a:t>Fuel-use rates mean litres per vehicle-km, per freight tonne-km, per unit of sector output or per unit of power generation. Source the appropriate rate and coverage before translating activity into fuel volumes; avoid overlap across segments.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Volume milestones derive only from existing illustrative catchment CSV. Accessibility map and competing routes locate potential access, not verified cost-linked customer litres. Coastal and inland increments are conditional, authored volumes, not cumulative terminal receipts. Record dated sources, thresholds, capacity, rights and deduplicated deliveries by product and period. No threshold or new model volume assigned.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a:p>
            <a:r>
              <a:t>Title supports overview row(s)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7.xml"/><Relationship Id="rId16" Type="http://schemas.openxmlformats.org/officeDocument/2006/relationships/slide" Target="slide2.xml"/><Relationship Id="rId17" Type="http://schemas.openxmlformats.org/officeDocument/2006/relationships/slide" Target="slide16.xml"/><Relationship Id="rId18"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chart" Target="../charts/char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7.xml"/><Relationship Id="rId9" Type="http://schemas.openxmlformats.org/officeDocument/2006/relationships/slide" Target="slide9.xml"/><Relationship Id="rId10" Type="http://schemas.openxmlformats.org/officeDocument/2006/relationships/slide" Target="slide8.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7.xml"/><Relationship Id="rId3" Type="http://schemas.openxmlformats.org/officeDocument/2006/relationships/slide" Target="slide9.xml"/><Relationship Id="rId4" Type="http://schemas.openxmlformats.org/officeDocument/2006/relationships/slide" Target="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4.xml"/><Relationship Id="rId8" Type="http://schemas.openxmlformats.org/officeDocument/2006/relationships/slide" Target="slide16.xml"/><Relationship Id="rId9" Type="http://schemas.openxmlformats.org/officeDocument/2006/relationships/notesSlide" Target="../notesSlides/notesSlide21.xm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Vopak’s 2026 Liquid Fuels Outlook shows sustained import volumes, with growth from accessible customers (cost × service)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 = Situation   C = Complication   R = Resolution | Every Henry storyboard prompt has a response on pages 18–20; open items remain open.</a:t>
            </a:r>
          </a:p>
          <a:p>
            <a:pPr>
              <a:lnSpc>
                <a:spcPts val="900"/>
              </a:lnSpc>
              <a:spcBef>
                <a:spcPts val="0"/>
              </a:spcBef>
              <a:spcAft>
                <a:spcPts val="0"/>
              </a:spcAft>
              <a:defRPr sz="750">
                <a:latin typeface="Lato"/>
              </a:defRPr>
            </a:pPr>
            <a:r>
              <a:rPr sz="750"/>
              <a:t>Source: Partner SA storyboard; SARS / Stats SA / operator evidence, 6 Oct 2026. Remaining gaps labelled.</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graphicFrame>
        <p:nvGraphicFramePr>
          <p:cNvPr id="47" name="Table 46"/>
          <p:cNvGraphicFramePr>
            <a:graphicFrameLocks noGrp="1"/>
          </p:cNvGraphicFramePr>
          <p:nvPr/>
        </p:nvGraphicFramePr>
        <p:xfrm>
          <a:off x="457200" y="179222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What the evidence shows</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So what / story verdict</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drives imports; sales reports conflict</a:t>
                      </a:r>
                    </a:p>
                    <a:p>
                      <a:pPr>
                        <a:spcAft>
                          <a:spcPts val="0"/>
                        </a:spcAft>
                        <a:defRPr sz="1050">
                          <a:solidFill>
                            <a:srgbClr val="000000"/>
                          </a:solidFill>
                          <a:latin typeface="Lato"/>
                        </a:defRPr>
                      </a:pPr>
                      <a:r>
                        <a:t>2024 net petrol/diesel imports: 13.078 bn L. Production, stocks, sales coverage and port allocation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imports are material.</a:t>
                      </a:r>
                    </a:p>
                    <a:p>
                      <a:pPr>
                        <a:spcAft>
                          <a:spcPts val="0"/>
                        </a:spcAft>
                        <a:defRPr sz="1050">
                          <a:solidFill>
                            <a:srgbClr val="000000"/>
                          </a:solidFill>
                          <a:latin typeface="Lato"/>
                        </a:defRPr>
                      </a:pPr>
                      <a:r>
                        <a:t>Sustained future volumes remain a forecast case; the matched balance is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3</a:t>
                      </a:r>
                      <a:r>
                        <a:rPr sz="1050">
                          <a:solidFill>
                            <a:srgbClr val="0A2373"/>
                          </a:solidFill>
                          <a:latin typeface="Lato"/>
                          <a:hlinkClick r:id="rId6" action="ppaction://hlinksldjump"/>
                        </a:rPr>
                        <a:t> / 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sits around Vopak’s footprint</a:t>
                      </a:r>
                    </a:p>
                    <a:p>
                      <a:pPr>
                        <a:spcAft>
                          <a:spcPts val="0"/>
                        </a:spcAft>
                        <a:defRPr sz="1050">
                          <a:solidFill>
                            <a:srgbClr val="000000"/>
                          </a:solidFill>
                          <a:latin typeface="Lato"/>
                        </a:defRPr>
                      </a:pPr>
                      <a:r>
                        <a:t>GP, KZN and WC account for 68.6% of 2022 sales. Historical volumes were broadly steady; later provinces are estimates.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concentrated demand.</a:t>
                      </a:r>
                    </a:p>
                    <a:p>
                      <a:pPr>
                        <a:spcAft>
                          <a:spcPts val="0"/>
                        </a:spcAft>
                        <a:defRPr sz="1050">
                          <a:solidFill>
                            <a:srgbClr val="000000"/>
                          </a:solidFill>
                          <a:latin typeface="Lato"/>
                        </a:defRPr>
                      </a:pPr>
                      <a:r>
                        <a:t>Focus on Gauteng/KZN; sales totals do not establish accessible customers.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generation is falling; other drivers differ</a:t>
                      </a:r>
                    </a:p>
                    <a:p>
                      <a:pPr>
                        <a:spcAft>
                          <a:spcPts val="0"/>
                        </a:spcAft>
                        <a:defRPr sz="1050">
                          <a:solidFill>
                            <a:srgbClr val="000000"/>
                          </a:solidFill>
                          <a:latin typeface="Lato"/>
                        </a:defRPr>
                      </a:pPr>
                      <a:r>
                        <a:t>Freight, EV uptake and prices follow different paths. Fuel used per km or unit of output is needed to quantify litres.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Partly supported: diesel generation is falling.</a:t>
                      </a:r>
                    </a:p>
                    <a:p>
                      <a:pPr>
                        <a:spcAft>
                          <a:spcPts val="0"/>
                        </a:spcAft>
                        <a:defRPr sz="1050">
                          <a:solidFill>
                            <a:srgbClr val="000000"/>
                          </a:solidFill>
                          <a:latin typeface="Lato"/>
                        </a:defRPr>
                      </a:pPr>
                      <a:r>
                        <a:t>Rail, EV and price effects remain unquantified; a uniform demand decline is unproven.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7</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refining capacity fell.</a:t>
                      </a:r>
                    </a:p>
                    <a:p>
                      <a:pPr>
                        <a:spcAft>
                          <a:spcPts val="0"/>
                        </a:spcAft>
                        <a:defRPr sz="1050">
                          <a:solidFill>
                            <a:srgbClr val="000000"/>
                          </a:solidFill>
                          <a:latin typeface="Lato"/>
                        </a:defRPr>
                      </a:pPr>
                      <a:r>
                        <a:t>Plant futures are conditional; capacity alone does not determine imports.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Open: gateway competition.</a:t>
                      </a:r>
                    </a:p>
                    <a:p>
                      <a:pPr>
                        <a:spcAft>
                          <a:spcPts val="0"/>
                        </a:spcAft>
                        <a:defRPr sz="1050">
                          <a:solidFill>
                            <a:srgbClr val="000000"/>
                          </a:solidFill>
                          <a:latin typeface="Lato"/>
                        </a:defRPr>
                      </a:pPr>
                      <a:r>
                        <a:t>No route winner without comparable cost, service and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10</a:t>
                      </a:r>
                      <a:r>
                        <a:rPr sz="1050">
                          <a:solidFill>
                            <a:srgbClr val="0A2373"/>
                          </a:solidFill>
                          <a:latin typeface="Lato"/>
                          <a:hlinkClick r:id="rId10" action="ppaction://hlinksldjump"/>
                        </a:rPr>
                        <a:t> / 11</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Market share of Vopak in Dbn and Lesedi</a:t>
                      </a:r>
                    </a:p>
                    <a:p>
                      <a:pPr>
                        <a:spcAft>
                          <a:spcPts val="0"/>
                        </a:spcAft>
                        <a:defRPr sz="1050">
                          <a:solidFill>
                            <a:srgbClr val="000000"/>
                          </a:solidFill>
                          <a:latin typeface="Lato"/>
                        </a:defRPr>
                      </a:pPr>
                      <a:r>
                        <a:t>Vopak has an established storage footprint; its share of customer volumes remains to be quantified.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Footprint established; volume share unquantified.</a:t>
                      </a:r>
                    </a:p>
                    <a:p>
                      <a:pPr>
                        <a:spcAft>
                          <a:spcPts val="0"/>
                        </a:spcAft>
                        <a:defRPr sz="1050">
                          <a:solidFill>
                            <a:srgbClr val="000000"/>
                          </a:solidFill>
                          <a:latin typeface="Lato"/>
                        </a:defRPr>
                      </a:pPr>
                      <a:r>
                        <a:t>Unique deliveries and customer access establish served volumes.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1" action="ppaction://hlinksldjump"/>
                        </a:rPr>
                        <a:t>12</a:t>
                      </a:r>
                      <a:r>
                        <a:rPr sz="1050">
                          <a:solidFill>
                            <a:srgbClr val="0A2373"/>
                          </a:solidFill>
                          <a:latin typeface="Lato"/>
                          <a:hlinkClick r:id="rId12" action="ppaction://hlinksldjump"/>
                        </a:rPr>
                        <a:t> / 13</a:t>
                      </a:r>
                      <a:r>
                        <a:rPr sz="1050">
                          <a:solidFill>
                            <a:srgbClr val="0A2373"/>
                          </a:solidFill>
                          <a:latin typeface="Lato"/>
                          <a:hlinkClick r:id="rId1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Potential scope for new investment?</a:t>
                      </a:r>
                    </a:p>
                    <a:p>
                      <a:pPr>
                        <a:spcAft>
                          <a:spcPts val="0"/>
                        </a:spcAft>
                        <a:defRPr sz="1050" b="0">
                          <a:solidFill>
                            <a:srgbClr val="000000"/>
                          </a:solidFill>
                          <a:latin typeface="Lato"/>
                        </a:defRPr>
                      </a:pPr>
                      <a:r>
                        <a:t>Prioritise Durban/Lesedi customer flows. Additional storage follows secured volumes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Conditional: win customers first.</a:t>
                      </a:r>
                    </a:p>
                    <a:p>
                      <a:pPr>
                        <a:spcAft>
                          <a:spcPts val="0"/>
                        </a:spcAft>
                        <a:defRPr sz="1050">
                          <a:solidFill>
                            <a:srgbClr val="000000"/>
                          </a:solidFill>
                          <a:latin typeface="Lato"/>
                        </a:defRPr>
                      </a:pPr>
                      <a:r>
                        <a:t>Use existing assets; new storage needs secured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15</a:t>
                      </a:r>
                      <a:r>
                        <a:rPr sz="1050">
                          <a:solidFill>
                            <a:srgbClr val="0A2373"/>
                          </a:solidFill>
                          <a:latin typeface="Lato"/>
                          <a:hlinkClick r:id="rId17" action="ppaction://hlinksldjump"/>
                        </a:rPr>
                        <a:t> / 16</a:t>
                      </a:r>
                      <a:r>
                        <a:rPr sz="1050">
                          <a:solidFill>
                            <a:srgbClr val="0A2373"/>
                          </a:solidFill>
                          <a:latin typeface="Lato"/>
                          <a:hlinkClick r:id="rId15"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S1</a:t>
            </a:r>
          </a:p>
        </p:txBody>
      </p:sp>
      <p:sp>
        <p:nvSpPr>
          <p:cNvPr id="49" name="SCR pill 2"/>
          <p:cNvSpPr/>
          <p:nvPr/>
        </p:nvSpPr>
        <p:spPr>
          <a:xfrm>
            <a:off x="1687068" y="274385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S2</a:t>
            </a:r>
          </a:p>
        </p:txBody>
      </p:sp>
      <p:sp>
        <p:nvSpPr>
          <p:cNvPr id="50" name="SCR pill 3"/>
          <p:cNvSpPr/>
          <p:nvPr/>
        </p:nvSpPr>
        <p:spPr>
          <a:xfrm>
            <a:off x="1687068" y="327943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S/C3</a:t>
            </a:r>
          </a:p>
        </p:txBody>
      </p:sp>
      <p:sp>
        <p:nvSpPr>
          <p:cNvPr id="51" name="SCR pill 4"/>
          <p:cNvSpPr/>
          <p:nvPr/>
        </p:nvSpPr>
        <p:spPr>
          <a:xfrm>
            <a:off x="1687068" y="381500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C4</a:t>
            </a:r>
          </a:p>
        </p:txBody>
      </p:sp>
      <p:sp>
        <p:nvSpPr>
          <p:cNvPr id="52" name="SCR pill 5"/>
          <p:cNvSpPr/>
          <p:nvPr/>
        </p:nvSpPr>
        <p:spPr>
          <a:xfrm>
            <a:off x="1687068" y="435058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C5</a:t>
            </a:r>
          </a:p>
        </p:txBody>
      </p:sp>
      <p:sp>
        <p:nvSpPr>
          <p:cNvPr id="53" name="SCR pill 6"/>
          <p:cNvSpPr/>
          <p:nvPr/>
        </p:nvSpPr>
        <p:spPr>
          <a:xfrm>
            <a:off x="1687068" y="488616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R6</a:t>
            </a:r>
          </a:p>
        </p:txBody>
      </p:sp>
      <p:sp>
        <p:nvSpPr>
          <p:cNvPr id="54" name="SCR pill 7"/>
          <p:cNvSpPr/>
          <p:nvPr/>
        </p:nvSpPr>
        <p:spPr>
          <a:xfrm>
            <a:off x="1687068" y="542173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Diesel drives import volumes, while conflicting reports leave 2024 sales unresolved</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 (proxy)</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Reported sales are a consumption proxy; production and stock changes are missing.</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Three provinces account for 69% of reported fuel sales; the top two contain Vopak’s storage facilities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Sales totals, not density. Vopak locations highlighted; detailed operator inventory on pages 13 and 15. Jet excluded.</a:t>
            </a:r>
          </a:p>
          <a:p>
            <a:pPr>
              <a:lnSpc>
                <a:spcPts val="900"/>
              </a:lnSpc>
              <a:spcBef>
                <a:spcPts val="0"/>
              </a:spcBef>
              <a:spcAft>
                <a:spcPts val="0"/>
              </a:spcAft>
              <a:defRPr sz="750">
                <a:latin typeface="Lato"/>
              </a:defRPr>
            </a:pPr>
            <a:r>
              <a:rPr sz="750"/>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Reported fuel sales were broadly steady through 2022, despite the pandemic dip</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24728"/>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24728"/>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24728"/>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035040"/>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035040"/>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035040"/>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245352"/>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245352"/>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245352"/>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analyst branch corrects the 2013 parser. Sources differ in 2014/2015; 2018 district coverage is incomplete. Retain these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Activity trends show potential demand shifts; fuel used per unit of activity still needs validation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7"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C4. 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All products; year to June, not calendar-year petrol/diesel. B adds 400 from 2033, conditional on FID.</a:t>
            </a:r>
          </a:p>
          <a:p>
            <a:pPr>
              <a:lnSpc>
                <a:spcPts val="900"/>
              </a:lnSpc>
              <a:spcBef>
                <a:spcPts val="0"/>
              </a:spcBef>
              <a:spcAft>
                <a:spcPts val="0"/>
              </a:spcAft>
              <a:defRPr sz="750">
                <a:latin typeface="Lato"/>
              </a:defRPr>
            </a:pPr>
            <a:r>
              <a:rPr sz="750"/>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Connect historical changes to forecast cases and market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changes | historical evidence, forecast cases and decision outputs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103120"/>
            <a:ext cx="1065276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STRUCTURE FOR REVIEW | assumptions and fuel-volume effects remain uncalibrated</a:t>
            </a:r>
          </a:p>
        </p:txBody>
      </p:sp>
      <p:graphicFrame>
        <p:nvGraphicFramePr>
          <p:cNvPr id="12" name="Table 11"/>
          <p:cNvGraphicFramePr>
            <a:graphicFrameLocks noGrp="1"/>
          </p:cNvGraphicFramePr>
          <p:nvPr/>
        </p:nvGraphicFramePr>
        <p:xfrm>
          <a:off x="457200" y="2542032"/>
          <a:ext cx="10652760" cy="3154680"/>
        </p:xfrm>
        <a:graphic>
          <a:graphicData uri="http://schemas.openxmlformats.org/drawingml/2006/table">
            <a:tbl>
              <a:tblPr firstRow="1" bandRow="1">
                <a:tableStyleId>{2D5ABB26-0587-4C30-8999-92F81FD0307C}</a:tableStyleId>
              </a:tblPr>
              <a:tblGrid>
                <a:gridCol w="2514600"/>
                <a:gridCol w="3154680"/>
                <a:gridCol w="2606040"/>
                <a:gridCol w="2377440"/>
              </a:tblGrid>
              <a:tr h="630936">
                <a:tc>
                  <a:txBody>
                    <a:bodyPr/>
                    <a:lstStyle/>
                    <a:p>
                      <a:pPr>
                        <a:spcAft>
                          <a:spcPts val="0"/>
                        </a:spcAft>
                        <a:defRPr sz="1100" b="1">
                          <a:solidFill>
                            <a:srgbClr val="000000"/>
                          </a:solidFill>
                          <a:latin typeface="Lato"/>
                        </a:defRPr>
                      </a:pPr>
                      <a:r>
                        <a:t>Historical evidence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Forecast cases to define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 to calculate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Decision it supports</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Fleet, activity and prices</a:t>
                      </a:r>
                    </a:p>
                    <a:p>
                      <a:pPr>
                        <a:spcAft>
                          <a:spcPts val="0"/>
                        </a:spcAft>
                        <a:defRPr sz="1100" b="0">
                          <a:solidFill>
                            <a:srgbClr val="000000"/>
                          </a:solidFill>
                          <a:latin typeface="Lato"/>
                        </a:defRPr>
                      </a:pPr>
                      <a:r>
                        <a:t>Observed history and recent partial periods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Base: observed performance continues. High / low: explicit growth, mileage and price assumptions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 / diesel demand by year; forecast bands and sensitivity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customer markets grow, contract or change product mix?</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EV, freight, sectors and power</a:t>
                      </a:r>
                    </a:p>
                    <a:p>
                      <a:pPr>
                        <a:spcAft>
                          <a:spcPts val="0"/>
                        </a:spcAft>
                        <a:defRPr sz="1100" b="0">
                          <a:solidFill>
                            <a:srgbClr val="000000"/>
                          </a:solidFill>
                          <a:latin typeface="Lato"/>
                        </a:defRPr>
                      </a:pPr>
                      <a:r>
                        <a:t>Separate activity from fuel use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Change uptake, modal share, fuel intensity and OCGT use; separate BEV and hybrids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Incremental litres by lever; avoid overlap with the base growth path</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service proposition and customer segment should Vopak prioritise?</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Refinery capacity and reported output</a:t>
                      </a:r>
                    </a:p>
                    <a:p>
                      <a:pPr>
                        <a:spcAft>
                          <a:spcPts val="0"/>
                        </a:spcAft>
                        <a:defRPr sz="1100" b="0">
                          <a:solidFill>
                            <a:srgbClr val="000000"/>
                          </a:solidFill>
                          <a:latin typeface="Lato"/>
                        </a:defRPr>
                      </a:pPr>
                      <a:r>
                        <a:t>Separate actual from conditional additions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Existing plants: output, downtime and yields. Redevelopment: conditional timing and ramp-up</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Product-specific domestic output; matched imports, exports and stock changes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When could additional import handling or storage be needed?</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Provincial sales and competing routes</a:t>
                      </a:r>
                    </a:p>
                    <a:p>
                      <a:pPr>
                        <a:spcAft>
                          <a:spcPts val="0"/>
                        </a:spcAft>
                        <a:defRPr sz="1100" b="0">
                          <a:solidFill>
                            <a:srgbClr val="000000"/>
                          </a:solidFill>
                          <a:latin typeface="Lato"/>
                        </a:defRPr>
                      </a:pPr>
                      <a:r>
                        <a:t>Later fuel shares are estimates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Allocate national cases with explicit regional assumptions; test route cost and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customer litres by region and route; actual Vopak deliveries separately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Where to play, how to win and the conditions for committing capacity</a:t>
                      </a:r>
                    </a:p>
                  </a:txBody>
                  <a:tcPr marL="50292" marR="50292" marT="41148" marB="41148" anchor="ctr">
                    <a:lnB w="6350" cap="flat">
                      <a:solidFill>
                        <a:srgbClr val="EEEEEE"/>
                      </a:solidFill>
                    </a:lnB>
                    <a:solidFill>
                      <a:srgbClr val="FFFFFF"/>
                    </a:solidFill>
                  </a:tcPr>
                </a:tc>
              </a:tr>
            </a:tbl>
          </a:graphicData>
        </a:graphic>
      </p:graphicFrame>
      <p:sp>
        <p:nvSpPr>
          <p:cNvPr id="13" name="TextBox 12"/>
          <p:cNvSpPr txBox="1"/>
          <p:nvPr/>
        </p:nvSpPr>
        <p:spPr>
          <a:xfrm>
            <a:off x="457200" y="5879592"/>
            <a:ext cx="10652760" cy="256032"/>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Historical evidence → agreed assumptions and levers → annual demand and supply → regional access → Vopak decision</a:t>
            </a:r>
          </a:p>
        </p:txBody>
      </p:sp>
      <p:sp>
        <p:nvSpPr>
          <p:cNvPr id="1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Illustrative road cost only. Pipeline/rail access and commercial rights are not priced.</a:t>
            </a:r>
          </a:p>
          <a:p>
            <a:pPr>
              <a:lnSpc>
                <a:spcPts val="900"/>
              </a:lnSpc>
              <a:spcBef>
                <a:spcPts val="0"/>
              </a:spcBef>
              <a:spcAft>
                <a:spcPts val="0"/>
              </a:spcAft>
              <a:defRPr sz="750">
                <a:latin typeface="Lato"/>
              </a:defRPr>
            </a:pPr>
            <a:r>
              <a:rPr sz="750"/>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17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7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317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141"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3"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4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Compare regional demand with Vopak’s published storage footprint</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6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The illustrative additional opportunity is 5.5 billion litres a year</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catchment CSV; conditions authored for review. No actual Vopak share, cost threshold or forecast capture established.</a:t>
            </a:r>
          </a:p>
        </p:txBody>
      </p: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55" name="TextBox 5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Accessibility gates and volume milestones | illustrative bn L/year</a:t>
            </a:r>
          </a:p>
        </p:txBody>
      </p:sp>
      <p:cxnSp>
        <p:nvCxnSpPr>
          <p:cNvPr id="56" name="Connector 5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457200" y="2194560"/>
            <a:ext cx="6446520" cy="228600"/>
          </a:xfrm>
          <a:prstGeom prst="rect">
            <a:avLst/>
          </a:prstGeom>
          <a:noFill/>
        </p:spPr>
        <p:txBody>
          <a:bodyPr wrap="square" lIns="22860" rIns="22860" tIns="0" bIns="0">
            <a:spAutoFit/>
          </a:bodyPr>
          <a:lstStyle/>
          <a:p>
            <a:pPr>
              <a:spcAft>
                <a:spcPts val="300"/>
              </a:spcAft>
              <a:defRPr sz="1000" b="1">
                <a:solidFill>
                  <a:srgbClr val="546CA2"/>
                </a:solidFill>
                <a:latin typeface="Lato"/>
              </a:defRPr>
            </a:pPr>
            <a:r>
              <a:t>ILLUSTRATIVE OPPORTUNITY</a:t>
            </a:r>
          </a:p>
        </p:txBody>
      </p:sp>
      <p:sp>
        <p:nvSpPr>
          <p:cNvPr id="60" name="TextBox 59"/>
          <p:cNvSpPr txBox="1"/>
          <p:nvPr/>
        </p:nvSpPr>
        <p:spPr>
          <a:xfrm>
            <a:off x="457200" y="2587752"/>
            <a:ext cx="1874519" cy="640080"/>
          </a:xfrm>
          <a:prstGeom prst="rect">
            <a:avLst/>
          </a:prstGeom>
          <a:noFill/>
        </p:spPr>
        <p:txBody>
          <a:bodyPr wrap="square" lIns="22860" rIns="22860" tIns="0" bIns="0">
            <a:spAutoFit/>
          </a:bodyPr>
          <a:lstStyle/>
          <a:p>
            <a:pPr>
              <a:spcAft>
                <a:spcPts val="300"/>
              </a:spcAft>
              <a:defRPr sz="4000" b="1">
                <a:solidFill>
                  <a:srgbClr val="0A2373"/>
                </a:solidFill>
                <a:latin typeface="Lato"/>
              </a:defRPr>
            </a:pPr>
            <a:r>
              <a:t>5.5</a:t>
            </a:r>
          </a:p>
        </p:txBody>
      </p:sp>
      <p:sp>
        <p:nvSpPr>
          <p:cNvPr id="61" name="TextBox 60"/>
          <p:cNvSpPr txBox="1"/>
          <p:nvPr/>
        </p:nvSpPr>
        <p:spPr>
          <a:xfrm>
            <a:off x="2286000" y="2724912"/>
            <a:ext cx="4526280" cy="566928"/>
          </a:xfrm>
          <a:prstGeom prst="rect">
            <a:avLst/>
          </a:prstGeom>
          <a:noFill/>
        </p:spPr>
        <p:txBody>
          <a:bodyPr wrap="square" lIns="22860" rIns="22860" tIns="0" bIns="0">
            <a:spAutoFit/>
          </a:bodyPr>
          <a:lstStyle/>
          <a:p>
            <a:pPr>
              <a:spcAft>
                <a:spcPts val="300"/>
              </a:spcAft>
              <a:defRPr sz="1700" b="1">
                <a:solidFill>
                  <a:srgbClr val="0A2373"/>
                </a:solidFill>
                <a:latin typeface="Lato"/>
              </a:defRPr>
            </a:pPr>
            <a:r>
              <a:t>bn litres / year</a:t>
            </a:r>
          </a:p>
          <a:p>
            <a:pPr>
              <a:spcAft>
                <a:spcPts val="300"/>
              </a:spcAft>
              <a:defRPr sz="1700" b="1">
                <a:solidFill>
                  <a:srgbClr val="0A2373"/>
                </a:solidFill>
                <a:latin typeface="Lato"/>
              </a:defRPr>
            </a:pPr>
            <a:r>
              <a:t>additional candidate volume</a:t>
            </a:r>
          </a:p>
        </p:txBody>
      </p:sp>
      <p:sp>
        <p:nvSpPr>
          <p:cNvPr id="62" name="TextBox 61"/>
          <p:cNvSpPr txBox="1"/>
          <p:nvPr/>
        </p:nvSpPr>
        <p:spPr>
          <a:xfrm>
            <a:off x="457200" y="3337560"/>
            <a:ext cx="644652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3.0 current + 5.5 additional = 8.5 total illustrative envelope</a:t>
            </a:r>
          </a:p>
        </p:txBody>
      </p:sp>
      <p:sp>
        <p:nvSpPr>
          <p:cNvPr id="63" name="Rectangle 62"/>
          <p:cNvSpPr/>
          <p:nvPr/>
        </p:nvSpPr>
        <p:spPr>
          <a:xfrm>
            <a:off x="457200" y="3767328"/>
            <a:ext cx="2275242" cy="60350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21208" y="3950208"/>
            <a:ext cx="2147226" cy="246888"/>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65" name="Rectangle 64"/>
          <p:cNvSpPr/>
          <p:nvPr/>
        </p:nvSpPr>
        <p:spPr>
          <a:xfrm>
            <a:off x="2732442" y="3767328"/>
            <a:ext cx="1137621" cy="603504"/>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796450" y="3950208"/>
            <a:ext cx="1009605" cy="246888"/>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Coastal + 1.5</a:t>
            </a:r>
          </a:p>
        </p:txBody>
      </p:sp>
      <p:sp>
        <p:nvSpPr>
          <p:cNvPr id="67" name="Rectangle 66"/>
          <p:cNvSpPr/>
          <p:nvPr/>
        </p:nvSpPr>
        <p:spPr>
          <a:xfrm>
            <a:off x="3870063" y="3767328"/>
            <a:ext cx="3033656" cy="60350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934071" y="3950208"/>
            <a:ext cx="2905640" cy="24688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69" name="TextBox 68"/>
          <p:cNvSpPr txBox="1"/>
          <p:nvPr/>
        </p:nvSpPr>
        <p:spPr>
          <a:xfrm>
            <a:off x="457200" y="4736592"/>
            <a:ext cx="6446520" cy="32004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Four gates before additional litres can be counted</a:t>
            </a:r>
          </a:p>
        </p:txBody>
      </p:sp>
      <p:graphicFrame>
        <p:nvGraphicFramePr>
          <p:cNvPr id="70" name="Table 69"/>
          <p:cNvGraphicFramePr>
            <a:graphicFrameLocks noGrp="1"/>
          </p:cNvGraphicFramePr>
          <p:nvPr/>
        </p:nvGraphicFramePr>
        <p:xfrm>
          <a:off x="457200" y="5230368"/>
          <a:ext cx="6446520" cy="777240"/>
        </p:xfrm>
        <a:graphic>
          <a:graphicData uri="http://schemas.openxmlformats.org/drawingml/2006/table">
            <a:tbl>
              <a:tblPr firstRow="1" bandRow="1">
                <a:tableStyleId>{2D5ABB26-0587-4C30-8999-92F81FD0307C}</a:tableStyleId>
              </a:tblPr>
              <a:tblGrid>
                <a:gridCol w="1609344"/>
                <a:gridCol w="1609344"/>
                <a:gridCol w="1609344"/>
                <a:gridCol w="1618488"/>
              </a:tblGrid>
              <a:tr h="388620">
                <a:tc>
                  <a:txBody>
                    <a:bodyPr/>
                    <a:lstStyle/>
                    <a:p>
                      <a:pPr>
                        <a:spcAft>
                          <a:spcPts val="0"/>
                        </a:spcAft>
                        <a:defRPr sz="105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r h="388620">
                <a:tc>
                  <a:txBody>
                    <a:bodyPr/>
                    <a:lstStyle/>
                    <a:p>
                      <a:pPr>
                        <a:spcAft>
                          <a:spcPts val="0"/>
                        </a:spcAft>
                        <a:defRPr sz="1050" b="0">
                          <a:solidFill>
                            <a:srgbClr val="000000"/>
                          </a:solidFill>
                          <a:latin typeface="Lato"/>
                        </a:defRPr>
                      </a:pPr>
                      <a:r>
                        <a:t>Delivered-cost threshold</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Route / tank capacity</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Customer rights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Same product and period</a:t>
                      </a:r>
                    </a:p>
                  </a:txBody>
                  <a:tcPr marL="50292" marR="50292" marT="41148" marB="41148" anchor="ctr">
                    <a:lnB w="6350" cap="flat">
                      <a:solidFill>
                        <a:srgbClr val="EEEEEE"/>
                      </a:solidFill>
                    </a:lnB>
                    <a:solidFill>
                      <a:srgbClr val="FFFFFF"/>
                    </a:solidFill>
                  </a:tcPr>
                </a:tc>
              </a:tr>
            </a:tbl>
          </a:graphicData>
        </a:graphic>
      </p:graphicFrame>
      <p:sp>
        <p:nvSpPr>
          <p:cNvPr id="71" name="TextBox 70"/>
          <p:cNvSpPr txBox="1"/>
          <p:nvPr/>
        </p:nvSpPr>
        <p:spPr>
          <a:xfrm>
            <a:off x="457200" y="6181344"/>
            <a:ext cx="6446520"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Candidate volume is neither a forecast nor confirmed capture.</a:t>
            </a:r>
          </a:p>
        </p:txBody>
      </p:sp>
      <p:sp>
        <p:nvSpPr>
          <p:cNvPr id="72" name="TextBox 7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What the evidence shows</a:t>
            </a:r>
          </a:p>
        </p:txBody>
      </p:sp>
      <p:sp>
        <p:nvSpPr>
          <p:cNvPr id="73" name="TextBox 72"/>
          <p:cNvSpPr txBox="1"/>
          <p:nvPr/>
        </p:nvSpPr>
        <p:spPr>
          <a:xfrm>
            <a:off x="7424927" y="2267712"/>
            <a:ext cx="3685032"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01 | Access still needs a cost test</a:t>
            </a:r>
          </a:p>
        </p:txBody>
      </p:sp>
      <p:sp>
        <p:nvSpPr>
          <p:cNvPr id="74" name="TextBox 73"/>
          <p:cNvSpPr txBox="1"/>
          <p:nvPr/>
        </p:nvSpPr>
        <p:spPr>
          <a:xfrm>
            <a:off x="7424927" y="2596896"/>
            <a:ext cx="3685032" cy="49377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Maps locate possible reach; verified cost thresholds are not yet linked to customer litres.</a:t>
            </a:r>
          </a:p>
        </p:txBody>
      </p:sp>
      <p:sp>
        <p:nvSpPr>
          <p:cNvPr id="75" name="TextBox 74"/>
          <p:cNvSpPr txBox="1"/>
          <p:nvPr/>
        </p:nvSpPr>
        <p:spPr>
          <a:xfrm>
            <a:off x="7424927" y="3136391"/>
            <a:ext cx="3685032"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02 | Volumes are authored examples</a:t>
            </a:r>
          </a:p>
        </p:txBody>
      </p:sp>
      <p:sp>
        <p:nvSpPr>
          <p:cNvPr id="76" name="TextBox 75"/>
          <p:cNvSpPr txBox="1"/>
          <p:nvPr/>
        </p:nvSpPr>
        <p:spPr>
          <a:xfrm>
            <a:off x="7424927" y="3465575"/>
            <a:ext cx="3685032" cy="49377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3.0 current + 1.5 coastal + 4.0 inland = 8.5; none is confirmed capture.</a:t>
            </a:r>
          </a:p>
        </p:txBody>
      </p:sp>
      <p:sp>
        <p:nvSpPr>
          <p:cNvPr id="77" name="TextBox 76"/>
          <p:cNvSpPr txBox="1"/>
          <p:nvPr/>
        </p:nvSpPr>
        <p:spPr>
          <a:xfrm>
            <a:off x="7424927" y="4005072"/>
            <a:ext cx="3685032"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03 | Unassessed litres stay explicit</a:t>
            </a:r>
          </a:p>
        </p:txBody>
      </p:sp>
      <p:sp>
        <p:nvSpPr>
          <p:cNvPr id="78" name="TextBox 77"/>
          <p:cNvSpPr txBox="1"/>
          <p:nvPr/>
        </p:nvSpPr>
        <p:spPr>
          <a:xfrm>
            <a:off x="7424927" y="4334256"/>
            <a:ext cx="3685032" cy="49377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Count an increment only after cost, capacity, customer rights and unique-delivery checks.</a:t>
            </a:r>
          </a:p>
        </p:txBody>
      </p:sp>
      <p:cxnSp>
        <p:nvCxnSpPr>
          <p:cNvPr id="79" name="Connector 78"/>
          <p:cNvCxnSpPr/>
          <p:nvPr/>
        </p:nvCxnSpPr>
        <p:spPr>
          <a:xfrm>
            <a:off x="7424927" y="50566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7424927" y="5239512"/>
            <a:ext cx="3685032" cy="27432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actions</a:t>
            </a:r>
          </a:p>
        </p:txBody>
      </p:sp>
      <p:sp>
        <p:nvSpPr>
          <p:cNvPr id="81" name="TextBox 80"/>
          <p:cNvSpPr txBox="1"/>
          <p:nvPr/>
        </p:nvSpPr>
        <p:spPr>
          <a:xfrm>
            <a:off x="7424927" y="5632704"/>
            <a:ext cx="694944" cy="246888"/>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Nigel</a:t>
            </a:r>
          </a:p>
        </p:txBody>
      </p:sp>
      <p:sp>
        <p:nvSpPr>
          <p:cNvPr id="82" name="TextBox 81"/>
          <p:cNvSpPr txBox="1"/>
          <p:nvPr/>
        </p:nvSpPr>
        <p:spPr>
          <a:xfrm>
            <a:off x="8165592" y="5632704"/>
            <a:ext cx="2944368"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Agree destinations and delivered-cost thresholds.</a:t>
            </a:r>
          </a:p>
        </p:txBody>
      </p:sp>
      <p:sp>
        <p:nvSpPr>
          <p:cNvPr id="83" name="TextBox 82"/>
          <p:cNvSpPr txBox="1"/>
          <p:nvPr/>
        </p:nvSpPr>
        <p:spPr>
          <a:xfrm>
            <a:off x="7424927" y="6080760"/>
            <a:ext cx="694944" cy="246888"/>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Manish</a:t>
            </a:r>
          </a:p>
        </p:txBody>
      </p:sp>
      <p:sp>
        <p:nvSpPr>
          <p:cNvPr id="84" name="TextBox 83"/>
          <p:cNvSpPr txBox="1"/>
          <p:nvPr/>
        </p:nvSpPr>
        <p:spPr>
          <a:xfrm>
            <a:off x="8165592" y="6080760"/>
            <a:ext cx="2944368"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Record passed, failed and unassessed customer-route gates.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*Ladysmith excludes 0.474 intermixture. Unquantified: Bethlehem, Magdala, Sasol, Tarlton, Jameson Park.</a:t>
            </a:r>
          </a:p>
          <a:p>
            <a:pPr>
              <a:lnSpc>
                <a:spcPts val="900"/>
              </a:lnSpc>
              <a:spcBef>
                <a:spcPts val="0"/>
              </a:spcBef>
              <a:spcAft>
                <a:spcPts val="0"/>
              </a:spcAft>
              <a:defRPr sz="750">
                <a:latin typeface="Lato"/>
              </a:defRPr>
            </a:pPr>
            <a:r>
              <a:rPr sz="750"/>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market hypotheses; demand, gateway and storage evidence on pp.4, 10–15. Customer capture remains unverified.</a:t>
            </a:r>
          </a:p>
        </p:txBody>
      </p:sp>
      <p:sp>
        <p:nvSpPr>
          <p:cNvPr id="1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7" name="TextBox 16"/>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Market outlook | priority hypotheses and conditional timing</a:t>
            </a:r>
          </a:p>
        </p:txBody>
      </p:sp>
      <p:cxnSp>
        <p:nvCxnSpPr>
          <p:cNvPr id="18" name="Connector 17"/>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Outlook icon: location"/>
          <p:cNvSpPr/>
          <p:nvPr/>
        </p:nvSpPr>
        <p:spPr>
          <a:xfrm>
            <a:off x="50292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utlook icon: location"/>
          <p:cNvSpPr/>
          <p:nvPr/>
        </p:nvSpPr>
        <p:spPr>
          <a:xfrm>
            <a:off x="598932" y="2258568"/>
            <a:ext cx="64008" cy="64008"/>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566928"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630936"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Outlook icon: target"/>
          <p:cNvSpPr/>
          <p:nvPr/>
        </p:nvSpPr>
        <p:spPr>
          <a:xfrm>
            <a:off x="260604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utlook icon: target"/>
          <p:cNvSpPr/>
          <p:nvPr/>
        </p:nvSpPr>
        <p:spPr>
          <a:xfrm>
            <a:off x="2670048" y="2258568"/>
            <a:ext cx="128016" cy="128016"/>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utlook icon: clock"/>
          <p:cNvSpPr/>
          <p:nvPr/>
        </p:nvSpPr>
        <p:spPr>
          <a:xfrm>
            <a:off x="544068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5568696" y="2231136"/>
            <a:ext cx="0" cy="9144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568696" y="2322576"/>
            <a:ext cx="73152" cy="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8" name="Outlook icon: check"/>
          <p:cNvSpPr/>
          <p:nvPr/>
        </p:nvSpPr>
        <p:spPr>
          <a:xfrm>
            <a:off x="822960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8293608" y="2331720"/>
            <a:ext cx="45719" cy="4572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339327" y="2267712"/>
            <a:ext cx="91441"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graphicFrame>
        <p:nvGraphicFramePr>
          <p:cNvPr id="31" name="Table 30"/>
          <p:cNvGraphicFramePr>
            <a:graphicFrameLocks noGrp="1"/>
          </p:cNvGraphicFramePr>
          <p:nvPr/>
        </p:nvGraphicFramePr>
        <p:xfrm>
          <a:off x="457200" y="2606040"/>
          <a:ext cx="10652760" cy="2660904"/>
        </p:xfrm>
        <a:graphic>
          <a:graphicData uri="http://schemas.openxmlformats.org/drawingml/2006/table">
            <a:tbl>
              <a:tblPr firstRow="1" bandRow="1">
                <a:tableStyleId>{2D5ABB26-0587-4C30-8999-92F81FD0307C}</a:tableStyleId>
              </a:tblPr>
              <a:tblGrid>
                <a:gridCol w="2103120"/>
                <a:gridCol w="2834640"/>
                <a:gridCol w="2788920"/>
                <a:gridCol w="2926080"/>
              </a:tblGrid>
              <a:tr h="665226">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Matola / Walvis Bay port-storage gateways</a:t>
                      </a:r>
                    </a:p>
                    <a:p>
                      <a:pPr>
                        <a:spcAft>
                          <a:spcPts val="0"/>
                        </a:spcAft>
                        <a:defRPr sz="1150" b="0">
                          <a:solidFill>
                            <a:srgbClr val="000000"/>
                          </a:solidFill>
                          <a:latin typeface="Lato"/>
                        </a:defRPr>
                      </a:pPr>
                      <a:r>
                        <a:t>Compare inland supply routes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32" name="TextBox 3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Investment gate</a:t>
            </a:r>
          </a:p>
        </p:txBody>
      </p:sp>
      <p:sp>
        <p:nvSpPr>
          <p:cNvPr id="33" name="TextBox 3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New storage follows secured incremental flows and a gap in usable capacity; the illustrative 5.5 bn litres does not establish a commitment.</a:t>
            </a:r>
          </a:p>
        </p:txBody>
      </p:sp>
      <p:sp>
        <p:nvSpPr>
          <p:cNvPr id="34" name="TextBox 3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Nigel: Choose the first customer/product and acceptable cost. Confirm the service proposition and commercial access.</a:t>
            </a:r>
          </a:p>
        </p:txBody>
      </p:sp>
      <p:sp>
        <p:nvSpPr>
          <p:cNvPr id="35" name="TextBox 3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Manish: Build a customer-by-route evidence table: litres, cost, capacity, rights, timing and owner. Mark each gate passed, failed or unassessed.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Illustrative additional flows require 211 thousand m³ at 14 inventory days</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47"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8" name="TextBox 47"/>
          <p:cNvSpPr txBox="1"/>
          <p:nvPr/>
        </p:nvSpPr>
        <p:spPr>
          <a:xfrm>
            <a:off x="457200" y="1627632"/>
            <a:ext cx="4937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Working inventory, thousand m³</a:t>
            </a:r>
          </a:p>
        </p:txBody>
      </p:sp>
      <p:sp>
        <p:nvSpPr>
          <p:cNvPr id="49" name="TextBox 48"/>
          <p:cNvSpPr txBox="1"/>
          <p:nvPr/>
        </p:nvSpPr>
        <p:spPr>
          <a:xfrm>
            <a:off x="5486400" y="1664208"/>
            <a:ext cx="5623560" cy="27432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5.5 bn litres/year; uniform daily flow</a:t>
            </a:r>
          </a:p>
        </p:txBody>
      </p:sp>
      <p:graphicFrame>
        <p:nvGraphicFramePr>
          <p:cNvPr id="50" name="Chart 49"/>
          <p:cNvGraphicFramePr>
            <a:graphicFrameLocks noGrp="1"/>
          </p:cNvGraphicFramePr>
          <p:nvPr/>
        </p:nvGraphicFramePr>
        <p:xfrm>
          <a:off x="457200" y="2084831"/>
          <a:ext cx="10652760" cy="3611880"/>
        </p:xfrm>
        <a:graphic>
          <a:graphicData uri="http://schemas.openxmlformats.org/drawingml/2006/chart">
            <c:chart xmlns:c="http://schemas.openxmlformats.org/drawingml/2006/chart" r:id="rId8"/>
          </a:graphicData>
        </a:graphic>
      </p:graphicFrame>
      <p:sp>
        <p:nvSpPr>
          <p:cNvPr id="51" name="TextBox 50"/>
          <p:cNvSpPr txBox="1"/>
          <p:nvPr/>
        </p:nvSpPr>
        <p:spPr>
          <a:xfrm>
            <a:off x="457200" y="5806440"/>
            <a:ext cx="10652760" cy="24688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Inventory days</a:t>
            </a:r>
          </a:p>
        </p:txBody>
      </p:sp>
      <p:sp>
        <p:nvSpPr>
          <p:cNvPr id="52" name="TextBox 51"/>
          <p:cNvSpPr txBox="1"/>
          <p:nvPr/>
        </p:nvSpPr>
        <p:spPr>
          <a:xfrm>
            <a:off x="457200" y="6199632"/>
            <a:ext cx="10652760" cy="26517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Working stock, not new capacity: allow for spare tanks, peaks, product segregation, tank heels and dispatch limits.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3" action="ppaction://hlinksldjump"/>
                        </a:rPr>
                        <a:t> / 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5" action="ppaction://hlinksldjump"/>
                        </a:rPr>
                        <a:t> / 10</a:t>
                      </a:r>
                      <a:r>
                        <a:rPr sz="1050">
                          <a:solidFill>
                            <a:srgbClr val="0A2373"/>
                          </a:solidFill>
                          <a:latin typeface="Lato"/>
                          <a:hlinkClick r:id="rId6" action="ppaction://hlinksldjump"/>
                        </a:rPr>
                        <a:t> / 12</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11" action="ppaction://hlinksldjump"/>
                        </a:rPr>
                        <a:t> / 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10</a:t>
                      </a:r>
                      <a:r>
                        <a:rPr sz="1050">
                          <a:solidFill>
                            <a:srgbClr val="0A2373"/>
                          </a:solidFill>
                          <a:latin typeface="Lato"/>
                          <a:hlinkClick r:id="rId6" action="ppaction://hlinksldjump"/>
                        </a:rPr>
                        <a:t> / 11</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11</a:t>
                      </a:r>
                      <a:r>
                        <a:rPr sz="1050">
                          <a:solidFill>
                            <a:srgbClr val="0A2373"/>
                          </a:solidFill>
                          <a:latin typeface="Lato"/>
                          <a:hlinkClick r:id="rId7" action="ppaction://hlinksldjump"/>
                        </a:rPr>
                        <a:t> / 14</a:t>
                      </a:r>
                      <a:r>
                        <a:rPr sz="1050">
                          <a:solidFill>
                            <a:srgbClr val="0A2373"/>
                          </a:solidFill>
                          <a:latin typeface="Lato"/>
                          <a:hlinkClick r:id="rId8" action="ppaction://hlinksldjump"/>
                        </a:rPr>
                        <a:t> / 16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12</a:t>
                      </a:r>
                      <a:r>
                        <a:rPr sz="1050">
                          <a:solidFill>
                            <a:srgbClr val="0A2373"/>
                          </a:solidFill>
                          <a:latin typeface="Lato"/>
                          <a:hlinkClick r:id="rId3" action="ppaction://hlinksldjump"/>
                        </a:rPr>
                        <a:t> / 13</a:t>
                      </a:r>
                      <a:r>
                        <a:rPr sz="1050">
                          <a:solidFill>
                            <a:srgbClr val="0A2373"/>
                          </a:solidFill>
                          <a:latin typeface="Lato"/>
                          <a:hlinkClick r:id="rId4" action="ppaction://hlinksldjump"/>
                        </a:rPr>
                        <a:t> / 14</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