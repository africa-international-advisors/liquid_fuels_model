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2" r:id="rId17"/>
    <p:sldId id="258" r:id="rId5"/>
    <p:sldId id="259" r:id="rId16"/>
    <p:sldId id="263" r:id="rId6"/>
    <p:sldId id="264" r:id="rId19"/>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Public evidence reviewed 6 October 2026. Competitor list is a starting inventory, not exhaustive. Actual petrol/diesel throughput share remains unknown. Capacity is a stock and may include chemicals/gases. Bidvest site capacities: Durban 439306 + Richards Bay 483797 + Isando 32500 = 955603 m3; homepage instead states 868000 m3. Reconcile dates and products. Burgan Cape Terminal publishes 122000 m3 and a 2025-2026 uncommitted-capacity download; confirm the current period before treating it as available. Market volume illustration uses the authored regional CSV, not public company volumes. Current unique demand served / matched catchment demand; additional candidate / matched catchment demand. National, catchment, eligible-throughput and capacity denominators must not be interchanged. [1]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https://www.transnet.net/getFile.ashx?id=5330 | 2024-09-01 commencement | Not evidence of current spare capacity or an independent merchant tank service; historical inactive depots excluded</a:t>
            </a:r>
          </a:p>
          <a:p>
            <a:r>
              <a:t>Stacked bars are authored illustration only; not actual market share. Eastern coast current 22.2%, additional candidate 33.3%, outside envelope 44.4%; inland 20%, 40%, 40%. Candidate volume is conditional, not forecast capture. Regions use the working province definitions on slide 2, but the bar denominators remain the illustrative 4.5/10.0 bn L, not observed 2022 sales. Western/other unassessed.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slides 4-5.</a:t>
            </a:r>
          </a:p>
          <a:p>
            <a:r>
              <a:t>Storage footprint is a public-evidence starting inventory, not a complete census. Coordinates are approximate except Tarlton tender coordinates.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assumptions/2026/infrastructure/storage_transnet_pipelines_depots.csv | Underlying RFP vintage requires confirmation | Existing source CSV says out of service since March 2018 | Excluded from available operating capacity | owner Manish / Nigel review | next: Check any reactivation against latest licence and operating evidence</a:t>
            </a:r>
          </a:p>
          <a:p>
            <a:r>
              <a:t>X2 Transnet Pipelines / Standerton: assumptions/2026/infrastructure/storage_transnet_pipelines_depots.csv | Underlying RFP vintage requires confirmation | Existing source CSV says stranded after pipeline decommissioning | Excluded from available operating capacity | owner Manish / Nigel review | next: Check reactivation and product eligibility</a:t>
            </a:r>
          </a:p>
          <a:p>
            <a:r>
              <a:t>X3 Transnet Pipelines / Kroonstad: assumptions/2026/infrastructure/storage_transnet_pipelines_depots.csv | Underlying RFP vintage requires confirmation | Existing source CSV says offered for lease | No present operation or access inferred | owner Manish / Nigel review | next: Verify lease award and operation</a:t>
            </a:r>
          </a:p>
          <a:p>
            <a:r>
              <a:t>X4 Transnet Pipelines / Bethlehem: assumptions/2026/infrastructure/storage_transnet_pipelines_depots.csv | Underlying RFP vintage requires confirmation | Existing source CSV says offered for lease | No present operation or access inferred | owner Manish / Nigel review | next: Verify lease award and operation; avoid conflating with marketer site</a:t>
            </a:r>
          </a:p>
          <a:p>
            <a:r>
              <a:t>X5 Transnet Pipelines / Magdala: assumptions/2026/infrastructure/storage_transnet_pipelines_depots.csv | Underlying RFP vintage requires confirmation | Existing source CSV says offered for lease | No present operation or access inferred | owner Manish / Nigel review | next: Verify lease award and operation</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market/share figures on slides 4-5.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tender coordinates.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assumptions/2026/infrastructure/storage_transnet_pipelines_depots.csv | Underlying RFP vintage requires confirmation | Existing source CSV says out of service since March 2018 | Excluded from available operating capacity | owner Manish / Nigel review | next: Check any reactivation against latest licence and operating evidence</a:t>
            </a:r>
          </a:p>
          <a:p>
            <a:r>
              <a:t>X2 Transnet Pipelines / Standerton: assumptions/2026/infrastructure/storage_transnet_pipelines_depots.csv | Underlying RFP vintage requires confirmation | Existing source CSV says stranded after pipeline decommissioning | Excluded from available operating capacity | owner Manish / Nigel review | next: Check reactivation and product eligibility</a:t>
            </a:r>
          </a:p>
          <a:p>
            <a:r>
              <a:t>X3 Transnet Pipelines / Kroonstad: assumptions/2026/infrastructure/storage_transnet_pipelines_depots.csv | Underlying RFP vintage requires confirmation | Existing source CSV says offered for lease | No present operation or access inferred | owner Manish / Nigel review | next: Verify lease award and operation</a:t>
            </a:r>
          </a:p>
          <a:p>
            <a:r>
              <a:t>X4 Transnet Pipelines / Bethlehem: assumptions/2026/infrastructure/storage_transnet_pipelines_depots.csv | Underlying RFP vintage requires confirmation | Existing source CSV says offered for lease | No present operation or access inferred | owner Manish / Nigel review | next: Verify lease award and operation; avoid conflating with marketer site</a:t>
            </a:r>
          </a:p>
          <a:p>
            <a:r>
              <a:t>X5 Transnet Pipelines / Magdala: assumptions/2026/infrastructure/storage_transnet_pipelines_depots.csv | Underlying RFP vintage requires confirmation | Existing source CSV says offered for lease | No present operation or access inferred | owner Manish / Nigel review | next: Verify lease award and operation</a:t>
            </a:r>
          </a:p>
          <a:p>
            <a:r>
              <a:t>Bar totals sum only the published records shown. No missing site is assigned zero. Durban combines separate Vopak and Bidvest gross stocks. Richards Bay includes gases. Different product scopes and undisclosed publication dates prevent a like-for-like fuel-only ranking. Vopak HTML capacity extraction uses data-end-number in the Capacity block with cbm selector; the alternate visible values are barrels. Original HTML retained under external/data/raw/vopak_storage_20261006/.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getFile.ashx?id=533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coastal and inland links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Road candidates connect coastal customers and inland transfers. Pipelines are separate supply connections.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Lesedi: inland dispatch</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receipt, dispatch, tanker cycles and customer destinations for connected inland markets.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Lower cost means higher accessibility</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Darker cells show lower example road-delivery cost from either facility. Pipe and rail lines remain context.</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Customer access is unverified</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Contracts and competitors define the commercial envelope. Actual customer catchments are not supplied.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57" name="TextBox 556"/>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Cost accessibility and market volumes | illustrative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National balance sets import needs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Demand of 21.0 less domestic production of 7.0 gives required imports of 14.0 in this illustration.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Count unique customer demand once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Receipts of 2.8 at Durban and 2.0 at Lesedi include a shared 1.8 transfer. Unique demand served is 3.0.</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opportunity is conditional</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commercial envelope is 8.5; current unique demand served is 3.0, leaving a candidate 5.5.</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Replace examples with evidence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regional demand, route constraints, customer flows and contracts by product, period and units.</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sp>
        <p:nvSpPr>
          <p:cNvPr id="516" name="TextBox 515"/>
          <p:cNvSpPr txBox="1"/>
          <p:nvPr/>
        </p:nvSpPr>
        <p:spPr>
          <a:xfrm>
            <a:off x="731520" y="248716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343400" y="504748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30" name="TextBox 529"/>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CD0337DE-1EB7-48C3-91A3-DB96166C773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5.</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concentrates in three provinces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6.81, KwaZulu-Natal 4.28 and Western Cape 3.93 bn litres represent 68.6% of reported sales.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have explicit boundaries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 EC + KZN; inland = GP, FS, LP, MP and NW; western coast = WC; other = NC. These are working groupings.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Storage sits alongside demand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Bidvest, Sasol, Transnet and Burgan Cape provide the mapped storage context. Inland facilities are clustered.</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Sales do not establish accessible volume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All four quarters of 2022 reconcile to national sales. Current demand, delivered cost and customer rights need separate evidence.</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5076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Durban</a:t>
            </a:r>
          </a:p>
          <a:p>
            <a:pPr>
              <a:spcAft>
                <a:spcPts val="300"/>
              </a:spcAft>
              <a:defRPr sz="1000" b="1">
                <a:solidFill>
                  <a:srgbClr val="0A2373"/>
                </a:solidFill>
                <a:latin typeface="Lato"/>
              </a:defRPr>
            </a:pPr>
            <a:r>
              <a:t>Vopak / Bidvest</a:t>
            </a:r>
          </a:p>
        </p:txBody>
      </p:sp>
      <p:cxnSp>
        <p:nvCxnSpPr>
          <p:cNvPr id="526" name="Connector 525"/>
          <p:cNvCxnSpPr/>
          <p:nvPr/>
        </p:nvCxnSpPr>
        <p:spPr>
          <a:xfrm flipH="1" flipV="1">
            <a:off x="5148072" y="3817620"/>
            <a:ext cx="144846" cy="23449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Richards Bay</a:t>
            </a:r>
          </a:p>
          <a:p>
            <a:pPr>
              <a:spcAft>
                <a:spcPts val="300"/>
              </a:spcAft>
              <a:defRPr sz="1000" b="1">
                <a:solidFill>
                  <a:srgbClr val="0A2373"/>
                </a:solidFill>
                <a:latin typeface="Lato"/>
              </a:defRPr>
            </a:pPr>
            <a:r>
              <a:t>Bidvest</a:t>
            </a:r>
          </a:p>
        </p:txBody>
      </p:sp>
      <p:cxnSp>
        <p:nvCxnSpPr>
          <p:cNvPr id="528" name="Connector 527"/>
          <p:cNvCxnSpPr/>
          <p:nvPr/>
        </p:nvCxnSpPr>
        <p:spPr>
          <a:xfrm flipH="1" flipV="1">
            <a:off x="566928" y="4773168"/>
            <a:ext cx="1735268" cy="578988"/>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572000"/>
            <a:ext cx="1298448" cy="402336"/>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Cape Town</a:t>
            </a:r>
          </a:p>
          <a:p>
            <a:pPr>
              <a:spcAft>
                <a:spcPts val="300"/>
              </a:spcAft>
              <a:defRPr sz="1000" b="1">
                <a:solidFill>
                  <a:srgbClr val="0A2373"/>
                </a:solidFill>
                <a:latin typeface="Lato"/>
              </a:defRPr>
            </a:pPr>
            <a:r>
              <a:t>Burgan Cape</a:t>
            </a:r>
          </a:p>
        </p:txBody>
      </p:sp>
      <p:cxnSp>
        <p:nvCxnSpPr>
          <p:cNvPr id="530" name="Connector 529"/>
          <p:cNvCxnSpPr/>
          <p:nvPr/>
        </p:nvCxnSpPr>
        <p:spPr>
          <a:xfrm flipH="1" flipV="1">
            <a:off x="594360" y="3209544"/>
            <a:ext cx="3847905" cy="14035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1874519" cy="603504"/>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Lesedi / inland storage</a:t>
            </a:r>
          </a:p>
          <a:p>
            <a:pPr>
              <a:spcAft>
                <a:spcPts val="300"/>
              </a:spcAft>
              <a:defRPr sz="1000" b="1">
                <a:solidFill>
                  <a:srgbClr val="0A2373"/>
                </a:solidFill>
                <a:latin typeface="Lato"/>
              </a:defRPr>
            </a:pPr>
            <a:r>
              <a:t>Vopak / Bidvest</a:t>
            </a:r>
          </a:p>
          <a:p>
            <a:pPr>
              <a:spcAft>
                <a:spcPts val="300"/>
              </a:spcAft>
              <a:defRPr sz="1000" b="1">
                <a:solidFill>
                  <a:srgbClr val="0A2373"/>
                </a:solidFill>
                <a:latin typeface="Lato"/>
              </a:defRPr>
            </a:pPr>
            <a:r>
              <a:t>Sasol / Transnet</a:t>
            </a:r>
          </a:p>
        </p:txBody>
      </p:sp>
      <p:cxnSp>
        <p:nvCxnSpPr>
          <p:cNvPr id="532" name="Connector 531"/>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33" name="TextBox 532"/>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34" name="TextBox 533"/>
          <p:cNvSpPr txBox="1"/>
          <p:nvPr/>
        </p:nvSpPr>
        <p:spPr>
          <a:xfrm>
            <a:off x="3768443" y="380045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35" name="TextBox 534"/>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36" name="TextBox 535"/>
          <p:cNvSpPr txBox="1"/>
          <p:nvPr/>
        </p:nvSpPr>
        <p:spPr>
          <a:xfrm>
            <a:off x="4580325" y="3822957"/>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37" name="TextBox 536"/>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38" name="TextBox 537"/>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39" name="TextBox 538"/>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40" name="TextBox 539"/>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41" name="TextBox 540"/>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42" name="Rectangle 541"/>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TextBox 542"/>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44" name="Rectangle 543"/>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TextBox 544"/>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46" name="Rectangle 545"/>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TextBox 546"/>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48" name="Rectangle 547"/>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TextBox 548"/>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50" name="Rectangle 549"/>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TextBox 550"/>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52" name="TextBox 551"/>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53" name="Oval 552"/>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55" name="Rectangle 554"/>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57" name="Diamond 556"/>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TextBox 557"/>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59" name="Hexagon 558"/>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61" name="TextBox 560"/>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62" name="TextBox 56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Province totals, not within-province hotspots. Sites approximate; access unverified. Jet excluded.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Define Vopak’s current share and the market it can contest</a:t>
            </a:r>
          </a:p>
        </p:txBody>
      </p:sp>
      <p:sp>
        <p:nvSpPr>
          <p:cNvPr id="3" name="Slide Number Placeholder"/>
          <p:cNvSpPr>
            <a:spLocks noGrp="1"/>
          </p:cNvSpPr>
          <p:nvPr>
            <p:ph type="sldNum" sz="quarter" idx="12"/>
          </p:nvPr>
        </p:nvSpPr>
        <p:spPr/>
        <p:txBody>
          <a:bodyPr/>
          <a:lstStyle/>
          <a:p>
            <a:fld id="{4D81907B-C84A-42EA-8F31-CAF91C64B4B8}"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Operator sites/reports and NERSA [1–7], checked 6 Oct 2026; site inventory in slide 2 notes; shares illustrative.</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Competitive footprint and share | petrol/diesel focus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Actual Vopak share is not established</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Need unique petrol/diesel deliveries divided by matched catchment demand, for the same period.</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Contestability requires customer access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cost, compatible capacity, contracts and switching. Other operators’ volume is not automatically available.</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Storage has different commercial roles</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Bidvest and Burgan offer terminal services; Sasol depots and Transnet accumulation need separate access tests.</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Capacity share is a separate measure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Exclude chemicals, gas, jet and unusable tanks. Reconcile dates; do not convert storage capacity into fuel throughput.</a:t>
            </a:r>
          </a:p>
        </p:txBody>
      </p:sp>
      <p:graphicFrame>
        <p:nvGraphicFramePr>
          <p:cNvPr id="22" name="Table 21"/>
          <p:cNvGraphicFramePr>
            <a:graphicFrameLocks noGrp="1"/>
          </p:cNvGraphicFramePr>
          <p:nvPr/>
        </p:nvGraphicFramePr>
        <p:xfrm>
          <a:off x="457200" y="2176272"/>
          <a:ext cx="6446520" cy="2331720"/>
        </p:xfrm>
        <a:graphic>
          <a:graphicData uri="http://schemas.openxmlformats.org/drawingml/2006/table">
            <a:tbl>
              <a:tblPr firstRow="1" bandRow="1">
                <a:tableStyleId>{2D5ABB26-0587-4C30-8999-92F81FD0307C}</a:tableStyleId>
              </a:tblPr>
              <a:tblGrid>
                <a:gridCol w="1234440"/>
                <a:gridCol w="2651760"/>
                <a:gridCol w="2560320"/>
              </a:tblGrid>
              <a:tr h="388620">
                <a:tc>
                  <a:txBody>
                    <a:bodyPr/>
                    <a:lstStyle/>
                    <a:p>
                      <a:pPr>
                        <a:defRPr sz="1050" b="1">
                          <a:solidFill>
                            <a:srgbClr val="000000"/>
                          </a:solidFill>
                          <a:latin typeface="Lato"/>
                        </a:defRPr>
                      </a:pPr>
                      <a:r>
                        <a:t>Operator / public source</a:t>
                      </a:r>
                    </a:p>
                  </a:txBody>
                  <a:tcPr marL="91440" marR="91440" marT="25400" marB="25400" anchor="ctr">
                    <a:lnB w="4445" cap="flat">
                      <a:solidFill>
                        <a:srgbClr val="A0A0A0"/>
                      </a:solidFill>
                    </a:lnB>
                    <a:solidFill>
                      <a:srgbClr val="FFFFFF"/>
                    </a:solidFill>
                  </a:tcPr>
                </a:tc>
                <a:tc>
                  <a:txBody>
                    <a:bodyPr/>
                    <a:lstStyle/>
                    <a:p>
                      <a:pPr>
                        <a:defRPr sz="1050" b="1">
                          <a:solidFill>
                            <a:srgbClr val="000000"/>
                          </a:solidFill>
                          <a:latin typeface="Lato"/>
                        </a:defRPr>
                      </a:pPr>
                      <a:r>
                        <a:t>Locations / role</a:t>
                      </a:r>
                    </a:p>
                  </a:txBody>
                  <a:tcPr marL="91440" marR="91440" marT="25400" marB="25400" anchor="ctr">
                    <a:lnB w="4445" cap="flat">
                      <a:solidFill>
                        <a:srgbClr val="A0A0A0"/>
                      </a:solidFill>
                    </a:lnB>
                    <a:solidFill>
                      <a:srgbClr val="FFFFFF"/>
                    </a:solidFill>
                  </a:tcPr>
                </a:tc>
                <a:tc>
                  <a:txBody>
                    <a:bodyPr/>
                    <a:lstStyle/>
                    <a:p>
                      <a:pPr>
                        <a:defRPr sz="1050" b="1">
                          <a:solidFill>
                            <a:srgbClr val="000000"/>
                          </a:solidFill>
                          <a:latin typeface="Lato"/>
                        </a:defRPr>
                      </a:pPr>
                      <a:r>
                        <a:t>Key evidence gap</a:t>
                      </a:r>
                    </a:p>
                  </a:txBody>
                  <a:tcPr marL="91440" marR="91440" marT="25400" marB="25400" anchor="ctr">
                    <a:lnB w="4445" cap="flat">
                      <a:solidFill>
                        <a:srgbClr val="A0A0A0"/>
                      </a:solidFill>
                    </a:lnB>
                    <a:solidFill>
                      <a:srgbClr val="FFFFFF"/>
                    </a:solidFill>
                  </a:tcPr>
                </a:tc>
              </a:tr>
              <a:tr h="388620">
                <a:tc>
                  <a:txBody>
                    <a:bodyPr/>
                    <a:lstStyle/>
                    <a:p>
                      <a:pPr>
                        <a:defRPr sz="1050" b="0">
                          <a:solidFill>
                            <a:srgbClr val="000000"/>
                          </a:solidFill>
                          <a:latin typeface="Lato"/>
                        </a:defRPr>
                      </a:pPr>
                      <a:r>
                        <a:t>Vopak [1]</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Durban; Lesedi</a:t>
                      </a:r>
                    </a:p>
                    <a:p>
                      <a:pPr>
                        <a:defRPr sz="1050" b="0">
                          <a:solidFill>
                            <a:srgbClr val="000000"/>
                          </a:solidFill>
                          <a:latin typeface="Lato"/>
                        </a:defRPr>
                      </a:pPr>
                      <a:r>
                        <a:t>Storage and handling</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Actual unique fuel deliveries</a:t>
                      </a:r>
                    </a:p>
                    <a:p>
                      <a:pPr>
                        <a:defRPr sz="1050" b="0">
                          <a:solidFill>
                            <a:srgbClr val="000000"/>
                          </a:solidFill>
                          <a:latin typeface="Lato"/>
                        </a:defRPr>
                      </a:pPr>
                      <a:r>
                        <a:t>and usable fuel capacity</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Bidvest [2]</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Durban; Richards Bay; Isando</a:t>
                      </a:r>
                    </a:p>
                    <a:p>
                      <a:pPr>
                        <a:defRPr sz="1050" b="0">
                          <a:solidFill>
                            <a:srgbClr val="000000"/>
                          </a:solidFill>
                          <a:latin typeface="Lato"/>
                        </a:defRPr>
                      </a:pPr>
                      <a:r>
                        <a:t>Mixed-product terminals</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Petrol/diesel scope; conflicting</a:t>
                      </a:r>
                    </a:p>
                    <a:p>
                      <a:pPr>
                        <a:defRPr sz="1050" b="0">
                          <a:solidFill>
                            <a:srgbClr val="000000"/>
                          </a:solidFill>
                          <a:latin typeface="Lato"/>
                        </a:defRPr>
                      </a:pPr>
                      <a:r>
                        <a:t>totals 955,603 vs 868,000 m³</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Sasol [6]</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Alrode; Pretoria West; Waltloo;</a:t>
                      </a:r>
                    </a:p>
                    <a:p>
                      <a:pPr>
                        <a:defRPr sz="1050" b="0">
                          <a:solidFill>
                            <a:srgbClr val="000000"/>
                          </a:solidFill>
                          <a:latin typeface="Lato"/>
                        </a:defRPr>
                      </a:pPr>
                      <a:r>
                        <a:t>Sasolburg blending/logistics</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Current access; linked 2025/26</a:t>
                      </a:r>
                    </a:p>
                    <a:p>
                      <a:pPr>
                        <a:defRPr sz="1050" b="0">
                          <a:solidFill>
                            <a:srgbClr val="000000"/>
                          </a:solidFill>
                          <a:latin typeface="Lato"/>
                        </a:defRPr>
                      </a:pPr>
                      <a:r>
                        <a:t>notice ends March 2026</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Transnet [7]</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Tarlton bulk storage;</a:t>
                      </a:r>
                    </a:p>
                    <a:p>
                      <a:pPr>
                        <a:defRPr sz="1050" b="0">
                          <a:solidFill>
                            <a:srgbClr val="000000"/>
                          </a:solidFill>
                          <a:latin typeface="Lato"/>
                        </a:defRPr>
                      </a:pPr>
                      <a:r>
                        <a:t>Jameson Park accumulation</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Usable tanks / third-party terms;</a:t>
                      </a:r>
                    </a:p>
                    <a:p>
                      <a:pPr>
                        <a:defRPr sz="1050" b="0">
                          <a:solidFill>
                            <a:srgbClr val="000000"/>
                          </a:solidFill>
                          <a:latin typeface="Lato"/>
                        </a:defRPr>
                      </a:pPr>
                      <a:r>
                        <a:t>not all depots are operating</a:t>
                      </a:r>
                    </a:p>
                  </a:txBody>
                  <a:tcPr marL="91440" marR="91440" marT="25400" marB="25400" anchor="ctr">
                    <a:lnB w="4445" cap="flat">
                      <a:solidFill>
                        <a:srgbClr val="B8B8B8"/>
                      </a:solidFill>
                    </a:lnB>
                    <a:solidFill>
                      <a:srgbClr val="FFFFFF"/>
                    </a:solidFill>
                  </a:tcPr>
                </a:tc>
              </a:tr>
              <a:tr h="388620">
                <a:tc>
                  <a:txBody>
                    <a:bodyPr/>
                    <a:lstStyle/>
                    <a:p>
                      <a:pPr>
                        <a:defRPr sz="1050" b="0">
                          <a:solidFill>
                            <a:srgbClr val="000000"/>
                          </a:solidFill>
                          <a:latin typeface="Lato"/>
                        </a:defRPr>
                      </a:pPr>
                      <a:r>
                        <a:t>Burgan Cape [3]</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Cape Town petrol/diesel terminal</a:t>
                      </a:r>
                    </a:p>
                    <a:p>
                      <a:pPr>
                        <a:defRPr sz="1050" b="0">
                          <a:solidFill>
                            <a:srgbClr val="000000"/>
                          </a:solidFill>
                          <a:latin typeface="Lato"/>
                        </a:defRPr>
                      </a:pPr>
                      <a:r>
                        <a:t>Published capacity 122,000 m³</a:t>
                      </a:r>
                    </a:p>
                  </a:txBody>
                  <a:tcPr marL="91440" marR="91440" marT="25400" marB="25400" anchor="ctr">
                    <a:lnB w="4445" cap="flat">
                      <a:solidFill>
                        <a:srgbClr val="B8B8B8"/>
                      </a:solidFill>
                    </a:lnB>
                    <a:solidFill>
                      <a:srgbClr val="FFFFFF"/>
                    </a:solidFill>
                  </a:tcPr>
                </a:tc>
                <a:tc>
                  <a:txBody>
                    <a:bodyPr/>
                    <a:lstStyle/>
                    <a:p>
                      <a:pPr>
                        <a:defRPr sz="1050" b="0">
                          <a:solidFill>
                            <a:srgbClr val="000000"/>
                          </a:solidFill>
                          <a:latin typeface="Lato"/>
                        </a:defRPr>
                      </a:pPr>
                      <a:r>
                        <a:t>Current available capacity;</a:t>
                      </a:r>
                    </a:p>
                    <a:p>
                      <a:pPr>
                        <a:defRPr sz="1050" b="0">
                          <a:solidFill>
                            <a:srgbClr val="000000"/>
                          </a:solidFill>
                          <a:latin typeface="Lato"/>
                        </a:defRPr>
                      </a:pPr>
                      <a:r>
                        <a:t>Cape overlap unassessed</a:t>
                      </a:r>
                    </a:p>
                  </a:txBody>
                  <a:tcPr marL="91440" marR="91440" marT="25400" marB="25400" anchor="ctr">
                    <a:lnB w="4445" cap="flat">
                      <a:solidFill>
                        <a:srgbClr val="B8B8B8"/>
                      </a:solidFill>
                    </a:lnB>
                    <a:solidFill>
                      <a:srgbClr val="FFFFFF"/>
                    </a:solidFill>
                  </a:tcPr>
                </a:tc>
              </a:tr>
            </a:tbl>
          </a:graphicData>
        </a:graphic>
      </p:graphicFrame>
      <p:sp>
        <p:nvSpPr>
          <p:cNvPr id="23" name="TextBox 22"/>
          <p:cNvSpPr txBox="1"/>
          <p:nvPr/>
        </p:nvSpPr>
        <p:spPr>
          <a:xfrm>
            <a:off x="457200" y="4599432"/>
            <a:ext cx="6446520" cy="27432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Shell [4] and NERSA [5]: extend the inventory through site notices and allocation mechanisms.</a:t>
            </a:r>
          </a:p>
        </p:txBody>
      </p:sp>
      <p:sp>
        <p:nvSpPr>
          <p:cNvPr id="24" name="TextBox 23"/>
          <p:cNvSpPr txBox="1"/>
          <p:nvPr/>
        </p:nvSpPr>
        <p:spPr>
          <a:xfrm>
            <a:off x="457200" y="4901184"/>
            <a:ext cx="6446520" cy="201168"/>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Illustrative share of each regional market | % of demand</a:t>
            </a:r>
          </a:p>
        </p:txBody>
      </p:sp>
      <p:sp>
        <p:nvSpPr>
          <p:cNvPr id="25" name="TextBox 24"/>
          <p:cNvSpPr txBox="1"/>
          <p:nvPr/>
        </p:nvSpPr>
        <p:spPr>
          <a:xfrm>
            <a:off x="457200" y="5175504"/>
            <a:ext cx="1508760"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Eastern coast</a:t>
            </a:r>
          </a:p>
        </p:txBody>
      </p:sp>
      <p:sp>
        <p:nvSpPr>
          <p:cNvPr id="26" name="Illustrative Eastern coastal share segment 1: 22.222%"/>
          <p:cNvSpPr/>
          <p:nvPr/>
        </p:nvSpPr>
        <p:spPr>
          <a:xfrm>
            <a:off x="2011680" y="5193792"/>
            <a:ext cx="98552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0" y="5212079"/>
            <a:ext cx="985520" cy="164592"/>
          </a:xfrm>
          <a:prstGeom prst="rect">
            <a:avLst/>
          </a:prstGeom>
          <a:noFill/>
        </p:spPr>
        <p:txBody>
          <a:bodyPr wrap="square" lIns="22860" rIns="22860" tIns="0" bIns="0">
            <a:spAutoFit/>
          </a:bodyPr>
          <a:lstStyle/>
          <a:p>
            <a:pPr algn="ctr">
              <a:spcAft>
                <a:spcPts val="300"/>
              </a:spcAft>
              <a:defRPr sz="900" b="1">
                <a:solidFill>
                  <a:srgbClr val="FFFFFF"/>
                </a:solidFill>
                <a:latin typeface="Lato"/>
              </a:defRPr>
            </a:pPr>
            <a:r>
              <a:t>22.2%</a:t>
            </a:r>
          </a:p>
        </p:txBody>
      </p:sp>
      <p:sp>
        <p:nvSpPr>
          <p:cNvPr id="28" name="Illustrative Eastern coastal share segment 2: 33.333%"/>
          <p:cNvSpPr/>
          <p:nvPr/>
        </p:nvSpPr>
        <p:spPr>
          <a:xfrm>
            <a:off x="2997200" y="5193792"/>
            <a:ext cx="1478279" cy="21031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997200" y="5212079"/>
            <a:ext cx="1478279"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33.3%</a:t>
            </a:r>
          </a:p>
        </p:txBody>
      </p:sp>
      <p:sp>
        <p:nvSpPr>
          <p:cNvPr id="30" name="Illustrative Eastern coastal share segment 3: 44.444%"/>
          <p:cNvSpPr/>
          <p:nvPr/>
        </p:nvSpPr>
        <p:spPr>
          <a:xfrm>
            <a:off x="4475479" y="5193792"/>
            <a:ext cx="1971040" cy="210312"/>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75479" y="5212079"/>
            <a:ext cx="1971040"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44.4%</a:t>
            </a:r>
          </a:p>
        </p:txBody>
      </p:sp>
      <p:sp>
        <p:nvSpPr>
          <p:cNvPr id="32" name="TextBox 31"/>
          <p:cNvSpPr txBox="1"/>
          <p:nvPr/>
        </p:nvSpPr>
        <p:spPr>
          <a:xfrm>
            <a:off x="457200" y="5458968"/>
            <a:ext cx="1508760"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Inland</a:t>
            </a:r>
          </a:p>
        </p:txBody>
      </p:sp>
      <p:sp>
        <p:nvSpPr>
          <p:cNvPr id="33" name="Illustrative Inland share segment 1: 20.000%"/>
          <p:cNvSpPr/>
          <p:nvPr/>
        </p:nvSpPr>
        <p:spPr>
          <a:xfrm>
            <a:off x="2011680" y="5477255"/>
            <a:ext cx="88696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0" y="5495543"/>
            <a:ext cx="886968" cy="164592"/>
          </a:xfrm>
          <a:prstGeom prst="rect">
            <a:avLst/>
          </a:prstGeom>
          <a:noFill/>
        </p:spPr>
        <p:txBody>
          <a:bodyPr wrap="square" lIns="22860" rIns="22860" tIns="0" bIns="0">
            <a:spAutoFit/>
          </a:bodyPr>
          <a:lstStyle/>
          <a:p>
            <a:pPr algn="ctr">
              <a:spcAft>
                <a:spcPts val="300"/>
              </a:spcAft>
              <a:defRPr sz="900" b="1">
                <a:solidFill>
                  <a:srgbClr val="FFFFFF"/>
                </a:solidFill>
                <a:latin typeface="Lato"/>
              </a:defRPr>
            </a:pPr>
            <a:r>
              <a:t>20.0%</a:t>
            </a:r>
          </a:p>
        </p:txBody>
      </p:sp>
      <p:sp>
        <p:nvSpPr>
          <p:cNvPr id="35" name="Illustrative Inland share segment 2: 40.000%"/>
          <p:cNvSpPr/>
          <p:nvPr/>
        </p:nvSpPr>
        <p:spPr>
          <a:xfrm>
            <a:off x="2898648" y="5477255"/>
            <a:ext cx="1773936" cy="21031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898648" y="5495543"/>
            <a:ext cx="1773936"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40.0%</a:t>
            </a:r>
          </a:p>
        </p:txBody>
      </p:sp>
      <p:sp>
        <p:nvSpPr>
          <p:cNvPr id="37" name="Illustrative Inland share segment 3: 40.000%"/>
          <p:cNvSpPr/>
          <p:nvPr/>
        </p:nvSpPr>
        <p:spPr>
          <a:xfrm>
            <a:off x="4672583" y="5477255"/>
            <a:ext cx="1773936" cy="210312"/>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72583" y="5495543"/>
            <a:ext cx="1773936" cy="164592"/>
          </a:xfrm>
          <a:prstGeom prst="rect">
            <a:avLst/>
          </a:prstGeom>
          <a:noFill/>
        </p:spPr>
        <p:txBody>
          <a:bodyPr wrap="square" lIns="22860" rIns="22860" tIns="0" bIns="0">
            <a:spAutoFit/>
          </a:bodyPr>
          <a:lstStyle/>
          <a:p>
            <a:pPr algn="ctr">
              <a:spcAft>
                <a:spcPts val="300"/>
              </a:spcAft>
              <a:defRPr sz="900" b="1">
                <a:solidFill>
                  <a:srgbClr val="000000"/>
                </a:solidFill>
                <a:latin typeface="Lato"/>
              </a:defRPr>
            </a:pPr>
            <a:r>
              <a:t>40.0%</a:t>
            </a:r>
          </a:p>
        </p:txBody>
      </p:sp>
      <p:sp>
        <p:nvSpPr>
          <p:cNvPr id="39" name="TextBox 38"/>
          <p:cNvSpPr txBox="1"/>
          <p:nvPr/>
        </p:nvSpPr>
        <p:spPr>
          <a:xfrm>
            <a:off x="457200" y="5760720"/>
            <a:ext cx="150876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Western coast</a:t>
            </a:r>
          </a:p>
        </p:txBody>
      </p:sp>
      <p:sp>
        <p:nvSpPr>
          <p:cNvPr id="40" name="Rectangle 39"/>
          <p:cNvSpPr/>
          <p:nvPr/>
        </p:nvSpPr>
        <p:spPr>
          <a:xfrm>
            <a:off x="2011680" y="5760720"/>
            <a:ext cx="4434840" cy="16459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11680" y="5760720"/>
            <a:ext cx="4434840" cy="164592"/>
          </a:xfrm>
          <a:prstGeom prst="rect">
            <a:avLst/>
          </a:prstGeom>
          <a:noFill/>
        </p:spPr>
        <p:txBody>
          <a:bodyPr wrap="square" lIns="22860" rIns="22860" tIns="0" bIns="0">
            <a:spAutoFit/>
          </a:bodyPr>
          <a:lstStyle/>
          <a:p>
            <a:pPr algn="ctr">
              <a:spcAft>
                <a:spcPts val="300"/>
              </a:spcAft>
              <a:defRPr sz="850" b="0">
                <a:solidFill>
                  <a:srgbClr val="000000"/>
                </a:solidFill>
                <a:latin typeface="Lato"/>
              </a:defRPr>
            </a:pPr>
            <a:r>
              <a:t>Unassessed - no share estimate</a:t>
            </a:r>
          </a:p>
        </p:txBody>
      </p:sp>
      <p:sp>
        <p:nvSpPr>
          <p:cNvPr id="42" name="TextBox 41"/>
          <p:cNvSpPr txBox="1"/>
          <p:nvPr/>
        </p:nvSpPr>
        <p:spPr>
          <a:xfrm>
            <a:off x="457200" y="5971032"/>
            <a:ext cx="150876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Other / NC</a:t>
            </a:r>
          </a:p>
        </p:txBody>
      </p:sp>
      <p:sp>
        <p:nvSpPr>
          <p:cNvPr id="43" name="Rectangle 42"/>
          <p:cNvSpPr/>
          <p:nvPr/>
        </p:nvSpPr>
        <p:spPr>
          <a:xfrm>
            <a:off x="2011680" y="5971032"/>
            <a:ext cx="4434840" cy="164592"/>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011680" y="5971032"/>
            <a:ext cx="4434840" cy="164592"/>
          </a:xfrm>
          <a:prstGeom prst="rect">
            <a:avLst/>
          </a:prstGeom>
          <a:noFill/>
        </p:spPr>
        <p:txBody>
          <a:bodyPr wrap="square" lIns="22860" rIns="22860" tIns="0" bIns="0">
            <a:spAutoFit/>
          </a:bodyPr>
          <a:lstStyle/>
          <a:p>
            <a:pPr algn="ctr">
              <a:spcAft>
                <a:spcPts val="300"/>
              </a:spcAft>
              <a:defRPr sz="850" b="0">
                <a:solidFill>
                  <a:srgbClr val="000000"/>
                </a:solidFill>
                <a:latin typeface="Lato"/>
              </a:defRPr>
            </a:pPr>
            <a:r>
              <a:t>Unassessed - no share estimate</a:t>
            </a:r>
          </a:p>
        </p:txBody>
      </p:sp>
      <p:sp>
        <p:nvSpPr>
          <p:cNvPr id="45" name="Rectangle 44"/>
          <p:cNvSpPr/>
          <p:nvPr/>
        </p:nvSpPr>
        <p:spPr>
          <a:xfrm>
            <a:off x="457200" y="6236208"/>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 y="6199632"/>
            <a:ext cx="224028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Current Vopak</a:t>
            </a:r>
          </a:p>
        </p:txBody>
      </p:sp>
      <p:sp>
        <p:nvSpPr>
          <p:cNvPr id="47" name="Rectangle 46"/>
          <p:cNvSpPr/>
          <p:nvPr/>
        </p:nvSpPr>
        <p:spPr>
          <a:xfrm>
            <a:off x="2103120" y="6236208"/>
            <a:ext cx="100584" cy="100584"/>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40279" y="6199632"/>
            <a:ext cx="224028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Additional candidate</a:t>
            </a:r>
          </a:p>
        </p:txBody>
      </p:sp>
      <p:sp>
        <p:nvSpPr>
          <p:cNvPr id="49" name="Rectangle 48"/>
          <p:cNvSpPr/>
          <p:nvPr/>
        </p:nvSpPr>
        <p:spPr>
          <a:xfrm>
            <a:off x="4526280" y="6236208"/>
            <a:ext cx="100584" cy="100584"/>
          </a:xfrm>
          <a:prstGeom prst="rect">
            <a:avLst/>
          </a:prstGeom>
          <a:solidFill>
            <a:srgbClr val="E5E5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63440" y="6199632"/>
            <a:ext cx="224028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Outside envelope</a:t>
            </a:r>
          </a:p>
        </p:txBody>
      </p:sp>
      <p:sp>
        <p:nvSpPr>
          <p:cNvPr id="51" name="TextBox 50"/>
          <p:cNvSpPr txBox="1"/>
          <p:nvPr/>
        </p:nvSpPr>
        <p:spPr>
          <a:xfrm>
            <a:off x="457200"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52" name="TextBox 51"/>
          <p:cNvSpPr txBox="1"/>
          <p:nvPr/>
        </p:nvSpPr>
        <p:spPr>
          <a:xfrm>
            <a:off x="1353312"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53" name="TextBox 52"/>
          <p:cNvSpPr txBox="1"/>
          <p:nvPr/>
        </p:nvSpPr>
        <p:spPr>
          <a:xfrm>
            <a:off x="2249424"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54" name="TextBox 53"/>
          <p:cNvSpPr txBox="1"/>
          <p:nvPr/>
        </p:nvSpPr>
        <p:spPr>
          <a:xfrm>
            <a:off x="3145536"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55" name="TextBox 54"/>
          <p:cNvSpPr txBox="1"/>
          <p:nvPr/>
        </p:nvSpPr>
        <p:spPr>
          <a:xfrm>
            <a:off x="4041648"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56" name="TextBox 55"/>
          <p:cNvSpPr txBox="1"/>
          <p:nvPr/>
        </p:nvSpPr>
        <p:spPr>
          <a:xfrm>
            <a:off x="4937760"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57" name="TextBox 56"/>
          <p:cNvSpPr txBox="1"/>
          <p:nvPr/>
        </p:nvSpPr>
        <p:spPr>
          <a:xfrm>
            <a:off x="5833872" y="6364224"/>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A1BB6973-F58B-430C-896E-96D537197800}"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Durban/Lesedi terminal pages; Bidvest site page; VTTI Burgan Cape. Checked 6 Oct 2026; gross capacity.</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Published gross storage | partial inventory,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leads this evidenced subset</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Vopak and Bidvest capacity totals 799.6 thousand m³. Other operators may add further capacity.</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Product scope changes the comparison</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Bidvest includes mixed liquids and Richards Bay gases. These bars are gross storage, not usable petrol/diesel capacity.</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Missing capacity remains unknown</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Sasol depots and Transnet Tarlton/Jameson Park are identified, but capacities are not quantified in this inventory.</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Capacity supports the access question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Storage is a stock. Deliverable fuel volume also depends on utilisation, turnover, routes, compatible tanks and commercial access.</a:t>
            </a:r>
          </a:p>
        </p:txBody>
      </p:sp>
      <p:cxnSp>
        <p:nvCxnSpPr>
          <p:cNvPr id="22" name="Connector 21"/>
          <p:cNvCxnSpPr/>
          <p:nvPr/>
        </p:nvCxnSpPr>
        <p:spPr>
          <a:xfrm>
            <a:off x="2029968" y="2478024"/>
            <a:ext cx="0" cy="236829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892808" y="2194560"/>
            <a:ext cx="384048"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cxnSp>
        <p:nvCxnSpPr>
          <p:cNvPr id="24" name="Connector 23"/>
          <p:cNvCxnSpPr/>
          <p:nvPr/>
        </p:nvCxnSpPr>
        <p:spPr>
          <a:xfrm>
            <a:off x="3026126" y="2478024"/>
            <a:ext cx="0" cy="236829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8966" y="2194560"/>
            <a:ext cx="384048"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200</a:t>
            </a:r>
          </a:p>
        </p:txBody>
      </p:sp>
      <p:cxnSp>
        <p:nvCxnSpPr>
          <p:cNvPr id="26" name="Connector 25"/>
          <p:cNvCxnSpPr/>
          <p:nvPr/>
        </p:nvCxnSpPr>
        <p:spPr>
          <a:xfrm>
            <a:off x="4022284" y="2478024"/>
            <a:ext cx="0" cy="236829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885124" y="2194560"/>
            <a:ext cx="384048"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400</a:t>
            </a:r>
          </a:p>
        </p:txBody>
      </p:sp>
      <p:cxnSp>
        <p:nvCxnSpPr>
          <p:cNvPr id="28" name="Connector 27"/>
          <p:cNvCxnSpPr/>
          <p:nvPr/>
        </p:nvCxnSpPr>
        <p:spPr>
          <a:xfrm>
            <a:off x="5018442" y="2478024"/>
            <a:ext cx="0" cy="236829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881282" y="2194560"/>
            <a:ext cx="384048"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600</a:t>
            </a:r>
          </a:p>
        </p:txBody>
      </p:sp>
      <p:cxnSp>
        <p:nvCxnSpPr>
          <p:cNvPr id="30" name="Connector 29"/>
          <p:cNvCxnSpPr/>
          <p:nvPr/>
        </p:nvCxnSpPr>
        <p:spPr>
          <a:xfrm>
            <a:off x="6014600" y="2478024"/>
            <a:ext cx="0" cy="236829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877440" y="2194560"/>
            <a:ext cx="384048"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800</a:t>
            </a:r>
          </a:p>
        </p:txBody>
      </p:sp>
      <p:sp>
        <p:nvSpPr>
          <p:cNvPr id="32" name="TextBox 31"/>
          <p:cNvSpPr txBox="1"/>
          <p:nvPr/>
        </p:nvSpPr>
        <p:spPr>
          <a:xfrm>
            <a:off x="457200" y="2679191"/>
            <a:ext cx="1508760" cy="22860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3" name="Published gross capacity: Vopak Durban: 360246 m3"/>
          <p:cNvSpPr/>
          <p:nvPr/>
        </p:nvSpPr>
        <p:spPr>
          <a:xfrm>
            <a:off x="2029968" y="2651760"/>
            <a:ext cx="1794309" cy="265176"/>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ublished gross capacity: Bidvest Tank Terminals Durban: 439306 m3"/>
          <p:cNvSpPr/>
          <p:nvPr/>
        </p:nvSpPr>
        <p:spPr>
          <a:xfrm>
            <a:off x="3824277" y="2651760"/>
            <a:ext cx="2188091" cy="265176"/>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85521" y="2679191"/>
            <a:ext cx="566928" cy="228600"/>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799.6</a:t>
            </a:r>
          </a:p>
        </p:txBody>
      </p:sp>
      <p:sp>
        <p:nvSpPr>
          <p:cNvPr id="36" name="TextBox 35"/>
          <p:cNvSpPr txBox="1"/>
          <p:nvPr/>
        </p:nvSpPr>
        <p:spPr>
          <a:xfrm>
            <a:off x="457200" y="3127247"/>
            <a:ext cx="1508760" cy="22860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7" name="Published gross capacity: Bidvest Tank Terminals Richards Bay: 483797 m3"/>
          <p:cNvSpPr/>
          <p:nvPr/>
        </p:nvSpPr>
        <p:spPr>
          <a:xfrm>
            <a:off x="2029968" y="3099815"/>
            <a:ext cx="2409691" cy="265176"/>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12811" y="3127247"/>
            <a:ext cx="566928" cy="228600"/>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483.8</a:t>
            </a:r>
          </a:p>
        </p:txBody>
      </p:sp>
      <p:sp>
        <p:nvSpPr>
          <p:cNvPr id="39" name="TextBox 38"/>
          <p:cNvSpPr txBox="1"/>
          <p:nvPr/>
        </p:nvSpPr>
        <p:spPr>
          <a:xfrm>
            <a:off x="457200" y="3575303"/>
            <a:ext cx="1508760" cy="22860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0" name="Published gross capacity: Vopak Lesedi: 140000 m3"/>
          <p:cNvSpPr/>
          <p:nvPr/>
        </p:nvSpPr>
        <p:spPr>
          <a:xfrm>
            <a:off x="2029968" y="3547872"/>
            <a:ext cx="697310" cy="265176"/>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00430" y="3575303"/>
            <a:ext cx="566928" cy="228600"/>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140.0</a:t>
            </a:r>
          </a:p>
        </p:txBody>
      </p:sp>
      <p:sp>
        <p:nvSpPr>
          <p:cNvPr id="42" name="TextBox 41"/>
          <p:cNvSpPr txBox="1"/>
          <p:nvPr/>
        </p:nvSpPr>
        <p:spPr>
          <a:xfrm>
            <a:off x="457200" y="4023360"/>
            <a:ext cx="1508760" cy="22860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3" name="Published gross capacity: VTTI Burgan Cape Terminal Cape Town: 122000 m3"/>
          <p:cNvSpPr/>
          <p:nvPr/>
        </p:nvSpPr>
        <p:spPr>
          <a:xfrm>
            <a:off x="2029968" y="3995928"/>
            <a:ext cx="607656" cy="265176"/>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10776" y="4023360"/>
            <a:ext cx="566928" cy="228600"/>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122.0</a:t>
            </a:r>
          </a:p>
        </p:txBody>
      </p:sp>
      <p:sp>
        <p:nvSpPr>
          <p:cNvPr id="45" name="TextBox 44"/>
          <p:cNvSpPr txBox="1"/>
          <p:nvPr/>
        </p:nvSpPr>
        <p:spPr>
          <a:xfrm>
            <a:off x="457200" y="4471416"/>
            <a:ext cx="1508760" cy="228600"/>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6" name="Published gross capacity: Bidvest Tank Terminals Isando: 32500 m3"/>
          <p:cNvSpPr/>
          <p:nvPr/>
        </p:nvSpPr>
        <p:spPr>
          <a:xfrm>
            <a:off x="2029968" y="4443983"/>
            <a:ext cx="161875" cy="265176"/>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264995" y="4471416"/>
            <a:ext cx="566928" cy="228600"/>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32.5</a:t>
            </a:r>
          </a:p>
        </p:txBody>
      </p:sp>
      <p:sp>
        <p:nvSpPr>
          <p:cNvPr id="48" name="Rectangle 47"/>
          <p:cNvSpPr/>
          <p:nvPr/>
        </p:nvSpPr>
        <p:spPr>
          <a:xfrm>
            <a:off x="457200" y="5166360"/>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 y="5120640"/>
            <a:ext cx="1554480" cy="210312"/>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Vopak</a:t>
            </a:r>
          </a:p>
        </p:txBody>
      </p:sp>
      <p:sp>
        <p:nvSpPr>
          <p:cNvPr id="50" name="Rectangle 49"/>
          <p:cNvSpPr/>
          <p:nvPr/>
        </p:nvSpPr>
        <p:spPr>
          <a:xfrm>
            <a:off x="2194560" y="5166360"/>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377440" y="5120640"/>
            <a:ext cx="1554480" cy="210312"/>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Bidvest</a:t>
            </a:r>
          </a:p>
        </p:txBody>
      </p:sp>
      <p:sp>
        <p:nvSpPr>
          <p:cNvPr id="52" name="Rectangle 51"/>
          <p:cNvSpPr/>
          <p:nvPr/>
        </p:nvSpPr>
        <p:spPr>
          <a:xfrm>
            <a:off x="4023360" y="5166360"/>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06240" y="5120640"/>
            <a:ext cx="1554480" cy="210312"/>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Burgan Cape</a:t>
            </a:r>
          </a:p>
        </p:txBody>
      </p:sp>
      <p:sp>
        <p:nvSpPr>
          <p:cNvPr id="54" name="TextBox 53"/>
          <p:cNvSpPr txBox="1"/>
          <p:nvPr/>
        </p:nvSpPr>
        <p:spPr>
          <a:xfrm>
            <a:off x="457200" y="5504688"/>
            <a:ext cx="6446520" cy="51206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Unquantified: Sasol Alrode, Pretoria West, Waltloo and Sasolburg;</a:t>
            </a:r>
          </a:p>
          <a:p>
            <a:pPr>
              <a:spcAft>
                <a:spcPts val="300"/>
              </a:spcAft>
              <a:defRPr sz="1100" b="0">
                <a:solidFill>
                  <a:srgbClr val="000000"/>
                </a:solidFill>
                <a:latin typeface="Lato"/>
              </a:defRPr>
            </a:pPr>
            <a:r>
              <a:t>Transnet Tarlton and Jameson Park. Missing values are not zero.</a:t>
            </a:r>
          </a:p>
        </p:txBody>
      </p:sp>
      <p:sp>
        <p:nvSpPr>
          <p:cNvPr id="55" name="TextBox 54"/>
          <p:cNvSpPr txBox="1"/>
          <p:nvPr/>
        </p:nvSpPr>
        <p:spPr>
          <a:xfrm>
            <a:off x="457200" y="6199632"/>
            <a:ext cx="6446520" cy="283464"/>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Partial public inventory. Mixed products / source vintages; no fuel-only or national-capacity share inferred.</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