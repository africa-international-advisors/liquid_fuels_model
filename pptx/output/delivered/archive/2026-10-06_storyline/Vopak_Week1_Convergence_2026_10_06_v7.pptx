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Current answer | validate customer access before committing additional capacity</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Current answer and implication</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Next step / proposed lead</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Imports underpin the national market</a:t>
                      </a:r>
                    </a:p>
                    <a:p>
                      <a:pPr>
                        <a:spcAft>
                          <a:spcPts val="0"/>
                        </a:spcAft>
                        <a:defRPr sz="1050" b="0">
                          <a:solidFill>
                            <a:srgbClr val="000000"/>
                          </a:solidFill>
                          <a:latin typeface="Lato"/>
                        </a:defRPr>
                      </a:pPr>
                      <a:r>
                        <a:t>2024 net petrol/diesel imports: 13.078 bn L. Production, stocks and sales coverage remain unmatched.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Match the national balance</a:t>
                      </a:r>
                    </a:p>
                    <a:p>
                      <a:pPr>
                        <a:spcAft>
                          <a:spcPts val="0"/>
                        </a:spcAft>
                        <a:defRPr sz="1050" b="0">
                          <a:solidFill>
                            <a:srgbClr val="000000"/>
                          </a:solidFill>
                          <a:latin typeface="Lato"/>
                        </a:defRPr>
                      </a:pPr>
                      <a:r>
                        <a:t>Manish; Nigel source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is concentrated, but later provincial data are estimates</a:t>
                      </a:r>
                    </a:p>
                    <a:p>
                      <a:pPr>
                        <a:spcAft>
                          <a:spcPts val="0"/>
                        </a:spcAft>
                        <a:defRPr sz="1050" b="0">
                          <a:solidFill>
                            <a:srgbClr val="000000"/>
                          </a:solidFill>
                          <a:latin typeface="Lato"/>
                        </a:defRPr>
                      </a:pPr>
                      <a:r>
                        <a:t>GP, KZN and WC account for 68.6% of reported 2022 sales. The map does not establish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Refresh observed demand and destinations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can move in different directions</a:t>
                      </a:r>
                    </a:p>
                    <a:p>
                      <a:pPr>
                        <a:spcAft>
                          <a:spcPts val="0"/>
                        </a:spcAft>
                        <a:defRPr sz="1050" b="0">
                          <a:solidFill>
                            <a:srgbClr val="000000"/>
                          </a:solidFill>
                          <a:latin typeface="Lato"/>
                        </a:defRPr>
                      </a:pPr>
                      <a:r>
                        <a:t>Power, freight, prices and vehicle mix need separate mechanisms; observed activity is not a fuel forecast.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Define growth, lever cases and back-tests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Confirm plant status, timing and yields</a:t>
                      </a:r>
                    </a:p>
                    <a:p>
                      <a:pPr>
                        <a:spcAft>
                          <a:spcPts val="0"/>
                        </a:spcAft>
                        <a:defRPr sz="1050" b="0">
                          <a:solidFill>
                            <a:srgbClr val="000000"/>
                          </a:solidFill>
                          <a:latin typeface="Lato"/>
                        </a:defRPr>
                      </a:pPr>
                      <a:r>
                        <a:t>Manish; Henry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Compare one product and destination</a:t>
                      </a:r>
                    </a:p>
                    <a:p>
                      <a:pPr>
                        <a:spcAft>
                          <a:spcPts val="0"/>
                        </a:spcAft>
                        <a:defRPr sz="1050" b="0">
                          <a:solidFill>
                            <a:srgbClr val="000000"/>
                          </a:solidFill>
                          <a:latin typeface="Lato"/>
                        </a:defRPr>
                      </a:pPr>
                      <a:r>
                        <a:t>Manish; Nigel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Obtain flows, remove transfers, test capture gates</a:t>
                      </a:r>
                    </a:p>
                    <a:p>
                      <a:pPr>
                        <a:spcAft>
                          <a:spcPts val="0"/>
                        </a:spcAft>
                        <a:defRPr sz="1050" b="0">
                          <a:solidFill>
                            <a:srgbClr val="000000"/>
                          </a:solidFill>
                          <a:latin typeface="Lato"/>
                        </a:defRPr>
                      </a:pPr>
                      <a:r>
                        <a:t>Nigel client data; Manish</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Validate where, how and when to act</a:t>
                      </a:r>
                    </a:p>
                    <a:p>
                      <a:pPr>
                        <a:spcAft>
                          <a:spcPts val="0"/>
                        </a:spcAft>
                        <a:defRPr sz="1050" b="0">
                          <a:solidFill>
                            <a:srgbClr val="000000"/>
                          </a:solidFill>
                          <a:latin typeface="Lato"/>
                        </a:defRPr>
                      </a:pPr>
                      <a:r>
                        <a:t>Nigel; Manish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68" name="Overview row reference">
            <a:hlinkClick action="ppaction://hlinksldjump" r:id="rId4"/>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569"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65" name="Overview row reference">
            <a:hlinkClick action="ppaction://hlinksldjump" r:id="rId4"/>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87"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78" name="Overview row reference">
            <a:hlinkClick action="ppaction://hlinksldjump" r:id="rId11"/>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62" name="Overview row reference">
            <a:hlinkClick action="ppaction://hlinksldjump" r:id="rId5"/>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16"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 / C4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3177"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132"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145"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72" name="Overview row reference">
            <a:hlinkClick action="ppaction://hlinksldjump" r:id="rId10"/>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55"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82"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17" name="Overview row reference">
            <a:hlinkClick action="ppaction://hlinksldjump" r:id="rId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8" name="Overview row reference">
            <a:hlinkClick action="ppaction://hlinksldjump" r:id="rId4"/>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2"/>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8"/>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
        <p:nvSpPr>
          <p:cNvPr id="48" name="Overview row reference">
            <a:hlinkClick action="ppaction://hlinksldjump" r:id="rId13"/>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 / S2 / S/C3 / C4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2"/>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
        <p:nvSpPr>
          <p:cNvPr id="48" name="Overview row reference">
            <a:hlinkClick action="ppaction://hlinksldjump" r:id="rId10"/>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 / C4 / C5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2"/>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76352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Overview row reference">
            <a:hlinkClick action="ppaction://hlinksldjump" r:id="rId9"/>
          </p:cNvPr>
          <p:cNvSpPr/>
          <p:nvPr/>
        </p:nvSpPr>
        <p:spPr>
          <a:xfrm>
            <a:off x="8229600" y="6519672"/>
            <a:ext cx="1645920" cy="173736"/>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 / R7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