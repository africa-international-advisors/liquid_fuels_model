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58" r:id="rId5"/>
    <p:sldId id="271" r:id="rId26"/>
    <p:sldId id="259" r:id="rId16"/>
    <p:sldId id="265" r:id="rId20"/>
    <p:sldId id="272" r:id="rId27"/>
    <p:sldId id="266" r:id="rId21"/>
    <p:sldId id="273" r:id="rId28"/>
    <p:sldId id="261" r:id="rId18"/>
    <p:sldId id="274" r:id="rId29"/>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9.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1.xml"/><Relationship Id="rId17" Type="http://schemas.openxmlformats.org/officeDocument/2006/relationships/slide" Target="slides/slide4.xml"/><Relationship Id="rId18" Type="http://schemas.openxmlformats.org/officeDocument/2006/relationships/slide" Target="slides/slide16.xml"/><Relationship Id="rId19" Type="http://schemas.openxmlformats.org/officeDocument/2006/relationships/slide" Target="slides/slide6.xml"/><Relationship Id="rId20" Type="http://schemas.openxmlformats.org/officeDocument/2006/relationships/slide" Target="slides/slide12.xml"/><Relationship Id="rId21"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0.xml"/><Relationship Id="rId27" Type="http://schemas.openxmlformats.org/officeDocument/2006/relationships/slide" Target="slides/slide13.xml"/><Relationship Id="rId28" Type="http://schemas.openxmlformats.org/officeDocument/2006/relationships/slide" Target="slides/slide15.xml"/><Relationship Id="rId29"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6.</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8.</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10.</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Clickable story chevrons: overview p2; Situation p3; Complication p7; Resolution p11.</a:t>
            </a:r>
          </a:p>
          <a:p>
            <a:r>
              <a:t>6 October SCR editorial pass: presentation copy and map hierarchy only. Source observations, example volumes and model inputs unchanged.</a:t>
            </a:r>
          </a:p>
          <a:p>
            <a:r>
              <a:t>Convergence order: national accounting p3; provincial map p4; history/estimates p5. Current page 15.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0.xml"/><Relationship Id="rId11" Type="http://schemas.openxmlformats.org/officeDocument/2006/relationships/slide" Target="slide11.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4.xml"/><Relationship Id="rId15" Type="http://schemas.openxmlformats.org/officeDocument/2006/relationships/slide" Target="slide15.xml"/><Relationship Id="rId16"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the fuel market, reconcile supply, then test Vopak access</a:t>
            </a:r>
          </a:p>
        </p:txBody>
      </p:sp>
      <p:sp>
        <p:nvSpPr>
          <p:cNvPr id="3" name="Slide Number Placeholder"/>
          <p:cNvSpPr>
            <a:spLocks noGrp="1"/>
          </p:cNvSpPr>
          <p:nvPr>
            <p:ph type="sldNum" sz="quarter" idx="12"/>
          </p:nvPr>
        </p:nvSpPr>
        <p:spPr/>
        <p:txBody>
          <a:bodyPr/>
          <a:lstStyle/>
          <a:p>
            <a:fld id="{46EAA5D6-7D4B-431E-93B0-91A37671E269}"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rPr sz="1400" b="1">
                <a:latin typeface="Lato"/>
              </a:rP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baseline and regional market</a:t>
                      </a:r>
                    </a:p>
                    <a:p>
                      <a:pPr>
                        <a:spcAft>
                          <a:spcPts val="0"/>
                        </a:spcAft>
                        <a:defRPr sz="1050">
                          <a:solidFill>
                            <a:srgbClr val="000000"/>
                          </a:solidFill>
                          <a:latin typeface="Lato"/>
                        </a:defRPr>
                      </a:pPr>
                      <a:r>
                        <a:t>2022 provinces are observed; 2023-2024 are estimated separately. Resolve source versions before forecasting.</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4</a:t>
                      </a:r>
                      <a:r>
                        <a:rPr sz="1100">
                          <a:solidFill>
                            <a:srgbClr val="0A2373"/>
                          </a:solidFill>
                          <a:latin typeface="Lato"/>
                          <a:hlinkClick r:id="rId4" action="ppaction://hlinksldjump"/>
                        </a:rPr>
                        <a:t> / 5</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supply and finished imports</a:t>
                      </a:r>
                    </a:p>
                    <a:p>
                      <a:pPr>
                        <a:spcAft>
                          <a:spcPts val="0"/>
                        </a:spcAft>
                        <a:defRPr sz="1050">
                          <a:solidFill>
                            <a:srgbClr val="000000"/>
                          </a:solidFill>
                          <a:latin typeface="Lato"/>
                        </a:defRPr>
                      </a:pPr>
                      <a:r>
                        <a:t>SARS 2024 net diesel imports: 9.997 bn L. Match actual production, stocks and sales coverage; port allocation remains open.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3</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a:t>
                      </a:r>
                    </a:p>
                    <a:p>
                      <a:pPr>
                        <a:spcAft>
                          <a:spcPts val="0"/>
                        </a:spcAft>
                        <a:defRPr sz="1050">
                          <a:solidFill>
                            <a:srgbClr val="000000"/>
                          </a:solidFill>
                          <a:latin typeface="Lato"/>
                        </a:defRPr>
                      </a:pPr>
                      <a:r>
                        <a:t>Monthly activity to Jul 2026; GDP Q2 2026; inland prices Oct 2026. Define activity-to-litres bridges before calibrating cases.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Refinery availability</a:t>
                      </a:r>
                    </a:p>
                    <a:p>
                      <a:pPr>
                        <a:spcAft>
                          <a:spcPts val="0"/>
                        </a:spcAft>
                        <a:defRPr sz="1050">
                          <a:solidFill>
                            <a:srgbClr val="000000"/>
                          </a:solidFill>
                          <a:latin typeface="Lato"/>
                        </a:defRPr>
                      </a:pPr>
                      <a:r>
                        <a:t>Capacity history and reported operator output are distinct. Align fiscal/calendar years and product yields; redevelopment stays conditional.</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Competing supply routes</a:t>
                      </a:r>
                    </a:p>
                    <a:p>
                      <a:pPr>
                        <a:spcAft>
                          <a:spcPts val="0"/>
                        </a:spcAft>
                        <a:defRPr sz="1050">
                          <a:solidFill>
                            <a:srgbClr val="000000"/>
                          </a:solidFill>
                          <a:latin typeface="Lato"/>
                        </a:defRPr>
                      </a:pPr>
                      <a:r>
                        <a:t>Compare Durban, Matola and Walvis Bay for one customer. Test full route cost, capacity and customer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share and additional demand</a:t>
                      </a:r>
                    </a:p>
                    <a:p>
                      <a:pPr>
                        <a:spcAft>
                          <a:spcPts val="0"/>
                        </a:spcAft>
                        <a:defRPr sz="1050">
                          <a:solidFill>
                            <a:srgbClr val="000000"/>
                          </a:solidFill>
                          <a:latin typeface="Lato"/>
                        </a:defRPr>
                      </a:pPr>
                      <a:r>
                        <a:t>Match unique deliveries to regional demand. Test additional volumes against physical and commercial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Storage and optional investment</a:t>
                      </a:r>
                    </a:p>
                    <a:p>
                      <a:pPr>
                        <a:spcAft>
                          <a:spcPts val="0"/>
                        </a:spcAft>
                        <a:defRPr sz="1050">
                          <a:solidFill>
                            <a:srgbClr val="000000"/>
                          </a:solidFill>
                          <a:latin typeface="Lato"/>
                        </a:defRPr>
                      </a:pPr>
                      <a:r>
                        <a:t>Use published tanks as context. Assess additional services only after the incremental customer-flow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Customs records 10.0 billion litres of net diesel imports in 2024</a:t>
            </a:r>
          </a:p>
        </p:txBody>
      </p:sp>
      <p:sp>
        <p:nvSpPr>
          <p:cNvPr id="3" name="Slide Number Placeholder"/>
          <p:cNvSpPr>
            <a:spLocks noGrp="1"/>
          </p:cNvSpPr>
          <p:nvPr>
            <p:ph type="sldNum" sz="quarter" idx="12"/>
          </p:nvPr>
        </p:nvSpPr>
        <p:spPr/>
        <p:txBody>
          <a:bodyPr/>
          <a:lstStyle/>
          <a:p>
            <a:fld id="{0F9C2F83-0991-4BDC-B5C3-1E55A7D932BD}"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Three provinces account for 69% of reported fuel sales</a:t>
            </a:r>
          </a:p>
        </p:txBody>
      </p:sp>
      <p:sp>
        <p:nvSpPr>
          <p:cNvPr id="3" name="Slide Number Placeholder"/>
          <p:cNvSpPr>
            <a:spLocks noGrp="1"/>
          </p:cNvSpPr>
          <p:nvPr>
            <p:ph type="sldNum" sz="quarter" idx="12"/>
          </p:nvPr>
        </p:nvSpPr>
        <p:spPr/>
        <p:txBody>
          <a:bodyPr/>
          <a:lstStyle/>
          <a:p>
            <a:fld id="{5539D0EC-7E55-421E-AE1A-1DBADF4034F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12 and 14.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12 and 14.</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sales show different demand patterns over time</a:t>
            </a:r>
          </a:p>
        </p:txBody>
      </p:sp>
      <p:sp>
        <p:nvSpPr>
          <p:cNvPr id="3" name="Slide Number Placeholder"/>
          <p:cNvSpPr>
            <a:spLocks noGrp="1"/>
          </p:cNvSpPr>
          <p:nvPr>
            <p:ph type="sldNum" sz="quarter" idx="12"/>
          </p:nvPr>
        </p:nvSpPr>
        <p:spPr/>
        <p:txBody>
          <a:bodyPr/>
          <a:lstStyle/>
          <a:p>
            <a:fld id="{A3938151-6D64-470D-911D-743BA890B820}"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2013 national parser is corrected on the analyst branch. 2014/2015 source versions differ; 2018 district coverage is incomplete. Preserve the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Provincial demand is known; its supply origin still needs evidence</a:t>
            </a:r>
          </a:p>
        </p:txBody>
      </p:sp>
      <p:sp>
        <p:nvSpPr>
          <p:cNvPr id="3" name="Slide Number Placeholder"/>
          <p:cNvSpPr>
            <a:spLocks noGrp="1"/>
          </p:cNvSpPr>
          <p:nvPr>
            <p:ph type="sldNum" sz="quarter" idx="12"/>
          </p:nvPr>
        </p:nvSpPr>
        <p:spPr/>
        <p:txBody>
          <a:bodyPr/>
          <a:lstStyle/>
          <a:p>
            <a:fld id="{A936F3DC-DB4C-4EA5-B765-F9BC4C9392CE}"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Observed activity helps define the fuel levers; intensities remain open</a:t>
            </a:r>
          </a:p>
        </p:txBody>
      </p:sp>
      <p:sp>
        <p:nvSpPr>
          <p:cNvPr id="3" name="Slide Number Placeholder"/>
          <p:cNvSpPr>
            <a:spLocks noGrp="1"/>
          </p:cNvSpPr>
          <p:nvPr>
            <p:ph type="sldNum" sz="quarter" idx="12"/>
          </p:nvPr>
        </p:nvSpPr>
        <p:spPr/>
        <p:txBody>
          <a:bodyPr/>
          <a:lstStyle/>
          <a:p>
            <a:fld id="{C1D8D6F9-02E8-4953-85AA-5CE76FE6B0AD}"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327648"/>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 intensities remain open;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Refinery capacity has fallen; redevelopment remains conditional</a:t>
            </a:r>
          </a:p>
        </p:txBody>
      </p:sp>
      <p:sp>
        <p:nvSpPr>
          <p:cNvPr id="3" name="Slide Number Placeholder"/>
          <p:cNvSpPr>
            <a:spLocks noGrp="1"/>
          </p:cNvSpPr>
          <p:nvPr>
            <p:ph type="sldNum" sz="quarter" idx="12"/>
          </p:nvPr>
        </p:nvSpPr>
        <p:spPr/>
        <p:txBody>
          <a:bodyPr/>
          <a:lstStyle/>
          <a:p>
            <a:fld id="{FE16DEB3-1AB4-486C-AC5C-660E691F7128}"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57" name="Transnet lease overlay: Isosceles Triangle 305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58" name="Transnet lease overlay: Connector 305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59" name="Transnet lease overlay: TextBox 305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060" name="Transnet lease overlay: Isosceles Triangle 305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61" name="Transnet lease overlay: Connector 306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62" name="Transnet lease overlay: TextBox 306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063" name="Transnet lease overlay: Isosceles Triangle 306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64" name="Transnet lease overlay: Connector 306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65" name="Transnet lease overlay: TextBox 306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066" name="Transnet lease overlay: Isosceles Triangle 306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67" name="Transnet lease overlay: Connector 306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68" name="Transnet lease overlay: TextBox 306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069" name="Transnet lease overlay: Isosceles Triangle 306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70" name="Transnet lease overlay: Connector 306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71" name="Transnet lease overlay: TextBox 307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072" name="Transnet lease overlay: TextBox 307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073" name="Transnet lease overlay: Isosceles Triangle 307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82" name="TextBox 308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083" name="TextBox 308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084" name="TextBox 308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085" name="TextBox 308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086" name="TextBox 308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087" name="TextBox 308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088" name="TextBox 308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090" name="TextBox 308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091" name="TextBox 309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092" name="TextBox 309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09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9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9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09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Durban, Matola and Walvis Bay for the same inland customer</a:t>
            </a:r>
          </a:p>
        </p:txBody>
      </p:sp>
      <p:sp>
        <p:nvSpPr>
          <p:cNvPr id="3" name="Slide Number Placeholder"/>
          <p:cNvSpPr>
            <a:spLocks noGrp="1"/>
          </p:cNvSpPr>
          <p:nvPr>
            <p:ph type="sldNum" sz="quarter" idx="12"/>
          </p:nvPr>
        </p:nvSpPr>
        <p:spPr/>
        <p:txBody>
          <a:bodyPr/>
          <a:lstStyle/>
          <a:p>
            <a:fld id="{F55AB123-E745-4CD5-B0E8-902492D38D83}"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43" name="TextBox 42"/>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44" name="Connector 43"/>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48" name="TextBox 47"/>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49" name="Rectangle 48"/>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51" name="TextBox 50"/>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52" name="Rectangle 51"/>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54" name="TextBox 53"/>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55" name="Rectangle 54"/>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57" name="TextBox 56"/>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58" name="Rectangle 57"/>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60" name="TextBox 59"/>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61" name="TextBox 60"/>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62" name="TextBox 61"/>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13.</a:t>
            </a:r>
          </a:p>
        </p:txBody>
      </p:sp>
      <p:sp>
        <p:nvSpPr>
          <p:cNvPr id="63" name="TextBox 6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4" name="TextBox 6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65" name="TextBox 6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66" name="TextBox 6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67" name="TextBox 6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68" name="TextBox 6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69" name="TextBox 6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70" name="Connector 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2" name="TextBox 7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regional demand with Vopak’s published storage footprint</a:t>
            </a:r>
          </a:p>
        </p:txBody>
      </p:sp>
      <p:sp>
        <p:nvSpPr>
          <p:cNvPr id="3" name="Slide Number Placeholder"/>
          <p:cNvSpPr>
            <a:spLocks noGrp="1"/>
          </p:cNvSpPr>
          <p:nvPr>
            <p:ph type="sldNum" sz="quarter" idx="12"/>
          </p:nvPr>
        </p:nvSpPr>
        <p:spPr/>
        <p:txBody>
          <a:bodyPr/>
          <a:lstStyle/>
          <a:p>
            <a:fld id="{71D2AEEE-B10D-46BA-9D15-B49EF1477B8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illustrative additional opportunity is 5.5 billion litres a year</a:t>
            </a:r>
          </a:p>
        </p:txBody>
      </p:sp>
      <p:sp>
        <p:nvSpPr>
          <p:cNvPr id="3" name="Slide Number Placeholder"/>
          <p:cNvSpPr>
            <a:spLocks noGrp="1"/>
          </p:cNvSpPr>
          <p:nvPr>
            <p:ph type="sldNum" sz="quarter" idx="12"/>
          </p:nvPr>
        </p:nvSpPr>
        <p:spPr/>
        <p:txBody>
          <a:bodyPr/>
          <a:lstStyle/>
          <a:p>
            <a:fld id="{D5F8EF6F-E033-4DDD-A06F-1ADA3ECF3CB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Durban leads the published storage subset</a:t>
            </a:r>
          </a:p>
        </p:txBody>
      </p:sp>
      <p:sp>
        <p:nvSpPr>
          <p:cNvPr id="3" name="Slide Number Placeholder"/>
          <p:cNvSpPr>
            <a:spLocks noGrp="1"/>
          </p:cNvSpPr>
          <p:nvPr>
            <p:ph type="sldNum" sz="quarter" idx="12"/>
          </p:nvPr>
        </p:nvSpPr>
        <p:spPr/>
        <p:txBody>
          <a:bodyPr/>
          <a:lstStyle/>
          <a:p>
            <a:fld id="{05C1AE2E-F852-49A9-9AA5-8D72F4FCA40E}"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Translate additional fuel flows into a preliminary inventory requirement</a:t>
            </a:r>
          </a:p>
        </p:txBody>
      </p:sp>
      <p:sp>
        <p:nvSpPr>
          <p:cNvPr id="3" name="Slide Number Placeholder"/>
          <p:cNvSpPr>
            <a:spLocks noGrp="1"/>
          </p:cNvSpPr>
          <p:nvPr>
            <p:ph type="sldNum" sz="quarter" idx="12"/>
          </p:nvPr>
        </p:nvSpPr>
        <p:spPr/>
        <p:txBody>
          <a:bodyPr/>
          <a:lstStyle/>
          <a:p>
            <a:fld id="{F4EB6342-5317-4D8E-80A5-B67ADB664DE3}"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C38E6553-843F-4506-8C99-0CC366CDF59E}"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0F9C2F83-0991-4BDC-B5C3-1E55A7D932BD}"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