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Current answer | validate customer access before committing additional capacity</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Current answer and implication</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Next step / proposed lead</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Imports underpin the national market</a:t>
                      </a:r>
                    </a:p>
                    <a:p>
                      <a:pPr>
                        <a:spcAft>
                          <a:spcPts val="0"/>
                        </a:spcAft>
                        <a:defRPr sz="1050" b="0">
                          <a:solidFill>
                            <a:srgbClr val="000000"/>
                          </a:solidFill>
                          <a:latin typeface="Lato"/>
                        </a:defRPr>
                      </a:pPr>
                      <a:r>
                        <a:t>2024 net petrol/diesel imports: 13.078 bn L. Production, stocks and sales coverage remain unmatched.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Match the national balance</a:t>
                      </a:r>
                    </a:p>
                    <a:p>
                      <a:pPr>
                        <a:spcAft>
                          <a:spcPts val="0"/>
                        </a:spcAft>
                        <a:defRPr sz="1050" b="0">
                          <a:solidFill>
                            <a:srgbClr val="000000"/>
                          </a:solidFill>
                          <a:latin typeface="Lato"/>
                        </a:defRPr>
                      </a:pPr>
                      <a:r>
                        <a:t>Manish; Nigel source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is concentrated, but later provincial data are estimates</a:t>
                      </a:r>
                    </a:p>
                    <a:p>
                      <a:pPr>
                        <a:spcAft>
                          <a:spcPts val="0"/>
                        </a:spcAft>
                        <a:defRPr sz="1050" b="0">
                          <a:solidFill>
                            <a:srgbClr val="000000"/>
                          </a:solidFill>
                          <a:latin typeface="Lato"/>
                        </a:defRPr>
                      </a:pPr>
                      <a:r>
                        <a:t>GP, KZN and WC account for 68.6% of reported 2022 sales. The map does not establish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Refresh observed demand and destinations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can move in different directions</a:t>
                      </a:r>
                    </a:p>
                    <a:p>
                      <a:pPr>
                        <a:spcAft>
                          <a:spcPts val="0"/>
                        </a:spcAft>
                        <a:defRPr sz="1050" b="0">
                          <a:solidFill>
                            <a:srgbClr val="000000"/>
                          </a:solidFill>
                          <a:latin typeface="Lato"/>
                        </a:defRPr>
                      </a:pPr>
                      <a:r>
                        <a:t>Power, freight, prices and vehicle mix need separate mechanisms; observed activity is not a fuel forecast.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Define growth, lever cases and back-tests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Confirm plant status, timing and yields</a:t>
                      </a:r>
                    </a:p>
                    <a:p>
                      <a:pPr>
                        <a:spcAft>
                          <a:spcPts val="0"/>
                        </a:spcAft>
                        <a:defRPr sz="1050" b="0">
                          <a:solidFill>
                            <a:srgbClr val="000000"/>
                          </a:solidFill>
                          <a:latin typeface="Lato"/>
                        </a:defRPr>
                      </a:pPr>
                      <a:r>
                        <a:t>Manish; Henry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Compare one product and destination</a:t>
                      </a:r>
                    </a:p>
                    <a:p>
                      <a:pPr>
                        <a:spcAft>
                          <a:spcPts val="0"/>
                        </a:spcAft>
                        <a:defRPr sz="1050" b="0">
                          <a:solidFill>
                            <a:srgbClr val="000000"/>
                          </a:solidFill>
                          <a:latin typeface="Lato"/>
                        </a:defRPr>
                      </a:pPr>
                      <a:r>
                        <a:t>Manish; Nigel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Obtain flows, remove transfers, test capture gates</a:t>
                      </a:r>
                    </a:p>
                    <a:p>
                      <a:pPr>
                        <a:spcAft>
                          <a:spcPts val="0"/>
                        </a:spcAft>
                        <a:defRPr sz="1050" b="0">
                          <a:solidFill>
                            <a:srgbClr val="000000"/>
                          </a:solidFill>
                          <a:latin typeface="Lato"/>
                        </a:defRPr>
                      </a:pPr>
                      <a:r>
                        <a:t>Nigel client data; Manish</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Validate where, how and when to act</a:t>
                      </a:r>
                    </a:p>
                    <a:p>
                      <a:pPr>
                        <a:spcAft>
                          <a:spcPts val="0"/>
                        </a:spcAft>
                        <a:defRPr sz="1050" b="0">
                          <a:solidFill>
                            <a:srgbClr val="000000"/>
                          </a:solidFill>
                          <a:latin typeface="Lato"/>
                        </a:defRPr>
                      </a:pPr>
                      <a:r>
                        <a:t>Nigel; Manish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2"/>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3"/>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4"/>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291072"/>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Fuel-use rates need validation;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2"/>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Market baseline</a:t>
            </a:r>
          </a:p>
        </p:txBody>
      </p:sp>
      <p:sp>
        <p:nvSpPr>
          <p:cNvPr id="6" name="Section navigation 3">
            <a:hlinkClick action="ppaction://hlinksldjump" r:id="rId8"/>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2"/>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Market changes</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Market baseline</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Market changes</a:t>
            </a:r>
          </a:p>
        </p:txBody>
      </p:sp>
      <p:sp>
        <p:nvSpPr>
          <p:cNvPr id="7" name="Section navigation 4">
            <a:hlinkClick action="ppaction://hlinksldjump" r:id="rId2"/>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