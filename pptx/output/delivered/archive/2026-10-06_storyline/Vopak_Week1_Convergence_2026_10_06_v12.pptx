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harts/chart1.xml" ContentType="application/vnd.openxmlformats-officedocument.drawingml.chart+xml"/>
  <Override PartName="/ppt/charts/chart10.xml" ContentType="application/vnd.openxmlformats-officedocument.drawingml.chart+xml"/>
  <Override PartName="/ppt/charts/chart11.xml" ContentType="application/vnd.openxmlformats-officedocument.drawingml.chart+xml"/>
  <Override PartName="/ppt/charts/chart12.xml" ContentType="application/vnd.openxmlformats-officedocument.drawingml.chart+xml"/>
  <Override PartName="/ppt/charts/chart13.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4" r:id="rId4"/>
  </p:sldMasterIdLst>
  <p:notesMasterIdLst>
    <p:notesMasterId r:id="rId8"/>
  </p:notesMasterIdLst>
  <p:sldIdLst>
    <p:sldId id="256" r:id="rId7"/>
    <p:sldId id="267" r:id="rId22"/>
    <p:sldId id="268" r:id="rId23"/>
    <p:sldId id="262" r:id="rId17"/>
    <p:sldId id="263" r:id="rId6"/>
    <p:sldId id="264" r:id="rId19"/>
    <p:sldId id="269" r:id="rId24"/>
    <p:sldId id="270" r:id="rId25"/>
    <p:sldId id="275" r:id="rId30"/>
    <p:sldId id="258" r:id="rId5"/>
    <p:sldId id="271" r:id="rId26"/>
    <p:sldId id="259" r:id="rId16"/>
    <p:sldId id="265" r:id="rId20"/>
    <p:sldId id="272" r:id="rId27"/>
    <p:sldId id="266" r:id="rId21"/>
    <p:sldId id="274" r:id="rId29"/>
    <p:sldId id="273" r:id="rId28"/>
    <p:sldId id="277" r:id="rId32"/>
    <p:sldId id="278" r:id="rId33"/>
    <p:sldId id="279" r:id="rId34"/>
    <p:sldId id="261" r:id="rId18"/>
    <p:sldId id="276" r:id="rId31"/>
  </p:sldIdLst>
  <p:sldSz cx="1158875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5460B812-FB11-E744-2EAF-0F2DA0ECD4BF}" name="Henry Gilfillan" initials="HG" userId="S::Henry.G@africaia.com::20d8d1d5-b81d-4db2-8d49-9db47f87700a" providerId="AD"/>
  <p188:author id="{80F3E917-8A40-6377-B501-C0BF4583C07C}" name="Maria-Salome Milanzi" initials="MM" userId="S::Maria-Salome.M@africaia.com::27b80f15-cda9-458b-a241-0020d0d18b2b" providerId="AD"/>
  <p188:author id="{8653DC3D-E5A6-54BA-B06A-0D6999879F26}" name="Joseph Kihara" initials="JK" userId="S::joseph.k@africaia.com::89b38e7e-ff17-4223-9856-6d82edda0c7c" providerId="AD"/>
  <p188:author id="{79DE144E-B764-F176-BA11-B9193ABDC8E5}" name="Davies Tsikayi" initials="DT" userId="S::Davies.T@africaia.com::87c07fce-c37d-4ded-b6b5-65d5c8b951c1" providerId="AD"/>
  <p188:author id="{31278C59-D498-87BD-2E87-AF9308A52A9D}" name="Shannon Kurz" initials="SK" userId="Shannon Kurz" providerId="None"/>
  <p188:author id="{68AE2466-B378-7AA2-581F-E86841585307}" name="Paayal Kanjee Govind" initials="PK" userId="S::Paayal.KG@africaia.com::50637073-a9d2-4dfa-96c0-927604d7cc3c" providerId="AD"/>
  <p188:author id="{C5B1668E-F34A-2E98-0466-BAF8D463548D}" name="Manish Ramjeawon" initials="MR" userId="S::manish.r@africaia.com::530ca382-ae44-4c47-aaca-bb6bff7153ab" providerId="AD"/>
  <p188:author id="{F720B396-19C0-DB41-D221-DFCF831531AE}" name="Henry Gilfillan" initials="HG" userId="Henry Gilfillan" providerId="None"/>
  <p188:author id="{9FBE07B6-A3E1-BFC7-95A7-1EBCABB54112}" name="Karabo Mashabane" initials="KM" userId="S::Karabo.M@africaia.com::def9b110-1e86-4623-94be-634dc77ab82b" providerId="AD"/>
  <p188:author id="{53709FFD-5FBE-8519-0B68-00C91B158654}" name="James Brown" initials="JB" userId="James Brown" providerId="None"/>
</p188:authorLst>
</file>

<file path=ppt/commentAuthors.xml><?xml version="1.0" encoding="utf-8"?>
<p:cmAuthorLst xmlns:a="http://schemas.openxmlformats.org/drawingml/2006/main" xmlns:r="http://schemas.openxmlformats.org/officeDocument/2006/relationships" xmlns:p="http://schemas.openxmlformats.org/presentationml/2006/main">
  <p:cmAuthor id="7" name="Henry Gilfillan" initials="HG [2]" lastIdx="8" clrIdx="6">
    <p:extLst>
      <p:ext uri="{19B8F6BF-5375-455C-9EA6-DF929625EA0E}">
        <p15:presenceInfo xmlns:p15="http://schemas.microsoft.com/office/powerpoint/2012/main" userId="S::henry.g@africaia.com::20d8d1d5-b81d-4db2-8d49-9db47f87700a" providerId="AD"/>
      </p:ext>
    </p:extLst>
  </p:cmAuthor>
  <p:cmAuthor id="1" name="Abbas Bilgrami" initials="AB [2]" lastIdx="8" clrIdx="0">
    <p:extLst>
      <p:ext uri="{19B8F6BF-5375-455C-9EA6-DF929625EA0E}">
        <p15:presenceInfo xmlns:p15="http://schemas.microsoft.com/office/powerpoint/2012/main" userId="da833efe2a07dd73" providerId="Windows Live"/>
      </p:ext>
    </p:extLst>
  </p:cmAuthor>
  <p:cmAuthor id="8" name="Abbas Bilgrami" initials="AB" lastIdx="34" clrIdx="7">
    <p:extLst>
      <p:ext uri="{19B8F6BF-5375-455C-9EA6-DF929625EA0E}">
        <p15:presenceInfo xmlns:p15="http://schemas.microsoft.com/office/powerpoint/2012/main" userId="S::abbas.b@africaia.com::09d4207e-ca10-48c5-9e33-f8dec02b9ddc" providerId="AD"/>
      </p:ext>
    </p:extLst>
  </p:cmAuthor>
  <p:cmAuthor id="2" name="Henry Gilfillan" initials="HG" lastIdx="82" clrIdx="1">
    <p:extLst>
      <p:ext uri="{19B8F6BF-5375-455C-9EA6-DF929625EA0E}">
        <p15:presenceInfo xmlns:p15="http://schemas.microsoft.com/office/powerpoint/2012/main" userId="Henry Gilfillan" providerId="None"/>
      </p:ext>
    </p:extLst>
  </p:cmAuthor>
  <p:cmAuthor id="9" name="Paayal Kanjee Govind" initials="PKG" lastIdx="4" clrIdx="8">
    <p:extLst>
      <p:ext uri="{19B8F6BF-5375-455C-9EA6-DF929625EA0E}">
        <p15:presenceInfo xmlns:p15="http://schemas.microsoft.com/office/powerpoint/2012/main" userId="Paayal Kanjee Govind" providerId="None"/>
      </p:ext>
    </p:extLst>
  </p:cmAuthor>
  <p:cmAuthor id="3" name="Ismaeel" initials="I" lastIdx="104" clrIdx="2">
    <p:extLst>
      <p:ext uri="{19B8F6BF-5375-455C-9EA6-DF929625EA0E}">
        <p15:presenceInfo xmlns:p15="http://schemas.microsoft.com/office/powerpoint/2012/main" userId="Ismaeel" providerId="None"/>
      </p:ext>
    </p:extLst>
  </p:cmAuthor>
  <p:cmAuthor id="4" name="Jennifer Zeiss" initials="JZ" lastIdx="19" clrIdx="3">
    <p:extLst>
      <p:ext uri="{19B8F6BF-5375-455C-9EA6-DF929625EA0E}">
        <p15:presenceInfo xmlns:p15="http://schemas.microsoft.com/office/powerpoint/2012/main" userId="Jennifer Zeiss" providerId="None"/>
      </p:ext>
    </p:extLst>
  </p:cmAuthor>
  <p:cmAuthor id="5" name="Gabrielle Knott" initials="GK" lastIdx="2" clrIdx="4">
    <p:extLst>
      <p:ext uri="{19B8F6BF-5375-455C-9EA6-DF929625EA0E}">
        <p15:presenceInfo xmlns:p15="http://schemas.microsoft.com/office/powerpoint/2012/main" userId="Gabrielle Knott" providerId="None"/>
      </p:ext>
    </p:extLst>
  </p:cmAuthor>
  <p:cmAuthor id="6" name="James Brown" initials="JB" lastIdx="2" clrIdx="5">
    <p:extLst>
      <p:ext uri="{19B8F6BF-5375-455C-9EA6-DF929625EA0E}">
        <p15:presenceInfo xmlns:p15="http://schemas.microsoft.com/office/powerpoint/2012/main" userId="S::james@africaia.com::5c3cb27f-96be-4c72-848f-aa01b93992f6"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F3552"/>
    <a:srgbClr val="EBF9FE"/>
    <a:srgbClr val="FDD9A4"/>
    <a:srgbClr val="2D6196"/>
    <a:srgbClr val="326757"/>
    <a:srgbClr val="728A94"/>
    <a:srgbClr val="F01C24"/>
    <a:srgbClr val="56787A"/>
    <a:srgbClr val="CFDFF0"/>
    <a:srgbClr val="008E4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8C87D74-0723-4269-ADB4-1C2880134AC4}" v="1" dt="2026-10-01T12:10:22.38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4" d="100"/>
          <a:sy n="64" d="100"/>
        </p:scale>
        <p:origin x="776"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0.xml"/><Relationship Id="rId6" Type="http://schemas.openxmlformats.org/officeDocument/2006/relationships/slide" Target="slides/slide5.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commentAuthors" Target="commentAuthors.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 Id="rId14" Type="http://schemas.microsoft.com/office/2015/10/relationships/revisionInfo" Target="revisionInfo.xml"/><Relationship Id="rId15" Type="http://schemas.microsoft.com/office/2018/10/relationships/authors" Target="authors.xml"/><Relationship Id="rId16" Type="http://schemas.openxmlformats.org/officeDocument/2006/relationships/slide" Target="slides/slide12.xml"/><Relationship Id="rId17" Type="http://schemas.openxmlformats.org/officeDocument/2006/relationships/slide" Target="slides/slide4.xml"/><Relationship Id="rId18" Type="http://schemas.openxmlformats.org/officeDocument/2006/relationships/slide" Target="slides/slide21.xml"/><Relationship Id="rId19" Type="http://schemas.openxmlformats.org/officeDocument/2006/relationships/slide" Target="slides/slide6.xml"/><Relationship Id="rId20" Type="http://schemas.openxmlformats.org/officeDocument/2006/relationships/slide" Target="slides/slide13.xml"/><Relationship Id="rId21" Type="http://schemas.openxmlformats.org/officeDocument/2006/relationships/slide" Target="slides/slide15.xml"/><Relationship Id="rId22" Type="http://schemas.openxmlformats.org/officeDocument/2006/relationships/slide" Target="slides/slide2.xml"/><Relationship Id="rId23" Type="http://schemas.openxmlformats.org/officeDocument/2006/relationships/slide" Target="slides/slide3.xml"/><Relationship Id="rId24" Type="http://schemas.openxmlformats.org/officeDocument/2006/relationships/slide" Target="slides/slide7.xml"/><Relationship Id="rId25" Type="http://schemas.openxmlformats.org/officeDocument/2006/relationships/slide" Target="slides/slide8.xml"/><Relationship Id="rId26" Type="http://schemas.openxmlformats.org/officeDocument/2006/relationships/slide" Target="slides/slide11.xml"/><Relationship Id="rId27" Type="http://schemas.openxmlformats.org/officeDocument/2006/relationships/slide" Target="slides/slide14.xml"/><Relationship Id="rId28" Type="http://schemas.openxmlformats.org/officeDocument/2006/relationships/slide" Target="slides/slide17.xml"/><Relationship Id="rId29" Type="http://schemas.openxmlformats.org/officeDocument/2006/relationships/slide" Target="slides/slide16.xml"/><Relationship Id="rId30" Type="http://schemas.openxmlformats.org/officeDocument/2006/relationships/slide" Target="slides/slide9.xml"/><Relationship Id="rId31" Type="http://schemas.openxmlformats.org/officeDocument/2006/relationships/slide" Target="slides/slide22.xml"/><Relationship Id="rId32" Type="http://schemas.openxmlformats.org/officeDocument/2006/relationships/slide" Target="slides/slide18.xml"/><Relationship Id="rId33" Type="http://schemas.openxmlformats.org/officeDocument/2006/relationships/slide" Target="slides/slide19.xml"/><Relationship Id="rId34" Type="http://schemas.openxmlformats.org/officeDocument/2006/relationships/slide" Target="slides/slide20.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Sheet7.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Sheet8.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Sheet9.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Sheet10.xlsx"/></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Sheet11.xlsx"/></Relationships>
</file>

<file path=ppt/charts/_rels/chart12.xml.rels><?xml version='1.0' encoding='UTF-8' standalone='yes'?>
<Relationships xmlns="http://schemas.openxmlformats.org/package/2006/relationships"><Relationship Id="rId1" Type="http://schemas.openxmlformats.org/officeDocument/2006/relationships/package" Target="../embeddings/Microsoft_Excel_Sheet12.xlsx"/></Relationships>
</file>

<file path=ppt/charts/_rels/chart13.xml.rels><?xml version='1.0' encoding='UTF-8' standalone='yes'?>
<Relationships xmlns="http://schemas.openxmlformats.org/package/2006/relationships"><Relationship Id="rId1" Type="http://schemas.openxmlformats.org/officeDocument/2006/relationships/package" Target="../embeddings/Microsoft_Excel_Sheet13.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Gauteng</c:v>
                </c:pt>
              </c:strCache>
            </c:strRef>
          </c:tx>
          <c:spPr>
            <a:solidFill>
              <a:srgbClr val="0A2373"/>
            </a:solidFill>
            <a:ln w="25400">
              <a:solidFill>
                <a:srgbClr val="0A2373"/>
              </a:solidFill>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Sheet1!$B$2:$B$11</c:f>
              <c:numCache>
                <c:formatCode>General</c:formatCode>
                <c:ptCount val="10"/>
                <c:pt idx="0">
                  <c:v>6.957413325999999</c:v>
                </c:pt>
                <c:pt idx="1">
                  <c:v>7.098075129</c:v>
                </c:pt>
                <c:pt idx="2">
                  <c:v>7.27979359</c:v>
                </c:pt>
                <c:pt idx="3">
                  <c:v>7.130303529232998</c:v>
                </c:pt>
                <c:pt idx="4">
                  <c:v>7.213928482944991</c:v>
                </c:pt>
                <c:pt idx="5">
                  <c:v>7.317085261789984</c:v>
                </c:pt>
                <c:pt idx="6">
                  <c:v>7.641453661767985</c:v>
                </c:pt>
                <c:pt idx="7">
                  <c:v>6.085737662723995</c:v>
                </c:pt>
                <c:pt idx="8">
                  <c:v>6.646008731794994</c:v>
                </c:pt>
                <c:pt idx="9">
                  <c:v>6.809430758895994</c:v>
                </c:pt>
              </c:numCache>
            </c:numRef>
          </c:val>
          <c:smooth val="0"/>
        </c:ser>
        <c:ser>
          <c:idx val="1"/>
          <c:order val="1"/>
          <c:tx>
            <c:strRef>
              <c:f>Sheet1!$C$1</c:f>
              <c:strCache>
                <c:ptCount val="1"/>
                <c:pt idx="0">
                  <c:v>KwaZulu-Natal</c:v>
                </c:pt>
              </c:strCache>
            </c:strRef>
          </c:tx>
          <c:spPr>
            <a:solidFill>
              <a:srgbClr val="546CA2"/>
            </a:solidFill>
            <a:ln w="25400">
              <a:solidFill>
                <a:srgbClr val="546CA2"/>
              </a:solidFill>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Sheet1!$C$2:$C$11</c:f>
              <c:numCache>
                <c:formatCode>General</c:formatCode>
                <c:ptCount val="10"/>
                <c:pt idx="0">
                  <c:v>4.0649684520000005</c:v>
                </c:pt>
                <c:pt idx="1">
                  <c:v>3.852058702</c:v>
                </c:pt>
                <c:pt idx="2">
                  <c:v>3.912559734</c:v>
                </c:pt>
                <c:pt idx="3">
                  <c:v>3.942573461657999</c:v>
                </c:pt>
                <c:pt idx="4">
                  <c:v>4.185357397407999</c:v>
                </c:pt>
                <c:pt idx="5">
                  <c:v>4.006674294566998</c:v>
                </c:pt>
                <c:pt idx="6">
                  <c:v>4.254528753769998</c:v>
                </c:pt>
                <c:pt idx="7">
                  <c:v>4.058690247691</c:v>
                </c:pt>
                <c:pt idx="8">
                  <c:v>4.274344607906</c:v>
                </c:pt>
                <c:pt idx="9">
                  <c:v>4.284492695897999</c:v>
                </c:pt>
              </c:numCache>
            </c:numRef>
          </c:val>
          <c:smooth val="0"/>
        </c:ser>
        <c:ser>
          <c:idx val="2"/>
          <c:order val="2"/>
          <c:tx>
            <c:strRef>
              <c:f>Sheet1!$D$1</c:f>
              <c:strCache>
                <c:ptCount val="1"/>
                <c:pt idx="0">
                  <c:v>Western Cape</c:v>
                </c:pt>
              </c:strCache>
            </c:strRef>
          </c:tx>
          <c:spPr>
            <a:solidFill>
              <a:srgbClr val="404040"/>
            </a:solidFill>
            <a:ln w="25400">
              <a:solidFill>
                <a:srgbClr val="404040"/>
              </a:solidFill>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Sheet1!$D$2:$D$11</c:f>
              <c:numCache>
                <c:formatCode>General</c:formatCode>
                <c:ptCount val="10"/>
                <c:pt idx="0">
                  <c:v>3.711414673</c:v>
                </c:pt>
                <c:pt idx="1">
                  <c:v>4.092754441</c:v>
                </c:pt>
                <c:pt idx="2">
                  <c:v>4.69646532</c:v>
                </c:pt>
                <c:pt idx="3">
                  <c:v>3.721210313077999</c:v>
                </c:pt>
                <c:pt idx="4">
                  <c:v>3.627265157763995</c:v>
                </c:pt>
                <c:pt idx="5">
                  <c:v>3.5433597330979962</c:v>
                </c:pt>
                <c:pt idx="6">
                  <c:v>3.7198348359559983</c:v>
                </c:pt>
                <c:pt idx="7">
                  <c:v>3.156886221083998</c:v>
                </c:pt>
                <c:pt idx="8">
                  <c:v>4.010114112846999</c:v>
                </c:pt>
                <c:pt idx="9">
                  <c:v>3.9307750071499967</c:v>
                </c:pt>
              </c:numCache>
            </c:numRef>
          </c:val>
          <c:smooth val="0"/>
        </c:ser>
        <c:ser>
          <c:idx val="3"/>
          <c:order val="3"/>
          <c:tx>
            <c:strRef>
              <c:f>Sheet1!$E$1</c:f>
              <c:strCache>
                <c:ptCount val="1"/>
                <c:pt idx="0">
                  <c:v>Mpumalanga</c:v>
                </c:pt>
              </c:strCache>
            </c:strRef>
          </c:tx>
          <c:spPr>
            <a:solidFill>
              <a:srgbClr val="767676"/>
            </a:solidFill>
            <a:ln w="17780">
              <a:solidFill>
                <a:srgbClr val="546CA2"/>
              </a:solidFill>
              <a:prstDash val="dash"/>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Sheet1!$E$2:$E$11</c:f>
              <c:numCache>
                <c:formatCode>General</c:formatCode>
                <c:ptCount val="10"/>
                <c:pt idx="0">
                  <c:v>2.320531335</c:v>
                </c:pt>
                <c:pt idx="1">
                  <c:v>2.341183354</c:v>
                </c:pt>
                <c:pt idx="2">
                  <c:v>2.454368402</c:v>
                </c:pt>
                <c:pt idx="3">
                  <c:v>2.6606009079020003</c:v>
                </c:pt>
                <c:pt idx="4">
                  <c:v>2.508828751910999</c:v>
                </c:pt>
                <c:pt idx="5">
                  <c:v>2.456646527283</c:v>
                </c:pt>
                <c:pt idx="6">
                  <c:v>2.236702405418999</c:v>
                </c:pt>
                <c:pt idx="7">
                  <c:v>1.9979355724919998</c:v>
                </c:pt>
                <c:pt idx="8">
                  <c:v>1.937230567748997</c:v>
                </c:pt>
                <c:pt idx="9">
                  <c:v>1.757189721943996</c:v>
                </c:pt>
              </c:numCache>
            </c:numRef>
          </c:val>
          <c:smooth val="0"/>
        </c:ser>
        <c:ser>
          <c:idx val="4"/>
          <c:order val="4"/>
          <c:tx>
            <c:strRef>
              <c:f>Sheet1!$F$1</c:f>
              <c:strCache>
                <c:ptCount val="1"/>
                <c:pt idx="0">
                  <c:v>Eastern Cape</c:v>
                </c:pt>
              </c:strCache>
            </c:strRef>
          </c:tx>
          <c:spPr>
            <a:solidFill>
              <a:srgbClr val="D9D9D9"/>
            </a:solidFill>
            <a:ln w="17780">
              <a:solidFill>
                <a:srgbClr val="767676"/>
              </a:solidFill>
              <a:prstDash val="dash"/>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Sheet1!$F$2:$F$11</c:f>
              <c:numCache>
                <c:formatCode>General</c:formatCode>
                <c:ptCount val="10"/>
                <c:pt idx="0">
                  <c:v>1.585923527</c:v>
                </c:pt>
                <c:pt idx="1">
                  <c:v>1.626715828</c:v>
                </c:pt>
                <c:pt idx="2">
                  <c:v>1.7991415320000002</c:v>
                </c:pt>
                <c:pt idx="3">
                  <c:v>1.785883066283</c:v>
                </c:pt>
                <c:pt idx="4">
                  <c:v>1.7690115308639982</c:v>
                </c:pt>
                <c:pt idx="5">
                  <c:v>1.7703191081490002</c:v>
                </c:pt>
                <c:pt idx="6">
                  <c:v>1.7921445762510002</c:v>
                </c:pt>
                <c:pt idx="7">
                  <c:v>1.6156188919190002</c:v>
                </c:pt>
                <c:pt idx="8">
                  <c:v>1.7712447284709991</c:v>
                </c:pt>
                <c:pt idx="9">
                  <c:v>1.7354846274369988</c:v>
                </c:pt>
              </c:numCache>
            </c:numRef>
          </c:val>
          <c:smooth val="0"/>
        </c:ser>
        <c:ser>
          <c:idx val="5"/>
          <c:order val="5"/>
          <c:tx>
            <c:strRef>
              <c:f>Sheet1!$G$1</c:f>
              <c:strCache>
                <c:ptCount val="1"/>
                <c:pt idx="0">
                  <c:v>Free State</c:v>
                </c:pt>
              </c:strCache>
            </c:strRef>
          </c:tx>
          <c:spPr>
            <a:solidFill>
              <a:srgbClr val="0A2373"/>
            </a:solidFill>
            <a:ln w="17780">
              <a:solidFill>
                <a:srgbClr val="0A2373"/>
              </a:solidFill>
              <a:prstDash val="sysDot"/>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Sheet1!$G$2:$G$11</c:f>
              <c:numCache>
                <c:formatCode>General</c:formatCode>
                <c:ptCount val="10"/>
                <c:pt idx="0">
                  <c:v>2.259494545</c:v>
                </c:pt>
                <c:pt idx="1">
                  <c:v>2.185901058</c:v>
                </c:pt>
                <c:pt idx="2">
                  <c:v>2.180302781</c:v>
                </c:pt>
                <c:pt idx="3">
                  <c:v>1.939700986869</c:v>
                </c:pt>
                <c:pt idx="4">
                  <c:v>1.744134882427</c:v>
                </c:pt>
                <c:pt idx="5">
                  <c:v>1.977904061572</c:v>
                </c:pt>
                <c:pt idx="6">
                  <c:v>1.8837452938370003</c:v>
                </c:pt>
                <c:pt idx="7">
                  <c:v>1.7546840298869997</c:v>
                </c:pt>
                <c:pt idx="8">
                  <c:v>1.720347936116999</c:v>
                </c:pt>
                <c:pt idx="9">
                  <c:v>1.3693191680130001</c:v>
                </c:pt>
              </c:numCache>
            </c:numRef>
          </c:val>
          <c:smooth val="0"/>
        </c:ser>
        <c:ser>
          <c:idx val="6"/>
          <c:order val="6"/>
          <c:tx>
            <c:strRef>
              <c:f>Sheet1!$H$1</c:f>
              <c:strCache>
                <c:ptCount val="1"/>
                <c:pt idx="0">
                  <c:v>North West</c:v>
                </c:pt>
              </c:strCache>
            </c:strRef>
          </c:tx>
          <c:spPr>
            <a:solidFill>
              <a:srgbClr val="546CA2"/>
            </a:solidFill>
            <a:ln w="17780">
              <a:solidFill>
                <a:srgbClr val="404040"/>
              </a:solidFill>
              <a:prstDash val="dashDot"/>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Sheet1!$H$2:$H$11</c:f>
              <c:numCache>
                <c:formatCode>General</c:formatCode>
                <c:ptCount val="10"/>
                <c:pt idx="0">
                  <c:v>1.266432554</c:v>
                </c:pt>
                <c:pt idx="1">
                  <c:v>1.158286361</c:v>
                </c:pt>
                <c:pt idx="2">
                  <c:v>1.1888144409999999</c:v>
                </c:pt>
                <c:pt idx="3">
                  <c:v>1.1648558408760001</c:v>
                </c:pt>
                <c:pt idx="4">
                  <c:v>1.1013055398449991</c:v>
                </c:pt>
                <c:pt idx="5">
                  <c:v>0.991726319483997</c:v>
                </c:pt>
                <c:pt idx="6">
                  <c:v>1.007267117963999</c:v>
                </c:pt>
                <c:pt idx="7">
                  <c:v>0.847947157980999</c:v>
                </c:pt>
                <c:pt idx="8">
                  <c:v>0.9456235060149989</c:v>
                </c:pt>
                <c:pt idx="9">
                  <c:v>1.068062721037</c:v>
                </c:pt>
              </c:numCache>
            </c:numRef>
          </c:val>
          <c:smooth val="0"/>
        </c:ser>
        <c:ser>
          <c:idx val="7"/>
          <c:order val="7"/>
          <c:tx>
            <c:strRef>
              <c:f>Sheet1!$I$1</c:f>
              <c:strCache>
                <c:ptCount val="1"/>
                <c:pt idx="0">
                  <c:v>Limpopo</c:v>
                </c:pt>
              </c:strCache>
            </c:strRef>
          </c:tx>
          <c:spPr>
            <a:solidFill>
              <a:srgbClr val="404040"/>
            </a:solidFill>
            <a:ln w="17780">
              <a:solidFill>
                <a:srgbClr val="767676"/>
              </a:solidFill>
              <a:prstDash val="sysDot"/>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Sheet1!$I$2:$I$11</c:f>
              <c:numCache>
                <c:formatCode>General</c:formatCode>
                <c:ptCount val="10"/>
                <c:pt idx="0">
                  <c:v>0.827670855</c:v>
                </c:pt>
                <c:pt idx="1">
                  <c:v>0.790816682</c:v>
                </c:pt>
                <c:pt idx="2">
                  <c:v>0.7817361970000001</c:v>
                </c:pt>
                <c:pt idx="3">
                  <c:v>0.666418652288</c:v>
                </c:pt>
                <c:pt idx="4">
                  <c:v>0.6305076475039999</c:v>
                </c:pt>
                <c:pt idx="5">
                  <c:v>0.662172038670999</c:v>
                </c:pt>
                <c:pt idx="6">
                  <c:v>0.6197556413229999</c:v>
                </c:pt>
                <c:pt idx="7">
                  <c:v>0.492636084695</c:v>
                </c:pt>
                <c:pt idx="8">
                  <c:v>0.48667479724299906</c:v>
                </c:pt>
                <c:pt idx="9">
                  <c:v>0.49563148529399903</c:v>
                </c:pt>
              </c:numCache>
            </c:numRef>
          </c:val>
          <c:smooth val="0"/>
        </c:ser>
        <c:ser>
          <c:idx val="8"/>
          <c:order val="8"/>
          <c:tx>
            <c:strRef>
              <c:f>Sheet1!$J$1</c:f>
              <c:strCache>
                <c:ptCount val="1"/>
                <c:pt idx="0">
                  <c:v>Northern Cape</c:v>
                </c:pt>
              </c:strCache>
            </c:strRef>
          </c:tx>
          <c:spPr>
            <a:solidFill>
              <a:srgbClr val="767676"/>
            </a:solidFill>
            <a:ln w="17780">
              <a:solidFill>
                <a:srgbClr val="BDBEC1"/>
              </a:solidFill>
              <a:prstDash val="lgDash"/>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Sheet1!$J$2:$J$11</c:f>
              <c:numCache>
                <c:formatCode>General</c:formatCode>
                <c:ptCount val="10"/>
                <c:pt idx="0">
                  <c:v>0.587311879</c:v>
                </c:pt>
                <c:pt idx="1">
                  <c:v>0.628263196</c:v>
                </c:pt>
                <c:pt idx="2">
                  <c:v>0.6686238340000001</c:v>
                </c:pt>
                <c:pt idx="3">
                  <c:v>0.533079746921</c:v>
                </c:pt>
                <c:pt idx="4">
                  <c:v>0.538621802891</c:v>
                </c:pt>
                <c:pt idx="5">
                  <c:v>0.521732330259</c:v>
                </c:pt>
                <c:pt idx="6">
                  <c:v>0.5264070109910001</c:v>
                </c:pt>
                <c:pt idx="7">
                  <c:v>0.441292852319</c:v>
                </c:pt>
                <c:pt idx="8">
                  <c:v>0.45501325471200005</c:v>
                </c:pt>
                <c:pt idx="9">
                  <c:v>0.451810048923</c:v>
                </c:pt>
              </c:numCache>
            </c:numRef>
          </c:val>
          <c:smooth val="0"/>
        </c:ser>
        <c:marker val="1"/>
        <c:smooth val="0"/>
        <c:axId val="2118791784"/>
        <c:axId val="2140495176"/>
      </c:lineChart>
      <c:catAx>
        <c:axId val="2118791784"/>
        <c:scaling>
          <c:orientation val="minMax"/>
        </c:scaling>
        <c:delete val="0"/>
        <c:axPos val="b"/>
        <c:majorGridlines>
          <c:spPr>
            <a:ln w="6350">
              <a:solidFill>
                <a:srgbClr val="D8D8D8"/>
              </a:solidFill>
            </a:ln>
          </c:spPr>
        </c:majorGridlines>
        <c:majorTickMark val="out"/>
        <c:minorTickMark val="none"/>
        <c:tickLblPos val="nextTo"/>
        <c:spPr>
          <a:ln w="6350">
            <a:solidFill>
              <a:srgbClr val="767676"/>
            </a:solidFill>
          </a:ln>
        </c:spPr>
        <c:txPr>
          <a:bodyPr/>
          <a:lstStyle/>
          <a:p>
            <a:pPr>
              <a:defRPr sz="1100">
                <a:solidFill>
                  <a:srgbClr val="404040"/>
                </a:solidFill>
                <a:latin typeface="Lato"/>
              </a:defRPr>
            </a:pPr>
          </a:p>
        </c:txPr>
        <c:crossAx val="2140495176"/>
        <c:crosses val="autoZero"/>
        <c:auto val="1"/>
        <c:lblAlgn val="ctr"/>
        <c:lblOffset val="100"/>
        <c:noMultiLvlLbl val="0"/>
      </c:catAx>
      <c:valAx>
        <c:axId val="2140495176"/>
        <c:scaling>
          <c:max val="8.0"/>
          <c:min val="0.0"/>
        </c:scaling>
        <c:delete val="0"/>
        <c:axPos val="l"/>
        <c:majorGridlines>
          <c:spPr>
            <a:ln w="6350">
              <a:solidFill>
                <a:srgbClr val="D8D8D8"/>
              </a:solidFill>
            </a:ln>
          </c:spPr>
        </c:majorGridlines>
        <c:numFmt formatCode="0.0" sourceLinked="0"/>
        <c:majorTickMark val="out"/>
        <c:minorTickMark val="none"/>
        <c:tickLblPos val="nextTo"/>
        <c:spPr>
          <a:ln w="6350">
            <a:solidFill>
              <a:srgbClr val="767676"/>
            </a:solidFill>
          </a:ln>
        </c:spPr>
        <c:txPr>
          <a:bodyPr/>
          <a:lstStyle/>
          <a:p>
            <a:pPr>
              <a:defRPr sz="1100">
                <a:solidFill>
                  <a:srgbClr val="404040"/>
                </a:solidFill>
                <a:latin typeface="Lato"/>
              </a:defRPr>
            </a:pPr>
          </a:p>
        </c:txPr>
        <c:crossAx val="2118791784"/>
        <c:crosses val="autoZero"/>
        <c:majorUnit val="2.0"/>
      </c:valAx>
    </c:plotArea>
    <c:plotVisOnly val="1"/>
    <c:dispBlanksAs val="gap"/>
    <c:showDLblsOverMax val="0"/>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layout>
        <c:manualLayout>
          <c:layoutTarget val="inner"/>
          <c:xMode val="factor"/>
          <c:yMode val="factor"/>
          <c:wMode val="factor"/>
          <c:hMode val="factor"/>
          <c:x val="0.09"/>
          <c:y val="0.06"/>
          <c:w val="0.89"/>
          <c:h val="0.62"/>
        </c:manualLayout>
      </c:layout>
      <c:lineChart>
        <c:grouping val="standard"/>
        <c:varyColors val="0"/>
        <c:ser>
          <c:idx val="0"/>
          <c:order val="0"/>
          <c:tx>
            <c:strRef>
              <c:f>Sheet1!$B$1</c:f>
              <c:strCache>
                <c:ptCount val="1"/>
                <c:pt idx="0">
                  <c:v>Cars</c:v>
                </c:pt>
              </c:strCache>
            </c:strRef>
          </c:tx>
          <c:spPr>
            <a:solidFill>
              <a:srgbClr val="0A2373"/>
            </a:solidFill>
            <a:ln w="22860">
              <a:solidFill>
                <a:srgbClr val="0A2373"/>
              </a:solidFill>
            </a:ln>
          </c:spPr>
          <c:marker>
            <c:symbol val="none"/>
          </c:marker>
          <c:cat>
            <c:strRef>
              <c:f>Sheet1!$A$2:$A$6</c:f>
              <c:strCache>
                <c:ptCount val="5"/>
                <c:pt idx="0">
                  <c:v>2021</c:v>
                </c:pt>
                <c:pt idx="1">
                  <c:v>2022</c:v>
                </c:pt>
                <c:pt idx="2">
                  <c:v>2023</c:v>
                </c:pt>
                <c:pt idx="3">
                  <c:v>2024</c:v>
                </c:pt>
                <c:pt idx="4">
                  <c:v>2025</c:v>
                </c:pt>
              </c:strCache>
            </c:strRef>
          </c:cat>
          <c:val>
            <c:numRef>
              <c:f>Sheet1!$B$2:$B$6</c:f>
              <c:numCache>
                <c:formatCode>General</c:formatCode>
                <c:ptCount val="5"/>
                <c:pt idx="0">
                  <c:v>96.26131942850134</c:v>
                </c:pt>
                <c:pt idx="1">
                  <c:v>96.6774076881225</c:v>
                </c:pt>
                <c:pt idx="2">
                  <c:v>98.04874029392617</c:v>
                </c:pt>
                <c:pt idx="3">
                  <c:v>100.0</c:v>
                </c:pt>
                <c:pt idx="4">
                  <c:v>102.95418135616141</c:v>
                </c:pt>
              </c:numCache>
            </c:numRef>
          </c:val>
          <c:smooth val="0"/>
        </c:ser>
        <c:ser>
          <c:idx val="1"/>
          <c:order val="1"/>
          <c:tx>
            <c:strRef>
              <c:f>Sheet1!$C$1</c:f>
              <c:strCache>
                <c:ptCount val="1"/>
                <c:pt idx="0">
                  <c:v>Minibuses</c:v>
                </c:pt>
              </c:strCache>
            </c:strRef>
          </c:tx>
          <c:spPr>
            <a:solidFill>
              <a:srgbClr val="546CA2"/>
            </a:solidFill>
            <a:ln w="22860">
              <a:solidFill>
                <a:srgbClr val="546CA2"/>
              </a:solidFill>
            </a:ln>
          </c:spPr>
          <c:marker>
            <c:symbol val="none"/>
          </c:marker>
          <c:cat>
            <c:strRef>
              <c:f>Sheet1!$A$2:$A$6</c:f>
              <c:strCache>
                <c:ptCount val="5"/>
                <c:pt idx="0">
                  <c:v>2021</c:v>
                </c:pt>
                <c:pt idx="1">
                  <c:v>2022</c:v>
                </c:pt>
                <c:pt idx="2">
                  <c:v>2023</c:v>
                </c:pt>
                <c:pt idx="3">
                  <c:v>2024</c:v>
                </c:pt>
                <c:pt idx="4">
                  <c:v>2025</c:v>
                </c:pt>
              </c:strCache>
            </c:strRef>
          </c:cat>
          <c:val>
            <c:numRef>
              <c:f>Sheet1!$C$2:$C$6</c:f>
              <c:numCache>
                <c:formatCode>General</c:formatCode>
                <c:ptCount val="5"/>
                <c:pt idx="0">
                  <c:v>98.46032117002075</c:v>
                </c:pt>
                <c:pt idx="1">
                  <c:v>98.36571032750557</c:v>
                </c:pt>
                <c:pt idx="2">
                  <c:v>100.02703166929005</c:v>
                </c:pt>
                <c:pt idx="3">
                  <c:v>100.0</c:v>
                </c:pt>
                <c:pt idx="4">
                  <c:v>100.00168947933062</c:v>
                </c:pt>
              </c:numCache>
            </c:numRef>
          </c:val>
          <c:smooth val="0"/>
        </c:ser>
        <c:marker val="1"/>
        <c:smooth val="0"/>
        <c:axId val="2118791784"/>
        <c:axId val="2140495176"/>
      </c:lineChart>
      <c:catAx>
        <c:axId val="2118791784"/>
        <c:scaling>
          <c:orientation val="minMax"/>
        </c:scaling>
        <c:delete val="0"/>
        <c:axPos val="b"/>
        <c:majorGridlines>
          <c:spPr>
            <a:ln w="6350">
              <a:solidFill>
                <a:srgbClr val="D8D8D8"/>
              </a:solidFill>
            </a:ln>
          </c:spPr>
        </c:majorGridlines>
        <c:majorTickMark val="out"/>
        <c:minorTickMark val="none"/>
        <c:tickLblPos val="nextTo"/>
        <c:spPr>
          <a:ln w="6350">
            <a:solidFill>
              <a:srgbClr val="767676"/>
            </a:solidFill>
          </a:ln>
        </c:spPr>
        <c:txPr>
          <a:bodyPr/>
          <a:lstStyle/>
          <a:p>
            <a:pPr>
              <a:defRPr sz="1000">
                <a:solidFill>
                  <a:srgbClr val="404040"/>
                </a:solidFill>
                <a:latin typeface="Lato"/>
              </a:defRPr>
            </a:pPr>
          </a:p>
        </c:txPr>
        <c:crossAx val="2140495176"/>
        <c:crosses val="autoZero"/>
        <c:auto val="1"/>
        <c:lblAlgn val="ctr"/>
        <c:lblOffset val="100"/>
        <c:tickLblSkip val="2"/>
        <c:noMultiLvlLbl val="0"/>
      </c:catAx>
      <c:valAx>
        <c:axId val="2140495176"/>
        <c:scaling>
          <c:max val="120.0"/>
          <c:min val="0.0"/>
        </c:scaling>
        <c:delete val="0"/>
        <c:axPos val="l"/>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000">
                <a:solidFill>
                  <a:srgbClr val="404040"/>
                </a:solidFill>
                <a:latin typeface="Lato"/>
              </a:defRPr>
            </a:pPr>
          </a:p>
        </c:txPr>
        <c:crossAx val="2118791784"/>
        <c:crosses val="autoZero"/>
        <c:majorUnit val="100.0"/>
      </c:valAx>
    </c:plotArea>
    <c:plotVisOnly val="1"/>
    <c:dispBlanksAs val="gap"/>
    <c:showDLblsOverMax val="0"/>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layout>
        <c:manualLayout>
          <c:layoutTarget val="inner"/>
          <c:xMode val="factor"/>
          <c:yMode val="factor"/>
          <c:wMode val="factor"/>
          <c:hMode val="factor"/>
          <c:x val="0.09"/>
          <c:y val="0.06"/>
          <c:w val="0.89"/>
          <c:h val="0.62"/>
        </c:manualLayout>
      </c:layout>
      <c:lineChart>
        <c:grouping val="standard"/>
        <c:varyColors val="0"/>
        <c:ser>
          <c:idx val="0"/>
          <c:order val="0"/>
          <c:tx>
            <c:strRef>
              <c:f>Sheet1!$B$1</c:f>
              <c:strCache>
                <c:ptCount val="1"/>
                <c:pt idx="0">
                  <c:v>Road</c:v>
                </c:pt>
              </c:strCache>
            </c:strRef>
          </c:tx>
          <c:spPr>
            <a:solidFill>
              <a:srgbClr val="0A2373"/>
            </a:solidFill>
            <a:ln w="22860">
              <a:solidFill>
                <a:srgbClr val="0A2373"/>
              </a:solidFill>
            </a:ln>
          </c:spPr>
          <c:marker>
            <c:symbol val="none"/>
          </c:marker>
          <c:cat>
            <c:strRef>
              <c:f>Sheet1!$A$2:$A$8</c:f>
              <c:strCache>
                <c:ptCount val="7"/>
                <c:pt idx="0">
                  <c:v>2019</c:v>
                </c:pt>
                <c:pt idx="1">
                  <c:v>2020</c:v>
                </c:pt>
                <c:pt idx="2">
                  <c:v>2021</c:v>
                </c:pt>
                <c:pt idx="3">
                  <c:v>2022</c:v>
                </c:pt>
                <c:pt idx="4">
                  <c:v>2023</c:v>
                </c:pt>
                <c:pt idx="5">
                  <c:v>2024</c:v>
                </c:pt>
                <c:pt idx="6">
                  <c:v>2025</c:v>
                </c:pt>
              </c:strCache>
            </c:strRef>
          </c:cat>
          <c:val>
            <c:numRef>
              <c:f>Sheet1!$B$2:$B$8</c:f>
              <c:numCache>
                <c:formatCode>General</c:formatCode>
                <c:ptCount val="7"/>
                <c:pt idx="0">
                  <c:v>91.39628780626211</c:v>
                </c:pt>
                <c:pt idx="1">
                  <c:v>80.53792720540356</c:v>
                </c:pt>
                <c:pt idx="2">
                  <c:v>87.82922602413967</c:v>
                </c:pt>
                <c:pt idx="3">
                  <c:v>107.01665037079071</c:v>
                </c:pt>
                <c:pt idx="4">
                  <c:v>108.22832869632312</c:v>
                </c:pt>
                <c:pt idx="5">
                  <c:v>100.0</c:v>
                </c:pt>
                <c:pt idx="6">
                  <c:v>99.52827011281917</c:v>
                </c:pt>
              </c:numCache>
            </c:numRef>
          </c:val>
          <c:smooth val="0"/>
        </c:ser>
        <c:ser>
          <c:idx val="1"/>
          <c:order val="1"/>
          <c:tx>
            <c:strRef>
              <c:f>Sheet1!$C$1</c:f>
              <c:strCache>
                <c:ptCount val="1"/>
                <c:pt idx="0">
                  <c:v>Rail</c:v>
                </c:pt>
              </c:strCache>
            </c:strRef>
          </c:tx>
          <c:spPr>
            <a:solidFill>
              <a:srgbClr val="546CA2"/>
            </a:solidFill>
            <a:ln w="22860">
              <a:solidFill>
                <a:srgbClr val="546CA2"/>
              </a:solidFill>
            </a:ln>
          </c:spPr>
          <c:marker>
            <c:symbol val="none"/>
          </c:marker>
          <c:cat>
            <c:strRef>
              <c:f>Sheet1!$A$2:$A$8</c:f>
              <c:strCache>
                <c:ptCount val="7"/>
                <c:pt idx="0">
                  <c:v>2019</c:v>
                </c:pt>
                <c:pt idx="1">
                  <c:v>2020</c:v>
                </c:pt>
                <c:pt idx="2">
                  <c:v>2021</c:v>
                </c:pt>
                <c:pt idx="3">
                  <c:v>2022</c:v>
                </c:pt>
                <c:pt idx="4">
                  <c:v>2023</c:v>
                </c:pt>
                <c:pt idx="5">
                  <c:v>2024</c:v>
                </c:pt>
                <c:pt idx="6">
                  <c:v>2025</c:v>
                </c:pt>
              </c:strCache>
            </c:strRef>
          </c:cat>
          <c:val>
            <c:numRef>
              <c:f>Sheet1!$C$2:$C$8</c:f>
              <c:numCache>
                <c:formatCode>General</c:formatCode>
                <c:ptCount val="7"/>
                <c:pt idx="0">
                  <c:v>133.14877601169553</c:v>
                </c:pt>
                <c:pt idx="1">
                  <c:v>118.36573454850851</c:v>
                </c:pt>
                <c:pt idx="2">
                  <c:v>110.2087156676724</c:v>
                </c:pt>
                <c:pt idx="3">
                  <c:v>96.99399670285234</c:v>
                </c:pt>
                <c:pt idx="4">
                  <c:v>99.59874335127064</c:v>
                </c:pt>
                <c:pt idx="5">
                  <c:v>100.0</c:v>
                </c:pt>
                <c:pt idx="6">
                  <c:v>104.67448443186413</c:v>
                </c:pt>
              </c:numCache>
            </c:numRef>
          </c:val>
          <c:smooth val="0"/>
        </c:ser>
        <c:marker val="1"/>
        <c:smooth val="0"/>
        <c:axId val="2118791784"/>
        <c:axId val="2140495176"/>
      </c:lineChart>
      <c:catAx>
        <c:axId val="2118791784"/>
        <c:scaling>
          <c:orientation val="minMax"/>
        </c:scaling>
        <c:delete val="0"/>
        <c:axPos val="b"/>
        <c:majorGridlines>
          <c:spPr>
            <a:ln w="6350">
              <a:solidFill>
                <a:srgbClr val="D8D8D8"/>
              </a:solidFill>
            </a:ln>
          </c:spPr>
        </c:majorGridlines>
        <c:majorTickMark val="out"/>
        <c:minorTickMark val="none"/>
        <c:tickLblPos val="nextTo"/>
        <c:spPr>
          <a:ln w="6350">
            <a:solidFill>
              <a:srgbClr val="767676"/>
            </a:solidFill>
          </a:ln>
        </c:spPr>
        <c:txPr>
          <a:bodyPr/>
          <a:lstStyle/>
          <a:p>
            <a:pPr>
              <a:defRPr sz="1000">
                <a:solidFill>
                  <a:srgbClr val="404040"/>
                </a:solidFill>
                <a:latin typeface="Lato"/>
              </a:defRPr>
            </a:pPr>
          </a:p>
        </c:txPr>
        <c:crossAx val="2140495176"/>
        <c:crosses val="autoZero"/>
        <c:auto val="1"/>
        <c:lblAlgn val="ctr"/>
        <c:lblOffset val="100"/>
        <c:tickLblSkip val="2"/>
        <c:noMultiLvlLbl val="0"/>
      </c:catAx>
      <c:valAx>
        <c:axId val="2140495176"/>
        <c:scaling>
          <c:max val="120.0"/>
          <c:min val="0.0"/>
        </c:scaling>
        <c:delete val="0"/>
        <c:axPos val="l"/>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000">
                <a:solidFill>
                  <a:srgbClr val="404040"/>
                </a:solidFill>
                <a:latin typeface="Lato"/>
              </a:defRPr>
            </a:pPr>
          </a:p>
        </c:txPr>
        <c:crossAx val="2118791784"/>
        <c:crosses val="autoZero"/>
        <c:majorUnit val="100.0"/>
      </c:valAx>
    </c:plotArea>
    <c:plotVisOnly val="1"/>
    <c:dispBlanksAs val="gap"/>
    <c:showDLblsOverMax val="0"/>
  </c:chart>
  <c:txPr>
    <a:bodyPr/>
    <a:lstStyle/>
    <a:p>
      <a:pPr>
        <a:defRPr sz="1800"/>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1"/>
    <c:plotArea>
      <c:layout>
        <c:manualLayout>
          <c:layoutTarget val="inner"/>
          <c:xMode val="factor"/>
          <c:yMode val="factor"/>
          <c:wMode val="factor"/>
          <c:hMode val="factor"/>
          <c:x val="0.09"/>
          <c:y val="0.06"/>
          <c:w val="0.89"/>
          <c:h val="0.62"/>
        </c:manualLayout>
      </c:layout>
      <c:lineChart>
        <c:grouping val="standard"/>
        <c:varyColors val="0"/>
        <c:ser>
          <c:idx val="0"/>
          <c:order val="0"/>
          <c:tx>
            <c:strRef>
              <c:f>Sheet1!$B$1</c:f>
              <c:strCache>
                <c:ptCount val="1"/>
                <c:pt idx="0">
                  <c:v>Agriculture / forestry / fishing</c:v>
                </c:pt>
              </c:strCache>
            </c:strRef>
          </c:tx>
          <c:spPr>
            <a:solidFill>
              <a:srgbClr val="0A2373"/>
            </a:solidFill>
            <a:ln w="22860">
              <a:solidFill>
                <a:srgbClr val="0A2373"/>
              </a:solidFill>
            </a:ln>
          </c:spPr>
          <c:marker>
            <c:symbol val="none"/>
          </c:marker>
          <c:cat>
            <c:strRef>
              <c:f>Sheet1!$A$2:$A$8</c:f>
              <c:strCache>
                <c:ptCount val="7"/>
                <c:pt idx="0">
                  <c:v>2019</c:v>
                </c:pt>
                <c:pt idx="1">
                  <c:v>2020</c:v>
                </c:pt>
                <c:pt idx="2">
                  <c:v>2021</c:v>
                </c:pt>
                <c:pt idx="3">
                  <c:v>2022</c:v>
                </c:pt>
                <c:pt idx="4">
                  <c:v>2023</c:v>
                </c:pt>
                <c:pt idx="5">
                  <c:v>2024</c:v>
                </c:pt>
                <c:pt idx="6">
                  <c:v>2025</c:v>
                </c:pt>
              </c:strCache>
            </c:strRef>
          </c:cat>
          <c:val>
            <c:numRef>
              <c:f>Sheet1!$B$2:$B$8</c:f>
              <c:numCache>
                <c:formatCode>General</c:formatCode>
                <c:ptCount val="7"/>
                <c:pt idx="0">
                  <c:v>91.28256704153631</c:v>
                </c:pt>
                <c:pt idx="1">
                  <c:v>107.03749574390915</c:v>
                </c:pt>
                <c:pt idx="2">
                  <c:v>112.36278804898116</c:v>
                </c:pt>
                <c:pt idx="3">
                  <c:v>114.79114653534522</c:v>
                </c:pt>
                <c:pt idx="4">
                  <c:v>109.54337771922417</c:v>
                </c:pt>
                <c:pt idx="5">
                  <c:v>100.0</c:v>
                </c:pt>
                <c:pt idx="6">
                  <c:v>117.4273182810752</c:v>
                </c:pt>
              </c:numCache>
            </c:numRef>
          </c:val>
          <c:smooth val="0"/>
        </c:ser>
        <c:marker val="1"/>
        <c:smooth val="0"/>
        <c:axId val="2118791784"/>
        <c:axId val="2140495176"/>
      </c:lineChart>
      <c:catAx>
        <c:axId val="2118791784"/>
        <c:scaling>
          <c:orientation val="minMax"/>
        </c:scaling>
        <c:delete val="0"/>
        <c:axPos val="b"/>
        <c:majorGridlines>
          <c:spPr>
            <a:ln w="6350">
              <a:solidFill>
                <a:srgbClr val="D8D8D8"/>
              </a:solidFill>
            </a:ln>
          </c:spPr>
        </c:majorGridlines>
        <c:majorTickMark val="out"/>
        <c:minorTickMark val="none"/>
        <c:tickLblPos val="nextTo"/>
        <c:spPr>
          <a:ln w="6350">
            <a:solidFill>
              <a:srgbClr val="767676"/>
            </a:solidFill>
          </a:ln>
        </c:spPr>
        <c:txPr>
          <a:bodyPr/>
          <a:lstStyle/>
          <a:p>
            <a:pPr>
              <a:defRPr sz="1000">
                <a:solidFill>
                  <a:srgbClr val="404040"/>
                </a:solidFill>
                <a:latin typeface="Lato"/>
              </a:defRPr>
            </a:pPr>
          </a:p>
        </c:txPr>
        <c:crossAx val="2140495176"/>
        <c:crosses val="autoZero"/>
        <c:auto val="1"/>
        <c:lblAlgn val="ctr"/>
        <c:lblOffset val="100"/>
        <c:tickLblSkip val="2"/>
        <c:noMultiLvlLbl val="0"/>
      </c:catAx>
      <c:valAx>
        <c:axId val="2140495176"/>
        <c:scaling>
          <c:max val="120.0"/>
          <c:min val="0.0"/>
        </c:scaling>
        <c:delete val="0"/>
        <c:axPos val="l"/>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000">
                <a:solidFill>
                  <a:srgbClr val="404040"/>
                </a:solidFill>
                <a:latin typeface="Lato"/>
              </a:defRPr>
            </a:pPr>
          </a:p>
        </c:txPr>
        <c:crossAx val="2118791784"/>
        <c:crosses val="autoZero"/>
        <c:majorUnit val="100.0"/>
      </c:valAx>
    </c:plotArea>
    <c:plotVisOnly val="1"/>
    <c:dispBlanksAs val="gap"/>
    <c:showDLblsOverMax val="0"/>
  </c:chart>
  <c:txPr>
    <a:bodyPr/>
    <a:lstStyle/>
    <a:p>
      <a:pPr>
        <a:defRPr sz="1800"/>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autoTitleDeleted val="1"/>
    <c:plotArea>
      <c:layout>
        <c:manualLayout>
          <c:layoutTarget val="inner"/>
          <c:xMode val="factor"/>
          <c:yMode val="factor"/>
          <c:wMode val="factor"/>
          <c:hMode val="factor"/>
          <c:x val="0.09"/>
          <c:y val="0.06"/>
          <c:w val="0.89"/>
          <c:h val="0.62"/>
        </c:manualLayout>
      </c:layout>
      <c:lineChart>
        <c:grouping val="standard"/>
        <c:varyColors val="0"/>
        <c:ser>
          <c:idx val="0"/>
          <c:order val="0"/>
          <c:tx>
            <c:strRef>
              <c:f>Sheet1!$B$1</c:f>
              <c:strCache>
                <c:ptCount val="1"/>
                <c:pt idx="0">
                  <c:v>Manufacturing</c:v>
                </c:pt>
              </c:strCache>
            </c:strRef>
          </c:tx>
          <c:spPr>
            <a:solidFill>
              <a:srgbClr val="0A2373"/>
            </a:solidFill>
            <a:ln w="22860">
              <a:solidFill>
                <a:srgbClr val="0A2373"/>
              </a:solidFill>
            </a:ln>
          </c:spPr>
          <c:marker>
            <c:symbol val="none"/>
          </c:marker>
          <c:cat>
            <c:strRef>
              <c:f>Sheet1!$A$2:$A$8</c:f>
              <c:strCache>
                <c:ptCount val="7"/>
                <c:pt idx="0">
                  <c:v>2019</c:v>
                </c:pt>
                <c:pt idx="1">
                  <c:v>2020</c:v>
                </c:pt>
                <c:pt idx="2">
                  <c:v>2021</c:v>
                </c:pt>
                <c:pt idx="3">
                  <c:v>2022</c:v>
                </c:pt>
                <c:pt idx="4">
                  <c:v>2023</c:v>
                </c:pt>
                <c:pt idx="5">
                  <c:v>2024</c:v>
                </c:pt>
                <c:pt idx="6">
                  <c:v>2025</c:v>
                </c:pt>
              </c:strCache>
            </c:strRef>
          </c:cat>
          <c:val>
            <c:numRef>
              <c:f>Sheet1!$B$2:$B$8</c:f>
              <c:numCache>
                <c:formatCode>General</c:formatCode>
                <c:ptCount val="7"/>
                <c:pt idx="0">
                  <c:v>107.12500000000001</c:v>
                </c:pt>
                <c:pt idx="1">
                  <c:v>93.92857142857144</c:v>
                </c:pt>
                <c:pt idx="2">
                  <c:v>99.76785714285717</c:v>
                </c:pt>
                <c:pt idx="3">
                  <c:v>99.79464285714286</c:v>
                </c:pt>
                <c:pt idx="4">
                  <c:v>100.41071428571428</c:v>
                </c:pt>
                <c:pt idx="5">
                  <c:v>99.99999999999999</c:v>
                </c:pt>
                <c:pt idx="6">
                  <c:v>98.72321428571428</c:v>
                </c:pt>
              </c:numCache>
            </c:numRef>
          </c:val>
          <c:smooth val="0"/>
        </c:ser>
        <c:marker val="1"/>
        <c:smooth val="0"/>
        <c:axId val="2118791784"/>
        <c:axId val="2140495176"/>
      </c:lineChart>
      <c:catAx>
        <c:axId val="2118791784"/>
        <c:scaling>
          <c:orientation val="minMax"/>
        </c:scaling>
        <c:delete val="0"/>
        <c:axPos val="b"/>
        <c:majorGridlines>
          <c:spPr>
            <a:ln w="6350">
              <a:solidFill>
                <a:srgbClr val="D8D8D8"/>
              </a:solidFill>
            </a:ln>
          </c:spPr>
        </c:majorGridlines>
        <c:majorTickMark val="out"/>
        <c:minorTickMark val="none"/>
        <c:tickLblPos val="nextTo"/>
        <c:spPr>
          <a:ln w="6350">
            <a:solidFill>
              <a:srgbClr val="767676"/>
            </a:solidFill>
          </a:ln>
        </c:spPr>
        <c:txPr>
          <a:bodyPr/>
          <a:lstStyle/>
          <a:p>
            <a:pPr>
              <a:defRPr sz="1000">
                <a:solidFill>
                  <a:srgbClr val="404040"/>
                </a:solidFill>
                <a:latin typeface="Lato"/>
              </a:defRPr>
            </a:pPr>
          </a:p>
        </c:txPr>
        <c:crossAx val="2140495176"/>
        <c:crosses val="autoZero"/>
        <c:auto val="1"/>
        <c:lblAlgn val="ctr"/>
        <c:lblOffset val="100"/>
        <c:tickLblSkip val="2"/>
        <c:noMultiLvlLbl val="0"/>
      </c:catAx>
      <c:valAx>
        <c:axId val="2140495176"/>
        <c:scaling>
          <c:max val="120.0"/>
          <c:min val="0.0"/>
        </c:scaling>
        <c:delete val="0"/>
        <c:axPos val="l"/>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000">
                <a:solidFill>
                  <a:srgbClr val="404040"/>
                </a:solidFill>
                <a:latin typeface="Lato"/>
              </a:defRPr>
            </a:pPr>
          </a:p>
        </c:txPr>
        <c:crossAx val="2118791784"/>
        <c:crosses val="autoZero"/>
        <c:majorUnit val="100.0"/>
      </c:valAx>
    </c:plotArea>
    <c:plotVisOnly val="1"/>
    <c:dispBlanksAs val="gap"/>
    <c:showDLblsOverMax val="0"/>
  </c:chart>
  <c:txPr>
    <a:bodyPr/>
    <a:lstStyle/>
    <a:p>
      <a:pPr>
        <a:defRPr sz="1800"/>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autoTitleDeleted val="1"/>
    <c:plotArea>
      <c:layout>
        <c:manualLayout>
          <c:layoutTarget val="inner"/>
          <c:xMode val="factor"/>
          <c:yMode val="factor"/>
          <c:wMode val="factor"/>
          <c:hMode val="factor"/>
          <c:x val="0.09"/>
          <c:y val="0.06"/>
          <c:w val="0.89"/>
          <c:h val="0.62"/>
        </c:manualLayout>
      </c:layout>
      <c:lineChart>
        <c:grouping val="standard"/>
        <c:varyColors val="0"/>
        <c:ser>
          <c:idx val="0"/>
          <c:order val="0"/>
          <c:tx>
            <c:strRef>
              <c:f>Sheet1!$B$1</c:f>
              <c:strCache>
                <c:ptCount val="1"/>
                <c:pt idx="0">
                  <c:v>Mining</c:v>
                </c:pt>
              </c:strCache>
            </c:strRef>
          </c:tx>
          <c:spPr>
            <a:solidFill>
              <a:srgbClr val="0A2373"/>
            </a:solidFill>
            <a:ln w="22860">
              <a:solidFill>
                <a:srgbClr val="0A2373"/>
              </a:solidFill>
            </a:ln>
          </c:spPr>
          <c:marker>
            <c:symbol val="none"/>
          </c:marker>
          <c:cat>
            <c:strRef>
              <c:f>Sheet1!$A$2:$A$8</c:f>
              <c:strCache>
                <c:ptCount val="7"/>
                <c:pt idx="0">
                  <c:v>2019</c:v>
                </c:pt>
                <c:pt idx="1">
                  <c:v>2020</c:v>
                </c:pt>
                <c:pt idx="2">
                  <c:v>2021</c:v>
                </c:pt>
                <c:pt idx="3">
                  <c:v>2022</c:v>
                </c:pt>
                <c:pt idx="4">
                  <c:v>2023</c:v>
                </c:pt>
                <c:pt idx="5">
                  <c:v>2024</c:v>
                </c:pt>
                <c:pt idx="6">
                  <c:v>2025</c:v>
                </c:pt>
              </c:strCache>
            </c:strRef>
          </c:cat>
          <c:val>
            <c:numRef>
              <c:f>Sheet1!$B$2:$B$8</c:f>
              <c:numCache>
                <c:formatCode>General</c:formatCode>
                <c:ptCount val="7"/>
                <c:pt idx="0">
                  <c:v>106.895937277263</c:v>
                </c:pt>
                <c:pt idx="1">
                  <c:v>95.26015680684247</c:v>
                </c:pt>
                <c:pt idx="2">
                  <c:v>107.84925160370634</c:v>
                </c:pt>
                <c:pt idx="3">
                  <c:v>99.43870277975763</c:v>
                </c:pt>
                <c:pt idx="4">
                  <c:v>99.44761225944403</c:v>
                </c:pt>
                <c:pt idx="5">
                  <c:v>100.0</c:v>
                </c:pt>
                <c:pt idx="6">
                  <c:v>100.18709907341409</c:v>
                </c:pt>
              </c:numCache>
            </c:numRef>
          </c:val>
          <c:smooth val="0"/>
        </c:ser>
        <c:marker val="1"/>
        <c:smooth val="0"/>
        <c:axId val="2118791784"/>
        <c:axId val="2140495176"/>
      </c:lineChart>
      <c:catAx>
        <c:axId val="2118791784"/>
        <c:scaling>
          <c:orientation val="minMax"/>
        </c:scaling>
        <c:delete val="0"/>
        <c:axPos val="b"/>
        <c:majorGridlines>
          <c:spPr>
            <a:ln w="6350">
              <a:solidFill>
                <a:srgbClr val="D8D8D8"/>
              </a:solidFill>
            </a:ln>
          </c:spPr>
        </c:majorGridlines>
        <c:majorTickMark val="out"/>
        <c:minorTickMark val="none"/>
        <c:tickLblPos val="nextTo"/>
        <c:spPr>
          <a:ln w="6350">
            <a:solidFill>
              <a:srgbClr val="767676"/>
            </a:solidFill>
          </a:ln>
        </c:spPr>
        <c:txPr>
          <a:bodyPr/>
          <a:lstStyle/>
          <a:p>
            <a:pPr>
              <a:defRPr sz="1000">
                <a:solidFill>
                  <a:srgbClr val="404040"/>
                </a:solidFill>
                <a:latin typeface="Lato"/>
              </a:defRPr>
            </a:pPr>
          </a:p>
        </c:txPr>
        <c:crossAx val="2140495176"/>
        <c:crosses val="autoZero"/>
        <c:auto val="1"/>
        <c:lblAlgn val="ctr"/>
        <c:lblOffset val="100"/>
        <c:tickLblSkip val="2"/>
        <c:noMultiLvlLbl val="0"/>
      </c:catAx>
      <c:valAx>
        <c:axId val="2140495176"/>
        <c:scaling>
          <c:max val="120.0"/>
          <c:min val="0.0"/>
        </c:scaling>
        <c:delete val="0"/>
        <c:axPos val="l"/>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000">
                <a:solidFill>
                  <a:srgbClr val="404040"/>
                </a:solidFill>
                <a:latin typeface="Lato"/>
              </a:defRPr>
            </a:pPr>
          </a:p>
        </c:txPr>
        <c:crossAx val="2118791784"/>
        <c:crosses val="autoZero"/>
        <c:majorUnit val="100.0"/>
      </c:valAx>
    </c:plotArea>
    <c:plotVisOnly val="1"/>
    <c:dispBlanksAs val="gap"/>
    <c:showDLblsOverMax val="0"/>
  </c:chart>
  <c:txPr>
    <a:bodyPr/>
    <a:lstStyle/>
    <a:p>
      <a:pPr>
        <a:defRPr sz="1800"/>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chart>
    <c:autoTitleDeleted val="1"/>
    <c:plotArea>
      <c:layout>
        <c:manualLayout>
          <c:layoutTarget val="inner"/>
          <c:xMode val="factor"/>
          <c:yMode val="factor"/>
          <c:wMode val="factor"/>
          <c:hMode val="factor"/>
          <c:x val="0.09"/>
          <c:y val="0.06"/>
          <c:w val="0.89"/>
          <c:h val="0.62"/>
        </c:manualLayout>
      </c:layout>
      <c:lineChart>
        <c:grouping val="standard"/>
        <c:varyColors val="0"/>
        <c:ser>
          <c:idx val="0"/>
          <c:order val="0"/>
          <c:tx>
            <c:strRef>
              <c:f>Sheet1!$B$1</c:f>
              <c:strCache>
                <c:ptCount val="1"/>
                <c:pt idx="0">
                  <c:v>Eskom + IPP</c:v>
                </c:pt>
              </c:strCache>
            </c:strRef>
          </c:tx>
          <c:spPr>
            <a:solidFill>
              <a:srgbClr val="0A2373"/>
            </a:solidFill>
            <a:ln w="22860">
              <a:solidFill>
                <a:srgbClr val="0A2373"/>
              </a:solidFill>
            </a:ln>
          </c:spPr>
          <c:marker>
            <c:symbol val="none"/>
          </c:marker>
          <c:cat>
            <c:strRef>
              <c:f>Sheet1!$A$2:$A$5</c:f>
              <c:strCache>
                <c:ptCount val="4"/>
                <c:pt idx="0">
                  <c:v>2023</c:v>
                </c:pt>
                <c:pt idx="1">
                  <c:v>2024</c:v>
                </c:pt>
                <c:pt idx="2">
                  <c:v>2025</c:v>
                </c:pt>
                <c:pt idx="3">
                  <c:v>2026</c:v>
                </c:pt>
              </c:strCache>
            </c:strRef>
          </c:cat>
          <c:val>
            <c:numRef>
              <c:f>Sheet1!$B$2:$B$5</c:f>
              <c:numCache>
                <c:formatCode>General</c:formatCode>
                <c:ptCount val="4"/>
                <c:pt idx="0">
                  <c:v>80.03111024693759</c:v>
                </c:pt>
                <c:pt idx="1">
                  <c:v>100.0</c:v>
                </c:pt>
                <c:pt idx="2">
                  <c:v>55.18180050554151</c:v>
                </c:pt>
                <c:pt idx="3">
                  <c:v>20.97997277853393</c:v>
                </c:pt>
              </c:numCache>
            </c:numRef>
          </c:val>
          <c:smooth val="0"/>
        </c:ser>
        <c:marker val="1"/>
        <c:smooth val="0"/>
        <c:axId val="2118791784"/>
        <c:axId val="2140495176"/>
      </c:lineChart>
      <c:catAx>
        <c:axId val="2118791784"/>
        <c:scaling>
          <c:orientation val="minMax"/>
        </c:scaling>
        <c:delete val="0"/>
        <c:axPos val="b"/>
        <c:majorGridlines>
          <c:spPr>
            <a:ln w="6350">
              <a:solidFill>
                <a:srgbClr val="D8D8D8"/>
              </a:solidFill>
            </a:ln>
          </c:spPr>
        </c:majorGridlines>
        <c:majorTickMark val="out"/>
        <c:minorTickMark val="none"/>
        <c:tickLblPos val="nextTo"/>
        <c:spPr>
          <a:ln w="6350">
            <a:solidFill>
              <a:srgbClr val="767676"/>
            </a:solidFill>
          </a:ln>
        </c:spPr>
        <c:txPr>
          <a:bodyPr/>
          <a:lstStyle/>
          <a:p>
            <a:pPr>
              <a:defRPr sz="1000">
                <a:solidFill>
                  <a:srgbClr val="404040"/>
                </a:solidFill>
                <a:latin typeface="Lato"/>
              </a:defRPr>
            </a:pPr>
          </a:p>
        </c:txPr>
        <c:crossAx val="2140495176"/>
        <c:crosses val="autoZero"/>
        <c:auto val="1"/>
        <c:lblAlgn val="ctr"/>
        <c:lblOffset val="100"/>
        <c:tickLblSkip val="1"/>
        <c:noMultiLvlLbl val="0"/>
      </c:catAx>
      <c:valAx>
        <c:axId val="2140495176"/>
        <c:scaling>
          <c:max val="120.0"/>
          <c:min val="0.0"/>
        </c:scaling>
        <c:delete val="0"/>
        <c:axPos val="l"/>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000">
                <a:solidFill>
                  <a:srgbClr val="404040"/>
                </a:solidFill>
                <a:latin typeface="Lato"/>
              </a:defRPr>
            </a:pPr>
          </a:p>
        </c:txPr>
        <c:crossAx val="2118791784"/>
        <c:crosses val="autoZero"/>
        <c:majorUnit val="100.0"/>
      </c:valAx>
    </c:plotArea>
    <c:plotVisOnly val="1"/>
    <c:dispBlanksAs val="gap"/>
    <c:showDLblsOverMax val="0"/>
  </c:chart>
  <c:txPr>
    <a:bodyPr/>
    <a:lstStyle/>
    <a:p>
      <a:pPr>
        <a:defRPr sz="1800"/>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chart>
    <c:autoTitleDeleted val="1"/>
    <c:plotArea>
      <c:layout>
        <c:manualLayout>
          <c:layoutTarget val="inner"/>
          <c:xMode val="factor"/>
          <c:yMode val="factor"/>
          <c:wMode val="factor"/>
          <c:hMode val="factor"/>
          <c:x val="0.09"/>
          <c:y val="0.06"/>
          <c:w val="0.89"/>
          <c:h val="0.62"/>
        </c:manualLayout>
      </c:layout>
      <c:lineChart>
        <c:grouping val="standard"/>
        <c:varyColors val="0"/>
        <c:ser>
          <c:idx val="0"/>
          <c:order val="0"/>
          <c:tx>
            <c:strRef>
              <c:f>Sheet1!$B$1</c:f>
              <c:strCache>
                <c:ptCount val="1"/>
                <c:pt idx="0">
                  <c:v>BEV</c:v>
                </c:pt>
              </c:strCache>
            </c:strRef>
          </c:tx>
          <c:spPr>
            <a:solidFill>
              <a:srgbClr val="0A2373"/>
            </a:solidFill>
            <a:ln w="22860">
              <a:solidFill>
                <a:srgbClr val="0A2373"/>
              </a:solidFill>
            </a:ln>
          </c:spPr>
          <c:marker>
            <c:symbol val="none"/>
          </c:marker>
          <c:cat>
            <c:strRef>
              <c:f>Sheet1!$A$2:$A$8</c:f>
              <c:strCache>
                <c:ptCount val="7"/>
                <c:pt idx="0">
                  <c:v>2019</c:v>
                </c:pt>
                <c:pt idx="1">
                  <c:v>2020</c:v>
                </c:pt>
                <c:pt idx="2">
                  <c:v>2021</c:v>
                </c:pt>
                <c:pt idx="3">
                  <c:v>2022</c:v>
                </c:pt>
                <c:pt idx="4">
                  <c:v>2023</c:v>
                </c:pt>
                <c:pt idx="5">
                  <c:v>2024</c:v>
                </c:pt>
                <c:pt idx="6">
                  <c:v>2025</c:v>
                </c:pt>
              </c:strCache>
            </c:strRef>
          </c:cat>
          <c:val>
            <c:numRef>
              <c:f>Sheet1!$B$2:$B$8</c:f>
              <c:numCache>
                <c:formatCode>General</c:formatCode>
                <c:ptCount val="7"/>
                <c:pt idx="0">
                  <c:v>12.251392203659506</c:v>
                </c:pt>
                <c:pt idx="1">
                  <c:v>7.319013524264121</c:v>
                </c:pt>
                <c:pt idx="2">
                  <c:v>17.342879872712807</c:v>
                </c:pt>
                <c:pt idx="3">
                  <c:v>39.93635640413683</c:v>
                </c:pt>
                <c:pt idx="4">
                  <c:v>73.90612569610182</c:v>
                </c:pt>
                <c:pt idx="5">
                  <c:v>100.0</c:v>
                </c:pt>
                <c:pt idx="6">
                  <c:v>86.55529037390613</c:v>
                </c:pt>
              </c:numCache>
            </c:numRef>
          </c:val>
          <c:smooth val="0"/>
        </c:ser>
        <c:ser>
          <c:idx val="1"/>
          <c:order val="1"/>
          <c:tx>
            <c:strRef>
              <c:f>Sheet1!$C$1</c:f>
              <c:strCache>
                <c:ptCount val="1"/>
                <c:pt idx="0">
                  <c:v>Plug-in hybrid</c:v>
                </c:pt>
              </c:strCache>
            </c:strRef>
          </c:tx>
          <c:spPr>
            <a:solidFill>
              <a:srgbClr val="546CA2"/>
            </a:solidFill>
            <a:ln w="22860">
              <a:solidFill>
                <a:srgbClr val="546CA2"/>
              </a:solidFill>
            </a:ln>
          </c:spPr>
          <c:marker>
            <c:symbol val="none"/>
          </c:marker>
          <c:cat>
            <c:strRef>
              <c:f>Sheet1!$A$2:$A$8</c:f>
              <c:strCache>
                <c:ptCount val="7"/>
                <c:pt idx="0">
                  <c:v>2019</c:v>
                </c:pt>
                <c:pt idx="1">
                  <c:v>2020</c:v>
                </c:pt>
                <c:pt idx="2">
                  <c:v>2021</c:v>
                </c:pt>
                <c:pt idx="3">
                  <c:v>2022</c:v>
                </c:pt>
                <c:pt idx="4">
                  <c:v>2023</c:v>
                </c:pt>
                <c:pt idx="5">
                  <c:v>2024</c:v>
                </c:pt>
                <c:pt idx="6">
                  <c:v>2025</c:v>
                </c:pt>
              </c:strCache>
            </c:strRef>
          </c:cat>
          <c:val>
            <c:numRef>
              <c:f>Sheet1!$C$2:$C$8</c:f>
              <c:numCache>
                <c:formatCode>General</c:formatCode>
                <c:ptCount val="7"/>
                <c:pt idx="0">
                  <c:v>9.75609756097561</c:v>
                </c:pt>
                <c:pt idx="1">
                  <c:v>10.433604336043361</c:v>
                </c:pt>
                <c:pt idx="2">
                  <c:v>6.9105691056910565</c:v>
                </c:pt>
                <c:pt idx="3">
                  <c:v>16.531165311653115</c:v>
                </c:pt>
                <c:pt idx="4">
                  <c:v>49.86449864498645</c:v>
                </c:pt>
                <c:pt idx="5">
                  <c:v>100.0</c:v>
                </c:pt>
                <c:pt idx="6">
                  <c:v>380.75880758807585</c:v>
                </c:pt>
              </c:numCache>
            </c:numRef>
          </c:val>
          <c:smooth val="0"/>
        </c:ser>
        <c:ser>
          <c:idx val="2"/>
          <c:order val="2"/>
          <c:tx>
            <c:strRef>
              <c:f>Sheet1!$D$1</c:f>
              <c:strCache>
                <c:ptCount val="1"/>
                <c:pt idx="0">
                  <c:v>Hybrid</c:v>
                </c:pt>
              </c:strCache>
            </c:strRef>
          </c:tx>
          <c:spPr>
            <a:solidFill>
              <a:srgbClr val="404040"/>
            </a:solidFill>
            <a:ln w="22860">
              <a:solidFill>
                <a:srgbClr val="000000"/>
              </a:solidFill>
            </a:ln>
          </c:spPr>
          <c:marker>
            <c:symbol val="none"/>
          </c:marker>
          <c:cat>
            <c:strRef>
              <c:f>Sheet1!$A$2:$A$8</c:f>
              <c:strCache>
                <c:ptCount val="7"/>
                <c:pt idx="0">
                  <c:v>2019</c:v>
                </c:pt>
                <c:pt idx="1">
                  <c:v>2020</c:v>
                </c:pt>
                <c:pt idx="2">
                  <c:v>2021</c:v>
                </c:pt>
                <c:pt idx="3">
                  <c:v>2022</c:v>
                </c:pt>
                <c:pt idx="4">
                  <c:v>2023</c:v>
                </c:pt>
                <c:pt idx="5">
                  <c:v>2024</c:v>
                </c:pt>
                <c:pt idx="6">
                  <c:v>2025</c:v>
                </c:pt>
              </c:strCache>
            </c:strRef>
          </c:cat>
          <c:val>
            <c:numRef>
              <c:f>Sheet1!$D$2:$D$8</c:f>
              <c:numCache>
                <c:formatCode>General</c:formatCode>
                <c:ptCount val="7"/>
                <c:pt idx="0">
                  <c:v>1.3293184488836662</c:v>
                </c:pt>
                <c:pt idx="1">
                  <c:v>1.1383666274970623</c:v>
                </c:pt>
                <c:pt idx="2">
                  <c:v>4.604876615746181</c:v>
                </c:pt>
                <c:pt idx="3">
                  <c:v>29.891304347826086</c:v>
                </c:pt>
                <c:pt idx="4">
                  <c:v>47.62779083431257</c:v>
                </c:pt>
                <c:pt idx="5">
                  <c:v>100.0</c:v>
                </c:pt>
                <c:pt idx="6">
                  <c:v>94.13924794359578</c:v>
                </c:pt>
              </c:numCache>
            </c:numRef>
          </c:val>
          <c:smooth val="0"/>
        </c:ser>
        <c:marker val="1"/>
        <c:smooth val="0"/>
        <c:axId val="2118791784"/>
        <c:axId val="2140495176"/>
      </c:lineChart>
      <c:catAx>
        <c:axId val="2118791784"/>
        <c:scaling>
          <c:orientation val="minMax"/>
        </c:scaling>
        <c:delete val="0"/>
        <c:axPos val="b"/>
        <c:majorGridlines>
          <c:spPr>
            <a:ln w="6350">
              <a:solidFill>
                <a:srgbClr val="D8D8D8"/>
              </a:solidFill>
            </a:ln>
          </c:spPr>
        </c:majorGridlines>
        <c:majorTickMark val="out"/>
        <c:minorTickMark val="none"/>
        <c:tickLblPos val="nextTo"/>
        <c:spPr>
          <a:ln w="6350">
            <a:solidFill>
              <a:srgbClr val="767676"/>
            </a:solidFill>
          </a:ln>
        </c:spPr>
        <c:txPr>
          <a:bodyPr/>
          <a:lstStyle/>
          <a:p>
            <a:pPr>
              <a:defRPr sz="1000">
                <a:solidFill>
                  <a:srgbClr val="404040"/>
                </a:solidFill>
                <a:latin typeface="Lato"/>
              </a:defRPr>
            </a:pPr>
          </a:p>
        </c:txPr>
        <c:crossAx val="2140495176"/>
        <c:crosses val="autoZero"/>
        <c:auto val="1"/>
        <c:lblAlgn val="ctr"/>
        <c:lblOffset val="100"/>
        <c:tickLblSkip val="2"/>
        <c:noMultiLvlLbl val="0"/>
      </c:catAx>
      <c:valAx>
        <c:axId val="2140495176"/>
        <c:scaling>
          <c:max val="400.0"/>
          <c:min val="0.0"/>
        </c:scaling>
        <c:delete val="0"/>
        <c:axPos val="l"/>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000">
                <a:solidFill>
                  <a:srgbClr val="404040"/>
                </a:solidFill>
                <a:latin typeface="Lato"/>
              </a:defRPr>
            </a:pPr>
          </a:p>
        </c:txPr>
        <c:crossAx val="2118791784"/>
        <c:crosses val="autoZero"/>
        <c:majorUnit val="200.0"/>
      </c:valAx>
    </c:plotArea>
    <c:plotVisOnly val="1"/>
    <c:dispBlanksAs val="gap"/>
    <c:showDLblsOverMax val="0"/>
  </c:chart>
  <c:txPr>
    <a:bodyPr/>
    <a:lstStyle/>
    <a:p>
      <a:pPr>
        <a:defRPr sz="1800"/>
      </a:pPr>
      <a:endParaRPr lang="en-US"/>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chart>
    <c:autoTitleDeleted val="1"/>
    <c:plotArea>
      <c:layout>
        <c:manualLayout>
          <c:layoutTarget val="inner"/>
          <c:xMode val="factor"/>
          <c:yMode val="factor"/>
          <c:wMode val="factor"/>
          <c:hMode val="factor"/>
          <c:x val="0.09"/>
          <c:y val="0.06"/>
          <c:w val="0.89"/>
          <c:h val="0.62"/>
        </c:manualLayout>
      </c:layout>
      <c:lineChart>
        <c:grouping val="standard"/>
        <c:varyColors val="0"/>
        <c:ser>
          <c:idx val="0"/>
          <c:order val="0"/>
          <c:tx>
            <c:strRef>
              <c:f>Sheet1!$B$1</c:f>
              <c:strCache>
                <c:ptCount val="1"/>
                <c:pt idx="0">
                  <c:v>Petrol retail</c:v>
                </c:pt>
              </c:strCache>
            </c:strRef>
          </c:tx>
          <c:spPr>
            <a:solidFill>
              <a:srgbClr val="0A2373"/>
            </a:solidFill>
            <a:ln w="22860">
              <a:solidFill>
                <a:srgbClr val="0A2373"/>
              </a:solidFill>
            </a:ln>
          </c:spPr>
          <c:marker>
            <c:symbol val="none"/>
          </c:marker>
          <c:cat>
            <c:strRef>
              <c:f>Sheet1!$A$2:$A$8</c:f>
              <c:strCache>
                <c:ptCount val="7"/>
                <c:pt idx="0">
                  <c:v>2019</c:v>
                </c:pt>
                <c:pt idx="1">
                  <c:v>2020</c:v>
                </c:pt>
                <c:pt idx="2">
                  <c:v>2021</c:v>
                </c:pt>
                <c:pt idx="3">
                  <c:v>2022</c:v>
                </c:pt>
                <c:pt idx="4">
                  <c:v>2023</c:v>
                </c:pt>
                <c:pt idx="5">
                  <c:v>2024</c:v>
                </c:pt>
                <c:pt idx="6">
                  <c:v>2025</c:v>
                </c:pt>
              </c:strCache>
            </c:strRef>
          </c:cat>
          <c:val>
            <c:numRef>
              <c:f>Sheet1!$B$2:$B$8</c:f>
              <c:numCache>
                <c:formatCode>General</c:formatCode>
                <c:ptCount val="7"/>
                <c:pt idx="0">
                  <c:v>15.735</c:v>
                </c:pt>
                <c:pt idx="1">
                  <c:v>14.749166666666667</c:v>
                </c:pt>
                <c:pt idx="2">
                  <c:v>17.56</c:v>
                </c:pt>
                <c:pt idx="3">
                  <c:v>22.795833333333334</c:v>
                </c:pt>
                <c:pt idx="4">
                  <c:v>23.135833333333334</c:v>
                </c:pt>
                <c:pt idx="5">
                  <c:v>23.118333333333336</c:v>
                </c:pt>
                <c:pt idx="6">
                  <c:v>21.656666666666666</c:v>
                </c:pt>
              </c:numCache>
            </c:numRef>
          </c:val>
          <c:smooth val="0"/>
        </c:ser>
        <c:ser>
          <c:idx val="1"/>
          <c:order val="1"/>
          <c:tx>
            <c:strRef>
              <c:f>Sheet1!$C$1</c:f>
              <c:strCache>
                <c:ptCount val="1"/>
                <c:pt idx="0">
                  <c:v>Diesel wholesale</c:v>
                </c:pt>
              </c:strCache>
            </c:strRef>
          </c:tx>
          <c:spPr>
            <a:solidFill>
              <a:srgbClr val="546CA2"/>
            </a:solidFill>
            <a:ln w="22860">
              <a:solidFill>
                <a:srgbClr val="546CA2"/>
              </a:solidFill>
            </a:ln>
          </c:spPr>
          <c:marker>
            <c:symbol val="none"/>
          </c:marker>
          <c:cat>
            <c:strRef>
              <c:f>Sheet1!$A$2:$A$8</c:f>
              <c:strCache>
                <c:ptCount val="7"/>
                <c:pt idx="0">
                  <c:v>2019</c:v>
                </c:pt>
                <c:pt idx="1">
                  <c:v>2020</c:v>
                </c:pt>
                <c:pt idx="2">
                  <c:v>2021</c:v>
                </c:pt>
                <c:pt idx="3">
                  <c:v>2022</c:v>
                </c:pt>
                <c:pt idx="4">
                  <c:v>2023</c:v>
                </c:pt>
                <c:pt idx="5">
                  <c:v>2024</c:v>
                </c:pt>
                <c:pt idx="6">
                  <c:v>2025</c:v>
                </c:pt>
              </c:strCache>
            </c:strRef>
          </c:cat>
          <c:val>
            <c:numRef>
              <c:f>Sheet1!$C$2:$C$8</c:f>
              <c:numCache>
                <c:formatCode>General</c:formatCode>
                <c:ptCount val="7"/>
                <c:pt idx="0">
                  <c:v>14.395650000000002</c:v>
                </c:pt>
                <c:pt idx="1">
                  <c:v>12.933066666666667</c:v>
                </c:pt>
                <c:pt idx="2">
                  <c:v>15.140133333333333</c:v>
                </c:pt>
                <c:pt idx="3">
                  <c:v>22.353425</c:v>
                </c:pt>
                <c:pt idx="4">
                  <c:v>21.524150000000002</c:v>
                </c:pt>
                <c:pt idx="5">
                  <c:v>20.5782</c:v>
                </c:pt>
                <c:pt idx="6">
                  <c:v>19.46715</c:v>
                </c:pt>
              </c:numCache>
            </c:numRef>
          </c:val>
          <c:smooth val="0"/>
        </c:ser>
        <c:marker val="1"/>
        <c:smooth val="0"/>
        <c:axId val="2118791784"/>
        <c:axId val="2140495176"/>
      </c:lineChart>
      <c:catAx>
        <c:axId val="2118791784"/>
        <c:scaling>
          <c:orientation val="minMax"/>
        </c:scaling>
        <c:delete val="0"/>
        <c:axPos val="b"/>
        <c:majorGridlines>
          <c:spPr>
            <a:ln w="6350">
              <a:solidFill>
                <a:srgbClr val="D8D8D8"/>
              </a:solidFill>
            </a:ln>
          </c:spPr>
        </c:majorGridlines>
        <c:majorTickMark val="out"/>
        <c:minorTickMark val="none"/>
        <c:tickLblPos val="nextTo"/>
        <c:spPr>
          <a:ln w="6350">
            <a:solidFill>
              <a:srgbClr val="767676"/>
            </a:solidFill>
          </a:ln>
        </c:spPr>
        <c:txPr>
          <a:bodyPr/>
          <a:lstStyle/>
          <a:p>
            <a:pPr>
              <a:defRPr sz="1000">
                <a:solidFill>
                  <a:srgbClr val="404040"/>
                </a:solidFill>
                <a:latin typeface="Lato"/>
              </a:defRPr>
            </a:pPr>
          </a:p>
        </c:txPr>
        <c:crossAx val="2140495176"/>
        <c:crosses val="autoZero"/>
        <c:auto val="1"/>
        <c:lblAlgn val="ctr"/>
        <c:lblOffset val="100"/>
        <c:tickLblSkip val="2"/>
        <c:noMultiLvlLbl val="0"/>
      </c:catAx>
      <c:valAx>
        <c:axId val="2140495176"/>
        <c:scaling>
          <c:max val="30.0"/>
          <c:min val="0.0"/>
        </c:scaling>
        <c:delete val="0"/>
        <c:axPos val="l"/>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000">
                <a:solidFill>
                  <a:srgbClr val="404040"/>
                </a:solidFill>
                <a:latin typeface="Lato"/>
              </a:defRPr>
            </a:pPr>
          </a:p>
        </c:txPr>
        <c:crossAx val="2118791784"/>
        <c:crosses val="autoZero"/>
        <c:majorUnit val="15.0"/>
      </c:valAx>
    </c:plotArea>
    <c:plotVisOnly val="1"/>
    <c:dispBlanksAs val="gap"/>
    <c:showDLblsOverMax val="0"/>
  </c:chart>
  <c:txPr>
    <a:bodyPr/>
    <a:lstStyle/>
    <a:p>
      <a:pPr>
        <a:defRPr sz="1800"/>
      </a:pPr>
      <a:endParaRPr lang="en-US"/>
    </a:p>
  </c:tx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Reported sales</c:v>
                </c:pt>
              </c:strCache>
            </c:strRef>
          </c:tx>
          <c:spPr>
            <a:solidFill>
              <a:srgbClr val="0A2373"/>
            </a:solidFill>
            <a:ln>
              <a:noFill/>
            </a:ln>
          </c:spPr>
          <c:cat>
            <c:strRef>
              <c:f>Sheet1!$A$2:$A$3</c:f>
              <c:strCache>
                <c:ptCount val="2"/>
                <c:pt idx="0">
                  <c:v>Petrol</c:v>
                </c:pt>
                <c:pt idx="1">
                  <c:v>Diesel</c:v>
                </c:pt>
              </c:strCache>
            </c:strRef>
          </c:cat>
          <c:val>
            <c:numRef>
              <c:f>Sheet1!$B$2:$B$3</c:f>
              <c:numCache>
                <c:formatCode>General</c:formatCode>
                <c:ptCount val="2"/>
                <c:pt idx="0">
                  <c:v>9.029</c:v>
                </c:pt>
                <c:pt idx="1">
                  <c:v>11.734</c:v>
                </c:pt>
              </c:numCache>
            </c:numRef>
          </c:val>
        </c:ser>
        <c:ser>
          <c:idx val="1"/>
          <c:order val="1"/>
          <c:tx>
            <c:strRef>
              <c:f>Sheet1!$C$1</c:f>
              <c:strCache>
                <c:ptCount val="1"/>
                <c:pt idx="0">
                  <c:v>Imports</c:v>
                </c:pt>
              </c:strCache>
            </c:strRef>
          </c:tx>
          <c:spPr>
            <a:solidFill>
              <a:srgbClr val="546CA2"/>
            </a:solidFill>
            <a:ln>
              <a:noFill/>
            </a:ln>
          </c:spPr>
          <c:cat>
            <c:strRef>
              <c:f>Sheet1!$A$2:$A$3</c:f>
              <c:strCache>
                <c:ptCount val="2"/>
                <c:pt idx="0">
                  <c:v>Petrol</c:v>
                </c:pt>
                <c:pt idx="1">
                  <c:v>Diesel</c:v>
                </c:pt>
              </c:strCache>
            </c:strRef>
          </c:cat>
          <c:val>
            <c:numRef>
              <c:f>Sheet1!$C$2:$C$3</c:f>
              <c:numCache>
                <c:formatCode>General</c:formatCode>
                <c:ptCount val="2"/>
                <c:pt idx="0">
                  <c:v>4.00085443345</c:v>
                </c:pt>
                <c:pt idx="1">
                  <c:v>10.792547134049999</c:v>
                </c:pt>
              </c:numCache>
            </c:numRef>
          </c:val>
        </c:ser>
        <c:ser>
          <c:idx val="2"/>
          <c:order val="2"/>
          <c:tx>
            <c:strRef>
              <c:f>Sheet1!$D$1</c:f>
              <c:strCache>
                <c:ptCount val="1"/>
                <c:pt idx="0">
                  <c:v>Exports</c:v>
                </c:pt>
              </c:strCache>
            </c:strRef>
          </c:tx>
          <c:spPr>
            <a:solidFill>
              <a:srgbClr val="EEEEEE"/>
            </a:solidFill>
            <a:ln>
              <a:noFill/>
            </a:ln>
          </c:spPr>
          <c:cat>
            <c:strRef>
              <c:f>Sheet1!$A$2:$A$3</c:f>
              <c:strCache>
                <c:ptCount val="2"/>
                <c:pt idx="0">
                  <c:v>Petrol</c:v>
                </c:pt>
                <c:pt idx="1">
                  <c:v>Diesel</c:v>
                </c:pt>
              </c:strCache>
            </c:strRef>
          </c:cat>
          <c:val>
            <c:numRef>
              <c:f>Sheet1!$D$2:$D$3</c:f>
              <c:numCache>
                <c:formatCode>General</c:formatCode>
                <c:ptCount val="2"/>
                <c:pt idx="0">
                  <c:v>0.91974501589</c:v>
                </c:pt>
                <c:pt idx="1">
                  <c:v>0.79583467852</c:v>
                </c:pt>
              </c:numCache>
            </c:numRef>
          </c:val>
        </c:ser>
        <c:dLbls>
          <c:numFmt formatCode="0.000" sourceLinked="0"/>
          <c:txPr>
            <a:bodyPr/>
            <a:lstStyle/>
            <a:p>
              <a:pPr>
                <a:defRPr sz="1200">
                  <a:solidFill>
                    <a:srgbClr val="000000"/>
                  </a:solidFill>
                  <a:latin typeface="Lato"/>
                </a:defRPr>
              </a:pPr>
            </a:p>
          </c:txPr>
          <c:dLblPos val="outEnd"/>
          <c:showLegendKey val="0"/>
          <c:showVal val="1"/>
          <c:showCatName val="0"/>
          <c:showSerName val="0"/>
          <c:showPercent val="0"/>
          <c:showBubbleSize val="0"/>
          <c:showLeaderLines val="1"/>
        </c:dLbls>
        <c:gapWidth val="55"/>
        <c:axId val="-2068027336"/>
        <c:axId val="-2113994440"/>
      </c:barChart>
      <c:catAx>
        <c:axId val="-2068027336"/>
        <c:scaling>
          <c:orientation val="minMax"/>
        </c:scaling>
        <c:delete val="0"/>
        <c:axPos val="l"/>
        <c:majorGridlines>
          <c:spPr>
            <a:ln w="6350">
              <a:solidFill>
                <a:srgbClr val="D8D8D8"/>
              </a:solidFill>
            </a:ln>
          </c:spPr>
        </c:majorGridlines>
        <c:majorTickMark val="out"/>
        <c:minorTickMark val="none"/>
        <c:tickLblPos val="nextTo"/>
        <c:spPr>
          <a:ln w="6350">
            <a:solidFill>
              <a:srgbClr val="767676"/>
            </a:solidFill>
          </a:ln>
        </c:spPr>
        <c:txPr>
          <a:bodyPr/>
          <a:lstStyle/>
          <a:p>
            <a:pPr>
              <a:defRPr sz="1100">
                <a:solidFill>
                  <a:srgbClr val="404040"/>
                </a:solidFill>
                <a:latin typeface="Lato"/>
              </a:defRPr>
            </a:pPr>
          </a:p>
        </c:txPr>
        <c:crossAx val="-2113994440"/>
        <c:crosses val="autoZero"/>
        <c:auto val="1"/>
        <c:lblAlgn val="ctr"/>
        <c:lblOffset val="100"/>
        <c:noMultiLvlLbl val="0"/>
      </c:catAx>
      <c:valAx>
        <c:axId val="-2113994440"/>
        <c:scaling>
          <c:max val="14.0"/>
          <c:min val="0.0"/>
        </c:scaling>
        <c:delete val="0"/>
        <c:axPos val="b"/>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100">
                <a:solidFill>
                  <a:srgbClr val="404040"/>
                </a:solidFill>
                <a:latin typeface="Lato"/>
              </a:defRPr>
            </a:pPr>
          </a:p>
        </c:txPr>
        <c:crossAx val="-2068027336"/>
        <c:crosses val="autoZero"/>
        <c:majorUnit val="2.0"/>
      </c:valAx>
    </c:plotArea>
    <c:dispBlanksAs val="gap"/>
  </c:chart>
  <c:txPr>
    <a:bodyPr/>
    <a:lstStyle/>
    <a:p>
      <a:pPr>
        <a:defRPr sz="1800"/>
      </a:pPr>
      <a:endParaRPr lang="en-US"/>
    </a:p>
  </c:tx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areaChart>
        <c:grouping val="stacked"/>
        <c:varyColors val="0"/>
        <c:ser>
          <c:idx val="0"/>
          <c:order val="0"/>
          <c:tx>
            <c:strRef>
              <c:f>Sheet1!$B$1</c:f>
              <c:strCache>
                <c:ptCount val="1"/>
                <c:pt idx="0">
                  <c:v>Reported footprint / held flat</c:v>
                </c:pt>
              </c:strCache>
            </c:strRef>
          </c:tx>
          <c:spPr>
            <a:solidFill>
              <a:srgbClr val="0A2373"/>
            </a:solidFill>
            <a:ln>
              <a:solidFill>
                <a:srgbClr val="0A2373"/>
              </a:solidFill>
            </a:ln>
          </c:spPr>
          <c:cat>
            <c:strRef>
              <c:f>Sheet1!$A$2:$A$22</c:f>
              <c:strCache>
                <c:ptCount val="21"/>
                <c:pt idx="0">
                  <c:v>2016</c:v>
                </c:pt>
                <c:pt idx="1">
                  <c:v>2017</c:v>
                </c:pt>
                <c:pt idx="2">
                  <c:v>2018</c:v>
                </c:pt>
                <c:pt idx="3">
                  <c:v>2019</c:v>
                </c:pt>
                <c:pt idx="4">
                  <c:v>2020</c:v>
                </c:pt>
                <c:pt idx="5">
                  <c:v>2021</c:v>
                </c:pt>
                <c:pt idx="6">
                  <c:v>2022</c:v>
                </c:pt>
                <c:pt idx="7">
                  <c:v>2023</c:v>
                </c:pt>
                <c:pt idx="8">
                  <c:v>2024</c:v>
                </c:pt>
                <c:pt idx="9">
                  <c:v>2025</c:v>
                </c:pt>
                <c:pt idx="10">
                  <c:v>2026</c:v>
                </c:pt>
                <c:pt idx="11">
                  <c:v>2027</c:v>
                </c:pt>
                <c:pt idx="12">
                  <c:v>2028</c:v>
                </c:pt>
                <c:pt idx="13">
                  <c:v>2029</c:v>
                </c:pt>
                <c:pt idx="14">
                  <c:v>2030</c:v>
                </c:pt>
                <c:pt idx="15">
                  <c:v>2031</c:v>
                </c:pt>
                <c:pt idx="16">
                  <c:v>2032</c:v>
                </c:pt>
                <c:pt idx="17">
                  <c:v>2033</c:v>
                </c:pt>
                <c:pt idx="18">
                  <c:v>2034</c:v>
                </c:pt>
                <c:pt idx="19">
                  <c:v>2035</c:v>
                </c:pt>
                <c:pt idx="20">
                  <c:v>2036</c:v>
                </c:pt>
              </c:strCache>
            </c:strRef>
          </c:cat>
          <c:val>
            <c:numRef>
              <c:f>Sheet1!$B$2:$B$22</c:f>
              <c:numCache>
                <c:formatCode>General</c:formatCode>
                <c:ptCount val="21"/>
                <c:pt idx="0">
                  <c:v>718.0</c:v>
                </c:pt>
                <c:pt idx="1">
                  <c:v>718.0</c:v>
                </c:pt>
                <c:pt idx="2">
                  <c:v>718.0</c:v>
                </c:pt>
                <c:pt idx="3">
                  <c:v>718.0</c:v>
                </c:pt>
                <c:pt idx="4">
                  <c:v>718.0</c:v>
                </c:pt>
                <c:pt idx="5">
                  <c:v>538.0</c:v>
                </c:pt>
                <c:pt idx="6">
                  <c:v>358.0</c:v>
                </c:pt>
                <c:pt idx="7">
                  <c:v>358.0</c:v>
                </c:pt>
                <c:pt idx="8">
                  <c:v>358.0</c:v>
                </c:pt>
                <c:pt idx="9">
                  <c:v>358.0</c:v>
                </c:pt>
                <c:pt idx="10">
                  <c:v>358.0</c:v>
                </c:pt>
                <c:pt idx="11">
                  <c:v>358.0</c:v>
                </c:pt>
                <c:pt idx="12">
                  <c:v>358.0</c:v>
                </c:pt>
                <c:pt idx="13">
                  <c:v>358.0</c:v>
                </c:pt>
                <c:pt idx="14">
                  <c:v>358.0</c:v>
                </c:pt>
                <c:pt idx="15">
                  <c:v>358.0</c:v>
                </c:pt>
                <c:pt idx="16">
                  <c:v>358.0</c:v>
                </c:pt>
                <c:pt idx="17">
                  <c:v>358.0</c:v>
                </c:pt>
                <c:pt idx="18">
                  <c:v>358.0</c:v>
                </c:pt>
                <c:pt idx="19">
                  <c:v>358.0</c:v>
                </c:pt>
                <c:pt idx="20">
                  <c:v>358.0</c:v>
                </c:pt>
              </c:numCache>
            </c:numRef>
          </c:val>
        </c:ser>
        <c:ser>
          <c:idx val="1"/>
          <c:order val="1"/>
          <c:tx>
            <c:strRef>
              <c:f>Sheet1!$C$1</c:f>
              <c:strCache>
                <c:ptCount val="1"/>
                <c:pt idx="0">
                  <c:v>Conditional addition</c:v>
                </c:pt>
              </c:strCache>
            </c:strRef>
          </c:tx>
          <c:spPr>
            <a:solidFill>
              <a:srgbClr val="546CA2"/>
            </a:solidFill>
            <a:ln>
              <a:solidFill>
                <a:srgbClr val="546CA2"/>
              </a:solidFill>
            </a:ln>
          </c:spPr>
          <c:cat>
            <c:strRef>
              <c:f>Sheet1!$A$2:$A$22</c:f>
              <c:strCache>
                <c:ptCount val="21"/>
                <c:pt idx="0">
                  <c:v>2016</c:v>
                </c:pt>
                <c:pt idx="1">
                  <c:v>2017</c:v>
                </c:pt>
                <c:pt idx="2">
                  <c:v>2018</c:v>
                </c:pt>
                <c:pt idx="3">
                  <c:v>2019</c:v>
                </c:pt>
                <c:pt idx="4">
                  <c:v>2020</c:v>
                </c:pt>
                <c:pt idx="5">
                  <c:v>2021</c:v>
                </c:pt>
                <c:pt idx="6">
                  <c:v>2022</c:v>
                </c:pt>
                <c:pt idx="7">
                  <c:v>2023</c:v>
                </c:pt>
                <c:pt idx="8">
                  <c:v>2024</c:v>
                </c:pt>
                <c:pt idx="9">
                  <c:v>2025</c:v>
                </c:pt>
                <c:pt idx="10">
                  <c:v>2026</c:v>
                </c:pt>
                <c:pt idx="11">
                  <c:v>2027</c:v>
                </c:pt>
                <c:pt idx="12">
                  <c:v>2028</c:v>
                </c:pt>
                <c:pt idx="13">
                  <c:v>2029</c:v>
                </c:pt>
                <c:pt idx="14">
                  <c:v>2030</c:v>
                </c:pt>
                <c:pt idx="15">
                  <c:v>2031</c:v>
                </c:pt>
                <c:pt idx="16">
                  <c:v>2032</c:v>
                </c:pt>
                <c:pt idx="17">
                  <c:v>2033</c:v>
                </c:pt>
                <c:pt idx="18">
                  <c:v>2034</c:v>
                </c:pt>
                <c:pt idx="19">
                  <c:v>2035</c:v>
                </c:pt>
                <c:pt idx="20">
                  <c:v>2036</c:v>
                </c:pt>
              </c:strCache>
            </c:strRef>
          </c:cat>
          <c:val>
            <c:numRef>
              <c:f>Sheet1!$C$2:$C$22</c:f>
              <c:numCache>
                <c:formatCode>General</c:formatCode>
                <c:ptCount val="21"/>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numCache>
            </c:numRef>
          </c:val>
        </c:ser>
        <c:dLbls>
          <c:showLegendKey val="0"/>
          <c:showVal val="0"/>
          <c:showCatName val="0"/>
          <c:showSerName val="0"/>
          <c:showPercent val="0"/>
          <c:showBubbleSize val="0"/>
        </c:dLbls>
        <c:axId val="-2101159928"/>
        <c:axId val="-2100718248"/>
      </c:areaChart>
      <c:catAx>
        <c:axId val="-2101159928"/>
        <c:scaling>
          <c:orientation val="minMax"/>
        </c:scaling>
        <c:delete val="0"/>
        <c:axPos val="b"/>
        <c:majorGridlines>
          <c:spPr>
            <a:ln w="6350">
              <a:solidFill>
                <a:srgbClr val="D8D8D8"/>
              </a:solidFill>
            </a:ln>
          </c:spPr>
        </c:majorGridlines>
        <c:numFmt formatCode="General" sourceLinked="1"/>
        <c:majorTickMark val="out"/>
        <c:minorTickMark val="none"/>
        <c:tickLblPos val="nextTo"/>
        <c:spPr>
          <a:ln w="6350">
            <a:solidFill>
              <a:srgbClr val="767676"/>
            </a:solidFill>
          </a:ln>
        </c:spPr>
        <c:txPr>
          <a:bodyPr/>
          <a:lstStyle/>
          <a:p>
            <a:pPr>
              <a:defRPr sz="1100">
                <a:solidFill>
                  <a:srgbClr val="404040"/>
                </a:solidFill>
                <a:latin typeface="Lato"/>
              </a:defRPr>
            </a:pPr>
          </a:p>
        </c:txPr>
        <c:crossAx val="-2100718248"/>
        <c:crosses val="autoZero"/>
        <c:auto val="1"/>
        <c:lblAlgn val="ctr"/>
        <c:lblOffset val="100"/>
        <c:tickLblSkip val="4"/>
        <c:noMultiLvlLbl val="0"/>
      </c:catAx>
      <c:valAx>
        <c:axId val="-2100718248"/>
        <c:scaling>
          <c:orientation val="minMax"/>
          <c:max val="800.0"/>
          <c:min val="0.0"/>
        </c:scaling>
        <c:delete val="0"/>
        <c:axPos val="l"/>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100">
                <a:solidFill>
                  <a:srgbClr val="404040"/>
                </a:solidFill>
                <a:latin typeface="Lato"/>
              </a:defRPr>
            </a:pPr>
          </a:p>
        </c:txPr>
        <c:crossAx val="-2101159928"/>
        <c:crosses val="autoZero"/>
        <c:crossBetween val="midCat"/>
        <c:majorUnit val="200.0"/>
      </c:valAx>
    </c:plotArea>
    <c:plotVisOnly val="1"/>
    <c:dispBlanksAs val="zero"/>
    <c:showDLblsOverMax val="0"/>
  </c:chart>
  <c:txPr>
    <a:bodyPr/>
    <a:lstStyle/>
    <a:p>
      <a:pPr>
        <a:defRPr sz="1800"/>
      </a:pPr>
      <a:endParaRPr/>
    </a:p>
  </c:tx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areaChart>
        <c:grouping val="stacked"/>
        <c:varyColors val="0"/>
        <c:ser>
          <c:idx val="0"/>
          <c:order val="0"/>
          <c:tx>
            <c:strRef>
              <c:f>Sheet1!$B$1</c:f>
              <c:strCache>
                <c:ptCount val="1"/>
                <c:pt idx="0">
                  <c:v>Reported footprint / held flat</c:v>
                </c:pt>
              </c:strCache>
            </c:strRef>
          </c:tx>
          <c:spPr>
            <a:solidFill>
              <a:srgbClr val="0A2373"/>
            </a:solidFill>
            <a:ln>
              <a:solidFill>
                <a:srgbClr val="0A2373"/>
              </a:solidFill>
            </a:ln>
          </c:spPr>
          <c:cat>
            <c:strRef>
              <c:f>Sheet1!$A$2:$A$22</c:f>
              <c:strCache>
                <c:ptCount val="21"/>
                <c:pt idx="0">
                  <c:v>2016</c:v>
                </c:pt>
                <c:pt idx="1">
                  <c:v>2017</c:v>
                </c:pt>
                <c:pt idx="2">
                  <c:v>2018</c:v>
                </c:pt>
                <c:pt idx="3">
                  <c:v>2019</c:v>
                </c:pt>
                <c:pt idx="4">
                  <c:v>2020</c:v>
                </c:pt>
                <c:pt idx="5">
                  <c:v>2021</c:v>
                </c:pt>
                <c:pt idx="6">
                  <c:v>2022</c:v>
                </c:pt>
                <c:pt idx="7">
                  <c:v>2023</c:v>
                </c:pt>
                <c:pt idx="8">
                  <c:v>2024</c:v>
                </c:pt>
                <c:pt idx="9">
                  <c:v>2025</c:v>
                </c:pt>
                <c:pt idx="10">
                  <c:v>2026</c:v>
                </c:pt>
                <c:pt idx="11">
                  <c:v>2027</c:v>
                </c:pt>
                <c:pt idx="12">
                  <c:v>2028</c:v>
                </c:pt>
                <c:pt idx="13">
                  <c:v>2029</c:v>
                </c:pt>
                <c:pt idx="14">
                  <c:v>2030</c:v>
                </c:pt>
                <c:pt idx="15">
                  <c:v>2031</c:v>
                </c:pt>
                <c:pt idx="16">
                  <c:v>2032</c:v>
                </c:pt>
                <c:pt idx="17">
                  <c:v>2033</c:v>
                </c:pt>
                <c:pt idx="18">
                  <c:v>2034</c:v>
                </c:pt>
                <c:pt idx="19">
                  <c:v>2035</c:v>
                </c:pt>
                <c:pt idx="20">
                  <c:v>2036</c:v>
                </c:pt>
              </c:strCache>
            </c:strRef>
          </c:cat>
          <c:val>
            <c:numRef>
              <c:f>Sheet1!$B$2:$B$22</c:f>
              <c:numCache>
                <c:formatCode>General</c:formatCode>
                <c:ptCount val="21"/>
                <c:pt idx="0">
                  <c:v>718.0</c:v>
                </c:pt>
                <c:pt idx="1">
                  <c:v>718.0</c:v>
                </c:pt>
                <c:pt idx="2">
                  <c:v>718.0</c:v>
                </c:pt>
                <c:pt idx="3">
                  <c:v>718.0</c:v>
                </c:pt>
                <c:pt idx="4">
                  <c:v>718.0</c:v>
                </c:pt>
                <c:pt idx="5">
                  <c:v>538.0</c:v>
                </c:pt>
                <c:pt idx="6">
                  <c:v>358.0</c:v>
                </c:pt>
                <c:pt idx="7">
                  <c:v>358.0</c:v>
                </c:pt>
                <c:pt idx="8">
                  <c:v>358.0</c:v>
                </c:pt>
                <c:pt idx="9">
                  <c:v>358.0</c:v>
                </c:pt>
                <c:pt idx="10">
                  <c:v>358.0</c:v>
                </c:pt>
                <c:pt idx="11">
                  <c:v>358.0</c:v>
                </c:pt>
                <c:pt idx="12">
                  <c:v>358.0</c:v>
                </c:pt>
                <c:pt idx="13">
                  <c:v>358.0</c:v>
                </c:pt>
                <c:pt idx="14">
                  <c:v>358.0</c:v>
                </c:pt>
                <c:pt idx="15">
                  <c:v>358.0</c:v>
                </c:pt>
                <c:pt idx="16">
                  <c:v>358.0</c:v>
                </c:pt>
                <c:pt idx="17">
                  <c:v>358.0</c:v>
                </c:pt>
                <c:pt idx="18">
                  <c:v>358.0</c:v>
                </c:pt>
                <c:pt idx="19">
                  <c:v>358.0</c:v>
                </c:pt>
                <c:pt idx="20">
                  <c:v>358.0</c:v>
                </c:pt>
              </c:numCache>
            </c:numRef>
          </c:val>
        </c:ser>
        <c:ser>
          <c:idx val="1"/>
          <c:order val="1"/>
          <c:tx>
            <c:strRef>
              <c:f>Sheet1!$C$1</c:f>
              <c:strCache>
                <c:ptCount val="1"/>
                <c:pt idx="0">
                  <c:v>Conditional addition</c:v>
                </c:pt>
              </c:strCache>
            </c:strRef>
          </c:tx>
          <c:spPr>
            <a:solidFill>
              <a:srgbClr val="546CA2"/>
            </a:solidFill>
            <a:ln>
              <a:solidFill>
                <a:srgbClr val="546CA2"/>
              </a:solidFill>
            </a:ln>
          </c:spPr>
          <c:cat>
            <c:strRef>
              <c:f>Sheet1!$A$2:$A$22</c:f>
              <c:strCache>
                <c:ptCount val="21"/>
                <c:pt idx="0">
                  <c:v>2016</c:v>
                </c:pt>
                <c:pt idx="1">
                  <c:v>2017</c:v>
                </c:pt>
                <c:pt idx="2">
                  <c:v>2018</c:v>
                </c:pt>
                <c:pt idx="3">
                  <c:v>2019</c:v>
                </c:pt>
                <c:pt idx="4">
                  <c:v>2020</c:v>
                </c:pt>
                <c:pt idx="5">
                  <c:v>2021</c:v>
                </c:pt>
                <c:pt idx="6">
                  <c:v>2022</c:v>
                </c:pt>
                <c:pt idx="7">
                  <c:v>2023</c:v>
                </c:pt>
                <c:pt idx="8">
                  <c:v>2024</c:v>
                </c:pt>
                <c:pt idx="9">
                  <c:v>2025</c:v>
                </c:pt>
                <c:pt idx="10">
                  <c:v>2026</c:v>
                </c:pt>
                <c:pt idx="11">
                  <c:v>2027</c:v>
                </c:pt>
                <c:pt idx="12">
                  <c:v>2028</c:v>
                </c:pt>
                <c:pt idx="13">
                  <c:v>2029</c:v>
                </c:pt>
                <c:pt idx="14">
                  <c:v>2030</c:v>
                </c:pt>
                <c:pt idx="15">
                  <c:v>2031</c:v>
                </c:pt>
                <c:pt idx="16">
                  <c:v>2032</c:v>
                </c:pt>
                <c:pt idx="17">
                  <c:v>2033</c:v>
                </c:pt>
                <c:pt idx="18">
                  <c:v>2034</c:v>
                </c:pt>
                <c:pt idx="19">
                  <c:v>2035</c:v>
                </c:pt>
                <c:pt idx="20">
                  <c:v>2036</c:v>
                </c:pt>
              </c:strCache>
            </c:strRef>
          </c:cat>
          <c:val>
            <c:numRef>
              <c:f>Sheet1!$C$2:$C$22</c:f>
              <c:numCache>
                <c:formatCode>General</c:formatCode>
                <c:ptCount val="21"/>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400.0</c:v>
                </c:pt>
                <c:pt idx="18">
                  <c:v>400.0</c:v>
                </c:pt>
                <c:pt idx="19">
                  <c:v>400.0</c:v>
                </c:pt>
                <c:pt idx="20">
                  <c:v>400.0</c:v>
                </c:pt>
              </c:numCache>
            </c:numRef>
          </c:val>
        </c:ser>
        <c:dLbls>
          <c:showLegendKey val="0"/>
          <c:showVal val="0"/>
          <c:showCatName val="0"/>
          <c:showSerName val="0"/>
          <c:showPercent val="0"/>
          <c:showBubbleSize val="0"/>
        </c:dLbls>
        <c:axId val="-2101159928"/>
        <c:axId val="-2100718248"/>
      </c:areaChart>
      <c:catAx>
        <c:axId val="-2101159928"/>
        <c:scaling>
          <c:orientation val="minMax"/>
        </c:scaling>
        <c:delete val="0"/>
        <c:axPos val="b"/>
        <c:majorGridlines>
          <c:spPr>
            <a:ln w="6350">
              <a:solidFill>
                <a:srgbClr val="D8D8D8"/>
              </a:solidFill>
            </a:ln>
          </c:spPr>
        </c:majorGridlines>
        <c:numFmt formatCode="General" sourceLinked="1"/>
        <c:majorTickMark val="out"/>
        <c:minorTickMark val="none"/>
        <c:tickLblPos val="nextTo"/>
        <c:spPr>
          <a:ln w="6350">
            <a:solidFill>
              <a:srgbClr val="767676"/>
            </a:solidFill>
          </a:ln>
        </c:spPr>
        <c:txPr>
          <a:bodyPr/>
          <a:lstStyle/>
          <a:p>
            <a:pPr>
              <a:defRPr sz="1100">
                <a:solidFill>
                  <a:srgbClr val="404040"/>
                </a:solidFill>
                <a:latin typeface="Lato"/>
              </a:defRPr>
            </a:pPr>
          </a:p>
        </c:txPr>
        <c:crossAx val="-2100718248"/>
        <c:crosses val="autoZero"/>
        <c:auto val="1"/>
        <c:lblAlgn val="ctr"/>
        <c:lblOffset val="100"/>
        <c:tickLblSkip val="4"/>
        <c:noMultiLvlLbl val="0"/>
      </c:catAx>
      <c:valAx>
        <c:axId val="-2100718248"/>
        <c:scaling>
          <c:orientation val="minMax"/>
          <c:max val="800.0"/>
          <c:min val="0.0"/>
        </c:scaling>
        <c:delete val="0"/>
        <c:axPos val="l"/>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100">
                <a:solidFill>
                  <a:srgbClr val="404040"/>
                </a:solidFill>
                <a:latin typeface="Lato"/>
              </a:defRPr>
            </a:pPr>
          </a:p>
        </c:txPr>
        <c:crossAx val="-2101159928"/>
        <c:crosses val="autoZero"/>
        <c:crossBetween val="midCat"/>
        <c:majorUnit val="200.0"/>
      </c:valAx>
    </c:plotArea>
    <c:plotVisOnly val="1"/>
    <c:dispBlanksAs val="zero"/>
    <c:showDLblsOverMax val="0"/>
  </c:chart>
  <c:txPr>
    <a:bodyPr/>
    <a:lstStyle/>
    <a:p>
      <a:pPr>
        <a:defRPr sz="1800"/>
      </a:pPr>
      <a:endParaRPr/>
    </a:p>
  </c:tx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Working inventory</c:v>
                </c:pt>
              </c:strCache>
            </c:strRef>
          </c:tx>
          <c:spPr>
            <a:solidFill>
              <a:srgbClr val="0A2373"/>
            </a:solidFill>
            <a:ln>
              <a:noFill/>
            </a:ln>
          </c:spPr>
          <c:cat>
            <c:strRef>
              <c:f>Sheet1!$A$2:$A$5</c:f>
              <c:strCache>
                <c:ptCount val="4"/>
                <c:pt idx="0">
                  <c:v>7 days</c:v>
                </c:pt>
                <c:pt idx="1">
                  <c:v>14 days</c:v>
                </c:pt>
                <c:pt idx="2">
                  <c:v>21 days</c:v>
                </c:pt>
                <c:pt idx="3">
                  <c:v>28 days</c:v>
                </c:pt>
              </c:strCache>
            </c:strRef>
          </c:cat>
          <c:val>
            <c:numRef>
              <c:f>Sheet1!$B$2:$B$5</c:f>
              <c:numCache>
                <c:formatCode>General</c:formatCode>
                <c:ptCount val="4"/>
                <c:pt idx="0">
                  <c:v>105.47945205479452</c:v>
                </c:pt>
                <c:pt idx="1">
                  <c:v>210.95890410958904</c:v>
                </c:pt>
                <c:pt idx="2">
                  <c:v>316.43835616438355</c:v>
                </c:pt>
                <c:pt idx="3">
                  <c:v>421.9178082191781</c:v>
                </c:pt>
              </c:numCache>
            </c:numRef>
          </c:val>
        </c:ser>
        <c:dLbls>
          <c:numFmt formatCode="0" sourceLinked="0"/>
          <c:txPr>
            <a:bodyPr/>
            <a:lstStyle/>
            <a:p>
              <a:pPr>
                <a:defRPr sz="1200">
                  <a:solidFill>
                    <a:srgbClr val="000000"/>
                  </a:solidFill>
                  <a:latin typeface="Lato"/>
                </a:defRPr>
              </a:pPr>
            </a:p>
          </c:txPr>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Gridlines>
          <c:spPr>
            <a:ln w="6350">
              <a:solidFill>
                <a:srgbClr val="D8D8D8"/>
              </a:solidFill>
            </a:ln>
          </c:spPr>
        </c:majorGridlines>
        <c:majorTickMark val="out"/>
        <c:minorTickMark val="none"/>
        <c:tickLblPos val="nextTo"/>
        <c:spPr>
          <a:ln w="6350">
            <a:solidFill>
              <a:srgbClr val="767676"/>
            </a:solidFill>
          </a:ln>
        </c:spPr>
        <c:txPr>
          <a:bodyPr/>
          <a:lstStyle/>
          <a:p>
            <a:pPr>
              <a:defRPr sz="1200">
                <a:solidFill>
                  <a:srgbClr val="404040"/>
                </a:solidFill>
                <a:latin typeface="Lato"/>
              </a:defRPr>
            </a:pPr>
          </a:p>
        </c:txPr>
        <c:crossAx val="-2113994440"/>
        <c:crosses val="autoZero"/>
        <c:auto val="1"/>
        <c:lblAlgn val="ctr"/>
        <c:lblOffset val="100"/>
        <c:noMultiLvlLbl val="0"/>
      </c:catAx>
      <c:valAx>
        <c:axId val="-2113994440"/>
        <c:scaling>
          <c:max val="500.0"/>
          <c:min val="0.0"/>
        </c:scaling>
        <c:delete val="0"/>
        <c:axPos val="l"/>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200">
                <a:solidFill>
                  <a:srgbClr val="404040"/>
                </a:solidFill>
                <a:latin typeface="Lato"/>
              </a:defRPr>
            </a:pPr>
          </a:p>
        </c:txPr>
        <c:crossAx val="-2068027336"/>
        <c:crosses val="autoZero"/>
        <c:majorUnit val="100.0"/>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D47D6B1-D525-4628-ADA5-8E1FE74ADA4C}" type="datetimeFigureOut">
              <a:rPr lang="en-GB" smtClean="0"/>
              <a:t>01/10/2026</a:t>
            </a:fld>
            <a:endParaRPr lang="en-GB"/>
          </a:p>
        </p:txBody>
      </p:sp>
      <p:sp>
        <p:nvSpPr>
          <p:cNvPr id="4" name="Slide Image Placeholder 3"/>
          <p:cNvSpPr>
            <a:spLocks noGrp="1" noRot="1" noChangeAspect="1"/>
          </p:cNvSpPr>
          <p:nvPr>
            <p:ph type="sldImg" idx="2"/>
          </p:nvPr>
        </p:nvSpPr>
        <p:spPr>
          <a:xfrm>
            <a:off x="820738" y="1143000"/>
            <a:ext cx="5216525"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4101EB5-DFDD-47C4-B7E0-8A018260211B}" type="slidenum">
              <a:rPr lang="en-GB" smtClean="0"/>
              <a:t>‹#›</a:t>
            </a:fld>
            <a:endParaRPr lang="en-GB"/>
          </a:p>
        </p:txBody>
      </p:sp>
    </p:spTree>
    <p:extLst>
      <p:ext uri="{BB962C8B-B14F-4D97-AF65-F5344CB8AC3E}">
        <p14:creationId xmlns:p14="http://schemas.microsoft.com/office/powerpoint/2010/main" val="14379448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 Walk through four sections: the project question, the analytical</a:t>
            </a:r>
          </a:p>
          <a:p>
            <a:r>
              <a:t>requirements, the model-build problem and the delivery approach. The purpose is to</a:t>
            </a:r>
          </a:p>
          <a:p>
            <a:r>
              <a:t>connect the analyst's tasks to the decisions the engagement needs to support.</a:t>
            </a:r>
          </a:p>
          <a:p>
            <a:r>
              <a:t>Week 1 analytical pack, 6 October 2026. Existing kickoff cover/closing reused at user request.</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Convergence order: national accounting p3; provincial map p4; history/estimates p5. Current page 1.</a:t>
            </a:r>
          </a:p>
          <a:p>
            <a:r>
              <a:t>SCR delivery order: page 1 of 16. Gap IDs and original evidence references retained in notes.</a:t>
            </a:r>
          </a:p>
          <a:p>
            <a:r>
              <a:t>6 October SCR editorial pass: presentation copy and map hierarchy only. Source observations, example volumes and model inputs unchanged.</a:t>
            </a:r>
          </a:p>
          <a:p>
            <a:r>
              <a:t>Convergence order: national accounting p3; provincial map p4; history/estimates p5. Current page 1.</a:t>
            </a:r>
          </a:p>
          <a:p>
            <a:r>
              <a:t>SCR delivery order: page 1 of 16. Gap IDs and original evidence references retained in notes.</a:t>
            </a:r>
          </a:p>
          <a:p>
            <a:r>
              <a:t>6 October SCR editorial pass: presentation copy and map hierarchy only. Source observations, example volumes and model inputs unchanged.</a:t>
            </a:r>
          </a:p>
          <a:p>
            <a:r>
              <a:t>Convergence order: national accounting p3; provincial map p4; history/estimates p5. Current page 1.</a:t>
            </a:r>
          </a:p>
          <a:p>
            <a:r>
              <a:t>Final structure: baseline pp3–6; changes pp7–11 (forecast framework p9); outlook pp12–17 (market choices p16, inventory p17). Current page 1.</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Annual reporting sums four quarters separately for each province/product. Missing or incomplete years are gaps, never zeros or extrapolations. 2023 has Q1 only and is excluded. Source: assumptions/2026/timeseries/fuel_sales_department_by_province_quarterly.csv. Reported sales are a demand proxy; historical reporting requires analyst review, not a forecast.</a:t>
            </a:r>
          </a:p>
          <a:p>
            <a:r>
              <a:t>Provincial sum minus national petrol/diesel sales (bn L), mechanical flag tolerance 1 litre, not a materiality or validation threshold:</a:t>
            </a:r>
          </a:p>
          <a:p>
            <a:r>
              <a:t>{</a:t>
            </a:r>
          </a:p>
          <a:p>
            <a:r>
              <a:t>  "2013": 0.5379449579999971,</a:t>
            </a:r>
          </a:p>
          <a:p>
            <a:r>
              <a:t>  "2014": 0.2688237130000033,</a:t>
            </a:r>
          </a:p>
          <a:p>
            <a:r>
              <a:t>  "2015": -0.034042841268004054,</a:t>
            </a:r>
          </a:p>
          <a:p>
            <a:r>
              <a:t>  "2016": -7.105427357601002e-15,</a:t>
            </a:r>
          </a:p>
          <a:p>
            <a:r>
              <a:t>  "2017": -0.0023669540000135214,</a:t>
            </a:r>
          </a:p>
          <a:p>
            <a:r>
              <a:t>  "2018": -0.4327551978270243,</a:t>
            </a:r>
          </a:p>
          <a:p>
            <a:r>
              <a:t>  "2019": -1.7763568394002505e-14,</a:t>
            </a:r>
          </a:p>
          <a:p>
            <a:r>
              <a:t>  "2020": -1.0658141036401503e-14,</a:t>
            </a:r>
          </a:p>
          <a:p>
            <a:r>
              <a:t>  "2021": -0.0007647352630151261,</a:t>
            </a:r>
          </a:p>
          <a:p>
            <a:r>
              <a:t>  "2022": -1.7763568394002505e-14</a:t>
            </a:r>
          </a:p>
          <a:p>
            <a:r>
              <a:t>}</a:t>
            </a:r>
          </a:p>
          <a:p>
            <a:r>
              <a:t>SCR delivery order: page 4 of 16. Gap IDs and original evidence references retained in notes.</a:t>
            </a:r>
          </a:p>
          <a:p>
            <a:r>
              <a:t>SCR master row S1; linked roadmap page 2. Deep-dive page 4.</a:t>
            </a:r>
          </a:p>
          <a:p>
            <a:r>
              <a:t>Final story navigation: Overview p2; Market baseline p3; Market changes p7; Vopak outlook p12. Henry SCR naming remains in the overview.</a:t>
            </a:r>
          </a:p>
          <a:p>
            <a:r>
              <a:t>Estimated figures: story/evidence_2026_10_06/provincial_petrol_diesel_2013_2024_2026-10-06.csv. Held 2022 shares, not observed later sales.</a:t>
            </a:r>
          </a:p>
          <a:p>
            <a:r>
              <a:t>6 October SCR editorial pass: presentation copy and map hierarchy only. Source observations, example volumes and model inputs unchanged.</a:t>
            </a:r>
          </a:p>
          <a:p>
            <a:r>
              <a:t>Convergence order: national accounting p3; provincial map p4; history/estimates p5. Current page 5.</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5.</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Supports overview row(s) S2; clickable footer badge returns to page 2.</a:t>
            </a:r>
          </a:p>
          <a:p>
            <a:r>
              <a:t>Supports overview row(s) S2; clickable footer badge returns to page 2.</a:t>
            </a:r>
          </a:p>
          <a:p>
            <a:r>
              <a:t>Title supports overview row(s) S2; Overview chevron returns to page 2.</a:t>
            </a:r>
          </a:p>
          <a:p>
            <a:r>
              <a:t>Historical headline: broadly steady aggregate reported sales, with pandemic disruption and different provincial paths. This is a baseline hypothesis for back-testing; it does not establish a flat forecast. Post-2022 estimates remain separate.</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Map uses WGS84 / Lambert azimuthal equal-area, centred 25°E, 29°S. Natural Earth 1:50m countries; schematic transport from the kickoff appendix. Scale is nominal at map centre. Facility points are approximate, inherited from the appendix, not surveyed GPS. Lesedi uses the inherited Jameson Park-area point. No operational service-area polygon or evidence-calibrated cost/time threshold is computed. Demand positions are regional annotations, not provincial centroids. All numerical volumes are illustrative and are not model outputs or actual Vopak flows. The graduated surface is illustrative delivered road transport cost: R0.15/litre dispatch plus R0.002/litre/km times shortest schematic-road distance and straight-line terminal/grid connections. These are authored example parameters, not carrier quotes or validated cost evidence. 25 km cells; cost classes &lt;=0.75, 0.75-1.25, 1.25-1.75, 1.75-2.25 and &gt;2.25 R/litre. Cells more than 100 km from the sampled road geometry or without a connected path remain unassessed. Fuel purchase price, tax, storage and pipeline tariffs are excluded. Operational speeds, capacity, permissions and commercial access are not evaluated. Natural Earth source: https://github.com/nvkelso/natural-earth-vector/blob/master/geojson/ne_50m_admin_0_countries.geojson</a:t>
            </a:r>
          </a:p>
          <a:p>
            <a:r>
              <a:t>Transnet lease offers are context only, not cost-model origins or available supply.</a:t>
            </a:r>
          </a:p>
          <a:p>
            <a:r>
              <a:t>Storage footprint is a public-evidence starting inventory, not a complete census. Coordinates are approximate except Tarlton and five Transnet RFP briefing coordinates. Lease symbols indicate offers, not operating assets. Magdala RFP location narrative is inconsistent; verify independently. Symbols do not encode capacity. Lesedi and Transnet Jameson Park are distinct assets represented by the same approximate area; the national map cannot separate their actual boundaries. Capacity is a stock, not throughput. Mixed-product tanks cannot establish petrol/diesel share.</a:t>
            </a:r>
          </a:p>
          <a:p>
            <a:r>
              <a:t>V1 Vopak / Durban: https://www.vopak.com/terminals/vopak-terminal-durban | Terminal page publication date not stated; checked 2026-10-06 | Operator terminal page publishes cbm capacity; independent usable-capacity review pending | Current available petrol/diesel capacity unknown | owner Manish / Nigel review | next: Confirm usable petrol/diesel capacity product split and unique customer deliveries</a:t>
            </a:r>
          </a:p>
          <a:p>
            <a:r>
              <a:t>V2 Vopak / Lesedi: https://www.vopak.com/terminals/vopak-terminal-lesedi | Terminal page publication date not stated; checked 2026-10-06 | Operator terminal page publishes cbm capacity; independent usable-capacity review pending | Current contracts and throughput unknown | owner Manish / Nigel review | next: Confirm usable petrol/diesel capacity product split and unique customer deliveries</a:t>
            </a:r>
          </a:p>
          <a:p>
            <a:r>
              <a:t>B1 Bidvest Tank Terminals / Durban: https://www.bidtanks.com/pages/1562/about-us | Page publication date not stated | Operator lists Island View and Maydon Wharf sites | Capacity scope and total-vintage discrepancy; no access assumed | owner Manish / Nigel review | next: Split sites and products; reconcile total against homepage 868000 m3</a:t>
            </a:r>
          </a:p>
          <a:p>
            <a:r>
              <a:t>B2 Bidvest Tank Terminals / Richards Bay: https://www.bidtanks.com/pages/1562/about-us | Page publication date not stated | Operator site listing | Includes gases; no petrol/diesel capacity or access assumed | owner Manish / Nigel review | next: Confirm tank-level eligible fuel scope and present ownership/access</a:t>
            </a:r>
          </a:p>
          <a:p>
            <a:r>
              <a:t>B3 Bidvest Tank Terminals / Isando: https://www.bidtanks.com/pages/1562/about-us | Page publication date not stated | Operator site listing | No petrol/diesel capacity or access assumed | owner Manish / Nigel review | next: Verify exact terminal location and product mix</a:t>
            </a:r>
          </a:p>
          <a:p>
            <a:r>
              <a:t>S1 Sasol / Alrode: https://sasol.com/our-businesses/energy | Page date not stated; linked notice reporting year 2025/26 | Operator Energy locations page | Notice ends March 2026; current access and joint ownership require confirmation | owner Manish / Nigel review | next: Refresh expired capacity notice and confirm site/operator ownership</a:t>
            </a:r>
          </a:p>
          <a:p>
            <a:r>
              <a:t>S2 Sasol / Pretoria West: https://sasol.com/our-businesses/energy | Page publication date not stated | Operator Energy locations page | Available capacity and access unknown | owner Manish / Nigel review | next: Obtain licence exact coordinates and product-specific usable capacity</a:t>
            </a:r>
          </a:p>
          <a:p>
            <a:r>
              <a:t>S3 Sasol / Waltloo: https://sasol.com/our-businesses/energy | Page publication date not stated | Operator Energy locations page | Available capacity and access unknown | owner Manish / Nigel review | next: Obtain licence exact coordinates and product-specific usable capacity</a:t>
            </a:r>
          </a:p>
          <a:p>
            <a:r>
              <a:t>S4 Sasol / Sasolburg: https://sasol.com/our-businesses/energy | Page publication date not stated | Operator Energy locations page | Not treated as independent merchant terminal capacity | owner Manish / Nigel review | next: Separate refinery production from logistics and usable storage assets</a:t>
            </a:r>
          </a:p>
          <a:p>
            <a:r>
              <a:t>T1 Transnet Pipelines / Tarlton: https://transnetetenders.azurewebsites.net/Home/TenderDetails?Id=70943 | 2025-04-16 tender publication | 2025 facility tender; 2024 manual documents delivery and reprocessing | No current spare capacity or open merchant access inferred | owner Manish / Nigel review | next: Confirm present operation usable tanks and access/tariff conditions</a:t>
            </a:r>
          </a:p>
          <a:p>
            <a:r>
              <a:t>T2 Transnet Pipelines / Jameson Park: https://www.transnet.net/getFile.ashx?id=5330 | 2024-09-01 commencement; pp 19-20 and 62 | 2024 Shippers Manual names terminal and accumulation function | Separate asset from Vopak Lesedi; available capacity unknown | owner Manish / Nigel review | next: Geocode separately from Lesedi and verify accumulation tanks</a:t>
            </a:r>
          </a:p>
          <a:p>
            <a:r>
              <a:t>G1 VTTI Burgan Cape Terminal / Cape Town: https://www.vtti.com/location/cape-town-south-africa-bct/ | Page date not stated; notice published 2025-06-25 | Operator terminal page | 2025-2026 availability notice requires current-period confirmation | owner Manish / Nigel review | next: Verify current tank availability routes and customer overlap</a:t>
            </a:r>
          </a:p>
          <a:p>
            <a:r>
              <a:t>X1 Transnet Pipelines / Ladysmith: https://www.transnet.net/getFile.ashx?id=30047 | 2026-10-05 | Stranded tanks out of service since March 2018; no NMPP link or existing road/rail decanting system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X2 Transnet Pipelines / Standerton: https://www.transnet.net/getFile.ashx?id=30045 | 2026-10-05 | Stranded after DWP decommissioning; lease proposal requires operational and regulatory readiness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X3 Transnet Pipelines / Kroonstad: https://www.transnet.net/getFile.ashx?id=30044 | 2026-10-05 | Isolated after pipeline service ended; reactivation requires receipt/dispatch improvements and storage licence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X4 Transnet Pipelines / Bethlehem: https://www.transnet.net/getFile.ashx?id=30048 | 2026-10-05 | Stranded after DJP decommissioning; storage licence and receipt/dispatch improvements required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X5 Transnet Pipelines / Magdala: https://www.transnet.net/getFile.ashx?id=30046 | 2026-10-05 | Stranded after DJP decommissioning; RFP location narrative conflicts; briefing coordinate retained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SCR delivery order: page 9 of 16. Gap IDs and original evidence references retained in notes.</a:t>
            </a:r>
          </a:p>
          <a:p>
            <a:r>
              <a:t>SCR master row C3; linked roadmap page 2. Deep-dive page 9.</a:t>
            </a:r>
          </a:p>
          <a:p>
            <a:r>
              <a:t>Final story navigation: Overview p2; Market baseline p3; Market changes p7; Vopak outlook p12. Henry SCR naming remains in the overview.</a:t>
            </a:r>
          </a:p>
          <a:p>
            <a:r>
              <a:t>Editorial map revision: tiles and illustrative rates unchanged. Symbols distinguish cost origins from conditional lease context.</a:t>
            </a:r>
          </a:p>
          <a:p>
            <a:r>
              <a:t>6 October SCR editorial pass: presentation copy and map hierarchy only. Source observations, example volumes and model inputs unchanged.</a:t>
            </a:r>
          </a:p>
          <a:p>
            <a:r>
              <a:t>Convergence order: national accounting p3; provincial map p4; history/estimates p5. Current page 9.</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10.</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Supports overview row(s) C5; clickable footer badge returns to page 2.</a:t>
            </a:r>
          </a:p>
          <a:p>
            <a:r>
              <a:t>Supports overview row(s) C5; clickable footer badge returns to page 2.</a:t>
            </a:r>
          </a:p>
          <a:p>
            <a:r>
              <a:t>Title supports overview row(s) C5; Overview chevron returns to page 2.</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Map uses WGS84 / Lambert azimuthal equal-area, centred 25°E, 29°S. Natural Earth 1:50m countries; schematic transport from the kickoff appendix. Scale is nominal at map centre. Facility points are approximate, inherited from the appendix, not surveyed GPS. Lesedi uses the inherited Jameson Park-area point. No operational service-area polygon or evidence-calibrated cost/time threshold is computed. Demand positions are regional annotations, not provincial centroids. All numerical volumes are illustrative and are not model outputs or actual Vopak flows. The graduated surface is illustrative delivered road transport cost: R0.15/litre dispatch plus R0.002/litre/km times shortest schematic-road distance and straight-line terminal/grid connections. These are authored example parameters, not carrier quotes or validated cost evidence. 25 km cells; cost classes &lt;=0.75, 0.75-1.25, 1.25-1.75, 1.75-2.25 and &gt;2.25 R/litre. Cells more than 100 km from the sampled road geometry or without a connected path remain unassessed. Fuel purchase price, tax, storage and pipeline tariffs are excluded. Operational speeds, capacity, permissions and commercial access are not evaluated. Natural Earth source: https://github.com/nvkelso/natural-earth-vector/blob/master/geojson/ne_50m_admin_0_countries.geojson</a:t>
            </a:r>
          </a:p>
          <a:p>
            <a:r>
              <a:t>Transnet lease offers are context only, not cost-model origins or available supply.</a:t>
            </a:r>
          </a:p>
          <a:p>
            <a:r>
              <a:t>Storage footprint is a public-evidence starting inventory, not a complete census. Coordinates are approximate except Tarlton and five Transnet RFP briefing coordinates. Lease symbols indicate offers, not operating assets. Magdala RFP location narrative is inconsistent; verify independently. Symbols do not encode capacity. Lesedi and Transnet Jameson Park are distinct assets represented by the same approximate area; the national map cannot separate their actual boundaries. Capacity is a stock, not throughput. Mixed-product tanks cannot establish petrol/diesel share.</a:t>
            </a:r>
          </a:p>
          <a:p>
            <a:r>
              <a:t>V1 Vopak / Durban: https://www.vopak.com/terminals/vopak-terminal-durban | Terminal page publication date not stated; checked 2026-10-06 | Operator terminal page publishes cbm capacity; independent usable-capacity review pending | Current available petrol/diesel capacity unknown | owner Manish / Nigel review | next: Confirm usable petrol/diesel capacity product split and unique customer deliveries</a:t>
            </a:r>
          </a:p>
          <a:p>
            <a:r>
              <a:t>V2 Vopak / Lesedi: https://www.vopak.com/terminals/vopak-terminal-lesedi | Terminal page publication date not stated; checked 2026-10-06 | Operator terminal page publishes cbm capacity; independent usable-capacity review pending | Current contracts and throughput unknown | owner Manish / Nigel review | next: Confirm usable petrol/diesel capacity product split and unique customer deliveries</a:t>
            </a:r>
          </a:p>
          <a:p>
            <a:r>
              <a:t>B1 Bidvest Tank Terminals / Durban: https://www.bidtanks.com/pages/1562/about-us | Page publication date not stated | Operator lists Island View and Maydon Wharf sites | Capacity scope and total-vintage discrepancy; no access assumed | owner Manish / Nigel review | next: Split sites and products; reconcile total against homepage 868000 m3</a:t>
            </a:r>
          </a:p>
          <a:p>
            <a:r>
              <a:t>B2 Bidvest Tank Terminals / Richards Bay: https://www.bidtanks.com/pages/1562/about-us | Page publication date not stated | Operator site listing | Includes gases; no petrol/diesel capacity or access assumed | owner Manish / Nigel review | next: Confirm tank-level eligible fuel scope and present ownership/access</a:t>
            </a:r>
          </a:p>
          <a:p>
            <a:r>
              <a:t>B3 Bidvest Tank Terminals / Isando: https://www.bidtanks.com/pages/1562/about-us | Page publication date not stated | Operator site listing | No petrol/diesel capacity or access assumed | owner Manish / Nigel review | next: Verify exact terminal location and product mix</a:t>
            </a:r>
          </a:p>
          <a:p>
            <a:r>
              <a:t>S1 Sasol / Alrode: https://sasol.com/our-businesses/energy | Page date not stated; linked notice reporting year 2025/26 | Operator Energy locations page | Notice ends March 2026; current access and joint ownership require confirmation | owner Manish / Nigel review | next: Refresh expired capacity notice and confirm site/operator ownership</a:t>
            </a:r>
          </a:p>
          <a:p>
            <a:r>
              <a:t>S2 Sasol / Pretoria West: https://sasol.com/our-businesses/energy | Page publication date not stated | Operator Energy locations page | Available capacity and access unknown | owner Manish / Nigel review | next: Obtain licence exact coordinates and product-specific usable capacity</a:t>
            </a:r>
          </a:p>
          <a:p>
            <a:r>
              <a:t>S3 Sasol / Waltloo: https://sasol.com/our-businesses/energy | Page publication date not stated | Operator Energy locations page | Available capacity and access unknown | owner Manish / Nigel review | next: Obtain licence exact coordinates and product-specific usable capacity</a:t>
            </a:r>
          </a:p>
          <a:p>
            <a:r>
              <a:t>S4 Sasol / Sasolburg: https://sasol.com/our-businesses/energy | Page publication date not stated | Operator Energy locations page | Not treated as independent merchant terminal capacity | owner Manish / Nigel review | next: Separate refinery production from logistics and usable storage assets</a:t>
            </a:r>
          </a:p>
          <a:p>
            <a:r>
              <a:t>T1 Transnet Pipelines / Tarlton: https://transnetetenders.azurewebsites.net/Home/TenderDetails?Id=70943 | 2025-04-16 tender publication | 2025 facility tender; 2024 manual documents delivery and reprocessing | No current spare capacity or open merchant access inferred | owner Manish / Nigel review | next: Confirm present operation usable tanks and access/tariff conditions</a:t>
            </a:r>
          </a:p>
          <a:p>
            <a:r>
              <a:t>T2 Transnet Pipelines / Jameson Park: https://www.transnet.net/getFile.ashx?id=5330 | 2024-09-01 commencement; pp 19-20 and 62 | 2024 Shippers Manual names terminal and accumulation function | Separate asset from Vopak Lesedi; available capacity unknown | owner Manish / Nigel review | next: Geocode separately from Lesedi and verify accumulation tanks</a:t>
            </a:r>
          </a:p>
          <a:p>
            <a:r>
              <a:t>G1 VTTI Burgan Cape Terminal / Cape Town: https://www.vtti.com/location/cape-town-south-africa-bct/ | Page date not stated; notice published 2025-06-25 | Operator terminal page | 2025-2026 availability notice requires current-period confirmation | owner Manish / Nigel review | next: Verify current tank availability routes and customer overlap</a:t>
            </a:r>
          </a:p>
          <a:p>
            <a:r>
              <a:t>X1 Transnet Pipelines / Ladysmith: https://www.transnet.net/getFile.ashx?id=30047 | 2026-10-05 | Stranded tanks out of service since March 2018; no NMPP link or existing road/rail decanting system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X2 Transnet Pipelines / Standerton: https://www.transnet.net/getFile.ashx?id=30045 | 2026-10-05 | Stranded after DWP decommissioning; lease proposal requires operational and regulatory readiness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X3 Transnet Pipelines / Kroonstad: https://www.transnet.net/getFile.ashx?id=30044 | 2026-10-05 | Isolated after pipeline service ended; reactivation requires receipt/dispatch improvements and storage licence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X4 Transnet Pipelines / Bethlehem: https://www.transnet.net/getFile.ashx?id=30048 | 2026-10-05 | Stranded after DJP decommissioning; storage licence and receipt/dispatch improvements required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X5 Transnet Pipelines / Magdala: https://www.transnet.net/getFile.ashx?id=30046 | 2026-10-05 | Stranded after DJP decommissioning; RFP location narrative conflicts; briefing coordinate retained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SCR delivery order: page 11 of 16. Gap IDs and original evidence references retained in notes.</a:t>
            </a:r>
          </a:p>
          <a:p>
            <a:r>
              <a:t>Successive volumes summed from illustrative_market_catchments.csv for assessed Eastern coastal / Inland rows only. Transfer arithmetic retained from existing pack; replace with matched customer records.</a:t>
            </a:r>
          </a:p>
          <a:p>
            <a:r>
              <a:t>SCR master row R1; linked roadmap page 2. Deep-dive page 11.</a:t>
            </a:r>
          </a:p>
          <a:p>
            <a:r>
              <a:t>Final story navigation: Overview p2; Market baseline p3; Market changes p7; Vopak outlook p12. Henry SCR naming remains in the overview.</a:t>
            </a:r>
          </a:p>
          <a:p>
            <a:r>
              <a:t>6 October SCR editorial pass: presentation copy and map hierarchy only. Source observations, example volumes and model inputs unchanged.</a:t>
            </a:r>
          </a:p>
          <a:p>
            <a:r>
              <a:t>Convergence order: national accounting p3; provincial map p4; history/estimates p5. Current page 11.</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12.</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Supports overview row(s) R6; clickable footer badge returns to page 2.</a:t>
            </a:r>
          </a:p>
          <a:p>
            <a:r>
              <a:t>Supports overview row(s) R6; clickable footer badge returns to page 2.</a:t>
            </a:r>
          </a:p>
          <a:p>
            <a:r>
              <a:t>Title supports overview row(s) R6; Overview chevron returns to page 2.</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Observed historical sales, separate from the illustrative market figures on slide 6.</a:t>
            </a:r>
          </a:p>
          <a:p>
            <a:r>
              <a:t>Storage footprint is a public-evidence starting inventory, not a complete census. Coordinates are approximate except Tarlton and five Transnet RFP briefing coordinates. Lease symbols indicate offers, not operating assets. Magdala RFP location narrative is inconsistent; verify independently. Symbols do not encode capacity. Lesedi and Transnet Jameson Park are distinct assets represented by the same approximate area; the national map cannot separate their actual boundaries. Capacity is a stock, not throughput. Mixed-product tanks cannot establish petrol/diesel share.</a:t>
            </a:r>
          </a:p>
          <a:p>
            <a:r>
              <a:t>V1 Vopak / Durban: https://www.vopak.com/terminals/vopak-terminal-durban | Terminal page publication date not stated; checked 2026-10-06 | Operator terminal page publishes cbm capacity; independent usable-capacity review pending | Current available petrol/diesel capacity unknown | owner Manish / Nigel review | next: Confirm usable petrol/diesel capacity product split and unique customer deliveries</a:t>
            </a:r>
          </a:p>
          <a:p>
            <a:r>
              <a:t>V2 Vopak / Lesedi: https://www.vopak.com/terminals/vopak-terminal-lesedi | Terminal page publication date not stated; checked 2026-10-06 | Operator terminal page publishes cbm capacity; independent usable-capacity review pending | Current contracts and throughput unknown | owner Manish / Nigel review | next: Confirm usable petrol/diesel capacity product split and unique customer deliveries</a:t>
            </a:r>
          </a:p>
          <a:p>
            <a:r>
              <a:t>B1 Bidvest Tank Terminals / Durban: https://www.bidtanks.com/pages/1562/about-us | Page publication date not stated | Operator lists Island View and Maydon Wharf sites | Capacity scope and total-vintage discrepancy; no access assumed | owner Manish / Nigel review | next: Split sites and products; reconcile total against homepage 868000 m3</a:t>
            </a:r>
          </a:p>
          <a:p>
            <a:r>
              <a:t>B2 Bidvest Tank Terminals / Richards Bay: https://www.bidtanks.com/pages/1562/about-us | Page publication date not stated | Operator site listing | Includes gases; no petrol/diesel capacity or access assumed | owner Manish / Nigel review | next: Confirm tank-level eligible fuel scope and present ownership/access</a:t>
            </a:r>
          </a:p>
          <a:p>
            <a:r>
              <a:t>B3 Bidvest Tank Terminals / Isando: https://www.bidtanks.com/pages/1562/about-us | Page publication date not stated | Operator site listing | No petrol/diesel capacity or access assumed | owner Manish / Nigel review | next: Verify exact terminal location and product mix</a:t>
            </a:r>
          </a:p>
          <a:p>
            <a:r>
              <a:t>S1 Sasol / Alrode: https://sasol.com/our-businesses/energy | Page date not stated; linked notice reporting year 2025/26 | Operator Energy locations page | Notice ends March 2026; current access and joint ownership require confirmation | owner Manish / Nigel review | next: Refresh expired capacity notice and confirm site/operator ownership</a:t>
            </a:r>
          </a:p>
          <a:p>
            <a:r>
              <a:t>S2 Sasol / Pretoria West: https://sasol.com/our-businesses/energy | Page publication date not stated | Operator Energy locations page | Available capacity and access unknown | owner Manish / Nigel review | next: Obtain licence exact coordinates and product-specific usable capacity</a:t>
            </a:r>
          </a:p>
          <a:p>
            <a:r>
              <a:t>S3 Sasol / Waltloo: https://sasol.com/our-businesses/energy | Page publication date not stated | Operator Energy locations page | Available capacity and access unknown | owner Manish / Nigel review | next: Obtain licence exact coordinates and product-specific usable capacity</a:t>
            </a:r>
          </a:p>
          <a:p>
            <a:r>
              <a:t>S4 Sasol / Sasolburg: https://sasol.com/our-businesses/energy | Page publication date not stated | Operator Energy locations page | Not treated as independent merchant terminal capacity | owner Manish / Nigel review | next: Separate refinery production from logistics and usable storage assets</a:t>
            </a:r>
          </a:p>
          <a:p>
            <a:r>
              <a:t>T1 Transnet Pipelines / Tarlton: https://transnetetenders.azurewebsites.net/Home/TenderDetails?Id=70943 | 2025-04-16 tender publication | 2025 facility tender; 2024 manual documents delivery and reprocessing | No current spare capacity or open merchant access inferred | owner Manish / Nigel review | next: Confirm present operation usable tanks and access/tariff conditions</a:t>
            </a:r>
          </a:p>
          <a:p>
            <a:r>
              <a:t>T2 Transnet Pipelines / Jameson Park: https://www.transnet.net/getFile.ashx?id=5330 | 2024-09-01 commencement; pp 19-20 and 62 | 2024 Shippers Manual names terminal and accumulation function | Separate asset from Vopak Lesedi; available capacity unknown | owner Manish / Nigel review | next: Geocode separately from Lesedi and verify accumulation tanks</a:t>
            </a:r>
          </a:p>
          <a:p>
            <a:r>
              <a:t>G1 VTTI Burgan Cape Terminal / Cape Town: https://www.vtti.com/location/cape-town-south-africa-bct/ | Page date not stated; notice published 2025-06-25 | Operator terminal page | 2025-2026 availability notice requires current-period confirmation | owner Manish / Nigel review | next: Verify current tank availability routes and customer overlap</a:t>
            </a:r>
          </a:p>
          <a:p>
            <a:r>
              <a:t>X1 Transnet Pipelines / Ladysmith: https://www.transnet.net/getFile.ashx?id=30047 | 2026-10-05 | Stranded tanks out of service since March 2018; no NMPP link or existing road/rail decanting system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X2 Transnet Pipelines / Standerton: https://www.transnet.net/getFile.ashx?id=30045 | 2026-10-05 | Stranded after DWP decommissioning; lease proposal requires operational and regulatory readiness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X3 Transnet Pipelines / Kroonstad: https://www.transnet.net/getFile.ashx?id=30044 | 2026-10-05 | Isolated after pipeline service ended; reactivation requires receipt/dispatch improvements and storage licence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X4 Transnet Pipelines / Bethlehem: https://www.transnet.net/getFile.ashx?id=30048 | 2026-10-05 | Stranded after DJP decommissioning; storage licence and receipt/dispatch improvements required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X5 Transnet Pipelines / Magdala: https://www.transnet.net/getFile.ashx?id=30046 | 2026-10-05 | Stranded after DJP decommissioning; RFP location narrative conflicts; briefing coordinate retained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Historical sales are a demand-location proxy, not 2026 demand or customer delivery destinations. All 18 province/product series have four quarters in 2022; provincial sum matches national sales within 1 litre. No district-level smoothing or within-province hotspot is inferred. Colour measures total annual provincial volume, not litres per km2. Region borders use the authored province membership, not a service area. Eastern coastal=EC+KZN; Inland=GP+FS+LP+MP+NW; Western coastal=WC; Other=NC. The observed totals and regions are separate from the illustrative market figures on slide 6. Source CSV C:\Users\ITafr\Desktop\Insights\liquid_fuels_model\assumptions\2026\timeseries\fuel_sales_department_by_province_quarterly.csv; SHA256 aec82481b33f70429b6b8e7c9c02767d62a6e8c7bf6bda09e21123a5bc56c9d6; original workbook(s) ['2022-Quarter4-Magisterial-Districts-data.xlsx']. Department index: https://www.dmpr.gov.za/Portals/0/Energy_Website/files/media/media_SAVolumes.html. Boundary metadata/source/license: assets/maps/geoboundaries_zaf_adm1_metadata.json. Reporting evidence remains provisional pending analyst review; owner Manish, Nigel review. Refresh when the source supplies a later complete year; check every province/product quarter and reconcile national totals.</a:t>
            </a:r>
          </a:p>
          <a:p>
            <a:r>
              <a:t>SCR delivery order: page 3 of 16. Gap IDs and original evidence references retained in notes.</a:t>
            </a:r>
          </a:p>
          <a:p>
            <a:r>
              <a:t>SCR master row S1; linked roadmap page 2. Deep-dive page 3.</a:t>
            </a:r>
          </a:p>
          <a:p>
            <a:r>
              <a:t>Final story navigation: Overview p2; Market baseline p3; Market changes p7; Vopak outlook p12. Henry SCR naming remains in the overview.</a:t>
            </a:r>
          </a:p>
          <a:p>
            <a:r>
              <a:t>6 October SCR editorial pass: presentation copy and map hierarchy only. Source observations, example volumes and model inputs unchanged.</a:t>
            </a:r>
          </a:p>
          <a:p>
            <a:r>
              <a:t>Convergence order: national accounting p3; provincial map p4; history/estimates p5. Current page 4.</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4.</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Supports overview row(s) S2; clickable footer badge returns to page 2.</a:t>
            </a:r>
          </a:p>
          <a:p>
            <a:r>
              <a:t>Supports overview row(s) S2; clickable footer badge returns to page 2.</a:t>
            </a:r>
          </a:p>
          <a:p>
            <a:r>
              <a:t>Title supports overview row(s) S2; Overview chevron returns to page 2.</a:t>
            </a:r>
          </a:p>
          <a:p>
            <a:r>
              <a:t>Headline connects Gauteng/Lesedi and KwaZulu-Natal/Durban to the top two provincial markets. Presence does not establish a customer catchment, accessibility or market share.</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note: Closing cover photograph: Royal Vopak, Terminal Lesedi. https://www.vopak.com/terminals/vopak-terminal-lesedi</a:t>
            </a:r>
          </a:p>
          <a:p>
            <a:r>
              <a:t>Week 1 analytical pack, 6 October 2026. Existing kickoff cover/closing reused at user request.</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a:p>
            <a:r>
              <a:t>6 October SCR editorial pass: presentation copy and map hierarchy only. Source observations, example volumes and model inputs unchanged.</a:t>
            </a:r>
          </a:p>
          <a:p>
            <a:r>
              <a:t>SCR delivery order: page 16 of 16. Gap IDs and original evidence references retained in notes.</a:t>
            </a:r>
          </a:p>
          <a:p>
            <a:r>
              <a:t>6 October SCR editorial pass: presentation copy and map hierarchy only. Source observations, example volumes and model inputs unchanged.</a:t>
            </a:r>
          </a:p>
          <a:p>
            <a:r>
              <a:t>SCR delivery order: page 16 of 16. Gap IDs and original evidence references retained in notes.</a:t>
            </a:r>
          </a:p>
          <a:p>
            <a:r>
              <a:t>6 October SCR editorial pass: presentation copy and map hierarchy only. Source observations, example volumes and model inputs unchanged.</a:t>
            </a:r>
          </a:p>
          <a:p>
            <a:r>
              <a:t>SCR delivery order: page 16 of 16. Gap IDs and original evidence references retained in notes.</a:t>
            </a:r>
          </a:p>
          <a:p>
            <a:r>
              <a:t>6 October SCR editorial pass: presentation copy and map hierarchy only. Source observations, example volumes and model inputs unchanged.</a:t>
            </a:r>
          </a:p>
          <a:p>
            <a:r>
              <a:t>SCR delivery order: page 16 of 16. Gap IDs and original evidence references retained in notes.</a:t>
            </a:r>
          </a:p>
          <a:p>
            <a:r>
              <a:t>6 October SCR editorial pass: presentation copy and map hierarchy only. Source observations, example volumes and model inputs unchanged.</a:t>
            </a:r>
          </a:p>
          <a:p>
            <a:r>
              <a:t>SCR delivery order: page 16 of 16. Gap IDs and original evidence references retained in notes.</a:t>
            </a:r>
          </a:p>
          <a:p>
            <a:r>
              <a:t>6 October SCR editorial pass: presentation copy and map hierarchy only. Source observations, example volumes and model inputs unchanged.</a:t>
            </a:r>
          </a:p>
          <a:p>
            <a:r>
              <a:t>SCR delivery order: page 16 of 16. Gap IDs and original evidence references retained in notes.</a:t>
            </a:r>
          </a:p>
          <a:p>
            <a:r>
              <a:t>6 October SCR editorial pass: presentation copy and map hierarchy only. Source observations, example volumes and model inputs unchanged.</a:t>
            </a:r>
          </a:p>
          <a:p>
            <a:r>
              <a:t>Convergence order: national accounting p3; provincial map p4; history/estimates p5. Current page 16.</a:t>
            </a:r>
          </a:p>
          <a:p>
            <a:r>
              <a:t>SCR delivery order: page 16 of 16. Gap IDs and original evidence references retained in notes.</a:t>
            </a:r>
          </a:p>
          <a:p>
            <a:r>
              <a:t>6 October SCR editorial pass: presentation copy and map hierarchy only. Source observations, example volumes and model inputs unchanged.</a:t>
            </a:r>
          </a:p>
          <a:p>
            <a:r>
              <a:t>Convergence order: national accounting p3; provincial map p4; history/estimates p5. Current page 16.</a:t>
            </a:r>
          </a:p>
          <a:p>
            <a:r>
              <a:t>SCR delivery order: page 16 of 16. Gap IDs and original evidence references retained in notes.</a:t>
            </a:r>
          </a:p>
          <a:p>
            <a:r>
              <a:t>6 October SCR editorial pass: presentation copy and map hierarchy only. Source observations, example volumes and model inputs unchanged.</a:t>
            </a:r>
          </a:p>
          <a:p>
            <a:r>
              <a:t>Convergence order: national accounting p3; provincial map p4; history/estimates p5. Current page 16.</a:t>
            </a:r>
          </a:p>
          <a:p>
            <a:r>
              <a:t>Final structure: baseline pp3–6; changes pp7–11 (forecast framework p9); outlook pp12–17 (market choices p16, inventory p17). Current page 18.</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"status": "Illustrative allocation only; not observed provincial supply",</a:t>
            </a:r>
          </a:p>
          <a:p>
            <a:r>
              <a:t>  "demand_year": 2022,</a:t>
            </a:r>
          </a:p>
          <a:p>
            <a:r>
              <a:t>  "demand_source": "assumptions/2026/timeseries/fuel_sales_department_by_province_quarterly.csv",</a:t>
            </a:r>
          </a:p>
          <a:p>
            <a:r>
              <a:t>  "mix_source": "pptx/story/illustrative_national_balance.csv",</a:t>
            </a:r>
          </a:p>
          <a:p>
            <a:r>
              <a:t>  "method": "Apply the example domestic_supply/demand share separately for petrol and diesel to each province's reported sales; remaining volume is illustrative finished-product imports",</a:t>
            </a:r>
          </a:p>
          <a:p>
            <a:r>
              <a:t>  "geographic_assumption": "Uniform source shares by product across provinces; provincial product mix may differ",</a:t>
            </a:r>
          </a:p>
          <a:p>
            <a:r>
              <a:t>  "scope": "Finished petrol and diesel; domestically refined output counts as domestic even when crude is imported",</a:t>
            </a:r>
          </a:p>
          <a:p>
            <a:r>
              <a:t>  "owner": "Manish / Nigel review",</a:t>
            </a:r>
          </a:p>
          <a:p>
            <a:r>
              <a:t>  "replacement_trigger": "Matched-year reviewed national balance plus evidenced refinery/import-to-province flows, exports and stock reconciliation"</a:t>
            </a:r>
          </a:p>
          <a:p>
            <a:r>
              <a:t>}</a:t>
            </a:r>
          </a:p>
          <a:p>
            <a:r>
              <a:t>No provincial origin dataset was found in the reviewed source extract. Demand totals are reported 2022 sales; domestic/import segments are illustrative, not observed 2022 supply. The same example product-specific shares apply to every province. Imports mean finished products, not imported crude. Do not infer these flows from refinery locations or customs clearance province.</a:t>
            </a:r>
          </a:p>
          <a:p>
            <a:r>
              <a:t>SCR delivery order: page 6 of 16. Gap IDs and original evidence references retained in notes.</a:t>
            </a:r>
          </a:p>
          <a:p>
            <a:r>
              <a:t>SCR master row S2; linked roadmap page 2. Deep-dive page 6.</a:t>
            </a:r>
          </a:p>
          <a:p>
            <a:r>
              <a:t>Final story navigation: Overview p2; Market baseline p3; Market changes p7; Vopak outlook p12. Henry SCR naming remains in the overview.</a:t>
            </a:r>
          </a:p>
          <a:p>
            <a:r>
              <a:t>6 October SCR editorial pass: presentation copy and map hierarchy only. Source observations, example volumes and model inputs unchanged.</a:t>
            </a:r>
          </a:p>
          <a:p>
            <a:r>
              <a:t>Convergence order: national accounting p3; provincial map p4; history/estimates p5. Current page 6.</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6.</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Supports overview row(s) S1; clickable footer badge returns to page 2.</a:t>
            </a:r>
          </a:p>
          <a:p>
            <a:r>
              <a:t>Supports overview row(s) S1; clickable footer badge returns to page 2.</a:t>
            </a:r>
          </a:p>
          <a:p>
            <a:r>
              <a:t>Title supports overview row(s) S1; Overview chevron returns to page 2.</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Regional demand uses reported 2022 petrol/diesel sales, aggregated from all four quarters for nine provinces. Historical sales are a demand proxy, not current terminal catchments. No actual Vopak deliveries or contestable customer volumes were supplied for any region. No share percentage is calculated or imputed; unknown is not zero. The earlier illustrative 22.2/20.0% shares have been removed from this page. Other operators are potential competing or complementary storage providers, not confirmed direct competitors for every customer. Footprint is a starting inventory, not exhaustive. Storage capacities are stocks, not deliveries, and may include ineligible products. Obtain matched-year unique Vopak deliveries, customer destinations, transfer reconciliation, route costs, product-compatible capacity and contracts before calculating shares. Owner Manish; Nigel review. Refresh the source when a later complete provincial year is available. Sales file: C:\Users\ITafr\Desktop\Insights\liquid_fuels_model\assumptions\2026\timeseries\fuel_sales_department_by_province_quarterly.csv; SHA256 aec82481b33f70429b6b8e7c9c02767d62a6e8c7bf6bda09e21123a5bc56c9d6; received workbooks: ['2022-Quarter4-Magisterial-Districts-data.xlsx']. Regional totals (bn litres): {'Eastern coastal': 6.019977323334999, 'Inland': 11.499633855183989, 'Western coastal': 3.9307750071499967, 'Other / Northern Cape': 0.4518100489230001}.</a:t>
            </a:r>
          </a:p>
          <a:p>
            <a:r>
              <a:t>Storage footprint is a public-evidence starting inventory, not a complete census. Coordinates are approximate except Tarlton and five Transnet RFP briefing coordinates. Lease symbols indicate offers, not operating assets. Magdala RFP location narrative is inconsistent; verify independently. Symbols do not encode capacity. Lesedi and Transnet Jameson Park are distinct assets represented by the same approximate area; the national map cannot separate their actual boundaries. Capacity is a stock, not throughput. Mixed-product tanks cannot establish petrol/diesel share.</a:t>
            </a:r>
          </a:p>
          <a:p>
            <a:r>
              <a:t>V1 Vopak / Durban: https://www.vopak.com/terminals/vopak-terminal-durban | Terminal page publication date not stated; checked 2026-10-06 | Operator terminal page publishes cbm capacity; independent usable-capacity review pending | Current available petrol/diesel capacity unknown | owner Manish / Nigel review | next: Confirm usable petrol/diesel capacity product split and unique customer deliveries</a:t>
            </a:r>
          </a:p>
          <a:p>
            <a:r>
              <a:t>V2 Vopak / Lesedi: https://www.vopak.com/terminals/vopak-terminal-lesedi | Terminal page publication date not stated; checked 2026-10-06 | Operator terminal page publishes cbm capacity; independent usable-capacity review pending | Current contracts and throughput unknown | owner Manish / Nigel review | next: Confirm usable petrol/diesel capacity product split and unique customer deliveries</a:t>
            </a:r>
          </a:p>
          <a:p>
            <a:r>
              <a:t>B1 Bidvest Tank Terminals / Durban: https://www.bidtanks.com/pages/1562/about-us | Page publication date not stated | Operator lists Island View and Maydon Wharf sites | Capacity scope and total-vintage discrepancy; no access assumed | owner Manish / Nigel review | next: Split sites and products; reconcile total against homepage 868000 m3</a:t>
            </a:r>
          </a:p>
          <a:p>
            <a:r>
              <a:t>B2 Bidvest Tank Terminals / Richards Bay: https://www.bidtanks.com/pages/1562/about-us | Page publication date not stated | Operator site listing | Includes gases; no petrol/diesel capacity or access assumed | owner Manish / Nigel review | next: Confirm tank-level eligible fuel scope and present ownership/access</a:t>
            </a:r>
          </a:p>
          <a:p>
            <a:r>
              <a:t>B3 Bidvest Tank Terminals / Isando: https://www.bidtanks.com/pages/1562/about-us | Page publication date not stated | Operator site listing | No petrol/diesel capacity or access assumed | owner Manish / Nigel review | next: Verify exact terminal location and product mix</a:t>
            </a:r>
          </a:p>
          <a:p>
            <a:r>
              <a:t>S1 Sasol / Alrode: https://sasol.com/our-businesses/energy | Page date not stated; linked notice reporting year 2025/26 | Operator Energy locations page | Notice ends March 2026; current access and joint ownership require confirmation | owner Manish / Nigel review | next: Refresh expired capacity notice and confirm site/operator ownership</a:t>
            </a:r>
          </a:p>
          <a:p>
            <a:r>
              <a:t>S2 Sasol / Pretoria West: https://sasol.com/our-businesses/energy | Page publication date not stated | Operator Energy locations page | Available capacity and access unknown | owner Manish / Nigel review | next: Obtain licence exact coordinates and product-specific usable capacity</a:t>
            </a:r>
          </a:p>
          <a:p>
            <a:r>
              <a:t>S3 Sasol / Waltloo: https://sasol.com/our-businesses/energy | Page publication date not stated | Operator Energy locations page | Available capacity and access unknown | owner Manish / Nigel review | next: Obtain licence exact coordinates and product-specific usable capacity</a:t>
            </a:r>
          </a:p>
          <a:p>
            <a:r>
              <a:t>S4 Sasol / Sasolburg: https://sasol.com/our-businesses/energy | Page publication date not stated | Operator Energy locations page | Not treated as independent merchant terminal capacity | owner Manish / Nigel review | next: Separate refinery production from logistics and usable storage assets</a:t>
            </a:r>
          </a:p>
          <a:p>
            <a:r>
              <a:t>T1 Transnet Pipelines / Tarlton: https://transnetetenders.azurewebsites.net/Home/TenderDetails?Id=70943 | 2025-04-16 tender publication | 2025 facility tender; 2024 manual documents delivery and reprocessing | No current spare capacity or open merchant access inferred | owner Manish / Nigel review | next: Confirm present operation usable tanks and access/tariff conditions</a:t>
            </a:r>
          </a:p>
          <a:p>
            <a:r>
              <a:t>T2 Transnet Pipelines / Jameson Park: https://www.transnet.net/getFile.ashx?id=5330 | 2024-09-01 commencement; pp 19-20 and 62 | 2024 Shippers Manual names terminal and accumulation function | Separate asset from Vopak Lesedi; available capacity unknown | owner Manish / Nigel review | next: Geocode separately from Lesedi and verify accumulation tanks</a:t>
            </a:r>
          </a:p>
          <a:p>
            <a:r>
              <a:t>G1 VTTI Burgan Cape Terminal / Cape Town: https://www.vtti.com/location/cape-town-south-africa-bct/ | Page date not stated; notice published 2025-06-25 | Operator terminal page | 2025-2026 availability notice requires current-period confirmation | owner Manish / Nigel review | next: Verify current tank availability routes and customer overlap</a:t>
            </a:r>
          </a:p>
          <a:p>
            <a:r>
              <a:t>X1 Transnet Pipelines / Ladysmith: https://www.transnet.net/getFile.ashx?id=30047 | 2026-10-05 | Stranded tanks out of service since March 2018; no NMPP link or existing road/rail decanting system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X2 Transnet Pipelines / Standerton: https://www.transnet.net/getFile.ashx?id=30045 | 2026-10-05 | Stranded after DWP decommissioning; lease proposal requires operational and regulatory readiness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X3 Transnet Pipelines / Kroonstad: https://www.transnet.net/getFile.ashx?id=30044 | 2026-10-05 | Isolated after pipeline service ended; reactivation requires receipt/dispatch improvements and storage licence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X4 Transnet Pipelines / Bethlehem: https://www.transnet.net/getFile.ashx?id=30048 | 2026-10-05 | Stranded after DJP decommissioning; storage licence and receipt/dispatch improvements required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X5 Transnet Pipelines / Magdala: https://www.transnet.net/getFile.ashx?id=30046 | 2026-10-05 | Stranded after DJP decommissioning; RFP location narrative conflicts; briefing coordinate retained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[1] Vopak: https://www.vopak.com/system/files/Vopak_Annual_Report_2025.pdf | 2025 reporting year | Not matched petrol/diesel terminal throughput</a:t>
            </a:r>
          </a:p>
          <a:p>
            <a:r>
              <a:t>[2] Bidvest Tank Terminals: https://www.bidtanks.com/pages/1562/about-us | Publication date not stated | Site capacities imply 955603 m3 versus homepage 868000 m3; includes non-petrol/diesel products</a:t>
            </a:r>
          </a:p>
          <a:p>
            <a:r>
              <a:t>[3] VTTI Burgan Cape Terminal: https://www.vtti.com/location/cape-town-south-africa-bct/ | Page date not stated; download published 2025-06-25 | Storage stock not throughput; available-capacity notice needs period confirmation</a:t>
            </a:r>
          </a:p>
          <a:p>
            <a:r>
              <a:t>[4] Shell: https://www.shell.co.za/motorists/shell-fuels/fuel-storage-facilities.html | Publication date not stated | Does not establish current independent terminal capacity or market share</a:t>
            </a:r>
          </a:p>
          <a:p>
            <a:r>
              <a:t>[5] NERSA: https://www.nersa.org.za/petroleum-pipelines/third-party-access | Index entries dated 2020-09-25 | Historical mechanisms are not current contracted customer volumes or a complete competitor census</a:t>
            </a:r>
          </a:p>
          <a:p>
            <a:r>
              <a:t>[6] Sasol: https://sasol.com/our-businesses/energy | Page date not stated; linked notice reporting year 2025/26 | Notice period ends March 2026; current access and site ownership need confirmation</a:t>
            </a:r>
          </a:p>
          <a:p>
            <a:r>
              <a:t>[7] Transnet Pipelines: https://www.transnet.net/TPL-Leasing-Opportunities | 2026-10-05 RFPs; manual commencement 2024-09-01 | Lease assets are not available operating supply; refurbishment licensing and award conditional; unknown capacity at Bethlehem/Magdala</a:t>
            </a:r>
          </a:p>
          <a:p>
            <a:r>
              <a:t>SCR delivery order: page 12 of 16. Gap IDs and original evidence references retained in notes.</a:t>
            </a:r>
          </a:p>
          <a:p>
            <a:r>
              <a:t>SCR master row R1; linked roadmap page 2. Deep-dive page 12.</a:t>
            </a:r>
          </a:p>
          <a:p>
            <a:r>
              <a:t>Final story navigation: Overview p2; Market baseline p3; Market changes p7; Vopak outlook p12. Henry SCR naming remains in the overview.</a:t>
            </a:r>
          </a:p>
          <a:p>
            <a:r>
              <a:t>6 October SCR editorial pass: presentation copy and map hierarchy only. Source observations, example volumes and model inputs unchanged.</a:t>
            </a:r>
          </a:p>
          <a:p>
            <a:r>
              <a:t>Convergence order: national accounting p3; provincial map p4; history/estimates p5. Current page 12.</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13.</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Supports overview row(s) R6; clickable footer badge returns to page 2.</a:t>
            </a:r>
          </a:p>
          <a:p>
            <a:r>
              <a:t>Supports overview row(s) R6; clickable footer badge returns to page 2.</a:t>
            </a:r>
          </a:p>
          <a:p>
            <a:r>
              <a:t>Title supports overview row(s) R6; Overview chevron returns to page 2.</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Storage footprint is a public-evidence starting inventory, not a complete census. Coordinates are approximate except Tarlton and five Transnet RFP briefing coordinates. Lease symbols indicate offers, not operating assets. Magdala RFP location narrative is inconsistent; verify independently. Symbols do not encode capacity. Lesedi and Transnet Jameson Park are distinct assets represented by the same approximate area; the national map cannot separate their actual boundaries. Capacity is a stock, not throughput. Mixed-product tanks cannot establish petrol/diesel share.</a:t>
            </a:r>
          </a:p>
          <a:p>
            <a:r>
              <a:t>V1 Vopak / Durban: https://www.vopak.com/terminals/vopak-terminal-durban | Terminal page publication date not stated; checked 2026-10-06 | Operator terminal page publishes cbm capacity; independent usable-capacity review pending | Current available petrol/diesel capacity unknown | owner Manish / Nigel review | next: Confirm usable petrol/diesel capacity product split and unique customer deliveries</a:t>
            </a:r>
          </a:p>
          <a:p>
            <a:r>
              <a:t>V2 Vopak / Lesedi: https://www.vopak.com/terminals/vopak-terminal-lesedi | Terminal page publication date not stated; checked 2026-10-06 | Operator terminal page publishes cbm capacity; independent usable-capacity review pending | Current contracts and throughput unknown | owner Manish / Nigel review | next: Confirm usable petrol/diesel capacity product split and unique customer deliveries</a:t>
            </a:r>
          </a:p>
          <a:p>
            <a:r>
              <a:t>B1 Bidvest Tank Terminals / Durban: https://www.bidtanks.com/pages/1562/about-us | Page publication date not stated | Operator lists Island View and Maydon Wharf sites | Capacity scope and total-vintage discrepancy; no access assumed | owner Manish / Nigel review | next: Split sites and products; reconcile total against homepage 868000 m3</a:t>
            </a:r>
          </a:p>
          <a:p>
            <a:r>
              <a:t>B2 Bidvest Tank Terminals / Richards Bay: https://www.bidtanks.com/pages/1562/about-us | Page publication date not stated | Operator site listing | Includes gases; no petrol/diesel capacity or access assumed | owner Manish / Nigel review | next: Confirm tank-level eligible fuel scope and present ownership/access</a:t>
            </a:r>
          </a:p>
          <a:p>
            <a:r>
              <a:t>B3 Bidvest Tank Terminals / Isando: https://www.bidtanks.com/pages/1562/about-us | Page publication date not stated | Operator site listing | No petrol/diesel capacity or access assumed | owner Manish / Nigel review | next: Verify exact terminal location and product mix</a:t>
            </a:r>
          </a:p>
          <a:p>
            <a:r>
              <a:t>S1 Sasol / Alrode: https://sasol.com/our-businesses/energy | Page date not stated; linked notice reporting year 2025/26 | Operator Energy locations page | Notice ends March 2026; current access and joint ownership require confirmation | owner Manish / Nigel review | next: Refresh expired capacity notice and confirm site/operator ownership</a:t>
            </a:r>
          </a:p>
          <a:p>
            <a:r>
              <a:t>S2 Sasol / Pretoria West: https://sasol.com/our-businesses/energy | Page publication date not stated | Operator Energy locations page | Available capacity and access unknown | owner Manish / Nigel review | next: Obtain licence exact coordinates and product-specific usable capacity</a:t>
            </a:r>
          </a:p>
          <a:p>
            <a:r>
              <a:t>S3 Sasol / Waltloo: https://sasol.com/our-businesses/energy | Page publication date not stated | Operator Energy locations page | Available capacity and access unknown | owner Manish / Nigel review | next: Obtain licence exact coordinates and product-specific usable capacity</a:t>
            </a:r>
          </a:p>
          <a:p>
            <a:r>
              <a:t>S4 Sasol / Sasolburg: https://sasol.com/our-businesses/energy | Page publication date not stated | Operator Energy locations page | Not treated as independent merchant terminal capacity | owner Manish / Nigel review | next: Separate refinery production from logistics and usable storage assets</a:t>
            </a:r>
          </a:p>
          <a:p>
            <a:r>
              <a:t>T1 Transnet Pipelines / Tarlton: https://transnetetenders.azurewebsites.net/Home/TenderDetails?Id=70943 | 2025-04-16 tender publication | 2025 facility tender; 2024 manual documents delivery and reprocessing | No current spare capacity or open merchant access inferred | owner Manish / Nigel review | next: Confirm present operation usable tanks and access/tariff conditions</a:t>
            </a:r>
          </a:p>
          <a:p>
            <a:r>
              <a:t>T2 Transnet Pipelines / Jameson Park: https://www.transnet.net/getFile.ashx?id=5330 | 2024-09-01 commencement; pp 19-20 and 62 | 2024 Shippers Manual names terminal and accumulation function | Separate asset from Vopak Lesedi; available capacity unknown | owner Manish / Nigel review | next: Geocode separately from Lesedi and verify accumulation tanks</a:t>
            </a:r>
          </a:p>
          <a:p>
            <a:r>
              <a:t>G1 VTTI Burgan Cape Terminal / Cape Town: https://www.vtti.com/location/cape-town-south-africa-bct/ | Page date not stated; notice published 2025-06-25 | Operator terminal page | 2025-2026 availability notice requires current-period confirmation | owner Manish / Nigel review | next: Verify current tank availability routes and customer overlap</a:t>
            </a:r>
          </a:p>
          <a:p>
            <a:r>
              <a:t>X1 Transnet Pipelines / Ladysmith: https://www.transnet.net/getFile.ashx?id=30047 | 2026-10-05 | Stranded tanks out of service since March 2018; no NMPP link or existing road/rail decanting system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X2 Transnet Pipelines / Standerton: https://www.transnet.net/getFile.ashx?id=30045 | 2026-10-05 | Stranded after DWP decommissioning; lease proposal requires operational and regulatory readiness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X3 Transnet Pipelines / Kroonstad: https://www.transnet.net/getFile.ashx?id=30044 | 2026-10-05 | Isolated after pipeline service ended; reactivation requires receipt/dispatch improvements and storage licence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X4 Transnet Pipelines / Bethlehem: https://www.transnet.net/getFile.ashx?id=30048 | 2026-10-05 | Stranded after DJP decommissioning; storage licence and receipt/dispatch improvements required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X5 Transnet Pipelines / Magdala: https://www.transnet.net/getFile.ashx?id=30046 | 2026-10-05 | Stranded after DJP decommissioning; RFP location narrative conflicts; briefing coordinate retained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All eight locations use one linear axis, 0-850 thousand m3; no enlarged inset, axis break or minimum visual bar width. Location/value labels all use 12pt; ticks and legend 11pt. Gross stocks and RFP-stated lease tanks are not like-for-like usable operating capacity; no national total is inferred. Ladysmith: 8540 m3 petrol/diesel working, excluding 474 m3 intermixture; total working 9014 m3. Standerton: (1350000+220000+783000)/1000=2353 m3, basis unspecified. Kroonstad: approximately 3300 m3, basis unspecified. Bethlehem/Magdala petroleum storage is unquantified. Lease offers are excluded from operating supply and cost-model origins. Primary RFPs retained under external/data/raw/transnet_leasing_20261006/. https://www.transnet.net/TPL-Leasing-Opportunities</a:t>
            </a:r>
          </a:p>
          <a:p>
            <a:r>
              <a:t>SCR delivery order: page 14 of 16. Gap IDs and original evidence references retained in notes.</a:t>
            </a:r>
          </a:p>
          <a:p>
            <a:r>
              <a:t>SCR master row R2; linked roadmap page 2. Deep-dive page 14.</a:t>
            </a:r>
          </a:p>
          <a:p>
            <a:r>
              <a:t>Final story navigation: Overview p2; Market baseline p3; Market changes p7; Vopak outlook p12. Henry SCR naming remains in the overview.</a:t>
            </a:r>
          </a:p>
          <a:p>
            <a:r>
              <a:t>6 October SCR editorial pass: presentation copy and map hierarchy only. Source observations, example volumes and model inputs unchanged.</a:t>
            </a:r>
          </a:p>
          <a:p>
            <a:r>
              <a:t>Convergence order: national accounting p3; provincial map p4; history/estimates p5. Current page 14.</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15.</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Supports overview row(s) R7; clickable footer badge returns to page 2.</a:t>
            </a:r>
          </a:p>
          <a:p>
            <a:r>
              <a:t>Supports overview row(s) R7; clickable footer badge returns to page 2.</a:t>
            </a:r>
          </a:p>
          <a:p>
            <a:r>
              <a:t>Title supports overview row(s) R7; Overview chevron returns to page 2.</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Partner storyboard pp30-32 supplied in chat and preserved under external/partner_story_20261006/. Partner propositions are hypotheses, not assertions that reversals or refinery projects have occurred. All gap records are open pending the stated evidence and review. Work windows/owners are planning targets. Fuel-model integration takes precedence over broad infrastructure or detailed service sizing. Jet remains separately tracked and excluded from client petrol/diesel totals. Detailed analyst review: workstreams/WS3_reporting_delivery/partner_story_alignment_2026-10-06.md.</a:t>
            </a:r>
          </a:p>
          <a:p>
            <a:r>
              <a:t>{</a:t>
            </a:r>
          </a:p>
          <a:p>
            <a:r>
              <a:t>  "date": "2026-10-06",</a:t>
            </a:r>
          </a:p>
          <a:p>
            <a:r>
              <a:t>  "scope": "SA petrol/diesel; jet separate",</a:t>
            </a:r>
          </a:p>
          <a:p>
            <a:r>
              <a:t>  "status": "Review roadmap; not approval or forecast",</a:t>
            </a:r>
          </a:p>
          <a:p>
            <a:r>
              <a:t>  "partner_source": "external/partner_story_20261006 (received pp30-32 screenshots)",</a:t>
            </a:r>
          </a:p>
          <a:p>
            <a:r>
              <a:t>  "planning": "Week windows and analyst assignments proposed, not confirmed commitments",</a:t>
            </a:r>
          </a:p>
          <a:p>
            <a:r>
              <a:t>  "rows": [</a:t>
            </a:r>
          </a:p>
          <a:p>
            <a:r>
              <a:t>    {</a:t>
            </a:r>
          </a:p>
          <a:p>
            <a:r>
              <a:t>      "id": "SA01",</a:t>
            </a:r>
          </a:p>
          <a:p>
            <a:r>
              <a:t>      "story": "Situation",</a:t>
            </a:r>
          </a:p>
          <a:p>
            <a:r>
              <a:t>      "question": "SA demand history and regional market size",</a:t>
            </a:r>
          </a:p>
          <a:p>
            <a:r>
              <a:t>      "existing_work": "Pack pp2-3,7: quarterly provincial sales 2013-2022; national series 2005-2023; 2023 incomplete.",</a:t>
            </a:r>
          </a:p>
          <a:p>
            <a:r>
              <a:t>      "gap": "Later complete year; six provincial/national annual differences; historical driver contributions not quantified.",</a:t>
            </a:r>
          </a:p>
          <a:p>
            <a:r>
              <a:t>      "action": "Review 2013/14/15/17/18/21 against original workbooks; source later full years. Preserve 2022 historical label.",</a:t>
            </a:r>
          </a:p>
          <a:p>
            <a:r>
              <a:t>      "closure_evidence": "Old value, proposed value, source cell and reason for each correction; all province/product quarters; national tie.",</a:t>
            </a:r>
          </a:p>
          <a:p>
            <a:r>
              <a:t>      "owner": "Manish; Nigel review",</a:t>
            </a:r>
          </a:p>
          <a:p>
            <a:r>
              <a:t>      "timing": "W1 investigate; W2 reconcile",</a:t>
            </a:r>
          </a:p>
          <a:p>
            <a:r>
              <a:t>      "source_lead": "fuel_sales_department_by_province_quarterly.csv; fuel_sales_department.csv; DMPR index",</a:t>
            </a:r>
          </a:p>
          <a:p>
            <a:r>
              <a:t>      "refresh_method": "Manual workbook download and parser rerun; completeness and revisions checked.",</a:t>
            </a:r>
          </a:p>
          <a:p>
            <a:r>
              <a:t>      "model_connection": "pptx/scripts/provincial_demand_map.py::sales; reporting evidence, not approved model calibration.",</a:t>
            </a:r>
          </a:p>
          <a:p>
            <a:r>
              <a:t>      "priority": "P0",</a:t>
            </a:r>
          </a:p>
          <a:p>
            <a:r>
              <a:t>      "status": "Open; existing evidence does not establish closure"</a:t>
            </a:r>
          </a:p>
          <a:p>
            <a:r>
              <a:t>    },</a:t>
            </a:r>
          </a:p>
          <a:p>
            <a:r>
              <a:t>    {</a:t>
            </a:r>
          </a:p>
          <a:p>
            <a:r>
              <a:t>      "id": "SA02",</a:t>
            </a:r>
          </a:p>
          <a:p>
            <a:r>
              <a:t>      "story": "Situation",</a:t>
            </a:r>
          </a:p>
          <a:p>
            <a:r>
              <a:t>      "question": "Economically reachable eastern/inland market",</a:t>
            </a:r>
          </a:p>
          <a:p>
            <a:r>
              <a:t>      "existing_work": "Working province groups p2; illustrative road-cost map p5; storage footprint.",</a:t>
            </a:r>
          </a:p>
          <a:p>
            <a:r>
              <a:t>      "gap": "Actual customer destinations, cost threshold, route capacity and commercial rights.",</a:t>
            </a:r>
          </a:p>
          <a:p>
            <a:r>
              <a:t>      "action": "Use delivered transport cost R/litre for actual destinations; qualify physical reach and customer access separately.",</a:t>
            </a:r>
          </a:p>
          <a:p>
            <a:r>
              <a:t>      "closure_evidence": "Reachable and commercially accessible volume by product/destination/year; sourced costs and explicit unassessed residual.",</a:t>
            </a:r>
          </a:p>
          <a:p>
            <a:r>
              <a:t>      "owner": "Manish route evidence; Nigel client access",</a:t>
            </a:r>
          </a:p>
          <a:p>
            <a:r>
              <a:t>      "timing": "W1 define contract; W2-W4 integrate",</a:t>
            </a:r>
          </a:p>
          <a:p>
            <a:r>
              <a:t>      "source_lead": "Regional membership CSV; client destinations; route tariffs and quotations",</a:t>
            </a:r>
          </a:p>
          <a:p>
            <a:r>
              <a:t>      "refresh_method": "Manual client/route evidence; refresh tariff, access or destination changes.",</a:t>
            </a:r>
          </a:p>
          <a:p>
            <a:r>
              <a:t>      "model_connection": "Illustrative accessibility module is presentation only; no operational routing engine.",</a:t>
            </a:r>
          </a:p>
          <a:p>
            <a:r>
              <a:t>      "priority": "P0",</a:t>
            </a:r>
          </a:p>
          <a:p>
            <a:r>
              <a:t>      "status": "Open; existing evidence does not establish closure"</a:t>
            </a:r>
          </a:p>
          <a:p>
            <a:r>
              <a:t>    },</a:t>
            </a:r>
          </a:p>
          <a:p>
            <a:r>
              <a:t>    {</a:t>
            </a:r>
          </a:p>
          <a:p>
            <a:r>
              <a:t>      "id": "SA03",</a:t>
            </a:r>
          </a:p>
          <a:p>
            <a:r>
              <a:t>      "story": "Situation",</a:t>
            </a:r>
          </a:p>
          <a:p>
            <a:r>
              <a:t>      "question": "Domestic production versus finished imports",</a:t>
            </a:r>
          </a:p>
          <a:p>
            <a:r>
              <a:t>      "existing_work": "Pack page 5: 2024 FIASA sales and government imports/exports collected; explicit diesel-import disagreement. Latest staged domestic production remains 2021.",</a:t>
            </a:r>
          </a:p>
          <a:p>
            <a:r>
              <a:t>      "gap": "Matched recent demand, output, imports, exports and stocks; actual provincial origin unavailable.",</a:t>
            </a:r>
          </a:p>
          <a:p>
            <a:r>
              <a:t>      "action": "Reconcile national petrol/diesel first; retain provincial origin as unknown without evidence; separate crude and finished products.",</a:t>
            </a:r>
          </a:p>
          <a:p>
            <a:r>
              <a:t>      "closure_evidence": "Production + imports - exports - stock build = consumption by fuel/year; unit/coverage bridge and residual explained.",</a:t>
            </a:r>
          </a:p>
          <a:p>
            <a:r>
              <a:t>      "owner": "Manish; Nigel review",</a:t>
            </a:r>
          </a:p>
          <a:p>
            <a:r>
              <a:t>      "timing": "W1 mapping; W2 historical balance",</a:t>
            </a:r>
          </a:p>
          <a:p>
            <a:r>
              <a:t>      "source_lead": "energy_balance_department.csv; DMPR commodity flow; SARS trade data",</a:t>
            </a:r>
          </a:p>
          <a:p>
            <a:r>
              <a:t>      "refresh_method": "Manual annual energy workbook and monthly customs download; preserve revisions.",</a:t>
            </a:r>
          </a:p>
          <a:p>
            <a:r>
              <a:t>      "model_connection": "src/lfm/model/supply/flows.py::compute_balance currently demand less supply; exports/stocks not explicit.",</a:t>
            </a:r>
          </a:p>
          <a:p>
            <a:r>
              <a:t>      "priority": "P0",</a:t>
            </a:r>
          </a:p>
          <a:p>
            <a:r>
              <a:t>      "status": "Open; existing evidence does not establish closure"</a:t>
            </a:r>
          </a:p>
          <a:p>
            <a:r>
              <a:t>    },</a:t>
            </a:r>
          </a:p>
          <a:p>
            <a:r>
              <a:t>    {</a:t>
            </a:r>
          </a:p>
          <a:p>
            <a:r>
              <a:t>      "id": "SA04",</a:t>
            </a:r>
          </a:p>
          <a:p>
            <a:r>
              <a:t>      "story": "Situation",</a:t>
            </a:r>
          </a:p>
          <a:p>
            <a:r>
              <a:t>      "question": "Import entry ports and origin",</a:t>
            </a:r>
          </a:p>
          <a:p>
            <a:r>
              <a:t>      "existing_work": "Pack page 5: national trade collected; TNPA liquid bulk is broader than petrol/diesel. Product-specific port allocation remains open.",</a:t>
            </a:r>
          </a:p>
          <a:p>
            <a:r>
              <a:t>      "gap": "Product-specific finished imports by port/year and source country; liquid bulk is not all fuel.",</a:t>
            </a:r>
          </a:p>
          <a:p>
            <a:r>
              <a:t>      "action": "Bridge SARS product/quantity data to TNPA port cargo; check port identifier availability and density conversion.",</a:t>
            </a:r>
          </a:p>
          <a:p>
            <a:r>
              <a:t>      "closure_evidence": "National finished imports tied to evidenced port allocations; unallocated remainder explicit.",</a:t>
            </a:r>
          </a:p>
          <a:p>
            <a:r>
              <a:t>      "owner": "Manish; Nigel source access",</a:t>
            </a:r>
          </a:p>
          <a:p>
            <a:r>
              <a:t>      "timing": "W2-W3",</a:t>
            </a:r>
          </a:p>
          <a:p>
            <a:r>
              <a:t>      "source_lead": "https://tools.sars.gov.za/tradestatsportal/data_download.aspx ; https://www.transnetnationalportsauthority.net/Commercial%20and%20Marketing/Pages/Port-Statistics.aspx",</a:t>
            </a:r>
          </a:p>
          <a:p>
            <a:r>
              <a:t>      "refresh_method": "Manual portal downloads; check HS coverage, revisions, tonnes/litres and crude/nonfuel exclusions.",</a:t>
            </a:r>
          </a:p>
          <a:p>
            <a:r>
              <a:t>      "model_connection": "No imported-volume allocation by port/destination in current engine.",</a:t>
            </a:r>
          </a:p>
          <a:p>
            <a:r>
              <a:t>      "priority": "P1",</a:t>
            </a:r>
          </a:p>
          <a:p>
            <a:r>
              <a:t>      "status": "Open; existing evidence does not establish closure"</a:t>
            </a:r>
          </a:p>
          <a:p>
            <a:r>
              <a:t>    },</a:t>
            </a:r>
          </a:p>
          <a:p>
            <a:r>
              <a:t>    {</a:t>
            </a:r>
          </a:p>
          <a:p>
            <a:r>
              <a:t>      "id": "SA05",</a:t>
            </a:r>
          </a:p>
          <a:p>
            <a:r>
              <a:t>      "story": "Situation / Complication",</a:t>
            </a:r>
          </a:p>
          <a:p>
            <a:r>
              <a:t>      "question": "Power-generation diesel and potential reversal",</a:t>
            </a:r>
          </a:p>
          <a:p>
            <a:r>
              <a:t>      "existing_work": "Eskom OCGT observations 2022-2026 staged; engine capacity/load factor/efficiency path.",</a:t>
            </a:r>
          </a:p>
          <a:p>
            <a:r>
              <a:t>      "gap": "Eskom/IPP coverage, fiscal/calendar alignment, fuel conversion and forecast dispatch. No loadshedding does not mean no OCGT diesel.",</a:t>
            </a:r>
          </a:p>
          <a:p>
            <a:r>
              <a:t>      "action": "Reconcile generation and fuel burn by plant set; calibrate dispatch alternatives; avoid additive double-counting.",</a:t>
            </a:r>
          </a:p>
          <a:p>
            <a:r>
              <a:t>      "closure_evidence": "Historical GWh-to-litres tie; baseline/alternative dispatch, units, dates and incremental demand effect.",</a:t>
            </a:r>
          </a:p>
          <a:p>
            <a:r>
              <a:t>      "owner": "Manish; Nigel review",</a:t>
            </a:r>
          </a:p>
          <a:p>
            <a:r>
              <a:t>      "timing": "W1 lever; W2-W3 calibration",</a:t>
            </a:r>
          </a:p>
          <a:p>
            <a:r>
              <a:t>      "source_lead": "ocgt_generation_eskom.csv; generation.yaml; primary Eskom operating reports",</a:t>
            </a:r>
          </a:p>
          <a:p>
            <a:r>
              <a:t>      "refresh_method": "Manual quarterly/annual operating reports; scope and period checks.",</a:t>
            </a:r>
          </a:p>
          <a:p>
            <a:r>
              <a:t>      "model_connection": "src/lfm/model/demand/generation.py::compute_country_annual.",</a:t>
            </a:r>
          </a:p>
          <a:p>
            <a:r>
              <a:t>      "priority": "P0",</a:t>
            </a:r>
          </a:p>
          <a:p>
            <a:r>
              <a:t>      "status": "Open; existing evidence does not establish closure"</a:t>
            </a:r>
          </a:p>
          <a:p>
            <a:r>
              <a:t>    },</a:t>
            </a:r>
          </a:p>
          <a:p>
            <a:r>
              <a:t>    {</a:t>
            </a:r>
          </a:p>
          <a:p>
            <a:r>
              <a:t>      "id": "SA06",</a:t>
            </a:r>
          </a:p>
          <a:p>
            <a:r>
              <a:t>      "story": "Situation / Complication",</a:t>
            </a:r>
          </a:p>
          <a:p>
            <a:r>
              <a:t>      "question": "Road-to-rail freight shift",</a:t>
            </a:r>
          </a:p>
          <a:p>
            <a:r>
              <a:t>      "existing_work": "Road vehicle cohort calculation and schematic rail context; no mode-shift source series found in current vintage.",</a:t>
            </a:r>
          </a:p>
          <a:p>
            <a:r>
              <a:t>      "gap": "Road/rail freight, tonne-km, distance, payload, empty running and feasible rail intervention.",</a:t>
            </a:r>
          </a:p>
          <a:p>
            <a:r>
              <a:t>      "action": "Use Stats SA P7162 and operator traffic evidence; distinguish tonnes/revenue/tonne-km; convert displaced truck work into diesel.",</a:t>
            </a:r>
          </a:p>
          <a:p>
            <a:r>
              <a:t>      "closure_evidence": "Specific intervention with baseline/alternative mode shares, dates and diesel-intensity bridge; no duplicate mileage reduction.",</a:t>
            </a:r>
          </a:p>
          <a:p>
            <a:r>
              <a:t>      "owner": "Manish; Nigel intervention; Henry review",</a:t>
            </a:r>
          </a:p>
          <a:p>
            <a:r>
              <a:t>      "timing": "W1 lever definition; W2-W4 integration",</a:t>
            </a:r>
          </a:p>
          <a:p>
            <a:r>
              <a:t>      "source_lead": "https://www.statssa.gov.za/?PPN=P7162&amp;SCH=74110&amp;page_id=1854 ; Transnet freight traffic/access evidence",</a:t>
            </a:r>
          </a:p>
          <a:p>
            <a:r>
              <a:t>      "refresh_method": "Manual monthly survey and annual operator reports; coverage/revision checks.",</a:t>
            </a:r>
          </a:p>
          <a:p>
            <a:r>
              <a:t>      "model_connection": "vehicles.py has no explicit rail-shift lever.",</a:t>
            </a:r>
          </a:p>
          <a:p>
            <a:r>
              <a:t>      "priority": "P0",</a:t>
            </a:r>
          </a:p>
          <a:p>
            <a:r>
              <a:t>      "status": "Open; existing evidence does not establish closure"</a:t>
            </a:r>
          </a:p>
          <a:p>
            <a:r>
              <a:t>    },</a:t>
            </a:r>
          </a:p>
          <a:p>
            <a:r>
              <a:t>    {</a:t>
            </a:r>
          </a:p>
          <a:p>
            <a:r>
              <a:t>      "id": "SA07",</a:t>
            </a:r>
          </a:p>
          <a:p>
            <a:r>
              <a:t>      "story": "Situation / Complication",</a:t>
            </a:r>
          </a:p>
          <a:p>
            <a:r>
              <a:t>      "question": "BEV, hybrid, efficiency and charging effects",</a:t>
            </a:r>
          </a:p>
          <a:p>
            <a:r>
              <a:t>      "existing_work": "Naamsa NEV sales 2019-2025 staged; engine EV curve and efficiency parameters.",</a:t>
            </a:r>
          </a:p>
          <a:p>
            <a:r>
              <a:t>      "gap": "Sales versus stock, segment scope, BEV/HEV distinction, survival, mileage and charging intervention.",</a:t>
            </a:r>
          </a:p>
          <a:p>
            <a:r>
              <a:t>      "action": "Calibrate uptake and fleet turnover; retain hybrids as fuel users with separate efficiency; define charging policy/investment lever.",</a:t>
            </a:r>
          </a:p>
          <a:p>
            <a:r>
              <a:t>      "closure_evidence": "Opening-fleet/cohort tie; drivetrain-specific L/100km; dated uptake alternatives and litres effect.",</a:t>
            </a:r>
          </a:p>
          <a:p>
            <a:r>
              <a:t>      "owner": "Manish; Nigel review",</a:t>
            </a:r>
          </a:p>
          <a:p>
            <a:r>
              <a:t>      "timing": "W1 levers; W2-W3 calibration",</a:t>
            </a:r>
          </a:p>
          <a:p>
            <a:r>
              <a:t>      "source_lead": "nev_sales_naamsa.csv; vehicles.yaml; official registration evidence",</a:t>
            </a:r>
          </a:p>
          <a:p>
            <a:r>
              <a:t>      "refresh_method": "Manual quarterly/annual data; reconcile drivetrain taxonomy and scope.",</a:t>
            </a:r>
          </a:p>
          <a:p>
            <a:r>
              <a:t>      "model_connection": "src/lfm/model/demand/vehicles.py::compute_country_annual and _ev_penetration.",</a:t>
            </a:r>
          </a:p>
          <a:p>
            <a:r>
              <a:t>      "priority": "P0",</a:t>
            </a:r>
          </a:p>
          <a:p>
            <a:r>
              <a:t>      "status": "Open; existing evidence does not establish closure"</a:t>
            </a:r>
          </a:p>
          <a:p>
            <a:r>
              <a:t>    },</a:t>
            </a:r>
          </a:p>
          <a:p>
            <a:r>
              <a:t>    {</a:t>
            </a:r>
          </a:p>
          <a:p>
            <a:r>
              <a:t>      "id": "SA08",</a:t>
            </a:r>
          </a:p>
          <a:p>
            <a:r>
              <a:t>      "story": "Situation / Complication",</a:t>
            </a:r>
          </a:p>
          <a:p>
            <a:r>
              <a:t>      "question": "GDP, fuel prices and kilometres travelled",</a:t>
            </a:r>
          </a:p>
          <a:p>
            <a:r>
              <a:t>      "existing_work": "Macro sources staged; price series 2011-2024-04; engine GDP/capita new-sales relationship.",</a:t>
            </a:r>
          </a:p>
          <a:p>
            <a:r>
              <a:t>      "gap": "Real-price basis, causal activity effect, elasticities and actual/forecast extension.",</a:t>
            </a:r>
          </a:p>
          <a:p>
            <a:r>
              <a:t>      "action": "Map GDP source into provider with population/base-price rules; propose price-to-km response separately from efficiency.",</a:t>
            </a:r>
          </a:p>
          <a:p>
            <a:r>
              <a:t>      "closure_evidence": "Explicit historical/forecast boundary and consuming function; calibrated sensitivity without duplicate activity reductions.",</a:t>
            </a:r>
          </a:p>
          <a:p>
            <a:r>
              <a:t>      "owner": "Manish; Nigel review",</a:t>
            </a:r>
          </a:p>
          <a:p>
            <a:r>
              <a:t>      "timing": "W1 mapping; W2-W3 validation",</a:t>
            </a:r>
          </a:p>
          <a:p>
            <a:r>
              <a:t>      "source_lead": "macro_statssa.csv; macro_worldbank.csv; gdp_growth_treasury.csv; fuel_prices_department.csv",</a:t>
            </a:r>
          </a:p>
          <a:p>
            <a:r>
              <a:t>      "refresh_method": "Stats SA/Treasury/DMPR manual downloads; World Bank API; independent vintage and freshness checks.",</a:t>
            </a:r>
          </a:p>
          <a:p>
            <a:r>
              <a:t>      "model_connection": "vehicles.py GDP new-sales path; no explicit fuel-price-to-mileage response.",</a:t>
            </a:r>
          </a:p>
          <a:p>
            <a:r>
              <a:t>      "priority": "P0",</a:t>
            </a:r>
          </a:p>
          <a:p>
            <a:r>
              <a:t>      "status": "Open; existing evidence does not establish closure"</a:t>
            </a:r>
          </a:p>
          <a:p>
            <a:r>
              <a:t>    },</a:t>
            </a:r>
          </a:p>
          <a:p>
            <a:r>
              <a:t>    {</a:t>
            </a:r>
          </a:p>
          <a:p>
            <a:r>
              <a:t>      "id": "SA09",</a:t>
            </a:r>
          </a:p>
          <a:p>
            <a:r>
              <a:t>      "story": "Situation / Complication",</a:t>
            </a:r>
          </a:p>
          <a:p>
            <a:r>
              <a:t>      "question": "Refinery closures, availability and SAPREF proposal",</a:t>
            </a:r>
          </a:p>
          <a:p>
            <a:r>
              <a:t>      "existing_work": "Pack page 8: published 2016\u20132025 capacity footprint plus conditional CEF 400k bpd case. Existing refinery keys/output/yields remain unresolved.",</a:t>
            </a:r>
          </a:p>
          <a:p>
            <a:r>
              <a:t>      "gap": "Current output/yields/status; dated closures/restarts; SAPREF project evidence; 558 extra refinery rows unresolved.",</a:t>
            </a:r>
          </a:p>
          <a:p>
            <a:r>
              <a:t>      "action": "Resolve repeated keys against original named ranges; build refinery-year status and output; treat proposals as conditional scenarios.",</a:t>
            </a:r>
          </a:p>
          <a:p>
            <a:r>
              <a:t>      "closure_evidence": "Unique country/year/scenario keys with source cells; actual/proposed distinction; per-refinery output tie and import sensitivity.",</a:t>
            </a:r>
          </a:p>
          <a:p>
            <a:r>
              <a:t>      "owner": "Manish; Nigel review; Henry challenge",</a:t>
            </a:r>
          </a:p>
          <a:p>
            <a:r>
              <a:t>      "timing": "W1 duplicates; W2-W3 scenarios",</a:t>
            </a:r>
          </a:p>
          <a:p>
            <a:r>
              <a:t>      "source_lead": "supply.yaml; refinery_production.csv; original workbook; primary operator/CEF/PetroSA reports",</a:t>
            </a:r>
          </a:p>
          <a:p>
            <a:r>
              <a:t>      "refresh_method": "Manual reports; refresh outages, restart, ownership or sanctioned-project changes.",</a:t>
            </a:r>
          </a:p>
          <a:p>
            <a:r>
              <a:t>      "model_connection": "src/lfm/model/supply/flows.py::compute_supply.",</a:t>
            </a:r>
          </a:p>
          <a:p>
            <a:r>
              <a:t>      "priority": "P0",</a:t>
            </a:r>
          </a:p>
          <a:p>
            <a:r>
              <a:t>      "status": "Open; existing evidence does not establish closure"</a:t>
            </a:r>
          </a:p>
          <a:p>
            <a:r>
              <a:t>    },</a:t>
            </a:r>
          </a:p>
          <a:p>
            <a:r>
              <a:t>    {</a:t>
            </a:r>
          </a:p>
          <a:p>
            <a:r>
              <a:t>      "id": "SA10",</a:t>
            </a:r>
          </a:p>
          <a:p>
            <a:r>
              <a:t>      "story": "Complication",</a:t>
            </a:r>
          </a:p>
          <a:p>
            <a:r>
              <a:t>      "question": "Secunda gas/MRG and Natref future",</a:t>
            </a:r>
          </a:p>
          <a:p>
            <a:r>
              <a:t>      "existing_work": "Generic Sasol/Natref capacities, yields and utilisation; no plant-level gas-liquid linkage.",</a:t>
            </a:r>
          </a:p>
          <a:p>
            <a:r>
              <a:t>      "gap": "MRG timing and causal liquid-fuel effect; Natref future not established; partner propositions untested.",</a:t>
            </a:r>
          </a:p>
          <a:p>
            <a:r>
              <a:t>      "action": "Check latest primary Sasol disclosures; technical reviewer specifies mechanism before any fuel-output change.",</a:t>
            </a:r>
          </a:p>
          <a:p>
            <a:r>
              <a:t>      "closure_evidence": "Documented plant-level mechanism and dated scenario; no gas-to-liquid displacement inferred without evidence.",</a:t>
            </a:r>
          </a:p>
          <a:p>
            <a:r>
              <a:t>      "owner": "Manish sources; Henry technical review; Nigel scenarios",</a:t>
            </a:r>
          </a:p>
          <a:p>
            <a:r>
              <a:t>      "timing": "W2-W3",</a:t>
            </a:r>
          </a:p>
          <a:p>
            <a:r>
              <a:t>      "source_lead": "https://www.sasol.com/sasol-suite-reports ; 2026 Sasol SEC 20-F",</a:t>
            </a:r>
          </a:p>
          <a:p>
            <a:r>
              <a:t>      "refresh_method": "Manual quarterly/annual operating guidance and plant/gas changes.",</a:t>
            </a:r>
          </a:p>
          <a:p>
            <a:r>
              <a:t>      "model_connection": "No gas-to-fuel mechanism; utilisation/yield changes need explicit sourced scenario.",</a:t>
            </a:r>
          </a:p>
          <a:p>
            <a:r>
              <a:t>      "priority": "P1",</a:t>
            </a:r>
          </a:p>
          <a:p>
            <a:r>
              <a:t>      "status": "Open; existing evidence does not establish closure"</a:t>
            </a:r>
          </a:p>
          <a:p>
            <a:r>
              <a:t>    },</a:t>
            </a:r>
          </a:p>
          <a:p>
            <a:r>
              <a:t>    {</a:t>
            </a:r>
          </a:p>
          <a:p>
            <a:r>
              <a:t>      "id": "SA11",</a:t>
            </a:r>
          </a:p>
          <a:p>
            <a:r>
              <a:t>      "story": "Complication",</a:t>
            </a:r>
          </a:p>
          <a:p>
            <a:r>
              <a:t>      "question": "Durban-NMPP-Lesedi versus road/rail, Matola and Walvis Bay",</a:t>
            </a:r>
          </a:p>
          <a:p>
            <a:r>
              <a:t>      "existing_work": "Pack page 10: schematic Southern Africa corridor map; page 9 illustrative road-cost surface. No matched full delivered-cost or fuel-access allocation.",</a:t>
            </a:r>
          </a:p>
          <a:p>
            <a:r>
              <a:t>      "gap": "Comparable route costs, NMPP capacity/tariff, actual rail service and cross-border feasibility.",</a:t>
            </a:r>
          </a:p>
          <a:p>
            <a:r>
              <a:t>      "action": "Choose first product/customer destination; compare full handling/transport/transfer cost, border/FX where relevant, same period and basis.",</a:t>
            </a:r>
          </a:p>
          <a:p>
            <a:r>
              <a:t>      "closure_evidence": "Comparable delivered R/litre with cost components, capacity/access limits and dated sources; no national optimisation claim.",</a:t>
            </a:r>
          </a:p>
          <a:p>
            <a:r>
              <a:t>      "owner": "Manish evidence; Nigel corridor choice; Henry review",</a:t>
            </a:r>
          </a:p>
          <a:p>
            <a:r>
              <a:t>      "timing": "W1 comparison contract; W2-W4 first route",</a:t>
            </a:r>
          </a:p>
          <a:p>
            <a:r>
              <a:t>      "source_lead": "Client tariffs/quotes; current pipeline, port, road/rail and border operator evidence",</a:t>
            </a:r>
          </a:p>
          <a:p>
            <a:r>
              <a:t>      "refresh_method": "Manual published tariffs and dated quotes; tariff-year, FX and access refresh.",</a:t>
            </a:r>
          </a:p>
          <a:p>
            <a:r>
              <a:t>      "model_connection": "No operational route allocation or delivered-cost engine.",</a:t>
            </a:r>
          </a:p>
          <a:p>
            <a:r>
              <a:t>      "priority": "P0",</a:t>
            </a:r>
          </a:p>
          <a:p>
            <a:r>
              <a:t>      "status": "Open; existing evidence does not establish closure"</a:t>
            </a:r>
          </a:p>
          <a:p>
            <a:r>
              <a:t>    },</a:t>
            </a:r>
          </a:p>
          <a:p>
            <a:r>
              <a:t>    {</a:t>
            </a:r>
          </a:p>
          <a:p>
            <a:r>
              <a:t>      "id": "SA12",</a:t>
            </a:r>
          </a:p>
          <a:p>
            <a:r>
              <a:t>      "story": "Resolution",</a:t>
            </a:r>
          </a:p>
          <a:p>
            <a:r>
              <a:t>      "question": "Vopak market share at Durban and Lesedi",</a:t>
            </a:r>
          </a:p>
          <a:p>
            <a:r>
              <a:t>      "existing_work": "Pack page 13: illustrative 3.0 / 4.5 / 8.5 bn L milestones and required conditions; sourced regional sales page 12. Actual client flows and share remain unknown.",</a:t>
            </a:r>
          </a:p>
          <a:p>
            <a:r>
              <a:t>      "gap": "Unique customer deliveries, receipts, shared transfers, destinations and matched period.",</a:t>
            </a:r>
          </a:p>
          <a:p>
            <a:r>
              <a:t>      "action": "Nigel requests client flow extract; Manish reconciles receipt/transfer/final-delivery records and counts final demand once.",</a:t>
            </a:r>
          </a:p>
          <a:p>
            <a:r>
              <a:t>      "closure_evidence": "Separate terminal throughput and unique served-demand shares; matched-year/product denominator; traceable records, no capacity-as-share.",</a:t>
            </a:r>
          </a:p>
          <a:p>
            <a:r>
              <a:t>      "owner": "Nigel client request; Manish reconciliation",</a:t>
            </a:r>
          </a:p>
          <a:p>
            <a:r>
              <a:t>      "timing": "W1 request/schema; W2+ on receipt",</a:t>
            </a:r>
          </a:p>
          <a:p>
            <a:r>
              <a:t>      "source_lead": "Vopak operational/customer data; public unique-throughput data not established",</a:t>
            </a:r>
          </a:p>
          <a:p>
            <a:r>
              <a:t>      "refresh_method": "Client-approved monthly/annual extract with product/destination coverage and transfer IDs.",</a:t>
            </a:r>
          </a:p>
          <a:p>
            <a:r>
              <a:t>      "model_connection": "Current p6 flow volumes illustrative; future shared flow contract.",</a:t>
            </a:r>
          </a:p>
          <a:p>
            <a:r>
              <a:t>      "priority": "P0",</a:t>
            </a:r>
          </a:p>
          <a:p>
            <a:r>
              <a:t>      "status": "Open; existing evidence does not establish closure"</a:t>
            </a:r>
          </a:p>
          <a:p>
            <a:r>
              <a:t>    },</a:t>
            </a:r>
          </a:p>
          <a:p>
            <a:r>
              <a:t>    {</a:t>
            </a:r>
          </a:p>
          <a:p>
            <a:r>
              <a:t>      "id": "SA13",</a:t>
            </a:r>
          </a:p>
          <a:p>
            <a:r>
              <a:t>      "story": "Resolution",</a:t>
            </a:r>
          </a:p>
          <a:p>
            <a:r>
              <a:t>      "question": "Additional commercially contestable market",</a:t>
            </a:r>
          </a:p>
          <a:p>
            <a:r>
              <a:t>      "existing_work": "Pack page 13: delivered-cost, physical-capacity, customer-rights and volume-accounting gates. All candidate increments remain unassessed.",</a:t>
            </a:r>
          </a:p>
          <a:p>
            <a:r>
              <a:t>      "gap": "Usable product-compatible tanks, spare routes, contracts, switching, customer overlap and Northern Cape inventory.",</a:t>
            </a:r>
          </a:p>
          <a:p>
            <a:r>
              <a:t>      "action": "Combine customer destinations with evidenced routes and rights; separate physical reach, commercial envelope and potential capture.",</a:t>
            </a:r>
          </a:p>
          <a:p>
            <a:r>
              <a:t>      "closure_evidence": "Accessible demand by product/region/period; explicit assumptions and unassessed residual; competitors volume is not automatically capturable.",</a:t>
            </a:r>
          </a:p>
          <a:p>
            <a:r>
              <a:t>      "owner": "Manish evidence; Nigel commercial review",</a:t>
            </a:r>
          </a:p>
          <a:p>
            <a:r>
              <a:t>      "timing": "W2-W4",</a:t>
            </a:r>
          </a:p>
          <a:p>
            <a:r>
              <a:t>      "source_lead": "Storage/competitor CSVs; NERSA licences; client contracts and operator notices",</a:t>
            </a:r>
          </a:p>
          <a:p>
            <a:r>
              <a:t>      "refresh_method": "Manual licences/notices; refresh contractual period, site changes and lease milestones.",</a:t>
            </a:r>
          </a:p>
          <a:p>
            <a:r>
              <a:t>      "model_connection": "No validated commercial customer-flow allocation.",</a:t>
            </a:r>
          </a:p>
          <a:p>
            <a:r>
              <a:t>      "priority": "P1",</a:t>
            </a:r>
          </a:p>
          <a:p>
            <a:r>
              <a:t>      "status": "Open; existing evidence does not establish closure"</a:t>
            </a:r>
          </a:p>
          <a:p>
            <a:r>
              <a:t>    },</a:t>
            </a:r>
          </a:p>
          <a:p>
            <a:r>
              <a:t>    {</a:t>
            </a:r>
          </a:p>
          <a:p>
            <a:r>
              <a:t>      "id": "SA14",</a:t>
            </a:r>
          </a:p>
          <a:p>
            <a:r>
              <a:t>      "story": "Resolution",</a:t>
            </a:r>
          </a:p>
          <a:p>
            <a:r>
              <a:t>      "question": "New storage and investment scope",</a:t>
            </a:r>
          </a:p>
          <a:p>
            <a:r>
              <a:t>      "existing_work": "Partial gross/lease stocks, without client handling/inventory profile.",</a:t>
            </a:r>
          </a:p>
          <a:p>
            <a:r>
              <a:t>      "gap": "Incremental accessible flows, turnover/peak inventory, product compatibility, cost and commercial return criteria.",</a:t>
            </a:r>
          </a:p>
          <a:p>
            <a:r>
              <a:t>      "action": "Establish flow/access case first; then test service requirements and a separately scoped investment case.",</a:t>
            </a:r>
          </a:p>
          <a:p>
            <a:r>
              <a:t>      "closure_evidence": "Throughput-to-usable-stock bridge with seasonality, inventory days and dispatch limits; downside sensitivity; no investment claim from import deficit alone.",</a:t>
            </a:r>
          </a:p>
          <a:p>
            <a:r>
              <a:t>      "owner": "Nigel commercial gate; Manish; Henry review",</a:t>
            </a:r>
          </a:p>
          <a:p>
            <a:r>
              <a:t>      "timing": "W4-W6 only if prioritised",</a:t>
            </a:r>
          </a:p>
          <a:p>
            <a:r>
              <a:t>      "source_lead": "Client service/stock profiles and scoped cost evidence",</a:t>
            </a:r>
          </a:p>
          <a:p>
            <a:r>
              <a:t>      "refresh_method": "Manual client data; refresh on demand/access case changes.",</a:t>
            </a:r>
          </a:p>
          <a:p>
            <a:r>
              <a:t>      "model_connection": "Detailed service sizing deferred; infrastructure secondary to fuel integration.",</a:t>
            </a:r>
          </a:p>
          <a:p>
            <a:r>
              <a:t>      "priority": "P2",</a:t>
            </a:r>
          </a:p>
          <a:p>
            <a:r>
              <a:t>      "status": "Open; existing evidence does not establish closure"</a:t>
            </a:r>
          </a:p>
          <a:p>
            <a:r>
              <a:t>    }</a:t>
            </a:r>
          </a:p>
          <a:p>
            <a:r>
              <a:t>  ]</a:t>
            </a:r>
          </a:p>
          <a:p>
            <a:r>
              <a:t>}</a:t>
            </a:r>
          </a:p>
          <a:p>
            <a:r>
              <a:t>SCR delivery order: page 2 of 16. Gap IDs and original evidence references retained in notes.</a:t>
            </a:r>
          </a:p>
          <a:p>
            <a:r>
              <a:t>Master SCR rows: [('S1\nSituation', 'Demand baseline and regional market\nHave: provincial sales history and map. Reconcile six flagged years; refresh a complete year.', 'Manish\nNigel review', 'W1–W2\nSourced demand baseline', [3, 4]), ('S2\nSituation', 'Domestic supply, finished imports and entry ports\nHave: 2024 sales/trade; diesel imports conflict. Gap: matched output/stocks and product-specific port allocation.', 'Manish\nNigel access', 'W1–W3\nFuel balance + port bridge', [5, 6]), ('C1\nComplication', 'Demand drivers and levers\nHave: indexed passenger/freight stocks, agriculture/industry, power and road/rail. Source ICE splits and intensities; calibrate litres effects.', 'Manish\nNigel review', 'W1 define; W2–W4 test\nLever-to-demand bridge', [7]), ('C2\nComplication', 'Refinery and plant scenarios\nHave: published capacity history and conditional CEF case. Agree timing/yields; resolve repeated keys and plant mechanisms.', 'Manish\nHenry / Nigel', 'W1–W3\nPlant output + imports', [8]), ('C3\nComplication', 'Economic accessibility and competing routes\nCost map is illustrative. Compare Durban–NMPP–Lesedi, road/rail, Matola and Walvis Bay for the same product and destination.', 'Manish\nNigel / Henry', 'W1 scope; W2–W4 test\nDelivered R/litre + access', [9, 10]), ('R1\nResolution', 'Actual Vopak share and contestable customer demand\nShare is unknown. Test each candidate increment against cost, physical capacity, commercial rights and unique deliveries.', 'Nigel client data\nManish analysis', 'W1 request; W2–W4 test\nServed + contestable litres', [11, 12, 13]), ('R2\nResolution', 'Storage and optional investment\nPartial published stocks are available. Verify usable product capacity; size additional service needs only after the incremental flow case.', 'Nigel priority\nManish / Henry', 'W4–W6 if prioritised\nFlow-to-stock / investment', [14, 15])]</a:t>
            </a:r>
          </a:p>
          <a:p>
            <a:r>
              <a:t>Slide links connect each roadmap row to its deep dives; the overview chevron provides the return link. No visible SCR breadcrumb.</a:t>
            </a:r>
          </a:p>
          <a:p>
            <a:r>
              <a:t>Final story navigation: Overview p2; Market baseline p3; Market changes p7; Vopak outlook p12. Henry SCR naming remains in the overview.</a:t>
            </a:r>
          </a:p>
          <a:p>
            <a:r>
              <a:t>6 October SCR editorial pass: presentation copy and map hierarchy only. Source observations, example volumes and model inputs unchanged.</a:t>
            </a:r>
          </a:p>
          <a:p>
            <a:r>
              <a:t>Convergence order: national accounting p3; provincial map p4; history/estimates p5. Current page 2.</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2.</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Agenda-led opening answer. Henry prompt-by-prompt current responses are on pages 18–20. Source pp30–32; open is not closed.</a:t>
            </a:r>
          </a:p>
          <a:p>
            <a:r>
              <a:t>Henry verbatim trace: workstreams/WS3_reporting_delivery/henry_verbatim_trace_2026-10-06.md. Exact source wording and slide references in appendix notes pp18?20.</a:t>
            </a:r>
          </a:p>
          <a:p>
            <a:r>
              <a:t>Page 2 title wording supplied by Nigel. Sustained imports and growth are outlook framing; forecast calibration and customer access remain conditional as stated in the exhibits.</a:t>
            </a:r>
          </a:p>
          <a:p>
            <a:r>
              <a:t>Overview rows numbered continuously 1–7: S1, S2, S/C3, C4, C5, R6, R7. Analytical pages have clickable matching row references in the footer.</a:t>
            </a:r>
          </a:p>
          <a:p>
            <a:r>
              <a:t>Overview rows numbered continuously 1–7: S1, S2, S/C3, C4, C5, R6, R7. Analytical pages have clickable matching row references in the footer.</a:t>
            </a:r>
          </a:p>
          <a:p>
            <a:r>
              <a:t>Overview rows numbered continuously 1–7: S1, S2, S/C3, C4, C5, R6, R7. Each analytical title starts with its matching row reference(s).</a:t>
            </a:r>
          </a:p>
          <a:p>
            <a:r>
              <a:t>Summary column now contains evidence verdicts on Henry storyline, not analyst tasks or approvals. Every analytical page maps to one of the seven rows; source register pptx/story/overview_story_verdicts_2026_10_06.json.</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a:t>
            </a:r>
          </a:p>
          <a:p>
            <a:r>
              <a:t>    "id": "SA03",</a:t>
            </a:r>
          </a:p>
          <a:p>
            <a:r>
              <a:t>    "story": "Situation",</a:t>
            </a:r>
          </a:p>
          <a:p>
            <a:r>
              <a:t>    "question": "Domestic production versus finished imports",</a:t>
            </a:r>
          </a:p>
          <a:p>
            <a:r>
              <a:t>    "existing_work": "Pack page 5: 2024 FIASA sales and government imports/exports collected; explicit diesel-import disagreement. Latest staged domestic production remains 2021.",</a:t>
            </a:r>
          </a:p>
          <a:p>
            <a:r>
              <a:t>    "gap": "Matched recent demand, output, imports, exports and stocks; actual provincial origin unavailable.",</a:t>
            </a:r>
          </a:p>
          <a:p>
            <a:r>
              <a:t>    "action": "Reconcile national petrol/diesel first; retain provincial origin as unknown without evidence; separate crude and finished products.",</a:t>
            </a:r>
          </a:p>
          <a:p>
            <a:r>
              <a:t>    "closure_evidence": "Production + imports - exports - stock build = consumption by fuel/year; unit/coverage bridge and residual explained.",</a:t>
            </a:r>
          </a:p>
          <a:p>
            <a:r>
              <a:t>    "owner": "Manish; Nigel review",</a:t>
            </a:r>
          </a:p>
          <a:p>
            <a:r>
              <a:t>    "timing": "W1 mapping; W2 historical balance",</a:t>
            </a:r>
          </a:p>
          <a:p>
            <a:r>
              <a:t>    "source_lead": "energy_balance_department.csv; DMPR commodity flow; SARS trade data",</a:t>
            </a:r>
          </a:p>
          <a:p>
            <a:r>
              <a:t>    "refresh_method": "Manual annual energy workbook and monthly customs download; preserve revisions.",</a:t>
            </a:r>
          </a:p>
          <a:p>
            <a:r>
              <a:t>    "model_connection": "src/lfm/model/supply/flows.py::compute_balance currently demand less supply; exports/stocks not explicit.",</a:t>
            </a:r>
          </a:p>
          <a:p>
            <a:r>
              <a:t>    "priority": "P0",</a:t>
            </a:r>
          </a:p>
          <a:p>
            <a:r>
              <a:t>    "status": "Open; existing evidence does not establish closure"</a:t>
            </a:r>
          </a:p>
          <a:p>
            <a:r>
              <a:t>  },</a:t>
            </a:r>
          </a:p>
          <a:p>
            <a:r>
              <a:t>  {</a:t>
            </a:r>
          </a:p>
          <a:p>
            <a:r>
              <a:t>    "id": "SA04",</a:t>
            </a:r>
          </a:p>
          <a:p>
            <a:r>
              <a:t>    "story": "Situation",</a:t>
            </a:r>
          </a:p>
          <a:p>
            <a:r>
              <a:t>    "question": "Import entry ports and origin",</a:t>
            </a:r>
          </a:p>
          <a:p>
            <a:r>
              <a:t>    "existing_work": "Pack page 5: national trade collected; TNPA liquid bulk is broader than petrol/diesel. Product-specific port allocation remains open.",</a:t>
            </a:r>
          </a:p>
          <a:p>
            <a:r>
              <a:t>    "gap": "Product-specific finished imports by port/year and source country; liquid bulk is not all fuel.",</a:t>
            </a:r>
          </a:p>
          <a:p>
            <a:r>
              <a:t>    "action": "Bridge SARS product/quantity data to TNPA port cargo; check port identifier availability and density conversion.",</a:t>
            </a:r>
          </a:p>
          <a:p>
            <a:r>
              <a:t>    "closure_evidence": "National finished imports tied to evidenced port allocations; unallocated remainder explicit.",</a:t>
            </a:r>
          </a:p>
          <a:p>
            <a:r>
              <a:t>    "owner": "Manish; Nigel source access",</a:t>
            </a:r>
          </a:p>
          <a:p>
            <a:r>
              <a:t>    "timing": "W2-W3",</a:t>
            </a:r>
          </a:p>
          <a:p>
            <a:r>
              <a:t>    "source_lead": "https://tools.sars.gov.za/tradestatsportal/data_download.aspx ; https://www.transnetnationalportsauthority.net/Commercial%20and%20Marketing/Pages/Port-Statistics.aspx",</a:t>
            </a:r>
          </a:p>
          <a:p>
            <a:r>
              <a:t>    "refresh_method": "Manual portal downloads; check HS coverage, revisions, tonnes/litres and crude/nonfuel exclusions.",</a:t>
            </a:r>
          </a:p>
          <a:p>
            <a:r>
              <a:t>    "model_connection": "No imported-volume allocation by port/destination in current engine.",</a:t>
            </a:r>
          </a:p>
          <a:p>
            <a:r>
              <a:t>    "priority": "P1",</a:t>
            </a:r>
          </a:p>
          <a:p>
            <a:r>
              <a:t>    "status": "Open; existing evidence does not establish closure"</a:t>
            </a:r>
          </a:p>
          <a:p>
            <a:r>
              <a:t>  }</a:t>
            </a:r>
          </a:p>
          <a:p>
            <a:r>
              <a:t>]</a:t>
            </a:r>
          </a:p>
          <a:p>
            <a:r>
              <a:t>SCR delivery order: page 5 of 16. Gap IDs and original evidence references retained in notes.</a:t>
            </a:r>
          </a:p>
          <a:p>
            <a:r>
              <a:t>{</a:t>
            </a:r>
          </a:p>
          <a:p>
            <a:r>
              <a:t>  "branch": "origin/manish-branch",</a:t>
            </a:r>
          </a:p>
          <a:p>
            <a:r>
              <a:t>  "commit": "4e64c8c",</a:t>
            </a:r>
          </a:p>
          <a:p>
            <a:r>
              <a:t>  "purpose": "Reporting evidence snapshot accepted for the Week 1 convergence draft; no engine inputs replaced. Manual/operator transcriptions remain for source review.",</a:t>
            </a:r>
          </a:p>
          <a:p>
            <a:r>
              <a:t>  "files": [</a:t>
            </a:r>
          </a:p>
          <a:p>
            <a:r>
              <a:t>    {</a:t>
            </a:r>
          </a:p>
          <a:p>
            <a:r>
              <a:t>      "source_path": "assumptions/2026/timeseries/fuel_trade_sars.csv",</a:t>
            </a:r>
          </a:p>
          <a:p>
            <a:r>
              <a:t>      "reporting_copy": "fuel_trade_sars.csv",</a:t>
            </a:r>
          </a:p>
          <a:p>
            <a:r>
              <a:t>      "sha256": "a1e7865b9eb66fef459e209cfd6f75463a5bd3329cfa4f8597a92b9563303543"</a:t>
            </a:r>
          </a:p>
          <a:p>
            <a:r>
              <a:t>    },</a:t>
            </a:r>
          </a:p>
          <a:p>
            <a:r>
              <a:t>    {</a:t>
            </a:r>
          </a:p>
          <a:p>
            <a:r>
              <a:t>      "source_path": "assumptions/2026/timeseries/activity_statssa_monthly.csv",</a:t>
            </a:r>
          </a:p>
          <a:p>
            <a:r>
              <a:t>      "reporting_copy": "activity_statssa_monthly.csv",</a:t>
            </a:r>
          </a:p>
          <a:p>
            <a:r>
              <a:t>      "sha256": "de313b5a19824fc9a32a44852db80024b38c97fc31dcf3ebed5e3dd59503f2cf"</a:t>
            </a:r>
          </a:p>
          <a:p>
            <a:r>
              <a:t>    },</a:t>
            </a:r>
          </a:p>
          <a:p>
            <a:r>
              <a:t>    {</a:t>
            </a:r>
          </a:p>
          <a:p>
            <a:r>
              <a:t>      "source_path": "assumptions/2026/timeseries/fuel_prices_department.csv",</a:t>
            </a:r>
          </a:p>
          <a:p>
            <a:r>
              <a:t>      "reporting_copy": "fuel_prices_department.csv",</a:t>
            </a:r>
          </a:p>
          <a:p>
            <a:r>
              <a:t>      "sha256": "d1069ad9f94d8deb494c7f0be39031017561817da4147a5c3e18a8d339d4bd29"</a:t>
            </a:r>
          </a:p>
          <a:p>
            <a:r>
              <a:t>    },</a:t>
            </a:r>
          </a:p>
          <a:p>
            <a:r>
              <a:t>    {</a:t>
            </a:r>
          </a:p>
          <a:p>
            <a:r>
              <a:t>      "source_path": "assumptions/2026/timeseries/fuel_prices_department_annual.csv",</a:t>
            </a:r>
          </a:p>
          <a:p>
            <a:r>
              <a:t>      "reporting_copy": "fuel_prices_department_annual.csv",</a:t>
            </a:r>
          </a:p>
          <a:p>
            <a:r>
              <a:t>      "sha256": "0d8c677b1b5673493e9f700007a61083537d935cdb875e3ba36d55ade1a034e0"</a:t>
            </a:r>
          </a:p>
          <a:p>
            <a:r>
              <a:t>    },</a:t>
            </a:r>
          </a:p>
          <a:p>
            <a:r>
              <a:t>    {</a:t>
            </a:r>
          </a:p>
          <a:p>
            <a:r>
              <a:t>      "source_path": "assumptions/2026/timeseries/macro_statssa.csv",</a:t>
            </a:r>
          </a:p>
          <a:p>
            <a:r>
              <a:t>      "reporting_copy": "macro_statssa.csv",</a:t>
            </a:r>
          </a:p>
          <a:p>
            <a:r>
              <a:t>      "sha256": "d829a1710f8099206aa34fae2349ffaa10fe2c8dafb836d16b4d1950e1bc666e"</a:t>
            </a:r>
          </a:p>
          <a:p>
            <a:r>
              <a:t>    },</a:t>
            </a:r>
          </a:p>
          <a:p>
            <a:r>
              <a:t>    {</a:t>
            </a:r>
          </a:p>
          <a:p>
            <a:r>
              <a:t>      "source_path": "assumptions/2026/timeseries/macro_statssa_quarterly.csv",</a:t>
            </a:r>
          </a:p>
          <a:p>
            <a:r>
              <a:t>      "reporting_copy": "macro_statssa_quarterly.csv",</a:t>
            </a:r>
          </a:p>
          <a:p>
            <a:r>
              <a:t>      "sha256": "8a5ec96eca26545dfc0ae63df8e14a94874c63bb4e0d2e050ed225f0ca70f09f"</a:t>
            </a:r>
          </a:p>
          <a:p>
            <a:r>
              <a:t>    },</a:t>
            </a:r>
          </a:p>
          <a:p>
            <a:r>
              <a:t>    {</a:t>
            </a:r>
          </a:p>
          <a:p>
            <a:r>
              <a:t>      "source_path": "assumptions/2026/reference/refinery_output_operators.csv",</a:t>
            </a:r>
          </a:p>
          <a:p>
            <a:r>
              <a:t>      "reporting_copy": "refinery_output_operators.csv",</a:t>
            </a:r>
          </a:p>
          <a:p>
            <a:r>
              <a:t>      "sha256": "217356db17209c95dfa43b11debe125f2ef903dcec4ae64496f114971985d561"</a:t>
            </a:r>
          </a:p>
          <a:p>
            <a:r>
              <a:t>    },</a:t>
            </a:r>
          </a:p>
          <a:p>
            <a:r>
              <a:t>    {</a:t>
            </a:r>
          </a:p>
          <a:p>
            <a:r>
              <a:t>      "source_path": "workstreams/WS1_data_validation/provincial_petrol_diesel_2013_2024_2026-10-06.csv",</a:t>
            </a:r>
          </a:p>
          <a:p>
            <a:r>
              <a:t>      "reporting_copy": "provincial_petrol_diesel_2013_2024_2026-10-06.csv",</a:t>
            </a:r>
          </a:p>
          <a:p>
            <a:r>
              <a:t>      "sha256": "c0107a39bc1cf91404d644e6982fb1b7bc215622138329f92f0328e456aa06b1"</a:t>
            </a:r>
          </a:p>
          <a:p>
            <a:r>
              <a:t>    }</a:t>
            </a:r>
          </a:p>
          <a:p>
            <a:r>
              <a:t>  ]</a:t>
            </a:r>
          </a:p>
          <a:p>
            <a:r>
              <a:t>}</a:t>
            </a:r>
          </a:p>
          <a:p>
            <a:r>
              <a:t>Convergence selection: SARS primary trade; FIASA reported sales unverified. No production inferred. [['Product', 'Reported\nsales', 'Imports', 'Exports', 'Net imports'], ['Petrol', '9.029', '4.001', '0.920', '3.081'], ['Diesel', '11.734', '10.793', '0.796', '9.997'], ['Combined', '20.763', '14.793', '1.716', '13.078']]</a:t>
            </a:r>
          </a:p>
          <a:p>
            <a:r>
              <a:t>SCR master row S2; linked roadmap page 2. Deep-dive page 5.</a:t>
            </a:r>
          </a:p>
          <a:p>
            <a:r>
              <a:t>Final story navigation: Overview p2; Market baseline p3; Market changes p7; Vopak outlook p12. Henry SCR naming remains in the overview.</a:t>
            </a:r>
          </a:p>
          <a:p>
            <a:r>
              <a:t>6 October SCR editorial pass: presentation copy and map hierarchy only. Source observations, example volumes and model inputs unchanged.</a:t>
            </a:r>
          </a:p>
          <a:p>
            <a:r>
              <a:t>Convergence order: national accounting p3; provincial map p4; history/estimates p5. Current page 3.</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3.</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Supports overview row(s) S1; clickable footer badge returns to page 2.</a:t>
            </a:r>
          </a:p>
          <a:p>
            <a:r>
              <a:t>Supports overview row(s) S1; clickable footer badge returns to page 2.</a:t>
            </a:r>
          </a:p>
          <a:p>
            <a:r>
              <a:t>Title supports overview row(s) S1; Overview chevron returns to page 2.</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a:t>
            </a:r>
          </a:p>
          <a:p>
            <a:r>
              <a:t>    "id": "SA05",</a:t>
            </a:r>
          </a:p>
          <a:p>
            <a:r>
              <a:t>    "story": "Situation / Complication",</a:t>
            </a:r>
          </a:p>
          <a:p>
            <a:r>
              <a:t>    "question": "Power-generation diesel and potential reversal",</a:t>
            </a:r>
          </a:p>
          <a:p>
            <a:r>
              <a:t>    "existing_work": "Eskom OCGT observations 2022-2026 staged; engine capacity/load factor/efficiency path.",</a:t>
            </a:r>
          </a:p>
          <a:p>
            <a:r>
              <a:t>    "gap": "Eskom/IPP coverage, fiscal/calendar alignment, fuel conversion and forecast dispatch. No loadshedding does not mean no OCGT diesel.",</a:t>
            </a:r>
          </a:p>
          <a:p>
            <a:r>
              <a:t>    "action": "Reconcile generation and fuel burn by plant set; calibrate dispatch alternatives; avoid additive double-counting.",</a:t>
            </a:r>
          </a:p>
          <a:p>
            <a:r>
              <a:t>    "closure_evidence": "Historical GWh-to-litres tie; baseline/alternative dispatch, units, dates and incremental demand effect.",</a:t>
            </a:r>
          </a:p>
          <a:p>
            <a:r>
              <a:t>    "owner": "Manish; Nigel review",</a:t>
            </a:r>
          </a:p>
          <a:p>
            <a:r>
              <a:t>    "timing": "W1 lever; W2-W3 calibration",</a:t>
            </a:r>
          </a:p>
          <a:p>
            <a:r>
              <a:t>    "source_lead": "ocgt_generation_eskom.csv; generation.yaml; primary Eskom operating reports",</a:t>
            </a:r>
          </a:p>
          <a:p>
            <a:r>
              <a:t>    "refresh_method": "Manual quarterly/annual operating reports; scope and period checks.",</a:t>
            </a:r>
          </a:p>
          <a:p>
            <a:r>
              <a:t>    "model_connection": "src/lfm/model/demand/generation.py::compute_country_annual.",</a:t>
            </a:r>
          </a:p>
          <a:p>
            <a:r>
              <a:t>    "priority": "P0",</a:t>
            </a:r>
          </a:p>
          <a:p>
            <a:r>
              <a:t>    "status": "Open; existing evidence does not establish closure"</a:t>
            </a:r>
          </a:p>
          <a:p>
            <a:r>
              <a:t>  },</a:t>
            </a:r>
          </a:p>
          <a:p>
            <a:r>
              <a:t>  {</a:t>
            </a:r>
          </a:p>
          <a:p>
            <a:r>
              <a:t>    "id": "SA06",</a:t>
            </a:r>
          </a:p>
          <a:p>
            <a:r>
              <a:t>    "story": "Situation / Complication",</a:t>
            </a:r>
          </a:p>
          <a:p>
            <a:r>
              <a:t>    "question": "Road-to-rail freight shift",</a:t>
            </a:r>
          </a:p>
          <a:p>
            <a:r>
              <a:t>    "existing_work": "Road vehicle cohort calculation and schematic rail context; no mode-shift source series found in current vintage.",</a:t>
            </a:r>
          </a:p>
          <a:p>
            <a:r>
              <a:t>    "gap": "Road/rail freight, tonne-km, distance, payload, empty running and feasible rail intervention.",</a:t>
            </a:r>
          </a:p>
          <a:p>
            <a:r>
              <a:t>    "action": "Use Stats SA P7162 and operator traffic evidence; distinguish tonnes/revenue/tonne-km; convert displaced truck work into diesel.",</a:t>
            </a:r>
          </a:p>
          <a:p>
            <a:r>
              <a:t>    "closure_evidence": "Specific intervention with baseline/alternative mode shares, dates and diesel-intensity bridge; no duplicate mileage reduction.",</a:t>
            </a:r>
          </a:p>
          <a:p>
            <a:r>
              <a:t>    "owner": "Manish; Nigel intervention; Henry review",</a:t>
            </a:r>
          </a:p>
          <a:p>
            <a:r>
              <a:t>    "timing": "W1 lever definition; W2-W4 integration",</a:t>
            </a:r>
          </a:p>
          <a:p>
            <a:r>
              <a:t>    "source_lead": "https://www.statssa.gov.za/?PPN=P7162&amp;SCH=74110&amp;page_id=1854 ; Transnet freight traffic/access evidence",</a:t>
            </a:r>
          </a:p>
          <a:p>
            <a:r>
              <a:t>    "refresh_method": "Manual monthly survey and annual operator reports; coverage/revision checks.",</a:t>
            </a:r>
          </a:p>
          <a:p>
            <a:r>
              <a:t>    "model_connection": "vehicles.py has no explicit rail-shift lever.",</a:t>
            </a:r>
          </a:p>
          <a:p>
            <a:r>
              <a:t>    "priority": "P0",</a:t>
            </a:r>
          </a:p>
          <a:p>
            <a:r>
              <a:t>    "status": "Open; existing evidence does not establish closure"</a:t>
            </a:r>
          </a:p>
          <a:p>
            <a:r>
              <a:t>  },</a:t>
            </a:r>
          </a:p>
          <a:p>
            <a:r>
              <a:t>  {</a:t>
            </a:r>
          </a:p>
          <a:p>
            <a:r>
              <a:t>    "id": "SA07",</a:t>
            </a:r>
          </a:p>
          <a:p>
            <a:r>
              <a:t>    "story": "Situation / Complication",</a:t>
            </a:r>
          </a:p>
          <a:p>
            <a:r>
              <a:t>    "question": "BEV, hybrid, efficiency and charging effects",</a:t>
            </a:r>
          </a:p>
          <a:p>
            <a:r>
              <a:t>    "existing_work": "Naamsa NEV sales 2019-2025 staged; engine EV curve and efficiency parameters.",</a:t>
            </a:r>
          </a:p>
          <a:p>
            <a:r>
              <a:t>    "gap": "Sales versus stock, segment scope, BEV/HEV distinction, survival, mileage and charging intervention.",</a:t>
            </a:r>
          </a:p>
          <a:p>
            <a:r>
              <a:t>    "action": "Calibrate uptake and fleet turnover; retain hybrids as fuel users with separate efficiency; define charging policy/investment lever.",</a:t>
            </a:r>
          </a:p>
          <a:p>
            <a:r>
              <a:t>    "closure_evidence": "Opening-fleet/cohort tie; drivetrain-specific L/100km; dated uptake alternatives and litres effect.",</a:t>
            </a:r>
          </a:p>
          <a:p>
            <a:r>
              <a:t>    "owner": "Manish; Nigel review",</a:t>
            </a:r>
          </a:p>
          <a:p>
            <a:r>
              <a:t>    "timing": "W1 levers; W2-W3 calibration",</a:t>
            </a:r>
          </a:p>
          <a:p>
            <a:r>
              <a:t>    "source_lead": "nev_sales_naamsa.csv; vehicles.yaml; official registration evidence",</a:t>
            </a:r>
          </a:p>
          <a:p>
            <a:r>
              <a:t>    "refresh_method": "Manual quarterly/annual data; reconcile drivetrain taxonomy and scope.",</a:t>
            </a:r>
          </a:p>
          <a:p>
            <a:r>
              <a:t>    "model_connection": "src/lfm/model/demand/vehicles.py::compute_country_annual and _ev_penetration.",</a:t>
            </a:r>
          </a:p>
          <a:p>
            <a:r>
              <a:t>    "priority": "P0",</a:t>
            </a:r>
          </a:p>
          <a:p>
            <a:r>
              <a:t>    "status": "Open; existing evidence does not establish closure"</a:t>
            </a:r>
          </a:p>
          <a:p>
            <a:r>
              <a:t>  },</a:t>
            </a:r>
          </a:p>
          <a:p>
            <a:r>
              <a:t>  {</a:t>
            </a:r>
          </a:p>
          <a:p>
            <a:r>
              <a:t>    "id": "SA08",</a:t>
            </a:r>
          </a:p>
          <a:p>
            <a:r>
              <a:t>    "story": "Situation / Complication",</a:t>
            </a:r>
          </a:p>
          <a:p>
            <a:r>
              <a:t>    "question": "GDP, fuel prices and kilometres travelled",</a:t>
            </a:r>
          </a:p>
          <a:p>
            <a:r>
              <a:t>    "existing_work": "Macro sources staged; price series 2011-2024-04; engine GDP/capita new-sales relationship.",</a:t>
            </a:r>
          </a:p>
          <a:p>
            <a:r>
              <a:t>    "gap": "Real-price basis, causal activity effect, elasticities and actual/forecast extension.",</a:t>
            </a:r>
          </a:p>
          <a:p>
            <a:r>
              <a:t>    "action": "Map GDP source into provider with population/base-price rules; propose price-to-km response separately from efficiency.",</a:t>
            </a:r>
          </a:p>
          <a:p>
            <a:r>
              <a:t>    "closure_evidence": "Explicit historical/forecast boundary and consuming function; calibrated sensitivity without duplicate activity reductions.",</a:t>
            </a:r>
          </a:p>
          <a:p>
            <a:r>
              <a:t>    "owner": "Manish; Nigel review",</a:t>
            </a:r>
          </a:p>
          <a:p>
            <a:r>
              <a:t>    "timing": "W1 mapping; W2-W3 validation",</a:t>
            </a:r>
          </a:p>
          <a:p>
            <a:r>
              <a:t>    "source_lead": "macro_statssa.csv; macro_worldbank.csv; gdp_growth_treasury.csv; fuel_prices_department.csv",</a:t>
            </a:r>
          </a:p>
          <a:p>
            <a:r>
              <a:t>    "refresh_method": "Stats SA/Treasury/DMPR manual downloads; World Bank API; independent vintage and freshness checks.",</a:t>
            </a:r>
          </a:p>
          <a:p>
            <a:r>
              <a:t>    "model_connection": "vehicles.py GDP new-sales path; no explicit fuel-price-to-mileage response.",</a:t>
            </a:r>
          </a:p>
          <a:p>
            <a:r>
              <a:t>    "priority": "P0",</a:t>
            </a:r>
          </a:p>
          <a:p>
            <a:r>
              <a:t>    "status": "Open; existing evidence does not establish closure"</a:t>
            </a:r>
          </a:p>
          <a:p>
            <a:r>
              <a:t>  }</a:t>
            </a:r>
          </a:p>
          <a:p>
            <a:r>
              <a:t>]</a:t>
            </a:r>
          </a:p>
          <a:p>
            <a:r>
              <a:t>SCR delivery order: page 7 of 16. Gap IDs and original evidence references retained in notes.</a:t>
            </a:r>
          </a:p>
          <a:p>
            <a:r>
              <a:t>{</a:t>
            </a:r>
          </a:p>
          <a:p>
            <a:r>
              <a:t>  "base_year": 2024,</a:t>
            </a:r>
          </a:p>
          <a:p>
            <a:r>
              <a:t>  "formula": "100 * observed value / own 2024 value",</a:t>
            </a:r>
          </a:p>
          <a:p>
            <a:r>
              <a:t>  "series": [</a:t>
            </a:r>
          </a:p>
          <a:p>
            <a:r>
              <a:t>    [</a:t>
            </a:r>
          </a:p>
          <a:p>
            <a:r>
              <a:t>      "Passenger travel | all-fuel stock, Dec",</a:t>
            </a:r>
          </a:p>
          <a:p>
            <a:r>
              <a:t>      [</a:t>
            </a:r>
          </a:p>
          <a:p>
            <a:r>
              <a:t>        [</a:t>
            </a:r>
          </a:p>
          <a:p>
            <a:r>
              <a:t>          "Cars",</a:t>
            </a:r>
          </a:p>
          <a:p>
            <a:r>
              <a:t>          {</a:t>
            </a:r>
          </a:p>
          <a:p>
            <a:r>
              <a:t>            "2021": 7652077.0,</a:t>
            </a:r>
          </a:p>
          <a:p>
            <a:r>
              <a:t>            "2022": 7685153.0,</a:t>
            </a:r>
          </a:p>
          <a:p>
            <a:r>
              <a:t>            "2023": 7794164.0,</a:t>
            </a:r>
          </a:p>
          <a:p>
            <a:r>
              <a:t>            "2024": 7949275.0,</a:t>
            </a:r>
          </a:p>
          <a:p>
            <a:r>
              <a:t>            "2025": 8184111.0</a:t>
            </a:r>
          </a:p>
          <a:p>
            <a:r>
              <a:t>          }</a:t>
            </a:r>
          </a:p>
          <a:p>
            <a:r>
              <a:t>        ],</a:t>
            </a:r>
          </a:p>
          <a:p>
            <a:r>
              <a:t>        [</a:t>
            </a:r>
          </a:p>
          <a:p>
            <a:r>
              <a:t>          "Minibuses",</a:t>
            </a:r>
          </a:p>
          <a:p>
            <a:r>
              <a:t>          {</a:t>
            </a:r>
          </a:p>
          <a:p>
            <a:r>
              <a:t>            "2021": 349671.0,</a:t>
            </a:r>
          </a:p>
          <a:p>
            <a:r>
              <a:t>            "2022": 349335.0,</a:t>
            </a:r>
          </a:p>
          <a:p>
            <a:r>
              <a:t>            "2023": 355235.0,</a:t>
            </a:r>
          </a:p>
          <a:p>
            <a:r>
              <a:t>            "2024": 355139.0,</a:t>
            </a:r>
          </a:p>
          <a:p>
            <a:r>
              <a:t>            "2025": 355145.0</a:t>
            </a:r>
          </a:p>
          <a:p>
            <a:r>
              <a:t>          }</a:t>
            </a:r>
          </a:p>
          <a:p>
            <a:r>
              <a:t>        ]</a:t>
            </a:r>
          </a:p>
          <a:p>
            <a:r>
              <a:t>      ]</a:t>
            </a:r>
          </a:p>
          <a:p>
            <a:r>
              <a:t>    ],</a:t>
            </a:r>
          </a:p>
          <a:p>
            <a:r>
              <a:t>    [</a:t>
            </a:r>
          </a:p>
          <a:p>
            <a:r>
              <a:t>      "Freight demand | payload, CY",</a:t>
            </a:r>
          </a:p>
          <a:p>
            <a:r>
              <a:t>      [</a:t>
            </a:r>
          </a:p>
          <a:p>
            <a:r>
              <a:t>        [</a:t>
            </a:r>
          </a:p>
          <a:p>
            <a:r>
              <a:t>          "Road",</a:t>
            </a:r>
          </a:p>
          <a:p>
            <a:r>
              <a:t>          {</a:t>
            </a:r>
          </a:p>
          <a:p>
            <a:r>
              <a:t>            "2019": 895499.0,</a:t>
            </a:r>
          </a:p>
          <a:p>
            <a:r>
              <a:t>            "2020": 789109.0,</a:t>
            </a:r>
          </a:p>
          <a:p>
            <a:r>
              <a:t>            "2021": 860549.0,</a:t>
            </a:r>
          </a:p>
          <a:p>
            <a:r>
              <a:t>            "2022": 1048547.0,</a:t>
            </a:r>
          </a:p>
          <a:p>
            <a:r>
              <a:t>            "2023": 1060419.0,</a:t>
            </a:r>
          </a:p>
          <a:p>
            <a:r>
              <a:t>            "2024": 979798.0,</a:t>
            </a:r>
          </a:p>
          <a:p>
            <a:r>
              <a:t>            "2025": 975176.0</a:t>
            </a:r>
          </a:p>
          <a:p>
            <a:r>
              <a:t>          }</a:t>
            </a:r>
          </a:p>
          <a:p>
            <a:r>
              <a:t>        ],</a:t>
            </a:r>
          </a:p>
          <a:p>
            <a:r>
              <a:t>        [</a:t>
            </a:r>
          </a:p>
          <a:p>
            <a:r>
              <a:t>          "Rail",</a:t>
            </a:r>
          </a:p>
          <a:p>
            <a:r>
              <a:t>          {</a:t>
            </a:r>
          </a:p>
          <a:p>
            <a:r>
              <a:t>            "2019": 214030.0,</a:t>
            </a:r>
          </a:p>
          <a:p>
            <a:r>
              <a:t>            "2020": 190267.0,</a:t>
            </a:r>
          </a:p>
          <a:p>
            <a:r>
              <a:t>            "2021": 177155.0,</a:t>
            </a:r>
          </a:p>
          <a:p>
            <a:r>
              <a:t>            "2022": 155913.0,</a:t>
            </a:r>
          </a:p>
          <a:p>
            <a:r>
              <a:t>            "2023": 160100.0,</a:t>
            </a:r>
          </a:p>
          <a:p>
            <a:r>
              <a:t>            "2024": 160745.0,</a:t>
            </a:r>
          </a:p>
          <a:p>
            <a:r>
              <a:t>            "2025": 168259.0</a:t>
            </a:r>
          </a:p>
          <a:p>
            <a:r>
              <a:t>          }</a:t>
            </a:r>
          </a:p>
          <a:p>
            <a:r>
              <a:t>        ]</a:t>
            </a:r>
          </a:p>
          <a:p>
            <a:r>
              <a:t>      ]</a:t>
            </a:r>
          </a:p>
          <a:p>
            <a:r>
              <a:t>    ],</a:t>
            </a:r>
          </a:p>
          <a:p>
            <a:r>
              <a:t>    [</a:t>
            </a:r>
          </a:p>
          <a:p>
            <a:r>
              <a:t>      "Agriculture | real value added, CY",</a:t>
            </a:r>
          </a:p>
          <a:p>
            <a:r>
              <a:t>      [</a:t>
            </a:r>
          </a:p>
          <a:p>
            <a:r>
              <a:t>        [</a:t>
            </a:r>
          </a:p>
          <a:p>
            <a:r>
              <a:t>          "Agriculture / forestry / fishing",</a:t>
            </a:r>
          </a:p>
          <a:p>
            <a:r>
              <a:t>          {</a:t>
            </a:r>
          </a:p>
          <a:p>
            <a:r>
              <a:t>            "2019": 104784757699.11429,</a:t>
            </a:r>
          </a:p>
          <a:p>
            <a:r>
              <a:t>            "2020": 122870099075.34619,</a:t>
            </a:r>
          </a:p>
          <a:p>
            <a:r>
              <a:t>            "2021": 128983089561.3611,</a:t>
            </a:r>
          </a:p>
          <a:p>
            <a:r>
              <a:t>            "2022": 131770642145.0265,</a:t>
            </a:r>
          </a:p>
          <a:p>
            <a:r>
              <a:t>            "2023": 125746642145.02654,</a:t>
            </a:r>
          </a:p>
          <a:p>
            <a:r>
              <a:t>            "2024": 114791642145.02654,</a:t>
            </a:r>
          </a:p>
          <a:p>
            <a:r>
              <a:t>            "2025": 134796746981.71317</a:t>
            </a:r>
          </a:p>
          <a:p>
            <a:r>
              <a:t>          }</a:t>
            </a:r>
          </a:p>
          <a:p>
            <a:r>
              <a:t>        ]</a:t>
            </a:r>
          </a:p>
          <a:p>
            <a:r>
              <a:t>      ]</a:t>
            </a:r>
          </a:p>
          <a:p>
            <a:r>
              <a:t>    ],</a:t>
            </a:r>
          </a:p>
          <a:p>
            <a:r>
              <a:t>    [</a:t>
            </a:r>
          </a:p>
          <a:p>
            <a:r>
              <a:t>      "Manufacturing | production volume, CY",</a:t>
            </a:r>
          </a:p>
          <a:p>
            <a:r>
              <a:t>      [</a:t>
            </a:r>
          </a:p>
          <a:p>
            <a:r>
              <a:t>        [</a:t>
            </a:r>
          </a:p>
          <a:p>
            <a:r>
              <a:t>          "Manufacturing",</a:t>
            </a:r>
          </a:p>
          <a:p>
            <a:r>
              <a:t>          {</a:t>
            </a:r>
          </a:p>
          <a:p>
            <a:r>
              <a:t>            "2019": 99.98333333333333,</a:t>
            </a:r>
          </a:p>
          <a:p>
            <a:r>
              <a:t>            "2020": 87.66666666666667,</a:t>
            </a:r>
          </a:p>
          <a:p>
            <a:r>
              <a:t>            "2021": 93.11666666666667,</a:t>
            </a:r>
          </a:p>
          <a:p>
            <a:r>
              <a:t>            "2022": 93.14166666666667,</a:t>
            </a:r>
          </a:p>
          <a:p>
            <a:r>
              <a:t>            "2023": 93.71666666666665,</a:t>
            </a:r>
          </a:p>
          <a:p>
            <a:r>
              <a:t>            "2024": 93.33333333333333,</a:t>
            </a:r>
          </a:p>
          <a:p>
            <a:r>
              <a:t>            "2025": 92.14166666666667</a:t>
            </a:r>
          </a:p>
          <a:p>
            <a:r>
              <a:t>          }</a:t>
            </a:r>
          </a:p>
          <a:p>
            <a:r>
              <a:t>        ]</a:t>
            </a:r>
          </a:p>
          <a:p>
            <a:r>
              <a:t>      ]</a:t>
            </a:r>
          </a:p>
          <a:p>
            <a:r>
              <a:t>    ],</a:t>
            </a:r>
          </a:p>
          <a:p>
            <a:r>
              <a:t>    [</a:t>
            </a:r>
          </a:p>
          <a:p>
            <a:r>
              <a:t>      "Mining | production volume, CY",</a:t>
            </a:r>
          </a:p>
          <a:p>
            <a:r>
              <a:t>      [</a:t>
            </a:r>
          </a:p>
          <a:p>
            <a:r>
              <a:t>        [</a:t>
            </a:r>
          </a:p>
          <a:p>
            <a:r>
              <a:t>          "Mining",</a:t>
            </a:r>
          </a:p>
          <a:p>
            <a:r>
              <a:t>          {</a:t>
            </a:r>
          </a:p>
          <a:p>
            <a:r>
              <a:t>            "2019": 99.98333333333333,</a:t>
            </a:r>
          </a:p>
          <a:p>
            <a:r>
              <a:t>            "2020": 89.10000000000001,</a:t>
            </a:r>
          </a:p>
          <a:p>
            <a:r>
              <a:t>            "2021": 100.875,</a:t>
            </a:r>
          </a:p>
          <a:p>
            <a:r>
              <a:t>            "2022": 93.00833333333333,</a:t>
            </a:r>
          </a:p>
          <a:p>
            <a:r>
              <a:t>            "2023": 93.01666666666667,</a:t>
            </a:r>
          </a:p>
          <a:p>
            <a:r>
              <a:t>            "2024": 93.53333333333335,</a:t>
            </a:r>
          </a:p>
          <a:p>
            <a:r>
              <a:t>            "2025": 93.70833333333333</a:t>
            </a:r>
          </a:p>
          <a:p>
            <a:r>
              <a:t>          }</a:t>
            </a:r>
          </a:p>
          <a:p>
            <a:r>
              <a:t>        ]</a:t>
            </a:r>
          </a:p>
          <a:p>
            <a:r>
              <a:t>      ]</a:t>
            </a:r>
          </a:p>
          <a:p>
            <a:r>
              <a:t>    ],</a:t>
            </a:r>
          </a:p>
          <a:p>
            <a:r>
              <a:t>    [</a:t>
            </a:r>
          </a:p>
          <a:p>
            <a:r>
              <a:t>      "Diesel power | OCGT generation, FY",</a:t>
            </a:r>
          </a:p>
          <a:p>
            <a:r>
              <a:t>      [</a:t>
            </a:r>
          </a:p>
          <a:p>
            <a:r>
              <a:t>        [</a:t>
            </a:r>
          </a:p>
          <a:p>
            <a:r>
              <a:t>          "Eskom + IPP",</a:t>
            </a:r>
          </a:p>
          <a:p>
            <a:r>
              <a:t>          {</a:t>
            </a:r>
          </a:p>
          <a:p>
            <a:r>
              <a:t>            "2023": 4116.0,</a:t>
            </a:r>
          </a:p>
          <a:p>
            <a:r>
              <a:t>            "2024": 5143.0,</a:t>
            </a:r>
          </a:p>
          <a:p>
            <a:r>
              <a:t>            "2025": 2838.0,</a:t>
            </a:r>
          </a:p>
          <a:p>
            <a:r>
              <a:t>            "2026": 1079.0</a:t>
            </a:r>
          </a:p>
          <a:p>
            <a:r>
              <a:t>          }</a:t>
            </a:r>
          </a:p>
          <a:p>
            <a:r>
              <a:t>        ]</a:t>
            </a:r>
          </a:p>
          <a:p>
            <a:r>
              <a:t>      ]</a:t>
            </a:r>
          </a:p>
          <a:p>
            <a:r>
              <a:t>    ],</a:t>
            </a:r>
          </a:p>
          <a:p>
            <a:r>
              <a:t>    [</a:t>
            </a:r>
          </a:p>
          <a:p>
            <a:r>
              <a:t>      "Electrification | annual new sales, CY",</a:t>
            </a:r>
          </a:p>
          <a:p>
            <a:r>
              <a:t>      [</a:t>
            </a:r>
          </a:p>
          <a:p>
            <a:r>
              <a:t>        [</a:t>
            </a:r>
          </a:p>
          <a:p>
            <a:r>
              <a:t>          "BEV",</a:t>
            </a:r>
          </a:p>
          <a:p>
            <a:r>
              <a:t>          {</a:t>
            </a:r>
          </a:p>
          <a:p>
            <a:r>
              <a:t>            "2019": 154.0,</a:t>
            </a:r>
          </a:p>
          <a:p>
            <a:r>
              <a:t>            "2020": 92.0,</a:t>
            </a:r>
          </a:p>
          <a:p>
            <a:r>
              <a:t>            "2021": 218.0,</a:t>
            </a:r>
          </a:p>
          <a:p>
            <a:r>
              <a:t>            "2022": 502.0,</a:t>
            </a:r>
          </a:p>
          <a:p>
            <a:r>
              <a:t>            "2023": 929.0,</a:t>
            </a:r>
          </a:p>
          <a:p>
            <a:r>
              <a:t>            "2024": 1257.0,</a:t>
            </a:r>
          </a:p>
          <a:p>
            <a:r>
              <a:t>            "2025": 1088.0</a:t>
            </a:r>
          </a:p>
          <a:p>
            <a:r>
              <a:t>          }</a:t>
            </a:r>
          </a:p>
          <a:p>
            <a:r>
              <a:t>        ],</a:t>
            </a:r>
          </a:p>
          <a:p>
            <a:r>
              <a:t>        [</a:t>
            </a:r>
          </a:p>
          <a:p>
            <a:r>
              <a:t>          "Plug-in hybrid",</a:t>
            </a:r>
          </a:p>
          <a:p>
            <a:r>
              <a:t>          {</a:t>
            </a:r>
          </a:p>
          <a:p>
            <a:r>
              <a:t>            "2019": 72.0,</a:t>
            </a:r>
          </a:p>
          <a:p>
            <a:r>
              <a:t>            "2020": 77.0,</a:t>
            </a:r>
          </a:p>
          <a:p>
            <a:r>
              <a:t>            "2021": 51.0,</a:t>
            </a:r>
          </a:p>
          <a:p>
            <a:r>
              <a:t>            "2022": 122.0,</a:t>
            </a:r>
          </a:p>
          <a:p>
            <a:r>
              <a:t>            "2023": 368.0,</a:t>
            </a:r>
          </a:p>
          <a:p>
            <a:r>
              <a:t>            "2024": 738.0,</a:t>
            </a:r>
          </a:p>
          <a:p>
            <a:r>
              <a:t>            "2025": 2810.0</a:t>
            </a:r>
          </a:p>
          <a:p>
            <a:r>
              <a:t>          }</a:t>
            </a:r>
          </a:p>
          <a:p>
            <a:r>
              <a:t>        ],</a:t>
            </a:r>
          </a:p>
          <a:p>
            <a:r>
              <a:t>        [</a:t>
            </a:r>
          </a:p>
          <a:p>
            <a:r>
              <a:t>          "Hybrid",</a:t>
            </a:r>
          </a:p>
          <a:p>
            <a:r>
              <a:t>          {</a:t>
            </a:r>
          </a:p>
          <a:p>
            <a:r>
              <a:t>            "2019": 181.0,</a:t>
            </a:r>
          </a:p>
          <a:p>
            <a:r>
              <a:t>            "2020": 155.0,</a:t>
            </a:r>
          </a:p>
          <a:p>
            <a:r>
              <a:t>            "2021": 627.0,</a:t>
            </a:r>
          </a:p>
          <a:p>
            <a:r>
              <a:t>            "2022": 4070.0,</a:t>
            </a:r>
          </a:p>
          <a:p>
            <a:r>
              <a:t>            "2023": 6485.0,</a:t>
            </a:r>
          </a:p>
          <a:p>
            <a:r>
              <a:t>            "2024": 13616.0,</a:t>
            </a:r>
          </a:p>
          <a:p>
            <a:r>
              <a:t>            "2025": 12818.0</a:t>
            </a:r>
          </a:p>
          <a:p>
            <a:r>
              <a:t>          }</a:t>
            </a:r>
          </a:p>
          <a:p>
            <a:r>
              <a:t>        ]</a:t>
            </a:r>
          </a:p>
          <a:p>
            <a:r>
              <a:t>      ]</a:t>
            </a:r>
          </a:p>
          <a:p>
            <a:r>
              <a:t>    ],</a:t>
            </a:r>
          </a:p>
          <a:p>
            <a:r>
              <a:t>    [</a:t>
            </a:r>
          </a:p>
          <a:p>
            <a:r>
              <a:t>      "Price response | annual nominal R/litre",</a:t>
            </a:r>
          </a:p>
          <a:p>
            <a:r>
              <a:t>      [</a:t>
            </a:r>
          </a:p>
          <a:p>
            <a:r>
              <a:t>        [</a:t>
            </a:r>
          </a:p>
          <a:p>
            <a:r>
              <a:t>          "Petrol retail",</a:t>
            </a:r>
          </a:p>
          <a:p>
            <a:r>
              <a:t>          {</a:t>
            </a:r>
          </a:p>
          <a:p>
            <a:r>
              <a:t>            "2019": 15.735,</a:t>
            </a:r>
          </a:p>
          <a:p>
            <a:r>
              <a:t>            "2020": 14.749166666666667,</a:t>
            </a:r>
          </a:p>
          <a:p>
            <a:r>
              <a:t>            "2021": 17.56,</a:t>
            </a:r>
          </a:p>
          <a:p>
            <a:r>
              <a:t>            "2022": 22.795833333333334,</a:t>
            </a:r>
          </a:p>
          <a:p>
            <a:r>
              <a:t>            "2023": 23.135833333333334,</a:t>
            </a:r>
          </a:p>
          <a:p>
            <a:r>
              <a:t>            "2024": 23.118333333333336,</a:t>
            </a:r>
          </a:p>
          <a:p>
            <a:r>
              <a:t>            "2025": 21.656666666666666</a:t>
            </a:r>
          </a:p>
          <a:p>
            <a:r>
              <a:t>          }</a:t>
            </a:r>
          </a:p>
          <a:p>
            <a:r>
              <a:t>        ],</a:t>
            </a:r>
          </a:p>
          <a:p>
            <a:r>
              <a:t>        [</a:t>
            </a:r>
          </a:p>
          <a:p>
            <a:r>
              <a:t>          "Diesel wholesale",</a:t>
            </a:r>
          </a:p>
          <a:p>
            <a:r>
              <a:t>          {</a:t>
            </a:r>
          </a:p>
          <a:p>
            <a:r>
              <a:t>            "2019": 14.395650000000002,</a:t>
            </a:r>
          </a:p>
          <a:p>
            <a:r>
              <a:t>            "2020": 12.933066666666667,</a:t>
            </a:r>
          </a:p>
          <a:p>
            <a:r>
              <a:t>            "2021": 15.140133333333333,</a:t>
            </a:r>
          </a:p>
          <a:p>
            <a:r>
              <a:t>            "2022": 22.353425,</a:t>
            </a:r>
          </a:p>
          <a:p>
            <a:r>
              <a:t>            "2023": 21.524150000000002,</a:t>
            </a:r>
          </a:p>
          <a:p>
            <a:r>
              <a:t>            "2024": 20.5782,</a:t>
            </a:r>
          </a:p>
          <a:p>
            <a:r>
              <a:t>            "2025": 19.46715</a:t>
            </a:r>
          </a:p>
          <a:p>
            <a:r>
              <a:t>          }</a:t>
            </a:r>
          </a:p>
          <a:p>
            <a:r>
              <a:t>        ]</a:t>
            </a:r>
          </a:p>
          <a:p>
            <a:r>
              <a:t>      ]</a:t>
            </a:r>
          </a:p>
          <a:p>
            <a:r>
              <a:t>    ]</a:t>
            </a:r>
          </a:p>
          <a:p>
            <a:r>
              <a:t>  ],</a:t>
            </a:r>
          </a:p>
          <a:p>
            <a:r>
              <a:t>  "status": "descriptive evidence; not causal contributions or forecast demand",</a:t>
            </a:r>
          </a:p>
          <a:p>
            <a:r>
              <a:t>  "price": "Annual means through 2025, 12 months only; monthly inland series through October 2026 held separately. Diesel wholesale / petrol retail; no calibrated price response.",</a:t>
            </a:r>
          </a:p>
          <a:p>
            <a:r>
              <a:t>  "freight_revision": {</a:t>
            </a:r>
          </a:p>
          <a:p>
            <a:r>
              <a:t>    "retrieved": "2026-10-06",</a:t>
            </a:r>
          </a:p>
          <a:p>
            <a:r>
              <a:t>    "status": "staged reporting; no diesel displacement inferred",</a:t>
            </a:r>
          </a:p>
          <a:p>
            <a:r>
              <a:t>    "refresh": "Download next P7162 December report; rerun extractor and compare overlapping years before adoption.",</a:t>
            </a:r>
          </a:p>
          <a:p>
            <a:r>
              <a:t>    "sources": [</a:t>
            </a:r>
          </a:p>
          <a:p>
            <a:r>
              <a:t>      {</a:t>
            </a:r>
          </a:p>
          <a:p>
            <a:r>
              <a:t>        "file": "P7162December2024.pdf",</a:t>
            </a:r>
          </a:p>
          <a:p>
            <a:r>
              <a:t>        "url": "https://www.statssa.gov.za/publications/P7162/P7162December2024.pdf",</a:t>
            </a:r>
          </a:p>
          <a:p>
            <a:r>
              <a:t>        "sha256": "ba0941c72c8f84b5dfbd2799e73b053ca45b421009c03eb286dbaaa9f271d9a6"</a:t>
            </a:r>
          </a:p>
          <a:p>
            <a:r>
              <a:t>      },</a:t>
            </a:r>
          </a:p>
          <a:p>
            <a:r>
              <a:t>      {</a:t>
            </a:r>
          </a:p>
          <a:p>
            <a:r>
              <a:t>        "file": "P7162December2025.pdf",</a:t>
            </a:r>
          </a:p>
          <a:p>
            <a:r>
              <a:t>        "url": "https://www.statssa.gov.za/publications/P7162/P7162December2025.pdf",</a:t>
            </a:r>
          </a:p>
          <a:p>
            <a:r>
              <a:t>        "sha256": "d6285729813c880a13582c9cda057c8f3c4c8ce0fe5788a93c84747dd33bcf51"</a:t>
            </a:r>
          </a:p>
          <a:p>
            <a:r>
              <a:t>      }</a:t>
            </a:r>
          </a:p>
          <a:p>
            <a:r>
              <a:t>    ],</a:t>
            </a:r>
          </a:p>
          <a:p>
            <a:r>
              <a:t>    "overlap_2024": [</a:t>
            </a:r>
          </a:p>
          <a:p>
            <a:r>
              <a:t>      {</a:t>
            </a:r>
          </a:p>
          <a:p>
            <a:r>
              <a:t>        "mode": "rail",</a:t>
            </a:r>
          </a:p>
          <a:p>
            <a:r>
              <a:t>        "old_value": 160993,</a:t>
            </a:r>
          </a:p>
          <a:p>
            <a:r>
              <a:t>        "new_value": 160745,</a:t>
            </a:r>
          </a:p>
          <a:p>
            <a:r>
              <a:t>        "delta": -248,</a:t>
            </a:r>
          </a:p>
          <a:p>
            <a:r>
              <a:t>        "status": "source revision; do not splice vintages"</a:t>
            </a:r>
          </a:p>
          <a:p>
            <a:r>
              <a:t>      },</a:t>
            </a:r>
          </a:p>
          <a:p>
            <a:r>
              <a:t>      {</a:t>
            </a:r>
          </a:p>
          <a:p>
            <a:r>
              <a:t>        "mode": "road",</a:t>
            </a:r>
          </a:p>
          <a:p>
            <a:r>
              <a:t>        "old_value": 790611,</a:t>
            </a:r>
          </a:p>
          <a:p>
            <a:r>
              <a:t>        "new_value": 979798,</a:t>
            </a:r>
          </a:p>
          <a:p>
            <a:r>
              <a:t>        "delta": 189187,</a:t>
            </a:r>
          </a:p>
          <a:p>
            <a:r>
              <a:t>        "status": "source revision; do not splice vintages"</a:t>
            </a:r>
          </a:p>
          <a:p>
            <a:r>
              <a:t>      }</a:t>
            </a:r>
          </a:p>
          <a:p>
            <a:r>
              <a:t>    ]</a:t>
            </a:r>
          </a:p>
          <a:p>
            <a:r>
              <a:t>  },</a:t>
            </a:r>
          </a:p>
          <a:p>
            <a:r>
              <a:t>  "fleet": "BEV, plug-in hybrid and conventional-hybrid new sales shown separately; stocks, survival, mileage and efficiency not inferred. Uptake chart uses 0\u2013400 to include the PHEV increase; six activity charts use 0\u2013120.",</a:t>
            </a:r>
          </a:p>
          <a:p>
            <a:r>
              <a:t>  "vehicle_stock_scope": "NaTIS all-fuel national December snapshots. Cars/minibuses do not cover buses/motorcycles; trucks/light-commercial do not establish diesel-only freight usage. No ICE mix or fuel demand is inferred.",</a:t>
            </a:r>
          </a:p>
          <a:p>
            <a:r>
              <a:t>  "sector_scope": "Agriculture real value added includes forestry/fishing; manufacturing and mining are production volume indices averaged over 12 months. No fuel intensities inferred.",</a:t>
            </a:r>
          </a:p>
          <a:p>
            <a:r>
              <a:t>  "evidence_manifest": {</a:t>
            </a:r>
          </a:p>
          <a:p>
            <a:r>
              <a:t>    "branch": "origin/manish-branch",</a:t>
            </a:r>
          </a:p>
          <a:p>
            <a:r>
              <a:t>    "commit": "4e64c8c",</a:t>
            </a:r>
          </a:p>
          <a:p>
            <a:r>
              <a:t>    "purpose": "Reporting evidence snapshot accepted for the Week 1 convergence draft; no engine inputs replaced. Manual/operator transcriptions remain for source review.",</a:t>
            </a:r>
          </a:p>
          <a:p>
            <a:r>
              <a:t>    "files": [</a:t>
            </a:r>
          </a:p>
          <a:p>
            <a:r>
              <a:t>      {</a:t>
            </a:r>
          </a:p>
          <a:p>
            <a:r>
              <a:t>        "source_path": "assumptions/2026/timeseries/fuel_trade_sars.csv",</a:t>
            </a:r>
          </a:p>
          <a:p>
            <a:r>
              <a:t>        "reporting_copy": "fuel_trade_sars.csv",</a:t>
            </a:r>
          </a:p>
          <a:p>
            <a:r>
              <a:t>        "sha256": "a1e7865b9eb66fef459e209cfd6f75463a5bd3329cfa4f8597a92b9563303543"</a:t>
            </a:r>
          </a:p>
          <a:p>
            <a:r>
              <a:t>      },</a:t>
            </a:r>
          </a:p>
          <a:p>
            <a:r>
              <a:t>      {</a:t>
            </a:r>
          </a:p>
          <a:p>
            <a:r>
              <a:t>        "source_path": "assumptions/2026/timeseries/activity_statssa_monthly.csv",</a:t>
            </a:r>
          </a:p>
          <a:p>
            <a:r>
              <a:t>        "reporting_copy": "activity_statssa_monthly.csv",</a:t>
            </a:r>
          </a:p>
          <a:p>
            <a:r>
              <a:t>        "sha256": "de313b5a19824fc9a32a44852db80024b38c97fc31dcf3ebed5e3dd59503f2cf"</a:t>
            </a:r>
          </a:p>
          <a:p>
            <a:r>
              <a:t>      },</a:t>
            </a:r>
          </a:p>
          <a:p>
            <a:r>
              <a:t>      {</a:t>
            </a:r>
          </a:p>
          <a:p>
            <a:r>
              <a:t>        "source_path": "assumptions/2026/timeseries/fuel_prices_department.csv",</a:t>
            </a:r>
          </a:p>
          <a:p>
            <a:r>
              <a:t>        "reporting_copy": "fuel_prices_department.csv",</a:t>
            </a:r>
          </a:p>
          <a:p>
            <a:r>
              <a:t>        "sha256": "d1069ad9f94d8deb494c7f0be39031017561817da4147a5c3e18a8d339d4bd29"</a:t>
            </a:r>
          </a:p>
          <a:p>
            <a:r>
              <a:t>      },</a:t>
            </a:r>
          </a:p>
          <a:p>
            <a:r>
              <a:t>      {</a:t>
            </a:r>
          </a:p>
          <a:p>
            <a:r>
              <a:t>        "source_path": "assumptions/2026/timeseries/fuel_prices_department_annual.csv",</a:t>
            </a:r>
          </a:p>
          <a:p>
            <a:r>
              <a:t>        "reporting_copy": "fuel_prices_department_annual.csv",</a:t>
            </a:r>
          </a:p>
          <a:p>
            <a:r>
              <a:t>        "sha256": "0d8c677b1b5673493e9f700007a61083537d935cdb875e3ba36d55ade1a034e0"</a:t>
            </a:r>
          </a:p>
          <a:p>
            <a:r>
              <a:t>      },</a:t>
            </a:r>
          </a:p>
          <a:p>
            <a:r>
              <a:t>      {</a:t>
            </a:r>
          </a:p>
          <a:p>
            <a:r>
              <a:t>        "source_path": "assumptions/2026/timeseries/macro_statssa.csv",</a:t>
            </a:r>
          </a:p>
          <a:p>
            <a:r>
              <a:t>        "reporting_copy": "macro_statssa.csv",</a:t>
            </a:r>
          </a:p>
          <a:p>
            <a:r>
              <a:t>        "sha256": "d829a1710f8099206aa34fae2349ffaa10fe2c8dafb836d16b4d1950e1bc666e"</a:t>
            </a:r>
          </a:p>
          <a:p>
            <a:r>
              <a:t>      },</a:t>
            </a:r>
          </a:p>
          <a:p>
            <a:r>
              <a:t>      {</a:t>
            </a:r>
          </a:p>
          <a:p>
            <a:r>
              <a:t>        "source_path": "assumptions/2026/timeseries/macro_statssa_quarterly.csv",</a:t>
            </a:r>
          </a:p>
          <a:p>
            <a:r>
              <a:t>        "reporting_copy": "macro_statssa_quarterly.csv",</a:t>
            </a:r>
          </a:p>
          <a:p>
            <a:r>
              <a:t>        "sha256": "8a5ec96eca26545dfc0ae63df8e14a94874c63bb4e0d2e050ed225f0ca70f09f"</a:t>
            </a:r>
          </a:p>
          <a:p>
            <a:r>
              <a:t>      },</a:t>
            </a:r>
          </a:p>
          <a:p>
            <a:r>
              <a:t>      {</a:t>
            </a:r>
          </a:p>
          <a:p>
            <a:r>
              <a:t>        "source_path": "assumptions/2026/reference/refinery_output_operators.csv",</a:t>
            </a:r>
          </a:p>
          <a:p>
            <a:r>
              <a:t>        "reporting_copy": "refinery_output_operators.csv",</a:t>
            </a:r>
          </a:p>
          <a:p>
            <a:r>
              <a:t>        "sha256": "217356db17209c95dfa43b11debe125f2ef903dcec4ae64496f114971985d561"</a:t>
            </a:r>
          </a:p>
          <a:p>
            <a:r>
              <a:t>      },</a:t>
            </a:r>
          </a:p>
          <a:p>
            <a:r>
              <a:t>      {</a:t>
            </a:r>
          </a:p>
          <a:p>
            <a:r>
              <a:t>        "source_path": "workstreams/WS1_data_validation/provincial_petrol_diesel_2013_2024_2026-10-06.csv",</a:t>
            </a:r>
          </a:p>
          <a:p>
            <a:r>
              <a:t>        "reporting_copy": "provincial_petrol_diesel_2013_2024_2026-10-06.csv",</a:t>
            </a:r>
          </a:p>
          <a:p>
            <a:r>
              <a:t>        "sha256": "c0107a39bc1cf91404d644e6982fb1b7bc215622138329f92f0328e456aa06b1"</a:t>
            </a:r>
          </a:p>
          <a:p>
            <a:r>
              <a:t>      }</a:t>
            </a:r>
          </a:p>
          <a:p>
            <a:r>
              <a:t>    ]</a:t>
            </a:r>
          </a:p>
          <a:p>
            <a:r>
              <a:t>  },</a:t>
            </a:r>
          </a:p>
          <a:p>
            <a:r>
              <a:t>  "latest_quarterly_gdp_observations": [</a:t>
            </a:r>
          </a:p>
          <a:p>
            <a:r>
              <a:t>    {</a:t>
            </a:r>
          </a:p>
          <a:p>
            <a:r>
              <a:t>      "country": "ZAF",</a:t>
            </a:r>
          </a:p>
          <a:p>
            <a:r>
              <a:t>      "period": "2026-Q1",</a:t>
            </a:r>
          </a:p>
          <a:p>
            <a:r>
              <a:t>      "scenario": "shared",</a:t>
            </a:r>
          </a:p>
          <a:p>
            <a:r>
              <a:t>      "series": "gdp",</a:t>
            </a:r>
          </a:p>
          <a:p>
            <a:r>
              <a:t>      "value": "1167557960593.9038",</a:t>
            </a:r>
          </a:p>
          <a:p>
            <a:r>
              <a:t>      "unit": "rand, constant 2015 prices, not seasonally adjusted",</a:t>
            </a:r>
          </a:p>
          <a:p>
            <a:r>
              <a:t>      "code": "QRU1000",</a:t>
            </a:r>
          </a:p>
          <a:p>
            <a:r>
              <a:t>      "source_file": "GDP P0441 - GDP Time series Q2 2026.xlsx"</a:t>
            </a:r>
          </a:p>
          <a:p>
            <a:r>
              <a:t>    },</a:t>
            </a:r>
          </a:p>
          <a:p>
            <a:r>
              <a:t>    {</a:t>
            </a:r>
          </a:p>
          <a:p>
            <a:r>
              <a:t>      "country": "ZAF",</a:t>
            </a:r>
          </a:p>
          <a:p>
            <a:r>
              <a:t>      "period": "2026-Q2",</a:t>
            </a:r>
          </a:p>
          <a:p>
            <a:r>
              <a:t>      "scenario": "shared",</a:t>
            </a:r>
          </a:p>
          <a:p>
            <a:r>
              <a:t>      "series": "gdp",</a:t>
            </a:r>
          </a:p>
          <a:p>
            <a:r>
              <a:t>      "value": "1192421753644.095",</a:t>
            </a:r>
          </a:p>
          <a:p>
            <a:r>
              <a:t>      "unit": "rand, constant 2015 prices, not seasonally adjusted",</a:t>
            </a:r>
          </a:p>
          <a:p>
            <a:r>
              <a:t>      "code": "QRU1000",</a:t>
            </a:r>
          </a:p>
          <a:p>
            <a:r>
              <a:t>      "source_file": "GDP P0441 - GDP Time series Q2 2026.xlsx"</a:t>
            </a:r>
          </a:p>
          <a:p>
            <a:r>
              <a:t>    }</a:t>
            </a:r>
          </a:p>
          <a:p>
            <a:r>
              <a:t>  ],</a:t>
            </a:r>
          </a:p>
          <a:p>
            <a:r>
              <a:t>  "power_change_percent": -79.02002722146607,</a:t>
            </a:r>
          </a:p>
          <a:p>
            <a:r>
              <a:t>  "uptake_observations": {</a:t>
            </a:r>
          </a:p>
          <a:p>
            <a:r>
              <a:t>    "BEV_new_sales": {</a:t>
            </a:r>
          </a:p>
          <a:p>
            <a:r>
              <a:t>      "2019": 154.0,</a:t>
            </a:r>
          </a:p>
          <a:p>
            <a:r>
              <a:t>      "2020": 92.0,</a:t>
            </a:r>
          </a:p>
          <a:p>
            <a:r>
              <a:t>      "2021": 218.0,</a:t>
            </a:r>
          </a:p>
          <a:p>
            <a:r>
              <a:t>      "2022": 502.0,</a:t>
            </a:r>
          </a:p>
          <a:p>
            <a:r>
              <a:t>      "2023": 929.0,</a:t>
            </a:r>
          </a:p>
          <a:p>
            <a:r>
              <a:t>      "2024": 1257.0,</a:t>
            </a:r>
          </a:p>
          <a:p>
            <a:r>
              <a:t>      "2025": 1088.0</a:t>
            </a:r>
          </a:p>
          <a:p>
            <a:r>
              <a:t>    },</a:t>
            </a:r>
          </a:p>
          <a:p>
            <a:r>
              <a:t>    "plug_in_hybrid_new_sales": {</a:t>
            </a:r>
          </a:p>
          <a:p>
            <a:r>
              <a:t>      "2019": 72.0,</a:t>
            </a:r>
          </a:p>
          <a:p>
            <a:r>
              <a:t>      "2020": 77.0,</a:t>
            </a:r>
          </a:p>
          <a:p>
            <a:r>
              <a:t>      "2021": 51.0,</a:t>
            </a:r>
          </a:p>
          <a:p>
            <a:r>
              <a:t>      "2022": 122.0,</a:t>
            </a:r>
          </a:p>
          <a:p>
            <a:r>
              <a:t>      "2023": 368.0,</a:t>
            </a:r>
          </a:p>
          <a:p>
            <a:r>
              <a:t>      "2024": 738.0,</a:t>
            </a:r>
          </a:p>
          <a:p>
            <a:r>
              <a:t>      "2025": 2810.0</a:t>
            </a:r>
          </a:p>
          <a:p>
            <a:r>
              <a:t>    },</a:t>
            </a:r>
          </a:p>
          <a:p>
            <a:r>
              <a:t>    "conventional_hybrid_new_sales": {</a:t>
            </a:r>
          </a:p>
          <a:p>
            <a:r>
              <a:t>      "2019": 181.0,</a:t>
            </a:r>
          </a:p>
          <a:p>
            <a:r>
              <a:t>      "2020": 155.0,</a:t>
            </a:r>
          </a:p>
          <a:p>
            <a:r>
              <a:t>      "2021": 627.0,</a:t>
            </a:r>
          </a:p>
          <a:p>
            <a:r>
              <a:t>      "2022": 4070.0,</a:t>
            </a:r>
          </a:p>
          <a:p>
            <a:r>
              <a:t>      "2023": 6485.0,</a:t>
            </a:r>
          </a:p>
          <a:p>
            <a:r>
              <a:t>      "2024": 13616.0,</a:t>
            </a:r>
          </a:p>
          <a:p>
            <a:r>
              <a:t>      "2025": 12818.0</a:t>
            </a:r>
          </a:p>
          <a:p>
            <a:r>
              <a:t>    }</a:t>
            </a:r>
          </a:p>
          <a:p>
            <a:r>
              <a:t>  },</a:t>
            </a:r>
          </a:p>
          <a:p>
            <a:r>
              <a:t>  "sector_changes_percent": {</a:t>
            </a:r>
          </a:p>
          <a:p>
            <a:r>
              <a:t>    "agriculture": 17.427318281075202,</a:t>
            </a:r>
          </a:p>
          <a:p>
            <a:r>
              <a:t>    "manufacturing": -1.2767857142857224</a:t>
            </a:r>
          </a:p>
          <a:p>
            <a:r>
              <a:t>  },</a:t>
            </a:r>
          </a:p>
          <a:p>
            <a:r>
              <a:t>  "freight_changes_percent": {</a:t>
            </a:r>
          </a:p>
          <a:p>
            <a:r>
              <a:t>    "rail": 4.674484431864134,</a:t>
            </a:r>
          </a:p>
          <a:p>
            <a:r>
              <a:t>    "road": -0.4717298871808273</a:t>
            </a:r>
          </a:p>
          <a:p>
            <a:r>
              <a:t>  }</a:t>
            </a:r>
          </a:p>
          <a:p>
            <a:r>
              <a:t>}</a:t>
            </a:r>
          </a:p>
          <a:p>
            <a:r>
              <a:t>SCR master row C1; linked roadmap page 2. Deep-dive page 7.</a:t>
            </a:r>
          </a:p>
          <a:p>
            <a:r>
              <a:t>Final story navigation: Overview p2; Market baseline p3; Market changes p7; Vopak outlook p12. Henry SCR naming remains in the overview.</a:t>
            </a:r>
          </a:p>
          <a:p>
            <a:r>
              <a:t>6 October SCR editorial pass: presentation copy and map hierarchy only. Source observations, example volumes and model inputs unchanged.</a:t>
            </a:r>
          </a:p>
          <a:p>
            <a:r>
              <a:t>Convergence order: national accounting p3; provincial map p4; history/estimates p5. Current page 7.</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7.</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Supports overview row(s) S/C3; clickable footer badge returns to page 2.</a:t>
            </a:r>
          </a:p>
          <a:p>
            <a:r>
              <a:t>Supports overview row(s) S/C3; clickable footer badge returns to page 2.</a:t>
            </a:r>
          </a:p>
          <a:p>
            <a:r>
              <a:t>Title supports overview row(s) S/C3; Overview chevron returns to page 2.</a:t>
            </a:r>
          </a:p>
          <a:p>
            <a:r>
              <a:t>Fuel-use rates mean litres per vehicle-km, per freight tonne-km, per unit of sector output or per unit of power generation. Source the appropriate rate and coverage before translating activity into fuel volumes; avoid overlap across segments.</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a:t>
            </a:r>
          </a:p>
          <a:p>
            <a:r>
              <a:t>    "id": "SA09",</a:t>
            </a:r>
          </a:p>
          <a:p>
            <a:r>
              <a:t>    "story": "Situation / Complication",</a:t>
            </a:r>
          </a:p>
          <a:p>
            <a:r>
              <a:t>    "question": "Refinery closures, availability and SAPREF proposal",</a:t>
            </a:r>
          </a:p>
          <a:p>
            <a:r>
              <a:t>    "existing_work": "Pack page 8: published 2016\u20132025 capacity footprint plus conditional CEF 400k bpd case. Existing refinery keys/output/yields remain unresolved.",</a:t>
            </a:r>
          </a:p>
          <a:p>
            <a:r>
              <a:t>    "gap": "Current output/yields/status; dated closures/restarts; SAPREF project evidence; 558 extra refinery rows unresolved.",</a:t>
            </a:r>
          </a:p>
          <a:p>
            <a:r>
              <a:t>    "action": "Resolve repeated keys against original named ranges; build refinery-year status and output; treat proposals as conditional scenarios.",</a:t>
            </a:r>
          </a:p>
          <a:p>
            <a:r>
              <a:t>    "closure_evidence": "Unique country/year/scenario keys with source cells; actual/proposed distinction; per-refinery output tie and import sensitivity.",</a:t>
            </a:r>
          </a:p>
          <a:p>
            <a:r>
              <a:t>    "owner": "Manish; Nigel review; Henry challenge",</a:t>
            </a:r>
          </a:p>
          <a:p>
            <a:r>
              <a:t>    "timing": "W1 duplicates; W2-W3 scenarios",</a:t>
            </a:r>
          </a:p>
          <a:p>
            <a:r>
              <a:t>    "source_lead": "supply.yaml; refinery_production.csv; original workbook; primary operator/CEF/PetroSA reports",</a:t>
            </a:r>
          </a:p>
          <a:p>
            <a:r>
              <a:t>    "refresh_method": "Manual reports; refresh outages, restart, ownership or sanctioned-project changes.",</a:t>
            </a:r>
          </a:p>
          <a:p>
            <a:r>
              <a:t>    "model_connection": "src/lfm/model/supply/flows.py::compute_supply.",</a:t>
            </a:r>
          </a:p>
          <a:p>
            <a:r>
              <a:t>    "priority": "P0",</a:t>
            </a:r>
          </a:p>
          <a:p>
            <a:r>
              <a:t>    "status": "Open; existing evidence does not establish closure"</a:t>
            </a:r>
          </a:p>
          <a:p>
            <a:r>
              <a:t>  },</a:t>
            </a:r>
          </a:p>
          <a:p>
            <a:r>
              <a:t>  {</a:t>
            </a:r>
          </a:p>
          <a:p>
            <a:r>
              <a:t>    "id": "SA10",</a:t>
            </a:r>
          </a:p>
          <a:p>
            <a:r>
              <a:t>    "story": "Complication",</a:t>
            </a:r>
          </a:p>
          <a:p>
            <a:r>
              <a:t>    "question": "Secunda gas/MRG and Natref future",</a:t>
            </a:r>
          </a:p>
          <a:p>
            <a:r>
              <a:t>    "existing_work": "Generic Sasol/Natref capacities, yields and utilisation; no plant-level gas-liquid linkage.",</a:t>
            </a:r>
          </a:p>
          <a:p>
            <a:r>
              <a:t>    "gap": "MRG timing and causal liquid-fuel effect; Natref future not established; partner propositions untested.",</a:t>
            </a:r>
          </a:p>
          <a:p>
            <a:r>
              <a:t>    "action": "Check latest primary Sasol disclosures; technical reviewer specifies mechanism before any fuel-output change.",</a:t>
            </a:r>
          </a:p>
          <a:p>
            <a:r>
              <a:t>    "closure_evidence": "Documented plant-level mechanism and dated scenario; no gas-to-liquid displacement inferred without evidence.",</a:t>
            </a:r>
          </a:p>
          <a:p>
            <a:r>
              <a:t>    "owner": "Manish sources; Henry technical review; Nigel scenarios",</a:t>
            </a:r>
          </a:p>
          <a:p>
            <a:r>
              <a:t>    "timing": "W2-W3",</a:t>
            </a:r>
          </a:p>
          <a:p>
            <a:r>
              <a:t>    "source_lead": "https://www.sasol.com/sasol-suite-reports ; 2026 Sasol SEC 20-F",</a:t>
            </a:r>
          </a:p>
          <a:p>
            <a:r>
              <a:t>    "refresh_method": "Manual quarterly/annual operating guidance and plant/gas changes.",</a:t>
            </a:r>
          </a:p>
          <a:p>
            <a:r>
              <a:t>    "model_connection": "No gas-to-fuel mechanism; utilisation/yield changes need explicit sourced scenario.",</a:t>
            </a:r>
          </a:p>
          <a:p>
            <a:r>
              <a:t>    "priority": "P1",</a:t>
            </a:r>
          </a:p>
          <a:p>
            <a:r>
              <a:t>    "status": "Open; existing evidence does not establish closure"</a:t>
            </a:r>
          </a:p>
          <a:p>
            <a:r>
              <a:t>  }</a:t>
            </a:r>
          </a:p>
          <a:p>
            <a:r>
              <a:t>]</a:t>
            </a:r>
          </a:p>
          <a:p>
            <a:r>
              <a:t>SCR delivery order: page 8 of 16. Gap IDs and original evidence references retained in notes.</a:t>
            </a:r>
          </a:p>
          <a:p>
            <a:r>
              <a:t>Operator observations: [{"country": "ZAF", "period": "2020", "period_basis": "year to 30 June", "plant": "Secunda", "operator": "Sasol", "measure": "total refined product", "value": "31.2", "unit": "million barrels", "source_file": "sasol-metrics-fy2022.pdf", "source_page": "4", "note": "all refined products; no split by product"}, {"country": "ZAF", "period": "2020", "period_basis": "year to 30 June", "plant": "Natref", "operator": "Sasol", "measure": "production reported by Sasol", "value": "16.8", "unit": "million barrels", "source_file": "sasol-metrics-fy2022.pdf", "source_page": "4", "note": "Sasol's reported Natref production (its 63.64% share)"}, {"country": "ZAF", "period": "2021", "period_basis": "year to 30 June", "plant": "Secunda", "operator": "Sasol", "measure": "total refined product", "value": "32.1", "unit": "million barrels", "source_file": "sasol-metrics-fy2022.pdf", "source_page": "4", "note": "all refined products; no split by product"}, {"country": "ZAF", "period": "2021", "period_basis": "year to 30 June", "plant": "Natref", "operator": "Sasol", "measure": "production reported by Sasol", "value": "17.7", "unit": "million barrels", "source_file": "sasol-metrics-fy2022.pdf", "source_page": "4", "note": "Sasol's reported Natref production (its 63.64% share)"}, {"country": "ZAF", "period": "2022", "period_basis": "year to 30 June", "plant": "Secunda", "operator": "Sasol", "measure": "total refined product", "value": "29.2", "unit": "million barrels", "source_file": "sasol-metrics-fy2022.pdf", "source_page": "4", "note": "all refined products; no split by product"}, {"country": "ZAF", "period": "2022", "period_basis": "year to 30 June", "plant": "Natref", "operator": "Sasol", "measure": "production reported by Sasol", "value": "18.9", "unit": "million barrels", "source_file": "sasol-metrics-fy2022.pdf", "source_page": "4", "note": "Sasol's reported Natref production (its 63.64% share)"}, {"country": "ZAF", "period": "2023", "period_basis": "year to 30 June", "plant": "Secunda", "operator": "Sasol", "measure": "total refined product", "value": "29.9", "unit": "million barrels", "source_file": "sasol-metrics-fy2025.pdf", "source_page": "4", "note": "all refined products; no split by product"}, {"country": "ZAF", "period": "2023", "period_basis": "year to 30 June", "plant": "Natref", "operator": "Sasol", "measure": "production reported by Sasol", "value": "17.2", "unit": "million barrels", "source_file": "sasol-metrics-fy2025.pdf", "source_page": "4", "note": "Sasol's reported Natref production (its 63.64% share)"}, {"country": "ZAF", "period": "2024", "period_basis": "year to 30 June", "plant": "Secunda", "operator": "Sasol", "measure": "total refined product", "value": "29.1", "unit": "million barrels", "source_file": "sasol-metrics-fy2025.pdf", "source_page": "4", "note": "all refined products; no split by product"}, {"country": "ZAF", "period": "2024", "period_basis": "year to 30 June", "plant": "Natref", "operator": "Sasol", "measure": "production reported by Sasol", "value": "17.8", "unit": "million barrels", "source_file": "sasol-metrics-fy2025.pdf", "source_page": "4", "note": "Sasol's reported Natref production (its 63.64% share)"}, {"country": "ZAF", "period": "2025", "period_basis": "year to 30 June", "plant": "Secunda", "operator": "Sasol", "measure": "total refined product", "value": "27.6", "unit": "million barrels", "source_file": "sasol-metrics-fy2025.pdf", "source_page": "4", "note": "all refined products; no split by product"}, {"country": "ZAF", "period": "2025", "period_basis": "year to 30 June", "plant": "Natref", "operator": "Sasol", "measure": "production reported by Sasol", "value": "14.7", "unit": "million barrels", "source_file": "sasol-metrics-fy2025.pdf", "source_page": "4", "note": "Sasol's reported Natref production (its 63.64% share)"}, {"country": "ZAF", "period": "2026", "period_basis": "year to 30 June", "plant": "Secunda", "operator": "Sasol", "measure": "total refined product", "value": "30.6", "unit": "million barrels", "source_file": "sasol-metrics-fy2026.pdf", "source_page": "4", "note": "all refined products; no split by product"}, {"country": "ZAF", "period": "2026", "period_basis": "year to 30 June", "plant": "Natref", "operator": "Sasol", "measure": "production reported by Sasol", "value": "25.8", "unit": "million barrels", "source_file": "sasol-metrics-fy2026.pdf", "source_page": "4", "note": "includes 6.9 million barrels produced above Sasol's 63.64% shareholding"}, {"country": "ZAF", "period": "2023", "period_basis": "calendar year", "plant": "Astron Energy (Cape Town)", "operator": "Glencore", "measure": "energy content of refined products", "value": "136665", "unit": "billion Btu", "source_file": "GLEN-2023-Annual-Report.pdf", "source_page": "104", "note": "all refined products; no split by product"}, {"country": "ZAF", "period": "2024", "period_basis": "calendar year", "plant": "Astron Energy (Cape Town)", "operator": "Glencore", "measure": "energy content of refined products", "value": "166204", "unit": "billion Btu", "source_file": "GLEN-2024-Annual-Report.pdf", "source_page": "85", "note": "all refined products; no split by product"}, {"country": "ZAF", "period": "2025", "period_basis": "calendar year", "plant": "Astron Energy (Cape Town)", "operator": "Glencore", "measure": "energy content of refined products", "value": "164365", "unit": "billion Btu", "source_file": "GLEN-2025-Annual-Report.pdf", "source_page": "69", "note": "all refined products; no split by product"}]</a:t>
            </a:r>
          </a:p>
          <a:p>
            <a:r>
              <a:t>Source: Sasol FY2025 metrics p4; Natref 17.8 is Sasol share, not whole-plant output. No product split or year matching inferred.</a:t>
            </a:r>
          </a:p>
          <a:p>
            <a:r>
              <a:t>Capacity series: {2016: 718.0, 2017: 718.0, 2018: 718.0, 2019: 718.0, 2020: 718.0, 2021: 538.0, 2022: 358.0, 2023: 358.0, 2024: 358.0, 2025: 358.0}</a:t>
            </a:r>
          </a:p>
          <a:p>
            <a:r>
              <a:t>Illustrative assumptions: {"start_year": 2026, "horizon_year": 2036, "illustrative_fid_year": 2029, "construction_months": 48, "proposed_addition_bpd": 400000}</a:t>
            </a:r>
          </a:p>
          <a:p>
            <a:r>
              <a:t>CEF proposal is not FID or a committed restart. FIASA Enref 135k differs from workbook/Engen 120k; no engine parameter changed.</a:t>
            </a:r>
          </a:p>
          <a:p>
            <a:r>
              <a:t>SCR master row C2; linked roadmap page 2. Deep-dive page 8.</a:t>
            </a:r>
          </a:p>
          <a:p>
            <a:r>
              <a:t>Final story navigation: Overview p2; Market baseline p3; Market changes p7; Vopak outlook p12. Henry SCR naming remains in the overview.</a:t>
            </a:r>
          </a:p>
          <a:p>
            <a:r>
              <a:t>6 October SCR editorial pass: presentation copy and map hierarchy only. Source observations, example volumes and model inputs unchanged.</a:t>
            </a:r>
          </a:p>
          <a:p>
            <a:r>
              <a:t>Convergence order: national accounting p3; provincial map p4; history/estimates p5. Current page 8.</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8.</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Supports overview row(s) C4; clickable footer badge returns to page 2.</a:t>
            </a:r>
          </a:p>
          <a:p>
            <a:r>
              <a:t>Supports overview row(s) C4; clickable footer badge returns to page 2.</a:t>
            </a:r>
          </a:p>
          <a:p>
            <a:r>
              <a:t>Title supports overview row(s) C4; Overview chevron returns to page 2.</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a:t>
            </a:r>
          </a:p>
          <a:p>
            <a:r>
              <a:t>    "id": "SA11",</a:t>
            </a:r>
          </a:p>
          <a:p>
            <a:r>
              <a:t>    "story": "Complication",</a:t>
            </a:r>
          </a:p>
          <a:p>
            <a:r>
              <a:t>    "question": "Durban-NMPP-Lesedi versus road/rail, Matola and Walvis Bay",</a:t>
            </a:r>
          </a:p>
          <a:p>
            <a:r>
              <a:t>    "existing_work": "Pack page 10: schematic Southern Africa corridor map; page 9 illustrative road-cost surface. No matched full delivered-cost or fuel-access allocation.",</a:t>
            </a:r>
          </a:p>
          <a:p>
            <a:r>
              <a:t>    "gap": "Comparable route costs, NMPP capacity/tariff, actual rail service and cross-border feasibility.",</a:t>
            </a:r>
          </a:p>
          <a:p>
            <a:r>
              <a:t>    "action": "Choose first product/customer destination; compare full handling/transport/transfer cost, border/FX where relevant, same period and basis.",</a:t>
            </a:r>
          </a:p>
          <a:p>
            <a:r>
              <a:t>    "closure_evidence": "Comparable delivered R/litre with cost components, capacity/access limits and dated sources; no national optimisation claim.",</a:t>
            </a:r>
          </a:p>
          <a:p>
            <a:r>
              <a:t>    "owner": "Manish evidence; Nigel corridor choice; Henry review",</a:t>
            </a:r>
          </a:p>
          <a:p>
            <a:r>
              <a:t>    "timing": "W1 comparison contract; W2-W4 first route",</a:t>
            </a:r>
          </a:p>
          <a:p>
            <a:r>
              <a:t>    "source_lead": "Client tariffs/quotes; current pipeline, port, road/rail and border operator evidence",</a:t>
            </a:r>
          </a:p>
          <a:p>
            <a:r>
              <a:t>    "refresh_method": "Manual published tariffs and dated quotes; tariff-year, FX and access refresh.",</a:t>
            </a:r>
          </a:p>
          <a:p>
            <a:r>
              <a:t>    "model_connection": "No operational route allocation or delivered-cost engine.",</a:t>
            </a:r>
          </a:p>
          <a:p>
            <a:r>
              <a:t>    "priority": "P0",</a:t>
            </a:r>
          </a:p>
          <a:p>
            <a:r>
              <a:t>    "status": "Open; existing evidence does not establish closure"</a:t>
            </a:r>
          </a:p>
          <a:p>
            <a:r>
              <a:t>  }</a:t>
            </a:r>
          </a:p>
          <a:p>
            <a:r>
              <a:t>]</a:t>
            </a:r>
          </a:p>
          <a:p>
            <a:r>
              <a:t>SCR delivery order: page 10 of 16. Gap IDs and original evidence references retained in notes.</a:t>
            </a:r>
          </a:p>
          <a:p>
            <a:r>
              <a:t>{</a:t>
            </a:r>
          </a:p>
          <a:p>
            <a:r>
              <a:t>  "status": "Geographic explanation; schematic candidate corridors, not validated fuel routes or catchments",</a:t>
            </a:r>
          </a:p>
          <a:p>
            <a:r>
              <a:t>  "projection": "+proj=laea +lat_0=-27 +lon_0=24 +datum=WGS84 +units=m +no_defs",</a:t>
            </a:r>
          </a:p>
          <a:p>
            <a:r>
              <a:t>  "extent": [</a:t>
            </a:r>
          </a:p>
          <a:p>
            <a:r>
              <a:t>    12.5,</a:t>
            </a:r>
          </a:p>
          <a:p>
            <a:r>
              <a:t>    -35.5,</a:t>
            </a:r>
          </a:p>
          <a:p>
            <a:r>
              <a:t>    35.5,</a:t>
            </a:r>
          </a:p>
          <a:p>
            <a:r>
              <a:t>    -17.0</a:t>
            </a:r>
          </a:p>
          <a:p>
            <a:r>
              <a:t>  ],</a:t>
            </a:r>
          </a:p>
          <a:p>
            <a:r>
              <a:t>  "sources": [</a:t>
            </a:r>
          </a:p>
          <a:p>
            <a:r>
              <a:t>    "https://www.wbcg.com.na/trans-kalahari-corridor/",</a:t>
            </a:r>
          </a:p>
          <a:p>
            <a:r>
              <a:t>    "https://tracn4.co.za/about-history/",</a:t>
            </a:r>
          </a:p>
          <a:p>
            <a:r>
              <a:t>    "Kickoff appendix: Durban-NMPP-Lesedi schematic"</a:t>
            </a:r>
          </a:p>
          <a:p>
            <a:r>
              <a:t>  ],</a:t>
            </a:r>
          </a:p>
          <a:p>
            <a:r>
              <a:t>  "points": {</a:t>
            </a:r>
          </a:p>
          <a:p>
            <a:r>
              <a:t>    "Walvis Bay": [</a:t>
            </a:r>
          </a:p>
          <a:p>
            <a:r>
              <a:t>      14.505,</a:t>
            </a:r>
          </a:p>
          <a:p>
            <a:r>
              <a:t>      -22.95</a:t>
            </a:r>
          </a:p>
          <a:p>
            <a:r>
              <a:t>    ],</a:t>
            </a:r>
          </a:p>
          <a:p>
            <a:r>
              <a:t>    "Windhoek": [</a:t>
            </a:r>
          </a:p>
          <a:p>
            <a:r>
              <a:t>      17.08,</a:t>
            </a:r>
          </a:p>
          <a:p>
            <a:r>
              <a:t>      -22.57</a:t>
            </a:r>
          </a:p>
          <a:p>
            <a:r>
              <a:t>    ],</a:t>
            </a:r>
          </a:p>
          <a:p>
            <a:r>
              <a:t>    "Gaborone": [</a:t>
            </a:r>
          </a:p>
          <a:p>
            <a:r>
              <a:t>      25.91,</a:t>
            </a:r>
          </a:p>
          <a:p>
            <a:r>
              <a:t>      -24.65</a:t>
            </a:r>
          </a:p>
          <a:p>
            <a:r>
              <a:t>    ],</a:t>
            </a:r>
          </a:p>
          <a:p>
            <a:r>
              <a:t>    "Matola / Maputo": [</a:t>
            </a:r>
          </a:p>
          <a:p>
            <a:r>
              <a:t>      32.47,</a:t>
            </a:r>
          </a:p>
          <a:p>
            <a:r>
              <a:t>      -25.96</a:t>
            </a:r>
          </a:p>
          <a:p>
            <a:r>
              <a:t>    ],</a:t>
            </a:r>
          </a:p>
          <a:p>
            <a:r>
              <a:t>    "Mbombela": [</a:t>
            </a:r>
          </a:p>
          <a:p>
            <a:r>
              <a:t>      30.99,</a:t>
            </a:r>
          </a:p>
          <a:p>
            <a:r>
              <a:t>      -25.47</a:t>
            </a:r>
          </a:p>
          <a:p>
            <a:r>
              <a:t>    ],</a:t>
            </a:r>
          </a:p>
          <a:p>
            <a:r>
              <a:t>    "Gauteng": [</a:t>
            </a:r>
          </a:p>
          <a:p>
            <a:r>
              <a:t>      28.04,</a:t>
            </a:r>
          </a:p>
          <a:p>
            <a:r>
              <a:t>      -26.2</a:t>
            </a:r>
          </a:p>
          <a:p>
            <a:r>
              <a:t>    ],</a:t>
            </a:r>
          </a:p>
          <a:p>
            <a:r>
              <a:t>    "Lesedi*": [</a:t>
            </a:r>
          </a:p>
          <a:p>
            <a:r>
              <a:t>      28.39,</a:t>
            </a:r>
          </a:p>
          <a:p>
            <a:r>
              <a:t>      -26.44</a:t>
            </a:r>
          </a:p>
          <a:p>
            <a:r>
              <a:t>    ],</a:t>
            </a:r>
          </a:p>
          <a:p>
            <a:r>
              <a:t>    "Durban": [</a:t>
            </a:r>
          </a:p>
          <a:p>
            <a:r>
              <a:t>      31.03,</a:t>
            </a:r>
          </a:p>
          <a:p>
            <a:r>
              <a:t>      -29.88</a:t>
            </a:r>
          </a:p>
          <a:p>
            <a:r>
              <a:t>    ],</a:t>
            </a:r>
          </a:p>
          <a:p>
            <a:r>
              <a:t>    "Komatipoort": [</a:t>
            </a:r>
          </a:p>
          <a:p>
            <a:r>
              <a:t>      31.95,</a:t>
            </a:r>
          </a:p>
          <a:p>
            <a:r>
              <a:t>      -25.44</a:t>
            </a:r>
          </a:p>
          <a:p>
            <a:r>
              <a:t>    ],</a:t>
            </a:r>
          </a:p>
          <a:p>
            <a:r>
              <a:t>    "Rustenburg": [</a:t>
            </a:r>
          </a:p>
          <a:p>
            <a:r>
              <a:t>      27.24,</a:t>
            </a:r>
          </a:p>
          <a:p>
            <a:r>
              <a:t>      -25.67</a:t>
            </a:r>
          </a:p>
          <a:p>
            <a:r>
              <a:t>    ]</a:t>
            </a:r>
          </a:p>
          <a:p>
            <a:r>
              <a:t>  },</a:t>
            </a:r>
          </a:p>
          <a:p>
            <a:r>
              <a:t>  "routes": [</a:t>
            </a:r>
          </a:p>
          <a:p>
            <a:r>
              <a:t>    {</a:t>
            </a:r>
          </a:p>
          <a:p>
            <a:r>
              <a:t>      "name": "Walvis: Trans-Kalahari candidate",</a:t>
            </a:r>
          </a:p>
          <a:p>
            <a:r>
              <a:t>      "style": "west",</a:t>
            </a:r>
          </a:p>
          <a:p>
            <a:r>
              <a:t>      "waypoints": [</a:t>
            </a:r>
          </a:p>
          <a:p>
            <a:r>
              <a:t>        [</a:t>
            </a:r>
          </a:p>
          <a:p>
            <a:r>
              <a:t>          14.505,</a:t>
            </a:r>
          </a:p>
          <a:p>
            <a:r>
              <a:t>          -22.95</a:t>
            </a:r>
          </a:p>
          <a:p>
            <a:r>
              <a:t>        ],</a:t>
            </a:r>
          </a:p>
          <a:p>
            <a:r>
              <a:t>        [</a:t>
            </a:r>
          </a:p>
          <a:p>
            <a:r>
              <a:t>          17.08,</a:t>
            </a:r>
          </a:p>
          <a:p>
            <a:r>
              <a:t>          -22.57</a:t>
            </a:r>
          </a:p>
          <a:p>
            <a:r>
              <a:t>        ],</a:t>
            </a:r>
          </a:p>
          <a:p>
            <a:r>
              <a:t>        [</a:t>
            </a:r>
          </a:p>
          <a:p>
            <a:r>
              <a:t>          18.97,</a:t>
            </a:r>
          </a:p>
          <a:p>
            <a:r>
              <a:t>          -22.45</a:t>
            </a:r>
          </a:p>
          <a:p>
            <a:r>
              <a:t>        ],</a:t>
            </a:r>
          </a:p>
          <a:p>
            <a:r>
              <a:t>        [</a:t>
            </a:r>
          </a:p>
          <a:p>
            <a:r>
              <a:t>          21.65,</a:t>
            </a:r>
          </a:p>
          <a:p>
            <a:r>
              <a:t>          -21.7</a:t>
            </a:r>
          </a:p>
          <a:p>
            <a:r>
              <a:t>        ],</a:t>
            </a:r>
          </a:p>
          <a:p>
            <a:r>
              <a:t>        [</a:t>
            </a:r>
          </a:p>
          <a:p>
            <a:r>
              <a:t>          23.96,</a:t>
            </a:r>
          </a:p>
          <a:p>
            <a:r>
              <a:t>          -24.4</a:t>
            </a:r>
          </a:p>
          <a:p>
            <a:r>
              <a:t>        ],</a:t>
            </a:r>
          </a:p>
          <a:p>
            <a:r>
              <a:t>        [</a:t>
            </a:r>
          </a:p>
          <a:p>
            <a:r>
              <a:t>          25.91,</a:t>
            </a:r>
          </a:p>
          <a:p>
            <a:r>
              <a:t>          -24.65</a:t>
            </a:r>
          </a:p>
          <a:p>
            <a:r>
              <a:t>        ],</a:t>
            </a:r>
          </a:p>
          <a:p>
            <a:r>
              <a:t>        [</a:t>
            </a:r>
          </a:p>
          <a:p>
            <a:r>
              <a:t>          25.7,</a:t>
            </a:r>
          </a:p>
          <a:p>
            <a:r>
              <a:t>          -25.25</a:t>
            </a:r>
          </a:p>
          <a:p>
            <a:r>
              <a:t>        ],</a:t>
            </a:r>
          </a:p>
          <a:p>
            <a:r>
              <a:t>        [</a:t>
            </a:r>
          </a:p>
          <a:p>
            <a:r>
              <a:t>          27.24,</a:t>
            </a:r>
          </a:p>
          <a:p>
            <a:r>
              <a:t>          -25.67</a:t>
            </a:r>
          </a:p>
          <a:p>
            <a:r>
              <a:t>        ],</a:t>
            </a:r>
          </a:p>
          <a:p>
            <a:r>
              <a:t>        [</a:t>
            </a:r>
          </a:p>
          <a:p>
            <a:r>
              <a:t>          28.04,</a:t>
            </a:r>
          </a:p>
          <a:p>
            <a:r>
              <a:t>          -26.2</a:t>
            </a:r>
          </a:p>
          <a:p>
            <a:r>
              <a:t>        ]</a:t>
            </a:r>
          </a:p>
          <a:p>
            <a:r>
              <a:t>      ]</a:t>
            </a:r>
          </a:p>
          <a:p>
            <a:r>
              <a:t>    },</a:t>
            </a:r>
          </a:p>
          <a:p>
            <a:r>
              <a:t>    {</a:t>
            </a:r>
          </a:p>
          <a:p>
            <a:r>
              <a:t>      "name": "Matola: N4 candidate",</a:t>
            </a:r>
          </a:p>
          <a:p>
            <a:r>
              <a:t>      "style": "east",</a:t>
            </a:r>
          </a:p>
          <a:p>
            <a:r>
              <a:t>      "waypoints": [</a:t>
            </a:r>
          </a:p>
          <a:p>
            <a:r>
              <a:t>        [</a:t>
            </a:r>
          </a:p>
          <a:p>
            <a:r>
              <a:t>          32.47,</a:t>
            </a:r>
          </a:p>
          <a:p>
            <a:r>
              <a:t>          -25.96</a:t>
            </a:r>
          </a:p>
          <a:p>
            <a:r>
              <a:t>        ],</a:t>
            </a:r>
          </a:p>
          <a:p>
            <a:r>
              <a:t>        [</a:t>
            </a:r>
          </a:p>
          <a:p>
            <a:r>
              <a:t>          31.95,</a:t>
            </a:r>
          </a:p>
          <a:p>
            <a:r>
              <a:t>          -25.44</a:t>
            </a:r>
          </a:p>
          <a:p>
            <a:r>
              <a:t>        ],</a:t>
            </a:r>
          </a:p>
          <a:p>
            <a:r>
              <a:t>        [</a:t>
            </a:r>
          </a:p>
          <a:p>
            <a:r>
              <a:t>          30.99,</a:t>
            </a:r>
          </a:p>
          <a:p>
            <a:r>
              <a:t>          -25.47</a:t>
            </a:r>
          </a:p>
          <a:p>
            <a:r>
              <a:t>        ],</a:t>
            </a:r>
          </a:p>
          <a:p>
            <a:r>
              <a:t>        [</a:t>
            </a:r>
          </a:p>
          <a:p>
            <a:r>
              <a:t>          29.24,</a:t>
            </a:r>
          </a:p>
          <a:p>
            <a:r>
              <a:t>          -25.87</a:t>
            </a:r>
          </a:p>
          <a:p>
            <a:r>
              <a:t>        ],</a:t>
            </a:r>
          </a:p>
          <a:p>
            <a:r>
              <a:t>        [</a:t>
            </a:r>
          </a:p>
          <a:p>
            <a:r>
              <a:t>          28.04,</a:t>
            </a:r>
          </a:p>
          <a:p>
            <a:r>
              <a:t>          -26.2</a:t>
            </a:r>
          </a:p>
          <a:p>
            <a:r>
              <a:t>        ]</a:t>
            </a:r>
          </a:p>
          <a:p>
            <a:r>
              <a:t>      ]</a:t>
            </a:r>
          </a:p>
          <a:p>
            <a:r>
              <a:t>    },</a:t>
            </a:r>
          </a:p>
          <a:p>
            <a:r>
              <a:t>    {</a:t>
            </a:r>
          </a:p>
          <a:p>
            <a:r>
              <a:t>      "name": "Durban: N3 / inland link",</a:t>
            </a:r>
          </a:p>
          <a:p>
            <a:r>
              <a:t>      "style": "vopak",</a:t>
            </a:r>
          </a:p>
          <a:p>
            <a:r>
              <a:t>      "waypoints": [</a:t>
            </a:r>
          </a:p>
          <a:p>
            <a:r>
              <a:t>        [</a:t>
            </a:r>
          </a:p>
          <a:p>
            <a:r>
              <a:t>          31.03,</a:t>
            </a:r>
          </a:p>
          <a:p>
            <a:r>
              <a:t>          -29.88</a:t>
            </a:r>
          </a:p>
          <a:p>
            <a:r>
              <a:t>        ],</a:t>
            </a:r>
          </a:p>
          <a:p>
            <a:r>
              <a:t>        [</a:t>
            </a:r>
          </a:p>
          <a:p>
            <a:r>
              <a:t>          29.6,</a:t>
            </a:r>
          </a:p>
          <a:p>
            <a:r>
              <a:t>          -29.6</a:t>
            </a:r>
          </a:p>
          <a:p>
            <a:r>
              <a:t>        ],</a:t>
            </a:r>
          </a:p>
          <a:p>
            <a:r>
              <a:t>        [</a:t>
            </a:r>
          </a:p>
          <a:p>
            <a:r>
              <a:t>          29.79,</a:t>
            </a:r>
          </a:p>
          <a:p>
            <a:r>
              <a:t>          -28.54</a:t>
            </a:r>
          </a:p>
          <a:p>
            <a:r>
              <a:t>        ],</a:t>
            </a:r>
          </a:p>
          <a:p>
            <a:r>
              <a:t>        [</a:t>
            </a:r>
          </a:p>
          <a:p>
            <a:r>
              <a:t>          28.98,</a:t>
            </a:r>
          </a:p>
          <a:p>
            <a:r>
              <a:t>          -28.27</a:t>
            </a:r>
          </a:p>
          <a:p>
            <a:r>
              <a:t>        ],</a:t>
            </a:r>
          </a:p>
          <a:p>
            <a:r>
              <a:t>        [</a:t>
            </a:r>
          </a:p>
          <a:p>
            <a:r>
              <a:t>          28.39,</a:t>
            </a:r>
          </a:p>
          <a:p>
            <a:r>
              <a:t>          -26.44</a:t>
            </a:r>
          </a:p>
          <a:p>
            <a:r>
              <a:t>        ],</a:t>
            </a:r>
          </a:p>
          <a:p>
            <a:r>
              <a:t>        [</a:t>
            </a:r>
          </a:p>
          <a:p>
            <a:r>
              <a:t>          28.04,</a:t>
            </a:r>
          </a:p>
          <a:p>
            <a:r>
              <a:t>          -26.2</a:t>
            </a:r>
          </a:p>
          <a:p>
            <a:r>
              <a:t>        ]</a:t>
            </a:r>
          </a:p>
          <a:p>
            <a:r>
              <a:t>      ]</a:t>
            </a:r>
          </a:p>
          <a:p>
            <a:r>
              <a:t>    },</a:t>
            </a:r>
          </a:p>
          <a:p>
            <a:r>
              <a:t>    {</a:t>
            </a:r>
          </a:p>
          <a:p>
            <a:r>
              <a:t>      "name": "Durban: NMPP schematic",</a:t>
            </a:r>
          </a:p>
          <a:p>
            <a:r>
              <a:t>      "style": "pipe",</a:t>
            </a:r>
          </a:p>
          <a:p>
            <a:r>
              <a:t>      "waypoints": [</a:t>
            </a:r>
          </a:p>
          <a:p>
            <a:r>
              <a:t>        [</a:t>
            </a:r>
          </a:p>
          <a:p>
            <a:r>
              <a:t>          31.03,</a:t>
            </a:r>
          </a:p>
          <a:p>
            <a:r>
              <a:t>          -29.88</a:t>
            </a:r>
          </a:p>
          <a:p>
            <a:r>
              <a:t>        ],</a:t>
            </a:r>
          </a:p>
          <a:p>
            <a:r>
              <a:t>        [</a:t>
            </a:r>
          </a:p>
          <a:p>
            <a:r>
              <a:t>          29.9,</a:t>
            </a:r>
          </a:p>
          <a:p>
            <a:r>
              <a:t>          -29.45</a:t>
            </a:r>
          </a:p>
          <a:p>
            <a:r>
              <a:t>        ],</a:t>
            </a:r>
          </a:p>
          <a:p>
            <a:r>
              <a:t>        [</a:t>
            </a:r>
          </a:p>
          <a:p>
            <a:r>
              <a:t>          29.8,</a:t>
            </a:r>
          </a:p>
          <a:p>
            <a:r>
              <a:t>          -28.5</a:t>
            </a:r>
          </a:p>
          <a:p>
            <a:r>
              <a:t>        ],</a:t>
            </a:r>
          </a:p>
          <a:p>
            <a:r>
              <a:t>        [</a:t>
            </a:r>
          </a:p>
          <a:p>
            <a:r>
              <a:t>          28.7,</a:t>
            </a:r>
          </a:p>
          <a:p>
            <a:r>
              <a:t>          -27.2</a:t>
            </a:r>
          </a:p>
          <a:p>
            <a:r>
              <a:t>        ],</a:t>
            </a:r>
          </a:p>
          <a:p>
            <a:r>
              <a:t>        [</a:t>
            </a:r>
          </a:p>
          <a:p>
            <a:r>
              <a:t>          28.39,</a:t>
            </a:r>
          </a:p>
          <a:p>
            <a:r>
              <a:t>          -26.44</a:t>
            </a:r>
          </a:p>
          <a:p>
            <a:r>
              <a:t>        ]</a:t>
            </a:r>
          </a:p>
          <a:p>
            <a:r>
              <a:t>      ]</a:t>
            </a:r>
          </a:p>
          <a:p>
            <a:r>
              <a:t>    }</a:t>
            </a:r>
          </a:p>
          <a:p>
            <a:r>
              <a:t>  ],</a:t>
            </a:r>
          </a:p>
          <a:p>
            <a:r>
              <a:t>  "limitations": "Named-place coordinates and line geometry are approximate authored cartography. No shortest-path distances, route tariff, pipeline allocation, rail service, border permit or customer right is inferred. Walvis is a comparator for selected inland destinations, not an established Vopak catchment. Matola fuel-compatible receipt and dispatch still need verification."</a:t>
            </a:r>
          </a:p>
          <a:p>
            <a:r>
              <a:t>}</a:t>
            </a:r>
          </a:p>
          <a:p>
            <a:r>
              <a:t>{</a:t>
            </a:r>
          </a:p>
          <a:p>
            <a:r>
              <a:t>  "checked": "2026-10-06",</a:t>
            </a:r>
          </a:p>
          <a:p>
            <a:r>
              <a:t>  "status": "Public reporting evidence; not verified available operating capacity or a model input",</a:t>
            </a:r>
          </a:p>
          <a:p>
            <a:r>
              <a:t>  "owner": "Manish",</a:t>
            </a:r>
          </a:p>
          <a:p>
            <a:r>
              <a:t>  "refresh_trigger": "Operator revision or access review",</a:t>
            </a:r>
          </a:p>
          <a:p>
            <a:r>
              <a:t>  "sites": [</a:t>
            </a:r>
          </a:p>
          <a:p>
            <a:r>
              <a:t>    {</a:t>
            </a:r>
          </a:p>
          <a:p>
            <a:r>
              <a:t>      "gateway": "Matola / Maputo",</a:t>
            </a:r>
          </a:p>
          <a:p>
            <a:r>
              <a:t>      "operator": "Galp / IPG GIMTL",</a:t>
            </a:r>
          </a:p>
          <a:p>
            <a:r>
              <a:t>      "petrol_diesel_m3": 60000,</a:t>
            </a:r>
          </a:p>
          <a:p>
            <a:r>
              <a:t>      "diesel_m3": 40000,</a:t>
            </a:r>
          </a:p>
          <a:p>
            <a:r>
              <a:t>      "petrol_m3": 20000,</a:t>
            </a:r>
          </a:p>
          <a:p>
            <a:r>
              <a:t>      "excluded_lpg_m3": 6000,</a:t>
            </a:r>
          </a:p>
          <a:p>
            <a:r>
              <a:t>      "source": "https://www.galp.com/mz/pt-pt/institucional/logistica"</a:t>
            </a:r>
          </a:p>
          <a:p>
            <a:r>
              <a:t>    },</a:t>
            </a:r>
          </a:p>
          <a:p>
            <a:r>
              <a:t>    {</a:t>
            </a:r>
          </a:p>
          <a:p>
            <a:r>
              <a:t>      "gateway": "Walvis Bay",</a:t>
            </a:r>
          </a:p>
          <a:p>
            <a:r>
              <a:t>      "operator": "NAMCOR NOSF",</a:t>
            </a:r>
          </a:p>
          <a:p>
            <a:r>
              <a:t>      "total_m3": 75000,</a:t>
            </a:r>
          </a:p>
          <a:p>
            <a:r>
              <a:t>      "petrol_diesel_m3": 65000,</a:t>
            </a:r>
          </a:p>
          <a:p>
            <a:r>
              <a:t>      "diesel_m3": 45000,</a:t>
            </a:r>
          </a:p>
          <a:p>
            <a:r>
              <a:t>      "petrol_m3": 20000,</a:t>
            </a:r>
          </a:p>
          <a:p>
            <a:r>
              <a:t>      "excluded_jet_hfo_m3": 10000,</a:t>
            </a:r>
          </a:p>
          <a:p>
            <a:r>
              <a:t>      "source": "https://www.namcor.com.na/national-oil-storage-facility/"</a:t>
            </a:r>
          </a:p>
          <a:p>
            <a:r>
              <a:t>    }</a:t>
            </a:r>
          </a:p>
          <a:p>
            <a:r>
              <a:t>  ]</a:t>
            </a:r>
          </a:p>
          <a:p>
            <a:r>
              <a:t>}</a:t>
            </a:r>
          </a:p>
          <a:p>
            <a:r>
              <a:t>SCR master row C3; linked roadmap page 2. Deep-dive page 10.</a:t>
            </a:r>
          </a:p>
          <a:p>
            <a:r>
              <a:t>Final story navigation: Overview p2; Market baseline p3; Market changes p7; Vopak outlook p12. Henry SCR naming remains in the overview.</a:t>
            </a:r>
          </a:p>
          <a:p>
            <a:r>
              <a:t>6 October SCR editorial pass: presentation copy and map hierarchy only. Source observations, example volumes and model inputs unchanged.</a:t>
            </a:r>
          </a:p>
          <a:p>
            <a:r>
              <a:t>Convergence order: national accounting p3; provincial map p4; history/estimates p5. Current page 10.</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11.</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Supports overview row(s) C5; clickable footer badge returns to page 2.</a:t>
            </a:r>
          </a:p>
          <a:p>
            <a:r>
              <a:t>Supports overview row(s) C5; clickable footer badge returns to page 2.</a:t>
            </a:r>
          </a:p>
          <a:p>
            <a:r>
              <a:t>Title supports overview row(s) C5; Overview chevron returns to page 2.</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a:t>
            </a:r>
          </a:p>
          <a:p>
            <a:r>
              <a:t>    "id": "SA12",</a:t>
            </a:r>
          </a:p>
          <a:p>
            <a:r>
              <a:t>    "story": "Resolution",</a:t>
            </a:r>
          </a:p>
          <a:p>
            <a:r>
              <a:t>    "question": "Vopak market share at Durban and Lesedi",</a:t>
            </a:r>
          </a:p>
          <a:p>
            <a:r>
              <a:t>    "existing_work": "Pack page 13: illustrative 3.0 / 4.5 / 8.5 bn L milestones and required conditions; sourced regional sales page 12. Actual client flows and share remain unknown.",</a:t>
            </a:r>
          </a:p>
          <a:p>
            <a:r>
              <a:t>    "gap": "Unique customer deliveries, receipts, shared transfers, destinations and matched period.",</a:t>
            </a:r>
          </a:p>
          <a:p>
            <a:r>
              <a:t>    "action": "Nigel requests client flow extract; Manish reconciles receipt/transfer/final-delivery records and counts final demand once.",</a:t>
            </a:r>
          </a:p>
          <a:p>
            <a:r>
              <a:t>    "closure_evidence": "Separate terminal throughput and unique served-demand shares; matched-year/product denominator; traceable records, no capacity-as-share.",</a:t>
            </a:r>
          </a:p>
          <a:p>
            <a:r>
              <a:t>    "owner": "Nigel client request; Manish reconciliation",</a:t>
            </a:r>
          </a:p>
          <a:p>
            <a:r>
              <a:t>    "timing": "W1 request/schema; W2+ on receipt",</a:t>
            </a:r>
          </a:p>
          <a:p>
            <a:r>
              <a:t>    "source_lead": "Vopak operational/customer data; public unique-throughput data not established",</a:t>
            </a:r>
          </a:p>
          <a:p>
            <a:r>
              <a:t>    "refresh_method": "Client-approved monthly/annual extract with product/destination coverage and transfer IDs.",</a:t>
            </a:r>
          </a:p>
          <a:p>
            <a:r>
              <a:t>    "model_connection": "Current p6 flow volumes illustrative; future shared flow contract.",</a:t>
            </a:r>
          </a:p>
          <a:p>
            <a:r>
              <a:t>    "priority": "P0",</a:t>
            </a:r>
          </a:p>
          <a:p>
            <a:r>
              <a:t>    "status": "Open; existing evidence does not establish closure"</a:t>
            </a:r>
          </a:p>
          <a:p>
            <a:r>
              <a:t>  },</a:t>
            </a:r>
          </a:p>
          <a:p>
            <a:r>
              <a:t>  {</a:t>
            </a:r>
          </a:p>
          <a:p>
            <a:r>
              <a:t>    "id": "SA13",</a:t>
            </a:r>
          </a:p>
          <a:p>
            <a:r>
              <a:t>    "story": "Resolution",</a:t>
            </a:r>
          </a:p>
          <a:p>
            <a:r>
              <a:t>    "question": "Additional commercially contestable market",</a:t>
            </a:r>
          </a:p>
          <a:p>
            <a:r>
              <a:t>    "existing_work": "Pack page 13: delivered-cost, physical-capacity, customer-rights and volume-accounting gates. All candidate increments remain unassessed.",</a:t>
            </a:r>
          </a:p>
          <a:p>
            <a:r>
              <a:t>    "gap": "Usable product-compatible tanks, spare routes, contracts, switching, customer overlap and Northern Cape inventory.",</a:t>
            </a:r>
          </a:p>
          <a:p>
            <a:r>
              <a:t>    "action": "Combine customer destinations with evidenced routes and rights; separate physical reach, commercial envelope and potential capture.",</a:t>
            </a:r>
          </a:p>
          <a:p>
            <a:r>
              <a:t>    "closure_evidence": "Accessible demand by product/region/period; explicit assumptions and unassessed residual; competitors volume is not automatically capturable.",</a:t>
            </a:r>
          </a:p>
          <a:p>
            <a:r>
              <a:t>    "owner": "Manish evidence; Nigel commercial review",</a:t>
            </a:r>
          </a:p>
          <a:p>
            <a:r>
              <a:t>    "timing": "W2-W4",</a:t>
            </a:r>
          </a:p>
          <a:p>
            <a:r>
              <a:t>    "source_lead": "Storage/competitor CSVs; NERSA licences; client contracts and operator notices",</a:t>
            </a:r>
          </a:p>
          <a:p>
            <a:r>
              <a:t>    "refresh_method": "Manual licences/notices; refresh contractual period, site changes and lease milestones.",</a:t>
            </a:r>
          </a:p>
          <a:p>
            <a:r>
              <a:t>    "model_connection": "No validated commercial customer-flow allocation.",</a:t>
            </a:r>
          </a:p>
          <a:p>
            <a:r>
              <a:t>    "priority": "P1",</a:t>
            </a:r>
          </a:p>
          <a:p>
            <a:r>
              <a:t>    "status": "Open; existing evidence does not establish closure"</a:t>
            </a:r>
          </a:p>
          <a:p>
            <a:r>
              <a:t>  }</a:t>
            </a:r>
          </a:p>
          <a:p>
            <a:r>
              <a:t>]</a:t>
            </a:r>
          </a:p>
          <a:p>
            <a:r>
              <a:t>SCR delivery order: page 13 of 16. Gap IDs and original evidence references retained in notes.</a:t>
            </a:r>
          </a:p>
          <a:p>
            <a:r>
              <a:t>Volume milestones derive only from the existing illustrative catchment CSV. Gates specify required evidence, not calculated allocation. No threshold assigned and no new model volume invented.</a:t>
            </a:r>
          </a:p>
          <a:p>
            <a:r>
              <a:t>SCR master row R1; linked roadmap page 2. Deep-dive page 13.</a:t>
            </a:r>
          </a:p>
          <a:p>
            <a:r>
              <a:t>Final story navigation: Overview p2; Market baseline p3; Market changes p7; Vopak outlook p12. Henry SCR naming remains in the overview.</a:t>
            </a:r>
          </a:p>
          <a:p>
            <a:r>
              <a:t>6 October SCR editorial pass: presentation copy and map hierarchy only. Source observations, example volumes and model inputs unchanged.</a:t>
            </a:r>
          </a:p>
          <a:p>
            <a:r>
              <a:t>Convergence order: national accounting p3; provincial map p4; history/estimates p5. Current page 13.</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14.</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Supports overview row(s) R6; clickable footer badge returns to page 2.</a:t>
            </a:r>
          </a:p>
          <a:p>
            <a:r>
              <a:t>Supports overview row(s) R6; clickable footer badge returns to page 2.</a:t>
            </a:r>
          </a:p>
          <a:p>
            <a:r>
              <a:t>Title supports overview row(s) R6; Overview chevron returns to page 2.</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a:t>
            </a:r>
          </a:p>
          <a:p>
            <a:r>
              <a:t>    "id": "SA14",</a:t>
            </a:r>
          </a:p>
          <a:p>
            <a:r>
              <a:t>    "story": "Resolution",</a:t>
            </a:r>
          </a:p>
          <a:p>
            <a:r>
              <a:t>    "question": "New storage and investment scope",</a:t>
            </a:r>
          </a:p>
          <a:p>
            <a:r>
              <a:t>    "existing_work": "Partial gross/lease stocks, without client handling/inventory profile.",</a:t>
            </a:r>
          </a:p>
          <a:p>
            <a:r>
              <a:t>    "gap": "Incremental accessible flows, turnover/peak inventory, product compatibility, cost and commercial return criteria.",</a:t>
            </a:r>
          </a:p>
          <a:p>
            <a:r>
              <a:t>    "action": "Establish flow/access case first; then test service requirements and a separately scoped investment case.",</a:t>
            </a:r>
          </a:p>
          <a:p>
            <a:r>
              <a:t>    "closure_evidence": "Throughput-to-usable-stock bridge with seasonality, inventory days and dispatch limits; downside sensitivity; no investment claim from import deficit alone.",</a:t>
            </a:r>
          </a:p>
          <a:p>
            <a:r>
              <a:t>    "owner": "Nigel commercial gate; Manish; Henry review",</a:t>
            </a:r>
          </a:p>
          <a:p>
            <a:r>
              <a:t>    "timing": "W4-W6 only if prioritised",</a:t>
            </a:r>
          </a:p>
          <a:p>
            <a:r>
              <a:t>    "source_lead": "Client service/stock profiles and scoped cost evidence",</a:t>
            </a:r>
          </a:p>
          <a:p>
            <a:r>
              <a:t>    "refresh_method": "Manual client data; refresh on demand/access case changes.",</a:t>
            </a:r>
          </a:p>
          <a:p>
            <a:r>
              <a:t>    "model_connection": "Detailed service sizing deferred; infrastructure secondary to fuel integration.",</a:t>
            </a:r>
          </a:p>
          <a:p>
            <a:r>
              <a:t>    "priority": "P2",</a:t>
            </a:r>
          </a:p>
          <a:p>
            <a:r>
              <a:t>    "status": "Open; existing evidence does not establish closure"</a:t>
            </a:r>
          </a:p>
          <a:p>
            <a:r>
              <a:t>  }</a:t>
            </a:r>
          </a:p>
          <a:p>
            <a:r>
              <a:t>]</a:t>
            </a:r>
          </a:p>
          <a:p>
            <a:r>
              <a:t>SCR delivery order: page 15 of 16. Gap IDs and original evidence references retained in notes.</a:t>
            </a:r>
          </a:p>
          <a:p>
            <a:r>
              <a:t>Illustration contract: storage_inventory_sensitivity_2026_10_06.csv. Values = 5.5e9 litres/year / 365 days/year * authored days / 1000 litres/m3 / 1000 m3 per plotted unit. Uniform flows; no peak factor, heel, headroom, spare existing capacity, product segregation or capex assumptions. These are required working stocks, not gross nameplate or new capacity. Owner Nigel / Manish; expiry: reviewed customer flows and inventory policy. Presentation illustration only; not an operational model input.</a:t>
            </a:r>
          </a:p>
          <a:p>
            <a:r>
              <a:t>SCR master row R2; linked roadmap page 2. Deep-dive page 15.</a:t>
            </a:r>
          </a:p>
          <a:p>
            <a:r>
              <a:t>Final story navigation: Overview p2; Market baseline p3; Market changes p7; Vopak outlook p12. Henry SCR naming remains in the overview.</a:t>
            </a:r>
          </a:p>
          <a:p>
            <a:r>
              <a:t>6 October SCR editorial pass: presentation copy and map hierarchy only. Source observations, example volumes and model inputs unchanged.</a:t>
            </a:r>
          </a:p>
          <a:p>
            <a:r>
              <a:t>Convergence order: national accounting p3; provincial map p4; history/estimates p5. Current page 15.</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17.</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Supports overview row(s) R7; clickable footer badge returns to page 2.</a:t>
            </a:r>
          </a:p>
          <a:p>
            <a:r>
              <a:t>Supports overview row(s) R7; clickable footer badge returns to page 2.</a:t>
            </a:r>
          </a:p>
          <a:p>
            <a:r>
              <a:t>Title supports overview row(s) R7; Overview chevron returns to page 2.</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"status": "Priority hypotheses for review; no agreed customer capture or investment commitment",</a:t>
            </a:r>
          </a:p>
          <a:p>
            <a:r>
              <a:t>  "title": "Prioritise customer markets, win on service and cost, then expand",</a:t>
            </a:r>
          </a:p>
          <a:p>
            <a:r>
              <a:t>  "rows": [</a:t>
            </a:r>
          </a:p>
          <a:p>
            <a:r>
              <a:t>    [</a:t>
            </a:r>
          </a:p>
          <a:p>
            <a:r>
              <a:t>      "Where to play",</a:t>
            </a:r>
          </a:p>
          <a:p>
            <a:r>
              <a:t>      "How to win",</a:t>
            </a:r>
          </a:p>
          <a:p>
            <a:r>
              <a:t>      "When to act",</a:t>
            </a:r>
          </a:p>
          <a:p>
            <a:r>
              <a:t>      "What must be true"</a:t>
            </a:r>
          </a:p>
          <a:p>
            <a:r>
              <a:t>    ],</a:t>
            </a:r>
          </a:p>
          <a:p>
            <a:r>
              <a:t>    [</a:t>
            </a:r>
          </a:p>
          <a:p>
            <a:r>
              <a:t>      "Durban coastal customers\nFirst market to test",</a:t>
            </a:r>
          </a:p>
          <a:p>
            <a:r>
              <a:t>      "Competitive delivered cost; reliable receipt and dispatch; compatible tanks",</a:t>
            </a:r>
          </a:p>
          <a:p>
            <a:r>
              <a:t>      "Now: identify customers and test service using existing assets",</a:t>
            </a:r>
          </a:p>
          <a:p>
            <a:r>
              <a:t>      "Named customer, product and unique litres; cost threshold; usable tank and dispatch space"</a:t>
            </a:r>
          </a:p>
          <a:p>
            <a:r>
              <a:t>    ],</a:t>
            </a:r>
          </a:p>
          <a:p>
            <a:r>
              <a:t>    [</a:t>
            </a:r>
          </a:p>
          <a:p>
            <a:r>
              <a:t>      "Lesedi inland customers\nFirst inland market to test",</a:t>
            </a:r>
          </a:p>
          <a:p>
            <a:r>
              <a:t>      "Reliable inland supply; competitive full-route cost versus other gateways",</a:t>
            </a:r>
          </a:p>
          <a:p>
            <a:r>
              <a:t>      "After route and customer validation: negotiate incremental flows",</a:t>
            </a:r>
          </a:p>
          <a:p>
            <a:r>
              <a:t>      "NMPP or alternative route access; receipt/dispatch capacity; customer rights and switching"</a:t>
            </a:r>
          </a:p>
          <a:p>
            <a:r>
              <a:t>    ],</a:t>
            </a:r>
          </a:p>
          <a:p>
            <a:r>
              <a:t>    [</a:t>
            </a:r>
          </a:p>
          <a:p>
            <a:r>
              <a:t>      "Matola and Walvis Bay\nCompeting gateways to compare",</a:t>
            </a:r>
          </a:p>
          <a:p>
            <a:r>
              <a:t>      "Test storage, handling and transport to the same inland destination",</a:t>
            </a:r>
          </a:p>
          <a:p>
            <a:r>
              <a:t>      "During the inland comparison; pursue an opportunity only if access and economics are evidenced",</a:t>
            </a:r>
          </a:p>
          <a:p>
            <a:r>
              <a:t>      "Available compatible tanks; border/route feasibility; partner and customer access; full delivered cost"</a:t>
            </a:r>
          </a:p>
          <a:p>
            <a:r>
              <a:t>    ]</a:t>
            </a:r>
          </a:p>
          <a:p>
            <a:r>
              <a:t>  ],</a:t>
            </a:r>
          </a:p>
          <a:p>
            <a:r>
              <a:t>  "investment_gate": "New storage follows secured incremental flows and a gap in usable capacity; the illustrative 5.5 bn litres does not establish a commitment.",</a:t>
            </a:r>
          </a:p>
          <a:p>
            <a:r>
              <a:t>  "nigel_action": "Choose the first customer/product and acceptable cost. Confirm the service proposition and commercial access.",</a:t>
            </a:r>
          </a:p>
          <a:p>
            <a:r>
              <a:t>  "manish_action": "Build a customer-by-route evidence table: litres, cost, capacity, rights, timing and owner. Mark each gate passed, failed or unassessed.",</a:t>
            </a:r>
          </a:p>
          <a:p>
            <a:r>
              <a:t>  "expiry_trigger": "Replace priority hypotheses when customer flows, route costs and usable capacity are reviewed. Timing is conditional, not a calendar commitment."</a:t>
            </a:r>
          </a:p>
          <a:p>
            <a:r>
              <a:t>}</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16.</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Supports overview row(s) R7; clickable footer badge returns to page 2.</a:t>
            </a:r>
          </a:p>
          <a:p>
            <a:r>
              <a:t>Supports overview row(s) R7; clickable footer badge returns to page 2.</a:t>
            </a:r>
          </a:p>
          <a:p>
            <a:r>
              <a:t>Title supports overview row(s) R7; Overview chevron returns to page 2.</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"title": "Connect historical changes to forecast cases and market decisions",</a:t>
            </a:r>
          </a:p>
          <a:p>
            <a:r>
              <a:t>  "status": "Forecast structure only; growth assumptions and fuel effects await calibration and review",</a:t>
            </a:r>
          </a:p>
          <a:p>
            <a:r>
              <a:t>  "rows": [</a:t>
            </a:r>
          </a:p>
          <a:p>
            <a:r>
              <a:t>    [</a:t>
            </a:r>
          </a:p>
          <a:p>
            <a:r>
              <a:t>      "Historical evidence",</a:t>
            </a:r>
          </a:p>
          <a:p>
            <a:r>
              <a:t>      "Forecast cases to define",</a:t>
            </a:r>
          </a:p>
          <a:p>
            <a:r>
              <a:t>      "Output to calculate",</a:t>
            </a:r>
          </a:p>
          <a:p>
            <a:r>
              <a:t>      "Decision it supports"</a:t>
            </a:r>
          </a:p>
          <a:p>
            <a:r>
              <a:t>    ],</a:t>
            </a:r>
          </a:p>
          <a:p>
            <a:r>
              <a:t>    [</a:t>
            </a:r>
          </a:p>
          <a:p>
            <a:r>
              <a:t>      "Fleet, activity and prices\nObserved history and recent partial periods",</a:t>
            </a:r>
          </a:p>
          <a:p>
            <a:r>
              <a:t>      "Base: observed performance continues. High / low: explicit growth, mileage and price assumptions",</a:t>
            </a:r>
          </a:p>
          <a:p>
            <a:r>
              <a:t>      "Petrol / diesel demand by year; forecast bands and sensitivity",</a:t>
            </a:r>
          </a:p>
          <a:p>
            <a:r>
              <a:t>      "Which customer markets grow, contract or change product mix?"</a:t>
            </a:r>
          </a:p>
          <a:p>
            <a:r>
              <a:t>    ],</a:t>
            </a:r>
          </a:p>
          <a:p>
            <a:r>
              <a:t>    [</a:t>
            </a:r>
          </a:p>
          <a:p>
            <a:r>
              <a:t>      "EV, freight, sectors and power\nSeparate activity from fuel use",</a:t>
            </a:r>
          </a:p>
          <a:p>
            <a:r>
              <a:t>      "Change uptake, modal share, fuel intensity and OCGT use; separate BEV and hybrids",</a:t>
            </a:r>
          </a:p>
          <a:p>
            <a:r>
              <a:t>      "Incremental litres by lever; avoid overlap with the base growth path",</a:t>
            </a:r>
          </a:p>
          <a:p>
            <a:r>
              <a:t>      "Which service proposition and customer segment should Vopak prioritise?"</a:t>
            </a:r>
          </a:p>
          <a:p>
            <a:r>
              <a:t>    ],</a:t>
            </a:r>
          </a:p>
          <a:p>
            <a:r>
              <a:t>    [</a:t>
            </a:r>
          </a:p>
          <a:p>
            <a:r>
              <a:t>      "Refinery capacity and reported output\nSeparate actual from conditional additions",</a:t>
            </a:r>
          </a:p>
          <a:p>
            <a:r>
              <a:t>      "Existing plants: output, downtime and yields. Redevelopment: conditional timing and ramp-up",</a:t>
            </a:r>
          </a:p>
          <a:p>
            <a:r>
              <a:t>      "Product-specific domestic output; matched imports, exports and stock changes",</a:t>
            </a:r>
          </a:p>
          <a:p>
            <a:r>
              <a:t>      "When could additional import handling or storage be needed?"</a:t>
            </a:r>
          </a:p>
          <a:p>
            <a:r>
              <a:t>    ],</a:t>
            </a:r>
          </a:p>
          <a:p>
            <a:r>
              <a:t>    [</a:t>
            </a:r>
          </a:p>
          <a:p>
            <a:r>
              <a:t>      "Provincial sales and competing routes\nLater fuel shares are estimates",</a:t>
            </a:r>
          </a:p>
          <a:p>
            <a:r>
              <a:t>      "Allocate national cases with explicit regional assumptions; test route cost and access",</a:t>
            </a:r>
          </a:p>
          <a:p>
            <a:r>
              <a:t>      "Reachable customer litres by region and route; actual Vopak deliveries separately",</a:t>
            </a:r>
          </a:p>
          <a:p>
            <a:r>
              <a:t>      "Where to play, how to win and the conditions for committing capacity"</a:t>
            </a:r>
          </a:p>
          <a:p>
            <a:r>
              <a:t>    ]</a:t>
            </a:r>
          </a:p>
          <a:p>
            <a:r>
              <a:t>  ],</a:t>
            </a:r>
          </a:p>
          <a:p>
            <a:r>
              <a:t>  "bridge": "Historical evidence \u2192 agreed assumptions and levers \u2192 annual demand and supply \u2192 regional access \u2192 Vopak decision",</a:t>
            </a:r>
          </a:p>
          <a:p>
            <a:r>
              <a:t>  "gate": "History is observed; forecast cases are proposed. No new fuel forecast is shown until the assumptions, source selections and back-tests are reviewed."</a:t>
            </a:r>
          </a:p>
          <a:p>
            <a:r>
              <a:t>}</a:t>
            </a:r>
          </a:p>
          <a:p>
            <a:r>
              <a:t>Final structure: baseline pp3–6; changes pp7–11 (forecast framework p9); outlook pp12–17 (market choices p16, inventory p17). Current page 9.</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Supports overview row(s) S/C3 / C4; clickable footer badge returns to page 2.</a:t>
            </a:r>
          </a:p>
          <a:p>
            <a:r>
              <a:t>Supports overview row(s) S/C3 / C4; clickable footer badge returns to page 2.</a:t>
            </a:r>
          </a:p>
          <a:p>
            <a:r>
              <a:t>Title supports overview row(s) S/C3 / C4; Overview chevron returns to page 2.</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r>
              <a:t>Reference appendix. Colour values are read from the theme and map palette; no evidence or model assumptions changed.</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"pill": "S",</a:t>
            </a:r>
          </a:p>
          <a:p>
            <a:r>
              <a:t>  "agenda": "Market baseline",</a:t>
            </a:r>
          </a:p>
          <a:p>
            <a:r>
              <a:t>  "questions": [</a:t>
            </a:r>
          </a:p>
          <a:p>
            <a:r>
              <a:t>    {</a:t>
            </a:r>
          </a:p>
          <a:p>
            <a:r>
              <a:t>      "question": "Total SA demand development",</a:t>
            </a:r>
          </a:p>
          <a:p>
            <a:r>
              <a:t>      "answer": "Partial: reported 2024 sales are 20.763 bn L; coverage awaits reconciliation. Provincial history ends in 2022.",</a:t>
            </a:r>
          </a:p>
          <a:p>
            <a:r>
              <a:t>      "pages": [</a:t>
            </a:r>
          </a:p>
          <a:p>
            <a:r>
              <a:t>        3,</a:t>
            </a:r>
          </a:p>
          <a:p>
            <a:r>
              <a:t>        4,</a:t>
            </a:r>
          </a:p>
          <a:p>
            <a:r>
              <a:t>        5</a:t>
            </a:r>
          </a:p>
          <a:p>
            <a:r>
              <a:t>      ],</a:t>
            </a:r>
          </a:p>
          <a:p>
            <a:r>
              <a:t>      "trace_id": "S01",</a:t>
            </a:r>
          </a:p>
          <a:p>
            <a:r>
              <a:t>      "henry_verbatim": "Outline total SA demand development over the last few years and the market of interest for Vopak (eastern part of SA, within economic striking distance of its storage infrastructure and NMPP",</a:t>
            </a:r>
          </a:p>
          <a:p>
            <a:r>
              <a:t>      "source_slide": 30,</a:t>
            </a:r>
          </a:p>
          <a:p>
            <a:r>
              <a:t>      "source_image": "external/partner_story_20261006/situation.png"</a:t>
            </a:r>
          </a:p>
          <a:p>
            <a:r>
              <a:t>    },</a:t>
            </a:r>
          </a:p>
          <a:p>
            <a:r>
              <a:t>    {</a:t>
            </a:r>
          </a:p>
          <a:p>
            <a:r>
              <a:t>      "question": "Eastern SA market within economic striking distance",</a:t>
            </a:r>
          </a:p>
          <a:p>
            <a:r>
              <a:t>      "answer": "Open: location and illustrative costs show reach, not accessible customer litres. Need destinations, tariffs and rights.",</a:t>
            </a:r>
          </a:p>
          <a:p>
            <a:r>
              <a:t>      "pages": [</a:t>
            </a:r>
          </a:p>
          <a:p>
            <a:r>
              <a:t>        4,</a:t>
            </a:r>
          </a:p>
          <a:p>
            <a:r>
              <a:t>        10,</a:t>
            </a:r>
          </a:p>
          <a:p>
            <a:r>
              <a:t>        12,</a:t>
            </a:r>
          </a:p>
          <a:p>
            <a:r>
              <a:t>        14</a:t>
            </a:r>
          </a:p>
          <a:p>
            <a:r>
              <a:t>      ],</a:t>
            </a:r>
          </a:p>
          <a:p>
            <a:r>
              <a:t>      "trace_id": "S02",</a:t>
            </a:r>
          </a:p>
          <a:p>
            <a:r>
              <a:t>      "henry_verbatim": "Outline total SA demand development over the last few years and the market of interest for Vopak (eastern part of SA, within economic striking distance of its storage infrastructure and NMPP",</a:t>
            </a:r>
          </a:p>
          <a:p>
            <a:r>
              <a:t>      "source_slide": 30,</a:t>
            </a:r>
          </a:p>
          <a:p>
            <a:r>
              <a:t>      "source_image": "external/partner_story_20261006/situation.png"</a:t>
            </a:r>
          </a:p>
          <a:p>
            <a:r>
              <a:t>    },</a:t>
            </a:r>
          </a:p>
          <a:p>
            <a:r>
              <a:t>    {</a:t>
            </a:r>
          </a:p>
          <a:p>
            <a:r>
              <a:t>      "question": "Greater diesel use in power generation",</a:t>
            </a:r>
          </a:p>
          <a:p>
            <a:r>
              <a:t>      "answer": "Partial: generation history is shown; recent OCGT use falls. Diesel-litres attribution still needs fuel-use evidence.",</a:t>
            </a:r>
          </a:p>
          <a:p>
            <a:r>
              <a:t>      "pages": [</a:t>
            </a:r>
          </a:p>
          <a:p>
            <a:r>
              <a:t>        7,</a:t>
            </a:r>
          </a:p>
          <a:p>
            <a:r>
              <a:t>        9</a:t>
            </a:r>
          </a:p>
          <a:p>
            <a:r>
              <a:t>      ],</a:t>
            </a:r>
          </a:p>
          <a:p>
            <a:r>
              <a:t>      "trace_id": "S03",</a:t>
            </a:r>
          </a:p>
          <a:p>
            <a:r>
              <a:t>      "henry_verbatim": "Greater use of diesel in power gen",</a:t>
            </a:r>
          </a:p>
          <a:p>
            <a:r>
              <a:t>      "source_slide": 30,</a:t>
            </a:r>
          </a:p>
          <a:p>
            <a:r>
              <a:t>      "source_image": "external/partner_story_20261006/situation.png"</a:t>
            </a:r>
          </a:p>
          <a:p>
            <a:r>
              <a:t>    },</a:t>
            </a:r>
          </a:p>
          <a:p>
            <a:r>
              <a:t>    {</a:t>
            </a:r>
          </a:p>
          <a:p>
            <a:r>
              <a:t>      "question": "Rail to road",</a:t>
            </a:r>
          </a:p>
          <a:p>
            <a:r>
              <a:t>      "answer": "Partial: road/rail payload history is shown. Payload alone does not prove modal substitution or diesel effects.",</a:t>
            </a:r>
          </a:p>
          <a:p>
            <a:r>
              <a:t>      "pages": [</a:t>
            </a:r>
          </a:p>
          <a:p>
            <a:r>
              <a:t>        7,</a:t>
            </a:r>
          </a:p>
          <a:p>
            <a:r>
              <a:t>        9</a:t>
            </a:r>
          </a:p>
          <a:p>
            <a:r>
              <a:t>      ],</a:t>
            </a:r>
          </a:p>
          <a:p>
            <a:r>
              <a:t>      "trace_id": "S04",</a:t>
            </a:r>
          </a:p>
          <a:p>
            <a:r>
              <a:t>      "henry_verbatim": "Rail to road",</a:t>
            </a:r>
          </a:p>
          <a:p>
            <a:r>
              <a:t>      "source_slide": 30,</a:t>
            </a:r>
          </a:p>
          <a:p>
            <a:r>
              <a:t>      "source_image": "external/partner_story_20261006/situation.png"</a:t>
            </a:r>
          </a:p>
          <a:p>
            <a:r>
              <a:t>    },</a:t>
            </a:r>
          </a:p>
          <a:p>
            <a:r>
              <a:t>    {</a:t>
            </a:r>
          </a:p>
          <a:p>
            <a:r>
              <a:t>      "question": "Changes in fuel price",</a:t>
            </a:r>
          </a:p>
          <a:p>
            <a:r>
              <a:t>      "answer": "Partial: complete-year price history is staged. Travel response and real-price effects remain uncalibrated.",</a:t>
            </a:r>
          </a:p>
          <a:p>
            <a:r>
              <a:t>      "pages": [</a:t>
            </a:r>
          </a:p>
          <a:p>
            <a:r>
              <a:t>        7,</a:t>
            </a:r>
          </a:p>
          <a:p>
            <a:r>
              <a:t>        9</a:t>
            </a:r>
          </a:p>
          <a:p>
            <a:r>
              <a:t>      ],</a:t>
            </a:r>
          </a:p>
          <a:p>
            <a:r>
              <a:t>      "trace_id": "S05",</a:t>
            </a:r>
          </a:p>
          <a:p>
            <a:r>
              <a:t>      "henry_verbatim": "Changes in fuel price",</a:t>
            </a:r>
          </a:p>
          <a:p>
            <a:r>
              <a:t>      "source_slide": 30,</a:t>
            </a:r>
          </a:p>
          <a:p>
            <a:r>
              <a:t>      "source_image": "external/partner_story_20261006/situation.png"</a:t>
            </a:r>
          </a:p>
          <a:p>
            <a:r>
              <a:t>    },</a:t>
            </a:r>
          </a:p>
          <a:p>
            <a:r>
              <a:t>    {</a:t>
            </a:r>
          </a:p>
          <a:p>
            <a:r>
              <a:t>      "question": "More fuel-efficient vehicles",</a:t>
            </a:r>
          </a:p>
          <a:p>
            <a:r>
              <a:t>      "answer": "Open: fleet stocks and new EV/hybrid sales do not establish fleet efficiency. Need fuel mix, mileage and intensity.",</a:t>
            </a:r>
          </a:p>
          <a:p>
            <a:r>
              <a:t>      "pages": [</a:t>
            </a:r>
          </a:p>
          <a:p>
            <a:r>
              <a:t>        7,</a:t>
            </a:r>
          </a:p>
          <a:p>
            <a:r>
              <a:t>        9</a:t>
            </a:r>
          </a:p>
          <a:p>
            <a:r>
              <a:t>      ],</a:t>
            </a:r>
          </a:p>
          <a:p>
            <a:r>
              <a:t>      "trace_id": "S06",</a:t>
            </a:r>
          </a:p>
          <a:p>
            <a:r>
              <a:t>      "henry_verbatim": "Shift to more fuel efficient vehicles",</a:t>
            </a:r>
          </a:p>
          <a:p>
            <a:r>
              <a:t>      "source_slide": 30,</a:t>
            </a:r>
          </a:p>
          <a:p>
            <a:r>
              <a:t>      "source_image": "external/partner_story_20261006/situation.png"</a:t>
            </a:r>
          </a:p>
          <a:p>
            <a:r>
              <a:t>    },</a:t>
            </a:r>
          </a:p>
          <a:p>
            <a:r>
              <a:t>    {</a:t>
            </a:r>
          </a:p>
          <a:p>
            <a:r>
              <a:t>      "question": "Slow GDP growth",</a:t>
            </a:r>
          </a:p>
          <a:p>
            <a:r>
              <a:t>      "answer": "Partial: GDP and sector activity evidence is available; growth-to-fuel effects require explicit assumptions.",</a:t>
            </a:r>
          </a:p>
          <a:p>
            <a:r>
              <a:t>      "pages": [</a:t>
            </a:r>
          </a:p>
          <a:p>
            <a:r>
              <a:t>        7,</a:t>
            </a:r>
          </a:p>
          <a:p>
            <a:r>
              <a:t>        9</a:t>
            </a:r>
          </a:p>
          <a:p>
            <a:r>
              <a:t>      ],</a:t>
            </a:r>
          </a:p>
          <a:p>
            <a:r>
              <a:t>      "trace_id": "S07",</a:t>
            </a:r>
          </a:p>
          <a:p>
            <a:r>
              <a:t>      "henry_verbatim": "Slow GDP growth",</a:t>
            </a:r>
          </a:p>
          <a:p>
            <a:r>
              <a:t>      "source_slide": 30,</a:t>
            </a:r>
          </a:p>
          <a:p>
            <a:r>
              <a:t>      "source_image": "external/partner_story_20261006/situation.png"</a:t>
            </a:r>
          </a:p>
          <a:p>
            <a:r>
              <a:t>    },</a:t>
            </a:r>
          </a:p>
          <a:p>
            <a:r>
              <a:t>    {</a:t>
            </a:r>
          </a:p>
          <a:p>
            <a:r>
              <a:t>      "question": "Refinery closures",</a:t>
            </a:r>
          </a:p>
          <a:p>
            <a:r>
              <a:t>      "answer": "Partial: published capacity falls to 358 thousand bbl/day. Capacity is distinct from output and operating availability.",</a:t>
            </a:r>
          </a:p>
          <a:p>
            <a:r>
              <a:t>      "pages": [</a:t>
            </a:r>
          </a:p>
          <a:p>
            <a:r>
              <a:t>        8</a:t>
            </a:r>
          </a:p>
          <a:p>
            <a:r>
              <a:t>      ],</a:t>
            </a:r>
          </a:p>
          <a:p>
            <a:r>
              <a:t>      "trace_id": "S08",</a:t>
            </a:r>
          </a:p>
          <a:p>
            <a:r>
              <a:t>      "henry_verbatim": "Refinery closure",</a:t>
            </a:r>
          </a:p>
          <a:p>
            <a:r>
              <a:t>      "source_slide": 30,</a:t>
            </a:r>
          </a:p>
          <a:p>
            <a:r>
              <a:t>      "source_image": "external/partner_story_20261006/situation.png"</a:t>
            </a:r>
          </a:p>
          <a:p>
            <a:r>
              <a:t>    },</a:t>
            </a:r>
          </a:p>
          <a:p>
            <a:r>
              <a:t>    {</a:t>
            </a:r>
          </a:p>
          <a:p>
            <a:r>
              <a:t>      "question": "Challenges at Secunda",</a:t>
            </a:r>
          </a:p>
          <a:p>
            <a:r>
              <a:t>      "answer": "Partial: FY2024 output is 29.1 million barrels, all products. Availability and petrol/diesel yields remain open.",</a:t>
            </a:r>
          </a:p>
          <a:p>
            <a:r>
              <a:t>      "pages": [</a:t>
            </a:r>
          </a:p>
          <a:p>
            <a:r>
              <a:t>        8,</a:t>
            </a:r>
          </a:p>
          <a:p>
            <a:r>
              <a:t>        9</a:t>
            </a:r>
          </a:p>
          <a:p>
            <a:r>
              <a:t>      ],</a:t>
            </a:r>
          </a:p>
          <a:p>
            <a:r>
              <a:t>      "trace_id": "S09",</a:t>
            </a:r>
          </a:p>
          <a:p>
            <a:r>
              <a:t>      "henry_verbatim": "Challenges at Secunda",</a:t>
            </a:r>
          </a:p>
          <a:p>
            <a:r>
              <a:t>      "source_slide": 30,</a:t>
            </a:r>
          </a:p>
          <a:p>
            <a:r>
              <a:t>      "source_image": "external/partner_story_20261006/situation.png"</a:t>
            </a:r>
          </a:p>
          <a:p>
            <a:r>
              <a:t>    },</a:t>
            </a:r>
          </a:p>
          <a:p>
            <a:r>
              <a:t>    {</a:t>
            </a:r>
          </a:p>
          <a:p>
            <a:r>
              <a:t>      "question": "Closure of Mossgas",</a:t>
            </a:r>
          </a:p>
          <a:p>
            <a:r>
              <a:t>      "answer": "Open: plant-specific shutdown dates, operating status and lost product output need explicit source confirmation.",</a:t>
            </a:r>
          </a:p>
          <a:p>
            <a:r>
              <a:t>      "pages": [</a:t>
            </a:r>
          </a:p>
          <a:p>
            <a:r>
              <a:t>        8,</a:t>
            </a:r>
          </a:p>
          <a:p>
            <a:r>
              <a:t>        9</a:t>
            </a:r>
          </a:p>
          <a:p>
            <a:r>
              <a:t>      ],</a:t>
            </a:r>
          </a:p>
          <a:p>
            <a:r>
              <a:t>      "trace_id": "S10",</a:t>
            </a:r>
          </a:p>
          <a:p>
            <a:r>
              <a:t>      "henry_verbatim": "Closure of Mossgas",</a:t>
            </a:r>
          </a:p>
          <a:p>
            <a:r>
              <a:t>      "source_slide": 30,</a:t>
            </a:r>
          </a:p>
          <a:p>
            <a:r>
              <a:t>      "source_image": "external/partner_story_20261006/situation.png"</a:t>
            </a:r>
          </a:p>
          <a:p>
            <a:r>
              <a:t>    },</a:t>
            </a:r>
          </a:p>
          <a:p>
            <a:r>
              <a:t>    {</a:t>
            </a:r>
          </a:p>
          <a:p>
            <a:r>
              <a:t>      "question": "Growth in imports and where they enter",</a:t>
            </a:r>
          </a:p>
          <a:p>
            <a:r>
              <a:t>      "answer": "Partial: 2024 net imports are 13.078 bn L. Import-growth attribution, product-specific ports and origin remain open.",</a:t>
            </a:r>
          </a:p>
          <a:p>
            <a:r>
              <a:t>      "pages": [</a:t>
            </a:r>
          </a:p>
          <a:p>
            <a:r>
              <a:t>        3,</a:t>
            </a:r>
          </a:p>
          <a:p>
            <a:r>
              <a:t>        6</a:t>
            </a:r>
          </a:p>
          <a:p>
            <a:r>
              <a:t>      ],</a:t>
            </a:r>
          </a:p>
          <a:p>
            <a:r>
              <a:t>      "trace_id": "S11",</a:t>
            </a:r>
          </a:p>
          <a:p>
            <a:r>
              <a:t>      "henry_verbatim": "Show growth in imports and where they have been coming in",</a:t>
            </a:r>
          </a:p>
          <a:p>
            <a:r>
              <a:t>      "source_slide": 30,</a:t>
            </a:r>
          </a:p>
          <a:p>
            <a:r>
              <a:t>      "source_image": "external/partner_story_20261006/situation.png"</a:t>
            </a:r>
          </a:p>
          <a:p>
            <a:r>
              <a:t>    }</a:t>
            </a:r>
          </a:p>
          <a:p>
            <a:r>
              <a:t>  ]</a:t>
            </a:r>
          </a:p>
          <a:p>
            <a:r>
              <a:t>}</a:t>
            </a:r>
          </a:p>
          <a:p>
            <a:r>
              <a:t>Supports overview row(s) S1 / S2 / S/C3 / C4; clickable footer badge returns to page 2.</a:t>
            </a:r>
          </a:p>
          <a:p>
            <a:r>
              <a:t>Supports overview row(s) S1 / S2 / S/C3 / C4; clickable footer badge returns to page 2.</a:t>
            </a:r>
          </a:p>
          <a:p>
            <a:r>
              <a:t>Title supports overview row(s) S1 / S2 / S/C3 / C4; Overview chevron returns to page 2.</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"pill": "C",</a:t>
            </a:r>
          </a:p>
          <a:p>
            <a:r>
              <a:t>  "agenda": "Market changes",</a:t>
            </a:r>
          </a:p>
          <a:p>
            <a:r>
              <a:t>  "questions": [</a:t>
            </a:r>
          </a:p>
          <a:p>
            <a:r>
              <a:t>    {</a:t>
            </a:r>
          </a:p>
          <a:p>
            <a:r>
              <a:t>      "question": "Road to rail; private-sector rail projection",</a:t>
            </a:r>
          </a:p>
          <a:p>
            <a:r>
              <a:t>      "answer": "Open: historical payload is available; private-sector service, timing and modal-shift assumptions need evidence.",</a:t>
            </a:r>
          </a:p>
          <a:p>
            <a:r>
              <a:t>      "pages": [</a:t>
            </a:r>
          </a:p>
          <a:p>
            <a:r>
              <a:t>        7,</a:t>
            </a:r>
          </a:p>
          <a:p>
            <a:r>
              <a:t>        9</a:t>
            </a:r>
          </a:p>
          <a:p>
            <a:r>
              <a:t>      ],</a:t>
            </a:r>
          </a:p>
          <a:p>
            <a:r>
              <a:t>      "trace_id": "C01",</a:t>
            </a:r>
          </a:p>
          <a:p>
            <a:r>
              <a:t>      "henry_verbatim": "Road to rail (use the stats SA land transport survey, provide a projection of the shift based on private sector participation in rail",</a:t>
            </a:r>
          </a:p>
          <a:p>
            <a:r>
              <a:t>      "source_slide": 31,</a:t>
            </a:r>
          </a:p>
          <a:p>
            <a:r>
              <a:t>      "source_image": "external/partner_story_20261006/complication.png"</a:t>
            </a:r>
          </a:p>
          <a:p>
            <a:r>
              <a:t>    },</a:t>
            </a:r>
          </a:p>
          <a:p>
            <a:r>
              <a:t>    {</a:t>
            </a:r>
          </a:p>
          <a:p>
            <a:r>
              <a:t>      "question": "End of loadshedding and spare power capacity",</a:t>
            </a:r>
          </a:p>
          <a:p>
            <a:r>
              <a:t>      "answer": "Partial: observed OCGT generation falls. Future dispatch, spare capacity and diesel demand remain conditional.",</a:t>
            </a:r>
          </a:p>
          <a:p>
            <a:r>
              <a:t>      "pages": [</a:t>
            </a:r>
          </a:p>
          <a:p>
            <a:r>
              <a:t>        7,</a:t>
            </a:r>
          </a:p>
          <a:p>
            <a:r>
              <a:t>        9</a:t>
            </a:r>
          </a:p>
          <a:p>
            <a:r>
              <a:t>      ],</a:t>
            </a:r>
          </a:p>
          <a:p>
            <a:r>
              <a:t>      "trace_id": "C02",</a:t>
            </a:r>
          </a:p>
          <a:p>
            <a:r>
              <a:t>      "henry_verbatim": "End of loadshedding and large spare capacity in power generation",</a:t>
            </a:r>
          </a:p>
          <a:p>
            <a:r>
              <a:t>      "source_slide": 31,</a:t>
            </a:r>
          </a:p>
          <a:p>
            <a:r>
              <a:t>      "source_image": "external/partner_story_20261006/complication.png"</a:t>
            </a:r>
          </a:p>
          <a:p>
            <a:r>
              <a:t>    },</a:t>
            </a:r>
          </a:p>
          <a:p>
            <a:r>
              <a:t>    {</a:t>
            </a:r>
          </a:p>
          <a:p>
            <a:r>
              <a:t>      "question": "EV / HEV penetration projection",</a:t>
            </a:r>
          </a:p>
          <a:p>
            <a:r>
              <a:t>      "answer": "Open: sales uptake is shown, not fleet penetration. Separate BEV, PHEV and conventional hybrids; model turnover.",</a:t>
            </a:r>
          </a:p>
          <a:p>
            <a:r>
              <a:t>      "pages": [</a:t>
            </a:r>
          </a:p>
          <a:p>
            <a:r>
              <a:t>        7,</a:t>
            </a:r>
          </a:p>
          <a:p>
            <a:r>
              <a:t>        9</a:t>
            </a:r>
          </a:p>
          <a:p>
            <a:r>
              <a:t>      ],</a:t>
            </a:r>
          </a:p>
          <a:p>
            <a:r>
              <a:t>      "trace_id": "C03",</a:t>
            </a:r>
          </a:p>
          <a:p>
            <a:r>
              <a:t>      "henry_verbatim": "Penetration of EVs and HEVs (Need to provide a projection of penetration, show how this may impact litres per km calc)",</a:t>
            </a:r>
          </a:p>
          <a:p>
            <a:r>
              <a:t>      "source_slide": 31,</a:t>
            </a:r>
          </a:p>
          <a:p>
            <a:r>
              <a:t>      "source_image": "external/partner_story_20261006/complication.png"</a:t>
            </a:r>
          </a:p>
          <a:p>
            <a:r>
              <a:t>    },</a:t>
            </a:r>
          </a:p>
          <a:p>
            <a:r>
              <a:t>    {</a:t>
            </a:r>
          </a:p>
          <a:p>
            <a:r>
              <a:t>      "question": "Effect of EV / HEV on litres per km",</a:t>
            </a:r>
          </a:p>
          <a:p>
            <a:r>
              <a:t>      "answer": "Open: require stock mix, mileage and fuel intensity. BEVs and hybrids have different fuel-use mechanisms.",</a:t>
            </a:r>
          </a:p>
          <a:p>
            <a:r>
              <a:t>      "pages": [</a:t>
            </a:r>
          </a:p>
          <a:p>
            <a:r>
              <a:t>        7,</a:t>
            </a:r>
          </a:p>
          <a:p>
            <a:r>
              <a:t>        9</a:t>
            </a:r>
          </a:p>
          <a:p>
            <a:r>
              <a:t>      ],</a:t>
            </a:r>
          </a:p>
          <a:p>
            <a:r>
              <a:t>      "trace_id": "C04",</a:t>
            </a:r>
          </a:p>
          <a:p>
            <a:r>
              <a:t>      "henry_verbatim": "Penetration of EVs and HEVs (Need to provide a projection of penetration, show how this may impact litres per km calc)",</a:t>
            </a:r>
          </a:p>
          <a:p>
            <a:r>
              <a:t>      "source_slide": 31,</a:t>
            </a:r>
          </a:p>
          <a:p>
            <a:r>
              <a:t>      "source_image": "external/partner_story_20261006/complication.png"</a:t>
            </a:r>
          </a:p>
          <a:p>
            <a:r>
              <a:t>    },</a:t>
            </a:r>
          </a:p>
          <a:p>
            <a:r>
              <a:t>    {</a:t>
            </a:r>
          </a:p>
          <a:p>
            <a:r>
              <a:t>      "question": "Higher fuel prices and km travelled",</a:t>
            </a:r>
          </a:p>
          <a:p>
            <a:r>
              <a:t>      "answer": "Open: prices are sourced; mileage response and elasticity must be specified and tested before forecasting.",</a:t>
            </a:r>
          </a:p>
          <a:p>
            <a:r>
              <a:t>      "pages": [</a:t>
            </a:r>
          </a:p>
          <a:p>
            <a:r>
              <a:t>        7,</a:t>
            </a:r>
          </a:p>
          <a:p>
            <a:r>
              <a:t>        9</a:t>
            </a:r>
          </a:p>
          <a:p>
            <a:r>
              <a:t>      ],</a:t>
            </a:r>
          </a:p>
          <a:p>
            <a:r>
              <a:t>      "trace_id": "C05",</a:t>
            </a:r>
          </a:p>
          <a:p>
            <a:r>
              <a:t>      "henry_verbatim": "Large increase in fuel prices (need to show how this may impact km’s travelled)",</a:t>
            </a:r>
          </a:p>
          <a:p>
            <a:r>
              <a:t>      "source_slide": 31,</a:t>
            </a:r>
          </a:p>
          <a:p>
            <a:r>
              <a:t>      "source_image": "external/partner_story_20261006/complication.png"</a:t>
            </a:r>
          </a:p>
          <a:p>
            <a:r>
              <a:t>    },</a:t>
            </a:r>
          </a:p>
          <a:p>
            <a:r>
              <a:t>    {</a:t>
            </a:r>
          </a:p>
          <a:p>
            <a:r>
              <a:t>      "question": "Mega refinery / SAPREF restart",</a:t>
            </a:r>
          </a:p>
          <a:p>
            <a:r>
              <a:t>      "answer": "Conditional: redevelopment capacity is a scenario, not sanctioned output. Confirm FID, ramp-up and product yields.",</a:t>
            </a:r>
          </a:p>
          <a:p>
            <a:r>
              <a:t>      "pages": [</a:t>
            </a:r>
          </a:p>
          <a:p>
            <a:r>
              <a:t>        8,</a:t>
            </a:r>
          </a:p>
          <a:p>
            <a:r>
              <a:t>        9</a:t>
            </a:r>
          </a:p>
          <a:p>
            <a:r>
              <a:t>      ],</a:t>
            </a:r>
          </a:p>
          <a:p>
            <a:r>
              <a:t>      "trace_id": "C06",</a:t>
            </a:r>
          </a:p>
          <a:p>
            <a:r>
              <a:t>      "henry_verbatim": "Talk of a mega refinery (restart Sapref)",</a:t>
            </a:r>
          </a:p>
          <a:p>
            <a:r>
              <a:t>      "source_slide": 31,</a:t>
            </a:r>
          </a:p>
          <a:p>
            <a:r>
              <a:t>      "source_image": "external/partner_story_20261006/complication.png"</a:t>
            </a:r>
          </a:p>
          <a:p>
            <a:r>
              <a:t>    },</a:t>
            </a:r>
          </a:p>
          <a:p>
            <a:r>
              <a:t>    {</a:t>
            </a:r>
          </a:p>
          <a:p>
            <a:r>
              <a:t>      "question": "Secunda gas, coal and MRG diversion to 2032",</a:t>
            </a:r>
          </a:p>
          <a:p>
            <a:r>
              <a:t>      "answer": "Open: no liquid-fuel displacement is inferred. Need dated gas allocation, plant mechanism and product-output evidence.",</a:t>
            </a:r>
          </a:p>
          <a:p>
            <a:r>
              <a:t>      "pages": [</a:t>
            </a:r>
          </a:p>
          <a:p>
            <a:r>
              <a:t>        8,</a:t>
            </a:r>
          </a:p>
          <a:p>
            <a:r>
              <a:t>        9</a:t>
            </a:r>
          </a:p>
          <a:p>
            <a:r>
              <a:t>      ],</a:t>
            </a:r>
          </a:p>
          <a:p>
            <a:r>
              <a:t>      "trace_id": "C07",</a:t>
            </a:r>
          </a:p>
          <a:p>
            <a:r>
              <a:t>      "henry_verbatim": "Secunda production - linked to improved pure gas production from coal, however diversion away from fuel production due to sale of MRG and potential extension to 2032",</a:t>
            </a:r>
          </a:p>
          <a:p>
            <a:r>
              <a:t>      "source_slide": 31,</a:t>
            </a:r>
          </a:p>
          <a:p>
            <a:r>
              <a:t>      "source_image": "external/partner_story_20261006/complication.png"</a:t>
            </a:r>
          </a:p>
          <a:p>
            <a:r>
              <a:t>    },</a:t>
            </a:r>
          </a:p>
          <a:p>
            <a:r>
              <a:t>    {</a:t>
            </a:r>
          </a:p>
          <a:p>
            <a:r>
              <a:t>      "question": "Natref future?",</a:t>
            </a:r>
          </a:p>
          <a:p>
            <a:r>
              <a:t>      "answer": "Open: reported FY output is available; future ownership, availability and product yields require a dated case.",</a:t>
            </a:r>
          </a:p>
          <a:p>
            <a:r>
              <a:t>      "pages": [</a:t>
            </a:r>
          </a:p>
          <a:p>
            <a:r>
              <a:t>        8,</a:t>
            </a:r>
          </a:p>
          <a:p>
            <a:r>
              <a:t>        9</a:t>
            </a:r>
          </a:p>
          <a:p>
            <a:r>
              <a:t>      ],</a:t>
            </a:r>
          </a:p>
          <a:p>
            <a:r>
              <a:t>      "trace_id": "C08",</a:t>
            </a:r>
          </a:p>
          <a:p>
            <a:r>
              <a:t>      "henry_verbatim": "Natref future?",</a:t>
            </a:r>
          </a:p>
          <a:p>
            <a:r>
              <a:t>      "source_slide": 31,</a:t>
            </a:r>
          </a:p>
          <a:p>
            <a:r>
              <a:t>      "source_image": "external/partner_story_20261006/complication.png"</a:t>
            </a:r>
          </a:p>
          <a:p>
            <a:r>
              <a:t>    },</a:t>
            </a:r>
          </a:p>
          <a:p>
            <a:r>
              <a:t>    {</a:t>
            </a:r>
          </a:p>
          <a:p>
            <a:r>
              <a:t>      "question": "Durban storage / NMPP / Lesedi vs road and rail",</a:t>
            </a:r>
          </a:p>
          <a:p>
            <a:r>
              <a:t>      "answer": "Open: compare the same customer and product. Need full delivered costs, capacity, tariffs and service availability.",</a:t>
            </a:r>
          </a:p>
          <a:p>
            <a:r>
              <a:t>      "pages": [</a:t>
            </a:r>
          </a:p>
          <a:p>
            <a:r>
              <a:t>        10,</a:t>
            </a:r>
          </a:p>
          <a:p>
            <a:r>
              <a:t>        11,</a:t>
            </a:r>
          </a:p>
          <a:p>
            <a:r>
              <a:t>        14</a:t>
            </a:r>
          </a:p>
          <a:p>
            <a:r>
              <a:t>      ],</a:t>
            </a:r>
          </a:p>
          <a:p>
            <a:r>
              <a:t>      "trace_id": "C09",</a:t>
            </a:r>
          </a:p>
          <a:p>
            <a:r>
              <a:t>      "henry_verbatim": "Competitiveness of Vopak supply chain of Durban storage, NMPP and storage in Lesedi vs. the alternatives:\nRoad and rail transport from Durban",</a:t>
            </a:r>
          </a:p>
          <a:p>
            <a:r>
              <a:t>      "source_slide": 31,</a:t>
            </a:r>
          </a:p>
          <a:p>
            <a:r>
              <a:t>      "source_image": "external/partner_story_20261006/complication.png"</a:t>
            </a:r>
          </a:p>
          <a:p>
            <a:r>
              <a:t>    },</a:t>
            </a:r>
          </a:p>
          <a:p>
            <a:r>
              <a:t>    {</a:t>
            </a:r>
          </a:p>
          <a:p>
            <a:r>
              <a:t>      "question": "Transport from Matola and Walvis Bay",</a:t>
            </a:r>
          </a:p>
          <a:p>
            <a:r>
              <a:t>      "answer": "Partial: gateways, published storage and schematic routes are shown. Full costs, borders and customer access remain open.",</a:t>
            </a:r>
          </a:p>
          <a:p>
            <a:r>
              <a:t>      "pages": [</a:t>
            </a:r>
          </a:p>
          <a:p>
            <a:r>
              <a:t>        11,</a:t>
            </a:r>
          </a:p>
          <a:p>
            <a:r>
              <a:t>        14,</a:t>
            </a:r>
          </a:p>
          <a:p>
            <a:r>
              <a:t>        16</a:t>
            </a:r>
          </a:p>
          <a:p>
            <a:r>
              <a:t>      ],</a:t>
            </a:r>
          </a:p>
          <a:p>
            <a:r>
              <a:t>      "trace_id": "C10",</a:t>
            </a:r>
          </a:p>
          <a:p>
            <a:r>
              <a:t>      "henry_verbatim": "Competitiveness of Vopak supply chain of Durban storage, NMPP and storage in Lesedi vs. the alternatives:\nTransport from Matola\nTransport from Walvis Bay",</a:t>
            </a:r>
          </a:p>
          <a:p>
            <a:r>
              <a:t>      "source_slide": 31,</a:t>
            </a:r>
          </a:p>
          <a:p>
            <a:r>
              <a:t>      "source_image": "external/partner_story_20261006/complication.png"</a:t>
            </a:r>
          </a:p>
          <a:p>
            <a:r>
              <a:t>    }</a:t>
            </a:r>
          </a:p>
          <a:p>
            <a:r>
              <a:t>  ]</a:t>
            </a:r>
          </a:p>
          <a:p>
            <a:r>
              <a:t>}</a:t>
            </a:r>
          </a:p>
          <a:p>
            <a:r>
              <a:t>Supports overview row(s) S/C3 / C4 / C5; clickable footer badge returns to page 2.</a:t>
            </a:r>
          </a:p>
          <a:p>
            <a:r>
              <a:t>Supports overview row(s) S/C3 / C4 / C5; clickable footer badge returns to page 2.</a:t>
            </a:r>
          </a:p>
          <a:p>
            <a:r>
              <a:t>Title supports overview row(s) S/C3 / C4 / C5; Overview chevron returns to page 2.</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"pill": "R",</a:t>
            </a:r>
          </a:p>
          <a:p>
            <a:r>
              <a:t>  "agenda": "Vopak outlook",</a:t>
            </a:r>
          </a:p>
          <a:p>
            <a:r>
              <a:t>  "questions": [</a:t>
            </a:r>
          </a:p>
          <a:p>
            <a:r>
              <a:t>    {</a:t>
            </a:r>
          </a:p>
          <a:p>
            <a:r>
              <a:t>      "question": "Market share of Vopak in Dbn and Lesedi",</a:t>
            </a:r>
          </a:p>
          <a:p>
            <a:r>
              <a:t>      "answer": "Open: published storage is an asset footprint, not served demand. Need unique deliveries, transfers and matched demand.",</a:t>
            </a:r>
          </a:p>
          <a:p>
            <a:r>
              <a:t>      "pages": [</a:t>
            </a:r>
          </a:p>
          <a:p>
            <a:r>
              <a:t>        12,</a:t>
            </a:r>
          </a:p>
          <a:p>
            <a:r>
              <a:t>        13,</a:t>
            </a:r>
          </a:p>
          <a:p>
            <a:r>
              <a:t>        14</a:t>
            </a:r>
          </a:p>
          <a:p>
            <a:r>
              <a:t>      ],</a:t>
            </a:r>
          </a:p>
          <a:p>
            <a:r>
              <a:t>      "trace_id": "R01",</a:t>
            </a:r>
          </a:p>
          <a:p>
            <a:r>
              <a:t>      "henry_verbatim": "Market share of Vopak in Dbn and Lesedi",</a:t>
            </a:r>
          </a:p>
          <a:p>
            <a:r>
              <a:t>      "source_slide": 32,</a:t>
            </a:r>
          </a:p>
          <a:p>
            <a:r>
              <a:t>      "source_image": "external/partner_story_20261006/resolution.png"</a:t>
            </a:r>
          </a:p>
          <a:p>
            <a:r>
              <a:t>    },</a:t>
            </a:r>
          </a:p>
          <a:p>
            <a:r>
              <a:t>    {</a:t>
            </a:r>
          </a:p>
          <a:p>
            <a:r>
              <a:t>      "question": "Potential scope for new investment?",</a:t>
            </a:r>
          </a:p>
          <a:p>
            <a:r>
              <a:t>      "answer": "Conditional: prioritise customer flows and service first. New storage requires secured incremental flows and a usable-capacity gap.",</a:t>
            </a:r>
          </a:p>
          <a:p>
            <a:r>
              <a:t>      "pages": [</a:t>
            </a:r>
          </a:p>
          <a:p>
            <a:r>
              <a:t>        15,</a:t>
            </a:r>
          </a:p>
          <a:p>
            <a:r>
              <a:t>        16,</a:t>
            </a:r>
          </a:p>
          <a:p>
            <a:r>
              <a:t>        17</a:t>
            </a:r>
          </a:p>
          <a:p>
            <a:r>
              <a:t>      ],</a:t>
            </a:r>
          </a:p>
          <a:p>
            <a:r>
              <a:t>      "trace_id": "R02",</a:t>
            </a:r>
          </a:p>
          <a:p>
            <a:r>
              <a:t>      "henry_verbatim": "Potential scope for new investment?",</a:t>
            </a:r>
          </a:p>
          <a:p>
            <a:r>
              <a:t>      "source_slide": 32,</a:t>
            </a:r>
          </a:p>
          <a:p>
            <a:r>
              <a:t>      "source_image": "external/partner_story_20261006/resolution.png"</a:t>
            </a:r>
          </a:p>
          <a:p>
            <a:r>
              <a:t>    }</a:t>
            </a:r>
          </a:p>
          <a:p>
            <a:r>
              <a:t>  ]</a:t>
            </a:r>
          </a:p>
          <a:p>
            <a:r>
              <a:t>}</a:t>
            </a:r>
          </a:p>
          <a:p>
            <a:r>
              <a:t>Supports overview row(s) R6 / R7; clickable footer badge returns to page 2.</a:t>
            </a:r>
          </a:p>
          <a:p>
            <a:r>
              <a:t>Supports overview row(s) R6 / R7; clickable footer badge returns to page 2.</a:t>
            </a:r>
          </a:p>
          <a:p>
            <a:r>
              <a:t>Title supports overview row(s) R6 / R7; Overview chevron returns to page 2.</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eg"/><Relationship Id="rId3"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eg"/><Relationship Id="rId3" Type="http://schemas.openxmlformats.org/officeDocument/2006/relationships/image" Target="../media/image4.png"/><Relationship Id="rId4" Type="http://schemas.openxmlformats.org/officeDocument/2006/relationships/image" Target="../media/image6.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eg"/><Relationship Id="rId3" Type="http://schemas.openxmlformats.org/officeDocument/2006/relationships/image" Target="../media/image4.png"/><Relationship Id="rId4" Type="http://schemas.openxmlformats.org/officeDocument/2006/relationships/image" Target="../media/image6.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9509FAFE-21DB-4F6B-8EA1-32FA210B705A}"/>
              </a:ext>
            </a:extLst>
          </p:cNvPr>
          <p:cNvSpPr>
            <a:spLocks noGrp="1"/>
          </p:cNvSpPr>
          <p:nvPr>
            <p:ph type="sldNum" sz="quarter" idx="10"/>
          </p:nvPr>
        </p:nvSpPr>
        <p:spPr/>
        <p:txBody>
          <a:bodyPr/>
          <a:lstStyle/>
          <a:p>
            <a:fld id="{5E48029D-87D6-48C3-BA4B-1065A63511DF}" type="slidenum">
              <a:rPr lang="en-GB" smtClean="0">
                <a:solidFill>
                  <a:schemeClr val="tx1"/>
                </a:solidFill>
              </a:rPr>
              <a:pPr/>
              <a:t>‹#›</a:t>
            </a:fld>
            <a:endParaRPr lang="en-GB">
              <a:solidFill>
                <a:schemeClr val="tx1"/>
              </a:solidFill>
            </a:endParaRPr>
          </a:p>
        </p:txBody>
      </p:sp>
      <p:pic>
        <p:nvPicPr>
          <p:cNvPr id="4" name="Picture 3" descr="A picture containing sky, building, outdoor, city&#10;&#10;Description automatically generated">
            <a:extLst>
              <a:ext uri="{FF2B5EF4-FFF2-40B4-BE49-F238E27FC236}">
                <a16:creationId xmlns:a16="http://schemas.microsoft.com/office/drawing/2014/main" id="{AF958CDF-21C2-4696-B1FF-98C6C69234CE}"/>
              </a:ext>
            </a:extLst>
          </p:cNvPr>
          <p:cNvPicPr>
            <a:picLocks noChangeAspect="1"/>
          </p:cNvPicPr>
          <p:nvPr userDrawn="1"/>
        </p:nvPicPr>
        <p:blipFill rotWithShape="1">
          <a:blip r:embed="rId2">
            <a:extLst>
              <a:ext uri="{28A0092B-C50C-407E-A947-70E740481C1C}">
                <a14:useLocalDpi xmlns:a14="http://schemas.microsoft.com/office/drawing/2010/main"/>
              </a:ext>
            </a:extLst>
          </a:blip>
          <a:srcRect/>
          <a:stretch/>
        </p:blipFill>
        <p:spPr>
          <a:xfrm>
            <a:off x="0" y="1"/>
            <a:ext cx="11588750" cy="6858000"/>
          </a:xfrm>
          <a:prstGeom prst="rect">
            <a:avLst/>
          </a:prstGeom>
        </p:spPr>
      </p:pic>
      <p:sp>
        <p:nvSpPr>
          <p:cNvPr id="9" name="Text Placeholder 8">
            <a:extLst>
              <a:ext uri="{FF2B5EF4-FFF2-40B4-BE49-F238E27FC236}">
                <a16:creationId xmlns:a16="http://schemas.microsoft.com/office/drawing/2014/main" id="{F597E07F-A0B2-4C60-A493-63795665B2AC}"/>
              </a:ext>
            </a:extLst>
          </p:cNvPr>
          <p:cNvSpPr>
            <a:spLocks noGrp="1"/>
          </p:cNvSpPr>
          <p:nvPr>
            <p:ph type="body" sz="quarter" idx="11"/>
          </p:nvPr>
        </p:nvSpPr>
        <p:spPr>
          <a:xfrm>
            <a:off x="1" y="5137149"/>
            <a:ext cx="4933950" cy="1571625"/>
          </a:xfrm>
          <a:solidFill>
            <a:schemeClr val="bg1">
              <a:alpha val="50000"/>
            </a:schemeClr>
          </a:solidFill>
        </p:spPr>
        <p:txBody>
          <a:bodyPr anchor="ctr">
            <a:noAutofit/>
          </a:bodyPr>
          <a:lstStyle>
            <a:lvl1pPr marL="0" indent="0">
              <a:buNone/>
              <a:defRPr sz="2400" b="1">
                <a:solidFill>
                  <a:schemeClr val="tx1"/>
                </a:solidFill>
              </a:defRPr>
            </a:lvl1pPr>
            <a:lvl2pPr>
              <a:defRPr sz="2000" b="1">
                <a:solidFill>
                  <a:schemeClr val="tx1"/>
                </a:solidFill>
              </a:defRPr>
            </a:lvl2pPr>
            <a:lvl3pPr>
              <a:defRPr sz="1800" b="1">
                <a:solidFill>
                  <a:schemeClr val="tx1"/>
                </a:solidFill>
              </a:defRPr>
            </a:lvl3pPr>
            <a:lvl4pPr>
              <a:defRPr sz="1600" b="1">
                <a:solidFill>
                  <a:schemeClr val="tx1"/>
                </a:solidFill>
              </a:defRPr>
            </a:lvl4pPr>
            <a:lvl5pPr>
              <a:defRPr sz="1600" b="1">
                <a:solidFill>
                  <a:schemeClr val="tx1"/>
                </a:solidFill>
              </a:defRPr>
            </a:lvl5pPr>
          </a:lstStyle>
          <a:p>
            <a:pPr lvl="0"/>
            <a:r>
              <a:rPr lang="en-US">
                <a:solidFill>
                  <a:schemeClr val="tx1"/>
                </a:solidFill>
              </a:rPr>
              <a:t>Click to edit Master text styles</a:t>
            </a:r>
          </a:p>
        </p:txBody>
      </p:sp>
    </p:spTree>
    <p:extLst>
      <p:ext uri="{BB962C8B-B14F-4D97-AF65-F5344CB8AC3E}">
        <p14:creationId xmlns:p14="http://schemas.microsoft.com/office/powerpoint/2010/main" val="17214373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p:spTree>
      <p:nvGrpSpPr>
        <p:cNvPr id="1" name=""/>
        <p:cNvGrpSpPr/>
        <p:nvPr/>
      </p:nvGrpSpPr>
      <p:grpSpPr>
        <a:xfrm>
          <a:off x="0" y="0"/>
          <a:ext cx="0" cy="0"/>
          <a:chOff x="0" y="0"/>
          <a:chExt cx="0" cy="0"/>
        </a:xfrm>
      </p:grpSpPr>
      <p:pic>
        <p:nvPicPr>
          <p:cNvPr id="2" name="Picture 1" descr="Vopak offering simultaneous LNG bunkering service in Rotterdam - Offshore  Energy">
            <a:extLst>
              <a:ext uri="{FF2B5EF4-FFF2-40B4-BE49-F238E27FC236}">
                <a16:creationId xmlns:a16="http://schemas.microsoft.com/office/drawing/2014/main" id="{04892275-F272-DCB3-8D5D-1CEB80A85CC4}"/>
              </a:ext>
            </a:extLst>
          </p:cNvPr>
          <p:cNvPicPr>
            <a:picLocks noChangeAspect="1"/>
          </p:cNvPicPr>
          <p:nvPr userDrawn="1"/>
        </p:nvPicPr>
        <p:blipFill>
          <a:blip r:embed="rId2"/>
          <a:srcRect l="1233" t="15791" r="178" b="318"/>
          <a:stretch>
            <a:fillRect/>
          </a:stretch>
        </p:blipFill>
        <p:spPr>
          <a:xfrm>
            <a:off x="1" y="-12700"/>
            <a:ext cx="11588749" cy="5753329"/>
          </a:xfrm>
          <a:prstGeom prst="rect">
            <a:avLst/>
          </a:prstGeom>
        </p:spPr>
      </p:pic>
      <p:sp>
        <p:nvSpPr>
          <p:cNvPr id="3" name="Slide Number Placeholder 2">
            <a:extLst>
              <a:ext uri="{FF2B5EF4-FFF2-40B4-BE49-F238E27FC236}">
                <a16:creationId xmlns:a16="http://schemas.microsoft.com/office/drawing/2014/main" id="{9509FAFE-21DB-4F6B-8EA1-32FA210B705A}"/>
              </a:ext>
            </a:extLst>
          </p:cNvPr>
          <p:cNvSpPr>
            <a:spLocks noGrp="1"/>
          </p:cNvSpPr>
          <p:nvPr>
            <p:ph type="sldNum" sz="quarter" idx="10"/>
          </p:nvPr>
        </p:nvSpPr>
        <p:spPr/>
        <p:txBody>
          <a:bodyPr/>
          <a:lstStyle/>
          <a:p>
            <a:fld id="{5E48029D-87D6-48C3-BA4B-1065A63511DF}" type="slidenum">
              <a:rPr lang="en-GB" smtClean="0">
                <a:solidFill>
                  <a:schemeClr val="tx1"/>
                </a:solidFill>
              </a:rPr>
              <a:pPr/>
              <a:t>‹#›</a:t>
            </a:fld>
            <a:endParaRPr lang="en-GB">
              <a:solidFill>
                <a:schemeClr val="tx1"/>
              </a:solidFill>
            </a:endParaRPr>
          </a:p>
        </p:txBody>
      </p:sp>
      <p:sp>
        <p:nvSpPr>
          <p:cNvPr id="4" name="Rectangle 3">
            <a:extLst>
              <a:ext uri="{FF2B5EF4-FFF2-40B4-BE49-F238E27FC236}">
                <a16:creationId xmlns:a16="http://schemas.microsoft.com/office/drawing/2014/main" id="{FC81615D-618B-242E-BA84-0838689DFC39}"/>
              </a:ext>
            </a:extLst>
          </p:cNvPr>
          <p:cNvSpPr/>
          <p:nvPr userDrawn="1"/>
        </p:nvSpPr>
        <p:spPr>
          <a:xfrm>
            <a:off x="1" y="5661025"/>
            <a:ext cx="11588749" cy="1200604"/>
          </a:xfrm>
          <a:prstGeom prst="rect">
            <a:avLst/>
          </a:prstGeom>
          <a:solidFill>
            <a:srgbClr val="32675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 name="Text Placeholder 8">
            <a:extLst>
              <a:ext uri="{FF2B5EF4-FFF2-40B4-BE49-F238E27FC236}">
                <a16:creationId xmlns:a16="http://schemas.microsoft.com/office/drawing/2014/main" id="{F597E07F-A0B2-4C60-A493-63795665B2AC}"/>
              </a:ext>
            </a:extLst>
          </p:cNvPr>
          <p:cNvSpPr>
            <a:spLocks noGrp="1"/>
          </p:cNvSpPr>
          <p:nvPr>
            <p:ph type="body" sz="quarter" idx="11"/>
          </p:nvPr>
        </p:nvSpPr>
        <p:spPr>
          <a:xfrm>
            <a:off x="177800" y="5205413"/>
            <a:ext cx="4933950" cy="1652587"/>
          </a:xfrm>
          <a:solidFill>
            <a:schemeClr val="bg1">
              <a:alpha val="50000"/>
            </a:schemeClr>
          </a:solidFill>
        </p:spPr>
        <p:txBody>
          <a:bodyPr anchor="ctr">
            <a:noAutofit/>
          </a:bodyPr>
          <a:lstStyle>
            <a:lvl1pPr marL="0" indent="0">
              <a:buNone/>
              <a:defRPr sz="2400" b="1">
                <a:solidFill>
                  <a:schemeClr val="tx1"/>
                </a:solidFill>
              </a:defRPr>
            </a:lvl1pPr>
            <a:lvl2pPr>
              <a:defRPr sz="2000" b="1">
                <a:solidFill>
                  <a:schemeClr val="tx1"/>
                </a:solidFill>
              </a:defRPr>
            </a:lvl2pPr>
            <a:lvl3pPr>
              <a:defRPr sz="1800" b="1">
                <a:solidFill>
                  <a:schemeClr val="tx1"/>
                </a:solidFill>
              </a:defRPr>
            </a:lvl3pPr>
            <a:lvl4pPr>
              <a:defRPr sz="1600" b="1">
                <a:solidFill>
                  <a:schemeClr val="tx1"/>
                </a:solidFill>
              </a:defRPr>
            </a:lvl4pPr>
            <a:lvl5pPr>
              <a:defRPr sz="1600" b="1">
                <a:solidFill>
                  <a:schemeClr val="tx1"/>
                </a:solidFill>
              </a:defRPr>
            </a:lvl5pPr>
          </a:lstStyle>
          <a:p>
            <a:pPr lvl="0"/>
            <a:r>
              <a:rPr lang="en-US">
                <a:solidFill>
                  <a:schemeClr val="tx1"/>
                </a:solidFill>
              </a:rPr>
              <a:t>Click to edit Master text styles</a:t>
            </a:r>
          </a:p>
        </p:txBody>
      </p:sp>
      <p:sp>
        <p:nvSpPr>
          <p:cNvPr id="7" name="Rectangle 6">
            <a:extLst>
              <a:ext uri="{FF2B5EF4-FFF2-40B4-BE49-F238E27FC236}">
                <a16:creationId xmlns:a16="http://schemas.microsoft.com/office/drawing/2014/main" id="{3E92D3BD-B933-88AB-9C21-59605B00713D}"/>
              </a:ext>
            </a:extLst>
          </p:cNvPr>
          <p:cNvSpPr/>
          <p:nvPr userDrawn="1"/>
        </p:nvSpPr>
        <p:spPr>
          <a:xfrm>
            <a:off x="5111750" y="5727050"/>
            <a:ext cx="6477000" cy="4571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0" name="Cover title panel"/>
          <p:cNvSpPr/>
          <p:nvPr/>
        </p:nvSpPr>
        <p:spPr>
          <a:xfrm>
            <a:off x="118872" y="4690872"/>
            <a:ext cx="4992624" cy="1993392"/>
          </a:xfrm>
          <a:prstGeom prst="rect">
            <a:avLst/>
          </a:prstGeom>
          <a:solidFill>
            <a:srgbClr val="E7E6E6">
              <a:alpha val="6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Vopak cover logo" descr="A blue letter on a black background&#10;&#10;Description automatically generated">
            <a:extLst>
              <a:ext uri="{FF2B5EF4-FFF2-40B4-BE49-F238E27FC236}">
                <a16:creationId xmlns:a16="http://schemas.microsoft.com/office/drawing/2014/main" id="{F643500E-BA42-ED40-0D0F-F69255A71C8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229814" y="5675739"/>
            <a:ext cx="2518046" cy="564539"/>
          </a:xfrm>
          <a:prstGeom prst="rect">
            <a:avLst/>
          </a:prstGeom>
        </p:spPr>
      </p:pic>
    </p:spTree>
    <p:extLst>
      <p:ext uri="{BB962C8B-B14F-4D97-AF65-F5344CB8AC3E}">
        <p14:creationId xmlns:p14="http://schemas.microsoft.com/office/powerpoint/2010/main" val="26714368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Title">
    <p:spTree>
      <p:nvGrpSpPr>
        <p:cNvPr id="1" name=""/>
        <p:cNvGrpSpPr/>
        <p:nvPr/>
      </p:nvGrpSpPr>
      <p:grpSpPr>
        <a:xfrm>
          <a:off x="0" y="0"/>
          <a:ext cx="0" cy="0"/>
          <a:chOff x="0" y="0"/>
          <a:chExt cx="0" cy="0"/>
        </a:xfrm>
      </p:grpSpPr>
      <p:pic>
        <p:nvPicPr>
          <p:cNvPr id="2" name="Picture 1" descr="Vopak offering simultaneous LNG bunkering service in Rotterdam - Offshore  Energy">
            <a:extLst>
              <a:ext uri="{FF2B5EF4-FFF2-40B4-BE49-F238E27FC236}">
                <a16:creationId xmlns:a16="http://schemas.microsoft.com/office/drawing/2014/main" id="{04892275-F272-DCB3-8D5D-1CEB80A85CC4}"/>
              </a:ext>
            </a:extLst>
          </p:cNvPr>
          <p:cNvPicPr>
            <a:picLocks noChangeAspect="1"/>
          </p:cNvPicPr>
          <p:nvPr userDrawn="1"/>
        </p:nvPicPr>
        <p:blipFill>
          <a:blip r:embed="rId2"/>
          <a:srcRect l="1233" t="15791" r="178" b="318"/>
          <a:stretch>
            <a:fillRect/>
          </a:stretch>
        </p:blipFill>
        <p:spPr>
          <a:xfrm>
            <a:off x="1" y="-12700"/>
            <a:ext cx="11588749" cy="5753329"/>
          </a:xfrm>
          <a:prstGeom prst="rect">
            <a:avLst/>
          </a:prstGeom>
        </p:spPr>
      </p:pic>
      <p:sp>
        <p:nvSpPr>
          <p:cNvPr id="3" name="Slide Number Placeholder 2">
            <a:extLst>
              <a:ext uri="{FF2B5EF4-FFF2-40B4-BE49-F238E27FC236}">
                <a16:creationId xmlns:a16="http://schemas.microsoft.com/office/drawing/2014/main" id="{9509FAFE-21DB-4F6B-8EA1-32FA210B705A}"/>
              </a:ext>
            </a:extLst>
          </p:cNvPr>
          <p:cNvSpPr>
            <a:spLocks noGrp="1"/>
          </p:cNvSpPr>
          <p:nvPr>
            <p:ph type="sldNum" sz="quarter" idx="10"/>
          </p:nvPr>
        </p:nvSpPr>
        <p:spPr/>
        <p:txBody>
          <a:bodyPr/>
          <a:lstStyle/>
          <a:p>
            <a:fld id="{5E48029D-87D6-48C3-BA4B-1065A63511DF}" type="slidenum">
              <a:rPr lang="en-GB" smtClean="0">
                <a:solidFill>
                  <a:schemeClr val="tx1"/>
                </a:solidFill>
              </a:rPr>
              <a:pPr/>
              <a:t>‹#›</a:t>
            </a:fld>
            <a:endParaRPr lang="en-GB">
              <a:solidFill>
                <a:schemeClr val="tx1"/>
              </a:solidFill>
            </a:endParaRPr>
          </a:p>
        </p:txBody>
      </p:sp>
      <p:sp>
        <p:nvSpPr>
          <p:cNvPr id="4" name="Rectangle 3">
            <a:extLst>
              <a:ext uri="{FF2B5EF4-FFF2-40B4-BE49-F238E27FC236}">
                <a16:creationId xmlns:a16="http://schemas.microsoft.com/office/drawing/2014/main" id="{FC81615D-618B-242E-BA84-0838689DFC39}"/>
              </a:ext>
            </a:extLst>
          </p:cNvPr>
          <p:cNvSpPr/>
          <p:nvPr userDrawn="1"/>
        </p:nvSpPr>
        <p:spPr>
          <a:xfrm>
            <a:off x="1" y="5661025"/>
            <a:ext cx="11588749" cy="1200604"/>
          </a:xfrm>
          <a:prstGeom prst="rect">
            <a:avLst/>
          </a:prstGeom>
          <a:solidFill>
            <a:srgbClr val="32675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 name="Text Placeholder 8">
            <a:extLst>
              <a:ext uri="{FF2B5EF4-FFF2-40B4-BE49-F238E27FC236}">
                <a16:creationId xmlns:a16="http://schemas.microsoft.com/office/drawing/2014/main" id="{F597E07F-A0B2-4C60-A493-63795665B2AC}"/>
              </a:ext>
            </a:extLst>
          </p:cNvPr>
          <p:cNvSpPr>
            <a:spLocks noGrp="1"/>
          </p:cNvSpPr>
          <p:nvPr>
            <p:ph type="body" sz="quarter" idx="11"/>
          </p:nvPr>
        </p:nvSpPr>
        <p:spPr>
          <a:xfrm>
            <a:off x="177800" y="5205413"/>
            <a:ext cx="4933950" cy="1652587"/>
          </a:xfrm>
          <a:solidFill>
            <a:schemeClr val="bg1">
              <a:alpha val="50000"/>
            </a:schemeClr>
          </a:solidFill>
        </p:spPr>
        <p:txBody>
          <a:bodyPr anchor="ctr">
            <a:noAutofit/>
          </a:bodyPr>
          <a:lstStyle>
            <a:lvl1pPr marL="0" indent="0">
              <a:buNone/>
              <a:defRPr sz="2400" b="1">
                <a:solidFill>
                  <a:schemeClr val="tx1"/>
                </a:solidFill>
              </a:defRPr>
            </a:lvl1pPr>
            <a:lvl2pPr>
              <a:defRPr sz="2000" b="1">
                <a:solidFill>
                  <a:schemeClr val="tx1"/>
                </a:solidFill>
              </a:defRPr>
            </a:lvl2pPr>
            <a:lvl3pPr>
              <a:defRPr sz="1800" b="1">
                <a:solidFill>
                  <a:schemeClr val="tx1"/>
                </a:solidFill>
              </a:defRPr>
            </a:lvl3pPr>
            <a:lvl4pPr>
              <a:defRPr sz="1600" b="1">
                <a:solidFill>
                  <a:schemeClr val="tx1"/>
                </a:solidFill>
              </a:defRPr>
            </a:lvl4pPr>
            <a:lvl5pPr>
              <a:defRPr sz="1600" b="1">
                <a:solidFill>
                  <a:schemeClr val="tx1"/>
                </a:solidFill>
              </a:defRPr>
            </a:lvl5pPr>
          </a:lstStyle>
          <a:p>
            <a:pPr lvl="0"/>
            <a:r>
              <a:rPr lang="en-US">
                <a:solidFill>
                  <a:schemeClr val="tx1"/>
                </a:solidFill>
              </a:rPr>
              <a:t>Click to edit Master text styles</a:t>
            </a:r>
          </a:p>
        </p:txBody>
      </p:sp>
      <p:sp>
        <p:nvSpPr>
          <p:cNvPr id="10" name="Cover title panel"/>
          <p:cNvSpPr/>
          <p:nvPr/>
        </p:nvSpPr>
        <p:spPr>
          <a:xfrm>
            <a:off x="118872" y="4690872"/>
            <a:ext cx="4992624" cy="1993392"/>
          </a:xfrm>
          <a:prstGeom prst="rect">
            <a:avLst/>
          </a:prstGeom>
          <a:solidFill>
            <a:srgbClr val="E7E6E6">
              <a:alpha val="6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Vopak cover logo" descr="A blue letter on a black background&#10;&#10;Description automatically generated">
            <a:extLst>
              <a:ext uri="{FF2B5EF4-FFF2-40B4-BE49-F238E27FC236}">
                <a16:creationId xmlns:a16="http://schemas.microsoft.com/office/drawing/2014/main" id="{F643500E-BA42-ED40-0D0F-F69255A71C8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229814" y="5675739"/>
            <a:ext cx="2518046" cy="564539"/>
          </a:xfrm>
          <a:prstGeom prst="rect">
            <a:avLst/>
          </a:prstGeom>
        </p:spPr>
      </p:pic>
    </p:spTree>
    <p:extLst>
      <p:ext uri="{BB962C8B-B14F-4D97-AF65-F5344CB8AC3E}">
        <p14:creationId xmlns:p14="http://schemas.microsoft.com/office/powerpoint/2010/main" val="21751062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Agenda">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1460789-817F-4161-99E1-BBB95ED4BDDD}"/>
              </a:ext>
            </a:extLst>
          </p:cNvPr>
          <p:cNvSpPr>
            <a:spLocks noGrp="1"/>
          </p:cNvSpPr>
          <p:nvPr>
            <p:ph type="sldNum" sz="quarter" idx="10"/>
          </p:nvPr>
        </p:nvSpPr>
        <p:spPr/>
        <p:txBody>
          <a:bodyPr/>
          <a:lstStyle>
            <a:lvl1pPr>
              <a:defRPr sz="1000">
                <a:solidFill>
                  <a:schemeClr val="tx1"/>
                </a:solidFill>
              </a:defRPr>
            </a:lvl1pPr>
          </a:lstStyle>
          <a:p>
            <a:fld id="{5E48029D-87D6-48C3-BA4B-1065A63511DF}" type="slidenum">
              <a:rPr lang="en-GB" smtClean="0">
                <a:solidFill>
                  <a:schemeClr val="tx1"/>
                </a:solidFill>
              </a:rPr>
              <a:pPr/>
              <a:t>‹#›</a:t>
            </a:fld>
            <a:endParaRPr lang="en-GB">
              <a:solidFill>
                <a:schemeClr val="tx1"/>
              </a:solidFill>
            </a:endParaRPr>
          </a:p>
        </p:txBody>
      </p:sp>
      <p:sp>
        <p:nvSpPr>
          <p:cNvPr id="8" name="Rectangle 7">
            <a:extLst>
              <a:ext uri="{FF2B5EF4-FFF2-40B4-BE49-F238E27FC236}">
                <a16:creationId xmlns:a16="http://schemas.microsoft.com/office/drawing/2014/main" id="{EB4FC8D6-72B7-40D6-89CC-331B0BF40A6F}"/>
              </a:ext>
            </a:extLst>
          </p:cNvPr>
          <p:cNvSpPr/>
          <p:nvPr userDrawn="1"/>
        </p:nvSpPr>
        <p:spPr>
          <a:xfrm>
            <a:off x="9079200" y="0"/>
            <a:ext cx="2509074" cy="103504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9" name="Rectangle 8">
            <a:extLst>
              <a:ext uri="{FF2B5EF4-FFF2-40B4-BE49-F238E27FC236}">
                <a16:creationId xmlns:a16="http://schemas.microsoft.com/office/drawing/2014/main" id="{41EDA466-D75C-48F1-9F3F-47B154E770B8}"/>
              </a:ext>
            </a:extLst>
          </p:cNvPr>
          <p:cNvSpPr/>
          <p:nvPr userDrawn="1"/>
        </p:nvSpPr>
        <p:spPr>
          <a:xfrm>
            <a:off x="-29153" y="0"/>
            <a:ext cx="4299527"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2800" b="1">
              <a:solidFill>
                <a:schemeClr val="tx1"/>
              </a:solidFill>
            </a:endParaRPr>
          </a:p>
          <a:p>
            <a:pPr algn="ctr"/>
            <a:endParaRPr lang="en-GB" sz="2800" b="1">
              <a:solidFill>
                <a:schemeClr val="tx1"/>
              </a:solidFill>
            </a:endParaRPr>
          </a:p>
        </p:txBody>
      </p:sp>
    </p:spTree>
    <p:extLst>
      <p:ext uri="{BB962C8B-B14F-4D97-AF65-F5344CB8AC3E}">
        <p14:creationId xmlns:p14="http://schemas.microsoft.com/office/powerpoint/2010/main" val="291725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Agenda">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1460789-817F-4161-99E1-BBB95ED4BDDD}"/>
              </a:ext>
            </a:extLst>
          </p:cNvPr>
          <p:cNvSpPr>
            <a:spLocks noGrp="1"/>
          </p:cNvSpPr>
          <p:nvPr>
            <p:ph type="sldNum" sz="quarter" idx="10"/>
          </p:nvPr>
        </p:nvSpPr>
        <p:spPr/>
        <p:txBody>
          <a:bodyPr/>
          <a:lstStyle>
            <a:lvl1pPr>
              <a:defRPr sz="1000">
                <a:solidFill>
                  <a:schemeClr val="tx1"/>
                </a:solidFill>
              </a:defRPr>
            </a:lvl1pPr>
          </a:lstStyle>
          <a:p>
            <a:fld id="{5E48029D-87D6-48C3-BA4B-1065A63511DF}" type="slidenum">
              <a:rPr lang="en-GB" smtClean="0">
                <a:solidFill>
                  <a:schemeClr val="tx1"/>
                </a:solidFill>
              </a:rPr>
              <a:pPr/>
              <a:t>‹#›</a:t>
            </a:fld>
            <a:endParaRPr lang="en-GB">
              <a:solidFill>
                <a:schemeClr val="tx1"/>
              </a:solidFill>
            </a:endParaRPr>
          </a:p>
        </p:txBody>
      </p:sp>
      <p:sp>
        <p:nvSpPr>
          <p:cNvPr id="8" name="Rectangle 7">
            <a:extLst>
              <a:ext uri="{FF2B5EF4-FFF2-40B4-BE49-F238E27FC236}">
                <a16:creationId xmlns:a16="http://schemas.microsoft.com/office/drawing/2014/main" id="{EB4FC8D6-72B7-40D6-89CC-331B0BF40A6F}"/>
              </a:ext>
            </a:extLst>
          </p:cNvPr>
          <p:cNvSpPr/>
          <p:nvPr userDrawn="1"/>
        </p:nvSpPr>
        <p:spPr>
          <a:xfrm>
            <a:off x="9079200" y="0"/>
            <a:ext cx="2509074" cy="103504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9" name="Rectangle 8">
            <a:extLst>
              <a:ext uri="{FF2B5EF4-FFF2-40B4-BE49-F238E27FC236}">
                <a16:creationId xmlns:a16="http://schemas.microsoft.com/office/drawing/2014/main" id="{41EDA466-D75C-48F1-9F3F-47B154E770B8}"/>
              </a:ext>
            </a:extLst>
          </p:cNvPr>
          <p:cNvSpPr/>
          <p:nvPr userDrawn="1"/>
        </p:nvSpPr>
        <p:spPr>
          <a:xfrm>
            <a:off x="-29153" y="0"/>
            <a:ext cx="5823528"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2800" b="1">
              <a:solidFill>
                <a:schemeClr val="tx1"/>
              </a:solidFill>
            </a:endParaRPr>
          </a:p>
          <a:p>
            <a:pPr algn="ctr"/>
            <a:endParaRPr lang="en-GB" sz="2800" b="1">
              <a:solidFill>
                <a:schemeClr val="tx1"/>
              </a:solidFill>
            </a:endParaRPr>
          </a:p>
        </p:txBody>
      </p:sp>
    </p:spTree>
    <p:extLst>
      <p:ext uri="{BB962C8B-B14F-4D97-AF65-F5344CB8AC3E}">
        <p14:creationId xmlns:p14="http://schemas.microsoft.com/office/powerpoint/2010/main" val="6427660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Header only">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a:xfrm>
            <a:off x="10605599" y="6489700"/>
            <a:ext cx="805350" cy="287338"/>
          </a:xfrm>
        </p:spPr>
        <p:txBody>
          <a:bodyPr/>
          <a:lstStyle>
            <a:lvl1pPr>
              <a:defRPr sz="1000">
                <a:solidFill>
                  <a:schemeClr val="tx1"/>
                </a:solidFill>
              </a:defRPr>
            </a:lvl1pPr>
          </a:lstStyle>
          <a:p>
            <a:fld id="{A65E4EDC-57F8-4D5C-B13E-A981C5F2F71A}" type="slidenum">
              <a:rPr lang="en-GB" smtClean="0">
                <a:solidFill>
                  <a:schemeClr val="tx1"/>
                </a:solidFill>
              </a:rPr>
              <a:pPr/>
              <a:t>‹#›</a:t>
            </a:fld>
            <a:endParaRPr lang="en-GB">
              <a:solidFill>
                <a:schemeClr val="tx1"/>
              </a:solidFill>
            </a:endParaRPr>
          </a:p>
        </p:txBody>
      </p:sp>
      <p:sp>
        <p:nvSpPr>
          <p:cNvPr id="3" name="Title Placeholder 1">
            <a:extLst>
              <a:ext uri="{FF2B5EF4-FFF2-40B4-BE49-F238E27FC236}">
                <a16:creationId xmlns:a16="http://schemas.microsoft.com/office/drawing/2014/main" id="{8395ED8E-92E9-32C5-9BE4-BAF8026DD357}"/>
              </a:ext>
            </a:extLst>
          </p:cNvPr>
          <p:cNvSpPr>
            <a:spLocks noGrp="1"/>
          </p:cNvSpPr>
          <p:nvPr>
            <p:ph type="title"/>
          </p:nvPr>
        </p:nvSpPr>
        <p:spPr>
          <a:xfrm>
            <a:off x="457200" y="585216"/>
            <a:ext cx="10561320" cy="822960"/>
          </a:xfrm>
          <a:prstGeom prst="rect">
            <a:avLst/>
          </a:prstGeom>
        </p:spPr>
        <p:txBody>
          <a:bodyPr vert="horz" lIns="91440" tIns="45720" rIns="91440" bIns="45720" rtlCol="0" anchor="ctr">
            <a:normAutofit/>
          </a:bodyPr>
          <a:lstStyle/>
          <a:p>
            <a:r>
              <a:rPr lang="en-US">
                <a:solidFill>
                  <a:schemeClr val="tx1"/>
                </a:solidFill>
              </a:rPr>
              <a:t>Click to edit Master title style</a:t>
            </a:r>
          </a:p>
        </p:txBody>
      </p:sp>
      <p:cxnSp>
        <p:nvCxnSpPr>
          <p:cNvPr id="7" name="Title and body separator"/>
          <p:cNvCxnSpPr/>
          <p:nvPr/>
        </p:nvCxnSpPr>
        <p:spPr>
          <a:xfrm>
            <a:off x="457200" y="1444752"/>
            <a:ext cx="10652760" cy="0"/>
          </a:xfrm>
          <a:prstGeom prst="line">
            <a:avLst/>
          </a:prstGeom>
          <a:ln w="3175">
            <a:solidFill>
              <a:srgbClr val="B0B0B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38964405"/>
      </p:ext>
    </p:extLst>
  </p:cSld>
  <p:clrMapOvr>
    <a:masterClrMapping/>
  </p:clrMapOvr>
  <p:extLst>
    <p:ext uri="{DCECCB84-F9BA-43D5-87BE-67443E8EF086}">
      <p15:sldGuideLst xmlns:p15="http://schemas.microsoft.com/office/powerpoint/2012/main">
        <p15:guide id="3" orient="horz" pos="2160" userDrawn="1">
          <p15:clr>
            <a:srgbClr val="FBAE40"/>
          </p15:clr>
        </p15:guide>
        <p15:guide id="4" pos="3650" userDrawn="1">
          <p15:clr>
            <a:srgbClr val="FBAE40"/>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 Id="rId8" Type="http://schemas.openxmlformats.org/officeDocument/2006/relationships/image" Target="../media/image1.png"/><Relationship Id="rId9"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77801" y="368299"/>
            <a:ext cx="11233148" cy="690101"/>
          </a:xfrm>
          <a:prstGeom prst="rect">
            <a:avLst/>
          </a:prstGeom>
        </p:spPr>
        <p:txBody>
          <a:bodyPr vert="horz" lIns="91440" tIns="45720" rIns="91440" bIns="45720" rtlCol="0" anchor="ctr">
            <a:normAutofit/>
          </a:bodyPr>
          <a:lstStyle/>
          <a:p/>
        </p:txBody>
      </p:sp>
      <p:sp>
        <p:nvSpPr>
          <p:cNvPr id="3" name="Text Placeholder 2"/>
          <p:cNvSpPr>
            <a:spLocks noGrp="1"/>
          </p:cNvSpPr>
          <p:nvPr>
            <p:ph type="body" idx="1"/>
          </p:nvPr>
        </p:nvSpPr>
        <p:spPr>
          <a:xfrm>
            <a:off x="177801" y="1233488"/>
            <a:ext cx="11233149" cy="5256212"/>
          </a:xfrm>
          <a:prstGeom prst="rect">
            <a:avLst/>
          </a:prstGeom>
        </p:spPr>
        <p:txBody>
          <a:bodyPr vert="horz" lIns="91440" tIns="45720" rIns="91440" bIns="45720" rtlCol="0">
            <a:normAutofit/>
          </a:bodyPr>
          <a:lstStyle/>
          <a:p>
            <a:pPr lvl="0"/>
          </a:p>
        </p:txBody>
      </p:sp>
      <p:sp>
        <p:nvSpPr>
          <p:cNvPr id="6" name="Slide Number Placeholder 5"/>
          <p:cNvSpPr>
            <a:spLocks noGrp="1"/>
          </p:cNvSpPr>
          <p:nvPr>
            <p:ph type="sldNum" sz="quarter" idx="4"/>
          </p:nvPr>
        </p:nvSpPr>
        <p:spPr>
          <a:xfrm>
            <a:off x="10605599" y="6489700"/>
            <a:ext cx="805350" cy="287338"/>
          </a:xfrm>
          <a:prstGeom prst="rect">
            <a:avLst/>
          </a:prstGeom>
        </p:spPr>
        <p:txBody>
          <a:bodyPr vert="horz" lIns="91440" tIns="45720" rIns="91440" bIns="45720" rtlCol="0" anchor="ctr"/>
          <a:lstStyle>
            <a:lvl1pPr algn="r">
              <a:defRPr sz="1000">
                <a:solidFill>
                  <a:schemeClr val="tx1"/>
                </a:solidFill>
              </a:defRPr>
            </a:lvl1pPr>
          </a:lstStyle>
          <a:p>
            <a:fld id="{5E48029D-87D6-48C3-BA4B-1065A63511DF}" type="slidenum">
              <a:rPr lang="en-GB" smtClean="0">
                <a:solidFill>
                  <a:schemeClr val="tx1"/>
                </a:solidFill>
              </a:rPr>
              <a:pPr/>
              <a:t>‹#›</a:t>
            </a:fld>
            <a:endParaRPr lang="en-GB">
              <a:solidFill>
                <a:schemeClr val="tx1"/>
              </a:solidFill>
            </a:endParaRPr>
          </a:p>
        </p:txBody>
      </p:sp>
      <p:pic>
        <p:nvPicPr>
          <p:cNvPr id="4" name="Picture 2">
            <a:extLst>
              <a:ext uri="{FF2B5EF4-FFF2-40B4-BE49-F238E27FC236}">
                <a16:creationId xmlns:a16="http://schemas.microsoft.com/office/drawing/2014/main" id="{643CB578-80E0-884E-8515-53279D5DACC1}"/>
              </a:ext>
            </a:extLst>
          </p:cNvPr>
          <p:cNvPicPr>
            <a:picLocks noChangeAspect="1" noChangeArrowheads="1"/>
          </p:cNvPicPr>
          <p:nvPr userDrawn="1"/>
        </p:nvPicPr>
        <p:blipFill>
          <a:blip r:embed="rId8">
            <a:extLst>
              <a:ext uri="{28A0092B-C50C-407E-A947-70E740481C1C}">
                <a14:useLocalDpi xmlns:a14="http://schemas.microsoft.com/office/drawing/2010/main" val="0"/>
              </a:ext>
            </a:extLst>
          </a:blip>
          <a:srcRect/>
          <a:stretch>
            <a:fillRect/>
          </a:stretch>
        </p:blipFill>
        <p:spPr bwMode="auto">
          <a:xfrm>
            <a:off x="10104120" y="6556248"/>
            <a:ext cx="777240" cy="173447"/>
          </a:xfrm>
          <a:prstGeom prst="rect">
            <a:avLst/>
          </a:prstGeom>
          <a:noFill/>
          <a:extLst>
            <a:ext uri="{909E8E84-426E-40DD-AFC4-6F175D3DCCD1}">
              <a14:hiddenFill xmlns:a14="http://schemas.microsoft.com/office/drawing/2010/main">
                <a:solidFill>
                  <a:srgbClr val="FFFFFF"/>
                </a:solidFill>
              </a14:hiddenFill>
            </a:ext>
          </a:extLst>
        </p:spPr>
      </p:pic>
      <p:sp>
        <p:nvSpPr>
          <p:cNvPr id="9" name="Text Placeholder 6">
            <a:extLst>
              <a:ext uri="{FF2B5EF4-FFF2-40B4-BE49-F238E27FC236}">
                <a16:creationId xmlns:a16="http://schemas.microsoft.com/office/drawing/2014/main" id="{5CB3F387-66D0-18CC-51EE-24B908A792B7}"/>
              </a:ext>
            </a:extLst>
          </p:cNvPr>
          <p:cNvSpPr txBox="1">
            <a:spLocks/>
          </p:cNvSpPr>
          <p:nvPr userDrawn="1"/>
        </p:nvSpPr>
        <p:spPr>
          <a:xfrm>
            <a:off x="457200" y="6528816"/>
            <a:ext cx="8595360" cy="228600"/>
          </a:xfrm>
          <a:prstGeom prst="rect">
            <a:avLst/>
          </a:prstGeom>
        </p:spPr>
        <p:txBody>
          <a:bodyPr anchor="ctr" tIns="0" bIns="0">
            <a:normAutofit/>
          </a:bodyPr>
          <a:lstStyle>
            <a:lvl1pPr marL="0" indent="0" algn="l" defTabSz="869137" rtl="0" eaLnBrk="1" latinLnBrk="0" hangingPunct="1">
              <a:lnSpc>
                <a:spcPct val="90000"/>
              </a:lnSpc>
              <a:spcBef>
                <a:spcPts val="951"/>
              </a:spcBef>
              <a:buFont typeface="Arial" panose="020B0604020202020204" pitchFamily="34" charset="0"/>
              <a:buNone/>
              <a:defRPr sz="1000" kern="1200">
                <a:solidFill>
                  <a:schemeClr val="tx1"/>
                </a:solidFill>
                <a:latin typeface="+mn-lt"/>
                <a:ea typeface="+mn-ea"/>
                <a:cs typeface="+mn-cs"/>
              </a:defRPr>
            </a:lvl1pPr>
            <a:lvl2pPr marL="651853" indent="-217284" algn="l" defTabSz="869137" rtl="0" eaLnBrk="1" latinLnBrk="0" hangingPunct="1">
              <a:lnSpc>
                <a:spcPct val="90000"/>
              </a:lnSpc>
              <a:spcBef>
                <a:spcPts val="475"/>
              </a:spcBef>
              <a:buFont typeface="Arial" panose="020B0604020202020204" pitchFamily="34" charset="0"/>
              <a:buChar char="•"/>
              <a:defRPr sz="1800" kern="1200">
                <a:solidFill>
                  <a:schemeClr val="tx1"/>
                </a:solidFill>
                <a:latin typeface="+mn-lt"/>
                <a:ea typeface="+mn-ea"/>
                <a:cs typeface="+mn-cs"/>
              </a:defRPr>
            </a:lvl2pPr>
            <a:lvl3pPr marL="1086422" indent="-217284" algn="l" defTabSz="869137" rtl="0" eaLnBrk="1" latinLnBrk="0" hangingPunct="1">
              <a:lnSpc>
                <a:spcPct val="90000"/>
              </a:lnSpc>
              <a:spcBef>
                <a:spcPts val="475"/>
              </a:spcBef>
              <a:buFont typeface="Arial" panose="020B0604020202020204" pitchFamily="34" charset="0"/>
              <a:buChar char="•"/>
              <a:defRPr sz="1600" kern="1200">
                <a:solidFill>
                  <a:schemeClr val="tx1"/>
                </a:solidFill>
                <a:latin typeface="+mn-lt"/>
                <a:ea typeface="+mn-ea"/>
                <a:cs typeface="+mn-cs"/>
              </a:defRPr>
            </a:lvl3pPr>
            <a:lvl4pPr marL="1520990" indent="-217284" algn="l" defTabSz="869137" rtl="0" eaLnBrk="1" latinLnBrk="0" hangingPunct="1">
              <a:lnSpc>
                <a:spcPct val="90000"/>
              </a:lnSpc>
              <a:spcBef>
                <a:spcPts val="475"/>
              </a:spcBef>
              <a:buFont typeface="Arial" panose="020B0604020202020204" pitchFamily="34" charset="0"/>
              <a:buChar char="•"/>
              <a:defRPr sz="1400" kern="1200">
                <a:solidFill>
                  <a:schemeClr val="tx1"/>
                </a:solidFill>
                <a:latin typeface="+mn-lt"/>
                <a:ea typeface="+mn-ea"/>
                <a:cs typeface="+mn-cs"/>
              </a:defRPr>
            </a:lvl4pPr>
            <a:lvl5pPr marL="1955559" indent="-217284" algn="l" defTabSz="869137" rtl="0" eaLnBrk="1" latinLnBrk="0" hangingPunct="1">
              <a:lnSpc>
                <a:spcPct val="90000"/>
              </a:lnSpc>
              <a:spcBef>
                <a:spcPts val="475"/>
              </a:spcBef>
              <a:buFont typeface="Arial" panose="020B0604020202020204" pitchFamily="34" charset="0"/>
              <a:buChar char="•"/>
              <a:defRPr sz="1400" kern="1200">
                <a:solidFill>
                  <a:schemeClr val="tx1"/>
                </a:solidFill>
                <a:latin typeface="+mn-lt"/>
                <a:ea typeface="+mn-ea"/>
                <a:cs typeface="+mn-cs"/>
              </a:defRPr>
            </a:lvl5pPr>
            <a:lvl6pPr marL="2390127"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6pPr>
            <a:lvl7pPr marL="2824696"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7pPr>
            <a:lvl8pPr marL="3259265"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8pPr>
            <a:lvl9pPr marL="3693833"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9pPr>
          </a:lstStyle>
          <a:p>
            <a:pPr>
              <a:defRPr sz="800">
                <a:solidFill>
                  <a:srgbClr val="404040"/>
                </a:solidFill>
                <a:latin typeface="Lato"/>
              </a:defRPr>
            </a:pPr>
          </a:p>
        </p:txBody>
      </p:sp>
      <p:cxnSp>
        <p:nvCxnSpPr>
          <p:cNvPr id="10" name="Fine footer rule"/>
          <p:cNvCxnSpPr/>
          <p:nvPr/>
        </p:nvCxnSpPr>
        <p:spPr>
          <a:xfrm>
            <a:off x="457200" y="6437376"/>
            <a:ext cx="10652760" cy="0"/>
          </a:xfrm>
          <a:prstGeom prst="line">
            <a:avLst/>
          </a:prstGeom>
          <a:ln w="3175">
            <a:solidFill>
              <a:srgbClr val="B0B0B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04016228"/>
      </p:ext>
    </p:extLst>
  </p:cSld>
  <p:clrMap bg1="lt1" tx1="dk1" bg2="lt2" tx2="dk2" accent1="accent1" accent2="accent2" accent3="accent3" accent4="accent4" accent5="accent5" accent6="accent6" hlink="hlink" folHlink="folHlink"/>
  <p:sldLayoutIdLst>
    <p:sldLayoutId id="2147483713" r:id="rId1"/>
    <p:sldLayoutId id="2147483718" r:id="rId2"/>
    <p:sldLayoutId id="2147483723" r:id="rId3"/>
    <p:sldLayoutId id="2147483724" r:id="rId4"/>
    <p:sldLayoutId id="2147483725" r:id="rId5"/>
    <p:sldLayoutId id="2147483698" r:id="rId6"/>
  </p:sldLayoutIdLst>
  <p:hf hdr="0" ftr="0" dt="0"/>
  <p:txStyles>
    <p:titleStyle>
      <a:lvl1pPr algn="l" defTabSz="869137" rtl="0" eaLnBrk="1" latinLnBrk="0" hangingPunct="1">
        <a:lnSpc>
          <a:spcPct val="90000"/>
        </a:lnSpc>
        <a:spcBef>
          <a:spcPct val="0"/>
        </a:spcBef>
        <a:buNone/>
        <a:defRPr sz="2200" b="1" kern="1200">
          <a:solidFill>
            <a:schemeClr val="tx1"/>
          </a:solidFill>
          <a:latin typeface="+mj-lt"/>
          <a:ea typeface="+mj-ea"/>
          <a:cs typeface="+mj-cs"/>
        </a:defRPr>
      </a:lvl1pPr>
    </p:titleStyle>
    <p:bodyStyle>
      <a:lvl1pPr marL="217284" indent="-217284" algn="l" defTabSz="869137" rtl="0" eaLnBrk="1" latinLnBrk="0" hangingPunct="1">
        <a:lnSpc>
          <a:spcPct val="90000"/>
        </a:lnSpc>
        <a:spcBef>
          <a:spcPts val="951"/>
        </a:spcBef>
        <a:buFont typeface="Arial" panose="020B0604020202020204" pitchFamily="34" charset="0"/>
        <a:buChar char="•"/>
        <a:defRPr sz="2000" kern="1200">
          <a:solidFill>
            <a:schemeClr val="tx1"/>
          </a:solidFill>
          <a:latin typeface="+mn-lt"/>
          <a:ea typeface="+mn-ea"/>
          <a:cs typeface="+mn-cs"/>
        </a:defRPr>
      </a:lvl1pPr>
      <a:lvl2pPr marL="651853" indent="-217284" algn="l" defTabSz="869137" rtl="0" eaLnBrk="1" latinLnBrk="0" hangingPunct="1">
        <a:lnSpc>
          <a:spcPct val="90000"/>
        </a:lnSpc>
        <a:spcBef>
          <a:spcPts val="475"/>
        </a:spcBef>
        <a:buFont typeface="Arial" panose="020B0604020202020204" pitchFamily="34" charset="0"/>
        <a:buChar char="•"/>
        <a:defRPr sz="1800" kern="1200">
          <a:solidFill>
            <a:schemeClr val="tx1"/>
          </a:solidFill>
          <a:latin typeface="+mn-lt"/>
          <a:ea typeface="+mn-ea"/>
          <a:cs typeface="+mn-cs"/>
        </a:defRPr>
      </a:lvl2pPr>
      <a:lvl3pPr marL="1086422" indent="-217284" algn="l" defTabSz="869137" rtl="0" eaLnBrk="1" latinLnBrk="0" hangingPunct="1">
        <a:lnSpc>
          <a:spcPct val="90000"/>
        </a:lnSpc>
        <a:spcBef>
          <a:spcPts val="475"/>
        </a:spcBef>
        <a:buFont typeface="Arial" panose="020B0604020202020204" pitchFamily="34" charset="0"/>
        <a:buChar char="•"/>
        <a:defRPr sz="1600" kern="1200">
          <a:solidFill>
            <a:schemeClr val="tx1"/>
          </a:solidFill>
          <a:latin typeface="+mn-lt"/>
          <a:ea typeface="+mn-ea"/>
          <a:cs typeface="+mn-cs"/>
        </a:defRPr>
      </a:lvl3pPr>
      <a:lvl4pPr marL="1520990" indent="-217284" algn="l" defTabSz="869137" rtl="0" eaLnBrk="1" latinLnBrk="0" hangingPunct="1">
        <a:lnSpc>
          <a:spcPct val="90000"/>
        </a:lnSpc>
        <a:spcBef>
          <a:spcPts val="475"/>
        </a:spcBef>
        <a:buFont typeface="Arial" panose="020B0604020202020204" pitchFamily="34" charset="0"/>
        <a:buChar char="•"/>
        <a:defRPr sz="1400" kern="1200">
          <a:solidFill>
            <a:schemeClr val="tx1"/>
          </a:solidFill>
          <a:latin typeface="+mn-lt"/>
          <a:ea typeface="+mn-ea"/>
          <a:cs typeface="+mn-cs"/>
        </a:defRPr>
      </a:lvl4pPr>
      <a:lvl5pPr marL="1955559" indent="-217284" algn="l" defTabSz="869137" rtl="0" eaLnBrk="1" latinLnBrk="0" hangingPunct="1">
        <a:lnSpc>
          <a:spcPct val="90000"/>
        </a:lnSpc>
        <a:spcBef>
          <a:spcPts val="475"/>
        </a:spcBef>
        <a:buFont typeface="Arial" panose="020B0604020202020204" pitchFamily="34" charset="0"/>
        <a:buChar char="•"/>
        <a:defRPr sz="1400" kern="1200">
          <a:solidFill>
            <a:schemeClr val="tx1"/>
          </a:solidFill>
          <a:latin typeface="+mn-lt"/>
          <a:ea typeface="+mn-ea"/>
          <a:cs typeface="+mn-cs"/>
        </a:defRPr>
      </a:lvl5pPr>
      <a:lvl6pPr marL="2390127"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6pPr>
      <a:lvl7pPr marL="2824696"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7pPr>
      <a:lvl8pPr marL="3259265"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8pPr>
      <a:lvl9pPr marL="3693833"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9pPr>
    </p:bodyStyle>
    <p:otherStyle>
      <a:defPPr>
        <a:defRPr lang="en-US"/>
      </a:defPPr>
      <a:lvl1pPr marL="0" algn="l" defTabSz="869137" rtl="0" eaLnBrk="1" latinLnBrk="0" hangingPunct="1">
        <a:defRPr sz="1711" kern="1200">
          <a:solidFill>
            <a:schemeClr val="tx1"/>
          </a:solidFill>
          <a:latin typeface="+mn-lt"/>
          <a:ea typeface="+mn-ea"/>
          <a:cs typeface="+mn-cs"/>
        </a:defRPr>
      </a:lvl1pPr>
      <a:lvl2pPr marL="434569" algn="l" defTabSz="869137" rtl="0" eaLnBrk="1" latinLnBrk="0" hangingPunct="1">
        <a:defRPr sz="1711" kern="1200">
          <a:solidFill>
            <a:schemeClr val="tx1"/>
          </a:solidFill>
          <a:latin typeface="+mn-lt"/>
          <a:ea typeface="+mn-ea"/>
          <a:cs typeface="+mn-cs"/>
        </a:defRPr>
      </a:lvl2pPr>
      <a:lvl3pPr marL="869137" algn="l" defTabSz="869137" rtl="0" eaLnBrk="1" latinLnBrk="0" hangingPunct="1">
        <a:defRPr sz="1711" kern="1200">
          <a:solidFill>
            <a:schemeClr val="tx1"/>
          </a:solidFill>
          <a:latin typeface="+mn-lt"/>
          <a:ea typeface="+mn-ea"/>
          <a:cs typeface="+mn-cs"/>
        </a:defRPr>
      </a:lvl3pPr>
      <a:lvl4pPr marL="1303706" algn="l" defTabSz="869137" rtl="0" eaLnBrk="1" latinLnBrk="0" hangingPunct="1">
        <a:defRPr sz="1711" kern="1200">
          <a:solidFill>
            <a:schemeClr val="tx1"/>
          </a:solidFill>
          <a:latin typeface="+mn-lt"/>
          <a:ea typeface="+mn-ea"/>
          <a:cs typeface="+mn-cs"/>
        </a:defRPr>
      </a:lvl4pPr>
      <a:lvl5pPr marL="1738274" algn="l" defTabSz="869137" rtl="0" eaLnBrk="1" latinLnBrk="0" hangingPunct="1">
        <a:defRPr sz="1711" kern="1200">
          <a:solidFill>
            <a:schemeClr val="tx1"/>
          </a:solidFill>
          <a:latin typeface="+mn-lt"/>
          <a:ea typeface="+mn-ea"/>
          <a:cs typeface="+mn-cs"/>
        </a:defRPr>
      </a:lvl5pPr>
      <a:lvl6pPr marL="2172843" algn="l" defTabSz="869137" rtl="0" eaLnBrk="1" latinLnBrk="0" hangingPunct="1">
        <a:defRPr sz="1711" kern="1200">
          <a:solidFill>
            <a:schemeClr val="tx1"/>
          </a:solidFill>
          <a:latin typeface="+mn-lt"/>
          <a:ea typeface="+mn-ea"/>
          <a:cs typeface="+mn-cs"/>
        </a:defRPr>
      </a:lvl6pPr>
      <a:lvl7pPr marL="2607412" algn="l" defTabSz="869137" rtl="0" eaLnBrk="1" latinLnBrk="0" hangingPunct="1">
        <a:defRPr sz="1711" kern="1200">
          <a:solidFill>
            <a:schemeClr val="tx1"/>
          </a:solidFill>
          <a:latin typeface="+mn-lt"/>
          <a:ea typeface="+mn-ea"/>
          <a:cs typeface="+mn-cs"/>
        </a:defRPr>
      </a:lvl7pPr>
      <a:lvl8pPr marL="3041980" algn="l" defTabSz="869137" rtl="0" eaLnBrk="1" latinLnBrk="0" hangingPunct="1">
        <a:defRPr sz="1711" kern="1200">
          <a:solidFill>
            <a:schemeClr val="tx1"/>
          </a:solidFill>
          <a:latin typeface="+mn-lt"/>
          <a:ea typeface="+mn-ea"/>
          <a:cs typeface="+mn-cs"/>
        </a:defRPr>
      </a:lvl8pPr>
      <a:lvl9pPr marL="3476549" algn="l" defTabSz="869137" rtl="0" eaLnBrk="1" latinLnBrk="0" hangingPunct="1">
        <a:defRPr sz="1711" kern="1200">
          <a:solidFill>
            <a:schemeClr val="tx1"/>
          </a:solidFill>
          <a:latin typeface="+mn-lt"/>
          <a:ea typeface="+mn-ea"/>
          <a:cs typeface="+mn-cs"/>
        </a:defRPr>
      </a:lvl9pPr>
    </p:otherStyle>
  </p:txStyles>
  <p:extLst>
    <p:ext uri="{27BBF7A9-308A-43DC-89C8-2F10F3537804}">
      <p15:sldGuideLst xmlns:p15="http://schemas.microsoft.com/office/powerpoint/2012/main">
        <p15:guide id="12" orient="horz" pos="2160" userDrawn="1">
          <p15:clr>
            <a:srgbClr val="F26B43"/>
          </p15:clr>
        </p15:guide>
        <p15:guide id="13" pos="112" userDrawn="1">
          <p15:clr>
            <a:srgbClr val="F26B43"/>
          </p15:clr>
        </p15:guide>
        <p15:guide id="14" orient="horz" pos="4269" userDrawn="1">
          <p15:clr>
            <a:srgbClr val="F26B43"/>
          </p15:clr>
        </p15:guide>
        <p15:guide id="15" pos="3650" userDrawn="1">
          <p15:clr>
            <a:srgbClr val="F26B43"/>
          </p15:clr>
        </p15:guide>
        <p15:guide id="16" pos="7188" userDrawn="1">
          <p15:clr>
            <a:srgbClr val="F26B43"/>
          </p15:clr>
        </p15:guide>
        <p15:guide id="17" orient="horz" pos="28" userDrawn="1">
          <p15:clr>
            <a:srgbClr val="F26B43"/>
          </p15:clr>
        </p15:guide>
        <p15:guide id="18" orient="horz" pos="686" userDrawn="1">
          <p15:clr>
            <a:srgbClr val="F26B43"/>
          </p15:clr>
        </p15:guide>
        <p15:guide id="19" orient="horz" pos="777" userDrawn="1">
          <p15:clr>
            <a:srgbClr val="F26B43"/>
          </p15:clr>
        </p15:guide>
        <p15:guide id="20" orient="horz" pos="4088" userDrawn="1">
          <p15:clr>
            <a:srgbClr val="F26B43"/>
          </p15:clr>
        </p15:guide>
        <p15:guide id="21" orient="horz" pos="3680" userDrawn="1">
          <p15:clr>
            <a:srgbClr val="F26B43"/>
          </p15:clr>
        </p15:guide>
        <p15:guide id="22" orient="horz" pos="3566" userDrawn="1">
          <p15:clr>
            <a:srgbClr val="F26B43"/>
          </p15:clr>
        </p15:guide>
        <p15:guide id="23" pos="5805"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jpg"/><Relationship Id="rId3" Type="http://schemas.openxmlformats.org/officeDocument/2006/relationships/image" Target="../media/image8.png"/><Relationship Id="rId4" Type="http://schemas.openxmlformats.org/officeDocument/2006/relationships/hyperlink" Target="https://www.vopak.com/terminals/vopak-terminal-durban" TargetMode="Externa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 Id="rId3" Type="http://schemas.openxmlformats.org/officeDocument/2006/relationships/slide" Target="slide4.xml"/><Relationship Id="rId4" Type="http://schemas.openxmlformats.org/officeDocument/2006/relationships/slide" Target="slide5.xml"/><Relationship Id="rId5" Type="http://schemas.openxmlformats.org/officeDocument/2006/relationships/slide" Target="slide3.xml"/><Relationship Id="rId6" Type="http://schemas.openxmlformats.org/officeDocument/2006/relationships/slide" Target="slide6.xml"/><Relationship Id="rId7" Type="http://schemas.openxmlformats.org/officeDocument/2006/relationships/slide" Target="slide7.xml"/><Relationship Id="rId8" Type="http://schemas.openxmlformats.org/officeDocument/2006/relationships/slide" Target="slide8.xml"/><Relationship Id="rId9" Type="http://schemas.openxmlformats.org/officeDocument/2006/relationships/slide" Target="slide10.xml"/><Relationship Id="rId10" Type="http://schemas.openxmlformats.org/officeDocument/2006/relationships/slide" Target="slide11.xml"/><Relationship Id="rId11" Type="http://schemas.openxmlformats.org/officeDocument/2006/relationships/slide" Target="slide12.xml"/><Relationship Id="rId12" Type="http://schemas.openxmlformats.org/officeDocument/2006/relationships/slide" Target="slide13.xml"/><Relationship Id="rId13" Type="http://schemas.openxmlformats.org/officeDocument/2006/relationships/slide" Target="slide14.xml"/><Relationship Id="rId14" Type="http://schemas.openxmlformats.org/officeDocument/2006/relationships/slide" Target="slide15.xml"/><Relationship Id="rId15" Type="http://schemas.openxmlformats.org/officeDocument/2006/relationships/slide" Target="slide17.xml"/><Relationship Id="rId16" Type="http://schemas.openxmlformats.org/officeDocument/2006/relationships/slide" Target="slide2.xml"/><Relationship Id="rId17" Type="http://schemas.openxmlformats.org/officeDocument/2006/relationships/slide" Target="slide16.xml"/><Relationship Id="rId18" Type="http://schemas.openxmlformats.org/officeDocument/2006/relationships/slide" Target="slide9.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 Id="rId3" Type="http://schemas.openxmlformats.org/officeDocument/2006/relationships/chart" Target="../charts/chart10.xml"/><Relationship Id="rId4" Type="http://schemas.openxmlformats.org/officeDocument/2006/relationships/slide" Target="slide2.xml"/><Relationship Id="rId5" Type="http://schemas.openxmlformats.org/officeDocument/2006/relationships/slide" Target="slide3.xml"/><Relationship Id="rId6" Type="http://schemas.openxmlformats.org/officeDocument/2006/relationships/slide" Target="slide7.xml"/><Relationship Id="rId7" Type="http://schemas.openxmlformats.org/officeDocument/2006/relationships/slide" Target="slide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 Id="rId3" Type="http://schemas.openxmlformats.org/officeDocument/2006/relationships/slide" Target="slide2.xml"/><Relationship Id="rId4" Type="http://schemas.openxmlformats.org/officeDocument/2006/relationships/slide" Target="slide3.xml"/><Relationship Id="rId5" Type="http://schemas.openxmlformats.org/officeDocument/2006/relationships/slide" Target="slide7.xml"/><Relationship Id="rId6" Type="http://schemas.openxmlformats.org/officeDocument/2006/relationships/slide" Target="slide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 Id="rId3" Type="http://schemas.openxmlformats.org/officeDocument/2006/relationships/chart" Target="../charts/chart1.xml"/><Relationship Id="rId4" Type="http://schemas.openxmlformats.org/officeDocument/2006/relationships/slide" Target="slide2.xml"/><Relationship Id="rId5" Type="http://schemas.openxmlformats.org/officeDocument/2006/relationships/slide" Target="slide3.xml"/><Relationship Id="rId6" Type="http://schemas.openxmlformats.org/officeDocument/2006/relationships/slide" Target="slide7.xml"/><Relationship Id="rId7" Type="http://schemas.openxmlformats.org/officeDocument/2006/relationships/slide" Target="slide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 Id="rId3" Type="http://schemas.openxmlformats.org/officeDocument/2006/relationships/slide" Target="slide2.xml"/><Relationship Id="rId4" Type="http://schemas.openxmlformats.org/officeDocument/2006/relationships/slide" Target="slide3.xml"/><Relationship Id="rId5" Type="http://schemas.openxmlformats.org/officeDocument/2006/relationships/slide" Target="slide7.xml"/><Relationship Id="rId6" Type="http://schemas.openxmlformats.org/officeDocument/2006/relationships/slide" Target="slide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 Id="rId3" Type="http://schemas.openxmlformats.org/officeDocument/2006/relationships/chart" Target="../charts/chart2.xml"/><Relationship Id="rId4" Type="http://schemas.openxmlformats.org/officeDocument/2006/relationships/chart" Target="../charts/chart3.xml"/><Relationship Id="rId5" Type="http://schemas.openxmlformats.org/officeDocument/2006/relationships/chart" Target="../charts/chart4.xml"/><Relationship Id="rId6" Type="http://schemas.openxmlformats.org/officeDocument/2006/relationships/chart" Target="../charts/chart5.xml"/><Relationship Id="rId7" Type="http://schemas.openxmlformats.org/officeDocument/2006/relationships/chart" Target="../charts/chart6.xml"/><Relationship Id="rId8" Type="http://schemas.openxmlformats.org/officeDocument/2006/relationships/chart" Target="../charts/chart7.xml"/><Relationship Id="rId9" Type="http://schemas.openxmlformats.org/officeDocument/2006/relationships/chart" Target="../charts/chart8.xml"/><Relationship Id="rId10" Type="http://schemas.openxmlformats.org/officeDocument/2006/relationships/chart" Target="../charts/chart9.xml"/><Relationship Id="rId11" Type="http://schemas.openxmlformats.org/officeDocument/2006/relationships/slide" Target="slide2.xml"/><Relationship Id="rId12" Type="http://schemas.openxmlformats.org/officeDocument/2006/relationships/slide" Target="slide3.xml"/><Relationship Id="rId13" Type="http://schemas.openxmlformats.org/officeDocument/2006/relationships/slide" Target="slide7.xml"/><Relationship Id="rId14" Type="http://schemas.openxmlformats.org/officeDocument/2006/relationships/slide" Target="slide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 Id="rId3" Type="http://schemas.openxmlformats.org/officeDocument/2006/relationships/chart" Target="../charts/chart11.xml"/><Relationship Id="rId4" Type="http://schemas.openxmlformats.org/officeDocument/2006/relationships/chart" Target="../charts/chart12.xml"/><Relationship Id="rId5" Type="http://schemas.openxmlformats.org/officeDocument/2006/relationships/slide" Target="slide2.xml"/><Relationship Id="rId6" Type="http://schemas.openxmlformats.org/officeDocument/2006/relationships/slide" Target="slide3.xml"/><Relationship Id="rId7" Type="http://schemas.openxmlformats.org/officeDocument/2006/relationships/slide" Target="slide7.xml"/><Relationship Id="rId8" Type="http://schemas.openxmlformats.org/officeDocument/2006/relationships/slide" Target="slide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 Id="rId3" Type="http://schemas.openxmlformats.org/officeDocument/2006/relationships/slide" Target="slide2.xml"/><Relationship Id="rId4" Type="http://schemas.openxmlformats.org/officeDocument/2006/relationships/slide" Target="slide3.xml"/><Relationship Id="rId5" Type="http://schemas.openxmlformats.org/officeDocument/2006/relationships/slide" Target="slide7.xml"/><Relationship Id="rId6" Type="http://schemas.openxmlformats.org/officeDocument/2006/relationships/slide" Target="slide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 Id="rId3" Type="http://schemas.openxmlformats.org/officeDocument/2006/relationships/slide" Target="slide2.xml"/><Relationship Id="rId4" Type="http://schemas.openxmlformats.org/officeDocument/2006/relationships/slide" Target="slide3.xml"/><Relationship Id="rId5" Type="http://schemas.openxmlformats.org/officeDocument/2006/relationships/slide" Target="slide7.xml"/><Relationship Id="rId6" Type="http://schemas.openxmlformats.org/officeDocument/2006/relationships/slide" Target="slide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 Id="rId3" Type="http://schemas.openxmlformats.org/officeDocument/2006/relationships/slide" Target="slide2.xml"/><Relationship Id="rId4" Type="http://schemas.openxmlformats.org/officeDocument/2006/relationships/slide" Target="slide3.xml"/><Relationship Id="rId5" Type="http://schemas.openxmlformats.org/officeDocument/2006/relationships/slide" Target="slide7.xml"/><Relationship Id="rId6" Type="http://schemas.openxmlformats.org/officeDocument/2006/relationships/slide" Target="slide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 Id="rId3" Type="http://schemas.openxmlformats.org/officeDocument/2006/relationships/slide" Target="slide2.xml"/><Relationship Id="rId4" Type="http://schemas.openxmlformats.org/officeDocument/2006/relationships/slide" Target="slide3.xml"/><Relationship Id="rId5" Type="http://schemas.openxmlformats.org/officeDocument/2006/relationships/slide" Target="slide7.xml"/><Relationship Id="rId6" Type="http://schemas.openxmlformats.org/officeDocument/2006/relationships/slide" Target="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 Id="rId3" Type="http://schemas.openxmlformats.org/officeDocument/2006/relationships/hyperlink" Target="https://www.vopak.com/system/files/Vopak_Annual_Report_2025.pdf" TargetMode="External"/><Relationship Id="rId4" Type="http://schemas.openxmlformats.org/officeDocument/2006/relationships/hyperlink" Target="https://www.bidtanks.com/pages/1562/about-us" TargetMode="External"/><Relationship Id="rId5" Type="http://schemas.openxmlformats.org/officeDocument/2006/relationships/hyperlink" Target="https://www.vtti.com/location/cape-town-south-africa-bct/" TargetMode="External"/><Relationship Id="rId6" Type="http://schemas.openxmlformats.org/officeDocument/2006/relationships/hyperlink" Target="https://www.shell.co.za/motorists/shell-fuels/fuel-storage-facilities.html" TargetMode="External"/><Relationship Id="rId7" Type="http://schemas.openxmlformats.org/officeDocument/2006/relationships/hyperlink" Target="https://www.nersa.org.za/petroleum-pipelines/third-party-access" TargetMode="External"/><Relationship Id="rId8" Type="http://schemas.openxmlformats.org/officeDocument/2006/relationships/hyperlink" Target="https://sasol.com/our-businesses/energy" TargetMode="External"/><Relationship Id="rId9" Type="http://schemas.openxmlformats.org/officeDocument/2006/relationships/hyperlink" Target="https://www.transnet.net/TPL-Leasing-Opportunities" TargetMode="External"/><Relationship Id="rId10" Type="http://schemas.openxmlformats.org/officeDocument/2006/relationships/slide" Target="slide2.xml"/><Relationship Id="rId11" Type="http://schemas.openxmlformats.org/officeDocument/2006/relationships/slide" Target="slide3.xml"/><Relationship Id="rId12" Type="http://schemas.openxmlformats.org/officeDocument/2006/relationships/slide" Target="slide7.xml"/><Relationship Id="rId13" Type="http://schemas.openxmlformats.org/officeDocument/2006/relationships/slide" Target="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 Id="rId3" Type="http://schemas.openxmlformats.org/officeDocument/2006/relationships/slide" Target="slide2.xml"/><Relationship Id="rId4" Type="http://schemas.openxmlformats.org/officeDocument/2006/relationships/slide" Target="slide3.xml"/><Relationship Id="rId5" Type="http://schemas.openxmlformats.org/officeDocument/2006/relationships/slide" Target="slide7.xml"/><Relationship Id="rId6" Type="http://schemas.openxmlformats.org/officeDocument/2006/relationships/slide" Target="slide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 Id="rId3" Type="http://schemas.openxmlformats.org/officeDocument/2006/relationships/slide" Target="slide2.xml"/><Relationship Id="rId4" Type="http://schemas.openxmlformats.org/officeDocument/2006/relationships/slide" Target="slide3.xml"/><Relationship Id="rId5" Type="http://schemas.openxmlformats.org/officeDocument/2006/relationships/slide" Target="slide7.xml"/><Relationship Id="rId6" Type="http://schemas.openxmlformats.org/officeDocument/2006/relationships/slide" Target="slide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 Id="rId3" Type="http://schemas.openxmlformats.org/officeDocument/2006/relationships/slide" Target="slide2.xml"/><Relationship Id="rId4" Type="http://schemas.openxmlformats.org/officeDocument/2006/relationships/slide" Target="slide3.xml"/><Relationship Id="rId5" Type="http://schemas.openxmlformats.org/officeDocument/2006/relationships/slide" Target="slide7.xml"/><Relationship Id="rId6" Type="http://schemas.openxmlformats.org/officeDocument/2006/relationships/slide" Target="slide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 Id="rId3" Type="http://schemas.openxmlformats.org/officeDocument/2006/relationships/chart" Target="../charts/chart13.xml"/><Relationship Id="rId4" Type="http://schemas.openxmlformats.org/officeDocument/2006/relationships/slide" Target="slide2.xml"/><Relationship Id="rId5" Type="http://schemas.openxmlformats.org/officeDocument/2006/relationships/slide" Target="slide3.xml"/><Relationship Id="rId6" Type="http://schemas.openxmlformats.org/officeDocument/2006/relationships/slide" Target="slide7.xml"/><Relationship Id="rId7" Type="http://schemas.openxmlformats.org/officeDocument/2006/relationships/slide" Target="slide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slide" Target="slide3.xml"/><Relationship Id="rId3" Type="http://schemas.openxmlformats.org/officeDocument/2006/relationships/slide" Target="slide4.xml"/><Relationship Id="rId4" Type="http://schemas.openxmlformats.org/officeDocument/2006/relationships/slide" Target="slide5.xml"/><Relationship Id="rId5" Type="http://schemas.openxmlformats.org/officeDocument/2006/relationships/slide" Target="slide10.xml"/><Relationship Id="rId6" Type="http://schemas.openxmlformats.org/officeDocument/2006/relationships/slide" Target="slide12.xml"/><Relationship Id="rId7" Type="http://schemas.openxmlformats.org/officeDocument/2006/relationships/slide" Target="slide14.xml"/><Relationship Id="rId8" Type="http://schemas.openxmlformats.org/officeDocument/2006/relationships/slide" Target="slide7.xml"/><Relationship Id="rId9" Type="http://schemas.openxmlformats.org/officeDocument/2006/relationships/slide" Target="slide9.xml"/><Relationship Id="rId10" Type="http://schemas.openxmlformats.org/officeDocument/2006/relationships/slide" Target="slide8.xml"/><Relationship Id="rId11" Type="http://schemas.openxmlformats.org/officeDocument/2006/relationships/slide" Target="slide6.xml"/><Relationship Id="rId12" Type="http://schemas.openxmlformats.org/officeDocument/2006/relationships/notesSlide" Target="../notesSlides/notesSlide20.xml"/><Relationship Id="rId13" Type="http://schemas.openxmlformats.org/officeDocument/2006/relationships/slide" Target="slide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slide" Target="slide7.xml"/><Relationship Id="rId3" Type="http://schemas.openxmlformats.org/officeDocument/2006/relationships/slide" Target="slide9.xml"/><Relationship Id="rId4" Type="http://schemas.openxmlformats.org/officeDocument/2006/relationships/slide" Target="slide8.xml"/><Relationship Id="rId5" Type="http://schemas.openxmlformats.org/officeDocument/2006/relationships/slide" Target="slide10.xml"/><Relationship Id="rId6" Type="http://schemas.openxmlformats.org/officeDocument/2006/relationships/slide" Target="slide11.xml"/><Relationship Id="rId7" Type="http://schemas.openxmlformats.org/officeDocument/2006/relationships/slide" Target="slide14.xml"/><Relationship Id="rId8" Type="http://schemas.openxmlformats.org/officeDocument/2006/relationships/slide" Target="slide16.xml"/><Relationship Id="rId9" Type="http://schemas.openxmlformats.org/officeDocument/2006/relationships/notesSlide" Target="../notesSlides/notesSlide21.xml"/><Relationship Id="rId10" Type="http://schemas.openxmlformats.org/officeDocument/2006/relationships/slide" Target="slide2.xml"/><Relationship Id="rId11" Type="http://schemas.openxmlformats.org/officeDocument/2006/relationships/slide" Target="slide3.xml"/><Relationship Id="rId12" Type="http://schemas.openxmlformats.org/officeDocument/2006/relationships/slide" Target="slide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slide" Target="slide12.xml"/><Relationship Id="rId3" Type="http://schemas.openxmlformats.org/officeDocument/2006/relationships/slide" Target="slide13.xml"/><Relationship Id="rId4" Type="http://schemas.openxmlformats.org/officeDocument/2006/relationships/slide" Target="slide14.xml"/><Relationship Id="rId5" Type="http://schemas.openxmlformats.org/officeDocument/2006/relationships/slide" Target="slide15.xml"/><Relationship Id="rId6" Type="http://schemas.openxmlformats.org/officeDocument/2006/relationships/slide" Target="slide16.xml"/><Relationship Id="rId7" Type="http://schemas.openxmlformats.org/officeDocument/2006/relationships/slide" Target="slide17.xml"/><Relationship Id="rId8" Type="http://schemas.openxmlformats.org/officeDocument/2006/relationships/notesSlide" Target="../notesSlides/notesSlide22.xml"/><Relationship Id="rId9" Type="http://schemas.openxmlformats.org/officeDocument/2006/relationships/slide" Target="slide2.xml"/><Relationship Id="rId10" Type="http://schemas.openxmlformats.org/officeDocument/2006/relationships/slide" Target="slide3.xml"/><Relationship Id="rId11" Type="http://schemas.openxmlformats.org/officeDocument/2006/relationships/slide" Target="slide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jpg"/><Relationship Id="rId3" Type="http://schemas.openxmlformats.org/officeDocument/2006/relationships/image" Target="../media/image8.png"/><Relationship Id="rId4" Type="http://schemas.openxmlformats.org/officeDocument/2006/relationships/hyperlink" Target="https://www.vopak.com/terminals/vopak-terminal-lesedi" TargetMode="External"/><Relationship Id="rId5" Type="http://schemas.openxmlformats.org/officeDocument/2006/relationships/notesSlide" Target="../notesSlides/notesSlide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1588750" cy="6858000"/>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jpg"/>
          <p:cNvPicPr>
            <a:picLocks noChangeAspect="1"/>
          </p:cNvPicPr>
          <p:nvPr/>
        </p:nvPicPr>
        <p:blipFill>
          <a:blip r:embed="rId2"/>
          <a:srcRect l="21836" r="21836"/>
          <a:stretch>
            <a:fillRect/>
          </a:stretch>
        </p:blipFill>
        <p:spPr>
          <a:xfrm>
            <a:off x="5794375" y="0"/>
            <a:ext cx="5794375" cy="6858000"/>
          </a:xfrm>
          <a:prstGeom prst="rect">
            <a:avLst/>
          </a:prstGeom>
        </p:spPr>
      </p:pic>
      <p:pic>
        <p:nvPicPr>
          <p:cNvPr id="4" name="Picture 3" descr="image.png"/>
          <p:cNvPicPr>
            <a:picLocks noChangeAspect="1"/>
          </p:cNvPicPr>
          <p:nvPr/>
        </p:nvPicPr>
        <p:blipFill>
          <a:blip r:embed="rId3"/>
          <a:srcRect/>
          <a:stretch>
            <a:fillRect/>
          </a:stretch>
        </p:blipFill>
        <p:spPr>
          <a:xfrm>
            <a:off x="502920" y="457200"/>
            <a:ext cx="1965960" cy="438614"/>
          </a:xfrm>
          <a:prstGeom prst="rect">
            <a:avLst/>
          </a:prstGeom>
        </p:spPr>
      </p:pic>
      <p:sp>
        <p:nvSpPr>
          <p:cNvPr id="5" name="TextBox 4"/>
          <p:cNvSpPr txBox="1"/>
          <p:nvPr/>
        </p:nvSpPr>
        <p:spPr>
          <a:xfrm>
            <a:off x="594360" y="2468880"/>
            <a:ext cx="4709160" cy="1554480"/>
          </a:xfrm>
          <a:prstGeom prst="rect">
            <a:avLst/>
          </a:prstGeom>
          <a:noFill/>
        </p:spPr>
        <p:txBody>
          <a:bodyPr wrap="square" lIns="18288" rIns="18288" tIns="0" bIns="0">
            <a:spAutoFit/>
          </a:bodyPr>
          <a:lstStyle/>
          <a:p>
            <a:pPr>
              <a:spcAft>
                <a:spcPts val="800"/>
              </a:spcAft>
              <a:defRPr sz="3100" b="0">
                <a:solidFill>
                  <a:srgbClr val="FFFFFF"/>
                </a:solidFill>
                <a:latin typeface="Lato"/>
              </a:defRPr>
            </a:pPr>
            <a:r>
              <a:t>Liquid fuels</a:t>
            </a:r>
          </a:p>
          <a:p>
            <a:pPr>
              <a:spcAft>
                <a:spcPts val="800"/>
              </a:spcAft>
              <a:defRPr sz="3100" b="0">
                <a:solidFill>
                  <a:srgbClr val="FFFFFF"/>
                </a:solidFill>
                <a:latin typeface="Lato"/>
              </a:defRPr>
            </a:pPr>
            <a:r>
              <a:t>demand and supply</a:t>
            </a:r>
          </a:p>
          <a:p>
            <a:pPr>
              <a:spcAft>
                <a:spcPts val="800"/>
              </a:spcAft>
              <a:defRPr sz="3100" b="0">
                <a:solidFill>
                  <a:srgbClr val="FFFFFF"/>
                </a:solidFill>
                <a:latin typeface="Lato"/>
              </a:defRPr>
            </a:pPr>
            <a:r>
              <a:t>model</a:t>
            </a:r>
          </a:p>
        </p:txBody>
      </p:sp>
      <p:cxnSp>
        <p:nvCxnSpPr>
          <p:cNvPr id="6" name="Connector 5"/>
          <p:cNvCxnSpPr/>
          <p:nvPr/>
        </p:nvCxnSpPr>
        <p:spPr>
          <a:xfrm>
            <a:off x="594360" y="4251960"/>
            <a:ext cx="4617720" cy="0"/>
          </a:xfrm>
          <a:prstGeom prst="line">
            <a:avLst/>
          </a:prstGeom>
          <a:ln w="7620">
            <a:solidFill>
              <a:srgbClr val="FFFFFF"/>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4617720"/>
            <a:ext cx="4572000" cy="640080"/>
          </a:xfrm>
          <a:prstGeom prst="rect">
            <a:avLst/>
          </a:prstGeom>
          <a:noFill/>
        </p:spPr>
        <p:txBody>
          <a:bodyPr wrap="square" lIns="18288" rIns="18288" tIns="0" bIns="0">
            <a:spAutoFit/>
          </a:bodyPr>
          <a:lstStyle/>
          <a:p>
            <a:pPr>
              <a:spcAft>
                <a:spcPts val="800"/>
              </a:spcAft>
              <a:defRPr sz="2100" b="0">
                <a:solidFill>
                  <a:srgbClr val="FFFFFF"/>
                </a:solidFill>
                <a:latin typeface="Lato"/>
              </a:defRPr>
            </a:pPr>
            <a:r>
              <a:t>Week 1 analytical pack</a:t>
            </a:r>
          </a:p>
        </p:txBody>
      </p:sp>
      <p:sp>
        <p:nvSpPr>
          <p:cNvPr id="8" name="TextBox 7"/>
          <p:cNvSpPr txBox="1"/>
          <p:nvPr/>
        </p:nvSpPr>
        <p:spPr>
          <a:xfrm>
            <a:off x="594360" y="5239512"/>
            <a:ext cx="4572000" cy="365760"/>
          </a:xfrm>
          <a:prstGeom prst="rect">
            <a:avLst/>
          </a:prstGeom>
          <a:noFill/>
        </p:spPr>
        <p:txBody>
          <a:bodyPr wrap="square" lIns="18288" rIns="18288" tIns="0" bIns="0">
            <a:spAutoFit/>
          </a:bodyPr>
          <a:lstStyle/>
          <a:p>
            <a:pPr>
              <a:spcAft>
                <a:spcPts val="800"/>
              </a:spcAft>
              <a:defRPr sz="1300" b="0">
                <a:solidFill>
                  <a:srgbClr val="FFFFFF"/>
                </a:solidFill>
                <a:latin typeface="Lato"/>
              </a:defRPr>
            </a:pPr>
            <a:r>
              <a:t>South Africa | Petrol and diesel</a:t>
            </a:r>
          </a:p>
        </p:txBody>
      </p:sp>
      <p:sp>
        <p:nvSpPr>
          <p:cNvPr id="9" name="TextBox 8"/>
          <p:cNvSpPr txBox="1"/>
          <p:nvPr/>
        </p:nvSpPr>
        <p:spPr>
          <a:xfrm>
            <a:off x="594360" y="5696712"/>
            <a:ext cx="4572000" cy="274320"/>
          </a:xfrm>
          <a:prstGeom prst="rect">
            <a:avLst/>
          </a:prstGeom>
          <a:noFill/>
        </p:spPr>
        <p:txBody>
          <a:bodyPr wrap="square" lIns="18288" rIns="18288" tIns="0" bIns="0">
            <a:spAutoFit/>
          </a:bodyPr>
          <a:lstStyle/>
          <a:p>
            <a:pPr>
              <a:spcAft>
                <a:spcPts val="800"/>
              </a:spcAft>
              <a:defRPr sz="1300" b="0">
                <a:solidFill>
                  <a:srgbClr val="FFFFFF"/>
                </a:solidFill>
                <a:latin typeface="Lato"/>
              </a:defRPr>
            </a:pPr>
            <a:r>
              <a:t>6 October 2026</a:t>
            </a:r>
          </a:p>
        </p:txBody>
      </p:sp>
      <p:sp>
        <p:nvSpPr>
          <p:cNvPr id="10" name="TextBox 9"/>
          <p:cNvSpPr txBox="1"/>
          <p:nvPr/>
        </p:nvSpPr>
        <p:spPr>
          <a:xfrm>
            <a:off x="594360" y="6053328"/>
            <a:ext cx="4572000" cy="274320"/>
          </a:xfrm>
          <a:prstGeom prst="rect">
            <a:avLst/>
          </a:prstGeom>
          <a:noFill/>
        </p:spPr>
        <p:txBody>
          <a:bodyPr wrap="square" lIns="18288" rIns="18288" tIns="0" bIns="0">
            <a:spAutoFit/>
          </a:bodyPr>
          <a:lstStyle/>
          <a:p>
            <a:pPr>
              <a:spcAft>
                <a:spcPts val="800"/>
              </a:spcAft>
              <a:defRPr sz="1200" b="0">
                <a:solidFill>
                  <a:srgbClr val="FFFFFF"/>
                </a:solidFill>
                <a:latin typeface="Lato"/>
              </a:defRPr>
            </a:pPr>
            <a:r>
              <a:t>Internal working discussion</a:t>
            </a:r>
          </a:p>
        </p:txBody>
      </p:sp>
      <p:sp>
        <p:nvSpPr>
          <p:cNvPr id="11" name="Photo source credit">
            <a:hlinkClick r:id="rId4"/>
          </p:cNvPr>
          <p:cNvSpPr txBox="1"/>
          <p:nvPr/>
        </p:nvSpPr>
        <p:spPr>
          <a:xfrm>
            <a:off x="594360" y="6400800"/>
            <a:ext cx="4754880" cy="164592"/>
          </a:xfrm>
          <a:prstGeom prst="rect">
            <a:avLst/>
          </a:prstGeom>
          <a:noFill/>
        </p:spPr>
        <p:txBody>
          <a:bodyPr wrap="square" lIns="18288" rIns="18288" tIns="0" bIns="0">
            <a:spAutoFit/>
          </a:bodyPr>
          <a:lstStyle/>
          <a:p>
            <a:pPr algn="l">
              <a:spcAft>
                <a:spcPts val="800"/>
              </a:spcAft>
              <a:defRPr sz="800" b="0">
                <a:solidFill>
                  <a:srgbClr val="FFFFFF"/>
                </a:solidFill>
                <a:latin typeface="Lato"/>
              </a:defRPr>
            </a:pPr>
            <a:r>
              <a:t>Photo source: Royal Vopak | Terminal Durban | vopak.com</a:t>
            </a:r>
          </a:p>
        </p:txBody>
      </p:sp>
      <p:sp>
        <p:nvSpPr>
          <p:cNvPr id="12"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BDBEC1"/>
                </a:solidFill>
                <a:latin typeface="Lato"/>
              </a:defRPr>
            </a:pPr>
            <a:r>
              <a:t>Strictly Confidential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Vopak’s 2026 Liquid Fuels Outlook shows sustained import volumes, with growth from accessible customers (cost × service)</a:t>
            </a:r>
          </a:p>
        </p:txBody>
      </p:sp>
      <p:sp>
        <p:nvSpPr>
          <p:cNvPr id="3" name="Slide Number Placeholder"/>
          <p:cNvSpPr>
            <a:spLocks noGrp="1"/>
          </p:cNvSpPr>
          <p:nvPr>
            <p:ph type="sldNum" sz="quarter" idx="12"/>
          </p:nvPr>
        </p:nvSpPr>
        <p:spPr/>
        <p:txBody>
          <a:bodyPr/>
          <a:lstStyle/>
          <a:p>
            <a:fld id="{890FD823-C972-42C9-BDDA-9EC76C03495D}" type="slidenum">
              <a:rPr lang="en-US"/>
              <a:t>‹#›</a:t>
            </a:fld>
          </a:p>
        </p:txBody>
      </p:sp>
      <p:sp>
        <p:nvSpPr>
          <p:cNvPr id="4" name="Section navigation 1">
            <a:hlinkClick action="ppaction://hlinksldjump" r:id="rId16"/>
          </p:cNvPr>
          <p:cNvSpPr/>
          <p:nvPr/>
        </p:nvSpPr>
        <p:spPr>
          <a:xfrm>
            <a:off x="457200"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1">
                <a:solidFill>
                  <a:srgbClr val="FFFFFF"/>
                </a:solidFill>
                <a:latin typeface="Lato"/>
              </a:defRPr>
            </a:pPr>
            <a:r>
              <a:rPr sz="1050"/>
              <a:t>1  Overview</a:t>
            </a:r>
          </a:p>
        </p:txBody>
      </p:sp>
      <p:sp>
        <p:nvSpPr>
          <p:cNvPr id="5" name="Section navigation 2">
            <a:hlinkClick action="ppaction://hlinksldjump" r:id="rId5"/>
          </p:cNvPr>
          <p:cNvSpPr/>
          <p:nvPr/>
        </p:nvSpPr>
        <p:spPr>
          <a:xfrm>
            <a:off x="3136392"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2  Market baseline</a:t>
            </a:r>
          </a:p>
        </p:txBody>
      </p:sp>
      <p:sp>
        <p:nvSpPr>
          <p:cNvPr id="6" name="Section navigation 3">
            <a:hlinkClick action="ppaction://hlinksldjump" r:id="rId7"/>
          </p:cNvPr>
          <p:cNvSpPr/>
          <p:nvPr/>
        </p:nvSpPr>
        <p:spPr>
          <a:xfrm>
            <a:off x="5815584"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3  Market changes</a:t>
            </a:r>
          </a:p>
        </p:txBody>
      </p:sp>
      <p:sp>
        <p:nvSpPr>
          <p:cNvPr id="7" name="Section navigation 4">
            <a:hlinkClick action="ppaction://hlinksldjump" r:id="rId11"/>
          </p:cNvPr>
          <p:cNvSpPr/>
          <p:nvPr/>
        </p:nvSpPr>
        <p:spPr>
          <a:xfrm>
            <a:off x="8494776"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4  Vopak outlook</a:t>
            </a:r>
          </a:p>
        </p:txBody>
      </p:sp>
      <p:sp>
        <p:nvSpPr>
          <p:cNvPr id="8"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a:latin typeface="Lato"/>
              </a:defRPr>
            </a:pPr>
            <a:r>
              <a:rPr sz="750"/>
              <a:t>Note: S = Situation   C = Complication   R = Resolution | Every Henry storyboard prompt has a response on pages 18–20; open items remain open.</a:t>
            </a:r>
          </a:p>
          <a:p>
            <a:pPr>
              <a:lnSpc>
                <a:spcPts val="900"/>
              </a:lnSpc>
              <a:spcBef>
                <a:spcPts val="0"/>
              </a:spcBef>
              <a:spcAft>
                <a:spcPts val="0"/>
              </a:spcAft>
              <a:defRPr sz="750">
                <a:latin typeface="Lato"/>
              </a:defRPr>
            </a:pPr>
            <a:r>
              <a:rPr sz="750"/>
              <a:t>Source: Partner SA storyboard; SARS / Stats SA / operator evidence, 6 Oct 2026. Remaining gaps labelled.</a:t>
            </a:r>
          </a:p>
        </p:txBody>
      </p:sp>
      <p:sp>
        <p:nvSpPr>
          <p:cNvPr id="45"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
        <p:nvSpPr>
          <p:cNvPr id="46" name="TextBox 45"/>
          <p:cNvSpPr txBox="1"/>
          <p:nvPr/>
        </p:nvSpPr>
        <p:spPr>
          <a:xfrm>
            <a:off x="457200" y="1627632"/>
            <a:ext cx="10652760" cy="274320"/>
          </a:xfrm>
          <a:prstGeom prst="rect">
            <a:avLst/>
          </a:prstGeom>
          <a:noFill/>
        </p:spPr>
        <p:txBody>
          <a:bodyPr wrap="none" lIns="0" rIns="0" tIns="0" bIns="0">
            <a:spAutoFit/>
          </a:bodyPr>
          <a:lstStyle/>
          <a:p>
            <a:pPr>
              <a:spcAft>
                <a:spcPts val="0"/>
              </a:spcAft>
              <a:defRPr sz="1400" b="1">
                <a:solidFill>
                  <a:srgbClr val="000000"/>
                </a:solidFill>
                <a:latin typeface="Lato"/>
              </a:defRPr>
            </a:pPr>
            <a:r>
              <a:rPr sz="1400" b="1">
                <a:latin typeface="Lato"/>
              </a:rPr>
              <a:t>Henry’s storyline | what holds, what changes and what remains unproven</a:t>
            </a:r>
          </a:p>
        </p:txBody>
      </p:sp>
      <p:graphicFrame>
        <p:nvGraphicFramePr>
          <p:cNvPr id="47" name="Table 46"/>
          <p:cNvGraphicFramePr>
            <a:graphicFrameLocks noGrp="1"/>
          </p:cNvGraphicFramePr>
          <p:nvPr/>
        </p:nvGraphicFramePr>
        <p:xfrm>
          <a:off x="457200" y="2066543"/>
          <a:ext cx="10652760" cy="4096511"/>
        </p:xfrm>
        <a:graphic>
          <a:graphicData uri="http://schemas.openxmlformats.org/drawingml/2006/table">
            <a:tbl>
              <a:tblPr firstRow="1" bandRow="1">
                <a:tableStyleId>{2D5ABB26-0587-4C30-8999-92F81FD0307C}</a:tableStyleId>
              </a:tblPr>
              <a:tblGrid>
                <a:gridCol w="1188720"/>
                <a:gridCol w="502920"/>
                <a:gridCol w="4617720"/>
                <a:gridCol w="3017520"/>
                <a:gridCol w="1325880"/>
              </a:tblGrid>
              <a:tr h="347472">
                <a:tc>
                  <a:txBody>
                    <a:bodyPr/>
                    <a:lstStyle/>
                    <a:p>
                      <a:pPr>
                        <a:spcAft>
                          <a:spcPts val="0"/>
                        </a:spcAft>
                        <a:defRPr sz="1050" b="1">
                          <a:solidFill>
                            <a:srgbClr val="000000"/>
                          </a:solidFill>
                          <a:latin typeface="Lato"/>
                        </a:defRPr>
                      </a:pPr>
                      <a:r>
                        <a:t>Agenda</a:t>
                      </a:r>
                    </a:p>
                  </a:txBody>
                  <a:tcPr marL="41148" marR="41148" marT="41148" marB="18288" anchor="t">
                    <a:lnB w="7620" cap="flat">
                      <a:solidFill>
                        <a:srgbClr val="EEEEEE"/>
                      </a:solidFill>
                    </a:lnB>
                    <a:solidFill>
                      <a:srgbClr val="FFFFFF"/>
                    </a:solidFill>
                  </a:tcPr>
                </a:tc>
                <a:tc>
                  <a:txBody>
                    <a:bodyPr/>
                    <a:lstStyle/>
                    <a:p>
                      <a:pPr>
                        <a:spcAft>
                          <a:spcPts val="0"/>
                        </a:spcAft>
                        <a:defRPr sz="1050" b="1">
                          <a:solidFill>
                            <a:srgbClr val="000000"/>
                          </a:solidFill>
                          <a:latin typeface="Lato"/>
                        </a:defRPr>
                      </a:pPr>
                      <a:r>
                        <a:t>SCR</a:t>
                      </a:r>
                    </a:p>
                  </a:txBody>
                  <a:tcPr marL="41148" marR="41148" marT="41148" marB="18288" anchor="t">
                    <a:lnB w="7620" cap="flat">
                      <a:solidFill>
                        <a:srgbClr val="EEEEEE"/>
                      </a:solidFill>
                    </a:lnB>
                    <a:solidFill>
                      <a:srgbClr val="FFFFFF"/>
                    </a:solidFill>
                  </a:tcPr>
                </a:tc>
                <a:tc>
                  <a:txBody>
                    <a:bodyPr/>
                    <a:lstStyle/>
                    <a:p>
                      <a:pPr>
                        <a:spcAft>
                          <a:spcPts val="0"/>
                        </a:spcAft>
                        <a:defRPr sz="1050" b="1">
                          <a:solidFill>
                            <a:srgbClr val="000000"/>
                          </a:solidFill>
                          <a:latin typeface="Lato"/>
                        </a:defRPr>
                      </a:pPr>
                      <a:r>
                        <a:t>What the evidence shows</a:t>
                      </a:r>
                    </a:p>
                  </a:txBody>
                  <a:tcPr marL="41148" marR="41148" marT="41148" marB="18288" anchor="t">
                    <a:lnB w="7620" cap="flat">
                      <a:solidFill>
                        <a:srgbClr val="EEEEEE"/>
                      </a:solidFill>
                    </a:lnB>
                    <a:solidFill>
                      <a:srgbClr val="FFFFFF"/>
                    </a:solidFill>
                  </a:tcPr>
                </a:tc>
                <a:tc>
                  <a:txBody>
                    <a:bodyPr/>
                    <a:lstStyle/>
                    <a:p>
                      <a:pPr>
                        <a:spcAft>
                          <a:spcPts val="0"/>
                        </a:spcAft>
                        <a:defRPr sz="1050" b="1">
                          <a:solidFill>
                            <a:srgbClr val="000000"/>
                          </a:solidFill>
                          <a:latin typeface="Lato"/>
                        </a:defRPr>
                      </a:pPr>
                      <a:r>
                        <a:t>So what / story verdict</a:t>
                      </a:r>
                    </a:p>
                  </a:txBody>
                  <a:tcPr marL="41148" marR="41148" marT="41148" marB="18288" anchor="t">
                    <a:lnB w="7620" cap="flat">
                      <a:solidFill>
                        <a:srgbClr val="EEEEEE"/>
                      </a:solidFill>
                    </a:lnB>
                    <a:solidFill>
                      <a:srgbClr val="FFFFFF"/>
                    </a:solidFill>
                  </a:tcPr>
                </a:tc>
                <a:tc>
                  <a:txBody>
                    <a:bodyPr/>
                    <a:lstStyle/>
                    <a:p>
                      <a:pPr>
                        <a:spcAft>
                          <a:spcPts val="0"/>
                        </a:spcAft>
                        <a:defRPr sz="1050" b="1">
                          <a:solidFill>
                            <a:srgbClr val="000000"/>
                          </a:solidFill>
                          <a:latin typeface="Lato"/>
                        </a:defRPr>
                      </a:pPr>
                      <a:r>
                        <a:t>Deep dives</a:t>
                      </a:r>
                    </a:p>
                  </a:txBody>
                  <a:tcPr marL="41148" marR="41148" marT="41148" marB="18288" anchor="t">
                    <a:lnB w="7620" cap="flat">
                      <a:solidFill>
                        <a:srgbClr val="EEEEEE"/>
                      </a:solidFill>
                    </a:lnB>
                    <a:solidFill>
                      <a:srgbClr val="FFFFFF"/>
                    </a:solidFill>
                  </a:tcPr>
                </a:tc>
              </a:tr>
              <a:tr h="535577">
                <a:tc rowSpan="2">
                  <a:txBody>
                    <a:bodyPr/>
                    <a:lstStyle/>
                    <a:p>
                      <a:pPr>
                        <a:spcAft>
                          <a:spcPts val="0"/>
                        </a:spcAft>
                        <a:defRPr sz="1050" b="1">
                          <a:solidFill>
                            <a:srgbClr val="0A2373"/>
                          </a:solidFill>
                          <a:latin typeface="Lato"/>
                        </a:defRPr>
                      </a:pPr>
                      <a:r>
                        <a:t>Market</a:t>
                      </a:r>
                    </a:p>
                    <a:p>
                      <a:pPr>
                        <a:spcAft>
                          <a:spcPts val="0"/>
                        </a:spcAft>
                        <a:defRPr sz="1050" b="1">
                          <a:solidFill>
                            <a:srgbClr val="0A2373"/>
                          </a:solidFill>
                          <a:latin typeface="Lato"/>
                        </a:defRPr>
                      </a:pPr>
                      <a:r>
                        <a:t>baseline</a:t>
                      </a: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p>
                  </a:txBody>
                  <a:tcPr marL="41148" marR="41148" marT="41148" marB="18288" anchor="t">
                    <a:lnB w="7620" cap="flat">
                      <a:solidFill>
                        <a:srgbClr val="EEEEEE"/>
                      </a:solidFill>
                    </a:lnB>
                    <a:solidFill>
                      <a:srgbClr val="FFFFFF"/>
                    </a:solidFill>
                  </a:tcPr>
                </a:tc>
                <a:tc>
                  <a:txBody>
                    <a:bodyPr/>
                    <a:lstStyle/>
                    <a:p>
                      <a:pPr>
                        <a:spcAft>
                          <a:spcPts val="0"/>
                        </a:spcAft>
                        <a:defRPr sz="1050">
                          <a:solidFill>
                            <a:srgbClr val="000000"/>
                          </a:solidFill>
                          <a:latin typeface="Lato"/>
                        </a:defRPr>
                      </a:pPr>
                      <a:r>
                        <a:t>Diesel drives imports; sales reports conflict</a:t>
                      </a:r>
                    </a:p>
                    <a:p>
                      <a:pPr>
                        <a:spcAft>
                          <a:spcPts val="0"/>
                        </a:spcAft>
                        <a:defRPr sz="1050">
                          <a:solidFill>
                            <a:srgbClr val="000000"/>
                          </a:solidFill>
                          <a:latin typeface="Lato"/>
                        </a:defRPr>
                      </a:pPr>
                      <a:r>
                        <a:t>2024 net petrol/diesel imports: 13.078 bn L. Production, stocks, sales coverage and port allocation remain open.</a:t>
                      </a:r>
                    </a:p>
                  </a:txBody>
                  <a:tcPr marL="41148" marR="41148" marT="41148" marB="18288" anchor="t">
                    <a:lnB w="7620" cap="flat">
                      <a:solidFill>
                        <a:srgbClr val="EEEEEE"/>
                      </a:solidFill>
                    </a:lnB>
                    <a:solidFill>
                      <a:srgbClr val="FFFFFF"/>
                    </a:solidFill>
                  </a:tcPr>
                </a:tc>
                <a:tc>
                  <a:txBody>
                    <a:bodyPr/>
                    <a:lstStyle/>
                    <a:p>
                      <a:pPr>
                        <a:spcAft>
                          <a:spcPts val="0"/>
                        </a:spcAft>
                        <a:defRPr sz="1050">
                          <a:solidFill>
                            <a:srgbClr val="000000"/>
                          </a:solidFill>
                          <a:latin typeface="Lato"/>
                        </a:defRPr>
                      </a:pPr>
                      <a:r>
                        <a:t>Supported: imports are material.</a:t>
                      </a:r>
                    </a:p>
                    <a:p>
                      <a:pPr>
                        <a:spcAft>
                          <a:spcPts val="0"/>
                        </a:spcAft>
                        <a:defRPr sz="1050">
                          <a:solidFill>
                            <a:srgbClr val="000000"/>
                          </a:solidFill>
                          <a:latin typeface="Lato"/>
                        </a:defRPr>
                      </a:pPr>
                      <a:r>
                        <a:t>Sustained future volumes remain a forecast case; the matched balance is open.</a:t>
                      </a: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rPr sz="1050">
                          <a:solidFill>
                            <a:srgbClr val="0A2373"/>
                          </a:solidFill>
                          <a:latin typeface="Lato"/>
                          <a:hlinkClick r:id="rId5" action="ppaction://hlinksldjump"/>
                        </a:rPr>
                        <a:t>3</a:t>
                      </a:r>
                      <a:r>
                        <a:rPr sz="1050">
                          <a:solidFill>
                            <a:srgbClr val="0A2373"/>
                          </a:solidFill>
                          <a:latin typeface="Lato"/>
                          <a:hlinkClick r:id="rId6" action="ppaction://hlinksldjump"/>
                        </a:rPr>
                        <a:t> / 6</a:t>
                      </a:r>
                    </a:p>
                  </a:txBody>
                  <a:tcPr marL="41148" marR="41148" marT="41148" marB="18288" anchor="t">
                    <a:lnB w="7620" cap="flat">
                      <a:solidFill>
                        <a:srgbClr val="EEEEEE"/>
                      </a:solidFill>
                    </a:lnB>
                    <a:solidFill>
                      <a:srgbClr val="FFFFFF"/>
                    </a:solidFill>
                  </a:tcPr>
                </a:tc>
              </a:tr>
              <a:tr h="535577">
                <a:tc vMerge="1">
                  <a:txBody>
                    <a:bodyPr/>
                    <a:lstStyle/>
                    <a:p>
                      <a:pPr>
                        <a:spcAft>
                          <a:spcPts val="0"/>
                        </a:spcAft>
                        <a:defRPr sz="1050" b="0">
                          <a:solidFill>
                            <a:srgbClr val="000000"/>
                          </a:solidFill>
                          <a:latin typeface="Lato"/>
                        </a:defRPr>
                      </a:pP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p>
                  </a:txBody>
                  <a:tcPr marL="41148" marR="41148" marT="41148" marB="18288" anchor="t">
                    <a:lnB w="7620" cap="flat">
                      <a:solidFill>
                        <a:srgbClr val="EEEEEE"/>
                      </a:solidFill>
                    </a:lnB>
                    <a:solidFill>
                      <a:srgbClr val="FFFFFF"/>
                    </a:solidFill>
                  </a:tcPr>
                </a:tc>
                <a:tc>
                  <a:txBody>
                    <a:bodyPr/>
                    <a:lstStyle/>
                    <a:p>
                      <a:pPr>
                        <a:spcAft>
                          <a:spcPts val="0"/>
                        </a:spcAft>
                        <a:defRPr sz="1050">
                          <a:solidFill>
                            <a:srgbClr val="000000"/>
                          </a:solidFill>
                          <a:latin typeface="Lato"/>
                        </a:defRPr>
                      </a:pPr>
                      <a:r>
                        <a:t>Demand sits around Vopak’s footprint</a:t>
                      </a:r>
                    </a:p>
                    <a:p>
                      <a:pPr>
                        <a:spcAft>
                          <a:spcPts val="0"/>
                        </a:spcAft>
                        <a:defRPr sz="1050">
                          <a:solidFill>
                            <a:srgbClr val="000000"/>
                          </a:solidFill>
                          <a:latin typeface="Lato"/>
                        </a:defRPr>
                      </a:pPr>
                      <a:r>
                        <a:t>GP, KZN and WC account for 68.6% of 2022 sales. Historical volumes were broadly steady; later provinces are estimates.</a:t>
                      </a:r>
                    </a:p>
                  </a:txBody>
                  <a:tcPr marL="41148" marR="41148" marT="41148" marB="18288" anchor="t">
                    <a:lnB w="7620" cap="flat">
                      <a:solidFill>
                        <a:srgbClr val="EEEEEE"/>
                      </a:solidFill>
                    </a:lnB>
                    <a:solidFill>
                      <a:srgbClr val="FFFFFF"/>
                    </a:solidFill>
                  </a:tcPr>
                </a:tc>
                <a:tc>
                  <a:txBody>
                    <a:bodyPr/>
                    <a:lstStyle/>
                    <a:p>
                      <a:pPr>
                        <a:spcAft>
                          <a:spcPts val="0"/>
                        </a:spcAft>
                        <a:defRPr sz="1050">
                          <a:solidFill>
                            <a:srgbClr val="000000"/>
                          </a:solidFill>
                          <a:latin typeface="Lato"/>
                        </a:defRPr>
                      </a:pPr>
                      <a:r>
                        <a:t>Supported: concentrated demand.</a:t>
                      </a:r>
                    </a:p>
                    <a:p>
                      <a:pPr>
                        <a:spcAft>
                          <a:spcPts val="0"/>
                        </a:spcAft>
                        <a:defRPr sz="1050">
                          <a:solidFill>
                            <a:srgbClr val="000000"/>
                          </a:solidFill>
                          <a:latin typeface="Lato"/>
                        </a:defRPr>
                      </a:pPr>
                      <a:r>
                        <a:t>Focus on Gauteng/KZN; sales totals do not establish accessible customers.</a:t>
                      </a: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rPr sz="1050">
                          <a:solidFill>
                            <a:srgbClr val="0A2373"/>
                          </a:solidFill>
                          <a:latin typeface="Lato"/>
                          <a:hlinkClick r:id="rId3" action="ppaction://hlinksldjump"/>
                        </a:rPr>
                        <a:t>4</a:t>
                      </a:r>
                      <a:r>
                        <a:rPr sz="1050">
                          <a:solidFill>
                            <a:srgbClr val="0A2373"/>
                          </a:solidFill>
                          <a:latin typeface="Lato"/>
                          <a:hlinkClick r:id="rId4" action="ppaction://hlinksldjump"/>
                        </a:rPr>
                        <a:t> / 5</a:t>
                      </a:r>
                    </a:p>
                  </a:txBody>
                  <a:tcPr marL="41148" marR="41148" marT="41148" marB="18288" anchor="t">
                    <a:lnB w="7620" cap="flat">
                      <a:solidFill>
                        <a:srgbClr val="EEEEEE"/>
                      </a:solidFill>
                    </a:lnB>
                    <a:solidFill>
                      <a:srgbClr val="FFFFFF"/>
                    </a:solidFill>
                  </a:tcPr>
                </a:tc>
              </a:tr>
              <a:tr h="535577">
                <a:tc rowSpan="3">
                  <a:txBody>
                    <a:bodyPr/>
                    <a:lstStyle/>
                    <a:p>
                      <a:pPr>
                        <a:spcAft>
                          <a:spcPts val="0"/>
                        </a:spcAft>
                        <a:defRPr sz="1050" b="1">
                          <a:solidFill>
                            <a:srgbClr val="0A2373"/>
                          </a:solidFill>
                          <a:latin typeface="Lato"/>
                        </a:defRPr>
                      </a:pPr>
                      <a:r>
                        <a:t>Market</a:t>
                      </a:r>
                    </a:p>
                    <a:p>
                      <a:pPr>
                        <a:spcAft>
                          <a:spcPts val="0"/>
                        </a:spcAft>
                        <a:defRPr sz="1050" b="1">
                          <a:solidFill>
                            <a:srgbClr val="0A2373"/>
                          </a:solidFill>
                          <a:latin typeface="Lato"/>
                        </a:defRPr>
                      </a:pPr>
                      <a:r>
                        <a:t>changes</a:t>
                      </a: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p>
                  </a:txBody>
                  <a:tcPr marL="41148" marR="41148" marT="41148" marB="18288" anchor="t">
                    <a:lnB w="7620" cap="flat">
                      <a:solidFill>
                        <a:srgbClr val="EEEEEE"/>
                      </a:solidFill>
                    </a:lnB>
                    <a:solidFill>
                      <a:srgbClr val="FFFFFF"/>
                    </a:solidFill>
                  </a:tcPr>
                </a:tc>
                <a:tc>
                  <a:txBody>
                    <a:bodyPr/>
                    <a:lstStyle/>
                    <a:p>
                      <a:pPr>
                        <a:spcAft>
                          <a:spcPts val="0"/>
                        </a:spcAft>
                        <a:defRPr sz="1050">
                          <a:solidFill>
                            <a:srgbClr val="000000"/>
                          </a:solidFill>
                          <a:latin typeface="Lato"/>
                        </a:defRPr>
                      </a:pPr>
                      <a:r>
                        <a:t>Diesel generation is falling; other drivers differ</a:t>
                      </a:r>
                    </a:p>
                    <a:p>
                      <a:pPr>
                        <a:spcAft>
                          <a:spcPts val="0"/>
                        </a:spcAft>
                        <a:defRPr sz="1050">
                          <a:solidFill>
                            <a:srgbClr val="000000"/>
                          </a:solidFill>
                          <a:latin typeface="Lato"/>
                        </a:defRPr>
                      </a:pPr>
                      <a:r>
                        <a:t>Freight, EV uptake and prices follow different paths. Fuel used per km or unit of output is needed to quantify litres.</a:t>
                      </a:r>
                    </a:p>
                  </a:txBody>
                  <a:tcPr marL="41148" marR="41148" marT="41148" marB="18288" anchor="t">
                    <a:lnB w="7620" cap="flat">
                      <a:solidFill>
                        <a:srgbClr val="EEEEEE"/>
                      </a:solidFill>
                    </a:lnB>
                    <a:solidFill>
                      <a:srgbClr val="FFFFFF"/>
                    </a:solidFill>
                  </a:tcPr>
                </a:tc>
                <a:tc>
                  <a:txBody>
                    <a:bodyPr/>
                    <a:lstStyle/>
                    <a:p>
                      <a:pPr>
                        <a:spcAft>
                          <a:spcPts val="0"/>
                        </a:spcAft>
                        <a:defRPr sz="1050">
                          <a:solidFill>
                            <a:srgbClr val="000000"/>
                          </a:solidFill>
                          <a:latin typeface="Lato"/>
                        </a:defRPr>
                      </a:pPr>
                      <a:r>
                        <a:t>Partly supported: diesel generation is falling.</a:t>
                      </a:r>
                    </a:p>
                    <a:p>
                      <a:pPr>
                        <a:spcAft>
                          <a:spcPts val="0"/>
                        </a:spcAft>
                        <a:defRPr sz="1050">
                          <a:solidFill>
                            <a:srgbClr val="000000"/>
                          </a:solidFill>
                          <a:latin typeface="Lato"/>
                        </a:defRPr>
                      </a:pPr>
                      <a:r>
                        <a:t>Rail, EV and price effects remain unquantified; a uniform demand decline is unproven.</a:t>
                      </a: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rPr sz="1050">
                          <a:solidFill>
                            <a:srgbClr val="0A2373"/>
                          </a:solidFill>
                          <a:latin typeface="Lato"/>
                          <a:hlinkClick r:id="rId7" action="ppaction://hlinksldjump"/>
                        </a:rPr>
                        <a:t>7</a:t>
                      </a:r>
                      <a:r>
                        <a:rPr sz="1050">
                          <a:solidFill>
                            <a:srgbClr val="0A2373"/>
                          </a:solidFill>
                          <a:latin typeface="Lato"/>
                          <a:hlinkClick r:id="rId18" action="ppaction://hlinksldjump"/>
                        </a:rPr>
                        <a:t> / 9</a:t>
                      </a:r>
                    </a:p>
                  </a:txBody>
                  <a:tcPr marL="41148" marR="41148" marT="41148" marB="18288" anchor="t">
                    <a:lnB w="7620" cap="flat">
                      <a:solidFill>
                        <a:srgbClr val="EEEEEE"/>
                      </a:solidFill>
                    </a:lnB>
                    <a:solidFill>
                      <a:srgbClr val="FFFFFF"/>
                    </a:solidFill>
                  </a:tcPr>
                </a:tc>
              </a:tr>
              <a:tr h="535577">
                <a:tc vMerge="1">
                  <a:txBody>
                    <a:bodyPr/>
                    <a:lstStyle/>
                    <a:p>
                      <a:pPr>
                        <a:spcAft>
                          <a:spcPts val="0"/>
                        </a:spcAft>
                        <a:defRPr sz="1050" b="0">
                          <a:solidFill>
                            <a:srgbClr val="000000"/>
                          </a:solidFill>
                          <a:latin typeface="Lato"/>
                        </a:defRPr>
                      </a:pP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t>Supply change makes import needs conditional</a:t>
                      </a:r>
                    </a:p>
                    <a:p>
                      <a:pPr>
                        <a:spcAft>
                          <a:spcPts val="0"/>
                        </a:spcAft>
                        <a:defRPr sz="1050" b="0">
                          <a:solidFill>
                            <a:srgbClr val="000000"/>
                          </a:solidFill>
                          <a:latin typeface="Lato"/>
                        </a:defRPr>
                      </a:pPr>
                      <a:r>
                        <a:t>Capacity has declined; redevelopment is conditional. Secunda/Natref product output and future cases remain open.</a:t>
                      </a:r>
                    </a:p>
                  </a:txBody>
                  <a:tcPr marL="41148" marR="41148" marT="41148" marB="18288" anchor="t">
                    <a:lnB w="7620" cap="flat">
                      <a:solidFill>
                        <a:srgbClr val="EEEEEE"/>
                      </a:solidFill>
                    </a:lnB>
                    <a:solidFill>
                      <a:srgbClr val="FFFFFF"/>
                    </a:solidFill>
                  </a:tcPr>
                </a:tc>
                <a:tc>
                  <a:txBody>
                    <a:bodyPr/>
                    <a:lstStyle/>
                    <a:p>
                      <a:pPr>
                        <a:spcAft>
                          <a:spcPts val="0"/>
                        </a:spcAft>
                        <a:defRPr sz="1050">
                          <a:solidFill>
                            <a:srgbClr val="000000"/>
                          </a:solidFill>
                          <a:latin typeface="Lato"/>
                        </a:defRPr>
                      </a:pPr>
                      <a:r>
                        <a:t>Supported: refining capacity fell.</a:t>
                      </a:r>
                    </a:p>
                    <a:p>
                      <a:pPr>
                        <a:spcAft>
                          <a:spcPts val="0"/>
                        </a:spcAft>
                        <a:defRPr sz="1050">
                          <a:solidFill>
                            <a:srgbClr val="000000"/>
                          </a:solidFill>
                          <a:latin typeface="Lato"/>
                        </a:defRPr>
                      </a:pPr>
                      <a:r>
                        <a:t>Plant futures are conditional; capacity alone does not determine imports.</a:t>
                      </a: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rPr sz="1050">
                          <a:solidFill>
                            <a:srgbClr val="0A2373"/>
                          </a:solidFill>
                          <a:latin typeface="Lato"/>
                          <a:hlinkClick r:id="rId8" action="ppaction://hlinksldjump"/>
                        </a:rPr>
                        <a:t>8</a:t>
                      </a:r>
                      <a:r>
                        <a:rPr sz="1050">
                          <a:solidFill>
                            <a:srgbClr val="0A2373"/>
                          </a:solidFill>
                          <a:latin typeface="Lato"/>
                          <a:hlinkClick r:id="rId18" action="ppaction://hlinksldjump"/>
                        </a:rPr>
                        <a:t> / 9</a:t>
                      </a:r>
                    </a:p>
                  </a:txBody>
                  <a:tcPr marL="41148" marR="41148" marT="41148" marB="18288" anchor="t">
                    <a:lnB w="7620" cap="flat">
                      <a:solidFill>
                        <a:srgbClr val="EEEEEE"/>
                      </a:solidFill>
                    </a:lnB>
                    <a:solidFill>
                      <a:srgbClr val="FFFFFF"/>
                    </a:solidFill>
                  </a:tcPr>
                </a:tc>
              </a:tr>
              <a:tr h="535577">
                <a:tc vMerge="1">
                  <a:txBody>
                    <a:bodyPr/>
                    <a:lstStyle/>
                    <a:p>
                      <a:pPr>
                        <a:spcAft>
                          <a:spcPts val="0"/>
                        </a:spcAft>
                        <a:defRPr sz="1050" b="0">
                          <a:solidFill>
                            <a:srgbClr val="000000"/>
                          </a:solidFill>
                          <a:latin typeface="Lato"/>
                        </a:defRPr>
                      </a:pP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t>Alternative gateways challenge the same inland market</a:t>
                      </a:r>
                    </a:p>
                    <a:p>
                      <a:pPr>
                        <a:spcAft>
                          <a:spcPts val="0"/>
                        </a:spcAft>
                        <a:defRPr sz="1050" b="0">
                          <a:solidFill>
                            <a:srgbClr val="000000"/>
                          </a:solidFill>
                          <a:latin typeface="Lato"/>
                        </a:defRPr>
                      </a:pPr>
                      <a:r>
                        <a:t>Matola and Walvis Bay have storage; their competitiveness depends on full costs, route capacity and access.</a:t>
                      </a:r>
                    </a:p>
                  </a:txBody>
                  <a:tcPr marL="41148" marR="41148" marT="41148" marB="18288" anchor="t">
                    <a:lnB w="7620" cap="flat">
                      <a:solidFill>
                        <a:srgbClr val="EEEEEE"/>
                      </a:solidFill>
                    </a:lnB>
                    <a:solidFill>
                      <a:srgbClr val="FFFFFF"/>
                    </a:solidFill>
                  </a:tcPr>
                </a:tc>
                <a:tc>
                  <a:txBody>
                    <a:bodyPr/>
                    <a:lstStyle/>
                    <a:p>
                      <a:pPr>
                        <a:spcAft>
                          <a:spcPts val="0"/>
                        </a:spcAft>
                        <a:defRPr sz="1050">
                          <a:solidFill>
                            <a:srgbClr val="000000"/>
                          </a:solidFill>
                          <a:latin typeface="Lato"/>
                        </a:defRPr>
                      </a:pPr>
                      <a:r>
                        <a:t>Open: gateway competition.</a:t>
                      </a:r>
                    </a:p>
                    <a:p>
                      <a:pPr>
                        <a:spcAft>
                          <a:spcPts val="0"/>
                        </a:spcAft>
                        <a:defRPr sz="1050">
                          <a:solidFill>
                            <a:srgbClr val="000000"/>
                          </a:solidFill>
                          <a:latin typeface="Lato"/>
                        </a:defRPr>
                      </a:pPr>
                      <a:r>
                        <a:t>No route winner without comparable cost, service and customer access.</a:t>
                      </a: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rPr sz="1050">
                          <a:solidFill>
                            <a:srgbClr val="0A2373"/>
                          </a:solidFill>
                          <a:latin typeface="Lato"/>
                          <a:hlinkClick r:id="rId9" action="ppaction://hlinksldjump"/>
                        </a:rPr>
                        <a:t>10</a:t>
                      </a:r>
                      <a:r>
                        <a:rPr sz="1050">
                          <a:solidFill>
                            <a:srgbClr val="0A2373"/>
                          </a:solidFill>
                          <a:latin typeface="Lato"/>
                          <a:hlinkClick r:id="rId10" action="ppaction://hlinksldjump"/>
                        </a:rPr>
                        <a:t> / 11</a:t>
                      </a:r>
                    </a:p>
                  </a:txBody>
                  <a:tcPr marL="41148" marR="41148" marT="41148" marB="18288" anchor="t">
                    <a:lnB w="7620" cap="flat">
                      <a:solidFill>
                        <a:srgbClr val="EEEEEE"/>
                      </a:solidFill>
                    </a:lnB>
                    <a:solidFill>
                      <a:srgbClr val="FFFFFF"/>
                    </a:solidFill>
                  </a:tcPr>
                </a:tc>
              </a:tr>
              <a:tr h="535577">
                <a:tc rowSpan="2">
                  <a:txBody>
                    <a:bodyPr/>
                    <a:lstStyle/>
                    <a:p>
                      <a:pPr>
                        <a:spcAft>
                          <a:spcPts val="0"/>
                        </a:spcAft>
                        <a:defRPr sz="1050" b="1">
                          <a:solidFill>
                            <a:srgbClr val="0A2373"/>
                          </a:solidFill>
                          <a:latin typeface="Lato"/>
                        </a:defRPr>
                      </a:pPr>
                      <a:r>
                        <a:t>Vopak</a:t>
                      </a:r>
                    </a:p>
                    <a:p>
                      <a:pPr>
                        <a:spcAft>
                          <a:spcPts val="0"/>
                        </a:spcAft>
                        <a:defRPr sz="1050" b="1">
                          <a:solidFill>
                            <a:srgbClr val="0A2373"/>
                          </a:solidFill>
                          <a:latin typeface="Lato"/>
                        </a:defRPr>
                      </a:pPr>
                      <a:r>
                        <a:t>outlook</a:t>
                      </a: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p>
                  </a:txBody>
                  <a:tcPr marL="41148" marR="41148" marT="41148" marB="18288" anchor="t">
                    <a:lnB w="7620" cap="flat">
                      <a:solidFill>
                        <a:srgbClr val="EEEEEE"/>
                      </a:solidFill>
                    </a:lnB>
                    <a:solidFill>
                      <a:srgbClr val="FFFFFF"/>
                    </a:solidFill>
                  </a:tcPr>
                </a:tc>
                <a:tc>
                  <a:txBody>
                    <a:bodyPr/>
                    <a:lstStyle/>
                    <a:p>
                      <a:pPr>
                        <a:spcAft>
                          <a:spcPts val="0"/>
                        </a:spcAft>
                        <a:defRPr sz="1050">
                          <a:solidFill>
                            <a:srgbClr val="000000"/>
                          </a:solidFill>
                          <a:latin typeface="Lato"/>
                        </a:defRPr>
                      </a:pPr>
                      <a:r>
                        <a:t>Market share of Vopak in Dbn and Lesedi</a:t>
                      </a:r>
                    </a:p>
                    <a:p>
                      <a:pPr>
                        <a:spcAft>
                          <a:spcPts val="0"/>
                        </a:spcAft>
                        <a:defRPr sz="1050">
                          <a:solidFill>
                            <a:srgbClr val="000000"/>
                          </a:solidFill>
                          <a:latin typeface="Lato"/>
                        </a:defRPr>
                      </a:pPr>
                      <a:r>
                        <a:t>Vopak has an established storage footprint; its share of customer volumes remains to be quantified.</a:t>
                      </a:r>
                    </a:p>
                  </a:txBody>
                  <a:tcPr marL="41148" marR="41148" marT="41148" marB="18288" anchor="t">
                    <a:lnB w="7620" cap="flat">
                      <a:solidFill>
                        <a:srgbClr val="EEEEEE"/>
                      </a:solidFill>
                    </a:lnB>
                    <a:solidFill>
                      <a:srgbClr val="FFFFFF"/>
                    </a:solidFill>
                  </a:tcPr>
                </a:tc>
                <a:tc>
                  <a:txBody>
                    <a:bodyPr/>
                    <a:lstStyle/>
                    <a:p>
                      <a:pPr>
                        <a:spcAft>
                          <a:spcPts val="0"/>
                        </a:spcAft>
                        <a:defRPr sz="1050">
                          <a:solidFill>
                            <a:srgbClr val="000000"/>
                          </a:solidFill>
                          <a:latin typeface="Lato"/>
                        </a:defRPr>
                      </a:pPr>
                      <a:r>
                        <a:t>Footprint established; volume share unquantified.</a:t>
                      </a:r>
                    </a:p>
                    <a:p>
                      <a:pPr>
                        <a:spcAft>
                          <a:spcPts val="0"/>
                        </a:spcAft>
                        <a:defRPr sz="1050">
                          <a:solidFill>
                            <a:srgbClr val="000000"/>
                          </a:solidFill>
                          <a:latin typeface="Lato"/>
                        </a:defRPr>
                      </a:pPr>
                      <a:r>
                        <a:t>Unique deliveries and customer access establish served volumes.</a:t>
                      </a: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rPr sz="1050">
                          <a:solidFill>
                            <a:srgbClr val="0A2373"/>
                          </a:solidFill>
                          <a:latin typeface="Lato"/>
                          <a:hlinkClick r:id="rId11" action="ppaction://hlinksldjump"/>
                        </a:rPr>
                        <a:t>12</a:t>
                      </a:r>
                      <a:r>
                        <a:rPr sz="1050">
                          <a:solidFill>
                            <a:srgbClr val="0A2373"/>
                          </a:solidFill>
                          <a:latin typeface="Lato"/>
                          <a:hlinkClick r:id="rId12" action="ppaction://hlinksldjump"/>
                        </a:rPr>
                        <a:t> / 13</a:t>
                      </a:r>
                      <a:r>
                        <a:rPr sz="1050">
                          <a:solidFill>
                            <a:srgbClr val="0A2373"/>
                          </a:solidFill>
                          <a:latin typeface="Lato"/>
                          <a:hlinkClick r:id="rId13" action="ppaction://hlinksldjump"/>
                        </a:rPr>
                        <a:t> / 14</a:t>
                      </a:r>
                    </a:p>
                  </a:txBody>
                  <a:tcPr marL="41148" marR="41148" marT="41148" marB="18288" anchor="t">
                    <a:lnB w="7620" cap="flat">
                      <a:solidFill>
                        <a:srgbClr val="EEEEEE"/>
                      </a:solidFill>
                    </a:lnB>
                    <a:solidFill>
                      <a:srgbClr val="FFFFFF"/>
                    </a:solidFill>
                  </a:tcPr>
                </a:tc>
              </a:tr>
              <a:tr h="535577">
                <a:tc vMerge="1">
                  <a:txBody>
                    <a:bodyPr/>
                    <a:lstStyle/>
                    <a:p>
                      <a:pPr>
                        <a:spcAft>
                          <a:spcPts val="0"/>
                        </a:spcAft>
                        <a:defRPr sz="1050" b="0">
                          <a:solidFill>
                            <a:srgbClr val="000000"/>
                          </a:solidFill>
                          <a:latin typeface="Lato"/>
                        </a:defRPr>
                      </a:pP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t>Potential scope for new investment?</a:t>
                      </a:r>
                    </a:p>
                    <a:p>
                      <a:pPr>
                        <a:spcAft>
                          <a:spcPts val="0"/>
                        </a:spcAft>
                        <a:defRPr sz="1050" b="0">
                          <a:solidFill>
                            <a:srgbClr val="000000"/>
                          </a:solidFill>
                          <a:latin typeface="Lato"/>
                        </a:defRPr>
                      </a:pPr>
                      <a:r>
                        <a:t>Prioritise Durban/Lesedi customer flows. Additional storage follows secured volumes and a usable-capacity gap.</a:t>
                      </a:r>
                    </a:p>
                  </a:txBody>
                  <a:tcPr marL="41148" marR="41148" marT="41148" marB="18288" anchor="t">
                    <a:lnB w="7620" cap="flat">
                      <a:solidFill>
                        <a:srgbClr val="EEEEEE"/>
                      </a:solidFill>
                    </a:lnB>
                    <a:solidFill>
                      <a:srgbClr val="FFFFFF"/>
                    </a:solidFill>
                  </a:tcPr>
                </a:tc>
                <a:tc>
                  <a:txBody>
                    <a:bodyPr/>
                    <a:lstStyle/>
                    <a:p>
                      <a:pPr>
                        <a:spcAft>
                          <a:spcPts val="0"/>
                        </a:spcAft>
                        <a:defRPr sz="1050">
                          <a:solidFill>
                            <a:srgbClr val="000000"/>
                          </a:solidFill>
                          <a:latin typeface="Lato"/>
                        </a:defRPr>
                      </a:pPr>
                      <a:r>
                        <a:t>Conditional: win customers first.</a:t>
                      </a:r>
                    </a:p>
                    <a:p>
                      <a:pPr>
                        <a:spcAft>
                          <a:spcPts val="0"/>
                        </a:spcAft>
                        <a:defRPr sz="1050">
                          <a:solidFill>
                            <a:srgbClr val="000000"/>
                          </a:solidFill>
                          <a:latin typeface="Lato"/>
                        </a:defRPr>
                      </a:pPr>
                      <a:r>
                        <a:t>Use existing assets; new storage needs secured flows and a usable-capacity gap.</a:t>
                      </a: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rPr sz="1050">
                          <a:solidFill>
                            <a:srgbClr val="0A2373"/>
                          </a:solidFill>
                          <a:latin typeface="Lato"/>
                          <a:hlinkClick r:id="rId14" action="ppaction://hlinksldjump"/>
                        </a:rPr>
                        <a:t>15</a:t>
                      </a:r>
                      <a:r>
                        <a:rPr sz="1050">
                          <a:solidFill>
                            <a:srgbClr val="0A2373"/>
                          </a:solidFill>
                          <a:latin typeface="Lato"/>
                          <a:hlinkClick r:id="rId17" action="ppaction://hlinksldjump"/>
                        </a:rPr>
                        <a:t> / 16</a:t>
                      </a:r>
                      <a:r>
                        <a:rPr sz="1050">
                          <a:solidFill>
                            <a:srgbClr val="0A2373"/>
                          </a:solidFill>
                          <a:latin typeface="Lato"/>
                          <a:hlinkClick r:id="rId15" action="ppaction://hlinksldjump"/>
                        </a:rPr>
                        <a:t> / 17</a:t>
                      </a:r>
                    </a:p>
                  </a:txBody>
                  <a:tcPr marL="41148" marR="41148" marT="41148" marB="18288" anchor="t">
                    <a:lnB w="7620" cap="flat">
                      <a:solidFill>
                        <a:srgbClr val="EEEEEE"/>
                      </a:solidFill>
                    </a:lnB>
                    <a:solidFill>
                      <a:srgbClr val="FFFFFF"/>
                    </a:solidFill>
                  </a:tcPr>
                </a:tc>
              </a:tr>
            </a:tbl>
          </a:graphicData>
        </a:graphic>
      </p:graphicFrame>
      <p:sp>
        <p:nvSpPr>
          <p:cNvPr id="48" name="SCR pill 1"/>
          <p:cNvSpPr/>
          <p:nvPr/>
        </p:nvSpPr>
        <p:spPr>
          <a:xfrm>
            <a:off x="1687068" y="2482596"/>
            <a:ext cx="420624" cy="246888"/>
          </a:xfrm>
          <a:prstGeom prst="round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800" b="1">
                <a:solidFill>
                  <a:srgbClr val="0A2373"/>
                </a:solidFill>
                <a:latin typeface="Lato"/>
              </a:defRPr>
            </a:pPr>
            <a:r>
              <a:t>S1</a:t>
            </a:r>
          </a:p>
        </p:txBody>
      </p:sp>
      <p:sp>
        <p:nvSpPr>
          <p:cNvPr id="49" name="SCR pill 2"/>
          <p:cNvSpPr/>
          <p:nvPr/>
        </p:nvSpPr>
        <p:spPr>
          <a:xfrm>
            <a:off x="1687068" y="3018173"/>
            <a:ext cx="420624" cy="246888"/>
          </a:xfrm>
          <a:prstGeom prst="round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800" b="1">
                <a:solidFill>
                  <a:srgbClr val="0A2373"/>
                </a:solidFill>
                <a:latin typeface="Lato"/>
              </a:defRPr>
            </a:pPr>
            <a:r>
              <a:t>S2</a:t>
            </a:r>
          </a:p>
        </p:txBody>
      </p:sp>
      <p:sp>
        <p:nvSpPr>
          <p:cNvPr id="50" name="SCR pill 3"/>
          <p:cNvSpPr/>
          <p:nvPr/>
        </p:nvSpPr>
        <p:spPr>
          <a:xfrm>
            <a:off x="1687068" y="3553750"/>
            <a:ext cx="420624" cy="246888"/>
          </a:xfrm>
          <a:prstGeom prst="round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800" b="1">
                <a:solidFill>
                  <a:srgbClr val="0A2373"/>
                </a:solidFill>
                <a:latin typeface="Lato"/>
              </a:defRPr>
            </a:pPr>
            <a:r>
              <a:t>S/C3</a:t>
            </a:r>
          </a:p>
        </p:txBody>
      </p:sp>
      <p:sp>
        <p:nvSpPr>
          <p:cNvPr id="51" name="SCR pill 4"/>
          <p:cNvSpPr/>
          <p:nvPr/>
        </p:nvSpPr>
        <p:spPr>
          <a:xfrm>
            <a:off x="1687068" y="4089327"/>
            <a:ext cx="420624" cy="246888"/>
          </a:xfrm>
          <a:prstGeom prst="round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800" b="1">
                <a:solidFill>
                  <a:srgbClr val="0A2373"/>
                </a:solidFill>
                <a:latin typeface="Lato"/>
              </a:defRPr>
            </a:pPr>
            <a:r>
              <a:t>C4</a:t>
            </a:r>
          </a:p>
        </p:txBody>
      </p:sp>
      <p:sp>
        <p:nvSpPr>
          <p:cNvPr id="52" name="SCR pill 5"/>
          <p:cNvSpPr/>
          <p:nvPr/>
        </p:nvSpPr>
        <p:spPr>
          <a:xfrm>
            <a:off x="1687068" y="4624904"/>
            <a:ext cx="420624" cy="246888"/>
          </a:xfrm>
          <a:prstGeom prst="round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800" b="1">
                <a:solidFill>
                  <a:srgbClr val="0A2373"/>
                </a:solidFill>
                <a:latin typeface="Lato"/>
              </a:defRPr>
            </a:pPr>
            <a:r>
              <a:t>C5</a:t>
            </a:r>
          </a:p>
        </p:txBody>
      </p:sp>
      <p:sp>
        <p:nvSpPr>
          <p:cNvPr id="53" name="SCR pill 6"/>
          <p:cNvSpPr/>
          <p:nvPr/>
        </p:nvSpPr>
        <p:spPr>
          <a:xfrm>
            <a:off x="1687068" y="5160481"/>
            <a:ext cx="420624" cy="246888"/>
          </a:xfrm>
          <a:prstGeom prst="round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800" b="1">
                <a:solidFill>
                  <a:srgbClr val="0A2373"/>
                </a:solidFill>
                <a:latin typeface="Lato"/>
              </a:defRPr>
            </a:pPr>
            <a:r>
              <a:t>R6</a:t>
            </a:r>
          </a:p>
        </p:txBody>
      </p:sp>
      <p:sp>
        <p:nvSpPr>
          <p:cNvPr id="54" name="SCR pill 7"/>
          <p:cNvSpPr/>
          <p:nvPr/>
        </p:nvSpPr>
        <p:spPr>
          <a:xfrm>
            <a:off x="1687068" y="5696058"/>
            <a:ext cx="420624" cy="246888"/>
          </a:xfrm>
          <a:prstGeom prst="round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800" b="1">
                <a:solidFill>
                  <a:srgbClr val="0A2373"/>
                </a:solidFill>
                <a:latin typeface="Lato"/>
              </a:defRPr>
            </a:pPr>
            <a:r>
              <a:t>R7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S1. Diesel drives import volumes, while conflicting reports leave 2024 sales unresolved</a:t>
            </a:r>
          </a:p>
        </p:txBody>
      </p:sp>
      <p:sp>
        <p:nvSpPr>
          <p:cNvPr id="3" name="Slide Number Placeholder"/>
          <p:cNvSpPr>
            <a:spLocks noGrp="1"/>
          </p:cNvSpPr>
          <p:nvPr>
            <p:ph type="sldNum" sz="quarter" idx="12"/>
          </p:nvPr>
        </p:nvSpPr>
        <p:spPr/>
        <p:txBody>
          <a:bodyPr/>
          <a:lstStyle/>
          <a:p>
            <a:fld id="{C534FAF3-16F5-4703-88D6-BBC5122615A8}" type="slidenum">
              <a:rPr lang="en-US"/>
              <a:t>‹#›</a:t>
            </a:fld>
          </a:p>
        </p:txBody>
      </p:sp>
      <p:sp>
        <p:nvSpPr>
          <p:cNvPr id="4" name="Section navigation 1">
            <a:hlinkClick action="ppaction://hlinksldjump" r:id="rId4"/>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1  Overview</a:t>
            </a:r>
          </a:p>
        </p:txBody>
      </p:sp>
      <p:sp>
        <p:nvSpPr>
          <p:cNvPr id="5" name="Section navigation 2">
            <a:hlinkClick action="ppaction://hlinksldjump" r:id="rId5"/>
          </p:cNvPr>
          <p:cNvSpPr/>
          <p:nvPr/>
        </p:nvSpPr>
        <p:spPr>
          <a:xfrm>
            <a:off x="3136392"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1">
                <a:solidFill>
                  <a:srgbClr val="FFFFFF"/>
                </a:solidFill>
                <a:latin typeface="Lato"/>
              </a:defRPr>
            </a:pPr>
            <a:r>
              <a:rPr sz="1050"/>
              <a:t>2  Market baseline</a:t>
            </a:r>
          </a:p>
        </p:txBody>
      </p:sp>
      <p:sp>
        <p:nvSpPr>
          <p:cNvPr id="6" name="Section navigation 3">
            <a:hlinkClick action="ppaction://hlinksldjump" r:id="rId6"/>
          </p:cNvPr>
          <p:cNvSpPr/>
          <p:nvPr/>
        </p:nvSpPr>
        <p:spPr>
          <a:xfrm>
            <a:off x="5815584"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3  Market changes</a:t>
            </a:r>
          </a:p>
        </p:txBody>
      </p:sp>
      <p:sp>
        <p:nvSpPr>
          <p:cNvPr id="7" name="Section navigation 4">
            <a:hlinkClick action="ppaction://hlinksldjump" r:id="rId7"/>
          </p:cNvPr>
          <p:cNvSpPr/>
          <p:nvPr/>
        </p:nvSpPr>
        <p:spPr>
          <a:xfrm>
            <a:off x="8494776"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4  Vopak outlook</a:t>
            </a:r>
          </a:p>
        </p:txBody>
      </p:sp>
      <p:sp>
        <p:nvSpPr>
          <p:cNvPr id="8"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b="0">
                <a:solidFill>
                  <a:srgbClr val="000000"/>
                </a:solidFill>
                <a:latin typeface="Lato"/>
              </a:defRPr>
            </a:pPr>
            <a:r>
              <a:rPr sz="750"/>
              <a:t>Source: SARS customs extracts, 2024, litres / 12 months; FIASA 2025 sales, p.47 (unverified). Evidence manifest in notes.</a:t>
            </a:r>
          </a:p>
        </p:txBody>
      </p:sp>
      <p:sp>
        <p:nvSpPr>
          <p:cNvPr id="25" name="TextBox 24"/>
          <p:cNvSpPr txBox="1"/>
          <p:nvPr/>
        </p:nvSpPr>
        <p:spPr>
          <a:xfrm>
            <a:off x="457200" y="1627632"/>
            <a:ext cx="6446520" cy="384048"/>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National petrol/diesel | 2024, billion litres</a:t>
            </a:r>
          </a:p>
        </p:txBody>
      </p:sp>
      <p:cxnSp>
        <p:nvCxnSpPr>
          <p:cNvPr id="26" name="Connector 25"/>
          <p:cNvCxnSpPr/>
          <p:nvPr/>
        </p:nvCxnSpPr>
        <p:spPr>
          <a:xfrm>
            <a:off x="457200" y="1947672"/>
            <a:ext cx="644652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7424927" y="1947672"/>
            <a:ext cx="3685033"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graphicFrame>
        <p:nvGraphicFramePr>
          <p:cNvPr id="29" name="Chart 28"/>
          <p:cNvGraphicFramePr>
            <a:graphicFrameLocks noGrp="1"/>
          </p:cNvGraphicFramePr>
          <p:nvPr/>
        </p:nvGraphicFramePr>
        <p:xfrm>
          <a:off x="457200" y="2907792"/>
          <a:ext cx="6446520" cy="1975104"/>
        </p:xfrm>
        <a:graphic>
          <a:graphicData uri="http://schemas.openxmlformats.org/drawingml/2006/chart">
            <c:chart xmlns:c="http://schemas.openxmlformats.org/drawingml/2006/chart" r:id="rId3"/>
          </a:graphicData>
        </a:graphic>
      </p:graphicFrame>
      <p:sp>
        <p:nvSpPr>
          <p:cNvPr id="30" name="Rectangle 29"/>
          <p:cNvSpPr/>
          <p:nvPr/>
        </p:nvSpPr>
        <p:spPr>
          <a:xfrm>
            <a:off x="457200" y="2770632"/>
            <a:ext cx="109728" cy="10972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0080" y="2715768"/>
            <a:ext cx="1920240" cy="256032"/>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Reported sales</a:t>
            </a:r>
          </a:p>
        </p:txBody>
      </p:sp>
      <p:sp>
        <p:nvSpPr>
          <p:cNvPr id="32" name="Rectangle 31"/>
          <p:cNvSpPr/>
          <p:nvPr/>
        </p:nvSpPr>
        <p:spPr>
          <a:xfrm>
            <a:off x="2606040" y="2770632"/>
            <a:ext cx="109728" cy="109728"/>
          </a:xfrm>
          <a:prstGeom prst="rect">
            <a:avLst/>
          </a:prstGeom>
          <a:solidFill>
            <a:srgbClr val="546C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2788920" y="2715768"/>
            <a:ext cx="1920240" cy="256032"/>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Imports</a:t>
            </a:r>
          </a:p>
        </p:txBody>
      </p:sp>
      <p:sp>
        <p:nvSpPr>
          <p:cNvPr id="34" name="Rectangle 33"/>
          <p:cNvSpPr/>
          <p:nvPr/>
        </p:nvSpPr>
        <p:spPr>
          <a:xfrm>
            <a:off x="4754880" y="2770632"/>
            <a:ext cx="109728" cy="109728"/>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937760" y="2715768"/>
            <a:ext cx="1920240" cy="256032"/>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Exports</a:t>
            </a:r>
          </a:p>
        </p:txBody>
      </p:sp>
      <p:sp>
        <p:nvSpPr>
          <p:cNvPr id="36" name="TextBox 35"/>
          <p:cNvSpPr txBox="1"/>
          <p:nvPr/>
        </p:nvSpPr>
        <p:spPr>
          <a:xfrm>
            <a:off x="457200" y="2148840"/>
            <a:ext cx="6446520" cy="265176"/>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Production + imports − exports − stock build = consumption</a:t>
            </a:r>
          </a:p>
        </p:txBody>
      </p:sp>
      <p:sp>
        <p:nvSpPr>
          <p:cNvPr id="37" name="TextBox 36"/>
          <p:cNvSpPr txBox="1"/>
          <p:nvPr/>
        </p:nvSpPr>
        <p:spPr>
          <a:xfrm>
            <a:off x="457200" y="2450592"/>
            <a:ext cx="6446520" cy="210312"/>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Compare consumption with reported sales; explain coverage and the residual.</a:t>
            </a:r>
          </a:p>
        </p:txBody>
      </p:sp>
      <p:sp>
        <p:nvSpPr>
          <p:cNvPr id="38" name="TextBox 37"/>
          <p:cNvSpPr txBox="1"/>
          <p:nvPr/>
        </p:nvSpPr>
        <p:spPr>
          <a:xfrm>
            <a:off x="457200" y="4974336"/>
            <a:ext cx="6446520" cy="256032"/>
          </a:xfrm>
          <a:prstGeom prst="rect">
            <a:avLst/>
          </a:prstGeom>
          <a:noFill/>
        </p:spPr>
        <p:txBody>
          <a:bodyPr wrap="square" lIns="22860" rIns="22860" tIns="0" bIns="0">
            <a:spAutoFit/>
          </a:bodyPr>
          <a:lstStyle/>
          <a:p>
            <a:pPr>
              <a:spcAft>
                <a:spcPts val="300"/>
              </a:spcAft>
              <a:defRPr sz="1100" b="1">
                <a:solidFill>
                  <a:srgbClr val="0A2373"/>
                </a:solidFill>
                <a:latin typeface="Lato"/>
              </a:defRPr>
            </a:pPr>
            <a:r>
              <a:t>Net imports: petrol 3.081, diesel 9.997; combined 13.078 bn litres.</a:t>
            </a:r>
          </a:p>
        </p:txBody>
      </p:sp>
      <p:sp>
        <p:nvSpPr>
          <p:cNvPr id="39" name="TextBox 38"/>
          <p:cNvSpPr txBox="1"/>
          <p:nvPr/>
        </p:nvSpPr>
        <p:spPr>
          <a:xfrm>
            <a:off x="457200" y="5458968"/>
            <a:ext cx="3063240"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Primary trade | SARS customs</a:t>
            </a:r>
          </a:p>
        </p:txBody>
      </p:sp>
      <p:sp>
        <p:nvSpPr>
          <p:cNvPr id="40" name="TextBox 39"/>
          <p:cNvSpPr txBox="1"/>
          <p:nvPr/>
        </p:nvSpPr>
        <p:spPr>
          <a:xfrm>
            <a:off x="457200" y="5852160"/>
            <a:ext cx="3063240" cy="539496"/>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Diesel imports 10.793 bn L.</a:t>
            </a:r>
          </a:p>
          <a:p>
            <a:pPr>
              <a:spcAft>
                <a:spcPts val="300"/>
              </a:spcAft>
              <a:defRPr sz="1150" b="0">
                <a:solidFill>
                  <a:srgbClr val="000000"/>
                </a:solidFill>
                <a:latin typeface="Lato"/>
              </a:defRPr>
            </a:pPr>
            <a:r>
              <a:t>Government rounds to 10.800; FIASA 14.793.</a:t>
            </a:r>
          </a:p>
          <a:p>
            <a:pPr>
              <a:spcAft>
                <a:spcPts val="300"/>
              </a:spcAft>
              <a:defRPr sz="1150" b="0">
                <a:solidFill>
                  <a:srgbClr val="000000"/>
                </a:solidFill>
                <a:latin typeface="Lato"/>
              </a:defRPr>
            </a:pPr>
            <a:r>
              <a:t>Use SARS; retain the source discrepancy.</a:t>
            </a:r>
          </a:p>
        </p:txBody>
      </p:sp>
      <p:cxnSp>
        <p:nvCxnSpPr>
          <p:cNvPr id="41" name="Connector 40"/>
          <p:cNvCxnSpPr/>
          <p:nvPr/>
        </p:nvCxnSpPr>
        <p:spPr>
          <a:xfrm>
            <a:off x="3685032" y="5449824"/>
            <a:ext cx="0" cy="941832"/>
          </a:xfrm>
          <a:prstGeom prst="line">
            <a:avLst/>
          </a:prstGeom>
          <a:ln w="8890">
            <a:solidFill>
              <a:srgbClr val="EEEEEE"/>
            </a:solidFill>
          </a:ln>
        </p:spPr>
        <p:style>
          <a:lnRef idx="2">
            <a:schemeClr val="accent1"/>
          </a:lnRef>
          <a:fillRef idx="0">
            <a:schemeClr val="accent1"/>
          </a:fillRef>
          <a:effectRef idx="1">
            <a:schemeClr val="accent1"/>
          </a:effectRef>
          <a:fontRef idx="minor">
            <a:schemeClr val="tx1"/>
          </a:fontRef>
        </p:style>
      </p:cxnSp>
      <p:sp>
        <p:nvSpPr>
          <p:cNvPr id="42" name="TextBox 41"/>
          <p:cNvSpPr txBox="1"/>
          <p:nvPr/>
        </p:nvSpPr>
        <p:spPr>
          <a:xfrm>
            <a:off x="3858768" y="5458968"/>
            <a:ext cx="3044952"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2024 accounting remains open</a:t>
            </a:r>
          </a:p>
        </p:txBody>
      </p:sp>
      <p:sp>
        <p:nvSpPr>
          <p:cNvPr id="43" name="TextBox 42"/>
          <p:cNvSpPr txBox="1"/>
          <p:nvPr/>
        </p:nvSpPr>
        <p:spPr>
          <a:xfrm>
            <a:off x="3858768" y="5852160"/>
            <a:ext cx="3044952" cy="539496"/>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Sales less net imports = 7.685 bn L.</a:t>
            </a:r>
          </a:p>
          <a:p>
            <a:pPr>
              <a:spcAft>
                <a:spcPts val="300"/>
              </a:spcAft>
              <a:defRPr sz="1150" b="0">
                <a:solidFill>
                  <a:srgbClr val="000000"/>
                </a:solidFill>
                <a:latin typeface="Lato"/>
              </a:defRPr>
            </a:pPr>
            <a:r>
              <a:t>Balancing requirement, not production.</a:t>
            </a:r>
          </a:p>
          <a:p>
            <a:pPr>
              <a:spcAft>
                <a:spcPts val="300"/>
              </a:spcAft>
              <a:defRPr sz="1150" b="0">
                <a:solidFill>
                  <a:srgbClr val="000000"/>
                </a:solidFill>
                <a:latin typeface="Lato"/>
              </a:defRPr>
            </a:pPr>
            <a:r>
              <a:t>Production, stocks and coverage unresolved.</a:t>
            </a:r>
          </a:p>
        </p:txBody>
      </p:sp>
      <p:cxnSp>
        <p:nvCxnSpPr>
          <p:cNvPr id="51" name="Connector 50"/>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54" name="TextBox 53"/>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What the evidence shows</a:t>
            </a:r>
          </a:p>
        </p:txBody>
      </p:sp>
      <p:sp>
        <p:nvSpPr>
          <p:cNvPr id="55" name="TextBox 54"/>
          <p:cNvSpPr txBox="1"/>
          <p:nvPr/>
        </p:nvSpPr>
        <p:spPr>
          <a:xfrm>
            <a:off x="7424927" y="218541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01 | Customs supports the trade selection</a:t>
            </a:r>
          </a:p>
        </p:txBody>
      </p:sp>
      <p:sp>
        <p:nvSpPr>
          <p:cNvPr id="56" name="TextBox 55"/>
          <p:cNvSpPr txBox="1"/>
          <p:nvPr/>
        </p:nvSpPr>
        <p:spPr>
          <a:xfrm>
            <a:off x="7424927" y="256946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SARS records diesel imports of 10.793 and exports of 0.796 bn litres in 2024. Net imports are 9.997; use customs as the primary trade source.</a:t>
            </a:r>
          </a:p>
        </p:txBody>
      </p:sp>
      <p:sp>
        <p:nvSpPr>
          <p:cNvPr id="57" name="TextBox 56"/>
          <p:cNvSpPr txBox="1"/>
          <p:nvPr/>
        </p:nvSpPr>
        <p:spPr>
          <a:xfrm>
            <a:off x="7424927" y="314553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02 | Reported sales remain a proxy</a:t>
            </a:r>
          </a:p>
        </p:txBody>
      </p:sp>
      <p:sp>
        <p:nvSpPr>
          <p:cNvPr id="58" name="TextBox 57"/>
          <p:cNvSpPr txBox="1"/>
          <p:nvPr/>
        </p:nvSpPr>
        <p:spPr>
          <a:xfrm>
            <a:off x="7424927" y="3529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FIASA reports petrol/diesel sales of 20.763 bn litres for 2024. Editions differ; this demand proxy remains unverified and is not imports plus exports.</a:t>
            </a:r>
          </a:p>
        </p:txBody>
      </p:sp>
      <p:sp>
        <p:nvSpPr>
          <p:cNvPr id="59" name="TextBox 58"/>
          <p:cNvSpPr txBox="1"/>
          <p:nvPr/>
        </p:nvSpPr>
        <p:spPr>
          <a:xfrm>
            <a:off x="7424927" y="410565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03 | Production and stocks remain open</a:t>
            </a:r>
          </a:p>
        </p:txBody>
      </p:sp>
      <p:sp>
        <p:nvSpPr>
          <p:cNvPr id="60" name="TextBox 59"/>
          <p:cNvSpPr txBox="1"/>
          <p:nvPr/>
        </p:nvSpPr>
        <p:spPr>
          <a:xfrm>
            <a:off x="7424927" y="448970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Production and stocks remain unresolved. The proposed 3-4 bn litre diesel gap is a hypothesis, not measured consumption.</a:t>
            </a:r>
          </a:p>
        </p:txBody>
      </p:sp>
      <p:cxnSp>
        <p:nvCxnSpPr>
          <p:cNvPr id="61" name="Connector 60"/>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62" name="TextBox 61"/>
          <p:cNvSpPr txBox="1"/>
          <p:nvPr/>
        </p:nvSpPr>
        <p:spPr>
          <a:xfrm>
            <a:off x="7424927" y="5321808"/>
            <a:ext cx="3685032"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To resolve next</a:t>
            </a:r>
          </a:p>
        </p:txBody>
      </p:sp>
      <p:sp>
        <p:nvSpPr>
          <p:cNvPr id="63" name="TextBox 62"/>
          <p:cNvSpPr txBox="1"/>
          <p:nvPr/>
        </p:nvSpPr>
        <p:spPr>
          <a:xfrm>
            <a:off x="7424927" y="5687568"/>
            <a:ext cx="3685032" cy="62179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Manish: rebuild the balance CSV from SARS; match product, year, actual output and stock changes. Nigel: agree the sales selection and obtain customer/port evidence.</a:t>
            </a:r>
          </a:p>
        </p:txBody>
      </p:sp>
      <p:sp>
        <p:nvSpPr>
          <p:cNvPr id="64" name="SCR divider marker: circle"/>
          <p:cNvSpPr/>
          <p:nvPr/>
        </p:nvSpPr>
        <p:spPr>
          <a:xfrm>
            <a:off x="7086600" y="1828800"/>
            <a:ext cx="237744" cy="237744"/>
          </a:xfrm>
          <a:prstGeom prst="ellipse">
            <a:avLst/>
          </a:prstGeom>
          <a:solidFill>
            <a:srgbClr val="0A2373"/>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5" name="SCR divider marker: arrow"/>
          <p:cNvCxnSpPr/>
          <p:nvPr/>
        </p:nvCxnSpPr>
        <p:spPr>
          <a:xfrm>
            <a:off x="7173468" y="1888236"/>
            <a:ext cx="64008" cy="59436"/>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66" name="SCR divider marker: arrow"/>
          <p:cNvCxnSpPr/>
          <p:nvPr/>
        </p:nvCxnSpPr>
        <p:spPr>
          <a:xfrm flipH="1">
            <a:off x="7173468" y="1947672"/>
            <a:ext cx="64008" cy="59435"/>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sp>
        <p:nvSpPr>
          <p:cNvPr id="67"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S2. Three provinces account for 69% of reported fuel sales; the top two contain Vopak’s storage facilities</a:t>
            </a:r>
          </a:p>
        </p:txBody>
      </p:sp>
      <p:sp>
        <p:nvSpPr>
          <p:cNvPr id="3" name="Slide Number Placeholder"/>
          <p:cNvSpPr>
            <a:spLocks noGrp="1"/>
          </p:cNvSpPr>
          <p:nvPr>
            <p:ph type="sldNum" sz="quarter" idx="12"/>
          </p:nvPr>
        </p:nvSpPr>
        <p:spPr/>
        <p:txBody>
          <a:bodyPr/>
          <a:lstStyle/>
          <a:p>
            <a:fld id="{ED4E7834-BFB9-4BA5-8B3E-452ADAE8E1BC}" type="slidenum">
              <a:rPr lang="en-US"/>
              <a:t>‹#›</a:t>
            </a:fld>
          </a:p>
        </p:txBody>
      </p:sp>
      <p:sp>
        <p:nvSpPr>
          <p:cNvPr id="4" name="Section navigation 1">
            <a:hlinkClick action="ppaction://hlinksldjump" r:id="rId3"/>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1  Overview</a:t>
            </a:r>
          </a:p>
        </p:txBody>
      </p:sp>
      <p:sp>
        <p:nvSpPr>
          <p:cNvPr id="5" name="Section navigation 2">
            <a:hlinkClick action="ppaction://hlinksldjump" r:id="rId4"/>
          </p:cNvPr>
          <p:cNvSpPr/>
          <p:nvPr/>
        </p:nvSpPr>
        <p:spPr>
          <a:xfrm>
            <a:off x="3136392"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1">
                <a:solidFill>
                  <a:srgbClr val="FFFFFF"/>
                </a:solidFill>
                <a:latin typeface="Lato"/>
              </a:defRPr>
            </a:pPr>
            <a:r>
              <a:rPr sz="1050"/>
              <a:t>2  Market baseline</a:t>
            </a:r>
          </a:p>
        </p:txBody>
      </p:sp>
      <p:sp>
        <p:nvSpPr>
          <p:cNvPr id="6" name="Section navigation 3">
            <a:hlinkClick action="ppaction://hlinksldjump" r:id="rId5"/>
          </p:cNvPr>
          <p:cNvSpPr/>
          <p:nvPr/>
        </p:nvSpPr>
        <p:spPr>
          <a:xfrm>
            <a:off x="5815584"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3  Market changes</a:t>
            </a:r>
          </a:p>
        </p:txBody>
      </p:sp>
      <p:sp>
        <p:nvSpPr>
          <p:cNvPr id="7" name="Section navigation 4">
            <a:hlinkClick action="ppaction://hlinksldjump" r:id="rId6"/>
          </p:cNvPr>
          <p:cNvSpPr/>
          <p:nvPr/>
        </p:nvSpPr>
        <p:spPr>
          <a:xfrm>
            <a:off x="8494776"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4  Vopak outlook</a:t>
            </a:r>
          </a:p>
        </p:txBody>
      </p:sp>
      <p:sp>
        <p:nvSpPr>
          <p:cNvPr id="8"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a:latin typeface="Lato"/>
              </a:defRPr>
            </a:pPr>
            <a:r>
              <a:rPr sz="750"/>
              <a:t>Note: Sales totals, not density. Vopak locations highlighted; detailed operator inventory on pages 13 and 15. Jet excluded.</a:t>
            </a:r>
          </a:p>
          <a:p>
            <a:pPr>
              <a:lnSpc>
                <a:spcPts val="900"/>
              </a:lnSpc>
              <a:spcBef>
                <a:spcPts val="0"/>
              </a:spcBef>
              <a:spcAft>
                <a:spcPts val="0"/>
              </a:spcAft>
              <a:defRPr sz="750">
                <a:latin typeface="Lato"/>
              </a:defRPr>
            </a:pPr>
            <a:r>
              <a:rPr sz="750"/>
              <a:t>Source: DMPR 2022 sales; geoBoundaries/OCHA/MDB 2020 provinces (CC BY 3.0 IGO); operator sources on slide 12.</a:t>
            </a:r>
          </a:p>
        </p:txBody>
      </p:sp>
      <p:sp>
        <p:nvSpPr>
          <p:cNvPr id="9" name="TextBox 8"/>
          <p:cNvSpPr txBox="1"/>
          <p:nvPr/>
        </p:nvSpPr>
        <p:spPr>
          <a:xfrm>
            <a:off x="457200" y="1627632"/>
            <a:ext cx="6446520"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Petrol + diesel sales by province | 2022, bn litres/year</a:t>
            </a:r>
          </a:p>
        </p:txBody>
      </p:sp>
      <p:cxnSp>
        <p:nvCxnSpPr>
          <p:cNvPr id="10" name="Connector 9"/>
          <p:cNvCxnSpPr/>
          <p:nvPr/>
        </p:nvCxnSpPr>
        <p:spPr>
          <a:xfrm>
            <a:off x="457200" y="1947672"/>
            <a:ext cx="6446520"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7424927" y="1947672"/>
            <a:ext cx="3685033"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sp>
        <p:nvSpPr>
          <p:cNvPr id="22" name="Map frame; common geographic extent"/>
          <p:cNvSpPr/>
          <p:nvPr/>
        </p:nvSpPr>
        <p:spPr>
          <a:xfrm>
            <a:off x="457200" y="2176272"/>
            <a:ext cx="6446520" cy="3657600"/>
          </a:xfrm>
          <a:prstGeom prst="rect">
            <a:avLst/>
          </a:prstGeom>
          <a:solidFill>
            <a:srgbClr val="F5F8FB"/>
          </a:solidFill>
          <a:ln w="6350">
            <a:solidFill>
              <a:srgbClr val="EEE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Natural Earth 1:50m boundary: Zimbabwe"/>
          <p:cNvSpPr/>
          <p:nvPr/>
        </p:nvSpPr>
        <p:spPr>
          <a:xfrm>
            <a:off x="4666558" y="2283150"/>
            <a:ext cx="640603" cy="124667"/>
          </a:xfrm>
          <a:custGeom>
            <a:avLst/>
            <a:gdLst/>
            <a:ahLst/>
            <a:cxnLst/>
            <a:rect l="l" t="t" r="r" b="b"/>
            <a:pathLst>
              <a:path w="640603" h="124667">
                <a:moveTo>
                  <a:pt x="532798" y="124667"/>
                </a:moveTo>
                <a:lnTo>
                  <a:pt x="511926" y="109016"/>
                </a:lnTo>
                <a:lnTo>
                  <a:pt x="482921" y="98105"/>
                </a:lnTo>
                <a:lnTo>
                  <a:pt x="445720" y="91953"/>
                </a:lnTo>
                <a:lnTo>
                  <a:pt x="397041" y="91514"/>
                </a:lnTo>
                <a:lnTo>
                  <a:pt x="336956" y="96794"/>
                </a:lnTo>
                <a:lnTo>
                  <a:pt x="273200" y="84399"/>
                </a:lnTo>
                <a:lnTo>
                  <a:pt x="205640" y="54358"/>
                </a:lnTo>
                <a:lnTo>
                  <a:pt x="149008" y="42519"/>
                </a:lnTo>
                <a:lnTo>
                  <a:pt x="80617" y="51925"/>
                </a:lnTo>
                <a:lnTo>
                  <a:pt x="77609" y="52119"/>
                </a:lnTo>
                <a:lnTo>
                  <a:pt x="66080" y="42468"/>
                </a:lnTo>
                <a:lnTo>
                  <a:pt x="48096" y="21881"/>
                </a:lnTo>
                <a:lnTo>
                  <a:pt x="17130" y="17336"/>
                </a:lnTo>
                <a:lnTo>
                  <a:pt x="8838" y="12403"/>
                </a:lnTo>
                <a:lnTo>
                  <a:pt x="2113" y="4755"/>
                </a:lnTo>
                <a:lnTo>
                  <a:pt x="0" y="0"/>
                </a:lnTo>
                <a:lnTo>
                  <a:pt x="640603" y="27451"/>
                </a:lnTo>
                <a:lnTo>
                  <a:pt x="603077" y="64721"/>
                </a:lnTo>
                <a:lnTo>
                  <a:pt x="567618" y="100041"/>
                </a:lnTo>
                <a:lnTo>
                  <a:pt x="532798" y="124667"/>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Natural Earth 1:50m boundary: eSwatini"/>
          <p:cNvSpPr/>
          <p:nvPr/>
        </p:nvSpPr>
        <p:spPr>
          <a:xfrm>
            <a:off x="5033317" y="3262069"/>
            <a:ext cx="303816" cy="406727"/>
          </a:xfrm>
          <a:custGeom>
            <a:avLst/>
            <a:gdLst/>
            <a:ahLst/>
            <a:cxnLst/>
            <a:rect l="l" t="t" r="r" b="b"/>
            <a:pathLst>
              <a:path w="303816" h="406727">
                <a:moveTo>
                  <a:pt x="275537" y="62013"/>
                </a:moveTo>
                <a:lnTo>
                  <a:pt x="279992" y="66023"/>
                </a:lnTo>
                <a:lnTo>
                  <a:pt x="300559" y="79029"/>
                </a:lnTo>
                <a:lnTo>
                  <a:pt x="301167" y="102598"/>
                </a:lnTo>
                <a:lnTo>
                  <a:pt x="297630" y="129281"/>
                </a:lnTo>
                <a:lnTo>
                  <a:pt x="292422" y="145953"/>
                </a:lnTo>
                <a:lnTo>
                  <a:pt x="293076" y="162892"/>
                </a:lnTo>
                <a:lnTo>
                  <a:pt x="298399" y="189519"/>
                </a:lnTo>
                <a:lnTo>
                  <a:pt x="303816" y="207841"/>
                </a:lnTo>
                <a:lnTo>
                  <a:pt x="300767" y="289576"/>
                </a:lnTo>
                <a:lnTo>
                  <a:pt x="293834" y="285411"/>
                </a:lnTo>
                <a:lnTo>
                  <a:pt x="281033" y="281155"/>
                </a:lnTo>
                <a:lnTo>
                  <a:pt x="274062" y="282377"/>
                </a:lnTo>
                <a:lnTo>
                  <a:pt x="265716" y="318604"/>
                </a:lnTo>
                <a:lnTo>
                  <a:pt x="257848" y="372766"/>
                </a:lnTo>
                <a:lnTo>
                  <a:pt x="258748" y="406727"/>
                </a:lnTo>
                <a:lnTo>
                  <a:pt x="209539" y="404969"/>
                </a:lnTo>
                <a:lnTo>
                  <a:pt x="147538" y="397851"/>
                </a:lnTo>
                <a:lnTo>
                  <a:pt x="103732" y="380884"/>
                </a:lnTo>
                <a:lnTo>
                  <a:pt x="57283" y="346190"/>
                </a:lnTo>
                <a:lnTo>
                  <a:pt x="31080" y="294539"/>
                </a:lnTo>
                <a:lnTo>
                  <a:pt x="20039" y="262374"/>
                </a:lnTo>
                <a:lnTo>
                  <a:pt x="2592" y="259702"/>
                </a:lnTo>
                <a:lnTo>
                  <a:pt x="0" y="254199"/>
                </a:lnTo>
                <a:lnTo>
                  <a:pt x="214" y="215634"/>
                </a:lnTo>
                <a:lnTo>
                  <a:pt x="2435" y="175217"/>
                </a:lnTo>
                <a:lnTo>
                  <a:pt x="6204" y="164642"/>
                </a:lnTo>
                <a:lnTo>
                  <a:pt x="41147" y="116459"/>
                </a:lnTo>
                <a:lnTo>
                  <a:pt x="62888" y="86540"/>
                </a:lnTo>
                <a:lnTo>
                  <a:pt x="76940" y="57249"/>
                </a:lnTo>
                <a:lnTo>
                  <a:pt x="106140" y="23556"/>
                </a:lnTo>
                <a:lnTo>
                  <a:pt x="136758" y="2646"/>
                </a:lnTo>
                <a:lnTo>
                  <a:pt x="147881" y="0"/>
                </a:lnTo>
                <a:lnTo>
                  <a:pt x="155348" y="1319"/>
                </a:lnTo>
                <a:lnTo>
                  <a:pt x="205786" y="34956"/>
                </a:lnTo>
                <a:lnTo>
                  <a:pt x="257515" y="67144"/>
                </a:lnTo>
                <a:lnTo>
                  <a:pt x="269261" y="64507"/>
                </a:lnTo>
                <a:lnTo>
                  <a:pt x="275537" y="62013"/>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Natural Earth 1:50m boundary: South Africa"/>
          <p:cNvSpPr/>
          <p:nvPr/>
        </p:nvSpPr>
        <p:spPr>
          <a:xfrm>
            <a:off x="1777332" y="2325669"/>
            <a:ext cx="3733333" cy="3233142"/>
          </a:xfrm>
          <a:custGeom>
            <a:avLst/>
            <a:gdLst/>
            <a:ahLst/>
            <a:cxnLst/>
            <a:rect l="l" t="t" r="r" b="b"/>
            <a:pathLst>
              <a:path w="3733333" h="3233142">
                <a:moveTo>
                  <a:pt x="2966835" y="9600"/>
                </a:moveTo>
                <a:lnTo>
                  <a:pt x="2969843" y="9406"/>
                </a:lnTo>
                <a:lnTo>
                  <a:pt x="3038234" y="0"/>
                </a:lnTo>
                <a:lnTo>
                  <a:pt x="3094866" y="11839"/>
                </a:lnTo>
                <a:lnTo>
                  <a:pt x="3162426" y="41880"/>
                </a:lnTo>
                <a:lnTo>
                  <a:pt x="3226182" y="54275"/>
                </a:lnTo>
                <a:lnTo>
                  <a:pt x="3286267" y="48995"/>
                </a:lnTo>
                <a:lnTo>
                  <a:pt x="3334946" y="49434"/>
                </a:lnTo>
                <a:lnTo>
                  <a:pt x="3372147" y="55586"/>
                </a:lnTo>
                <a:lnTo>
                  <a:pt x="3401152" y="66497"/>
                </a:lnTo>
                <a:lnTo>
                  <a:pt x="3422024" y="82148"/>
                </a:lnTo>
                <a:lnTo>
                  <a:pt x="3422673" y="95641"/>
                </a:lnTo>
                <a:lnTo>
                  <a:pt x="3424067" y="101830"/>
                </a:lnTo>
                <a:lnTo>
                  <a:pt x="3433809" y="137865"/>
                </a:lnTo>
                <a:lnTo>
                  <a:pt x="3448258" y="191687"/>
                </a:lnTo>
                <a:lnTo>
                  <a:pt x="3457177" y="241168"/>
                </a:lnTo>
                <a:lnTo>
                  <a:pt x="3469352" y="309049"/>
                </a:lnTo>
                <a:lnTo>
                  <a:pt x="3467084" y="346368"/>
                </a:lnTo>
                <a:lnTo>
                  <a:pt x="3470139" y="361001"/>
                </a:lnTo>
                <a:lnTo>
                  <a:pt x="3483031" y="379757"/>
                </a:lnTo>
                <a:lnTo>
                  <a:pt x="3498320" y="411626"/>
                </a:lnTo>
                <a:lnTo>
                  <a:pt x="3503186" y="429514"/>
                </a:lnTo>
                <a:lnTo>
                  <a:pt x="3508174" y="442961"/>
                </a:lnTo>
                <a:lnTo>
                  <a:pt x="3524658" y="468868"/>
                </a:lnTo>
                <a:lnTo>
                  <a:pt x="3536493" y="507434"/>
                </a:lnTo>
                <a:lnTo>
                  <a:pt x="3545551" y="558135"/>
                </a:lnTo>
                <a:lnTo>
                  <a:pt x="3554255" y="582713"/>
                </a:lnTo>
                <a:lnTo>
                  <a:pt x="3557379" y="594722"/>
                </a:lnTo>
                <a:lnTo>
                  <a:pt x="3560741" y="616477"/>
                </a:lnTo>
                <a:lnTo>
                  <a:pt x="3557730" y="661812"/>
                </a:lnTo>
                <a:lnTo>
                  <a:pt x="3555214" y="714385"/>
                </a:lnTo>
                <a:lnTo>
                  <a:pt x="3552398" y="773102"/>
                </a:lnTo>
                <a:lnTo>
                  <a:pt x="3550091" y="821569"/>
                </a:lnTo>
                <a:lnTo>
                  <a:pt x="3547005" y="845993"/>
                </a:lnTo>
                <a:lnTo>
                  <a:pt x="3544435" y="915675"/>
                </a:lnTo>
                <a:lnTo>
                  <a:pt x="3527627" y="951107"/>
                </a:lnTo>
                <a:lnTo>
                  <a:pt x="3527933" y="979684"/>
                </a:lnTo>
                <a:lnTo>
                  <a:pt x="3531522" y="998413"/>
                </a:lnTo>
                <a:lnTo>
                  <a:pt x="3525246" y="1000907"/>
                </a:lnTo>
                <a:lnTo>
                  <a:pt x="3513500" y="1003544"/>
                </a:lnTo>
                <a:lnTo>
                  <a:pt x="3461771" y="971356"/>
                </a:lnTo>
                <a:lnTo>
                  <a:pt x="3411333" y="937719"/>
                </a:lnTo>
                <a:lnTo>
                  <a:pt x="3403866" y="936400"/>
                </a:lnTo>
                <a:lnTo>
                  <a:pt x="3392743" y="939046"/>
                </a:lnTo>
                <a:lnTo>
                  <a:pt x="3362125" y="959956"/>
                </a:lnTo>
                <a:lnTo>
                  <a:pt x="3332925" y="993649"/>
                </a:lnTo>
                <a:lnTo>
                  <a:pt x="3318873" y="1022940"/>
                </a:lnTo>
                <a:lnTo>
                  <a:pt x="3297132" y="1052859"/>
                </a:lnTo>
                <a:lnTo>
                  <a:pt x="3262189" y="1101042"/>
                </a:lnTo>
                <a:lnTo>
                  <a:pt x="3258420" y="1111617"/>
                </a:lnTo>
                <a:lnTo>
                  <a:pt x="3256199" y="1152034"/>
                </a:lnTo>
                <a:lnTo>
                  <a:pt x="3255985" y="1190599"/>
                </a:lnTo>
                <a:lnTo>
                  <a:pt x="3258577" y="1196102"/>
                </a:lnTo>
                <a:lnTo>
                  <a:pt x="3276024" y="1198774"/>
                </a:lnTo>
                <a:lnTo>
                  <a:pt x="3287065" y="1230939"/>
                </a:lnTo>
                <a:lnTo>
                  <a:pt x="3313268" y="1282590"/>
                </a:lnTo>
                <a:lnTo>
                  <a:pt x="3359717" y="1317284"/>
                </a:lnTo>
                <a:lnTo>
                  <a:pt x="3403523" y="1334251"/>
                </a:lnTo>
                <a:lnTo>
                  <a:pt x="3465524" y="1341369"/>
                </a:lnTo>
                <a:lnTo>
                  <a:pt x="3514733" y="1343127"/>
                </a:lnTo>
                <a:lnTo>
                  <a:pt x="3513833" y="1309166"/>
                </a:lnTo>
                <a:lnTo>
                  <a:pt x="3521701" y="1255004"/>
                </a:lnTo>
                <a:lnTo>
                  <a:pt x="3530047" y="1218777"/>
                </a:lnTo>
                <a:lnTo>
                  <a:pt x="3537018" y="1217555"/>
                </a:lnTo>
                <a:lnTo>
                  <a:pt x="3549819" y="1221811"/>
                </a:lnTo>
                <a:lnTo>
                  <a:pt x="3556752" y="1225976"/>
                </a:lnTo>
                <a:lnTo>
                  <a:pt x="3576668" y="1225632"/>
                </a:lnTo>
                <a:lnTo>
                  <a:pt x="3611432" y="1234946"/>
                </a:lnTo>
                <a:lnTo>
                  <a:pt x="3639869" y="1235897"/>
                </a:lnTo>
                <a:lnTo>
                  <a:pt x="3665286" y="1236787"/>
                </a:lnTo>
                <a:lnTo>
                  <a:pt x="3708272" y="1238303"/>
                </a:lnTo>
                <a:lnTo>
                  <a:pt x="3733333" y="1239508"/>
                </a:lnTo>
                <a:lnTo>
                  <a:pt x="3721150" y="1297960"/>
                </a:lnTo>
                <a:lnTo>
                  <a:pt x="3682714" y="1388226"/>
                </a:lnTo>
                <a:lnTo>
                  <a:pt x="3668970" y="1429875"/>
                </a:lnTo>
                <a:lnTo>
                  <a:pt x="3631826" y="1579543"/>
                </a:lnTo>
                <a:lnTo>
                  <a:pt x="3591119" y="1653608"/>
                </a:lnTo>
                <a:lnTo>
                  <a:pt x="3569060" y="1683872"/>
                </a:lnTo>
                <a:lnTo>
                  <a:pt x="3507633" y="1736119"/>
                </a:lnTo>
                <a:lnTo>
                  <a:pt x="3490836" y="1746478"/>
                </a:lnTo>
                <a:lnTo>
                  <a:pt x="3476084" y="1752881"/>
                </a:lnTo>
                <a:lnTo>
                  <a:pt x="3450305" y="1757807"/>
                </a:lnTo>
                <a:lnTo>
                  <a:pt x="3344844" y="1865068"/>
                </a:lnTo>
                <a:lnTo>
                  <a:pt x="3305055" y="1917498"/>
                </a:lnTo>
                <a:lnTo>
                  <a:pt x="3268258" y="1995090"/>
                </a:lnTo>
                <a:lnTo>
                  <a:pt x="3233648" y="2036976"/>
                </a:lnTo>
                <a:lnTo>
                  <a:pt x="3181549" y="2127487"/>
                </a:lnTo>
                <a:lnTo>
                  <a:pt x="3135787" y="2197171"/>
                </a:lnTo>
                <a:lnTo>
                  <a:pt x="3092232" y="2260660"/>
                </a:lnTo>
                <a:lnTo>
                  <a:pt x="3018383" y="2347591"/>
                </a:lnTo>
                <a:lnTo>
                  <a:pt x="2986354" y="2372311"/>
                </a:lnTo>
                <a:lnTo>
                  <a:pt x="2965008" y="2383367"/>
                </a:lnTo>
                <a:lnTo>
                  <a:pt x="2907659" y="2433421"/>
                </a:lnTo>
                <a:lnTo>
                  <a:pt x="2826912" y="2514529"/>
                </a:lnTo>
                <a:lnTo>
                  <a:pt x="2765068" y="2586933"/>
                </a:lnTo>
                <a:lnTo>
                  <a:pt x="2674085" y="2668627"/>
                </a:lnTo>
                <a:lnTo>
                  <a:pt x="2622038" y="2704139"/>
                </a:lnTo>
                <a:lnTo>
                  <a:pt x="2543709" y="2774920"/>
                </a:lnTo>
                <a:lnTo>
                  <a:pt x="2522195" y="2785163"/>
                </a:lnTo>
                <a:lnTo>
                  <a:pt x="2434882" y="2850899"/>
                </a:lnTo>
                <a:lnTo>
                  <a:pt x="2372565" y="2890785"/>
                </a:lnTo>
                <a:lnTo>
                  <a:pt x="2272369" y="2936803"/>
                </a:lnTo>
                <a:lnTo>
                  <a:pt x="2232763" y="2949613"/>
                </a:lnTo>
                <a:lnTo>
                  <a:pt x="2138751" y="2936283"/>
                </a:lnTo>
                <a:lnTo>
                  <a:pt x="2099377" y="2942567"/>
                </a:lnTo>
                <a:lnTo>
                  <a:pt x="2066366" y="2971124"/>
                </a:lnTo>
                <a:lnTo>
                  <a:pt x="2063070" y="3012406"/>
                </a:lnTo>
                <a:lnTo>
                  <a:pt x="2049388" y="3018526"/>
                </a:lnTo>
                <a:lnTo>
                  <a:pt x="2028712" y="3016583"/>
                </a:lnTo>
                <a:lnTo>
                  <a:pt x="1963138" y="2999169"/>
                </a:lnTo>
                <a:lnTo>
                  <a:pt x="1927528" y="3002438"/>
                </a:lnTo>
                <a:lnTo>
                  <a:pt x="1906765" y="3024469"/>
                </a:lnTo>
                <a:lnTo>
                  <a:pt x="1890088" y="3052403"/>
                </a:lnTo>
                <a:lnTo>
                  <a:pt x="1840757" y="3053951"/>
                </a:lnTo>
                <a:lnTo>
                  <a:pt x="1752685" y="3025533"/>
                </a:lnTo>
                <a:lnTo>
                  <a:pt x="1649019" y="3008915"/>
                </a:lnTo>
                <a:lnTo>
                  <a:pt x="1625028" y="3007252"/>
                </a:lnTo>
                <a:lnTo>
                  <a:pt x="1575181" y="3029348"/>
                </a:lnTo>
                <a:lnTo>
                  <a:pt x="1557702" y="3032728"/>
                </a:lnTo>
                <a:lnTo>
                  <a:pt x="1484593" y="3029351"/>
                </a:lnTo>
                <a:lnTo>
                  <a:pt x="1443792" y="3016589"/>
                </a:lnTo>
                <a:lnTo>
                  <a:pt x="1405029" y="3017338"/>
                </a:lnTo>
                <a:lnTo>
                  <a:pt x="1375581" y="3029178"/>
                </a:lnTo>
                <a:lnTo>
                  <a:pt x="1339670" y="3033940"/>
                </a:lnTo>
                <a:lnTo>
                  <a:pt x="1244748" y="3114071"/>
                </a:lnTo>
                <a:lnTo>
                  <a:pt x="1194697" y="3115634"/>
                </a:lnTo>
                <a:lnTo>
                  <a:pt x="1151823" y="3125967"/>
                </a:lnTo>
                <a:lnTo>
                  <a:pt x="1130405" y="3126363"/>
                </a:lnTo>
                <a:lnTo>
                  <a:pt x="1089944" y="3116883"/>
                </a:lnTo>
                <a:lnTo>
                  <a:pt x="1075046" y="3118128"/>
                </a:lnTo>
                <a:lnTo>
                  <a:pt x="1052435" y="3123810"/>
                </a:lnTo>
                <a:lnTo>
                  <a:pt x="1030149" y="3138300"/>
                </a:lnTo>
                <a:lnTo>
                  <a:pt x="978466" y="3146201"/>
                </a:lnTo>
                <a:lnTo>
                  <a:pt x="958790" y="3158634"/>
                </a:lnTo>
                <a:lnTo>
                  <a:pt x="874461" y="3233142"/>
                </a:lnTo>
                <a:lnTo>
                  <a:pt x="854409" y="3231205"/>
                </a:lnTo>
                <a:lnTo>
                  <a:pt x="838078" y="3227314"/>
                </a:lnTo>
                <a:lnTo>
                  <a:pt x="792630" y="3228571"/>
                </a:lnTo>
                <a:lnTo>
                  <a:pt x="739203" y="3193329"/>
                </a:lnTo>
                <a:lnTo>
                  <a:pt x="719614" y="3196707"/>
                </a:lnTo>
                <a:lnTo>
                  <a:pt x="724285" y="3185139"/>
                </a:lnTo>
                <a:lnTo>
                  <a:pt x="724790" y="3165021"/>
                </a:lnTo>
                <a:lnTo>
                  <a:pt x="713141" y="3151417"/>
                </a:lnTo>
                <a:lnTo>
                  <a:pt x="705430" y="3145475"/>
                </a:lnTo>
                <a:lnTo>
                  <a:pt x="685257" y="3147682"/>
                </a:lnTo>
                <a:lnTo>
                  <a:pt x="673538" y="3131169"/>
                </a:lnTo>
                <a:lnTo>
                  <a:pt x="642449" y="3131176"/>
                </a:lnTo>
                <a:lnTo>
                  <a:pt x="631975" y="3136066"/>
                </a:lnTo>
                <a:lnTo>
                  <a:pt x="617143" y="3137743"/>
                </a:lnTo>
                <a:lnTo>
                  <a:pt x="614803" y="3120547"/>
                </a:lnTo>
                <a:lnTo>
                  <a:pt x="615345" y="3109603"/>
                </a:lnTo>
                <a:lnTo>
                  <a:pt x="613453" y="3092933"/>
                </a:lnTo>
                <a:lnTo>
                  <a:pt x="608515" y="3072622"/>
                </a:lnTo>
                <a:lnTo>
                  <a:pt x="596089" y="3066742"/>
                </a:lnTo>
                <a:lnTo>
                  <a:pt x="586685" y="3064505"/>
                </a:lnTo>
                <a:lnTo>
                  <a:pt x="564760" y="3067129"/>
                </a:lnTo>
                <a:lnTo>
                  <a:pt x="549739" y="3070181"/>
                </a:lnTo>
                <a:lnTo>
                  <a:pt x="542986" y="3076550"/>
                </a:lnTo>
                <a:lnTo>
                  <a:pt x="535782" y="3092038"/>
                </a:lnTo>
                <a:lnTo>
                  <a:pt x="538518" y="3137733"/>
                </a:lnTo>
                <a:lnTo>
                  <a:pt x="526832" y="3125261"/>
                </a:lnTo>
                <a:lnTo>
                  <a:pt x="512741" y="3098608"/>
                </a:lnTo>
                <a:lnTo>
                  <a:pt x="506935" y="3069645"/>
                </a:lnTo>
                <a:lnTo>
                  <a:pt x="509228" y="3034847"/>
                </a:lnTo>
                <a:lnTo>
                  <a:pt x="531976" y="3020383"/>
                </a:lnTo>
                <a:lnTo>
                  <a:pt x="528707" y="2997154"/>
                </a:lnTo>
                <a:lnTo>
                  <a:pt x="522458" y="2977202"/>
                </a:lnTo>
                <a:lnTo>
                  <a:pt x="492840" y="2926898"/>
                </a:lnTo>
                <a:lnTo>
                  <a:pt x="481028" y="2903795"/>
                </a:lnTo>
                <a:lnTo>
                  <a:pt x="457545" y="2889055"/>
                </a:lnTo>
                <a:lnTo>
                  <a:pt x="437580" y="2851396"/>
                </a:lnTo>
                <a:lnTo>
                  <a:pt x="419021" y="2838418"/>
                </a:lnTo>
                <a:lnTo>
                  <a:pt x="409914" y="2811788"/>
                </a:lnTo>
                <a:lnTo>
                  <a:pt x="391251" y="2791162"/>
                </a:lnTo>
                <a:lnTo>
                  <a:pt x="383149" y="2757257"/>
                </a:lnTo>
                <a:lnTo>
                  <a:pt x="391392" y="2736997"/>
                </a:lnTo>
                <a:lnTo>
                  <a:pt x="405777" y="2725361"/>
                </a:lnTo>
                <a:lnTo>
                  <a:pt x="422247" y="2741424"/>
                </a:lnTo>
                <a:lnTo>
                  <a:pt x="440903" y="2733636"/>
                </a:lnTo>
                <a:lnTo>
                  <a:pt x="466517" y="2707240"/>
                </a:lnTo>
                <a:lnTo>
                  <a:pt x="480283" y="2668683"/>
                </a:lnTo>
                <a:lnTo>
                  <a:pt x="477610" y="2608438"/>
                </a:lnTo>
                <a:lnTo>
                  <a:pt x="471173" y="2571082"/>
                </a:lnTo>
                <a:lnTo>
                  <a:pt x="443515" y="2475208"/>
                </a:lnTo>
                <a:lnTo>
                  <a:pt x="431858" y="2453493"/>
                </a:lnTo>
                <a:lnTo>
                  <a:pt x="378341" y="2386908"/>
                </a:lnTo>
                <a:lnTo>
                  <a:pt x="315146" y="2297348"/>
                </a:lnTo>
                <a:lnTo>
                  <a:pt x="232726" y="2155215"/>
                </a:lnTo>
                <a:lnTo>
                  <a:pt x="191840" y="2069318"/>
                </a:lnTo>
                <a:lnTo>
                  <a:pt x="126553" y="1894872"/>
                </a:lnTo>
                <a:lnTo>
                  <a:pt x="72533" y="1797388"/>
                </a:lnTo>
                <a:lnTo>
                  <a:pt x="7894" y="1707460"/>
                </a:lnTo>
                <a:lnTo>
                  <a:pt x="0" y="1701881"/>
                </a:lnTo>
                <a:lnTo>
                  <a:pt x="8068" y="1689808"/>
                </a:lnTo>
                <a:lnTo>
                  <a:pt x="37797" y="1665865"/>
                </a:lnTo>
                <a:lnTo>
                  <a:pt x="51623" y="1658998"/>
                </a:lnTo>
                <a:lnTo>
                  <a:pt x="59368" y="1661166"/>
                </a:lnTo>
                <a:lnTo>
                  <a:pt x="66317" y="1654687"/>
                </a:lnTo>
                <a:lnTo>
                  <a:pt x="72454" y="1639513"/>
                </a:lnTo>
                <a:lnTo>
                  <a:pt x="73095" y="1625624"/>
                </a:lnTo>
                <a:lnTo>
                  <a:pt x="75287" y="1605884"/>
                </a:lnTo>
                <a:lnTo>
                  <a:pt x="81499" y="1593745"/>
                </a:lnTo>
                <a:lnTo>
                  <a:pt x="87619" y="1569953"/>
                </a:lnTo>
                <a:lnTo>
                  <a:pt x="99719" y="1554159"/>
                </a:lnTo>
                <a:lnTo>
                  <a:pt x="126845" y="1542432"/>
                </a:lnTo>
                <a:lnTo>
                  <a:pt x="148749" y="1554118"/>
                </a:lnTo>
                <a:lnTo>
                  <a:pt x="158405" y="1566394"/>
                </a:lnTo>
                <a:lnTo>
                  <a:pt x="163138" y="1583107"/>
                </a:lnTo>
                <a:lnTo>
                  <a:pt x="172965" y="1590687"/>
                </a:lnTo>
                <a:lnTo>
                  <a:pt x="187867" y="1589144"/>
                </a:lnTo>
                <a:lnTo>
                  <a:pt x="199062" y="1598901"/>
                </a:lnTo>
                <a:lnTo>
                  <a:pt x="206519" y="1619930"/>
                </a:lnTo>
                <a:lnTo>
                  <a:pt x="206273" y="1635537"/>
                </a:lnTo>
                <a:lnTo>
                  <a:pt x="198397" y="1645719"/>
                </a:lnTo>
                <a:lnTo>
                  <a:pt x="200393" y="1658300"/>
                </a:lnTo>
                <a:lnTo>
                  <a:pt x="212207" y="1673334"/>
                </a:lnTo>
                <a:lnTo>
                  <a:pt x="217614" y="1687978"/>
                </a:lnTo>
                <a:lnTo>
                  <a:pt x="226106" y="1707214"/>
                </a:lnTo>
                <a:lnTo>
                  <a:pt x="264754" y="1716310"/>
                </a:lnTo>
                <a:lnTo>
                  <a:pt x="283685" y="1721628"/>
                </a:lnTo>
                <a:lnTo>
                  <a:pt x="315771" y="1721877"/>
                </a:lnTo>
                <a:lnTo>
                  <a:pt x="346491" y="1728859"/>
                </a:lnTo>
                <a:lnTo>
                  <a:pt x="375827" y="1742620"/>
                </a:lnTo>
                <a:lnTo>
                  <a:pt x="422745" y="1743662"/>
                </a:lnTo>
                <a:lnTo>
                  <a:pt x="487310" y="1732159"/>
                </a:lnTo>
                <a:lnTo>
                  <a:pt x="541028" y="1732870"/>
                </a:lnTo>
                <a:lnTo>
                  <a:pt x="583850" y="1745749"/>
                </a:lnTo>
                <a:lnTo>
                  <a:pt x="614437" y="1747004"/>
                </a:lnTo>
                <a:lnTo>
                  <a:pt x="632851" y="1736593"/>
                </a:lnTo>
                <a:lnTo>
                  <a:pt x="640370" y="1722463"/>
                </a:lnTo>
                <a:lnTo>
                  <a:pt x="636981" y="1704632"/>
                </a:lnTo>
                <a:lnTo>
                  <a:pt x="645814" y="1692820"/>
                </a:lnTo>
                <a:lnTo>
                  <a:pt x="666852" y="1686991"/>
                </a:lnTo>
                <a:lnTo>
                  <a:pt x="683256" y="1672686"/>
                </a:lnTo>
                <a:lnTo>
                  <a:pt x="695056" y="1649846"/>
                </a:lnTo>
                <a:lnTo>
                  <a:pt x="723913" y="1630422"/>
                </a:lnTo>
                <a:lnTo>
                  <a:pt x="769850" y="1614446"/>
                </a:lnTo>
                <a:lnTo>
                  <a:pt x="793029" y="1613935"/>
                </a:lnTo>
                <a:lnTo>
                  <a:pt x="791523" y="1577904"/>
                </a:lnTo>
                <a:lnTo>
                  <a:pt x="786804" y="1464172"/>
                </a:lnTo>
                <a:lnTo>
                  <a:pt x="782135" y="1350449"/>
                </a:lnTo>
                <a:lnTo>
                  <a:pt x="777519" y="1236763"/>
                </a:lnTo>
                <a:lnTo>
                  <a:pt x="772953" y="1123063"/>
                </a:lnTo>
                <a:lnTo>
                  <a:pt x="768438" y="1009378"/>
                </a:lnTo>
                <a:lnTo>
                  <a:pt x="763976" y="895733"/>
                </a:lnTo>
                <a:lnTo>
                  <a:pt x="759564" y="782080"/>
                </a:lnTo>
                <a:lnTo>
                  <a:pt x="755446" y="674783"/>
                </a:lnTo>
                <a:lnTo>
                  <a:pt x="766963" y="682059"/>
                </a:lnTo>
                <a:lnTo>
                  <a:pt x="842788" y="736091"/>
                </a:lnTo>
                <a:lnTo>
                  <a:pt x="863721" y="765280"/>
                </a:lnTo>
                <a:lnTo>
                  <a:pt x="874257" y="783874"/>
                </a:lnTo>
                <a:lnTo>
                  <a:pt x="908224" y="851684"/>
                </a:lnTo>
                <a:lnTo>
                  <a:pt x="933808" y="912681"/>
                </a:lnTo>
                <a:lnTo>
                  <a:pt x="954409" y="958632"/>
                </a:lnTo>
                <a:lnTo>
                  <a:pt x="956555" y="979895"/>
                </a:lnTo>
                <a:lnTo>
                  <a:pt x="959923" y="1000641"/>
                </a:lnTo>
                <a:lnTo>
                  <a:pt x="962940" y="1010781"/>
                </a:lnTo>
                <a:lnTo>
                  <a:pt x="961557" y="1022172"/>
                </a:lnTo>
                <a:lnTo>
                  <a:pt x="949036" y="1047994"/>
                </a:lnTo>
                <a:lnTo>
                  <a:pt x="936068" y="1067893"/>
                </a:lnTo>
                <a:lnTo>
                  <a:pt x="920626" y="1094985"/>
                </a:lnTo>
                <a:lnTo>
                  <a:pt x="920274" y="1130061"/>
                </a:lnTo>
                <a:lnTo>
                  <a:pt x="926642" y="1171119"/>
                </a:lnTo>
                <a:lnTo>
                  <a:pt x="937361" y="1191279"/>
                </a:lnTo>
                <a:lnTo>
                  <a:pt x="950146" y="1197572"/>
                </a:lnTo>
                <a:lnTo>
                  <a:pt x="979833" y="1186294"/>
                </a:lnTo>
                <a:lnTo>
                  <a:pt x="998961" y="1188796"/>
                </a:lnTo>
                <a:lnTo>
                  <a:pt x="1026043" y="1195747"/>
                </a:lnTo>
                <a:lnTo>
                  <a:pt x="1113898" y="1188181"/>
                </a:lnTo>
                <a:lnTo>
                  <a:pt x="1124602" y="1190392"/>
                </a:lnTo>
                <a:lnTo>
                  <a:pt x="1157898" y="1192395"/>
                </a:lnTo>
                <a:lnTo>
                  <a:pt x="1168910" y="1188694"/>
                </a:lnTo>
                <a:lnTo>
                  <a:pt x="1178621" y="1179711"/>
                </a:lnTo>
                <a:lnTo>
                  <a:pt x="1189495" y="1154665"/>
                </a:lnTo>
                <a:lnTo>
                  <a:pt x="1199600" y="1146280"/>
                </a:lnTo>
                <a:lnTo>
                  <a:pt x="1218172" y="1141604"/>
                </a:lnTo>
                <a:lnTo>
                  <a:pt x="1240145" y="1134383"/>
                </a:lnTo>
                <a:lnTo>
                  <a:pt x="1258184" y="1119707"/>
                </a:lnTo>
                <a:lnTo>
                  <a:pt x="1286209" y="1070124"/>
                </a:lnTo>
                <a:lnTo>
                  <a:pt x="1343655" y="1025442"/>
                </a:lnTo>
                <a:lnTo>
                  <a:pt x="1361377" y="1014692"/>
                </a:lnTo>
                <a:lnTo>
                  <a:pt x="1372462" y="1002785"/>
                </a:lnTo>
                <a:lnTo>
                  <a:pt x="1381995" y="986869"/>
                </a:lnTo>
                <a:lnTo>
                  <a:pt x="1401516" y="931823"/>
                </a:lnTo>
                <a:lnTo>
                  <a:pt x="1416250" y="885995"/>
                </a:lnTo>
                <a:lnTo>
                  <a:pt x="1421180" y="864439"/>
                </a:lnTo>
                <a:lnTo>
                  <a:pt x="1434482" y="829136"/>
                </a:lnTo>
                <a:lnTo>
                  <a:pt x="1450946" y="806467"/>
                </a:lnTo>
                <a:lnTo>
                  <a:pt x="1467211" y="794394"/>
                </a:lnTo>
                <a:lnTo>
                  <a:pt x="1475403" y="791243"/>
                </a:lnTo>
                <a:lnTo>
                  <a:pt x="1496514" y="784876"/>
                </a:lnTo>
                <a:lnTo>
                  <a:pt x="1523703" y="778838"/>
                </a:lnTo>
                <a:lnTo>
                  <a:pt x="1552435" y="784784"/>
                </a:lnTo>
                <a:lnTo>
                  <a:pt x="1583327" y="797944"/>
                </a:lnTo>
                <a:lnTo>
                  <a:pt x="1618235" y="820427"/>
                </a:lnTo>
                <a:lnTo>
                  <a:pt x="1653956" y="848335"/>
                </a:lnTo>
                <a:lnTo>
                  <a:pt x="1670390" y="862556"/>
                </a:lnTo>
                <a:lnTo>
                  <a:pt x="1688012" y="868840"/>
                </a:lnTo>
                <a:lnTo>
                  <a:pt x="1719314" y="870839"/>
                </a:lnTo>
                <a:lnTo>
                  <a:pt x="1739821" y="870197"/>
                </a:lnTo>
                <a:lnTo>
                  <a:pt x="1771863" y="898103"/>
                </a:lnTo>
                <a:lnTo>
                  <a:pt x="1787997" y="899791"/>
                </a:lnTo>
                <a:lnTo>
                  <a:pt x="1824076" y="908146"/>
                </a:lnTo>
                <a:lnTo>
                  <a:pt x="1868611" y="916778"/>
                </a:lnTo>
                <a:lnTo>
                  <a:pt x="1896637" y="915736"/>
                </a:lnTo>
                <a:lnTo>
                  <a:pt x="1926654" y="900522"/>
                </a:lnTo>
                <a:lnTo>
                  <a:pt x="1948319" y="899881"/>
                </a:lnTo>
                <a:lnTo>
                  <a:pt x="1976315" y="901139"/>
                </a:lnTo>
                <a:lnTo>
                  <a:pt x="2007082" y="897042"/>
                </a:lnTo>
                <a:lnTo>
                  <a:pt x="2029677" y="890602"/>
                </a:lnTo>
                <a:lnTo>
                  <a:pt x="2046991" y="877469"/>
                </a:lnTo>
                <a:lnTo>
                  <a:pt x="2062266" y="863089"/>
                </a:lnTo>
                <a:lnTo>
                  <a:pt x="2079966" y="820159"/>
                </a:lnTo>
                <a:lnTo>
                  <a:pt x="2090244" y="785583"/>
                </a:lnTo>
                <a:lnTo>
                  <a:pt x="2106122" y="745856"/>
                </a:lnTo>
                <a:lnTo>
                  <a:pt x="2125682" y="692021"/>
                </a:lnTo>
                <a:lnTo>
                  <a:pt x="2132789" y="654450"/>
                </a:lnTo>
                <a:lnTo>
                  <a:pt x="2139928" y="644149"/>
                </a:lnTo>
                <a:lnTo>
                  <a:pt x="2167980" y="632871"/>
                </a:lnTo>
                <a:lnTo>
                  <a:pt x="2191182" y="625167"/>
                </a:lnTo>
                <a:lnTo>
                  <a:pt x="2253570" y="611015"/>
                </a:lnTo>
                <a:lnTo>
                  <a:pt x="2266419" y="603281"/>
                </a:lnTo>
                <a:lnTo>
                  <a:pt x="2278267" y="585686"/>
                </a:lnTo>
                <a:lnTo>
                  <a:pt x="2305824" y="555951"/>
                </a:lnTo>
                <a:lnTo>
                  <a:pt x="2339731" y="531296"/>
                </a:lnTo>
                <a:lnTo>
                  <a:pt x="2357256" y="517158"/>
                </a:lnTo>
                <a:lnTo>
                  <a:pt x="2390827" y="395759"/>
                </a:lnTo>
                <a:lnTo>
                  <a:pt x="2394910" y="380786"/>
                </a:lnTo>
                <a:lnTo>
                  <a:pt x="2418612" y="348831"/>
                </a:lnTo>
                <a:lnTo>
                  <a:pt x="2433169" y="335413"/>
                </a:lnTo>
                <a:lnTo>
                  <a:pt x="2442408" y="335325"/>
                </a:lnTo>
                <a:lnTo>
                  <a:pt x="2455675" y="327033"/>
                </a:lnTo>
                <a:lnTo>
                  <a:pt x="2472984" y="310543"/>
                </a:lnTo>
                <a:lnTo>
                  <a:pt x="2493424" y="300557"/>
                </a:lnTo>
                <a:lnTo>
                  <a:pt x="2516987" y="297131"/>
                </a:lnTo>
                <a:lnTo>
                  <a:pt x="2532413" y="286273"/>
                </a:lnTo>
                <a:lnTo>
                  <a:pt x="2539727" y="268046"/>
                </a:lnTo>
                <a:lnTo>
                  <a:pt x="2551991" y="259377"/>
                </a:lnTo>
                <a:lnTo>
                  <a:pt x="2569223" y="260247"/>
                </a:lnTo>
                <a:lnTo>
                  <a:pt x="2579150" y="254630"/>
                </a:lnTo>
                <a:lnTo>
                  <a:pt x="2581820" y="242470"/>
                </a:lnTo>
                <a:lnTo>
                  <a:pt x="2592449" y="232260"/>
                </a:lnTo>
                <a:lnTo>
                  <a:pt x="2611066" y="223983"/>
                </a:lnTo>
                <a:lnTo>
                  <a:pt x="2620944" y="213915"/>
                </a:lnTo>
                <a:lnTo>
                  <a:pt x="2622075" y="202047"/>
                </a:lnTo>
                <a:lnTo>
                  <a:pt x="2644697" y="173663"/>
                </a:lnTo>
                <a:lnTo>
                  <a:pt x="2688940" y="128789"/>
                </a:lnTo>
                <a:lnTo>
                  <a:pt x="2730274" y="104272"/>
                </a:lnTo>
                <a:lnTo>
                  <a:pt x="2768667" y="100124"/>
                </a:lnTo>
                <a:lnTo>
                  <a:pt x="2805166" y="91605"/>
                </a:lnTo>
                <a:lnTo>
                  <a:pt x="2839831" y="78709"/>
                </a:lnTo>
                <a:lnTo>
                  <a:pt x="2865623" y="57616"/>
                </a:lnTo>
                <a:lnTo>
                  <a:pt x="2882563" y="28355"/>
                </a:lnTo>
                <a:lnTo>
                  <a:pt x="2910749" y="12638"/>
                </a:lnTo>
                <a:lnTo>
                  <a:pt x="2966835" y="9600"/>
                </a:lnTo>
                <a:close/>
              </a:path>
            </a:pathLst>
          </a:custGeom>
          <a:solidFill>
            <a:srgbClr val="F2F1ED"/>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Natural Earth 1:50m boundary: Namibia"/>
          <p:cNvSpPr/>
          <p:nvPr/>
        </p:nvSpPr>
        <p:spPr>
          <a:xfrm>
            <a:off x="1559449" y="2283120"/>
            <a:ext cx="1183416" cy="1789553"/>
          </a:xfrm>
          <a:custGeom>
            <a:avLst/>
            <a:gdLst/>
            <a:ahLst/>
            <a:cxnLst/>
            <a:rect l="l" t="t" r="r" b="b"/>
            <a:pathLst>
              <a:path w="1183416" h="1789553">
                <a:moveTo>
                  <a:pt x="1183416" y="0"/>
                </a:moveTo>
                <a:lnTo>
                  <a:pt x="1183408" y="50"/>
                </a:lnTo>
                <a:lnTo>
                  <a:pt x="1148059" y="1205"/>
                </a:lnTo>
                <a:lnTo>
                  <a:pt x="1068126" y="3970"/>
                </a:lnTo>
                <a:lnTo>
                  <a:pt x="1000871" y="6463"/>
                </a:lnTo>
                <a:lnTo>
                  <a:pt x="946521" y="8588"/>
                </a:lnTo>
                <a:lnTo>
                  <a:pt x="948786" y="70417"/>
                </a:lnTo>
                <a:lnTo>
                  <a:pt x="951473" y="143567"/>
                </a:lnTo>
                <a:lnTo>
                  <a:pt x="954181" y="216704"/>
                </a:lnTo>
                <a:lnTo>
                  <a:pt x="956910" y="289852"/>
                </a:lnTo>
                <a:lnTo>
                  <a:pt x="959683" y="363010"/>
                </a:lnTo>
                <a:lnTo>
                  <a:pt x="962477" y="436179"/>
                </a:lnTo>
                <a:lnTo>
                  <a:pt x="965269" y="509359"/>
                </a:lnTo>
                <a:lnTo>
                  <a:pt x="968082" y="582549"/>
                </a:lnTo>
                <a:lnTo>
                  <a:pt x="970918" y="655773"/>
                </a:lnTo>
                <a:lnTo>
                  <a:pt x="973087" y="710996"/>
                </a:lnTo>
                <a:lnTo>
                  <a:pt x="973329" y="717332"/>
                </a:lnTo>
                <a:lnTo>
                  <a:pt x="977447" y="824629"/>
                </a:lnTo>
                <a:lnTo>
                  <a:pt x="981859" y="938282"/>
                </a:lnTo>
                <a:lnTo>
                  <a:pt x="986321" y="1051927"/>
                </a:lnTo>
                <a:lnTo>
                  <a:pt x="990836" y="1165612"/>
                </a:lnTo>
                <a:lnTo>
                  <a:pt x="995402" y="1279312"/>
                </a:lnTo>
                <a:lnTo>
                  <a:pt x="1000018" y="1392998"/>
                </a:lnTo>
                <a:lnTo>
                  <a:pt x="1004687" y="1506721"/>
                </a:lnTo>
                <a:lnTo>
                  <a:pt x="1009406" y="1620453"/>
                </a:lnTo>
                <a:lnTo>
                  <a:pt x="1010912" y="1656484"/>
                </a:lnTo>
                <a:lnTo>
                  <a:pt x="987733" y="1656995"/>
                </a:lnTo>
                <a:lnTo>
                  <a:pt x="941796" y="1672971"/>
                </a:lnTo>
                <a:lnTo>
                  <a:pt x="912939" y="1692395"/>
                </a:lnTo>
                <a:lnTo>
                  <a:pt x="901139" y="1715235"/>
                </a:lnTo>
                <a:lnTo>
                  <a:pt x="884735" y="1729540"/>
                </a:lnTo>
                <a:lnTo>
                  <a:pt x="863697" y="1735369"/>
                </a:lnTo>
                <a:lnTo>
                  <a:pt x="854864" y="1747181"/>
                </a:lnTo>
                <a:lnTo>
                  <a:pt x="858253" y="1765012"/>
                </a:lnTo>
                <a:lnTo>
                  <a:pt x="850734" y="1779142"/>
                </a:lnTo>
                <a:lnTo>
                  <a:pt x="832320" y="1789553"/>
                </a:lnTo>
                <a:lnTo>
                  <a:pt x="801733" y="1788298"/>
                </a:lnTo>
                <a:lnTo>
                  <a:pt x="758911" y="1775419"/>
                </a:lnTo>
                <a:lnTo>
                  <a:pt x="705193" y="1774708"/>
                </a:lnTo>
                <a:lnTo>
                  <a:pt x="640628" y="1786211"/>
                </a:lnTo>
                <a:lnTo>
                  <a:pt x="593710" y="1785169"/>
                </a:lnTo>
                <a:lnTo>
                  <a:pt x="564374" y="1771408"/>
                </a:lnTo>
                <a:lnTo>
                  <a:pt x="533654" y="1764426"/>
                </a:lnTo>
                <a:lnTo>
                  <a:pt x="501568" y="1764177"/>
                </a:lnTo>
                <a:lnTo>
                  <a:pt x="482637" y="1758859"/>
                </a:lnTo>
                <a:lnTo>
                  <a:pt x="443989" y="1749763"/>
                </a:lnTo>
                <a:lnTo>
                  <a:pt x="435497" y="1730527"/>
                </a:lnTo>
                <a:lnTo>
                  <a:pt x="430090" y="1715883"/>
                </a:lnTo>
                <a:lnTo>
                  <a:pt x="418276" y="1700849"/>
                </a:lnTo>
                <a:lnTo>
                  <a:pt x="416280" y="1688268"/>
                </a:lnTo>
                <a:lnTo>
                  <a:pt x="424156" y="1678086"/>
                </a:lnTo>
                <a:lnTo>
                  <a:pt x="424402" y="1662479"/>
                </a:lnTo>
                <a:lnTo>
                  <a:pt x="416945" y="1641450"/>
                </a:lnTo>
                <a:lnTo>
                  <a:pt x="405750" y="1631693"/>
                </a:lnTo>
                <a:lnTo>
                  <a:pt x="390848" y="1633236"/>
                </a:lnTo>
                <a:lnTo>
                  <a:pt x="381021" y="1625656"/>
                </a:lnTo>
                <a:lnTo>
                  <a:pt x="376288" y="1608943"/>
                </a:lnTo>
                <a:lnTo>
                  <a:pt x="366632" y="1596667"/>
                </a:lnTo>
                <a:lnTo>
                  <a:pt x="344728" y="1584981"/>
                </a:lnTo>
                <a:lnTo>
                  <a:pt x="317602" y="1596708"/>
                </a:lnTo>
                <a:lnTo>
                  <a:pt x="305502" y="1612502"/>
                </a:lnTo>
                <a:lnTo>
                  <a:pt x="299382" y="1636294"/>
                </a:lnTo>
                <a:lnTo>
                  <a:pt x="293170" y="1648433"/>
                </a:lnTo>
                <a:lnTo>
                  <a:pt x="290978" y="1668173"/>
                </a:lnTo>
                <a:lnTo>
                  <a:pt x="290337" y="1682062"/>
                </a:lnTo>
                <a:lnTo>
                  <a:pt x="284200" y="1697236"/>
                </a:lnTo>
                <a:lnTo>
                  <a:pt x="277251" y="1703715"/>
                </a:lnTo>
                <a:lnTo>
                  <a:pt x="269506" y="1701547"/>
                </a:lnTo>
                <a:lnTo>
                  <a:pt x="255680" y="1708414"/>
                </a:lnTo>
                <a:lnTo>
                  <a:pt x="225951" y="1732357"/>
                </a:lnTo>
                <a:lnTo>
                  <a:pt x="217883" y="1744430"/>
                </a:lnTo>
                <a:lnTo>
                  <a:pt x="191115" y="1725546"/>
                </a:lnTo>
                <a:lnTo>
                  <a:pt x="111591" y="1653127"/>
                </a:lnTo>
                <a:lnTo>
                  <a:pt x="109892" y="1652007"/>
                </a:lnTo>
                <a:lnTo>
                  <a:pt x="0" y="61502"/>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Natural Earth 1:50m boundary: Mozambique"/>
          <p:cNvSpPr/>
          <p:nvPr/>
        </p:nvSpPr>
        <p:spPr>
          <a:xfrm>
            <a:off x="5199356" y="2310601"/>
            <a:ext cx="602150" cy="1254576"/>
          </a:xfrm>
          <a:custGeom>
            <a:avLst/>
            <a:gdLst/>
            <a:ahLst/>
            <a:cxnLst/>
            <a:rect l="l" t="t" r="r" b="b"/>
            <a:pathLst>
              <a:path w="602150" h="1254576">
                <a:moveTo>
                  <a:pt x="0" y="97216"/>
                </a:moveTo>
                <a:lnTo>
                  <a:pt x="34820" y="72590"/>
                </a:lnTo>
                <a:lnTo>
                  <a:pt x="70279" y="37270"/>
                </a:lnTo>
                <a:lnTo>
                  <a:pt x="107805" y="0"/>
                </a:lnTo>
                <a:lnTo>
                  <a:pt x="602150" y="30639"/>
                </a:lnTo>
                <a:lnTo>
                  <a:pt x="551179" y="817534"/>
                </a:lnTo>
                <a:lnTo>
                  <a:pt x="486819" y="840334"/>
                </a:lnTo>
                <a:lnTo>
                  <a:pt x="443328" y="855816"/>
                </a:lnTo>
                <a:lnTo>
                  <a:pt x="350248" y="908459"/>
                </a:lnTo>
                <a:lnTo>
                  <a:pt x="308806" y="945252"/>
                </a:lnTo>
                <a:lnTo>
                  <a:pt x="290010" y="989339"/>
                </a:lnTo>
                <a:lnTo>
                  <a:pt x="273391" y="1009025"/>
                </a:lnTo>
                <a:lnTo>
                  <a:pt x="256757" y="1034229"/>
                </a:lnTo>
                <a:lnTo>
                  <a:pt x="268537" y="1057514"/>
                </a:lnTo>
                <a:lnTo>
                  <a:pt x="280401" y="1075326"/>
                </a:lnTo>
                <a:lnTo>
                  <a:pt x="294903" y="1087677"/>
                </a:lnTo>
                <a:lnTo>
                  <a:pt x="302176" y="1097992"/>
                </a:lnTo>
                <a:lnTo>
                  <a:pt x="312073" y="1105473"/>
                </a:lnTo>
                <a:lnTo>
                  <a:pt x="324657" y="1070837"/>
                </a:lnTo>
                <a:lnTo>
                  <a:pt x="330483" y="1060193"/>
                </a:lnTo>
                <a:lnTo>
                  <a:pt x="339386" y="1059925"/>
                </a:lnTo>
                <a:lnTo>
                  <a:pt x="331791" y="1102726"/>
                </a:lnTo>
                <a:lnTo>
                  <a:pt x="312305" y="1249805"/>
                </a:lnTo>
                <a:lnTo>
                  <a:pt x="311309" y="1254576"/>
                </a:lnTo>
                <a:lnTo>
                  <a:pt x="286248" y="1253371"/>
                </a:lnTo>
                <a:lnTo>
                  <a:pt x="243262" y="1251855"/>
                </a:lnTo>
                <a:lnTo>
                  <a:pt x="217845" y="1250965"/>
                </a:lnTo>
                <a:lnTo>
                  <a:pt x="189408" y="1250014"/>
                </a:lnTo>
                <a:lnTo>
                  <a:pt x="154644" y="1240700"/>
                </a:lnTo>
                <a:lnTo>
                  <a:pt x="134728" y="1241044"/>
                </a:lnTo>
                <a:lnTo>
                  <a:pt x="137777" y="1159309"/>
                </a:lnTo>
                <a:lnTo>
                  <a:pt x="132360" y="1140987"/>
                </a:lnTo>
                <a:lnTo>
                  <a:pt x="127037" y="1114360"/>
                </a:lnTo>
                <a:lnTo>
                  <a:pt x="126383" y="1097421"/>
                </a:lnTo>
                <a:lnTo>
                  <a:pt x="131591" y="1080749"/>
                </a:lnTo>
                <a:lnTo>
                  <a:pt x="135128" y="1054066"/>
                </a:lnTo>
                <a:lnTo>
                  <a:pt x="134520" y="1030497"/>
                </a:lnTo>
                <a:lnTo>
                  <a:pt x="113953" y="1017491"/>
                </a:lnTo>
                <a:lnTo>
                  <a:pt x="109498" y="1013481"/>
                </a:lnTo>
                <a:lnTo>
                  <a:pt x="105909" y="994752"/>
                </a:lnTo>
                <a:lnTo>
                  <a:pt x="105603" y="966175"/>
                </a:lnTo>
                <a:lnTo>
                  <a:pt x="122411" y="930743"/>
                </a:lnTo>
                <a:lnTo>
                  <a:pt x="124981" y="861061"/>
                </a:lnTo>
                <a:lnTo>
                  <a:pt x="128067" y="836637"/>
                </a:lnTo>
                <a:lnTo>
                  <a:pt x="130374" y="788170"/>
                </a:lnTo>
                <a:lnTo>
                  <a:pt x="133190" y="729453"/>
                </a:lnTo>
                <a:lnTo>
                  <a:pt x="135706" y="676880"/>
                </a:lnTo>
                <a:lnTo>
                  <a:pt x="138717" y="631545"/>
                </a:lnTo>
                <a:lnTo>
                  <a:pt x="135355" y="609790"/>
                </a:lnTo>
                <a:lnTo>
                  <a:pt x="132231" y="597781"/>
                </a:lnTo>
                <a:lnTo>
                  <a:pt x="123527" y="573203"/>
                </a:lnTo>
                <a:lnTo>
                  <a:pt x="114469" y="522502"/>
                </a:lnTo>
                <a:lnTo>
                  <a:pt x="102634" y="483936"/>
                </a:lnTo>
                <a:lnTo>
                  <a:pt x="86150" y="458029"/>
                </a:lnTo>
                <a:lnTo>
                  <a:pt x="81162" y="444582"/>
                </a:lnTo>
                <a:lnTo>
                  <a:pt x="76296" y="426694"/>
                </a:lnTo>
                <a:lnTo>
                  <a:pt x="61007" y="394825"/>
                </a:lnTo>
                <a:lnTo>
                  <a:pt x="48115" y="376069"/>
                </a:lnTo>
                <a:lnTo>
                  <a:pt x="45060" y="361436"/>
                </a:lnTo>
                <a:lnTo>
                  <a:pt x="47328" y="324117"/>
                </a:lnTo>
                <a:lnTo>
                  <a:pt x="35153" y="256236"/>
                </a:lnTo>
                <a:lnTo>
                  <a:pt x="26234" y="206755"/>
                </a:lnTo>
                <a:lnTo>
                  <a:pt x="11785" y="152933"/>
                </a:lnTo>
                <a:lnTo>
                  <a:pt x="2043" y="116898"/>
                </a:lnTo>
                <a:lnTo>
                  <a:pt x="649" y="110709"/>
                </a:lnTo>
                <a:lnTo>
                  <a:pt x="0" y="97216"/>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Natural Earth 1:50m boundary: Lesotho"/>
          <p:cNvSpPr/>
          <p:nvPr/>
        </p:nvSpPr>
        <p:spPr>
          <a:xfrm>
            <a:off x="4162536" y="3961551"/>
            <a:ext cx="525916" cy="523154"/>
          </a:xfrm>
          <a:custGeom>
            <a:avLst/>
            <a:gdLst/>
            <a:ahLst/>
            <a:cxnLst/>
            <a:rect l="l" t="t" r="r" b="b"/>
            <a:pathLst>
              <a:path w="525916" h="523154">
                <a:moveTo>
                  <a:pt x="372627" y="389545"/>
                </a:moveTo>
                <a:lnTo>
                  <a:pt x="352419" y="395211"/>
                </a:lnTo>
                <a:lnTo>
                  <a:pt x="349625" y="395675"/>
                </a:lnTo>
                <a:lnTo>
                  <a:pt x="336847" y="393833"/>
                </a:lnTo>
                <a:lnTo>
                  <a:pt x="319681" y="394817"/>
                </a:lnTo>
                <a:lnTo>
                  <a:pt x="306125" y="397891"/>
                </a:lnTo>
                <a:lnTo>
                  <a:pt x="295651" y="398887"/>
                </a:lnTo>
                <a:lnTo>
                  <a:pt x="278098" y="416534"/>
                </a:lnTo>
                <a:lnTo>
                  <a:pt x="245826" y="464634"/>
                </a:lnTo>
                <a:lnTo>
                  <a:pt x="237323" y="474653"/>
                </a:lnTo>
                <a:lnTo>
                  <a:pt x="234503" y="493824"/>
                </a:lnTo>
                <a:lnTo>
                  <a:pt x="226936" y="508845"/>
                </a:lnTo>
                <a:lnTo>
                  <a:pt x="217868" y="520504"/>
                </a:lnTo>
                <a:lnTo>
                  <a:pt x="209241" y="523154"/>
                </a:lnTo>
                <a:lnTo>
                  <a:pt x="183647" y="517784"/>
                </a:lnTo>
                <a:lnTo>
                  <a:pt x="150903" y="510897"/>
                </a:lnTo>
                <a:lnTo>
                  <a:pt x="132109" y="495693"/>
                </a:lnTo>
                <a:lnTo>
                  <a:pt x="115515" y="475904"/>
                </a:lnTo>
                <a:lnTo>
                  <a:pt x="106830" y="461595"/>
                </a:lnTo>
                <a:lnTo>
                  <a:pt x="97584" y="453650"/>
                </a:lnTo>
                <a:lnTo>
                  <a:pt x="94452" y="449235"/>
                </a:lnTo>
                <a:lnTo>
                  <a:pt x="81164" y="442435"/>
                </a:lnTo>
                <a:lnTo>
                  <a:pt x="76166" y="438958"/>
                </a:lnTo>
                <a:lnTo>
                  <a:pt x="71753" y="436469"/>
                </a:lnTo>
                <a:lnTo>
                  <a:pt x="66530" y="426968"/>
                </a:lnTo>
                <a:lnTo>
                  <a:pt x="63510" y="418762"/>
                </a:lnTo>
                <a:lnTo>
                  <a:pt x="65232" y="396083"/>
                </a:lnTo>
                <a:lnTo>
                  <a:pt x="56020" y="382357"/>
                </a:lnTo>
                <a:lnTo>
                  <a:pt x="40249" y="358940"/>
                </a:lnTo>
                <a:lnTo>
                  <a:pt x="30328" y="339814"/>
                </a:lnTo>
                <a:lnTo>
                  <a:pt x="16753" y="313705"/>
                </a:lnTo>
                <a:lnTo>
                  <a:pt x="8530" y="291422"/>
                </a:lnTo>
                <a:lnTo>
                  <a:pt x="0" y="268336"/>
                </a:lnTo>
                <a:lnTo>
                  <a:pt x="1330" y="258516"/>
                </a:lnTo>
                <a:lnTo>
                  <a:pt x="10003" y="251947"/>
                </a:lnTo>
                <a:lnTo>
                  <a:pt x="35295" y="240865"/>
                </a:lnTo>
                <a:lnTo>
                  <a:pt x="54944" y="232319"/>
                </a:lnTo>
                <a:lnTo>
                  <a:pt x="69208" y="216209"/>
                </a:lnTo>
                <a:lnTo>
                  <a:pt x="84942" y="192165"/>
                </a:lnTo>
                <a:lnTo>
                  <a:pt x="92663" y="177657"/>
                </a:lnTo>
                <a:lnTo>
                  <a:pt x="100202" y="171119"/>
                </a:lnTo>
                <a:lnTo>
                  <a:pt x="108523" y="160950"/>
                </a:lnTo>
                <a:lnTo>
                  <a:pt x="123173" y="138329"/>
                </a:lnTo>
                <a:lnTo>
                  <a:pt x="139504" y="113228"/>
                </a:lnTo>
                <a:lnTo>
                  <a:pt x="157005" y="86265"/>
                </a:lnTo>
                <a:lnTo>
                  <a:pt x="178515" y="78848"/>
                </a:lnTo>
                <a:lnTo>
                  <a:pt x="207867" y="70417"/>
                </a:lnTo>
                <a:lnTo>
                  <a:pt x="236499" y="47255"/>
                </a:lnTo>
                <a:lnTo>
                  <a:pt x="270424" y="28013"/>
                </a:lnTo>
                <a:lnTo>
                  <a:pt x="324969" y="7681"/>
                </a:lnTo>
                <a:lnTo>
                  <a:pt x="350282" y="2882"/>
                </a:lnTo>
                <a:lnTo>
                  <a:pt x="359936" y="0"/>
                </a:lnTo>
                <a:lnTo>
                  <a:pt x="365867" y="4306"/>
                </a:lnTo>
                <a:lnTo>
                  <a:pt x="371912" y="17015"/>
                </a:lnTo>
                <a:lnTo>
                  <a:pt x="380742" y="27763"/>
                </a:lnTo>
                <a:lnTo>
                  <a:pt x="401435" y="46642"/>
                </a:lnTo>
                <a:lnTo>
                  <a:pt x="410307" y="51328"/>
                </a:lnTo>
                <a:lnTo>
                  <a:pt x="431349" y="78994"/>
                </a:lnTo>
                <a:lnTo>
                  <a:pt x="454169" y="98265"/>
                </a:lnTo>
                <a:lnTo>
                  <a:pt x="480385" y="120477"/>
                </a:lnTo>
                <a:lnTo>
                  <a:pt x="498354" y="131718"/>
                </a:lnTo>
                <a:lnTo>
                  <a:pt x="507581" y="135002"/>
                </a:lnTo>
                <a:lnTo>
                  <a:pt x="514644" y="154164"/>
                </a:lnTo>
                <a:lnTo>
                  <a:pt x="521963" y="168462"/>
                </a:lnTo>
                <a:lnTo>
                  <a:pt x="525916" y="181738"/>
                </a:lnTo>
                <a:lnTo>
                  <a:pt x="524542" y="194491"/>
                </a:lnTo>
                <a:lnTo>
                  <a:pt x="514901" y="225444"/>
                </a:lnTo>
                <a:lnTo>
                  <a:pt x="501369" y="256934"/>
                </a:lnTo>
                <a:lnTo>
                  <a:pt x="490983" y="269862"/>
                </a:lnTo>
                <a:lnTo>
                  <a:pt x="478604" y="277821"/>
                </a:lnTo>
                <a:lnTo>
                  <a:pt x="466344" y="290016"/>
                </a:lnTo>
                <a:lnTo>
                  <a:pt x="460926" y="315482"/>
                </a:lnTo>
                <a:lnTo>
                  <a:pt x="454530" y="345440"/>
                </a:lnTo>
                <a:lnTo>
                  <a:pt x="438729" y="357322"/>
                </a:lnTo>
                <a:lnTo>
                  <a:pt x="426500" y="365058"/>
                </a:lnTo>
                <a:lnTo>
                  <a:pt x="409654" y="374496"/>
                </a:lnTo>
                <a:lnTo>
                  <a:pt x="372627" y="389545"/>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Natural Earth 1:50m boundary: Botswana"/>
          <p:cNvSpPr/>
          <p:nvPr/>
        </p:nvSpPr>
        <p:spPr>
          <a:xfrm>
            <a:off x="2505970" y="2283120"/>
            <a:ext cx="2238197" cy="1240121"/>
          </a:xfrm>
          <a:custGeom>
            <a:avLst/>
            <a:gdLst/>
            <a:ahLst/>
            <a:cxnLst/>
            <a:rect l="l" t="t" r="r" b="b"/>
            <a:pathLst>
              <a:path w="2238197" h="1240121">
                <a:moveTo>
                  <a:pt x="2160588" y="30"/>
                </a:moveTo>
                <a:lnTo>
                  <a:pt x="2162701" y="4785"/>
                </a:lnTo>
                <a:lnTo>
                  <a:pt x="2169426" y="12433"/>
                </a:lnTo>
                <a:lnTo>
                  <a:pt x="2177718" y="17366"/>
                </a:lnTo>
                <a:lnTo>
                  <a:pt x="2208684" y="21911"/>
                </a:lnTo>
                <a:lnTo>
                  <a:pt x="2226668" y="42498"/>
                </a:lnTo>
                <a:lnTo>
                  <a:pt x="2238197" y="52149"/>
                </a:lnTo>
                <a:lnTo>
                  <a:pt x="2182111" y="55187"/>
                </a:lnTo>
                <a:lnTo>
                  <a:pt x="2153925" y="70904"/>
                </a:lnTo>
                <a:lnTo>
                  <a:pt x="2136985" y="100165"/>
                </a:lnTo>
                <a:lnTo>
                  <a:pt x="2111193" y="121258"/>
                </a:lnTo>
                <a:lnTo>
                  <a:pt x="2076528" y="134154"/>
                </a:lnTo>
                <a:lnTo>
                  <a:pt x="2040029" y="142673"/>
                </a:lnTo>
                <a:lnTo>
                  <a:pt x="2001636" y="146821"/>
                </a:lnTo>
                <a:lnTo>
                  <a:pt x="1960302" y="171338"/>
                </a:lnTo>
                <a:lnTo>
                  <a:pt x="1916059" y="216212"/>
                </a:lnTo>
                <a:lnTo>
                  <a:pt x="1893437" y="244596"/>
                </a:lnTo>
                <a:lnTo>
                  <a:pt x="1892306" y="256464"/>
                </a:lnTo>
                <a:lnTo>
                  <a:pt x="1882428" y="266532"/>
                </a:lnTo>
                <a:lnTo>
                  <a:pt x="1863811" y="274809"/>
                </a:lnTo>
                <a:lnTo>
                  <a:pt x="1853182" y="285019"/>
                </a:lnTo>
                <a:lnTo>
                  <a:pt x="1850512" y="297179"/>
                </a:lnTo>
                <a:lnTo>
                  <a:pt x="1840585" y="302796"/>
                </a:lnTo>
                <a:lnTo>
                  <a:pt x="1823353" y="301926"/>
                </a:lnTo>
                <a:lnTo>
                  <a:pt x="1811089" y="310595"/>
                </a:lnTo>
                <a:lnTo>
                  <a:pt x="1803775" y="328822"/>
                </a:lnTo>
                <a:lnTo>
                  <a:pt x="1788349" y="339680"/>
                </a:lnTo>
                <a:lnTo>
                  <a:pt x="1764786" y="343106"/>
                </a:lnTo>
                <a:lnTo>
                  <a:pt x="1744346" y="353092"/>
                </a:lnTo>
                <a:lnTo>
                  <a:pt x="1727037" y="369582"/>
                </a:lnTo>
                <a:lnTo>
                  <a:pt x="1713770" y="377874"/>
                </a:lnTo>
                <a:lnTo>
                  <a:pt x="1704531" y="377962"/>
                </a:lnTo>
                <a:lnTo>
                  <a:pt x="1689974" y="391380"/>
                </a:lnTo>
                <a:lnTo>
                  <a:pt x="1666272" y="423335"/>
                </a:lnTo>
                <a:lnTo>
                  <a:pt x="1662189" y="438308"/>
                </a:lnTo>
                <a:lnTo>
                  <a:pt x="1628618" y="559707"/>
                </a:lnTo>
                <a:lnTo>
                  <a:pt x="1611093" y="573845"/>
                </a:lnTo>
                <a:lnTo>
                  <a:pt x="1577186" y="598500"/>
                </a:lnTo>
                <a:lnTo>
                  <a:pt x="1549629" y="628235"/>
                </a:lnTo>
                <a:lnTo>
                  <a:pt x="1537781" y="645830"/>
                </a:lnTo>
                <a:lnTo>
                  <a:pt x="1524932" y="653564"/>
                </a:lnTo>
                <a:lnTo>
                  <a:pt x="1462544" y="667716"/>
                </a:lnTo>
                <a:lnTo>
                  <a:pt x="1439342" y="675420"/>
                </a:lnTo>
                <a:lnTo>
                  <a:pt x="1411290" y="686698"/>
                </a:lnTo>
                <a:lnTo>
                  <a:pt x="1404151" y="696999"/>
                </a:lnTo>
                <a:lnTo>
                  <a:pt x="1397044" y="734570"/>
                </a:lnTo>
                <a:lnTo>
                  <a:pt x="1377484" y="788405"/>
                </a:lnTo>
                <a:lnTo>
                  <a:pt x="1361606" y="828132"/>
                </a:lnTo>
                <a:lnTo>
                  <a:pt x="1351328" y="862708"/>
                </a:lnTo>
                <a:lnTo>
                  <a:pt x="1333628" y="905638"/>
                </a:lnTo>
                <a:lnTo>
                  <a:pt x="1318353" y="920018"/>
                </a:lnTo>
                <a:lnTo>
                  <a:pt x="1301039" y="933151"/>
                </a:lnTo>
                <a:lnTo>
                  <a:pt x="1278444" y="939591"/>
                </a:lnTo>
                <a:lnTo>
                  <a:pt x="1247677" y="943688"/>
                </a:lnTo>
                <a:lnTo>
                  <a:pt x="1219681" y="942430"/>
                </a:lnTo>
                <a:lnTo>
                  <a:pt x="1198016" y="943071"/>
                </a:lnTo>
                <a:lnTo>
                  <a:pt x="1167999" y="958285"/>
                </a:lnTo>
                <a:lnTo>
                  <a:pt x="1139973" y="959327"/>
                </a:lnTo>
                <a:lnTo>
                  <a:pt x="1095438" y="950695"/>
                </a:lnTo>
                <a:lnTo>
                  <a:pt x="1059359" y="942340"/>
                </a:lnTo>
                <a:lnTo>
                  <a:pt x="1043225" y="940652"/>
                </a:lnTo>
                <a:lnTo>
                  <a:pt x="1011183" y="912746"/>
                </a:lnTo>
                <a:lnTo>
                  <a:pt x="990676" y="913388"/>
                </a:lnTo>
                <a:lnTo>
                  <a:pt x="959374" y="911389"/>
                </a:lnTo>
                <a:lnTo>
                  <a:pt x="941752" y="905105"/>
                </a:lnTo>
                <a:lnTo>
                  <a:pt x="925318" y="890884"/>
                </a:lnTo>
                <a:lnTo>
                  <a:pt x="889597" y="862976"/>
                </a:lnTo>
                <a:lnTo>
                  <a:pt x="854689" y="840493"/>
                </a:lnTo>
                <a:lnTo>
                  <a:pt x="823797" y="827333"/>
                </a:lnTo>
                <a:lnTo>
                  <a:pt x="795065" y="821387"/>
                </a:lnTo>
                <a:lnTo>
                  <a:pt x="767876" y="827425"/>
                </a:lnTo>
                <a:lnTo>
                  <a:pt x="746765" y="833792"/>
                </a:lnTo>
                <a:lnTo>
                  <a:pt x="738573" y="836943"/>
                </a:lnTo>
                <a:lnTo>
                  <a:pt x="722308" y="849016"/>
                </a:lnTo>
                <a:lnTo>
                  <a:pt x="705844" y="871685"/>
                </a:lnTo>
                <a:lnTo>
                  <a:pt x="692542" y="906988"/>
                </a:lnTo>
                <a:lnTo>
                  <a:pt x="687612" y="928544"/>
                </a:lnTo>
                <a:lnTo>
                  <a:pt x="672878" y="974372"/>
                </a:lnTo>
                <a:lnTo>
                  <a:pt x="653357" y="1029418"/>
                </a:lnTo>
                <a:lnTo>
                  <a:pt x="643824" y="1045334"/>
                </a:lnTo>
                <a:lnTo>
                  <a:pt x="632739" y="1057241"/>
                </a:lnTo>
                <a:lnTo>
                  <a:pt x="615017" y="1067991"/>
                </a:lnTo>
                <a:lnTo>
                  <a:pt x="557571" y="1112673"/>
                </a:lnTo>
                <a:lnTo>
                  <a:pt x="529546" y="1162256"/>
                </a:lnTo>
                <a:lnTo>
                  <a:pt x="511507" y="1176932"/>
                </a:lnTo>
                <a:lnTo>
                  <a:pt x="489534" y="1184153"/>
                </a:lnTo>
                <a:lnTo>
                  <a:pt x="470962" y="1188829"/>
                </a:lnTo>
                <a:lnTo>
                  <a:pt x="460857" y="1197214"/>
                </a:lnTo>
                <a:lnTo>
                  <a:pt x="449983" y="1222260"/>
                </a:lnTo>
                <a:lnTo>
                  <a:pt x="440272" y="1231243"/>
                </a:lnTo>
                <a:lnTo>
                  <a:pt x="429260" y="1234944"/>
                </a:lnTo>
                <a:lnTo>
                  <a:pt x="395964" y="1232941"/>
                </a:lnTo>
                <a:lnTo>
                  <a:pt x="385260" y="1230730"/>
                </a:lnTo>
                <a:lnTo>
                  <a:pt x="297405" y="1238296"/>
                </a:lnTo>
                <a:lnTo>
                  <a:pt x="270323" y="1231345"/>
                </a:lnTo>
                <a:lnTo>
                  <a:pt x="251195" y="1228843"/>
                </a:lnTo>
                <a:lnTo>
                  <a:pt x="221508" y="1240121"/>
                </a:lnTo>
                <a:lnTo>
                  <a:pt x="208723" y="1233828"/>
                </a:lnTo>
                <a:lnTo>
                  <a:pt x="198004" y="1213668"/>
                </a:lnTo>
                <a:lnTo>
                  <a:pt x="191636" y="1172610"/>
                </a:lnTo>
                <a:lnTo>
                  <a:pt x="191988" y="1137534"/>
                </a:lnTo>
                <a:lnTo>
                  <a:pt x="207430" y="1110442"/>
                </a:lnTo>
                <a:lnTo>
                  <a:pt x="220398" y="1090543"/>
                </a:lnTo>
                <a:lnTo>
                  <a:pt x="232919" y="1064721"/>
                </a:lnTo>
                <a:lnTo>
                  <a:pt x="234302" y="1053330"/>
                </a:lnTo>
                <a:lnTo>
                  <a:pt x="231285" y="1043190"/>
                </a:lnTo>
                <a:lnTo>
                  <a:pt x="227917" y="1022444"/>
                </a:lnTo>
                <a:lnTo>
                  <a:pt x="225771" y="1001181"/>
                </a:lnTo>
                <a:lnTo>
                  <a:pt x="205170" y="955230"/>
                </a:lnTo>
                <a:lnTo>
                  <a:pt x="179586" y="894233"/>
                </a:lnTo>
                <a:lnTo>
                  <a:pt x="145619" y="826423"/>
                </a:lnTo>
                <a:lnTo>
                  <a:pt x="135083" y="807829"/>
                </a:lnTo>
                <a:lnTo>
                  <a:pt x="114150" y="778640"/>
                </a:lnTo>
                <a:lnTo>
                  <a:pt x="38325" y="724608"/>
                </a:lnTo>
                <a:lnTo>
                  <a:pt x="26808" y="717332"/>
                </a:lnTo>
                <a:lnTo>
                  <a:pt x="26566" y="710996"/>
                </a:lnTo>
                <a:lnTo>
                  <a:pt x="24397" y="655773"/>
                </a:lnTo>
                <a:lnTo>
                  <a:pt x="21561" y="582549"/>
                </a:lnTo>
                <a:lnTo>
                  <a:pt x="18748" y="509359"/>
                </a:lnTo>
                <a:lnTo>
                  <a:pt x="15956" y="436179"/>
                </a:lnTo>
                <a:lnTo>
                  <a:pt x="13162" y="363010"/>
                </a:lnTo>
                <a:lnTo>
                  <a:pt x="10389" y="289852"/>
                </a:lnTo>
                <a:lnTo>
                  <a:pt x="7660" y="216704"/>
                </a:lnTo>
                <a:lnTo>
                  <a:pt x="4952" y="143567"/>
                </a:lnTo>
                <a:lnTo>
                  <a:pt x="2265" y="70417"/>
                </a:lnTo>
                <a:lnTo>
                  <a:pt x="0" y="8588"/>
                </a:lnTo>
                <a:lnTo>
                  <a:pt x="54350" y="6463"/>
                </a:lnTo>
                <a:lnTo>
                  <a:pt x="121605" y="3970"/>
                </a:lnTo>
                <a:lnTo>
                  <a:pt x="201538" y="1205"/>
                </a:lnTo>
                <a:lnTo>
                  <a:pt x="236887" y="50"/>
                </a:lnTo>
                <a:lnTo>
                  <a:pt x="236895" y="0"/>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3" name="Connector 22"/>
          <p:cNvCxnSpPr/>
          <p:nvPr/>
        </p:nvCxnSpPr>
        <p:spPr>
          <a:xfrm flipH="1" flipV="1">
            <a:off x="2647004" y="5549869"/>
            <a:ext cx="3076" cy="6388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H="1" flipV="1">
            <a:off x="2643945" y="5485981"/>
            <a:ext cx="3059" cy="638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H="1" flipV="1">
            <a:off x="2640901" y="5422089"/>
            <a:ext cx="3044" cy="638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flipV="1">
            <a:off x="2637873" y="5358191"/>
            <a:ext cx="3028" cy="638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H="1" flipV="1">
            <a:off x="2634861" y="5294290"/>
            <a:ext cx="3012" cy="6390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H="1" flipV="1">
            <a:off x="2631865" y="5230384"/>
            <a:ext cx="2996" cy="6390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H="1" flipV="1">
            <a:off x="2628885" y="5166475"/>
            <a:ext cx="2980" cy="639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H="1" flipV="1">
            <a:off x="2625920" y="5102562"/>
            <a:ext cx="2965" cy="639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H="1" flipV="1">
            <a:off x="2622972" y="5038646"/>
            <a:ext cx="2948" cy="639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H="1" flipV="1">
            <a:off x="2620039" y="4974727"/>
            <a:ext cx="2933" cy="63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H="1" flipV="1">
            <a:off x="2617123" y="4910806"/>
            <a:ext cx="2916" cy="639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H="1" flipV="1">
            <a:off x="2614222" y="4846882"/>
            <a:ext cx="2901" cy="639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H="1" flipV="1">
            <a:off x="2611337" y="4782957"/>
            <a:ext cx="2885"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H="1" flipV="1">
            <a:off x="2608468" y="4719029"/>
            <a:ext cx="286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H="1" flipV="1">
            <a:off x="2605615" y="4655101"/>
            <a:ext cx="2853"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H="1" flipV="1">
            <a:off x="2602778" y="4591171"/>
            <a:ext cx="2837"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H="1" flipV="1">
            <a:off x="2599957" y="4527241"/>
            <a:ext cx="282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H="1" flipV="1">
            <a:off x="2597152" y="4463309"/>
            <a:ext cx="2805" cy="639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H="1" flipV="1">
            <a:off x="2594363" y="4399378"/>
            <a:ext cx="2789"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H="1" flipV="1">
            <a:off x="2591590" y="4335447"/>
            <a:ext cx="2773"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H="1" flipV="1">
            <a:off x="2588833" y="4271516"/>
            <a:ext cx="2757"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H="1" flipV="1">
            <a:off x="2586092" y="4207586"/>
            <a:ext cx="274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H="1" flipV="1">
            <a:off x="2583367" y="4143657"/>
            <a:ext cx="2725" cy="639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H="1" flipV="1">
            <a:off x="2580658" y="4079729"/>
            <a:ext cx="270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H="1" flipV="1">
            <a:off x="2577965" y="4015803"/>
            <a:ext cx="2693" cy="6392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H="1" flipV="1">
            <a:off x="2575288" y="3951878"/>
            <a:ext cx="2677"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H="1" flipV="1">
            <a:off x="2572628" y="3887956"/>
            <a:ext cx="2660" cy="639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H="1" flipV="1">
            <a:off x="2569983" y="3824036"/>
            <a:ext cx="2645" cy="6392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H="1" flipV="1">
            <a:off x="2567354" y="3760119"/>
            <a:ext cx="2629" cy="639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H="1" flipV="1">
            <a:off x="2564742" y="3696205"/>
            <a:ext cx="2612" cy="639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H="1" flipV="1">
            <a:off x="2562146" y="3632294"/>
            <a:ext cx="2596" cy="639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H="1" flipV="1">
            <a:off x="2559565" y="3568387"/>
            <a:ext cx="2581" cy="639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H="1" flipV="1">
            <a:off x="2557001" y="3504483"/>
            <a:ext cx="2564" cy="639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H="1" flipV="1">
            <a:off x="2554453" y="3440584"/>
            <a:ext cx="2548" cy="638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H="1" flipV="1">
            <a:off x="2551922" y="3376689"/>
            <a:ext cx="2531" cy="6389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flipH="1" flipV="1">
            <a:off x="2549406" y="3312799"/>
            <a:ext cx="2516" cy="6389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flipH="1" flipV="1">
            <a:off x="2546907" y="3248914"/>
            <a:ext cx="2499" cy="638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flipH="1" flipV="1">
            <a:off x="2544424" y="3185035"/>
            <a:ext cx="2483" cy="638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flipH="1" flipV="1">
            <a:off x="2541957" y="3121161"/>
            <a:ext cx="2467" cy="638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flipH="1" flipV="1">
            <a:off x="2539506" y="3057293"/>
            <a:ext cx="2451" cy="6386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flipH="1" flipV="1">
            <a:off x="2537072" y="2993431"/>
            <a:ext cx="2434" cy="6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flipH="1" flipV="1">
            <a:off x="2534653" y="2929576"/>
            <a:ext cx="2419" cy="6385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flipH="1" flipV="1">
            <a:off x="2532251" y="2865727"/>
            <a:ext cx="2402" cy="63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flipH="1" flipV="1">
            <a:off x="2529866" y="2801886"/>
            <a:ext cx="2385" cy="63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flipH="1" flipV="1">
            <a:off x="2527496" y="2738052"/>
            <a:ext cx="2370" cy="638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flipH="1" flipV="1">
            <a:off x="2525143" y="2674225"/>
            <a:ext cx="2353" cy="6382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flipH="1" flipV="1">
            <a:off x="2522806" y="2610407"/>
            <a:ext cx="2337" cy="638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flipH="1" flipV="1">
            <a:off x="2520486" y="2546596"/>
            <a:ext cx="2320" cy="638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flipH="1" flipV="1">
            <a:off x="2518182" y="2482794"/>
            <a:ext cx="2304" cy="63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flipH="1" flipV="1">
            <a:off x="2515894" y="2419001"/>
            <a:ext cx="2288" cy="6379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flipH="1" flipV="1">
            <a:off x="2513623" y="2355217"/>
            <a:ext cx="2271" cy="637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flipH="1" flipV="1">
            <a:off x="2511368" y="2291443"/>
            <a:ext cx="2255" cy="637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flipV="1">
            <a:off x="3704235" y="5526594"/>
            <a:ext cx="0" cy="6390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flipV="1">
            <a:off x="3704235" y="5462683"/>
            <a:ext cx="0" cy="639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flipV="1">
            <a:off x="3704235" y="5398768"/>
            <a:ext cx="0" cy="6391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flipV="1">
            <a:off x="3704235" y="5334848"/>
            <a:ext cx="0" cy="6392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flipV="1">
            <a:off x="3704235" y="5270926"/>
            <a:ext cx="0" cy="639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flipV="1">
            <a:off x="3704235" y="5206999"/>
            <a:ext cx="0" cy="6392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flipV="1">
            <a:off x="3704235" y="5143070"/>
            <a:ext cx="0" cy="639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flipV="1">
            <a:off x="3704235" y="5079137"/>
            <a:ext cx="0" cy="6393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flipV="1">
            <a:off x="3704235" y="5015202"/>
            <a:ext cx="0" cy="6393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flipV="1">
            <a:off x="3704235" y="4951265"/>
            <a:ext cx="0" cy="6393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flipV="1">
            <a:off x="3704235" y="4887326"/>
            <a:ext cx="0" cy="639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flipV="1">
            <a:off x="3704235" y="4823385"/>
            <a:ext cx="0" cy="639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flipV="1">
            <a:off x="3704235" y="4759442"/>
            <a:ext cx="0" cy="639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flipV="1">
            <a:off x="3704235" y="4695499"/>
            <a:ext cx="0" cy="639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flipV="1">
            <a:off x="3704235" y="4631554"/>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flipV="1">
            <a:off x="3704235" y="4567610"/>
            <a:ext cx="0" cy="6394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flipV="1">
            <a:off x="3704235" y="4503665"/>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flipV="1">
            <a:off x="3704235" y="4439720"/>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flipV="1">
            <a:off x="3704235" y="4375775"/>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flipV="1">
            <a:off x="3704235" y="4311831"/>
            <a:ext cx="0" cy="6394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flipV="1">
            <a:off x="3704235" y="4247888"/>
            <a:ext cx="0" cy="639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flipV="1">
            <a:off x="3704235" y="4183947"/>
            <a:ext cx="0" cy="639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flipV="1">
            <a:off x="3704235" y="4120006"/>
            <a:ext cx="0" cy="639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flipV="1">
            <a:off x="3704235" y="4056068"/>
            <a:ext cx="0" cy="6393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9" name="Connector 98"/>
          <p:cNvCxnSpPr/>
          <p:nvPr/>
        </p:nvCxnSpPr>
        <p:spPr>
          <a:xfrm flipV="1">
            <a:off x="3704235" y="3992132"/>
            <a:ext cx="0" cy="6393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0" name="Connector 99"/>
          <p:cNvCxnSpPr/>
          <p:nvPr/>
        </p:nvCxnSpPr>
        <p:spPr>
          <a:xfrm flipV="1">
            <a:off x="3704235" y="3928198"/>
            <a:ext cx="0" cy="639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flipV="1">
            <a:off x="3704235" y="3864267"/>
            <a:ext cx="0"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2" name="Connector 101"/>
          <p:cNvCxnSpPr/>
          <p:nvPr/>
        </p:nvCxnSpPr>
        <p:spPr>
          <a:xfrm flipV="1">
            <a:off x="3704235" y="3800339"/>
            <a:ext cx="0"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3" name="Connector 102"/>
          <p:cNvCxnSpPr/>
          <p:nvPr/>
        </p:nvCxnSpPr>
        <p:spPr>
          <a:xfrm flipV="1">
            <a:off x="3704235" y="3736414"/>
            <a:ext cx="0"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4" name="Connector 103"/>
          <p:cNvCxnSpPr/>
          <p:nvPr/>
        </p:nvCxnSpPr>
        <p:spPr>
          <a:xfrm flipV="1">
            <a:off x="3704235" y="3672493"/>
            <a:ext cx="0" cy="639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5" name="Connector 104"/>
          <p:cNvCxnSpPr/>
          <p:nvPr/>
        </p:nvCxnSpPr>
        <p:spPr>
          <a:xfrm flipV="1">
            <a:off x="3704235" y="3608575"/>
            <a:ext cx="0" cy="639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6" name="Connector 105"/>
          <p:cNvCxnSpPr/>
          <p:nvPr/>
        </p:nvCxnSpPr>
        <p:spPr>
          <a:xfrm flipV="1">
            <a:off x="3704235" y="3544662"/>
            <a:ext cx="0" cy="639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7" name="Connector 106"/>
          <p:cNvCxnSpPr/>
          <p:nvPr/>
        </p:nvCxnSpPr>
        <p:spPr>
          <a:xfrm flipV="1">
            <a:off x="3704235" y="3480753"/>
            <a:ext cx="0" cy="639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8" name="Connector 107"/>
          <p:cNvCxnSpPr/>
          <p:nvPr/>
        </p:nvCxnSpPr>
        <p:spPr>
          <a:xfrm flipV="1">
            <a:off x="3704235" y="3416849"/>
            <a:ext cx="0" cy="639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9" name="Connector 108"/>
          <p:cNvCxnSpPr/>
          <p:nvPr/>
        </p:nvCxnSpPr>
        <p:spPr>
          <a:xfrm flipV="1">
            <a:off x="3704235" y="3352950"/>
            <a:ext cx="0" cy="638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0" name="Connector 109"/>
          <p:cNvCxnSpPr/>
          <p:nvPr/>
        </p:nvCxnSpPr>
        <p:spPr>
          <a:xfrm flipV="1">
            <a:off x="3704235" y="3289056"/>
            <a:ext cx="0" cy="638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1" name="Connector 110"/>
          <p:cNvCxnSpPr/>
          <p:nvPr/>
        </p:nvCxnSpPr>
        <p:spPr>
          <a:xfrm flipV="1">
            <a:off x="3704235" y="3225168"/>
            <a:ext cx="0" cy="638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2" name="Connector 111"/>
          <p:cNvCxnSpPr/>
          <p:nvPr/>
        </p:nvCxnSpPr>
        <p:spPr>
          <a:xfrm flipV="1">
            <a:off x="3704235" y="3161285"/>
            <a:ext cx="0" cy="6388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3" name="Connector 112"/>
          <p:cNvCxnSpPr/>
          <p:nvPr/>
        </p:nvCxnSpPr>
        <p:spPr>
          <a:xfrm flipV="1">
            <a:off x="3704235" y="3097409"/>
            <a:ext cx="0" cy="638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4" name="Connector 113"/>
          <p:cNvCxnSpPr/>
          <p:nvPr/>
        </p:nvCxnSpPr>
        <p:spPr>
          <a:xfrm flipV="1">
            <a:off x="3704235" y="3033540"/>
            <a:ext cx="0" cy="6386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5" name="Connector 114"/>
          <p:cNvCxnSpPr/>
          <p:nvPr/>
        </p:nvCxnSpPr>
        <p:spPr>
          <a:xfrm flipV="1">
            <a:off x="3704235" y="2969677"/>
            <a:ext cx="0" cy="638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6" name="Connector 115"/>
          <p:cNvCxnSpPr/>
          <p:nvPr/>
        </p:nvCxnSpPr>
        <p:spPr>
          <a:xfrm flipV="1">
            <a:off x="3704235" y="2905821"/>
            <a:ext cx="0" cy="6385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7" name="Connector 116"/>
          <p:cNvCxnSpPr/>
          <p:nvPr/>
        </p:nvCxnSpPr>
        <p:spPr>
          <a:xfrm flipV="1">
            <a:off x="3704235" y="2841972"/>
            <a:ext cx="0" cy="63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8" name="Connector 117"/>
          <p:cNvCxnSpPr/>
          <p:nvPr/>
        </p:nvCxnSpPr>
        <p:spPr>
          <a:xfrm flipV="1">
            <a:off x="3704235" y="2778131"/>
            <a:ext cx="0" cy="63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9" name="Connector 118"/>
          <p:cNvCxnSpPr/>
          <p:nvPr/>
        </p:nvCxnSpPr>
        <p:spPr>
          <a:xfrm flipV="1">
            <a:off x="3704235" y="2714298"/>
            <a:ext cx="0" cy="6383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0" name="Connector 119"/>
          <p:cNvCxnSpPr/>
          <p:nvPr/>
        </p:nvCxnSpPr>
        <p:spPr>
          <a:xfrm flipV="1">
            <a:off x="3704235" y="2650473"/>
            <a:ext cx="0" cy="638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1" name="Connector 120"/>
          <p:cNvCxnSpPr/>
          <p:nvPr/>
        </p:nvCxnSpPr>
        <p:spPr>
          <a:xfrm flipV="1">
            <a:off x="3704235" y="2586657"/>
            <a:ext cx="0" cy="638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2" name="Connector 121"/>
          <p:cNvCxnSpPr/>
          <p:nvPr/>
        </p:nvCxnSpPr>
        <p:spPr>
          <a:xfrm flipV="1">
            <a:off x="3704235" y="2522849"/>
            <a:ext cx="0" cy="6380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3" name="Connector 122"/>
          <p:cNvCxnSpPr/>
          <p:nvPr/>
        </p:nvCxnSpPr>
        <p:spPr>
          <a:xfrm flipV="1">
            <a:off x="3704235" y="2459050"/>
            <a:ext cx="0" cy="637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4" name="Connector 123"/>
          <p:cNvCxnSpPr/>
          <p:nvPr/>
        </p:nvCxnSpPr>
        <p:spPr>
          <a:xfrm flipV="1">
            <a:off x="3704235" y="2395261"/>
            <a:ext cx="0" cy="6378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5" name="Connector 124"/>
          <p:cNvCxnSpPr/>
          <p:nvPr/>
        </p:nvCxnSpPr>
        <p:spPr>
          <a:xfrm flipV="1">
            <a:off x="3704235" y="2331481"/>
            <a:ext cx="0" cy="6378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6" name="Connector 125"/>
          <p:cNvCxnSpPr/>
          <p:nvPr/>
        </p:nvCxnSpPr>
        <p:spPr>
          <a:xfrm flipV="1">
            <a:off x="3704235" y="2267712"/>
            <a:ext cx="0" cy="6376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7" name="Connector 126"/>
          <p:cNvCxnSpPr/>
          <p:nvPr/>
        </p:nvCxnSpPr>
        <p:spPr>
          <a:xfrm flipV="1">
            <a:off x="4758389" y="5549869"/>
            <a:ext cx="3076" cy="6388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8" name="Connector 127"/>
          <p:cNvCxnSpPr/>
          <p:nvPr/>
        </p:nvCxnSpPr>
        <p:spPr>
          <a:xfrm flipV="1">
            <a:off x="4761465" y="5485981"/>
            <a:ext cx="3059" cy="638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9" name="Connector 128"/>
          <p:cNvCxnSpPr/>
          <p:nvPr/>
        </p:nvCxnSpPr>
        <p:spPr>
          <a:xfrm flipV="1">
            <a:off x="4764524" y="5422089"/>
            <a:ext cx="3044" cy="638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0" name="Connector 129"/>
          <p:cNvCxnSpPr/>
          <p:nvPr/>
        </p:nvCxnSpPr>
        <p:spPr>
          <a:xfrm flipV="1">
            <a:off x="4767568" y="5358191"/>
            <a:ext cx="3028" cy="638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1" name="Connector 130"/>
          <p:cNvCxnSpPr/>
          <p:nvPr/>
        </p:nvCxnSpPr>
        <p:spPr>
          <a:xfrm flipV="1">
            <a:off x="4770596" y="5294290"/>
            <a:ext cx="3012" cy="6390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2" name="Connector 131"/>
          <p:cNvCxnSpPr/>
          <p:nvPr/>
        </p:nvCxnSpPr>
        <p:spPr>
          <a:xfrm flipV="1">
            <a:off x="4773608" y="5230384"/>
            <a:ext cx="2996" cy="6390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3" name="Connector 132"/>
          <p:cNvCxnSpPr/>
          <p:nvPr/>
        </p:nvCxnSpPr>
        <p:spPr>
          <a:xfrm flipV="1">
            <a:off x="4776604" y="5166475"/>
            <a:ext cx="2980" cy="639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4" name="Connector 133"/>
          <p:cNvCxnSpPr/>
          <p:nvPr/>
        </p:nvCxnSpPr>
        <p:spPr>
          <a:xfrm flipV="1">
            <a:off x="4779584" y="5102562"/>
            <a:ext cx="2965" cy="639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5" name="Connector 134"/>
          <p:cNvCxnSpPr/>
          <p:nvPr/>
        </p:nvCxnSpPr>
        <p:spPr>
          <a:xfrm flipV="1">
            <a:off x="4782549" y="5038646"/>
            <a:ext cx="2948" cy="639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6" name="Connector 135"/>
          <p:cNvCxnSpPr/>
          <p:nvPr/>
        </p:nvCxnSpPr>
        <p:spPr>
          <a:xfrm flipV="1">
            <a:off x="4785497" y="4974727"/>
            <a:ext cx="2933" cy="63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7" name="Connector 136"/>
          <p:cNvCxnSpPr/>
          <p:nvPr/>
        </p:nvCxnSpPr>
        <p:spPr>
          <a:xfrm flipV="1">
            <a:off x="4788430" y="4910806"/>
            <a:ext cx="2917" cy="639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8" name="Connector 137"/>
          <p:cNvCxnSpPr/>
          <p:nvPr/>
        </p:nvCxnSpPr>
        <p:spPr>
          <a:xfrm flipV="1">
            <a:off x="4791347" y="4846882"/>
            <a:ext cx="2900" cy="639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9" name="Connector 138"/>
          <p:cNvCxnSpPr/>
          <p:nvPr/>
        </p:nvCxnSpPr>
        <p:spPr>
          <a:xfrm flipV="1">
            <a:off x="4794247" y="4782957"/>
            <a:ext cx="2885"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0" name="Connector 139"/>
          <p:cNvCxnSpPr/>
          <p:nvPr/>
        </p:nvCxnSpPr>
        <p:spPr>
          <a:xfrm flipV="1">
            <a:off x="4797132" y="4719029"/>
            <a:ext cx="286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1" name="Connector 140"/>
          <p:cNvCxnSpPr/>
          <p:nvPr/>
        </p:nvCxnSpPr>
        <p:spPr>
          <a:xfrm flipV="1">
            <a:off x="4800001" y="4655101"/>
            <a:ext cx="2853"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2" name="Connector 141"/>
          <p:cNvCxnSpPr/>
          <p:nvPr/>
        </p:nvCxnSpPr>
        <p:spPr>
          <a:xfrm flipV="1">
            <a:off x="4802854" y="4591171"/>
            <a:ext cx="2837"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3" name="Connector 142"/>
          <p:cNvCxnSpPr/>
          <p:nvPr/>
        </p:nvCxnSpPr>
        <p:spPr>
          <a:xfrm flipV="1">
            <a:off x="4805691" y="4527241"/>
            <a:ext cx="282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4" name="Connector 143"/>
          <p:cNvCxnSpPr/>
          <p:nvPr/>
        </p:nvCxnSpPr>
        <p:spPr>
          <a:xfrm flipV="1">
            <a:off x="4808512" y="4463309"/>
            <a:ext cx="2805" cy="639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5" name="Connector 144"/>
          <p:cNvCxnSpPr/>
          <p:nvPr/>
        </p:nvCxnSpPr>
        <p:spPr>
          <a:xfrm flipV="1">
            <a:off x="4811317" y="4399378"/>
            <a:ext cx="2789"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6" name="Connector 145"/>
          <p:cNvCxnSpPr/>
          <p:nvPr/>
        </p:nvCxnSpPr>
        <p:spPr>
          <a:xfrm flipV="1">
            <a:off x="4814106" y="4335447"/>
            <a:ext cx="2773"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7" name="Connector 146"/>
          <p:cNvCxnSpPr/>
          <p:nvPr/>
        </p:nvCxnSpPr>
        <p:spPr>
          <a:xfrm flipV="1">
            <a:off x="4816879" y="4271516"/>
            <a:ext cx="2757"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8" name="Connector 147"/>
          <p:cNvCxnSpPr/>
          <p:nvPr/>
        </p:nvCxnSpPr>
        <p:spPr>
          <a:xfrm flipV="1">
            <a:off x="4819636" y="4207586"/>
            <a:ext cx="274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9" name="Connector 148"/>
          <p:cNvCxnSpPr/>
          <p:nvPr/>
        </p:nvCxnSpPr>
        <p:spPr>
          <a:xfrm flipV="1">
            <a:off x="4822377" y="4143657"/>
            <a:ext cx="2725" cy="639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0" name="Connector 149"/>
          <p:cNvCxnSpPr/>
          <p:nvPr/>
        </p:nvCxnSpPr>
        <p:spPr>
          <a:xfrm flipV="1">
            <a:off x="4825102" y="4079729"/>
            <a:ext cx="270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1" name="Connector 150"/>
          <p:cNvCxnSpPr/>
          <p:nvPr/>
        </p:nvCxnSpPr>
        <p:spPr>
          <a:xfrm flipV="1">
            <a:off x="4827811" y="4015803"/>
            <a:ext cx="2693" cy="6392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2" name="Connector 151"/>
          <p:cNvCxnSpPr/>
          <p:nvPr/>
        </p:nvCxnSpPr>
        <p:spPr>
          <a:xfrm flipV="1">
            <a:off x="4830504" y="3951878"/>
            <a:ext cx="2677"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3" name="Connector 152"/>
          <p:cNvCxnSpPr/>
          <p:nvPr/>
        </p:nvCxnSpPr>
        <p:spPr>
          <a:xfrm flipV="1">
            <a:off x="4833181" y="3887956"/>
            <a:ext cx="2661" cy="639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4" name="Connector 153"/>
          <p:cNvCxnSpPr/>
          <p:nvPr/>
        </p:nvCxnSpPr>
        <p:spPr>
          <a:xfrm flipV="1">
            <a:off x="4835842" y="3824036"/>
            <a:ext cx="2644" cy="6392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5" name="Connector 154"/>
          <p:cNvCxnSpPr/>
          <p:nvPr/>
        </p:nvCxnSpPr>
        <p:spPr>
          <a:xfrm flipV="1">
            <a:off x="4838486" y="3760119"/>
            <a:ext cx="2629" cy="639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6" name="Connector 155"/>
          <p:cNvCxnSpPr/>
          <p:nvPr/>
        </p:nvCxnSpPr>
        <p:spPr>
          <a:xfrm flipV="1">
            <a:off x="4841115" y="3696205"/>
            <a:ext cx="2612" cy="639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7" name="Connector 156"/>
          <p:cNvCxnSpPr/>
          <p:nvPr/>
        </p:nvCxnSpPr>
        <p:spPr>
          <a:xfrm flipV="1">
            <a:off x="4843727" y="3632294"/>
            <a:ext cx="2597" cy="639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8" name="Connector 157"/>
          <p:cNvCxnSpPr/>
          <p:nvPr/>
        </p:nvCxnSpPr>
        <p:spPr>
          <a:xfrm flipV="1">
            <a:off x="4846324" y="3568387"/>
            <a:ext cx="2580" cy="639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9" name="Connector 158"/>
          <p:cNvCxnSpPr/>
          <p:nvPr/>
        </p:nvCxnSpPr>
        <p:spPr>
          <a:xfrm flipV="1">
            <a:off x="4848904" y="3504483"/>
            <a:ext cx="2564" cy="639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0" name="Connector 159"/>
          <p:cNvCxnSpPr/>
          <p:nvPr/>
        </p:nvCxnSpPr>
        <p:spPr>
          <a:xfrm flipV="1">
            <a:off x="4851468" y="3440584"/>
            <a:ext cx="2548" cy="638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1" name="Connector 160"/>
          <p:cNvCxnSpPr/>
          <p:nvPr/>
        </p:nvCxnSpPr>
        <p:spPr>
          <a:xfrm flipV="1">
            <a:off x="4854016" y="3376689"/>
            <a:ext cx="2531" cy="6389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2" name="Connector 161"/>
          <p:cNvCxnSpPr/>
          <p:nvPr/>
        </p:nvCxnSpPr>
        <p:spPr>
          <a:xfrm flipV="1">
            <a:off x="4856547" y="3312799"/>
            <a:ext cx="2516" cy="6389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3" name="Connector 162"/>
          <p:cNvCxnSpPr/>
          <p:nvPr/>
        </p:nvCxnSpPr>
        <p:spPr>
          <a:xfrm flipV="1">
            <a:off x="4859063" y="3248914"/>
            <a:ext cx="2499" cy="638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4" name="Connector 163"/>
          <p:cNvCxnSpPr/>
          <p:nvPr/>
        </p:nvCxnSpPr>
        <p:spPr>
          <a:xfrm flipV="1">
            <a:off x="4861562" y="3185035"/>
            <a:ext cx="2484" cy="638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5" name="Connector 164"/>
          <p:cNvCxnSpPr/>
          <p:nvPr/>
        </p:nvCxnSpPr>
        <p:spPr>
          <a:xfrm flipV="1">
            <a:off x="4864046" y="3121161"/>
            <a:ext cx="2466" cy="638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6" name="Connector 165"/>
          <p:cNvCxnSpPr/>
          <p:nvPr/>
        </p:nvCxnSpPr>
        <p:spPr>
          <a:xfrm flipV="1">
            <a:off x="4866512" y="3057293"/>
            <a:ext cx="2451" cy="6386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7" name="Connector 166"/>
          <p:cNvCxnSpPr/>
          <p:nvPr/>
        </p:nvCxnSpPr>
        <p:spPr>
          <a:xfrm flipV="1">
            <a:off x="4868963" y="2993431"/>
            <a:ext cx="2435" cy="6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8" name="Connector 167"/>
          <p:cNvCxnSpPr/>
          <p:nvPr/>
        </p:nvCxnSpPr>
        <p:spPr>
          <a:xfrm flipV="1">
            <a:off x="4871398" y="2929576"/>
            <a:ext cx="2418" cy="6385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9" name="Connector 168"/>
          <p:cNvCxnSpPr/>
          <p:nvPr/>
        </p:nvCxnSpPr>
        <p:spPr>
          <a:xfrm flipV="1">
            <a:off x="4873816" y="2865727"/>
            <a:ext cx="2402" cy="63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0" name="Connector 169"/>
          <p:cNvCxnSpPr/>
          <p:nvPr/>
        </p:nvCxnSpPr>
        <p:spPr>
          <a:xfrm flipV="1">
            <a:off x="4876218" y="2801886"/>
            <a:ext cx="2385" cy="63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1" name="Connector 170"/>
          <p:cNvCxnSpPr/>
          <p:nvPr/>
        </p:nvCxnSpPr>
        <p:spPr>
          <a:xfrm flipV="1">
            <a:off x="4878603" y="2738052"/>
            <a:ext cx="2370" cy="638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2" name="Connector 171"/>
          <p:cNvCxnSpPr/>
          <p:nvPr/>
        </p:nvCxnSpPr>
        <p:spPr>
          <a:xfrm flipV="1">
            <a:off x="4880973" y="2674225"/>
            <a:ext cx="2353" cy="6382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3" name="Connector 172"/>
          <p:cNvCxnSpPr/>
          <p:nvPr/>
        </p:nvCxnSpPr>
        <p:spPr>
          <a:xfrm flipV="1">
            <a:off x="4883326" y="2610407"/>
            <a:ext cx="2337" cy="638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4" name="Connector 173"/>
          <p:cNvCxnSpPr/>
          <p:nvPr/>
        </p:nvCxnSpPr>
        <p:spPr>
          <a:xfrm flipV="1">
            <a:off x="4885663" y="2546596"/>
            <a:ext cx="2320" cy="638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5" name="Connector 174"/>
          <p:cNvCxnSpPr/>
          <p:nvPr/>
        </p:nvCxnSpPr>
        <p:spPr>
          <a:xfrm flipV="1">
            <a:off x="4887983" y="2482794"/>
            <a:ext cx="2304" cy="63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6" name="Connector 175"/>
          <p:cNvCxnSpPr/>
          <p:nvPr/>
        </p:nvCxnSpPr>
        <p:spPr>
          <a:xfrm flipV="1">
            <a:off x="4890287" y="2419001"/>
            <a:ext cx="2288" cy="6379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7" name="Connector 176"/>
          <p:cNvCxnSpPr/>
          <p:nvPr/>
        </p:nvCxnSpPr>
        <p:spPr>
          <a:xfrm flipV="1">
            <a:off x="4892575" y="2355217"/>
            <a:ext cx="2272" cy="637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8" name="Connector 177"/>
          <p:cNvCxnSpPr/>
          <p:nvPr/>
        </p:nvCxnSpPr>
        <p:spPr>
          <a:xfrm flipV="1">
            <a:off x="4894847" y="2291443"/>
            <a:ext cx="2255" cy="637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9" name="Connector 178"/>
          <p:cNvCxnSpPr/>
          <p:nvPr/>
        </p:nvCxnSpPr>
        <p:spPr>
          <a:xfrm flipV="1">
            <a:off x="1610133" y="3106301"/>
            <a:ext cx="57983" cy="42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0" name="Connector 179"/>
          <p:cNvCxnSpPr/>
          <p:nvPr/>
        </p:nvCxnSpPr>
        <p:spPr>
          <a:xfrm flipV="1">
            <a:off x="1668116" y="3102201"/>
            <a:ext cx="58000" cy="410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1" name="Connector 180"/>
          <p:cNvCxnSpPr/>
          <p:nvPr/>
        </p:nvCxnSpPr>
        <p:spPr>
          <a:xfrm flipV="1">
            <a:off x="1726116" y="3098220"/>
            <a:ext cx="58015" cy="39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2" name="Connector 181"/>
          <p:cNvCxnSpPr/>
          <p:nvPr/>
        </p:nvCxnSpPr>
        <p:spPr>
          <a:xfrm flipV="1">
            <a:off x="1784131" y="3094358"/>
            <a:ext cx="58029" cy="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3" name="Connector 182"/>
          <p:cNvCxnSpPr/>
          <p:nvPr/>
        </p:nvCxnSpPr>
        <p:spPr>
          <a:xfrm flipV="1">
            <a:off x="1842160" y="3090616"/>
            <a:ext cx="58044" cy="374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4" name="Connector 183"/>
          <p:cNvCxnSpPr/>
          <p:nvPr/>
        </p:nvCxnSpPr>
        <p:spPr>
          <a:xfrm flipV="1">
            <a:off x="1900204" y="3086992"/>
            <a:ext cx="58058" cy="36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5" name="Connector 184"/>
          <p:cNvCxnSpPr/>
          <p:nvPr/>
        </p:nvCxnSpPr>
        <p:spPr>
          <a:xfrm flipV="1">
            <a:off x="1958262" y="3083487"/>
            <a:ext cx="58071" cy="350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6" name="Connector 185"/>
          <p:cNvCxnSpPr/>
          <p:nvPr/>
        </p:nvCxnSpPr>
        <p:spPr>
          <a:xfrm flipV="1">
            <a:off x="2016333" y="3080101"/>
            <a:ext cx="58085" cy="33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7" name="Connector 186"/>
          <p:cNvCxnSpPr/>
          <p:nvPr/>
        </p:nvCxnSpPr>
        <p:spPr>
          <a:xfrm flipV="1">
            <a:off x="2074418" y="3076834"/>
            <a:ext cx="58096" cy="3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8" name="Connector 187"/>
          <p:cNvCxnSpPr/>
          <p:nvPr/>
        </p:nvCxnSpPr>
        <p:spPr>
          <a:xfrm flipV="1">
            <a:off x="2132514" y="3073686"/>
            <a:ext cx="58109" cy="31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9" name="Connector 188"/>
          <p:cNvCxnSpPr/>
          <p:nvPr/>
        </p:nvCxnSpPr>
        <p:spPr>
          <a:xfrm flipV="1">
            <a:off x="2190623" y="3070656"/>
            <a:ext cx="58121" cy="30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0" name="Connector 189"/>
          <p:cNvCxnSpPr/>
          <p:nvPr/>
        </p:nvCxnSpPr>
        <p:spPr>
          <a:xfrm flipV="1">
            <a:off x="2248744" y="3067746"/>
            <a:ext cx="58132" cy="291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1" name="Connector 190"/>
          <p:cNvCxnSpPr/>
          <p:nvPr/>
        </p:nvCxnSpPr>
        <p:spPr>
          <a:xfrm flipV="1">
            <a:off x="2306876" y="3064954"/>
            <a:ext cx="58142" cy="27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2" name="Connector 191"/>
          <p:cNvCxnSpPr/>
          <p:nvPr/>
        </p:nvCxnSpPr>
        <p:spPr>
          <a:xfrm flipV="1">
            <a:off x="2365018" y="3062282"/>
            <a:ext cx="58153" cy="26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3" name="Connector 192"/>
          <p:cNvCxnSpPr/>
          <p:nvPr/>
        </p:nvCxnSpPr>
        <p:spPr>
          <a:xfrm flipV="1">
            <a:off x="2423171" y="3059728"/>
            <a:ext cx="58163" cy="255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4" name="Connector 193"/>
          <p:cNvCxnSpPr/>
          <p:nvPr/>
        </p:nvCxnSpPr>
        <p:spPr>
          <a:xfrm flipV="1">
            <a:off x="2481334" y="3057293"/>
            <a:ext cx="58172" cy="243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5" name="Connector 194"/>
          <p:cNvCxnSpPr/>
          <p:nvPr/>
        </p:nvCxnSpPr>
        <p:spPr>
          <a:xfrm flipV="1">
            <a:off x="2539506" y="3054977"/>
            <a:ext cx="58181" cy="23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6" name="Connector 195"/>
          <p:cNvCxnSpPr/>
          <p:nvPr/>
        </p:nvCxnSpPr>
        <p:spPr>
          <a:xfrm flipV="1">
            <a:off x="2597687" y="3052779"/>
            <a:ext cx="58190" cy="2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7" name="Connector 196"/>
          <p:cNvCxnSpPr/>
          <p:nvPr/>
        </p:nvCxnSpPr>
        <p:spPr>
          <a:xfrm flipV="1">
            <a:off x="2655877" y="3050701"/>
            <a:ext cx="58197" cy="20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8" name="Connector 197"/>
          <p:cNvCxnSpPr/>
          <p:nvPr/>
        </p:nvCxnSpPr>
        <p:spPr>
          <a:xfrm flipV="1">
            <a:off x="2714074" y="3048741"/>
            <a:ext cx="58206" cy="196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9" name="Connector 198"/>
          <p:cNvCxnSpPr/>
          <p:nvPr/>
        </p:nvCxnSpPr>
        <p:spPr>
          <a:xfrm flipV="1">
            <a:off x="2772280" y="3046900"/>
            <a:ext cx="58212" cy="1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0" name="Connector 199"/>
          <p:cNvCxnSpPr/>
          <p:nvPr/>
        </p:nvCxnSpPr>
        <p:spPr>
          <a:xfrm flipV="1">
            <a:off x="2830492" y="3045178"/>
            <a:ext cx="58219" cy="17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1" name="Connector 200"/>
          <p:cNvCxnSpPr/>
          <p:nvPr/>
        </p:nvCxnSpPr>
        <p:spPr>
          <a:xfrm flipV="1">
            <a:off x="2888711" y="3043575"/>
            <a:ext cx="58226" cy="16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2" name="Connector 201"/>
          <p:cNvCxnSpPr/>
          <p:nvPr/>
        </p:nvCxnSpPr>
        <p:spPr>
          <a:xfrm flipV="1">
            <a:off x="2946937" y="3042090"/>
            <a:ext cx="58231" cy="1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3" name="Connector 202"/>
          <p:cNvCxnSpPr/>
          <p:nvPr/>
        </p:nvCxnSpPr>
        <p:spPr>
          <a:xfrm flipV="1">
            <a:off x="3005168" y="3040724"/>
            <a:ext cx="58237" cy="1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4" name="Connector 203"/>
          <p:cNvCxnSpPr/>
          <p:nvPr/>
        </p:nvCxnSpPr>
        <p:spPr>
          <a:xfrm flipV="1">
            <a:off x="3063405" y="3039477"/>
            <a:ext cx="58241" cy="12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5" name="Connector 204"/>
          <p:cNvCxnSpPr/>
          <p:nvPr/>
        </p:nvCxnSpPr>
        <p:spPr>
          <a:xfrm flipV="1">
            <a:off x="3121646" y="3038349"/>
            <a:ext cx="58246" cy="11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6" name="Connector 205"/>
          <p:cNvCxnSpPr/>
          <p:nvPr/>
        </p:nvCxnSpPr>
        <p:spPr>
          <a:xfrm flipV="1">
            <a:off x="3179892" y="3037340"/>
            <a:ext cx="58251" cy="10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7" name="Connector 206"/>
          <p:cNvCxnSpPr/>
          <p:nvPr/>
        </p:nvCxnSpPr>
        <p:spPr>
          <a:xfrm flipV="1">
            <a:off x="3238143" y="3036449"/>
            <a:ext cx="58253" cy="8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8" name="Connector 207"/>
          <p:cNvCxnSpPr/>
          <p:nvPr/>
        </p:nvCxnSpPr>
        <p:spPr>
          <a:xfrm flipV="1">
            <a:off x="3296396" y="3035677"/>
            <a:ext cx="58257" cy="7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9" name="Connector 208"/>
          <p:cNvCxnSpPr/>
          <p:nvPr/>
        </p:nvCxnSpPr>
        <p:spPr>
          <a:xfrm flipV="1">
            <a:off x="3354653" y="3035024"/>
            <a:ext cx="58260" cy="6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0" name="Connector 209"/>
          <p:cNvCxnSpPr/>
          <p:nvPr/>
        </p:nvCxnSpPr>
        <p:spPr>
          <a:xfrm flipV="1">
            <a:off x="3412913" y="3034490"/>
            <a:ext cx="58261" cy="5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1" name="Connector 210"/>
          <p:cNvCxnSpPr/>
          <p:nvPr/>
        </p:nvCxnSpPr>
        <p:spPr>
          <a:xfrm flipV="1">
            <a:off x="3471174" y="3034074"/>
            <a:ext cx="58264" cy="4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2" name="Connector 211"/>
          <p:cNvCxnSpPr/>
          <p:nvPr/>
        </p:nvCxnSpPr>
        <p:spPr>
          <a:xfrm flipV="1">
            <a:off x="3529438" y="3033777"/>
            <a:ext cx="58265" cy="29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3" name="Connector 212"/>
          <p:cNvCxnSpPr/>
          <p:nvPr/>
        </p:nvCxnSpPr>
        <p:spPr>
          <a:xfrm flipV="1">
            <a:off x="3587703" y="3033599"/>
            <a:ext cx="58265" cy="1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4" name="Connector 213"/>
          <p:cNvCxnSpPr/>
          <p:nvPr/>
        </p:nvCxnSpPr>
        <p:spPr>
          <a:xfrm flipV="1">
            <a:off x="3645968" y="3033540"/>
            <a:ext cx="58267"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5" name="Connector 214"/>
          <p:cNvCxnSpPr/>
          <p:nvPr/>
        </p:nvCxnSpPr>
        <p:spPr>
          <a:xfrm>
            <a:off x="3704235" y="3033540"/>
            <a:ext cx="58266"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6" name="Connector 215"/>
          <p:cNvCxnSpPr/>
          <p:nvPr/>
        </p:nvCxnSpPr>
        <p:spPr>
          <a:xfrm>
            <a:off x="3762501" y="3033599"/>
            <a:ext cx="58266" cy="1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7" name="Connector 216"/>
          <p:cNvCxnSpPr/>
          <p:nvPr/>
        </p:nvCxnSpPr>
        <p:spPr>
          <a:xfrm>
            <a:off x="3820767" y="3033777"/>
            <a:ext cx="58264" cy="29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8" name="Connector 217"/>
          <p:cNvCxnSpPr/>
          <p:nvPr/>
        </p:nvCxnSpPr>
        <p:spPr>
          <a:xfrm>
            <a:off x="3879031" y="3034074"/>
            <a:ext cx="58264" cy="4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9" name="Connector 218"/>
          <p:cNvCxnSpPr/>
          <p:nvPr/>
        </p:nvCxnSpPr>
        <p:spPr>
          <a:xfrm>
            <a:off x="3937295" y="3034490"/>
            <a:ext cx="58262" cy="5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0" name="Connector 219"/>
          <p:cNvCxnSpPr/>
          <p:nvPr/>
        </p:nvCxnSpPr>
        <p:spPr>
          <a:xfrm>
            <a:off x="3995557" y="3035024"/>
            <a:ext cx="58259" cy="6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1" name="Connector 220"/>
          <p:cNvCxnSpPr/>
          <p:nvPr/>
        </p:nvCxnSpPr>
        <p:spPr>
          <a:xfrm>
            <a:off x="4053816" y="3035677"/>
            <a:ext cx="58257" cy="7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2" name="Connector 221"/>
          <p:cNvCxnSpPr/>
          <p:nvPr/>
        </p:nvCxnSpPr>
        <p:spPr>
          <a:xfrm>
            <a:off x="4112073" y="3036449"/>
            <a:ext cx="58254" cy="8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3" name="Connector 222"/>
          <p:cNvCxnSpPr/>
          <p:nvPr/>
        </p:nvCxnSpPr>
        <p:spPr>
          <a:xfrm>
            <a:off x="4170327" y="3037340"/>
            <a:ext cx="58250" cy="10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4" name="Connector 223"/>
          <p:cNvCxnSpPr/>
          <p:nvPr/>
        </p:nvCxnSpPr>
        <p:spPr>
          <a:xfrm>
            <a:off x="4228577" y="3038349"/>
            <a:ext cx="58246" cy="11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5" name="Connector 224"/>
          <p:cNvCxnSpPr/>
          <p:nvPr/>
        </p:nvCxnSpPr>
        <p:spPr>
          <a:xfrm>
            <a:off x="4286823" y="3039477"/>
            <a:ext cx="58241" cy="12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6" name="Connector 225"/>
          <p:cNvCxnSpPr/>
          <p:nvPr/>
        </p:nvCxnSpPr>
        <p:spPr>
          <a:xfrm>
            <a:off x="4345064" y="3040724"/>
            <a:ext cx="58237" cy="1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7" name="Connector 226"/>
          <p:cNvCxnSpPr/>
          <p:nvPr/>
        </p:nvCxnSpPr>
        <p:spPr>
          <a:xfrm>
            <a:off x="4403301" y="3042090"/>
            <a:ext cx="58231" cy="1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8" name="Connector 227"/>
          <p:cNvCxnSpPr/>
          <p:nvPr/>
        </p:nvCxnSpPr>
        <p:spPr>
          <a:xfrm>
            <a:off x="4461532" y="3043575"/>
            <a:ext cx="58226" cy="16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9" name="Connector 228"/>
          <p:cNvCxnSpPr/>
          <p:nvPr/>
        </p:nvCxnSpPr>
        <p:spPr>
          <a:xfrm>
            <a:off x="4519758" y="3045178"/>
            <a:ext cx="58219" cy="17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0" name="Connector 229"/>
          <p:cNvCxnSpPr/>
          <p:nvPr/>
        </p:nvCxnSpPr>
        <p:spPr>
          <a:xfrm>
            <a:off x="4577977" y="3046900"/>
            <a:ext cx="58212" cy="1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1" name="Connector 230"/>
          <p:cNvCxnSpPr/>
          <p:nvPr/>
        </p:nvCxnSpPr>
        <p:spPr>
          <a:xfrm>
            <a:off x="4636189" y="3048741"/>
            <a:ext cx="58206" cy="196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2" name="Connector 231"/>
          <p:cNvCxnSpPr/>
          <p:nvPr/>
        </p:nvCxnSpPr>
        <p:spPr>
          <a:xfrm>
            <a:off x="4694395" y="3050701"/>
            <a:ext cx="58197" cy="20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3" name="Connector 232"/>
          <p:cNvCxnSpPr/>
          <p:nvPr/>
        </p:nvCxnSpPr>
        <p:spPr>
          <a:xfrm>
            <a:off x="4752592" y="3052779"/>
            <a:ext cx="58190" cy="2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4" name="Connector 233"/>
          <p:cNvCxnSpPr/>
          <p:nvPr/>
        </p:nvCxnSpPr>
        <p:spPr>
          <a:xfrm>
            <a:off x="4810782" y="3054977"/>
            <a:ext cx="58181" cy="23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5" name="Connector 234"/>
          <p:cNvCxnSpPr/>
          <p:nvPr/>
        </p:nvCxnSpPr>
        <p:spPr>
          <a:xfrm>
            <a:off x="4868963" y="3057293"/>
            <a:ext cx="58172" cy="243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6" name="Connector 235"/>
          <p:cNvCxnSpPr/>
          <p:nvPr/>
        </p:nvCxnSpPr>
        <p:spPr>
          <a:xfrm>
            <a:off x="4927135" y="3059728"/>
            <a:ext cx="58163" cy="255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7" name="Connector 236"/>
          <p:cNvCxnSpPr/>
          <p:nvPr/>
        </p:nvCxnSpPr>
        <p:spPr>
          <a:xfrm>
            <a:off x="4985298" y="3062282"/>
            <a:ext cx="58153" cy="26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8" name="Connector 237"/>
          <p:cNvCxnSpPr/>
          <p:nvPr/>
        </p:nvCxnSpPr>
        <p:spPr>
          <a:xfrm>
            <a:off x="5043451" y="3064954"/>
            <a:ext cx="58142" cy="27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9" name="Connector 238"/>
          <p:cNvCxnSpPr/>
          <p:nvPr/>
        </p:nvCxnSpPr>
        <p:spPr>
          <a:xfrm>
            <a:off x="5101593" y="3067746"/>
            <a:ext cx="58132" cy="291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0" name="Connector 239"/>
          <p:cNvCxnSpPr/>
          <p:nvPr/>
        </p:nvCxnSpPr>
        <p:spPr>
          <a:xfrm>
            <a:off x="5159725" y="3070656"/>
            <a:ext cx="58121" cy="30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1" name="Connector 240"/>
          <p:cNvCxnSpPr/>
          <p:nvPr/>
        </p:nvCxnSpPr>
        <p:spPr>
          <a:xfrm>
            <a:off x="5217846" y="3073686"/>
            <a:ext cx="58109" cy="31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2" name="Connector 241"/>
          <p:cNvCxnSpPr/>
          <p:nvPr/>
        </p:nvCxnSpPr>
        <p:spPr>
          <a:xfrm>
            <a:off x="5275955" y="3076834"/>
            <a:ext cx="58097" cy="3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3" name="Connector 242"/>
          <p:cNvCxnSpPr/>
          <p:nvPr/>
        </p:nvCxnSpPr>
        <p:spPr>
          <a:xfrm>
            <a:off x="5334052" y="3080101"/>
            <a:ext cx="58084" cy="33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4" name="Connector 243"/>
          <p:cNvCxnSpPr/>
          <p:nvPr/>
        </p:nvCxnSpPr>
        <p:spPr>
          <a:xfrm>
            <a:off x="5392136" y="3083487"/>
            <a:ext cx="58071" cy="350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5" name="Connector 244"/>
          <p:cNvCxnSpPr/>
          <p:nvPr/>
        </p:nvCxnSpPr>
        <p:spPr>
          <a:xfrm>
            <a:off x="5450207" y="3086992"/>
            <a:ext cx="58058" cy="36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6" name="Connector 245"/>
          <p:cNvCxnSpPr/>
          <p:nvPr/>
        </p:nvCxnSpPr>
        <p:spPr>
          <a:xfrm>
            <a:off x="5508265" y="3090616"/>
            <a:ext cx="58044" cy="374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7" name="Connector 246"/>
          <p:cNvCxnSpPr/>
          <p:nvPr/>
        </p:nvCxnSpPr>
        <p:spPr>
          <a:xfrm>
            <a:off x="5566309" y="3094358"/>
            <a:ext cx="58030" cy="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8" name="Connector 247"/>
          <p:cNvCxnSpPr/>
          <p:nvPr/>
        </p:nvCxnSpPr>
        <p:spPr>
          <a:xfrm>
            <a:off x="5624339" y="3098220"/>
            <a:ext cx="58014" cy="39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9" name="Connector 248"/>
          <p:cNvCxnSpPr/>
          <p:nvPr/>
        </p:nvCxnSpPr>
        <p:spPr>
          <a:xfrm>
            <a:off x="5682353" y="3102201"/>
            <a:ext cx="58000" cy="410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0" name="Connector 249"/>
          <p:cNvCxnSpPr/>
          <p:nvPr/>
        </p:nvCxnSpPr>
        <p:spPr>
          <a:xfrm flipV="1">
            <a:off x="1703930" y="4384168"/>
            <a:ext cx="55375" cy="41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1" name="Connector 250"/>
          <p:cNvCxnSpPr/>
          <p:nvPr/>
        </p:nvCxnSpPr>
        <p:spPr>
          <a:xfrm flipV="1">
            <a:off x="1759305" y="4380092"/>
            <a:ext cx="55390" cy="40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2" name="Connector 251"/>
          <p:cNvCxnSpPr/>
          <p:nvPr/>
        </p:nvCxnSpPr>
        <p:spPr>
          <a:xfrm flipV="1">
            <a:off x="1814695" y="4376135"/>
            <a:ext cx="55407" cy="39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3" name="Connector 252"/>
          <p:cNvCxnSpPr/>
          <p:nvPr/>
        </p:nvCxnSpPr>
        <p:spPr>
          <a:xfrm flipV="1">
            <a:off x="1870102" y="4372296"/>
            <a:ext cx="55421" cy="38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4" name="Connector 253"/>
          <p:cNvCxnSpPr/>
          <p:nvPr/>
        </p:nvCxnSpPr>
        <p:spPr>
          <a:xfrm flipV="1">
            <a:off x="1925523" y="4368575"/>
            <a:ext cx="55436" cy="37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5" name="Connector 254"/>
          <p:cNvCxnSpPr/>
          <p:nvPr/>
        </p:nvCxnSpPr>
        <p:spPr>
          <a:xfrm flipV="1">
            <a:off x="1980959" y="4364973"/>
            <a:ext cx="55450" cy="36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6" name="Connector 255"/>
          <p:cNvCxnSpPr/>
          <p:nvPr/>
        </p:nvCxnSpPr>
        <p:spPr>
          <a:xfrm flipV="1">
            <a:off x="2036409" y="4361488"/>
            <a:ext cx="55464" cy="3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7" name="Connector 256"/>
          <p:cNvCxnSpPr/>
          <p:nvPr/>
        </p:nvCxnSpPr>
        <p:spPr>
          <a:xfrm flipV="1">
            <a:off x="2091873" y="4358122"/>
            <a:ext cx="55477" cy="3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8" name="Connector 257"/>
          <p:cNvCxnSpPr/>
          <p:nvPr/>
        </p:nvCxnSpPr>
        <p:spPr>
          <a:xfrm flipV="1">
            <a:off x="2147350" y="4354874"/>
            <a:ext cx="55490" cy="32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9" name="Connector 258"/>
          <p:cNvCxnSpPr/>
          <p:nvPr/>
        </p:nvCxnSpPr>
        <p:spPr>
          <a:xfrm flipV="1">
            <a:off x="2202840" y="4351744"/>
            <a:ext cx="55503" cy="31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0" name="Connector 259"/>
          <p:cNvCxnSpPr/>
          <p:nvPr/>
        </p:nvCxnSpPr>
        <p:spPr>
          <a:xfrm flipV="1">
            <a:off x="2258343" y="4348733"/>
            <a:ext cx="55514" cy="30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1" name="Connector 260"/>
          <p:cNvCxnSpPr/>
          <p:nvPr/>
        </p:nvCxnSpPr>
        <p:spPr>
          <a:xfrm flipV="1">
            <a:off x="2313857" y="4345839"/>
            <a:ext cx="55525" cy="28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2" name="Connector 261"/>
          <p:cNvCxnSpPr/>
          <p:nvPr/>
        </p:nvCxnSpPr>
        <p:spPr>
          <a:xfrm flipV="1">
            <a:off x="2369382" y="4343064"/>
            <a:ext cx="55537" cy="277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3" name="Connector 262"/>
          <p:cNvCxnSpPr/>
          <p:nvPr/>
        </p:nvCxnSpPr>
        <p:spPr>
          <a:xfrm flipV="1">
            <a:off x="2424919" y="4340407"/>
            <a:ext cx="55547" cy="26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4" name="Connector 263"/>
          <p:cNvCxnSpPr/>
          <p:nvPr/>
        </p:nvCxnSpPr>
        <p:spPr>
          <a:xfrm flipV="1">
            <a:off x="2480466" y="4337868"/>
            <a:ext cx="55557" cy="25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5" name="Connector 264"/>
          <p:cNvCxnSpPr/>
          <p:nvPr/>
        </p:nvCxnSpPr>
        <p:spPr>
          <a:xfrm flipV="1">
            <a:off x="2536023" y="4335447"/>
            <a:ext cx="55567" cy="24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6" name="Connector 265"/>
          <p:cNvCxnSpPr/>
          <p:nvPr/>
        </p:nvCxnSpPr>
        <p:spPr>
          <a:xfrm flipV="1">
            <a:off x="2591590" y="4333144"/>
            <a:ext cx="55576" cy="23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7" name="Connector 266"/>
          <p:cNvCxnSpPr/>
          <p:nvPr/>
        </p:nvCxnSpPr>
        <p:spPr>
          <a:xfrm flipV="1">
            <a:off x="2647166" y="4330960"/>
            <a:ext cx="55584" cy="21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8" name="Connector 267"/>
          <p:cNvCxnSpPr/>
          <p:nvPr/>
        </p:nvCxnSpPr>
        <p:spPr>
          <a:xfrm flipV="1">
            <a:off x="2702750" y="4328893"/>
            <a:ext cx="55593" cy="20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9" name="Connector 268"/>
          <p:cNvCxnSpPr/>
          <p:nvPr/>
        </p:nvCxnSpPr>
        <p:spPr>
          <a:xfrm flipV="1">
            <a:off x="2758343" y="4326945"/>
            <a:ext cx="55601" cy="19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0" name="Connector 269"/>
          <p:cNvCxnSpPr/>
          <p:nvPr/>
        </p:nvCxnSpPr>
        <p:spPr>
          <a:xfrm flipV="1">
            <a:off x="2813944" y="4325115"/>
            <a:ext cx="55607" cy="18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1" name="Connector 270"/>
          <p:cNvCxnSpPr/>
          <p:nvPr/>
        </p:nvCxnSpPr>
        <p:spPr>
          <a:xfrm flipV="1">
            <a:off x="2869551" y="4323402"/>
            <a:ext cx="55615" cy="17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2" name="Connector 271"/>
          <p:cNvCxnSpPr/>
          <p:nvPr/>
        </p:nvCxnSpPr>
        <p:spPr>
          <a:xfrm flipV="1">
            <a:off x="2925166" y="4321808"/>
            <a:ext cx="55621" cy="15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3" name="Connector 272"/>
          <p:cNvCxnSpPr/>
          <p:nvPr/>
        </p:nvCxnSpPr>
        <p:spPr>
          <a:xfrm flipV="1">
            <a:off x="2980787" y="4320332"/>
            <a:ext cx="55627" cy="14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4" name="Connector 273"/>
          <p:cNvCxnSpPr/>
          <p:nvPr/>
        </p:nvCxnSpPr>
        <p:spPr>
          <a:xfrm flipV="1">
            <a:off x="3036414" y="4318975"/>
            <a:ext cx="55633" cy="13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5" name="Connector 274"/>
          <p:cNvCxnSpPr/>
          <p:nvPr/>
        </p:nvCxnSpPr>
        <p:spPr>
          <a:xfrm flipV="1">
            <a:off x="3092047" y="4317735"/>
            <a:ext cx="55637" cy="124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6" name="Connector 275"/>
          <p:cNvCxnSpPr/>
          <p:nvPr/>
        </p:nvCxnSpPr>
        <p:spPr>
          <a:xfrm flipV="1">
            <a:off x="3147684" y="4316613"/>
            <a:ext cx="55642" cy="11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7" name="Connector 276"/>
          <p:cNvCxnSpPr/>
          <p:nvPr/>
        </p:nvCxnSpPr>
        <p:spPr>
          <a:xfrm flipV="1">
            <a:off x="3203326" y="4315610"/>
            <a:ext cx="55646" cy="10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8" name="Connector 277"/>
          <p:cNvCxnSpPr/>
          <p:nvPr/>
        </p:nvCxnSpPr>
        <p:spPr>
          <a:xfrm flipV="1">
            <a:off x="3258972" y="4314724"/>
            <a:ext cx="55650" cy="8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9" name="Connector 278"/>
          <p:cNvCxnSpPr/>
          <p:nvPr/>
        </p:nvCxnSpPr>
        <p:spPr>
          <a:xfrm flipV="1">
            <a:off x="3314622" y="4313957"/>
            <a:ext cx="55653" cy="7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0" name="Connector 279"/>
          <p:cNvCxnSpPr/>
          <p:nvPr/>
        </p:nvCxnSpPr>
        <p:spPr>
          <a:xfrm flipV="1">
            <a:off x="3370275" y="4313307"/>
            <a:ext cx="55656" cy="65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1" name="Connector 280"/>
          <p:cNvCxnSpPr/>
          <p:nvPr/>
        </p:nvCxnSpPr>
        <p:spPr>
          <a:xfrm flipV="1">
            <a:off x="3425931" y="4312776"/>
            <a:ext cx="55658" cy="5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2" name="Connector 281"/>
          <p:cNvCxnSpPr/>
          <p:nvPr/>
        </p:nvCxnSpPr>
        <p:spPr>
          <a:xfrm flipV="1">
            <a:off x="3481589" y="4312363"/>
            <a:ext cx="55660" cy="4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3" name="Connector 282"/>
          <p:cNvCxnSpPr/>
          <p:nvPr/>
        </p:nvCxnSpPr>
        <p:spPr>
          <a:xfrm flipV="1">
            <a:off x="3537249" y="4312067"/>
            <a:ext cx="55661" cy="2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4" name="Connector 283"/>
          <p:cNvCxnSpPr/>
          <p:nvPr/>
        </p:nvCxnSpPr>
        <p:spPr>
          <a:xfrm flipV="1">
            <a:off x="3592910" y="4311890"/>
            <a:ext cx="55662" cy="17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5" name="Connector 284"/>
          <p:cNvCxnSpPr/>
          <p:nvPr/>
        </p:nvCxnSpPr>
        <p:spPr>
          <a:xfrm flipV="1">
            <a:off x="3648572" y="4311831"/>
            <a:ext cx="55663"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6" name="Connector 285"/>
          <p:cNvCxnSpPr/>
          <p:nvPr/>
        </p:nvCxnSpPr>
        <p:spPr>
          <a:xfrm>
            <a:off x="3704235" y="4311831"/>
            <a:ext cx="55662"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7" name="Connector 286"/>
          <p:cNvCxnSpPr/>
          <p:nvPr/>
        </p:nvCxnSpPr>
        <p:spPr>
          <a:xfrm>
            <a:off x="3759897" y="4311890"/>
            <a:ext cx="55662" cy="17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8" name="Connector 287"/>
          <p:cNvCxnSpPr/>
          <p:nvPr/>
        </p:nvCxnSpPr>
        <p:spPr>
          <a:xfrm>
            <a:off x="3815559" y="4312067"/>
            <a:ext cx="55662" cy="2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9" name="Connector 288"/>
          <p:cNvCxnSpPr/>
          <p:nvPr/>
        </p:nvCxnSpPr>
        <p:spPr>
          <a:xfrm>
            <a:off x="3871221" y="4312363"/>
            <a:ext cx="55659" cy="4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0" name="Connector 289"/>
          <p:cNvCxnSpPr/>
          <p:nvPr/>
        </p:nvCxnSpPr>
        <p:spPr>
          <a:xfrm>
            <a:off x="3926880" y="4312776"/>
            <a:ext cx="55658" cy="5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1" name="Connector 290"/>
          <p:cNvCxnSpPr/>
          <p:nvPr/>
        </p:nvCxnSpPr>
        <p:spPr>
          <a:xfrm>
            <a:off x="3982538" y="4313307"/>
            <a:ext cx="55656" cy="65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2" name="Connector 291"/>
          <p:cNvCxnSpPr/>
          <p:nvPr/>
        </p:nvCxnSpPr>
        <p:spPr>
          <a:xfrm>
            <a:off x="4038194" y="4313957"/>
            <a:ext cx="55653" cy="7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3" name="Connector 292"/>
          <p:cNvCxnSpPr/>
          <p:nvPr/>
        </p:nvCxnSpPr>
        <p:spPr>
          <a:xfrm>
            <a:off x="4093847" y="4314724"/>
            <a:ext cx="55650" cy="8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4" name="Connector 293"/>
          <p:cNvCxnSpPr/>
          <p:nvPr/>
        </p:nvCxnSpPr>
        <p:spPr>
          <a:xfrm>
            <a:off x="4149497" y="4315610"/>
            <a:ext cx="55646" cy="10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5" name="Connector 294"/>
          <p:cNvCxnSpPr/>
          <p:nvPr/>
        </p:nvCxnSpPr>
        <p:spPr>
          <a:xfrm>
            <a:off x="4205143" y="4316613"/>
            <a:ext cx="55642" cy="11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6" name="Connector 295"/>
          <p:cNvCxnSpPr/>
          <p:nvPr/>
        </p:nvCxnSpPr>
        <p:spPr>
          <a:xfrm>
            <a:off x="4260785" y="4317735"/>
            <a:ext cx="55638" cy="124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7" name="Connector 296"/>
          <p:cNvCxnSpPr/>
          <p:nvPr/>
        </p:nvCxnSpPr>
        <p:spPr>
          <a:xfrm>
            <a:off x="4316423" y="4318975"/>
            <a:ext cx="55632" cy="13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8" name="Connector 297"/>
          <p:cNvCxnSpPr/>
          <p:nvPr/>
        </p:nvCxnSpPr>
        <p:spPr>
          <a:xfrm>
            <a:off x="4372055" y="4320332"/>
            <a:ext cx="55627" cy="14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9" name="Connector 298"/>
          <p:cNvCxnSpPr/>
          <p:nvPr/>
        </p:nvCxnSpPr>
        <p:spPr>
          <a:xfrm>
            <a:off x="4427682" y="4321808"/>
            <a:ext cx="55621" cy="15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0" name="Connector 299"/>
          <p:cNvCxnSpPr/>
          <p:nvPr/>
        </p:nvCxnSpPr>
        <p:spPr>
          <a:xfrm>
            <a:off x="4483303" y="4323402"/>
            <a:ext cx="55615" cy="17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1" name="Connector 300"/>
          <p:cNvCxnSpPr/>
          <p:nvPr/>
        </p:nvCxnSpPr>
        <p:spPr>
          <a:xfrm>
            <a:off x="4538918" y="4325115"/>
            <a:ext cx="55608" cy="18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2" name="Connector 301"/>
          <p:cNvCxnSpPr/>
          <p:nvPr/>
        </p:nvCxnSpPr>
        <p:spPr>
          <a:xfrm>
            <a:off x="4594526" y="4326945"/>
            <a:ext cx="55600" cy="19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3" name="Connector 302"/>
          <p:cNvCxnSpPr/>
          <p:nvPr/>
        </p:nvCxnSpPr>
        <p:spPr>
          <a:xfrm>
            <a:off x="4650126" y="4328893"/>
            <a:ext cx="55593" cy="20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4" name="Connector 303"/>
          <p:cNvCxnSpPr/>
          <p:nvPr/>
        </p:nvCxnSpPr>
        <p:spPr>
          <a:xfrm>
            <a:off x="4705719" y="4330960"/>
            <a:ext cx="55584" cy="21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5" name="Connector 304"/>
          <p:cNvCxnSpPr/>
          <p:nvPr/>
        </p:nvCxnSpPr>
        <p:spPr>
          <a:xfrm>
            <a:off x="4761303" y="4333144"/>
            <a:ext cx="55576" cy="23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6" name="Connector 305"/>
          <p:cNvCxnSpPr/>
          <p:nvPr/>
        </p:nvCxnSpPr>
        <p:spPr>
          <a:xfrm>
            <a:off x="4816879" y="4335447"/>
            <a:ext cx="55567" cy="24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7" name="Connector 306"/>
          <p:cNvCxnSpPr/>
          <p:nvPr/>
        </p:nvCxnSpPr>
        <p:spPr>
          <a:xfrm>
            <a:off x="4872446" y="4337868"/>
            <a:ext cx="55557" cy="25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8" name="Connector 307"/>
          <p:cNvCxnSpPr/>
          <p:nvPr/>
        </p:nvCxnSpPr>
        <p:spPr>
          <a:xfrm>
            <a:off x="4928003" y="4340407"/>
            <a:ext cx="55547" cy="26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9" name="Connector 308"/>
          <p:cNvCxnSpPr/>
          <p:nvPr/>
        </p:nvCxnSpPr>
        <p:spPr>
          <a:xfrm>
            <a:off x="4983550" y="4343064"/>
            <a:ext cx="55537" cy="277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0" name="Connector 309"/>
          <p:cNvCxnSpPr/>
          <p:nvPr/>
        </p:nvCxnSpPr>
        <p:spPr>
          <a:xfrm>
            <a:off x="5039087" y="4345839"/>
            <a:ext cx="55525" cy="28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1" name="Connector 310"/>
          <p:cNvCxnSpPr/>
          <p:nvPr/>
        </p:nvCxnSpPr>
        <p:spPr>
          <a:xfrm>
            <a:off x="5094612" y="4348733"/>
            <a:ext cx="55515" cy="30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2" name="Connector 311"/>
          <p:cNvCxnSpPr/>
          <p:nvPr/>
        </p:nvCxnSpPr>
        <p:spPr>
          <a:xfrm>
            <a:off x="5150127" y="4351744"/>
            <a:ext cx="55502" cy="31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3" name="Connector 312"/>
          <p:cNvCxnSpPr/>
          <p:nvPr/>
        </p:nvCxnSpPr>
        <p:spPr>
          <a:xfrm>
            <a:off x="5205629" y="4354874"/>
            <a:ext cx="55490" cy="32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4" name="Connector 313"/>
          <p:cNvCxnSpPr/>
          <p:nvPr/>
        </p:nvCxnSpPr>
        <p:spPr>
          <a:xfrm>
            <a:off x="5261119" y="4358122"/>
            <a:ext cx="55477" cy="3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5" name="Connector 314"/>
          <p:cNvCxnSpPr/>
          <p:nvPr/>
        </p:nvCxnSpPr>
        <p:spPr>
          <a:xfrm>
            <a:off x="5316596" y="4361488"/>
            <a:ext cx="55464" cy="3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6" name="Connector 315"/>
          <p:cNvCxnSpPr/>
          <p:nvPr/>
        </p:nvCxnSpPr>
        <p:spPr>
          <a:xfrm>
            <a:off x="5372060" y="4364973"/>
            <a:ext cx="55450" cy="36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7" name="Connector 316"/>
          <p:cNvCxnSpPr/>
          <p:nvPr/>
        </p:nvCxnSpPr>
        <p:spPr>
          <a:xfrm>
            <a:off x="5427510" y="4368575"/>
            <a:ext cx="55436" cy="37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8" name="Connector 317"/>
          <p:cNvCxnSpPr/>
          <p:nvPr/>
        </p:nvCxnSpPr>
        <p:spPr>
          <a:xfrm>
            <a:off x="5482946" y="4372296"/>
            <a:ext cx="55422" cy="38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9" name="Connector 318"/>
          <p:cNvCxnSpPr/>
          <p:nvPr/>
        </p:nvCxnSpPr>
        <p:spPr>
          <a:xfrm>
            <a:off x="5538368" y="4376135"/>
            <a:ext cx="55406" cy="39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0" name="Connector 319"/>
          <p:cNvCxnSpPr/>
          <p:nvPr/>
        </p:nvCxnSpPr>
        <p:spPr>
          <a:xfrm>
            <a:off x="5593774" y="4380092"/>
            <a:ext cx="55391" cy="40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1" name="Connector 320"/>
          <p:cNvCxnSpPr/>
          <p:nvPr/>
        </p:nvCxnSpPr>
        <p:spPr>
          <a:xfrm flipV="1">
            <a:off x="1809240" y="5661717"/>
            <a:ext cx="52447" cy="41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2" name="Connector 321"/>
          <p:cNvCxnSpPr/>
          <p:nvPr/>
        </p:nvCxnSpPr>
        <p:spPr>
          <a:xfrm flipV="1">
            <a:off x="1861687" y="5657705"/>
            <a:ext cx="52464" cy="401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3" name="Connector 322"/>
          <p:cNvCxnSpPr/>
          <p:nvPr/>
        </p:nvCxnSpPr>
        <p:spPr>
          <a:xfrm flipV="1">
            <a:off x="1914151" y="5653809"/>
            <a:ext cx="52479" cy="38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4" name="Connector 323"/>
          <p:cNvCxnSpPr/>
          <p:nvPr/>
        </p:nvCxnSpPr>
        <p:spPr>
          <a:xfrm flipV="1">
            <a:off x="1966630" y="5650030"/>
            <a:ext cx="52495" cy="37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5" name="Connector 324"/>
          <p:cNvCxnSpPr/>
          <p:nvPr/>
        </p:nvCxnSpPr>
        <p:spPr>
          <a:xfrm flipV="1">
            <a:off x="2019125" y="5646367"/>
            <a:ext cx="52509" cy="36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6" name="Connector 325"/>
          <p:cNvCxnSpPr/>
          <p:nvPr/>
        </p:nvCxnSpPr>
        <p:spPr>
          <a:xfrm flipV="1">
            <a:off x="2071634" y="5642820"/>
            <a:ext cx="52523" cy="35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7" name="Connector 326"/>
          <p:cNvCxnSpPr/>
          <p:nvPr/>
        </p:nvCxnSpPr>
        <p:spPr>
          <a:xfrm flipV="1">
            <a:off x="2124157" y="5639390"/>
            <a:ext cx="52538" cy="34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8" name="Connector 327"/>
          <p:cNvCxnSpPr/>
          <p:nvPr/>
        </p:nvCxnSpPr>
        <p:spPr>
          <a:xfrm flipV="1">
            <a:off x="2176695" y="5636076"/>
            <a:ext cx="52551" cy="33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9" name="Connector 328"/>
          <p:cNvCxnSpPr/>
          <p:nvPr/>
        </p:nvCxnSpPr>
        <p:spPr>
          <a:xfrm flipV="1">
            <a:off x="2229246" y="5632878"/>
            <a:ext cx="52564" cy="3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0" name="Connector 329"/>
          <p:cNvCxnSpPr/>
          <p:nvPr/>
        </p:nvCxnSpPr>
        <p:spPr>
          <a:xfrm flipV="1">
            <a:off x="2281810" y="5629797"/>
            <a:ext cx="52576" cy="30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1" name="Connector 330"/>
          <p:cNvCxnSpPr/>
          <p:nvPr/>
        </p:nvCxnSpPr>
        <p:spPr>
          <a:xfrm flipV="1">
            <a:off x="2334386" y="5626832"/>
            <a:ext cx="52588" cy="296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2" name="Connector 331"/>
          <p:cNvCxnSpPr/>
          <p:nvPr/>
        </p:nvCxnSpPr>
        <p:spPr>
          <a:xfrm flipV="1">
            <a:off x="2386974" y="5623983"/>
            <a:ext cx="52600" cy="2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3" name="Connector 332"/>
          <p:cNvCxnSpPr/>
          <p:nvPr/>
        </p:nvCxnSpPr>
        <p:spPr>
          <a:xfrm flipV="1">
            <a:off x="2439574" y="5621251"/>
            <a:ext cx="52611" cy="27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4" name="Connector 333"/>
          <p:cNvCxnSpPr/>
          <p:nvPr/>
        </p:nvCxnSpPr>
        <p:spPr>
          <a:xfrm flipV="1">
            <a:off x="2492185" y="5618634"/>
            <a:ext cx="52622" cy="26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5" name="Connector 334"/>
          <p:cNvCxnSpPr/>
          <p:nvPr/>
        </p:nvCxnSpPr>
        <p:spPr>
          <a:xfrm flipV="1">
            <a:off x="2544807" y="5616135"/>
            <a:ext cx="52631" cy="24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6" name="Connector 335"/>
          <p:cNvCxnSpPr/>
          <p:nvPr/>
        </p:nvCxnSpPr>
        <p:spPr>
          <a:xfrm flipV="1">
            <a:off x="2597438" y="5613751"/>
            <a:ext cx="52642" cy="23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7" name="Connector 336"/>
          <p:cNvCxnSpPr/>
          <p:nvPr/>
        </p:nvCxnSpPr>
        <p:spPr>
          <a:xfrm flipV="1">
            <a:off x="2650080" y="5611484"/>
            <a:ext cx="52651" cy="2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8" name="Connector 337"/>
          <p:cNvCxnSpPr/>
          <p:nvPr/>
        </p:nvCxnSpPr>
        <p:spPr>
          <a:xfrm flipV="1">
            <a:off x="2702731" y="5609333"/>
            <a:ext cx="52659" cy="215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9" name="Connector 338"/>
          <p:cNvCxnSpPr/>
          <p:nvPr/>
        </p:nvCxnSpPr>
        <p:spPr>
          <a:xfrm flipV="1">
            <a:off x="2755390" y="5607299"/>
            <a:ext cx="52668" cy="20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0" name="Connector 339"/>
          <p:cNvCxnSpPr/>
          <p:nvPr/>
        </p:nvCxnSpPr>
        <p:spPr>
          <a:xfrm flipV="1">
            <a:off x="2808058" y="5605380"/>
            <a:ext cx="52675" cy="1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1" name="Connector 340"/>
          <p:cNvCxnSpPr/>
          <p:nvPr/>
        </p:nvCxnSpPr>
        <p:spPr>
          <a:xfrm flipV="1">
            <a:off x="2860733" y="5603578"/>
            <a:ext cx="52683" cy="1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2" name="Connector 341"/>
          <p:cNvCxnSpPr/>
          <p:nvPr/>
        </p:nvCxnSpPr>
        <p:spPr>
          <a:xfrm flipV="1">
            <a:off x="2913416" y="5601893"/>
            <a:ext cx="52690" cy="16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3" name="Connector 342"/>
          <p:cNvCxnSpPr/>
          <p:nvPr/>
        </p:nvCxnSpPr>
        <p:spPr>
          <a:xfrm flipV="1">
            <a:off x="2966106" y="5600323"/>
            <a:ext cx="52697" cy="157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4" name="Connector 343"/>
          <p:cNvCxnSpPr/>
          <p:nvPr/>
        </p:nvCxnSpPr>
        <p:spPr>
          <a:xfrm flipV="1">
            <a:off x="3018803" y="5598870"/>
            <a:ext cx="52702" cy="14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5" name="Connector 344"/>
          <p:cNvCxnSpPr/>
          <p:nvPr/>
        </p:nvCxnSpPr>
        <p:spPr>
          <a:xfrm flipV="1">
            <a:off x="3071505" y="5597533"/>
            <a:ext cx="52708" cy="133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6" name="Connector 345"/>
          <p:cNvCxnSpPr/>
          <p:nvPr/>
        </p:nvCxnSpPr>
        <p:spPr>
          <a:xfrm flipV="1">
            <a:off x="3124213" y="5596312"/>
            <a:ext cx="52713" cy="12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7" name="Connector 346"/>
          <p:cNvCxnSpPr/>
          <p:nvPr/>
        </p:nvCxnSpPr>
        <p:spPr>
          <a:xfrm flipV="1">
            <a:off x="3176926" y="5595208"/>
            <a:ext cx="52718" cy="11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8" name="Connector 347"/>
          <p:cNvCxnSpPr/>
          <p:nvPr/>
        </p:nvCxnSpPr>
        <p:spPr>
          <a:xfrm flipV="1">
            <a:off x="3229644" y="5594220"/>
            <a:ext cx="52722" cy="9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9" name="Connector 348"/>
          <p:cNvCxnSpPr/>
          <p:nvPr/>
        </p:nvCxnSpPr>
        <p:spPr>
          <a:xfrm flipV="1">
            <a:off x="3282366" y="5593348"/>
            <a:ext cx="52725" cy="8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0" name="Connector 349"/>
          <p:cNvCxnSpPr/>
          <p:nvPr/>
        </p:nvCxnSpPr>
        <p:spPr>
          <a:xfrm flipV="1">
            <a:off x="3335091" y="5592592"/>
            <a:ext cx="52729" cy="75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1" name="Connector 350"/>
          <p:cNvCxnSpPr/>
          <p:nvPr/>
        </p:nvCxnSpPr>
        <p:spPr>
          <a:xfrm flipV="1">
            <a:off x="3387820" y="5591953"/>
            <a:ext cx="52732" cy="6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2" name="Connector 351"/>
          <p:cNvCxnSpPr/>
          <p:nvPr/>
        </p:nvCxnSpPr>
        <p:spPr>
          <a:xfrm flipV="1">
            <a:off x="3440552" y="5591430"/>
            <a:ext cx="52733" cy="52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3" name="Connector 352"/>
          <p:cNvCxnSpPr/>
          <p:nvPr/>
        </p:nvCxnSpPr>
        <p:spPr>
          <a:xfrm flipV="1">
            <a:off x="3493285" y="5591023"/>
            <a:ext cx="52736" cy="4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4" name="Connector 353"/>
          <p:cNvCxnSpPr/>
          <p:nvPr/>
        </p:nvCxnSpPr>
        <p:spPr>
          <a:xfrm flipV="1">
            <a:off x="3546021" y="5590732"/>
            <a:ext cx="52737" cy="2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5" name="Connector 354"/>
          <p:cNvCxnSpPr/>
          <p:nvPr/>
        </p:nvCxnSpPr>
        <p:spPr>
          <a:xfrm flipV="1">
            <a:off x="3598758" y="5590558"/>
            <a:ext cx="52738" cy="1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6" name="Connector 355"/>
          <p:cNvCxnSpPr/>
          <p:nvPr/>
        </p:nvCxnSpPr>
        <p:spPr>
          <a:xfrm flipV="1">
            <a:off x="3651496" y="5590500"/>
            <a:ext cx="52739" cy="5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7" name="Connector 356"/>
          <p:cNvCxnSpPr/>
          <p:nvPr/>
        </p:nvCxnSpPr>
        <p:spPr>
          <a:xfrm>
            <a:off x="3704235" y="5590500"/>
            <a:ext cx="52738" cy="5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8" name="Connector 357"/>
          <p:cNvCxnSpPr/>
          <p:nvPr/>
        </p:nvCxnSpPr>
        <p:spPr>
          <a:xfrm>
            <a:off x="3756973" y="5590558"/>
            <a:ext cx="52738" cy="1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9" name="Connector 358"/>
          <p:cNvCxnSpPr/>
          <p:nvPr/>
        </p:nvCxnSpPr>
        <p:spPr>
          <a:xfrm>
            <a:off x="3809711" y="5590732"/>
            <a:ext cx="52737" cy="2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0" name="Connector 359"/>
          <p:cNvCxnSpPr/>
          <p:nvPr/>
        </p:nvCxnSpPr>
        <p:spPr>
          <a:xfrm>
            <a:off x="3862448" y="5591023"/>
            <a:ext cx="52736" cy="4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1" name="Connector 360"/>
          <p:cNvCxnSpPr/>
          <p:nvPr/>
        </p:nvCxnSpPr>
        <p:spPr>
          <a:xfrm>
            <a:off x="3915184" y="5591430"/>
            <a:ext cx="52734" cy="52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2" name="Connector 361"/>
          <p:cNvCxnSpPr/>
          <p:nvPr/>
        </p:nvCxnSpPr>
        <p:spPr>
          <a:xfrm>
            <a:off x="3967918" y="5591953"/>
            <a:ext cx="52731" cy="6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3" name="Connector 362"/>
          <p:cNvCxnSpPr/>
          <p:nvPr/>
        </p:nvCxnSpPr>
        <p:spPr>
          <a:xfrm>
            <a:off x="4020649" y="5592592"/>
            <a:ext cx="52729" cy="75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4" name="Connector 363"/>
          <p:cNvCxnSpPr/>
          <p:nvPr/>
        </p:nvCxnSpPr>
        <p:spPr>
          <a:xfrm>
            <a:off x="4073378" y="5593348"/>
            <a:ext cx="52725" cy="8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5" name="Connector 364"/>
          <p:cNvCxnSpPr/>
          <p:nvPr/>
        </p:nvCxnSpPr>
        <p:spPr>
          <a:xfrm>
            <a:off x="4126103" y="5594220"/>
            <a:ext cx="52722" cy="9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6" name="Connector 365"/>
          <p:cNvCxnSpPr/>
          <p:nvPr/>
        </p:nvCxnSpPr>
        <p:spPr>
          <a:xfrm>
            <a:off x="4178825" y="5595208"/>
            <a:ext cx="52718" cy="11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7" name="Connector 366"/>
          <p:cNvCxnSpPr/>
          <p:nvPr/>
        </p:nvCxnSpPr>
        <p:spPr>
          <a:xfrm>
            <a:off x="4231543" y="5596312"/>
            <a:ext cx="52713" cy="12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8" name="Connector 367"/>
          <p:cNvCxnSpPr/>
          <p:nvPr/>
        </p:nvCxnSpPr>
        <p:spPr>
          <a:xfrm>
            <a:off x="4284256" y="5597533"/>
            <a:ext cx="52708" cy="133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9" name="Connector 368"/>
          <p:cNvCxnSpPr/>
          <p:nvPr/>
        </p:nvCxnSpPr>
        <p:spPr>
          <a:xfrm>
            <a:off x="4336964" y="5598870"/>
            <a:ext cx="52702" cy="14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0" name="Connector 369"/>
          <p:cNvCxnSpPr/>
          <p:nvPr/>
        </p:nvCxnSpPr>
        <p:spPr>
          <a:xfrm>
            <a:off x="4389666" y="5600323"/>
            <a:ext cx="52697" cy="157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1" name="Connector 370"/>
          <p:cNvCxnSpPr/>
          <p:nvPr/>
        </p:nvCxnSpPr>
        <p:spPr>
          <a:xfrm>
            <a:off x="4442363" y="5601893"/>
            <a:ext cx="52690" cy="16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2" name="Connector 371"/>
          <p:cNvCxnSpPr/>
          <p:nvPr/>
        </p:nvCxnSpPr>
        <p:spPr>
          <a:xfrm>
            <a:off x="4495053" y="5603578"/>
            <a:ext cx="52683" cy="1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3" name="Connector 372"/>
          <p:cNvCxnSpPr/>
          <p:nvPr/>
        </p:nvCxnSpPr>
        <p:spPr>
          <a:xfrm>
            <a:off x="4547736" y="5605380"/>
            <a:ext cx="52675" cy="1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4" name="Connector 373"/>
          <p:cNvCxnSpPr/>
          <p:nvPr/>
        </p:nvCxnSpPr>
        <p:spPr>
          <a:xfrm>
            <a:off x="4600411" y="5607299"/>
            <a:ext cx="52668" cy="20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5" name="Connector 374"/>
          <p:cNvCxnSpPr/>
          <p:nvPr/>
        </p:nvCxnSpPr>
        <p:spPr>
          <a:xfrm>
            <a:off x="4653079" y="5609333"/>
            <a:ext cx="52660" cy="215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6" name="Connector 375"/>
          <p:cNvCxnSpPr/>
          <p:nvPr/>
        </p:nvCxnSpPr>
        <p:spPr>
          <a:xfrm>
            <a:off x="4705739" y="5611484"/>
            <a:ext cx="52650" cy="2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7" name="Connector 376"/>
          <p:cNvCxnSpPr/>
          <p:nvPr/>
        </p:nvCxnSpPr>
        <p:spPr>
          <a:xfrm>
            <a:off x="4758389" y="5613751"/>
            <a:ext cx="52642" cy="23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8" name="Connector 377"/>
          <p:cNvCxnSpPr/>
          <p:nvPr/>
        </p:nvCxnSpPr>
        <p:spPr>
          <a:xfrm>
            <a:off x="4811031" y="5616135"/>
            <a:ext cx="52632" cy="24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9" name="Connector 378"/>
          <p:cNvCxnSpPr/>
          <p:nvPr/>
        </p:nvCxnSpPr>
        <p:spPr>
          <a:xfrm>
            <a:off x="4863663" y="5618634"/>
            <a:ext cx="52621" cy="26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0" name="Connector 379"/>
          <p:cNvCxnSpPr/>
          <p:nvPr/>
        </p:nvCxnSpPr>
        <p:spPr>
          <a:xfrm>
            <a:off x="4916284" y="5621251"/>
            <a:ext cx="52611" cy="27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1" name="Connector 380"/>
          <p:cNvCxnSpPr/>
          <p:nvPr/>
        </p:nvCxnSpPr>
        <p:spPr>
          <a:xfrm>
            <a:off x="4968895" y="5623983"/>
            <a:ext cx="52600" cy="2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2" name="Connector 381"/>
          <p:cNvCxnSpPr/>
          <p:nvPr/>
        </p:nvCxnSpPr>
        <p:spPr>
          <a:xfrm>
            <a:off x="5021495" y="5626832"/>
            <a:ext cx="52588" cy="296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3" name="Connector 382"/>
          <p:cNvCxnSpPr/>
          <p:nvPr/>
        </p:nvCxnSpPr>
        <p:spPr>
          <a:xfrm>
            <a:off x="5074083" y="5629797"/>
            <a:ext cx="52577" cy="30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4" name="Connector 383"/>
          <p:cNvCxnSpPr/>
          <p:nvPr/>
        </p:nvCxnSpPr>
        <p:spPr>
          <a:xfrm>
            <a:off x="5126660" y="5632878"/>
            <a:ext cx="52563" cy="3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5" name="Connector 384"/>
          <p:cNvCxnSpPr/>
          <p:nvPr/>
        </p:nvCxnSpPr>
        <p:spPr>
          <a:xfrm>
            <a:off x="5179223" y="5636076"/>
            <a:ext cx="52551" cy="33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6" name="Connector 385"/>
          <p:cNvCxnSpPr/>
          <p:nvPr/>
        </p:nvCxnSpPr>
        <p:spPr>
          <a:xfrm>
            <a:off x="5231774" y="5639390"/>
            <a:ext cx="52538" cy="34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7" name="Connector 386"/>
          <p:cNvCxnSpPr/>
          <p:nvPr/>
        </p:nvCxnSpPr>
        <p:spPr>
          <a:xfrm>
            <a:off x="5284312" y="5642820"/>
            <a:ext cx="52523" cy="35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8" name="Connector 387"/>
          <p:cNvCxnSpPr/>
          <p:nvPr/>
        </p:nvCxnSpPr>
        <p:spPr>
          <a:xfrm>
            <a:off x="5336835" y="5646367"/>
            <a:ext cx="52510" cy="36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9" name="Connector 388"/>
          <p:cNvCxnSpPr/>
          <p:nvPr/>
        </p:nvCxnSpPr>
        <p:spPr>
          <a:xfrm>
            <a:off x="5389345" y="5650030"/>
            <a:ext cx="52494" cy="37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0" name="Connector 389"/>
          <p:cNvCxnSpPr/>
          <p:nvPr/>
        </p:nvCxnSpPr>
        <p:spPr>
          <a:xfrm>
            <a:off x="5441839" y="5653809"/>
            <a:ext cx="52479" cy="38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1" name="Connector 390"/>
          <p:cNvCxnSpPr/>
          <p:nvPr/>
        </p:nvCxnSpPr>
        <p:spPr>
          <a:xfrm>
            <a:off x="5494318" y="5657705"/>
            <a:ext cx="52464" cy="401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2" name="Connector 391"/>
          <p:cNvCxnSpPr/>
          <p:nvPr/>
        </p:nvCxnSpPr>
        <p:spPr>
          <a:xfrm flipH="1" flipV="1">
            <a:off x="1817670" y="2685759"/>
            <a:ext cx="9059" cy="153194"/>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sp>
        <p:nvSpPr>
          <p:cNvPr id="393" name="TextBox 392"/>
          <p:cNvSpPr txBox="1"/>
          <p:nvPr/>
        </p:nvSpPr>
        <p:spPr>
          <a:xfrm>
            <a:off x="1744518" y="2475447"/>
            <a:ext cx="182880" cy="182880"/>
          </a:xfrm>
          <a:prstGeom prst="rect">
            <a:avLst/>
          </a:prstGeom>
          <a:noFill/>
        </p:spPr>
        <p:txBody>
          <a:bodyPr wrap="square" lIns="22860" rIns="22860" tIns="0" bIns="0">
            <a:spAutoFit/>
          </a:bodyPr>
          <a:lstStyle/>
          <a:p>
            <a:pPr>
              <a:spcAft>
                <a:spcPts val="300"/>
              </a:spcAft>
              <a:defRPr sz="900" b="1">
                <a:solidFill>
                  <a:srgbClr val="000000"/>
                </a:solidFill>
                <a:latin typeface="Lato"/>
              </a:defRPr>
            </a:pPr>
            <a:r>
              <a:t>N</a:t>
            </a:r>
          </a:p>
        </p:txBody>
      </p:sp>
      <p:cxnSp>
        <p:nvCxnSpPr>
          <p:cNvPr id="394" name="Connector 393"/>
          <p:cNvCxnSpPr/>
          <p:nvPr/>
        </p:nvCxnSpPr>
        <p:spPr>
          <a:xfrm flipH="1">
            <a:off x="1781094" y="2685759"/>
            <a:ext cx="36576" cy="82296"/>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5" name="Connector 394"/>
          <p:cNvCxnSpPr/>
          <p:nvPr/>
        </p:nvCxnSpPr>
        <p:spPr>
          <a:xfrm>
            <a:off x="1817670" y="2685759"/>
            <a:ext cx="36576" cy="82296"/>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6" name="Connector 395"/>
          <p:cNvCxnSpPr/>
          <p:nvPr/>
        </p:nvCxnSpPr>
        <p:spPr>
          <a:xfrm>
            <a:off x="640080" y="5632704"/>
            <a:ext cx="1153731" cy="0"/>
          </a:xfrm>
          <a:prstGeom prst="line">
            <a:avLst/>
          </a:prstGeom>
          <a:ln w="215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7" name="Connector 396"/>
          <p:cNvCxnSpPr/>
          <p:nvPr/>
        </p:nvCxnSpPr>
        <p:spPr>
          <a:xfrm>
            <a:off x="640080" y="5600700"/>
            <a:ext cx="0" cy="64008"/>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8" name="Connector 397"/>
          <p:cNvCxnSpPr/>
          <p:nvPr/>
        </p:nvCxnSpPr>
        <p:spPr>
          <a:xfrm>
            <a:off x="1216945" y="5600700"/>
            <a:ext cx="0" cy="64008"/>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9" name="Connector 398"/>
          <p:cNvCxnSpPr/>
          <p:nvPr/>
        </p:nvCxnSpPr>
        <p:spPr>
          <a:xfrm>
            <a:off x="1793811" y="5600700"/>
            <a:ext cx="0" cy="64008"/>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sp>
        <p:nvSpPr>
          <p:cNvPr id="400" name="TextBox 399"/>
          <p:cNvSpPr txBox="1"/>
          <p:nvPr/>
        </p:nvSpPr>
        <p:spPr>
          <a:xfrm>
            <a:off x="621792" y="5422392"/>
            <a:ext cx="164592" cy="164592"/>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0</a:t>
            </a:r>
          </a:p>
        </p:txBody>
      </p:sp>
      <p:sp>
        <p:nvSpPr>
          <p:cNvPr id="401" name="TextBox 400"/>
          <p:cNvSpPr txBox="1"/>
          <p:nvPr/>
        </p:nvSpPr>
        <p:spPr>
          <a:xfrm>
            <a:off x="1647507" y="5422392"/>
            <a:ext cx="502920" cy="164592"/>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500 km</a:t>
            </a:r>
          </a:p>
        </p:txBody>
      </p:sp>
      <p:sp>
        <p:nvSpPr>
          <p:cNvPr id="402" name="2022 provincial petrol/diesel sales: EC"/>
          <p:cNvSpPr/>
          <p:nvPr/>
        </p:nvSpPr>
        <p:spPr>
          <a:xfrm>
            <a:off x="3217820" y="4327517"/>
            <a:ext cx="1626648" cy="1062036"/>
          </a:xfrm>
          <a:custGeom>
            <a:avLst/>
            <a:gdLst/>
            <a:ahLst/>
            <a:cxnLst/>
            <a:rect l="l" t="t" r="r" b="b"/>
            <a:pathLst>
              <a:path w="1626648" h="1062036">
                <a:moveTo>
                  <a:pt x="1626648" y="291217"/>
                </a:moveTo>
                <a:lnTo>
                  <a:pt x="1600396" y="324955"/>
                </a:lnTo>
                <a:lnTo>
                  <a:pt x="1552222" y="372068"/>
                </a:lnTo>
                <a:lnTo>
                  <a:pt x="1532452" y="375347"/>
                </a:lnTo>
                <a:lnTo>
                  <a:pt x="1481036" y="423881"/>
                </a:lnTo>
                <a:lnTo>
                  <a:pt x="1453741" y="435408"/>
                </a:lnTo>
                <a:lnTo>
                  <a:pt x="1449105" y="446073"/>
                </a:lnTo>
                <a:lnTo>
                  <a:pt x="1438747" y="451957"/>
                </a:lnTo>
                <a:lnTo>
                  <a:pt x="1436318" y="463441"/>
                </a:lnTo>
                <a:lnTo>
                  <a:pt x="1417163" y="478127"/>
                </a:lnTo>
                <a:lnTo>
                  <a:pt x="1405540" y="498493"/>
                </a:lnTo>
                <a:lnTo>
                  <a:pt x="1388233" y="510898"/>
                </a:lnTo>
                <a:lnTo>
                  <a:pt x="1377202" y="532111"/>
                </a:lnTo>
                <a:lnTo>
                  <a:pt x="1362051" y="541960"/>
                </a:lnTo>
                <a:lnTo>
                  <a:pt x="1330982" y="581759"/>
                </a:lnTo>
                <a:lnTo>
                  <a:pt x="1308715" y="596970"/>
                </a:lnTo>
                <a:lnTo>
                  <a:pt x="1256150" y="654155"/>
                </a:lnTo>
                <a:lnTo>
                  <a:pt x="1230251" y="668343"/>
                </a:lnTo>
                <a:lnTo>
                  <a:pt x="1216543" y="686817"/>
                </a:lnTo>
                <a:lnTo>
                  <a:pt x="1165080" y="711568"/>
                </a:lnTo>
                <a:lnTo>
                  <a:pt x="1151740" y="738027"/>
                </a:lnTo>
                <a:lnTo>
                  <a:pt x="1125327" y="754410"/>
                </a:lnTo>
                <a:lnTo>
                  <a:pt x="1117376" y="766896"/>
                </a:lnTo>
                <a:lnTo>
                  <a:pt x="1074306" y="789536"/>
                </a:lnTo>
                <a:lnTo>
                  <a:pt x="1046671" y="814744"/>
                </a:lnTo>
                <a:lnTo>
                  <a:pt x="949172" y="878333"/>
                </a:lnTo>
                <a:lnTo>
                  <a:pt x="939555" y="889984"/>
                </a:lnTo>
                <a:lnTo>
                  <a:pt x="901724" y="903829"/>
                </a:lnTo>
                <a:lnTo>
                  <a:pt x="886408" y="915044"/>
                </a:lnTo>
                <a:lnTo>
                  <a:pt x="859634" y="921425"/>
                </a:lnTo>
                <a:lnTo>
                  <a:pt x="819926" y="945234"/>
                </a:lnTo>
                <a:lnTo>
                  <a:pt x="800548" y="951402"/>
                </a:lnTo>
                <a:lnTo>
                  <a:pt x="769694" y="949621"/>
                </a:lnTo>
                <a:lnTo>
                  <a:pt x="707203" y="932919"/>
                </a:lnTo>
                <a:lnTo>
                  <a:pt x="655271" y="942321"/>
                </a:lnTo>
                <a:lnTo>
                  <a:pt x="628675" y="962207"/>
                </a:lnTo>
                <a:lnTo>
                  <a:pt x="617419" y="986949"/>
                </a:lnTo>
                <a:lnTo>
                  <a:pt x="617199" y="994455"/>
                </a:lnTo>
                <a:lnTo>
                  <a:pt x="636585" y="1015956"/>
                </a:lnTo>
                <a:lnTo>
                  <a:pt x="610310" y="1020625"/>
                </a:lnTo>
                <a:lnTo>
                  <a:pt x="573395" y="1016635"/>
                </a:lnTo>
                <a:lnTo>
                  <a:pt x="529835" y="999060"/>
                </a:lnTo>
                <a:lnTo>
                  <a:pt x="490048" y="1000441"/>
                </a:lnTo>
                <a:lnTo>
                  <a:pt x="471149" y="1011118"/>
                </a:lnTo>
                <a:lnTo>
                  <a:pt x="469864" y="1027741"/>
                </a:lnTo>
                <a:lnTo>
                  <a:pt x="452936" y="1043577"/>
                </a:lnTo>
                <a:lnTo>
                  <a:pt x="450696" y="1050279"/>
                </a:lnTo>
                <a:lnTo>
                  <a:pt x="459042" y="1057644"/>
                </a:lnTo>
                <a:lnTo>
                  <a:pt x="451741" y="1062036"/>
                </a:lnTo>
                <a:lnTo>
                  <a:pt x="411111" y="1051678"/>
                </a:lnTo>
                <a:lnTo>
                  <a:pt x="403086" y="1056406"/>
                </a:lnTo>
                <a:lnTo>
                  <a:pt x="378057" y="1050435"/>
                </a:lnTo>
                <a:lnTo>
                  <a:pt x="354681" y="1034044"/>
                </a:lnTo>
                <a:lnTo>
                  <a:pt x="339416" y="1033817"/>
                </a:lnTo>
                <a:lnTo>
                  <a:pt x="314495" y="1023274"/>
                </a:lnTo>
                <a:lnTo>
                  <a:pt x="197202" y="1006379"/>
                </a:lnTo>
                <a:lnTo>
                  <a:pt x="195364" y="986818"/>
                </a:lnTo>
                <a:lnTo>
                  <a:pt x="209291" y="974144"/>
                </a:lnTo>
                <a:lnTo>
                  <a:pt x="178963" y="965525"/>
                </a:lnTo>
                <a:lnTo>
                  <a:pt x="177856" y="956453"/>
                </a:lnTo>
                <a:lnTo>
                  <a:pt x="169576" y="953672"/>
                </a:lnTo>
                <a:lnTo>
                  <a:pt x="163303" y="960252"/>
                </a:lnTo>
                <a:lnTo>
                  <a:pt x="143142" y="956718"/>
                </a:lnTo>
                <a:lnTo>
                  <a:pt x="152462" y="937345"/>
                </a:lnTo>
                <a:lnTo>
                  <a:pt x="174088" y="932495"/>
                </a:lnTo>
                <a:lnTo>
                  <a:pt x="177187" y="920180"/>
                </a:lnTo>
                <a:lnTo>
                  <a:pt x="183552" y="925525"/>
                </a:lnTo>
                <a:lnTo>
                  <a:pt x="201656" y="925259"/>
                </a:lnTo>
                <a:lnTo>
                  <a:pt x="202480" y="913310"/>
                </a:lnTo>
                <a:lnTo>
                  <a:pt x="185421" y="899869"/>
                </a:lnTo>
                <a:lnTo>
                  <a:pt x="186839" y="880384"/>
                </a:lnTo>
                <a:lnTo>
                  <a:pt x="163393" y="867136"/>
                </a:lnTo>
                <a:lnTo>
                  <a:pt x="133168" y="866970"/>
                </a:lnTo>
                <a:lnTo>
                  <a:pt x="135221" y="872205"/>
                </a:lnTo>
                <a:lnTo>
                  <a:pt x="120555" y="853719"/>
                </a:lnTo>
                <a:lnTo>
                  <a:pt x="85680" y="854000"/>
                </a:lnTo>
                <a:lnTo>
                  <a:pt x="42919" y="865353"/>
                </a:lnTo>
                <a:lnTo>
                  <a:pt x="8442" y="863593"/>
                </a:lnTo>
                <a:lnTo>
                  <a:pt x="0" y="857370"/>
                </a:lnTo>
                <a:lnTo>
                  <a:pt x="377" y="839254"/>
                </a:lnTo>
                <a:lnTo>
                  <a:pt x="11249" y="834778"/>
                </a:lnTo>
                <a:lnTo>
                  <a:pt x="45596" y="774241"/>
                </a:lnTo>
                <a:lnTo>
                  <a:pt x="40770" y="761158"/>
                </a:lnTo>
                <a:lnTo>
                  <a:pt x="48217" y="753789"/>
                </a:lnTo>
                <a:lnTo>
                  <a:pt x="43585" y="742786"/>
                </a:lnTo>
                <a:lnTo>
                  <a:pt x="55889" y="722817"/>
                </a:lnTo>
                <a:lnTo>
                  <a:pt x="79366" y="718628"/>
                </a:lnTo>
                <a:lnTo>
                  <a:pt x="73248" y="703680"/>
                </a:lnTo>
                <a:lnTo>
                  <a:pt x="94332" y="695223"/>
                </a:lnTo>
                <a:lnTo>
                  <a:pt x="135896" y="709335"/>
                </a:lnTo>
                <a:lnTo>
                  <a:pt x="139796" y="693540"/>
                </a:lnTo>
                <a:lnTo>
                  <a:pt x="129817" y="693760"/>
                </a:lnTo>
                <a:lnTo>
                  <a:pt x="125528" y="678428"/>
                </a:lnTo>
                <a:lnTo>
                  <a:pt x="111699" y="670412"/>
                </a:lnTo>
                <a:lnTo>
                  <a:pt x="118492" y="665275"/>
                </a:lnTo>
                <a:lnTo>
                  <a:pt x="119628" y="654983"/>
                </a:lnTo>
                <a:lnTo>
                  <a:pt x="115240" y="639594"/>
                </a:lnTo>
                <a:lnTo>
                  <a:pt x="105613" y="630023"/>
                </a:lnTo>
                <a:lnTo>
                  <a:pt x="100288" y="607545"/>
                </a:lnTo>
                <a:lnTo>
                  <a:pt x="118782" y="599818"/>
                </a:lnTo>
                <a:lnTo>
                  <a:pt x="124194" y="588285"/>
                </a:lnTo>
                <a:lnTo>
                  <a:pt x="141021" y="597784"/>
                </a:lnTo>
                <a:lnTo>
                  <a:pt x="149277" y="580807"/>
                </a:lnTo>
                <a:lnTo>
                  <a:pt x="196329" y="585582"/>
                </a:lnTo>
                <a:lnTo>
                  <a:pt x="199156" y="581682"/>
                </a:lnTo>
                <a:lnTo>
                  <a:pt x="192646" y="573804"/>
                </a:lnTo>
                <a:lnTo>
                  <a:pt x="197151" y="558315"/>
                </a:lnTo>
                <a:lnTo>
                  <a:pt x="217819" y="543010"/>
                </a:lnTo>
                <a:lnTo>
                  <a:pt x="245460" y="562227"/>
                </a:lnTo>
                <a:lnTo>
                  <a:pt x="260319" y="549702"/>
                </a:lnTo>
                <a:lnTo>
                  <a:pt x="275388" y="546236"/>
                </a:lnTo>
                <a:lnTo>
                  <a:pt x="276942" y="537181"/>
                </a:lnTo>
                <a:lnTo>
                  <a:pt x="290476" y="538574"/>
                </a:lnTo>
                <a:lnTo>
                  <a:pt x="298102" y="528065"/>
                </a:lnTo>
                <a:lnTo>
                  <a:pt x="292390" y="518171"/>
                </a:lnTo>
                <a:lnTo>
                  <a:pt x="289875" y="524965"/>
                </a:lnTo>
                <a:lnTo>
                  <a:pt x="290873" y="514499"/>
                </a:lnTo>
                <a:lnTo>
                  <a:pt x="299166" y="509697"/>
                </a:lnTo>
                <a:lnTo>
                  <a:pt x="299043" y="499556"/>
                </a:lnTo>
                <a:lnTo>
                  <a:pt x="309628" y="499618"/>
                </a:lnTo>
                <a:lnTo>
                  <a:pt x="316725" y="485090"/>
                </a:lnTo>
                <a:lnTo>
                  <a:pt x="303920" y="471564"/>
                </a:lnTo>
                <a:lnTo>
                  <a:pt x="291087" y="472795"/>
                </a:lnTo>
                <a:lnTo>
                  <a:pt x="294946" y="457501"/>
                </a:lnTo>
                <a:lnTo>
                  <a:pt x="301452" y="459432"/>
                </a:lnTo>
                <a:lnTo>
                  <a:pt x="301718" y="451135"/>
                </a:lnTo>
                <a:lnTo>
                  <a:pt x="308010" y="448737"/>
                </a:lnTo>
                <a:lnTo>
                  <a:pt x="301562" y="444954"/>
                </a:lnTo>
                <a:lnTo>
                  <a:pt x="303037" y="430067"/>
                </a:lnTo>
                <a:lnTo>
                  <a:pt x="330074" y="436289"/>
                </a:lnTo>
                <a:lnTo>
                  <a:pt x="342169" y="423083"/>
                </a:lnTo>
                <a:lnTo>
                  <a:pt x="360237" y="422427"/>
                </a:lnTo>
                <a:lnTo>
                  <a:pt x="357871" y="416522"/>
                </a:lnTo>
                <a:lnTo>
                  <a:pt x="364168" y="422656"/>
                </a:lnTo>
                <a:lnTo>
                  <a:pt x="380104" y="420630"/>
                </a:lnTo>
                <a:lnTo>
                  <a:pt x="381038" y="367662"/>
                </a:lnTo>
                <a:lnTo>
                  <a:pt x="389663" y="363520"/>
                </a:lnTo>
                <a:lnTo>
                  <a:pt x="391430" y="347348"/>
                </a:lnTo>
                <a:lnTo>
                  <a:pt x="397756" y="342348"/>
                </a:lnTo>
                <a:lnTo>
                  <a:pt x="412866" y="338330"/>
                </a:lnTo>
                <a:lnTo>
                  <a:pt x="422899" y="344915"/>
                </a:lnTo>
                <a:lnTo>
                  <a:pt x="440024" y="339750"/>
                </a:lnTo>
                <a:lnTo>
                  <a:pt x="448094" y="331309"/>
                </a:lnTo>
                <a:lnTo>
                  <a:pt x="456304" y="335672"/>
                </a:lnTo>
                <a:lnTo>
                  <a:pt x="454121" y="324062"/>
                </a:lnTo>
                <a:lnTo>
                  <a:pt x="471825" y="322043"/>
                </a:lnTo>
                <a:lnTo>
                  <a:pt x="487650" y="307388"/>
                </a:lnTo>
                <a:lnTo>
                  <a:pt x="499266" y="308998"/>
                </a:lnTo>
                <a:lnTo>
                  <a:pt x="523898" y="301297"/>
                </a:lnTo>
                <a:lnTo>
                  <a:pt x="532823" y="289272"/>
                </a:lnTo>
                <a:lnTo>
                  <a:pt x="564344" y="300575"/>
                </a:lnTo>
                <a:lnTo>
                  <a:pt x="571349" y="295952"/>
                </a:lnTo>
                <a:lnTo>
                  <a:pt x="571045" y="278847"/>
                </a:lnTo>
                <a:lnTo>
                  <a:pt x="584703" y="265910"/>
                </a:lnTo>
                <a:lnTo>
                  <a:pt x="583079" y="256002"/>
                </a:lnTo>
                <a:lnTo>
                  <a:pt x="596965" y="242220"/>
                </a:lnTo>
                <a:lnTo>
                  <a:pt x="591132" y="236182"/>
                </a:lnTo>
                <a:lnTo>
                  <a:pt x="599085" y="229013"/>
                </a:lnTo>
                <a:lnTo>
                  <a:pt x="600655" y="215154"/>
                </a:lnTo>
                <a:lnTo>
                  <a:pt x="590431" y="207010"/>
                </a:lnTo>
                <a:lnTo>
                  <a:pt x="607753" y="186914"/>
                </a:lnTo>
                <a:lnTo>
                  <a:pt x="592496" y="183760"/>
                </a:lnTo>
                <a:lnTo>
                  <a:pt x="589765" y="144179"/>
                </a:lnTo>
                <a:lnTo>
                  <a:pt x="610847" y="142256"/>
                </a:lnTo>
                <a:lnTo>
                  <a:pt x="618483" y="135653"/>
                </a:lnTo>
                <a:lnTo>
                  <a:pt x="624657" y="144364"/>
                </a:lnTo>
                <a:lnTo>
                  <a:pt x="622161" y="152462"/>
                </a:lnTo>
                <a:lnTo>
                  <a:pt x="635844" y="148468"/>
                </a:lnTo>
                <a:lnTo>
                  <a:pt x="639716" y="157701"/>
                </a:lnTo>
                <a:lnTo>
                  <a:pt x="655389" y="160971"/>
                </a:lnTo>
                <a:lnTo>
                  <a:pt x="661857" y="147863"/>
                </a:lnTo>
                <a:lnTo>
                  <a:pt x="683577" y="141154"/>
                </a:lnTo>
                <a:lnTo>
                  <a:pt x="682521" y="124151"/>
                </a:lnTo>
                <a:lnTo>
                  <a:pt x="692479" y="134772"/>
                </a:lnTo>
                <a:lnTo>
                  <a:pt x="702772" y="122864"/>
                </a:lnTo>
                <a:lnTo>
                  <a:pt x="729484" y="117552"/>
                </a:lnTo>
                <a:lnTo>
                  <a:pt x="739321" y="123721"/>
                </a:lnTo>
                <a:lnTo>
                  <a:pt x="736766" y="113428"/>
                </a:lnTo>
                <a:lnTo>
                  <a:pt x="744002" y="109255"/>
                </a:lnTo>
                <a:lnTo>
                  <a:pt x="751578" y="121630"/>
                </a:lnTo>
                <a:lnTo>
                  <a:pt x="766102" y="124714"/>
                </a:lnTo>
                <a:lnTo>
                  <a:pt x="769754" y="136677"/>
                </a:lnTo>
                <a:lnTo>
                  <a:pt x="786525" y="138229"/>
                </a:lnTo>
                <a:lnTo>
                  <a:pt x="807211" y="131917"/>
                </a:lnTo>
                <a:lnTo>
                  <a:pt x="816051" y="138295"/>
                </a:lnTo>
                <a:lnTo>
                  <a:pt x="814589" y="147437"/>
                </a:lnTo>
                <a:lnTo>
                  <a:pt x="830954" y="156458"/>
                </a:lnTo>
                <a:lnTo>
                  <a:pt x="846691" y="156075"/>
                </a:lnTo>
                <a:lnTo>
                  <a:pt x="846671" y="164297"/>
                </a:lnTo>
                <a:lnTo>
                  <a:pt x="856910" y="157698"/>
                </a:lnTo>
                <a:lnTo>
                  <a:pt x="862977" y="162743"/>
                </a:lnTo>
                <a:lnTo>
                  <a:pt x="885759" y="150925"/>
                </a:lnTo>
                <a:lnTo>
                  <a:pt x="898464" y="162575"/>
                </a:lnTo>
                <a:lnTo>
                  <a:pt x="901923" y="156357"/>
                </a:lnTo>
                <a:lnTo>
                  <a:pt x="917422" y="156354"/>
                </a:lnTo>
                <a:lnTo>
                  <a:pt x="913262" y="147558"/>
                </a:lnTo>
                <a:lnTo>
                  <a:pt x="917444" y="143314"/>
                </a:lnTo>
                <a:lnTo>
                  <a:pt x="936451" y="141853"/>
                </a:lnTo>
                <a:lnTo>
                  <a:pt x="930541" y="125533"/>
                </a:lnTo>
                <a:lnTo>
                  <a:pt x="948202" y="123480"/>
                </a:lnTo>
                <a:lnTo>
                  <a:pt x="952665" y="131304"/>
                </a:lnTo>
                <a:lnTo>
                  <a:pt x="959866" y="124757"/>
                </a:lnTo>
                <a:lnTo>
                  <a:pt x="958298" y="119081"/>
                </a:lnTo>
                <a:lnTo>
                  <a:pt x="970610" y="123013"/>
                </a:lnTo>
                <a:lnTo>
                  <a:pt x="976640" y="113498"/>
                </a:lnTo>
                <a:lnTo>
                  <a:pt x="980275" y="119341"/>
                </a:lnTo>
                <a:lnTo>
                  <a:pt x="982581" y="111978"/>
                </a:lnTo>
                <a:lnTo>
                  <a:pt x="995498" y="120147"/>
                </a:lnTo>
                <a:lnTo>
                  <a:pt x="1002261" y="113080"/>
                </a:lnTo>
                <a:lnTo>
                  <a:pt x="996312" y="102787"/>
                </a:lnTo>
                <a:lnTo>
                  <a:pt x="1011446" y="101386"/>
                </a:lnTo>
                <a:lnTo>
                  <a:pt x="1001657" y="97647"/>
                </a:lnTo>
                <a:lnTo>
                  <a:pt x="1005040" y="91350"/>
                </a:lnTo>
                <a:lnTo>
                  <a:pt x="1013406" y="94218"/>
                </a:lnTo>
                <a:lnTo>
                  <a:pt x="1019395" y="90128"/>
                </a:lnTo>
                <a:lnTo>
                  <a:pt x="1008113" y="73675"/>
                </a:lnTo>
                <a:lnTo>
                  <a:pt x="1017203" y="76634"/>
                </a:lnTo>
                <a:lnTo>
                  <a:pt x="1030933" y="70206"/>
                </a:lnTo>
                <a:lnTo>
                  <a:pt x="1038546" y="85673"/>
                </a:lnTo>
                <a:lnTo>
                  <a:pt x="1052509" y="93073"/>
                </a:lnTo>
                <a:lnTo>
                  <a:pt x="1055407" y="104303"/>
                </a:lnTo>
                <a:lnTo>
                  <a:pt x="1063453" y="105305"/>
                </a:lnTo>
                <a:lnTo>
                  <a:pt x="1064500" y="117508"/>
                </a:lnTo>
                <a:lnTo>
                  <a:pt x="1082101" y="129478"/>
                </a:lnTo>
                <a:lnTo>
                  <a:pt x="1093114" y="145870"/>
                </a:lnTo>
                <a:lnTo>
                  <a:pt x="1104866" y="150040"/>
                </a:lnTo>
                <a:lnTo>
                  <a:pt x="1131525" y="146131"/>
                </a:lnTo>
                <a:lnTo>
                  <a:pt x="1136779" y="157219"/>
                </a:lnTo>
                <a:lnTo>
                  <a:pt x="1168558" y="160562"/>
                </a:lnTo>
                <a:lnTo>
                  <a:pt x="1174818" y="166255"/>
                </a:lnTo>
                <a:lnTo>
                  <a:pt x="1175253" y="146890"/>
                </a:lnTo>
                <a:lnTo>
                  <a:pt x="1183788" y="143059"/>
                </a:lnTo>
                <a:lnTo>
                  <a:pt x="1189922" y="128185"/>
                </a:lnTo>
                <a:lnTo>
                  <a:pt x="1185757" y="112789"/>
                </a:lnTo>
                <a:lnTo>
                  <a:pt x="1192569" y="105213"/>
                </a:lnTo>
                <a:lnTo>
                  <a:pt x="1208565" y="101083"/>
                </a:lnTo>
                <a:lnTo>
                  <a:pt x="1211712" y="84792"/>
                </a:lnTo>
                <a:lnTo>
                  <a:pt x="1198193" y="68443"/>
                </a:lnTo>
                <a:lnTo>
                  <a:pt x="1204924" y="60731"/>
                </a:lnTo>
                <a:lnTo>
                  <a:pt x="1229466" y="54241"/>
                </a:lnTo>
                <a:lnTo>
                  <a:pt x="1234213" y="38136"/>
                </a:lnTo>
                <a:lnTo>
                  <a:pt x="1242109" y="31979"/>
                </a:lnTo>
                <a:lnTo>
                  <a:pt x="1258170" y="35499"/>
                </a:lnTo>
                <a:lnTo>
                  <a:pt x="1275789" y="27073"/>
                </a:lnTo>
                <a:lnTo>
                  <a:pt x="1301627" y="33007"/>
                </a:lnTo>
                <a:lnTo>
                  <a:pt x="1343760" y="21407"/>
                </a:lnTo>
                <a:lnTo>
                  <a:pt x="1379968" y="0"/>
                </a:lnTo>
                <a:lnTo>
                  <a:pt x="1402758" y="25620"/>
                </a:lnTo>
                <a:lnTo>
                  <a:pt x="1397903" y="45505"/>
                </a:lnTo>
                <a:lnTo>
                  <a:pt x="1404552" y="67280"/>
                </a:lnTo>
                <a:lnTo>
                  <a:pt x="1430477" y="79371"/>
                </a:lnTo>
                <a:lnTo>
                  <a:pt x="1426871" y="69525"/>
                </a:lnTo>
                <a:lnTo>
                  <a:pt x="1440782" y="83662"/>
                </a:lnTo>
                <a:lnTo>
                  <a:pt x="1440906" y="98966"/>
                </a:lnTo>
                <a:lnTo>
                  <a:pt x="1434755" y="97816"/>
                </a:lnTo>
                <a:lnTo>
                  <a:pt x="1435755" y="102841"/>
                </a:lnTo>
                <a:lnTo>
                  <a:pt x="1416416" y="112042"/>
                </a:lnTo>
                <a:lnTo>
                  <a:pt x="1411347" y="132691"/>
                </a:lnTo>
                <a:lnTo>
                  <a:pt x="1405434" y="131113"/>
                </a:lnTo>
                <a:lnTo>
                  <a:pt x="1402962" y="137028"/>
                </a:lnTo>
                <a:lnTo>
                  <a:pt x="1410242" y="141875"/>
                </a:lnTo>
                <a:lnTo>
                  <a:pt x="1397029" y="148545"/>
                </a:lnTo>
                <a:lnTo>
                  <a:pt x="1401213" y="155227"/>
                </a:lnTo>
                <a:lnTo>
                  <a:pt x="1412146" y="159046"/>
                </a:lnTo>
                <a:lnTo>
                  <a:pt x="1411417" y="164861"/>
                </a:lnTo>
                <a:lnTo>
                  <a:pt x="1416392" y="159618"/>
                </a:lnTo>
                <a:lnTo>
                  <a:pt x="1428929" y="160322"/>
                </a:lnTo>
                <a:lnTo>
                  <a:pt x="1447068" y="173940"/>
                </a:lnTo>
                <a:lnTo>
                  <a:pt x="1459689" y="166141"/>
                </a:lnTo>
                <a:lnTo>
                  <a:pt x="1484432" y="161648"/>
                </a:lnTo>
                <a:lnTo>
                  <a:pt x="1486836" y="167616"/>
                </a:lnTo>
                <a:lnTo>
                  <a:pt x="1500645" y="172718"/>
                </a:lnTo>
                <a:lnTo>
                  <a:pt x="1502954" y="180631"/>
                </a:lnTo>
                <a:lnTo>
                  <a:pt x="1519550" y="176089"/>
                </a:lnTo>
                <a:lnTo>
                  <a:pt x="1533756" y="190528"/>
                </a:lnTo>
                <a:lnTo>
                  <a:pt x="1543928" y="187533"/>
                </a:lnTo>
                <a:lnTo>
                  <a:pt x="1542869" y="183737"/>
                </a:lnTo>
                <a:lnTo>
                  <a:pt x="1549971" y="185065"/>
                </a:lnTo>
                <a:lnTo>
                  <a:pt x="1548548" y="192741"/>
                </a:lnTo>
                <a:lnTo>
                  <a:pt x="1557234" y="194854"/>
                </a:lnTo>
                <a:lnTo>
                  <a:pt x="1557893" y="201337"/>
                </a:lnTo>
                <a:lnTo>
                  <a:pt x="1566891" y="200995"/>
                </a:lnTo>
                <a:lnTo>
                  <a:pt x="1565312" y="207538"/>
                </a:lnTo>
                <a:lnTo>
                  <a:pt x="1571643" y="204304"/>
                </a:lnTo>
                <a:lnTo>
                  <a:pt x="1569865" y="211195"/>
                </a:lnTo>
                <a:lnTo>
                  <a:pt x="1574635" y="209797"/>
                </a:lnTo>
                <a:lnTo>
                  <a:pt x="1573354" y="203771"/>
                </a:lnTo>
                <a:lnTo>
                  <a:pt x="1579262" y="204571"/>
                </a:lnTo>
                <a:lnTo>
                  <a:pt x="1575113" y="213706"/>
                </a:lnTo>
                <a:lnTo>
                  <a:pt x="1584025" y="212828"/>
                </a:lnTo>
                <a:lnTo>
                  <a:pt x="1581997" y="220451"/>
                </a:lnTo>
                <a:lnTo>
                  <a:pt x="1591539" y="219167"/>
                </a:lnTo>
                <a:lnTo>
                  <a:pt x="1594353" y="227241"/>
                </a:lnTo>
                <a:lnTo>
                  <a:pt x="1603293" y="225390"/>
                </a:lnTo>
                <a:lnTo>
                  <a:pt x="1610310" y="229341"/>
                </a:lnTo>
                <a:lnTo>
                  <a:pt x="1605870" y="234259"/>
                </a:lnTo>
                <a:lnTo>
                  <a:pt x="1615457" y="236158"/>
                </a:lnTo>
                <a:lnTo>
                  <a:pt x="1620986" y="245203"/>
                </a:lnTo>
                <a:lnTo>
                  <a:pt x="1617882" y="255679"/>
                </a:lnTo>
                <a:lnTo>
                  <a:pt x="1622570" y="258989"/>
                </a:lnTo>
                <a:lnTo>
                  <a:pt x="1617568" y="267249"/>
                </a:lnTo>
                <a:lnTo>
                  <a:pt x="1624986" y="271774"/>
                </a:lnTo>
                <a:lnTo>
                  <a:pt x="1626648" y="291217"/>
                </a:lnTo>
                <a:close/>
              </a:path>
            </a:pathLst>
          </a:custGeom>
          <a:solidFill>
            <a:srgbClr val="BACCE4"/>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3" name="2022 provincial petrol/diesel sales: FS"/>
          <p:cNvSpPr/>
          <p:nvPr/>
        </p:nvSpPr>
        <p:spPr>
          <a:xfrm>
            <a:off x="3558265" y="3468483"/>
            <a:ext cx="1235577" cy="1023331"/>
          </a:xfrm>
          <a:custGeom>
            <a:avLst/>
            <a:gdLst/>
            <a:ahLst/>
            <a:cxnLst/>
            <a:rect l="l" t="t" r="r" b="b"/>
            <a:pathLst>
              <a:path w="1235577" h="1023331">
                <a:moveTo>
                  <a:pt x="670255" y="931412"/>
                </a:moveTo>
                <a:lnTo>
                  <a:pt x="671266" y="943502"/>
                </a:lnTo>
                <a:lnTo>
                  <a:pt x="676451" y="940178"/>
                </a:lnTo>
                <a:lnTo>
                  <a:pt x="678950" y="949162"/>
                </a:lnTo>
                <a:lnTo>
                  <a:pt x="672961" y="953252"/>
                </a:lnTo>
                <a:lnTo>
                  <a:pt x="664595" y="950384"/>
                </a:lnTo>
                <a:lnTo>
                  <a:pt x="661212" y="956681"/>
                </a:lnTo>
                <a:lnTo>
                  <a:pt x="671001" y="960420"/>
                </a:lnTo>
                <a:lnTo>
                  <a:pt x="655867" y="961821"/>
                </a:lnTo>
                <a:lnTo>
                  <a:pt x="661816" y="972114"/>
                </a:lnTo>
                <a:lnTo>
                  <a:pt x="655053" y="979181"/>
                </a:lnTo>
                <a:lnTo>
                  <a:pt x="642136" y="971012"/>
                </a:lnTo>
                <a:lnTo>
                  <a:pt x="639830" y="978375"/>
                </a:lnTo>
                <a:lnTo>
                  <a:pt x="636195" y="972532"/>
                </a:lnTo>
                <a:lnTo>
                  <a:pt x="630165" y="982047"/>
                </a:lnTo>
                <a:lnTo>
                  <a:pt x="617853" y="978115"/>
                </a:lnTo>
                <a:lnTo>
                  <a:pt x="619421" y="983791"/>
                </a:lnTo>
                <a:lnTo>
                  <a:pt x="612220" y="990338"/>
                </a:lnTo>
                <a:lnTo>
                  <a:pt x="607757" y="982514"/>
                </a:lnTo>
                <a:lnTo>
                  <a:pt x="590096" y="984567"/>
                </a:lnTo>
                <a:lnTo>
                  <a:pt x="596006" y="1000887"/>
                </a:lnTo>
                <a:lnTo>
                  <a:pt x="576999" y="1002348"/>
                </a:lnTo>
                <a:lnTo>
                  <a:pt x="572817" y="1006592"/>
                </a:lnTo>
                <a:lnTo>
                  <a:pt x="576977" y="1015388"/>
                </a:lnTo>
                <a:lnTo>
                  <a:pt x="561478" y="1015391"/>
                </a:lnTo>
                <a:lnTo>
                  <a:pt x="558019" y="1021609"/>
                </a:lnTo>
                <a:lnTo>
                  <a:pt x="545314" y="1009959"/>
                </a:lnTo>
                <a:lnTo>
                  <a:pt x="522532" y="1021777"/>
                </a:lnTo>
                <a:lnTo>
                  <a:pt x="516465" y="1016732"/>
                </a:lnTo>
                <a:lnTo>
                  <a:pt x="506226" y="1023331"/>
                </a:lnTo>
                <a:lnTo>
                  <a:pt x="506246" y="1015109"/>
                </a:lnTo>
                <a:lnTo>
                  <a:pt x="490509" y="1015492"/>
                </a:lnTo>
                <a:lnTo>
                  <a:pt x="474144" y="1006471"/>
                </a:lnTo>
                <a:lnTo>
                  <a:pt x="475606" y="997329"/>
                </a:lnTo>
                <a:lnTo>
                  <a:pt x="466766" y="990951"/>
                </a:lnTo>
                <a:lnTo>
                  <a:pt x="446080" y="997263"/>
                </a:lnTo>
                <a:lnTo>
                  <a:pt x="429309" y="995711"/>
                </a:lnTo>
                <a:lnTo>
                  <a:pt x="425657" y="983748"/>
                </a:lnTo>
                <a:lnTo>
                  <a:pt x="411133" y="980664"/>
                </a:lnTo>
                <a:lnTo>
                  <a:pt x="403557" y="968289"/>
                </a:lnTo>
                <a:lnTo>
                  <a:pt x="396321" y="972462"/>
                </a:lnTo>
                <a:lnTo>
                  <a:pt x="398876" y="982755"/>
                </a:lnTo>
                <a:lnTo>
                  <a:pt x="389039" y="976586"/>
                </a:lnTo>
                <a:lnTo>
                  <a:pt x="362327" y="981898"/>
                </a:lnTo>
                <a:lnTo>
                  <a:pt x="352034" y="993806"/>
                </a:lnTo>
                <a:lnTo>
                  <a:pt x="342076" y="983185"/>
                </a:lnTo>
                <a:lnTo>
                  <a:pt x="343132" y="1000188"/>
                </a:lnTo>
                <a:lnTo>
                  <a:pt x="321412" y="1006897"/>
                </a:lnTo>
                <a:lnTo>
                  <a:pt x="314944" y="1020005"/>
                </a:lnTo>
                <a:lnTo>
                  <a:pt x="299271" y="1016735"/>
                </a:lnTo>
                <a:lnTo>
                  <a:pt x="295399" y="1007502"/>
                </a:lnTo>
                <a:lnTo>
                  <a:pt x="281716" y="1011496"/>
                </a:lnTo>
                <a:lnTo>
                  <a:pt x="284212" y="1003398"/>
                </a:lnTo>
                <a:lnTo>
                  <a:pt x="278038" y="994687"/>
                </a:lnTo>
                <a:lnTo>
                  <a:pt x="250972" y="1005990"/>
                </a:lnTo>
                <a:lnTo>
                  <a:pt x="238504" y="991273"/>
                </a:lnTo>
                <a:lnTo>
                  <a:pt x="219843" y="986093"/>
                </a:lnTo>
                <a:lnTo>
                  <a:pt x="213577" y="990905"/>
                </a:lnTo>
                <a:lnTo>
                  <a:pt x="198098" y="971271"/>
                </a:lnTo>
                <a:lnTo>
                  <a:pt x="187972" y="970864"/>
                </a:lnTo>
                <a:lnTo>
                  <a:pt x="167291" y="938803"/>
                </a:lnTo>
                <a:lnTo>
                  <a:pt x="154462" y="936010"/>
                </a:lnTo>
                <a:lnTo>
                  <a:pt x="153611" y="916542"/>
                </a:lnTo>
                <a:lnTo>
                  <a:pt x="142933" y="917516"/>
                </a:lnTo>
                <a:lnTo>
                  <a:pt x="134092" y="907758"/>
                </a:lnTo>
                <a:lnTo>
                  <a:pt x="135795" y="901173"/>
                </a:lnTo>
                <a:lnTo>
                  <a:pt x="129329" y="894683"/>
                </a:lnTo>
                <a:lnTo>
                  <a:pt x="123748" y="896227"/>
                </a:lnTo>
                <a:lnTo>
                  <a:pt x="117317" y="877768"/>
                </a:lnTo>
                <a:lnTo>
                  <a:pt x="100977" y="856577"/>
                </a:lnTo>
                <a:lnTo>
                  <a:pt x="100096" y="843128"/>
                </a:lnTo>
                <a:lnTo>
                  <a:pt x="73468" y="837200"/>
                </a:lnTo>
                <a:lnTo>
                  <a:pt x="71320" y="818376"/>
                </a:lnTo>
                <a:lnTo>
                  <a:pt x="58598" y="820796"/>
                </a:lnTo>
                <a:lnTo>
                  <a:pt x="33929" y="796537"/>
                </a:lnTo>
                <a:lnTo>
                  <a:pt x="20807" y="796267"/>
                </a:lnTo>
                <a:lnTo>
                  <a:pt x="1851" y="770371"/>
                </a:lnTo>
                <a:lnTo>
                  <a:pt x="0" y="755749"/>
                </a:lnTo>
                <a:lnTo>
                  <a:pt x="123825" y="497580"/>
                </a:lnTo>
                <a:lnTo>
                  <a:pt x="107099" y="492211"/>
                </a:lnTo>
                <a:lnTo>
                  <a:pt x="116114" y="464094"/>
                </a:lnTo>
                <a:lnTo>
                  <a:pt x="111382" y="460701"/>
                </a:lnTo>
                <a:lnTo>
                  <a:pt x="120384" y="450772"/>
                </a:lnTo>
                <a:lnTo>
                  <a:pt x="131854" y="414946"/>
                </a:lnTo>
                <a:lnTo>
                  <a:pt x="121150" y="411197"/>
                </a:lnTo>
                <a:lnTo>
                  <a:pt x="116649" y="401011"/>
                </a:lnTo>
                <a:lnTo>
                  <a:pt x="137947" y="395974"/>
                </a:lnTo>
                <a:lnTo>
                  <a:pt x="152339" y="350646"/>
                </a:lnTo>
                <a:lnTo>
                  <a:pt x="162726" y="348715"/>
                </a:lnTo>
                <a:lnTo>
                  <a:pt x="170353" y="334915"/>
                </a:lnTo>
                <a:lnTo>
                  <a:pt x="166536" y="327780"/>
                </a:lnTo>
                <a:lnTo>
                  <a:pt x="176298" y="312764"/>
                </a:lnTo>
                <a:lnTo>
                  <a:pt x="203722" y="297418"/>
                </a:lnTo>
                <a:lnTo>
                  <a:pt x="200160" y="289563"/>
                </a:lnTo>
                <a:lnTo>
                  <a:pt x="208520" y="279846"/>
                </a:lnTo>
                <a:lnTo>
                  <a:pt x="223383" y="279025"/>
                </a:lnTo>
                <a:lnTo>
                  <a:pt x="235737" y="262627"/>
                </a:lnTo>
                <a:lnTo>
                  <a:pt x="272492" y="252028"/>
                </a:lnTo>
                <a:lnTo>
                  <a:pt x="280477" y="244015"/>
                </a:lnTo>
                <a:lnTo>
                  <a:pt x="297275" y="253993"/>
                </a:lnTo>
                <a:lnTo>
                  <a:pt x="300575" y="237593"/>
                </a:lnTo>
                <a:lnTo>
                  <a:pt x="334508" y="221720"/>
                </a:lnTo>
                <a:lnTo>
                  <a:pt x="341401" y="236356"/>
                </a:lnTo>
                <a:lnTo>
                  <a:pt x="356527" y="231272"/>
                </a:lnTo>
                <a:lnTo>
                  <a:pt x="361710" y="238841"/>
                </a:lnTo>
                <a:lnTo>
                  <a:pt x="369592" y="237446"/>
                </a:lnTo>
                <a:lnTo>
                  <a:pt x="375603" y="246719"/>
                </a:lnTo>
                <a:lnTo>
                  <a:pt x="374167" y="257782"/>
                </a:lnTo>
                <a:lnTo>
                  <a:pt x="381555" y="265516"/>
                </a:lnTo>
                <a:lnTo>
                  <a:pt x="395173" y="253741"/>
                </a:lnTo>
                <a:lnTo>
                  <a:pt x="386081" y="248321"/>
                </a:lnTo>
                <a:lnTo>
                  <a:pt x="393300" y="242969"/>
                </a:lnTo>
                <a:lnTo>
                  <a:pt x="392977" y="229529"/>
                </a:lnTo>
                <a:lnTo>
                  <a:pt x="426161" y="208548"/>
                </a:lnTo>
                <a:lnTo>
                  <a:pt x="429399" y="187942"/>
                </a:lnTo>
                <a:lnTo>
                  <a:pt x="441603" y="184071"/>
                </a:lnTo>
                <a:lnTo>
                  <a:pt x="448066" y="188524"/>
                </a:lnTo>
                <a:lnTo>
                  <a:pt x="453120" y="176414"/>
                </a:lnTo>
                <a:lnTo>
                  <a:pt x="470723" y="182119"/>
                </a:lnTo>
                <a:lnTo>
                  <a:pt x="477361" y="176798"/>
                </a:lnTo>
                <a:lnTo>
                  <a:pt x="490849" y="179406"/>
                </a:lnTo>
                <a:lnTo>
                  <a:pt x="476216" y="167564"/>
                </a:lnTo>
                <a:lnTo>
                  <a:pt x="482984" y="157065"/>
                </a:lnTo>
                <a:lnTo>
                  <a:pt x="487037" y="159877"/>
                </a:lnTo>
                <a:lnTo>
                  <a:pt x="488068" y="146764"/>
                </a:lnTo>
                <a:lnTo>
                  <a:pt x="470745" y="121144"/>
                </a:lnTo>
                <a:lnTo>
                  <a:pt x="472820" y="116525"/>
                </a:lnTo>
                <a:lnTo>
                  <a:pt x="482904" y="117646"/>
                </a:lnTo>
                <a:lnTo>
                  <a:pt x="495810" y="101660"/>
                </a:lnTo>
                <a:lnTo>
                  <a:pt x="508317" y="106173"/>
                </a:lnTo>
                <a:lnTo>
                  <a:pt x="508100" y="92133"/>
                </a:lnTo>
                <a:lnTo>
                  <a:pt x="516843" y="79534"/>
                </a:lnTo>
                <a:lnTo>
                  <a:pt x="528200" y="77446"/>
                </a:lnTo>
                <a:lnTo>
                  <a:pt x="532692" y="83486"/>
                </a:lnTo>
                <a:lnTo>
                  <a:pt x="538975" y="72304"/>
                </a:lnTo>
                <a:lnTo>
                  <a:pt x="559641" y="61882"/>
                </a:lnTo>
                <a:lnTo>
                  <a:pt x="565433" y="66408"/>
                </a:lnTo>
                <a:lnTo>
                  <a:pt x="573089" y="58739"/>
                </a:lnTo>
                <a:lnTo>
                  <a:pt x="585836" y="72897"/>
                </a:lnTo>
                <a:lnTo>
                  <a:pt x="590901" y="46895"/>
                </a:lnTo>
                <a:lnTo>
                  <a:pt x="610762" y="63701"/>
                </a:lnTo>
                <a:lnTo>
                  <a:pt x="630240" y="61580"/>
                </a:lnTo>
                <a:lnTo>
                  <a:pt x="637149" y="65689"/>
                </a:lnTo>
                <a:lnTo>
                  <a:pt x="644772" y="61470"/>
                </a:lnTo>
                <a:lnTo>
                  <a:pt x="644027" y="72603"/>
                </a:lnTo>
                <a:lnTo>
                  <a:pt x="651729" y="75674"/>
                </a:lnTo>
                <a:lnTo>
                  <a:pt x="674779" y="43741"/>
                </a:lnTo>
                <a:lnTo>
                  <a:pt x="680945" y="44074"/>
                </a:lnTo>
                <a:lnTo>
                  <a:pt x="699274" y="62706"/>
                </a:lnTo>
                <a:lnTo>
                  <a:pt x="721919" y="40709"/>
                </a:lnTo>
                <a:lnTo>
                  <a:pt x="721783" y="27393"/>
                </a:lnTo>
                <a:lnTo>
                  <a:pt x="738460" y="24652"/>
                </a:lnTo>
                <a:lnTo>
                  <a:pt x="735850" y="17848"/>
                </a:lnTo>
                <a:lnTo>
                  <a:pt x="749628" y="14321"/>
                </a:lnTo>
                <a:lnTo>
                  <a:pt x="750160" y="24485"/>
                </a:lnTo>
                <a:lnTo>
                  <a:pt x="772127" y="22108"/>
                </a:lnTo>
                <a:lnTo>
                  <a:pt x="781445" y="32151"/>
                </a:lnTo>
                <a:lnTo>
                  <a:pt x="784618" y="19820"/>
                </a:lnTo>
                <a:lnTo>
                  <a:pt x="807035" y="19169"/>
                </a:lnTo>
                <a:lnTo>
                  <a:pt x="810260" y="10233"/>
                </a:lnTo>
                <a:lnTo>
                  <a:pt x="828807" y="0"/>
                </a:lnTo>
                <a:lnTo>
                  <a:pt x="840877" y="28759"/>
                </a:lnTo>
                <a:lnTo>
                  <a:pt x="837622" y="32041"/>
                </a:lnTo>
                <a:lnTo>
                  <a:pt x="860280" y="45604"/>
                </a:lnTo>
                <a:lnTo>
                  <a:pt x="860983" y="57107"/>
                </a:lnTo>
                <a:lnTo>
                  <a:pt x="872635" y="57309"/>
                </a:lnTo>
                <a:lnTo>
                  <a:pt x="869182" y="47603"/>
                </a:lnTo>
                <a:lnTo>
                  <a:pt x="873302" y="46319"/>
                </a:lnTo>
                <a:lnTo>
                  <a:pt x="885211" y="66546"/>
                </a:lnTo>
                <a:lnTo>
                  <a:pt x="887675" y="55784"/>
                </a:lnTo>
                <a:lnTo>
                  <a:pt x="902464" y="71415"/>
                </a:lnTo>
                <a:lnTo>
                  <a:pt x="909093" y="67259"/>
                </a:lnTo>
                <a:lnTo>
                  <a:pt x="907639" y="73619"/>
                </a:lnTo>
                <a:lnTo>
                  <a:pt x="922523" y="69362"/>
                </a:lnTo>
                <a:lnTo>
                  <a:pt x="931290" y="84568"/>
                </a:lnTo>
                <a:lnTo>
                  <a:pt x="928706" y="90586"/>
                </a:lnTo>
                <a:lnTo>
                  <a:pt x="936451" y="82710"/>
                </a:lnTo>
                <a:lnTo>
                  <a:pt x="933202" y="78324"/>
                </a:lnTo>
                <a:lnTo>
                  <a:pt x="940149" y="83182"/>
                </a:lnTo>
                <a:lnTo>
                  <a:pt x="942743" y="74949"/>
                </a:lnTo>
                <a:lnTo>
                  <a:pt x="948215" y="89880"/>
                </a:lnTo>
                <a:lnTo>
                  <a:pt x="958492" y="98687"/>
                </a:lnTo>
                <a:lnTo>
                  <a:pt x="954837" y="105150"/>
                </a:lnTo>
                <a:lnTo>
                  <a:pt x="972177" y="90635"/>
                </a:lnTo>
                <a:lnTo>
                  <a:pt x="980356" y="93974"/>
                </a:lnTo>
                <a:lnTo>
                  <a:pt x="982616" y="87634"/>
                </a:lnTo>
                <a:lnTo>
                  <a:pt x="971544" y="86776"/>
                </a:lnTo>
                <a:lnTo>
                  <a:pt x="981113" y="76699"/>
                </a:lnTo>
                <a:lnTo>
                  <a:pt x="995958" y="81371"/>
                </a:lnTo>
                <a:lnTo>
                  <a:pt x="1014746" y="97241"/>
                </a:lnTo>
                <a:lnTo>
                  <a:pt x="1017140" y="92864"/>
                </a:lnTo>
                <a:lnTo>
                  <a:pt x="1018983" y="100865"/>
                </a:lnTo>
                <a:lnTo>
                  <a:pt x="1029157" y="96673"/>
                </a:lnTo>
                <a:lnTo>
                  <a:pt x="1035912" y="105679"/>
                </a:lnTo>
                <a:lnTo>
                  <a:pt x="1037415" y="93990"/>
                </a:lnTo>
                <a:lnTo>
                  <a:pt x="1051337" y="94019"/>
                </a:lnTo>
                <a:lnTo>
                  <a:pt x="1054975" y="88987"/>
                </a:lnTo>
                <a:lnTo>
                  <a:pt x="1068787" y="99003"/>
                </a:lnTo>
                <a:lnTo>
                  <a:pt x="1073375" y="93207"/>
                </a:lnTo>
                <a:lnTo>
                  <a:pt x="1078334" y="108082"/>
                </a:lnTo>
                <a:lnTo>
                  <a:pt x="1073953" y="112581"/>
                </a:lnTo>
                <a:lnTo>
                  <a:pt x="1087173" y="136332"/>
                </a:lnTo>
                <a:lnTo>
                  <a:pt x="1097136" y="129180"/>
                </a:lnTo>
                <a:lnTo>
                  <a:pt x="1111842" y="130099"/>
                </a:lnTo>
                <a:lnTo>
                  <a:pt x="1116550" y="142364"/>
                </a:lnTo>
                <a:lnTo>
                  <a:pt x="1136689" y="147021"/>
                </a:lnTo>
                <a:lnTo>
                  <a:pt x="1135294" y="161323"/>
                </a:lnTo>
                <a:lnTo>
                  <a:pt x="1149110" y="156525"/>
                </a:lnTo>
                <a:lnTo>
                  <a:pt x="1157524" y="159685"/>
                </a:lnTo>
                <a:lnTo>
                  <a:pt x="1170122" y="178967"/>
                </a:lnTo>
                <a:lnTo>
                  <a:pt x="1168997" y="187288"/>
                </a:lnTo>
                <a:lnTo>
                  <a:pt x="1184424" y="197778"/>
                </a:lnTo>
                <a:lnTo>
                  <a:pt x="1182848" y="206005"/>
                </a:lnTo>
                <a:lnTo>
                  <a:pt x="1198636" y="225784"/>
                </a:lnTo>
                <a:lnTo>
                  <a:pt x="1217544" y="223427"/>
                </a:lnTo>
                <a:lnTo>
                  <a:pt x="1217445" y="212368"/>
                </a:lnTo>
                <a:lnTo>
                  <a:pt x="1222697" y="207965"/>
                </a:lnTo>
                <a:lnTo>
                  <a:pt x="1231089" y="210806"/>
                </a:lnTo>
                <a:lnTo>
                  <a:pt x="1219439" y="215262"/>
                </a:lnTo>
                <a:lnTo>
                  <a:pt x="1224548" y="222161"/>
                </a:lnTo>
                <a:lnTo>
                  <a:pt x="1219132" y="228516"/>
                </a:lnTo>
                <a:lnTo>
                  <a:pt x="1230178" y="232416"/>
                </a:lnTo>
                <a:lnTo>
                  <a:pt x="1235577" y="250459"/>
                </a:lnTo>
                <a:lnTo>
                  <a:pt x="1209126" y="263192"/>
                </a:lnTo>
                <a:lnTo>
                  <a:pt x="1217254" y="275790"/>
                </a:lnTo>
                <a:lnTo>
                  <a:pt x="1215333" y="293180"/>
                </a:lnTo>
                <a:lnTo>
                  <a:pt x="1221228" y="304005"/>
                </a:lnTo>
                <a:lnTo>
                  <a:pt x="1213294" y="307892"/>
                </a:lnTo>
                <a:lnTo>
                  <a:pt x="1211075" y="326049"/>
                </a:lnTo>
                <a:lnTo>
                  <a:pt x="1202513" y="332769"/>
                </a:lnTo>
                <a:lnTo>
                  <a:pt x="1208063" y="341730"/>
                </a:lnTo>
                <a:lnTo>
                  <a:pt x="1201416" y="343847"/>
                </a:lnTo>
                <a:lnTo>
                  <a:pt x="1192932" y="364036"/>
                </a:lnTo>
                <a:lnTo>
                  <a:pt x="1201257" y="375416"/>
                </a:lnTo>
                <a:lnTo>
                  <a:pt x="1202513" y="388781"/>
                </a:lnTo>
                <a:lnTo>
                  <a:pt x="1202065" y="397784"/>
                </a:lnTo>
                <a:lnTo>
                  <a:pt x="1193720" y="399634"/>
                </a:lnTo>
                <a:lnTo>
                  <a:pt x="1189637" y="406976"/>
                </a:lnTo>
                <a:lnTo>
                  <a:pt x="1191689" y="413762"/>
                </a:lnTo>
                <a:lnTo>
                  <a:pt x="1160448" y="420503"/>
                </a:lnTo>
                <a:lnTo>
                  <a:pt x="1143959" y="446442"/>
                </a:lnTo>
                <a:lnTo>
                  <a:pt x="1134757" y="445076"/>
                </a:lnTo>
                <a:lnTo>
                  <a:pt x="1115334" y="461266"/>
                </a:lnTo>
                <a:lnTo>
                  <a:pt x="1106115" y="457610"/>
                </a:lnTo>
                <a:lnTo>
                  <a:pt x="1092572" y="474765"/>
                </a:lnTo>
                <a:lnTo>
                  <a:pt x="1097930" y="481424"/>
                </a:lnTo>
                <a:lnTo>
                  <a:pt x="1093220" y="487912"/>
                </a:lnTo>
                <a:lnTo>
                  <a:pt x="1087618" y="483872"/>
                </a:lnTo>
                <a:lnTo>
                  <a:pt x="1079181" y="492864"/>
                </a:lnTo>
                <a:lnTo>
                  <a:pt x="1070643" y="487138"/>
                </a:lnTo>
                <a:lnTo>
                  <a:pt x="1042798" y="493739"/>
                </a:lnTo>
                <a:lnTo>
                  <a:pt x="1035113" y="513026"/>
                </a:lnTo>
                <a:lnTo>
                  <a:pt x="1024509" y="522909"/>
                </a:lnTo>
                <a:lnTo>
                  <a:pt x="1018535" y="543152"/>
                </a:lnTo>
                <a:lnTo>
                  <a:pt x="1015049" y="539262"/>
                </a:lnTo>
                <a:lnTo>
                  <a:pt x="1003856" y="542887"/>
                </a:lnTo>
                <a:lnTo>
                  <a:pt x="1003851" y="527106"/>
                </a:lnTo>
                <a:lnTo>
                  <a:pt x="981299" y="516552"/>
                </a:lnTo>
                <a:lnTo>
                  <a:pt x="981475" y="502907"/>
                </a:lnTo>
                <a:lnTo>
                  <a:pt x="970064" y="490448"/>
                </a:lnTo>
                <a:lnTo>
                  <a:pt x="956090" y="499649"/>
                </a:lnTo>
                <a:lnTo>
                  <a:pt x="913393" y="502462"/>
                </a:lnTo>
                <a:lnTo>
                  <a:pt x="901036" y="522365"/>
                </a:lnTo>
                <a:lnTo>
                  <a:pt x="891052" y="519255"/>
                </a:lnTo>
                <a:lnTo>
                  <a:pt x="885544" y="524874"/>
                </a:lnTo>
                <a:lnTo>
                  <a:pt x="874942" y="519509"/>
                </a:lnTo>
                <a:lnTo>
                  <a:pt x="866475" y="523411"/>
                </a:lnTo>
                <a:lnTo>
                  <a:pt x="863588" y="518888"/>
                </a:lnTo>
                <a:lnTo>
                  <a:pt x="832949" y="549863"/>
                </a:lnTo>
                <a:lnTo>
                  <a:pt x="827630" y="565360"/>
                </a:lnTo>
                <a:lnTo>
                  <a:pt x="818989" y="566123"/>
                </a:lnTo>
                <a:lnTo>
                  <a:pt x="807459" y="556959"/>
                </a:lnTo>
                <a:lnTo>
                  <a:pt x="797078" y="564624"/>
                </a:lnTo>
                <a:lnTo>
                  <a:pt x="795790" y="574186"/>
                </a:lnTo>
                <a:lnTo>
                  <a:pt x="782712" y="570496"/>
                </a:lnTo>
                <a:lnTo>
                  <a:pt x="779546" y="574914"/>
                </a:lnTo>
                <a:lnTo>
                  <a:pt x="765685" y="568507"/>
                </a:lnTo>
                <a:lnTo>
                  <a:pt x="767224" y="578956"/>
                </a:lnTo>
                <a:lnTo>
                  <a:pt x="758415" y="581652"/>
                </a:lnTo>
                <a:lnTo>
                  <a:pt x="755921" y="597139"/>
                </a:lnTo>
                <a:lnTo>
                  <a:pt x="749564" y="595331"/>
                </a:lnTo>
                <a:lnTo>
                  <a:pt x="746620" y="605597"/>
                </a:lnTo>
                <a:lnTo>
                  <a:pt x="739493" y="605903"/>
                </a:lnTo>
                <a:lnTo>
                  <a:pt x="746978" y="614123"/>
                </a:lnTo>
                <a:lnTo>
                  <a:pt x="739105" y="615042"/>
                </a:lnTo>
                <a:lnTo>
                  <a:pt x="740189" y="624300"/>
                </a:lnTo>
                <a:lnTo>
                  <a:pt x="729994" y="629044"/>
                </a:lnTo>
                <a:lnTo>
                  <a:pt x="732715" y="636040"/>
                </a:lnTo>
                <a:lnTo>
                  <a:pt x="725171" y="636422"/>
                </a:lnTo>
                <a:lnTo>
                  <a:pt x="710121" y="650965"/>
                </a:lnTo>
                <a:lnTo>
                  <a:pt x="715744" y="660157"/>
                </a:lnTo>
                <a:lnTo>
                  <a:pt x="703953" y="670676"/>
                </a:lnTo>
                <a:lnTo>
                  <a:pt x="696195" y="669419"/>
                </a:lnTo>
                <a:lnTo>
                  <a:pt x="700052" y="675274"/>
                </a:lnTo>
                <a:lnTo>
                  <a:pt x="691899" y="678659"/>
                </a:lnTo>
                <a:lnTo>
                  <a:pt x="690801" y="688567"/>
                </a:lnTo>
                <a:lnTo>
                  <a:pt x="685164" y="686179"/>
                </a:lnTo>
                <a:lnTo>
                  <a:pt x="688866" y="696592"/>
                </a:lnTo>
                <a:lnTo>
                  <a:pt x="673450" y="708610"/>
                </a:lnTo>
                <a:lnTo>
                  <a:pt x="674264" y="717098"/>
                </a:lnTo>
                <a:lnTo>
                  <a:pt x="661892" y="719781"/>
                </a:lnTo>
                <a:lnTo>
                  <a:pt x="661691" y="729054"/>
                </a:lnTo>
                <a:lnTo>
                  <a:pt x="642897" y="731516"/>
                </a:lnTo>
                <a:lnTo>
                  <a:pt x="638432" y="737619"/>
                </a:lnTo>
                <a:lnTo>
                  <a:pt x="627629" y="735452"/>
                </a:lnTo>
                <a:lnTo>
                  <a:pt x="611946" y="749002"/>
                </a:lnTo>
                <a:lnTo>
                  <a:pt x="607813" y="744375"/>
                </a:lnTo>
                <a:lnTo>
                  <a:pt x="605606" y="754535"/>
                </a:lnTo>
                <a:lnTo>
                  <a:pt x="597008" y="749193"/>
                </a:lnTo>
                <a:lnTo>
                  <a:pt x="595698" y="760461"/>
                </a:lnTo>
                <a:lnTo>
                  <a:pt x="613978" y="778426"/>
                </a:lnTo>
                <a:lnTo>
                  <a:pt x="639900" y="850564"/>
                </a:lnTo>
                <a:lnTo>
                  <a:pt x="656952" y="862681"/>
                </a:lnTo>
                <a:lnTo>
                  <a:pt x="663228" y="886346"/>
                </a:lnTo>
                <a:lnTo>
                  <a:pt x="681120" y="885788"/>
                </a:lnTo>
                <a:lnTo>
                  <a:pt x="671429" y="904380"/>
                </a:lnTo>
                <a:lnTo>
                  <a:pt x="671465" y="918679"/>
                </a:lnTo>
                <a:lnTo>
                  <a:pt x="677560" y="927461"/>
                </a:lnTo>
                <a:lnTo>
                  <a:pt x="670255" y="931412"/>
                </a:lnTo>
                <a:close/>
              </a:path>
            </a:pathLst>
          </a:custGeom>
          <a:solidFill>
            <a:srgbClr val="BACCE4"/>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4" name="2022 provincial petrol/diesel sales: GP"/>
          <p:cNvSpPr/>
          <p:nvPr/>
        </p:nvSpPr>
        <p:spPr>
          <a:xfrm>
            <a:off x="4200203" y="3074864"/>
            <a:ext cx="454565" cy="460165"/>
          </a:xfrm>
          <a:custGeom>
            <a:avLst/>
            <a:gdLst/>
            <a:ahLst/>
            <a:cxnLst/>
            <a:rect l="l" t="t" r="r" b="b"/>
            <a:pathLst>
              <a:path w="454565" h="460165">
                <a:moveTo>
                  <a:pt x="246514" y="449498"/>
                </a:moveTo>
                <a:lnTo>
                  <a:pt x="243273" y="460165"/>
                </a:lnTo>
                <a:lnTo>
                  <a:pt x="228722" y="439756"/>
                </a:lnTo>
                <a:lnTo>
                  <a:pt x="230697" y="450928"/>
                </a:lnTo>
                <a:lnTo>
                  <a:pt x="219045" y="450726"/>
                </a:lnTo>
                <a:lnTo>
                  <a:pt x="218342" y="439223"/>
                </a:lnTo>
                <a:lnTo>
                  <a:pt x="195684" y="425660"/>
                </a:lnTo>
                <a:lnTo>
                  <a:pt x="198939" y="422378"/>
                </a:lnTo>
                <a:lnTo>
                  <a:pt x="186869" y="393619"/>
                </a:lnTo>
                <a:lnTo>
                  <a:pt x="168322" y="403852"/>
                </a:lnTo>
                <a:lnTo>
                  <a:pt x="165097" y="412788"/>
                </a:lnTo>
                <a:lnTo>
                  <a:pt x="142680" y="413439"/>
                </a:lnTo>
                <a:lnTo>
                  <a:pt x="139507" y="425770"/>
                </a:lnTo>
                <a:lnTo>
                  <a:pt x="130189" y="415727"/>
                </a:lnTo>
                <a:lnTo>
                  <a:pt x="108222" y="418104"/>
                </a:lnTo>
                <a:lnTo>
                  <a:pt x="108575" y="408304"/>
                </a:lnTo>
                <a:lnTo>
                  <a:pt x="96656" y="407357"/>
                </a:lnTo>
                <a:lnTo>
                  <a:pt x="101779" y="397606"/>
                </a:lnTo>
                <a:lnTo>
                  <a:pt x="95071" y="403446"/>
                </a:lnTo>
                <a:lnTo>
                  <a:pt x="94268" y="385866"/>
                </a:lnTo>
                <a:lnTo>
                  <a:pt x="68108" y="381019"/>
                </a:lnTo>
                <a:lnTo>
                  <a:pt x="61335" y="385776"/>
                </a:lnTo>
                <a:lnTo>
                  <a:pt x="47935" y="366170"/>
                </a:lnTo>
                <a:lnTo>
                  <a:pt x="41695" y="365512"/>
                </a:lnTo>
                <a:lnTo>
                  <a:pt x="42780" y="376119"/>
                </a:lnTo>
                <a:lnTo>
                  <a:pt x="19156" y="381636"/>
                </a:lnTo>
                <a:lnTo>
                  <a:pt x="16350" y="364860"/>
                </a:lnTo>
                <a:lnTo>
                  <a:pt x="5824" y="365581"/>
                </a:lnTo>
                <a:lnTo>
                  <a:pt x="0" y="352613"/>
                </a:lnTo>
                <a:lnTo>
                  <a:pt x="17351" y="348113"/>
                </a:lnTo>
                <a:lnTo>
                  <a:pt x="7919" y="315311"/>
                </a:lnTo>
                <a:lnTo>
                  <a:pt x="41095" y="291372"/>
                </a:lnTo>
                <a:lnTo>
                  <a:pt x="32820" y="256138"/>
                </a:lnTo>
                <a:lnTo>
                  <a:pt x="48196" y="258987"/>
                </a:lnTo>
                <a:lnTo>
                  <a:pt x="49179" y="249050"/>
                </a:lnTo>
                <a:lnTo>
                  <a:pt x="62490" y="249780"/>
                </a:lnTo>
                <a:lnTo>
                  <a:pt x="73533" y="186114"/>
                </a:lnTo>
                <a:lnTo>
                  <a:pt x="93378" y="182379"/>
                </a:lnTo>
                <a:lnTo>
                  <a:pt x="115909" y="168676"/>
                </a:lnTo>
                <a:lnTo>
                  <a:pt x="116503" y="180104"/>
                </a:lnTo>
                <a:lnTo>
                  <a:pt x="125057" y="189196"/>
                </a:lnTo>
                <a:lnTo>
                  <a:pt x="138553" y="183064"/>
                </a:lnTo>
                <a:lnTo>
                  <a:pt x="138738" y="194415"/>
                </a:lnTo>
                <a:lnTo>
                  <a:pt x="159027" y="186072"/>
                </a:lnTo>
                <a:lnTo>
                  <a:pt x="165570" y="175652"/>
                </a:lnTo>
                <a:lnTo>
                  <a:pt x="173166" y="176877"/>
                </a:lnTo>
                <a:lnTo>
                  <a:pt x="170841" y="186783"/>
                </a:lnTo>
                <a:lnTo>
                  <a:pt x="189050" y="175490"/>
                </a:lnTo>
                <a:lnTo>
                  <a:pt x="186873" y="161057"/>
                </a:lnTo>
                <a:lnTo>
                  <a:pt x="193898" y="159106"/>
                </a:lnTo>
                <a:lnTo>
                  <a:pt x="186988" y="144558"/>
                </a:lnTo>
                <a:lnTo>
                  <a:pt x="188182" y="133926"/>
                </a:lnTo>
                <a:lnTo>
                  <a:pt x="194854" y="128793"/>
                </a:lnTo>
                <a:lnTo>
                  <a:pt x="189777" y="118397"/>
                </a:lnTo>
                <a:lnTo>
                  <a:pt x="195595" y="105789"/>
                </a:lnTo>
                <a:lnTo>
                  <a:pt x="211272" y="110474"/>
                </a:lnTo>
                <a:lnTo>
                  <a:pt x="212086" y="104419"/>
                </a:lnTo>
                <a:lnTo>
                  <a:pt x="198288" y="99534"/>
                </a:lnTo>
                <a:lnTo>
                  <a:pt x="208663" y="87662"/>
                </a:lnTo>
                <a:lnTo>
                  <a:pt x="188082" y="70825"/>
                </a:lnTo>
                <a:lnTo>
                  <a:pt x="194170" y="59787"/>
                </a:lnTo>
                <a:lnTo>
                  <a:pt x="201077" y="59054"/>
                </a:lnTo>
                <a:lnTo>
                  <a:pt x="211115" y="70121"/>
                </a:lnTo>
                <a:lnTo>
                  <a:pt x="226020" y="61617"/>
                </a:lnTo>
                <a:lnTo>
                  <a:pt x="241968" y="61736"/>
                </a:lnTo>
                <a:lnTo>
                  <a:pt x="242220" y="52212"/>
                </a:lnTo>
                <a:lnTo>
                  <a:pt x="247995" y="51115"/>
                </a:lnTo>
                <a:lnTo>
                  <a:pt x="254038" y="59066"/>
                </a:lnTo>
                <a:lnTo>
                  <a:pt x="270327" y="55704"/>
                </a:lnTo>
                <a:lnTo>
                  <a:pt x="270538" y="48303"/>
                </a:lnTo>
                <a:lnTo>
                  <a:pt x="289476" y="44138"/>
                </a:lnTo>
                <a:lnTo>
                  <a:pt x="290081" y="51593"/>
                </a:lnTo>
                <a:lnTo>
                  <a:pt x="318268" y="49240"/>
                </a:lnTo>
                <a:lnTo>
                  <a:pt x="320883" y="35843"/>
                </a:lnTo>
                <a:lnTo>
                  <a:pt x="339877" y="34676"/>
                </a:lnTo>
                <a:lnTo>
                  <a:pt x="348448" y="42739"/>
                </a:lnTo>
                <a:lnTo>
                  <a:pt x="359871" y="27810"/>
                </a:lnTo>
                <a:lnTo>
                  <a:pt x="345466" y="9834"/>
                </a:lnTo>
                <a:lnTo>
                  <a:pt x="375711" y="0"/>
                </a:lnTo>
                <a:lnTo>
                  <a:pt x="384126" y="30700"/>
                </a:lnTo>
                <a:lnTo>
                  <a:pt x="379368" y="28618"/>
                </a:lnTo>
                <a:lnTo>
                  <a:pt x="373234" y="45675"/>
                </a:lnTo>
                <a:lnTo>
                  <a:pt x="345730" y="56384"/>
                </a:lnTo>
                <a:lnTo>
                  <a:pt x="349096" y="71911"/>
                </a:lnTo>
                <a:lnTo>
                  <a:pt x="343104" y="90626"/>
                </a:lnTo>
                <a:lnTo>
                  <a:pt x="354959" y="141404"/>
                </a:lnTo>
                <a:lnTo>
                  <a:pt x="363187" y="146202"/>
                </a:lnTo>
                <a:lnTo>
                  <a:pt x="367054" y="133264"/>
                </a:lnTo>
                <a:lnTo>
                  <a:pt x="376770" y="137452"/>
                </a:lnTo>
                <a:lnTo>
                  <a:pt x="374225" y="152438"/>
                </a:lnTo>
                <a:lnTo>
                  <a:pt x="395174" y="147091"/>
                </a:lnTo>
                <a:lnTo>
                  <a:pt x="387265" y="136768"/>
                </a:lnTo>
                <a:lnTo>
                  <a:pt x="400535" y="141046"/>
                </a:lnTo>
                <a:lnTo>
                  <a:pt x="401275" y="136852"/>
                </a:lnTo>
                <a:lnTo>
                  <a:pt x="395170" y="117428"/>
                </a:lnTo>
                <a:lnTo>
                  <a:pt x="387107" y="118917"/>
                </a:lnTo>
                <a:lnTo>
                  <a:pt x="384681" y="110860"/>
                </a:lnTo>
                <a:lnTo>
                  <a:pt x="397673" y="100977"/>
                </a:lnTo>
                <a:lnTo>
                  <a:pt x="402649" y="107593"/>
                </a:lnTo>
                <a:lnTo>
                  <a:pt x="398652" y="118209"/>
                </a:lnTo>
                <a:lnTo>
                  <a:pt x="411017" y="107195"/>
                </a:lnTo>
                <a:lnTo>
                  <a:pt x="418877" y="126717"/>
                </a:lnTo>
                <a:lnTo>
                  <a:pt x="433263" y="120628"/>
                </a:lnTo>
                <a:lnTo>
                  <a:pt x="428705" y="111793"/>
                </a:lnTo>
                <a:lnTo>
                  <a:pt x="435131" y="105093"/>
                </a:lnTo>
                <a:lnTo>
                  <a:pt x="445453" y="109028"/>
                </a:lnTo>
                <a:lnTo>
                  <a:pt x="450646" y="100862"/>
                </a:lnTo>
                <a:lnTo>
                  <a:pt x="454565" y="112018"/>
                </a:lnTo>
                <a:lnTo>
                  <a:pt x="439496" y="118079"/>
                </a:lnTo>
                <a:lnTo>
                  <a:pt x="445887" y="138506"/>
                </a:lnTo>
                <a:lnTo>
                  <a:pt x="423461" y="145668"/>
                </a:lnTo>
                <a:lnTo>
                  <a:pt x="418825" y="159577"/>
                </a:lnTo>
                <a:lnTo>
                  <a:pt x="425802" y="163453"/>
                </a:lnTo>
                <a:lnTo>
                  <a:pt x="415186" y="183762"/>
                </a:lnTo>
                <a:lnTo>
                  <a:pt x="414674" y="200463"/>
                </a:lnTo>
                <a:lnTo>
                  <a:pt x="402934" y="195683"/>
                </a:lnTo>
                <a:lnTo>
                  <a:pt x="397388" y="230198"/>
                </a:lnTo>
                <a:lnTo>
                  <a:pt x="375755" y="231208"/>
                </a:lnTo>
                <a:lnTo>
                  <a:pt x="373343" y="223306"/>
                </a:lnTo>
                <a:lnTo>
                  <a:pt x="343378" y="219254"/>
                </a:lnTo>
                <a:lnTo>
                  <a:pt x="333609" y="227072"/>
                </a:lnTo>
                <a:lnTo>
                  <a:pt x="330425" y="241585"/>
                </a:lnTo>
                <a:lnTo>
                  <a:pt x="321206" y="238302"/>
                </a:lnTo>
                <a:lnTo>
                  <a:pt x="312882" y="242151"/>
                </a:lnTo>
                <a:lnTo>
                  <a:pt x="315705" y="246695"/>
                </a:lnTo>
                <a:lnTo>
                  <a:pt x="309546" y="258064"/>
                </a:lnTo>
                <a:lnTo>
                  <a:pt x="319320" y="270073"/>
                </a:lnTo>
                <a:lnTo>
                  <a:pt x="318077" y="283611"/>
                </a:lnTo>
                <a:lnTo>
                  <a:pt x="339052" y="290131"/>
                </a:lnTo>
                <a:lnTo>
                  <a:pt x="339792" y="301423"/>
                </a:lnTo>
                <a:lnTo>
                  <a:pt x="358592" y="314475"/>
                </a:lnTo>
                <a:lnTo>
                  <a:pt x="380717" y="306297"/>
                </a:lnTo>
                <a:lnTo>
                  <a:pt x="392941" y="330215"/>
                </a:lnTo>
                <a:lnTo>
                  <a:pt x="376309" y="336822"/>
                </a:lnTo>
                <a:lnTo>
                  <a:pt x="369624" y="360038"/>
                </a:lnTo>
                <a:lnTo>
                  <a:pt x="341594" y="356510"/>
                </a:lnTo>
                <a:lnTo>
                  <a:pt x="340503" y="366643"/>
                </a:lnTo>
                <a:lnTo>
                  <a:pt x="315436" y="354364"/>
                </a:lnTo>
                <a:lnTo>
                  <a:pt x="314843" y="376968"/>
                </a:lnTo>
                <a:lnTo>
                  <a:pt x="305099" y="381538"/>
                </a:lnTo>
                <a:lnTo>
                  <a:pt x="305897" y="388141"/>
                </a:lnTo>
                <a:lnTo>
                  <a:pt x="285052" y="392590"/>
                </a:lnTo>
                <a:lnTo>
                  <a:pt x="280686" y="408452"/>
                </a:lnTo>
                <a:lnTo>
                  <a:pt x="285860" y="419899"/>
                </a:lnTo>
                <a:lnTo>
                  <a:pt x="265593" y="427254"/>
                </a:lnTo>
                <a:lnTo>
                  <a:pt x="262743" y="449370"/>
                </a:lnTo>
                <a:lnTo>
                  <a:pt x="257061" y="445365"/>
                </a:lnTo>
                <a:lnTo>
                  <a:pt x="246514" y="449498"/>
                </a:lnTo>
                <a:close/>
              </a:path>
            </a:pathLst>
          </a:custGeom>
          <a:solidFill>
            <a:srgbClr val="0A2373"/>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5" name="2022 provincial petrol/diesel sales: KZN"/>
          <p:cNvSpPr/>
          <p:nvPr/>
        </p:nvSpPr>
        <p:spPr>
          <a:xfrm>
            <a:off x="4576800" y="3542692"/>
            <a:ext cx="946941" cy="1069830"/>
          </a:xfrm>
          <a:custGeom>
            <a:avLst/>
            <a:gdLst/>
            <a:ahLst/>
            <a:cxnLst/>
            <a:rect l="l" t="t" r="r" b="b"/>
            <a:pathLst>
              <a:path w="946941" h="1069830">
                <a:moveTo>
                  <a:pt x="270551" y="1069830"/>
                </a:moveTo>
                <a:lnTo>
                  <a:pt x="264247" y="1062786"/>
                </a:lnTo>
                <a:lnTo>
                  <a:pt x="266006" y="1056599"/>
                </a:lnTo>
                <a:lnTo>
                  <a:pt x="258588" y="1052074"/>
                </a:lnTo>
                <a:lnTo>
                  <a:pt x="263590" y="1043814"/>
                </a:lnTo>
                <a:lnTo>
                  <a:pt x="258902" y="1040504"/>
                </a:lnTo>
                <a:lnTo>
                  <a:pt x="262006" y="1030028"/>
                </a:lnTo>
                <a:lnTo>
                  <a:pt x="256477" y="1020983"/>
                </a:lnTo>
                <a:lnTo>
                  <a:pt x="245800" y="1017105"/>
                </a:lnTo>
                <a:lnTo>
                  <a:pt x="251330" y="1014166"/>
                </a:lnTo>
                <a:lnTo>
                  <a:pt x="235373" y="1012066"/>
                </a:lnTo>
                <a:lnTo>
                  <a:pt x="232559" y="1003992"/>
                </a:lnTo>
                <a:lnTo>
                  <a:pt x="223017" y="1005276"/>
                </a:lnTo>
                <a:lnTo>
                  <a:pt x="225045" y="997653"/>
                </a:lnTo>
                <a:lnTo>
                  <a:pt x="216133" y="998531"/>
                </a:lnTo>
                <a:lnTo>
                  <a:pt x="220282" y="989396"/>
                </a:lnTo>
                <a:lnTo>
                  <a:pt x="214374" y="988596"/>
                </a:lnTo>
                <a:lnTo>
                  <a:pt x="215655" y="994622"/>
                </a:lnTo>
                <a:lnTo>
                  <a:pt x="210885" y="996020"/>
                </a:lnTo>
                <a:lnTo>
                  <a:pt x="212663" y="989129"/>
                </a:lnTo>
                <a:lnTo>
                  <a:pt x="206332" y="992363"/>
                </a:lnTo>
                <a:lnTo>
                  <a:pt x="207911" y="985820"/>
                </a:lnTo>
                <a:lnTo>
                  <a:pt x="198913" y="986162"/>
                </a:lnTo>
                <a:lnTo>
                  <a:pt x="198254" y="979679"/>
                </a:lnTo>
                <a:lnTo>
                  <a:pt x="189568" y="977566"/>
                </a:lnTo>
                <a:lnTo>
                  <a:pt x="190991" y="969890"/>
                </a:lnTo>
                <a:lnTo>
                  <a:pt x="183889" y="968562"/>
                </a:lnTo>
                <a:lnTo>
                  <a:pt x="184948" y="972358"/>
                </a:lnTo>
                <a:lnTo>
                  <a:pt x="174776" y="975353"/>
                </a:lnTo>
                <a:lnTo>
                  <a:pt x="160570" y="960914"/>
                </a:lnTo>
                <a:lnTo>
                  <a:pt x="143974" y="965456"/>
                </a:lnTo>
                <a:lnTo>
                  <a:pt x="141665" y="957543"/>
                </a:lnTo>
                <a:lnTo>
                  <a:pt x="127856" y="952441"/>
                </a:lnTo>
                <a:lnTo>
                  <a:pt x="125452" y="946473"/>
                </a:lnTo>
                <a:lnTo>
                  <a:pt x="100709" y="950966"/>
                </a:lnTo>
                <a:lnTo>
                  <a:pt x="88088" y="958765"/>
                </a:lnTo>
                <a:lnTo>
                  <a:pt x="69949" y="945147"/>
                </a:lnTo>
                <a:lnTo>
                  <a:pt x="57412" y="944443"/>
                </a:lnTo>
                <a:lnTo>
                  <a:pt x="52437" y="949686"/>
                </a:lnTo>
                <a:lnTo>
                  <a:pt x="53166" y="943871"/>
                </a:lnTo>
                <a:lnTo>
                  <a:pt x="42233" y="940052"/>
                </a:lnTo>
                <a:lnTo>
                  <a:pt x="38049" y="933370"/>
                </a:lnTo>
                <a:lnTo>
                  <a:pt x="51262" y="926700"/>
                </a:lnTo>
                <a:lnTo>
                  <a:pt x="43982" y="921853"/>
                </a:lnTo>
                <a:lnTo>
                  <a:pt x="46454" y="915938"/>
                </a:lnTo>
                <a:lnTo>
                  <a:pt x="52367" y="917516"/>
                </a:lnTo>
                <a:lnTo>
                  <a:pt x="57436" y="896867"/>
                </a:lnTo>
                <a:lnTo>
                  <a:pt x="76775" y="887666"/>
                </a:lnTo>
                <a:lnTo>
                  <a:pt x="75775" y="882641"/>
                </a:lnTo>
                <a:lnTo>
                  <a:pt x="81926" y="883791"/>
                </a:lnTo>
                <a:lnTo>
                  <a:pt x="81802" y="868487"/>
                </a:lnTo>
                <a:lnTo>
                  <a:pt x="67891" y="854350"/>
                </a:lnTo>
                <a:lnTo>
                  <a:pt x="71497" y="864196"/>
                </a:lnTo>
                <a:lnTo>
                  <a:pt x="45572" y="852105"/>
                </a:lnTo>
                <a:lnTo>
                  <a:pt x="38923" y="830330"/>
                </a:lnTo>
                <a:lnTo>
                  <a:pt x="43778" y="810445"/>
                </a:lnTo>
                <a:lnTo>
                  <a:pt x="20988" y="784825"/>
                </a:lnTo>
                <a:lnTo>
                  <a:pt x="56217" y="764098"/>
                </a:lnTo>
                <a:lnTo>
                  <a:pt x="55020" y="755797"/>
                </a:lnTo>
                <a:lnTo>
                  <a:pt x="41609" y="745868"/>
                </a:lnTo>
                <a:lnTo>
                  <a:pt x="48578" y="740739"/>
                </a:lnTo>
                <a:lnTo>
                  <a:pt x="47329" y="725716"/>
                </a:lnTo>
                <a:lnTo>
                  <a:pt x="56159" y="704303"/>
                </a:lnTo>
                <a:lnTo>
                  <a:pt x="73345" y="693929"/>
                </a:lnTo>
                <a:lnTo>
                  <a:pt x="83879" y="695090"/>
                </a:lnTo>
                <a:lnTo>
                  <a:pt x="85067" y="680222"/>
                </a:lnTo>
                <a:lnTo>
                  <a:pt x="94129" y="676793"/>
                </a:lnTo>
                <a:lnTo>
                  <a:pt x="87774" y="656139"/>
                </a:lnTo>
                <a:lnTo>
                  <a:pt x="112808" y="645388"/>
                </a:lnTo>
                <a:lnTo>
                  <a:pt x="125562" y="618155"/>
                </a:lnTo>
                <a:lnTo>
                  <a:pt x="116150" y="586055"/>
                </a:lnTo>
                <a:lnTo>
                  <a:pt x="102094" y="579185"/>
                </a:lnTo>
                <a:lnTo>
                  <a:pt x="105297" y="564110"/>
                </a:lnTo>
                <a:lnTo>
                  <a:pt x="95909" y="551263"/>
                </a:lnTo>
                <a:lnTo>
                  <a:pt x="82879" y="553397"/>
                </a:lnTo>
                <a:lnTo>
                  <a:pt x="74583" y="536857"/>
                </a:lnTo>
                <a:lnTo>
                  <a:pt x="54602" y="524435"/>
                </a:lnTo>
                <a:lnTo>
                  <a:pt x="31758" y="498465"/>
                </a:lnTo>
                <a:lnTo>
                  <a:pt x="22757" y="506548"/>
                </a:lnTo>
                <a:lnTo>
                  <a:pt x="14119" y="492881"/>
                </a:lnTo>
                <a:lnTo>
                  <a:pt x="16309" y="484301"/>
                </a:lnTo>
                <a:lnTo>
                  <a:pt x="10527" y="480060"/>
                </a:lnTo>
                <a:lnTo>
                  <a:pt x="16686" y="478096"/>
                </a:lnTo>
                <a:lnTo>
                  <a:pt x="15697" y="472518"/>
                </a:lnTo>
                <a:lnTo>
                  <a:pt x="7471" y="466200"/>
                </a:lnTo>
                <a:lnTo>
                  <a:pt x="0" y="468943"/>
                </a:lnTo>
                <a:lnTo>
                  <a:pt x="5974" y="448700"/>
                </a:lnTo>
                <a:lnTo>
                  <a:pt x="16578" y="438817"/>
                </a:lnTo>
                <a:lnTo>
                  <a:pt x="24263" y="419530"/>
                </a:lnTo>
                <a:lnTo>
                  <a:pt x="52108" y="412929"/>
                </a:lnTo>
                <a:lnTo>
                  <a:pt x="60646" y="418655"/>
                </a:lnTo>
                <a:lnTo>
                  <a:pt x="69083" y="409663"/>
                </a:lnTo>
                <a:lnTo>
                  <a:pt x="74685" y="413703"/>
                </a:lnTo>
                <a:lnTo>
                  <a:pt x="79395" y="407215"/>
                </a:lnTo>
                <a:lnTo>
                  <a:pt x="74037" y="400556"/>
                </a:lnTo>
                <a:lnTo>
                  <a:pt x="87580" y="383401"/>
                </a:lnTo>
                <a:lnTo>
                  <a:pt x="96799" y="387057"/>
                </a:lnTo>
                <a:lnTo>
                  <a:pt x="116222" y="370867"/>
                </a:lnTo>
                <a:lnTo>
                  <a:pt x="125424" y="372233"/>
                </a:lnTo>
                <a:lnTo>
                  <a:pt x="141913" y="346294"/>
                </a:lnTo>
                <a:lnTo>
                  <a:pt x="173154" y="339553"/>
                </a:lnTo>
                <a:lnTo>
                  <a:pt x="175185" y="325425"/>
                </a:lnTo>
                <a:lnTo>
                  <a:pt x="183530" y="323575"/>
                </a:lnTo>
                <a:lnTo>
                  <a:pt x="182722" y="301207"/>
                </a:lnTo>
                <a:lnTo>
                  <a:pt x="174397" y="289827"/>
                </a:lnTo>
                <a:lnTo>
                  <a:pt x="182881" y="269638"/>
                </a:lnTo>
                <a:lnTo>
                  <a:pt x="189528" y="267521"/>
                </a:lnTo>
                <a:lnTo>
                  <a:pt x="183978" y="258560"/>
                </a:lnTo>
                <a:lnTo>
                  <a:pt x="192540" y="251840"/>
                </a:lnTo>
                <a:lnTo>
                  <a:pt x="194759" y="233683"/>
                </a:lnTo>
                <a:lnTo>
                  <a:pt x="202693" y="229796"/>
                </a:lnTo>
                <a:lnTo>
                  <a:pt x="196798" y="218971"/>
                </a:lnTo>
                <a:lnTo>
                  <a:pt x="198719" y="201581"/>
                </a:lnTo>
                <a:lnTo>
                  <a:pt x="190591" y="188983"/>
                </a:lnTo>
                <a:lnTo>
                  <a:pt x="217042" y="176250"/>
                </a:lnTo>
                <a:lnTo>
                  <a:pt x="211643" y="158207"/>
                </a:lnTo>
                <a:lnTo>
                  <a:pt x="200597" y="154307"/>
                </a:lnTo>
                <a:lnTo>
                  <a:pt x="206013" y="147952"/>
                </a:lnTo>
                <a:lnTo>
                  <a:pt x="200904" y="141053"/>
                </a:lnTo>
                <a:lnTo>
                  <a:pt x="212554" y="136597"/>
                </a:lnTo>
                <a:lnTo>
                  <a:pt x="220959" y="140805"/>
                </a:lnTo>
                <a:lnTo>
                  <a:pt x="231762" y="121085"/>
                </a:lnTo>
                <a:lnTo>
                  <a:pt x="245056" y="123370"/>
                </a:lnTo>
                <a:lnTo>
                  <a:pt x="249570" y="115514"/>
                </a:lnTo>
                <a:lnTo>
                  <a:pt x="271694" y="127486"/>
                </a:lnTo>
                <a:lnTo>
                  <a:pt x="288083" y="120726"/>
                </a:lnTo>
                <a:lnTo>
                  <a:pt x="300502" y="132752"/>
                </a:lnTo>
                <a:lnTo>
                  <a:pt x="313584" y="118407"/>
                </a:lnTo>
                <a:lnTo>
                  <a:pt x="321646" y="125303"/>
                </a:lnTo>
                <a:lnTo>
                  <a:pt x="332093" y="122648"/>
                </a:lnTo>
                <a:lnTo>
                  <a:pt x="333270" y="108831"/>
                </a:lnTo>
                <a:lnTo>
                  <a:pt x="352502" y="108979"/>
                </a:lnTo>
                <a:lnTo>
                  <a:pt x="353200" y="97674"/>
                </a:lnTo>
                <a:lnTo>
                  <a:pt x="366593" y="98890"/>
                </a:lnTo>
                <a:lnTo>
                  <a:pt x="365978" y="110422"/>
                </a:lnTo>
                <a:lnTo>
                  <a:pt x="370916" y="113919"/>
                </a:lnTo>
                <a:lnTo>
                  <a:pt x="382294" y="110508"/>
                </a:lnTo>
                <a:lnTo>
                  <a:pt x="402605" y="114181"/>
                </a:lnTo>
                <a:lnTo>
                  <a:pt x="432860" y="105539"/>
                </a:lnTo>
                <a:lnTo>
                  <a:pt x="444489" y="117004"/>
                </a:lnTo>
                <a:lnTo>
                  <a:pt x="448738" y="113732"/>
                </a:lnTo>
                <a:lnTo>
                  <a:pt x="455853" y="124673"/>
                </a:lnTo>
                <a:lnTo>
                  <a:pt x="464016" y="122287"/>
                </a:lnTo>
                <a:lnTo>
                  <a:pt x="466285" y="114550"/>
                </a:lnTo>
                <a:lnTo>
                  <a:pt x="479198" y="113231"/>
                </a:lnTo>
                <a:lnTo>
                  <a:pt x="482990" y="129575"/>
                </a:lnTo>
                <a:lnTo>
                  <a:pt x="519137" y="121562"/>
                </a:lnTo>
                <a:lnTo>
                  <a:pt x="533926" y="132251"/>
                </a:lnTo>
                <a:lnTo>
                  <a:pt x="560257" y="101489"/>
                </a:lnTo>
                <a:lnTo>
                  <a:pt x="609294" y="122549"/>
                </a:lnTo>
                <a:lnTo>
                  <a:pt x="719505" y="129340"/>
                </a:lnTo>
                <a:lnTo>
                  <a:pt x="721677" y="77892"/>
                </a:lnTo>
                <a:lnTo>
                  <a:pt x="734467" y="118"/>
                </a:lnTo>
                <a:lnTo>
                  <a:pt x="754869" y="0"/>
                </a:lnTo>
                <a:lnTo>
                  <a:pt x="758974" y="8890"/>
                </a:lnTo>
                <a:lnTo>
                  <a:pt x="772748" y="15945"/>
                </a:lnTo>
                <a:lnTo>
                  <a:pt x="781810" y="8714"/>
                </a:lnTo>
                <a:lnTo>
                  <a:pt x="806794" y="18198"/>
                </a:lnTo>
                <a:lnTo>
                  <a:pt x="934915" y="24748"/>
                </a:lnTo>
                <a:lnTo>
                  <a:pt x="946941" y="29161"/>
                </a:lnTo>
                <a:lnTo>
                  <a:pt x="931801" y="92016"/>
                </a:lnTo>
                <a:lnTo>
                  <a:pt x="888252" y="189222"/>
                </a:lnTo>
                <a:lnTo>
                  <a:pt x="865563" y="270227"/>
                </a:lnTo>
                <a:lnTo>
                  <a:pt x="851324" y="348836"/>
                </a:lnTo>
                <a:lnTo>
                  <a:pt x="817674" y="409994"/>
                </a:lnTo>
                <a:lnTo>
                  <a:pt x="813336" y="434627"/>
                </a:lnTo>
                <a:lnTo>
                  <a:pt x="800906" y="431554"/>
                </a:lnTo>
                <a:lnTo>
                  <a:pt x="786796" y="456942"/>
                </a:lnTo>
                <a:lnTo>
                  <a:pt x="704354" y="528481"/>
                </a:lnTo>
                <a:lnTo>
                  <a:pt x="645845" y="549010"/>
                </a:lnTo>
                <a:lnTo>
                  <a:pt x="546409" y="649299"/>
                </a:lnTo>
                <a:lnTo>
                  <a:pt x="478658" y="745275"/>
                </a:lnTo>
                <a:lnTo>
                  <a:pt x="472672" y="761240"/>
                </a:lnTo>
                <a:lnTo>
                  <a:pt x="477149" y="773018"/>
                </a:lnTo>
                <a:lnTo>
                  <a:pt x="435953" y="816798"/>
                </a:lnTo>
                <a:lnTo>
                  <a:pt x="353947" y="958657"/>
                </a:lnTo>
                <a:lnTo>
                  <a:pt x="277872" y="1066058"/>
                </a:lnTo>
                <a:lnTo>
                  <a:pt x="270551" y="1069830"/>
                </a:lnTo>
                <a:close/>
              </a:path>
            </a:pathLst>
          </a:custGeom>
          <a:solidFill>
            <a:srgbClr val="3D619D"/>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6" name="2022 provincial petrol/diesel sales: LP"/>
          <p:cNvSpPr/>
          <p:nvPr/>
        </p:nvSpPr>
        <p:spPr>
          <a:xfrm>
            <a:off x="4033528" y="2320210"/>
            <a:ext cx="1287007" cy="840746"/>
          </a:xfrm>
          <a:custGeom>
            <a:avLst/>
            <a:gdLst/>
            <a:ahLst/>
            <a:cxnLst/>
            <a:rect l="l" t="t" r="r" b="b"/>
            <a:pathLst>
              <a:path w="1287007" h="840746">
                <a:moveTo>
                  <a:pt x="512141" y="764488"/>
                </a:moveTo>
                <a:lnTo>
                  <a:pt x="526546" y="782464"/>
                </a:lnTo>
                <a:lnTo>
                  <a:pt x="515123" y="797393"/>
                </a:lnTo>
                <a:lnTo>
                  <a:pt x="508762" y="790076"/>
                </a:lnTo>
                <a:lnTo>
                  <a:pt x="499330" y="789101"/>
                </a:lnTo>
                <a:lnTo>
                  <a:pt x="484678" y="792792"/>
                </a:lnTo>
                <a:lnTo>
                  <a:pt x="484943" y="803894"/>
                </a:lnTo>
                <a:lnTo>
                  <a:pt x="456756" y="806247"/>
                </a:lnTo>
                <a:lnTo>
                  <a:pt x="456151" y="798792"/>
                </a:lnTo>
                <a:lnTo>
                  <a:pt x="437213" y="802957"/>
                </a:lnTo>
                <a:lnTo>
                  <a:pt x="425782" y="777721"/>
                </a:lnTo>
                <a:lnTo>
                  <a:pt x="400123" y="775207"/>
                </a:lnTo>
                <a:lnTo>
                  <a:pt x="398922" y="759851"/>
                </a:lnTo>
                <a:lnTo>
                  <a:pt x="390851" y="760356"/>
                </a:lnTo>
                <a:lnTo>
                  <a:pt x="388699" y="748006"/>
                </a:lnTo>
                <a:lnTo>
                  <a:pt x="405093" y="744950"/>
                </a:lnTo>
                <a:lnTo>
                  <a:pt x="409515" y="753559"/>
                </a:lnTo>
                <a:lnTo>
                  <a:pt x="419044" y="755888"/>
                </a:lnTo>
                <a:lnTo>
                  <a:pt x="429956" y="736313"/>
                </a:lnTo>
                <a:lnTo>
                  <a:pt x="398900" y="723830"/>
                </a:lnTo>
                <a:lnTo>
                  <a:pt x="397852" y="717333"/>
                </a:lnTo>
                <a:lnTo>
                  <a:pt x="378474" y="718350"/>
                </a:lnTo>
                <a:lnTo>
                  <a:pt x="366189" y="711019"/>
                </a:lnTo>
                <a:lnTo>
                  <a:pt x="357297" y="721889"/>
                </a:lnTo>
                <a:lnTo>
                  <a:pt x="320783" y="712166"/>
                </a:lnTo>
                <a:lnTo>
                  <a:pt x="296960" y="718747"/>
                </a:lnTo>
                <a:lnTo>
                  <a:pt x="283390" y="713178"/>
                </a:lnTo>
                <a:lnTo>
                  <a:pt x="276084" y="715874"/>
                </a:lnTo>
                <a:lnTo>
                  <a:pt x="275054" y="727243"/>
                </a:lnTo>
                <a:lnTo>
                  <a:pt x="262772" y="744503"/>
                </a:lnTo>
                <a:lnTo>
                  <a:pt x="248718" y="736315"/>
                </a:lnTo>
                <a:lnTo>
                  <a:pt x="214906" y="740953"/>
                </a:lnTo>
                <a:lnTo>
                  <a:pt x="209677" y="729167"/>
                </a:lnTo>
                <a:lnTo>
                  <a:pt x="199998" y="727614"/>
                </a:lnTo>
                <a:lnTo>
                  <a:pt x="188593" y="735247"/>
                </a:lnTo>
                <a:lnTo>
                  <a:pt x="190623" y="727286"/>
                </a:lnTo>
                <a:lnTo>
                  <a:pt x="184064" y="726419"/>
                </a:lnTo>
                <a:lnTo>
                  <a:pt x="189635" y="708825"/>
                </a:lnTo>
                <a:lnTo>
                  <a:pt x="179755" y="704708"/>
                </a:lnTo>
                <a:lnTo>
                  <a:pt x="172781" y="712363"/>
                </a:lnTo>
                <a:lnTo>
                  <a:pt x="160777" y="691988"/>
                </a:lnTo>
                <a:lnTo>
                  <a:pt x="146853" y="688413"/>
                </a:lnTo>
                <a:lnTo>
                  <a:pt x="144043" y="645355"/>
                </a:lnTo>
                <a:lnTo>
                  <a:pt x="132260" y="645684"/>
                </a:lnTo>
                <a:lnTo>
                  <a:pt x="133171" y="659777"/>
                </a:lnTo>
                <a:lnTo>
                  <a:pt x="85992" y="674875"/>
                </a:lnTo>
                <a:lnTo>
                  <a:pt x="79238" y="686344"/>
                </a:lnTo>
                <a:lnTo>
                  <a:pt x="49321" y="667257"/>
                </a:lnTo>
                <a:lnTo>
                  <a:pt x="11107" y="666678"/>
                </a:lnTo>
                <a:lnTo>
                  <a:pt x="3681" y="656816"/>
                </a:lnTo>
                <a:lnTo>
                  <a:pt x="4356" y="627949"/>
                </a:lnTo>
                <a:lnTo>
                  <a:pt x="0" y="624820"/>
                </a:lnTo>
                <a:lnTo>
                  <a:pt x="14719" y="610391"/>
                </a:lnTo>
                <a:lnTo>
                  <a:pt x="24189" y="584723"/>
                </a:lnTo>
                <a:lnTo>
                  <a:pt x="42482" y="565205"/>
                </a:lnTo>
                <a:lnTo>
                  <a:pt x="60437" y="557891"/>
                </a:lnTo>
                <a:lnTo>
                  <a:pt x="70061" y="542862"/>
                </a:lnTo>
                <a:lnTo>
                  <a:pt x="89291" y="539239"/>
                </a:lnTo>
                <a:lnTo>
                  <a:pt x="108252" y="525335"/>
                </a:lnTo>
                <a:lnTo>
                  <a:pt x="112549" y="509720"/>
                </a:lnTo>
                <a:lnTo>
                  <a:pt x="108178" y="506966"/>
                </a:lnTo>
                <a:lnTo>
                  <a:pt x="111683" y="502161"/>
                </a:lnTo>
                <a:lnTo>
                  <a:pt x="107432" y="488419"/>
                </a:lnTo>
                <a:lnTo>
                  <a:pt x="113273" y="484143"/>
                </a:lnTo>
                <a:lnTo>
                  <a:pt x="124887" y="450072"/>
                </a:lnTo>
                <a:lnTo>
                  <a:pt x="130601" y="429378"/>
                </a:lnTo>
                <a:lnTo>
                  <a:pt x="125295" y="423454"/>
                </a:lnTo>
                <a:lnTo>
                  <a:pt x="131605" y="418256"/>
                </a:lnTo>
                <a:lnTo>
                  <a:pt x="134967" y="385718"/>
                </a:lnTo>
                <a:lnTo>
                  <a:pt x="142340" y="382200"/>
                </a:lnTo>
                <a:lnTo>
                  <a:pt x="142672" y="370903"/>
                </a:lnTo>
                <a:lnTo>
                  <a:pt x="148059" y="371044"/>
                </a:lnTo>
                <a:lnTo>
                  <a:pt x="150796" y="380841"/>
                </a:lnTo>
                <a:lnTo>
                  <a:pt x="158548" y="377897"/>
                </a:lnTo>
                <a:lnTo>
                  <a:pt x="161123" y="370964"/>
                </a:lnTo>
                <a:lnTo>
                  <a:pt x="156116" y="363033"/>
                </a:lnTo>
                <a:lnTo>
                  <a:pt x="165658" y="360731"/>
                </a:lnTo>
                <a:lnTo>
                  <a:pt x="169947" y="350403"/>
                </a:lnTo>
                <a:lnTo>
                  <a:pt x="178771" y="352332"/>
                </a:lnTo>
                <a:lnTo>
                  <a:pt x="174334" y="340624"/>
                </a:lnTo>
                <a:lnTo>
                  <a:pt x="189811" y="343632"/>
                </a:lnTo>
                <a:lnTo>
                  <a:pt x="187935" y="334339"/>
                </a:lnTo>
                <a:lnTo>
                  <a:pt x="214058" y="325844"/>
                </a:lnTo>
                <a:lnTo>
                  <a:pt x="220758" y="310678"/>
                </a:lnTo>
                <a:lnTo>
                  <a:pt x="226247" y="309449"/>
                </a:lnTo>
                <a:lnTo>
                  <a:pt x="225314" y="316614"/>
                </a:lnTo>
                <a:lnTo>
                  <a:pt x="231143" y="317006"/>
                </a:lnTo>
                <a:lnTo>
                  <a:pt x="231971" y="309849"/>
                </a:lnTo>
                <a:lnTo>
                  <a:pt x="239366" y="307461"/>
                </a:lnTo>
                <a:lnTo>
                  <a:pt x="237569" y="313539"/>
                </a:lnTo>
                <a:lnTo>
                  <a:pt x="242374" y="317080"/>
                </a:lnTo>
                <a:lnTo>
                  <a:pt x="247318" y="306487"/>
                </a:lnTo>
                <a:lnTo>
                  <a:pt x="267775" y="307049"/>
                </a:lnTo>
                <a:lnTo>
                  <a:pt x="277054" y="295965"/>
                </a:lnTo>
                <a:lnTo>
                  <a:pt x="278806" y="276643"/>
                </a:lnTo>
                <a:lnTo>
                  <a:pt x="285574" y="272152"/>
                </a:lnTo>
                <a:lnTo>
                  <a:pt x="286024" y="264255"/>
                </a:lnTo>
                <a:lnTo>
                  <a:pt x="297091" y="266912"/>
                </a:lnTo>
                <a:lnTo>
                  <a:pt x="306645" y="259592"/>
                </a:lnTo>
                <a:lnTo>
                  <a:pt x="318839" y="268586"/>
                </a:lnTo>
                <a:lnTo>
                  <a:pt x="329433" y="253595"/>
                </a:lnTo>
                <a:lnTo>
                  <a:pt x="325200" y="244152"/>
                </a:lnTo>
                <a:lnTo>
                  <a:pt x="335450" y="244407"/>
                </a:lnTo>
                <a:lnTo>
                  <a:pt x="336607" y="237334"/>
                </a:lnTo>
                <a:lnTo>
                  <a:pt x="365746" y="224016"/>
                </a:lnTo>
                <a:lnTo>
                  <a:pt x="366099" y="201276"/>
                </a:lnTo>
                <a:lnTo>
                  <a:pt x="390458" y="189143"/>
                </a:lnTo>
                <a:lnTo>
                  <a:pt x="391925" y="168826"/>
                </a:lnTo>
                <a:lnTo>
                  <a:pt x="418258" y="153279"/>
                </a:lnTo>
                <a:lnTo>
                  <a:pt x="426238" y="132784"/>
                </a:lnTo>
                <a:lnTo>
                  <a:pt x="464615" y="104751"/>
                </a:lnTo>
                <a:lnTo>
                  <a:pt x="507775" y="109132"/>
                </a:lnTo>
                <a:lnTo>
                  <a:pt x="581494" y="85990"/>
                </a:lnTo>
                <a:lnTo>
                  <a:pt x="581345" y="79951"/>
                </a:lnTo>
                <a:lnTo>
                  <a:pt x="587701" y="76717"/>
                </a:lnTo>
                <a:lnTo>
                  <a:pt x="603630" y="78705"/>
                </a:lnTo>
                <a:lnTo>
                  <a:pt x="615656" y="58641"/>
                </a:lnTo>
                <a:lnTo>
                  <a:pt x="614941" y="41045"/>
                </a:lnTo>
                <a:lnTo>
                  <a:pt x="632404" y="18149"/>
                </a:lnTo>
                <a:lnTo>
                  <a:pt x="659582" y="18871"/>
                </a:lnTo>
                <a:lnTo>
                  <a:pt x="675855" y="9840"/>
                </a:lnTo>
                <a:lnTo>
                  <a:pt x="700164" y="12923"/>
                </a:lnTo>
                <a:lnTo>
                  <a:pt x="703490" y="17566"/>
                </a:lnTo>
                <a:lnTo>
                  <a:pt x="734497" y="8793"/>
                </a:lnTo>
                <a:lnTo>
                  <a:pt x="749601" y="12369"/>
                </a:lnTo>
                <a:lnTo>
                  <a:pt x="752497" y="6002"/>
                </a:lnTo>
                <a:lnTo>
                  <a:pt x="769375" y="7392"/>
                </a:lnTo>
                <a:lnTo>
                  <a:pt x="780697" y="0"/>
                </a:lnTo>
                <a:lnTo>
                  <a:pt x="808392" y="5207"/>
                </a:lnTo>
                <a:lnTo>
                  <a:pt x="834339" y="19780"/>
                </a:lnTo>
                <a:lnTo>
                  <a:pt x="844183" y="18983"/>
                </a:lnTo>
                <a:lnTo>
                  <a:pt x="854388" y="28133"/>
                </a:lnTo>
                <a:lnTo>
                  <a:pt x="865697" y="29802"/>
                </a:lnTo>
                <a:lnTo>
                  <a:pt x="867382" y="36178"/>
                </a:lnTo>
                <a:lnTo>
                  <a:pt x="890764" y="51796"/>
                </a:lnTo>
                <a:lnTo>
                  <a:pt x="915865" y="48953"/>
                </a:lnTo>
                <a:lnTo>
                  <a:pt x="929337" y="64951"/>
                </a:lnTo>
                <a:lnTo>
                  <a:pt x="977060" y="56810"/>
                </a:lnTo>
                <a:lnTo>
                  <a:pt x="1010676" y="63400"/>
                </a:lnTo>
                <a:lnTo>
                  <a:pt x="1018441" y="57276"/>
                </a:lnTo>
                <a:lnTo>
                  <a:pt x="1059544" y="54308"/>
                </a:lnTo>
                <a:lnTo>
                  <a:pt x="1119060" y="71737"/>
                </a:lnTo>
                <a:lnTo>
                  <a:pt x="1136993" y="67374"/>
                </a:lnTo>
                <a:lnTo>
                  <a:pt x="1148448" y="78207"/>
                </a:lnTo>
                <a:lnTo>
                  <a:pt x="1161618" y="78573"/>
                </a:lnTo>
                <a:lnTo>
                  <a:pt x="1170698" y="92956"/>
                </a:lnTo>
                <a:lnTo>
                  <a:pt x="1221661" y="294162"/>
                </a:lnTo>
                <a:lnTo>
                  <a:pt x="1217575" y="366559"/>
                </a:lnTo>
                <a:lnTo>
                  <a:pt x="1246205" y="405842"/>
                </a:lnTo>
                <a:lnTo>
                  <a:pt x="1246645" y="429533"/>
                </a:lnTo>
                <a:lnTo>
                  <a:pt x="1261382" y="472814"/>
                </a:lnTo>
                <a:lnTo>
                  <a:pt x="1286664" y="491433"/>
                </a:lnTo>
                <a:lnTo>
                  <a:pt x="1287007" y="499018"/>
                </a:lnTo>
                <a:lnTo>
                  <a:pt x="1270109" y="501848"/>
                </a:lnTo>
                <a:lnTo>
                  <a:pt x="1260341" y="497182"/>
                </a:lnTo>
                <a:lnTo>
                  <a:pt x="1251763" y="503920"/>
                </a:lnTo>
                <a:lnTo>
                  <a:pt x="1251528" y="512803"/>
                </a:lnTo>
                <a:lnTo>
                  <a:pt x="1243410" y="515904"/>
                </a:lnTo>
                <a:lnTo>
                  <a:pt x="1234010" y="503660"/>
                </a:lnTo>
                <a:lnTo>
                  <a:pt x="1224894" y="505514"/>
                </a:lnTo>
                <a:lnTo>
                  <a:pt x="1219147" y="513673"/>
                </a:lnTo>
                <a:lnTo>
                  <a:pt x="1212434" y="507362"/>
                </a:lnTo>
                <a:lnTo>
                  <a:pt x="1202967" y="512901"/>
                </a:lnTo>
                <a:lnTo>
                  <a:pt x="1184331" y="502511"/>
                </a:lnTo>
                <a:lnTo>
                  <a:pt x="1172360" y="514081"/>
                </a:lnTo>
                <a:lnTo>
                  <a:pt x="1167882" y="509932"/>
                </a:lnTo>
                <a:lnTo>
                  <a:pt x="1138745" y="520930"/>
                </a:lnTo>
                <a:lnTo>
                  <a:pt x="1124612" y="502297"/>
                </a:lnTo>
                <a:lnTo>
                  <a:pt x="1113305" y="511621"/>
                </a:lnTo>
                <a:lnTo>
                  <a:pt x="1095587" y="514236"/>
                </a:lnTo>
                <a:lnTo>
                  <a:pt x="1106853" y="516567"/>
                </a:lnTo>
                <a:lnTo>
                  <a:pt x="1105234" y="523896"/>
                </a:lnTo>
                <a:lnTo>
                  <a:pt x="1100816" y="523204"/>
                </a:lnTo>
                <a:lnTo>
                  <a:pt x="1103090" y="530577"/>
                </a:lnTo>
                <a:lnTo>
                  <a:pt x="1089184" y="540536"/>
                </a:lnTo>
                <a:lnTo>
                  <a:pt x="1089046" y="574972"/>
                </a:lnTo>
                <a:lnTo>
                  <a:pt x="1122930" y="572324"/>
                </a:lnTo>
                <a:lnTo>
                  <a:pt x="1132020" y="588266"/>
                </a:lnTo>
                <a:lnTo>
                  <a:pt x="1112719" y="589889"/>
                </a:lnTo>
                <a:lnTo>
                  <a:pt x="1111982" y="605682"/>
                </a:lnTo>
                <a:lnTo>
                  <a:pt x="1122225" y="603394"/>
                </a:lnTo>
                <a:lnTo>
                  <a:pt x="1133129" y="622549"/>
                </a:lnTo>
                <a:lnTo>
                  <a:pt x="1126030" y="636753"/>
                </a:lnTo>
                <a:lnTo>
                  <a:pt x="1063446" y="640319"/>
                </a:lnTo>
                <a:lnTo>
                  <a:pt x="1062980" y="624736"/>
                </a:lnTo>
                <a:lnTo>
                  <a:pt x="1043494" y="628205"/>
                </a:lnTo>
                <a:lnTo>
                  <a:pt x="1018043" y="606966"/>
                </a:lnTo>
                <a:lnTo>
                  <a:pt x="1010891" y="616428"/>
                </a:lnTo>
                <a:lnTo>
                  <a:pt x="1009704" y="644584"/>
                </a:lnTo>
                <a:lnTo>
                  <a:pt x="1003237" y="638571"/>
                </a:lnTo>
                <a:lnTo>
                  <a:pt x="997620" y="647846"/>
                </a:lnTo>
                <a:lnTo>
                  <a:pt x="1006250" y="669123"/>
                </a:lnTo>
                <a:lnTo>
                  <a:pt x="996230" y="676483"/>
                </a:lnTo>
                <a:lnTo>
                  <a:pt x="986467" y="675589"/>
                </a:lnTo>
                <a:lnTo>
                  <a:pt x="985526" y="681796"/>
                </a:lnTo>
                <a:lnTo>
                  <a:pt x="992458" y="686239"/>
                </a:lnTo>
                <a:lnTo>
                  <a:pt x="990181" y="695624"/>
                </a:lnTo>
                <a:lnTo>
                  <a:pt x="971599" y="714142"/>
                </a:lnTo>
                <a:lnTo>
                  <a:pt x="971557" y="721701"/>
                </a:lnTo>
                <a:lnTo>
                  <a:pt x="967522" y="716283"/>
                </a:lnTo>
                <a:lnTo>
                  <a:pt x="951827" y="720248"/>
                </a:lnTo>
                <a:lnTo>
                  <a:pt x="950927" y="730074"/>
                </a:lnTo>
                <a:lnTo>
                  <a:pt x="935874" y="704217"/>
                </a:lnTo>
                <a:lnTo>
                  <a:pt x="927702" y="702470"/>
                </a:lnTo>
                <a:lnTo>
                  <a:pt x="929038" y="708105"/>
                </a:lnTo>
                <a:lnTo>
                  <a:pt x="919418" y="702066"/>
                </a:lnTo>
                <a:lnTo>
                  <a:pt x="918761" y="710781"/>
                </a:lnTo>
                <a:lnTo>
                  <a:pt x="908299" y="710736"/>
                </a:lnTo>
                <a:lnTo>
                  <a:pt x="905977" y="706206"/>
                </a:lnTo>
                <a:lnTo>
                  <a:pt x="881571" y="702022"/>
                </a:lnTo>
                <a:lnTo>
                  <a:pt x="875584" y="735979"/>
                </a:lnTo>
                <a:lnTo>
                  <a:pt x="881292" y="748297"/>
                </a:lnTo>
                <a:lnTo>
                  <a:pt x="869667" y="746779"/>
                </a:lnTo>
                <a:lnTo>
                  <a:pt x="867788" y="770099"/>
                </a:lnTo>
                <a:lnTo>
                  <a:pt x="855325" y="770015"/>
                </a:lnTo>
                <a:lnTo>
                  <a:pt x="841755" y="753750"/>
                </a:lnTo>
                <a:lnTo>
                  <a:pt x="841547" y="758972"/>
                </a:lnTo>
                <a:lnTo>
                  <a:pt x="829639" y="760417"/>
                </a:lnTo>
                <a:lnTo>
                  <a:pt x="835279" y="774019"/>
                </a:lnTo>
                <a:lnTo>
                  <a:pt x="833536" y="824091"/>
                </a:lnTo>
                <a:lnTo>
                  <a:pt x="806104" y="822529"/>
                </a:lnTo>
                <a:lnTo>
                  <a:pt x="805828" y="829109"/>
                </a:lnTo>
                <a:lnTo>
                  <a:pt x="794597" y="834286"/>
                </a:lnTo>
                <a:lnTo>
                  <a:pt x="790217" y="827089"/>
                </a:lnTo>
                <a:lnTo>
                  <a:pt x="783899" y="827657"/>
                </a:lnTo>
                <a:lnTo>
                  <a:pt x="778202" y="837533"/>
                </a:lnTo>
                <a:lnTo>
                  <a:pt x="756117" y="829164"/>
                </a:lnTo>
                <a:lnTo>
                  <a:pt x="741688" y="835894"/>
                </a:lnTo>
                <a:lnTo>
                  <a:pt x="720733" y="836243"/>
                </a:lnTo>
                <a:lnTo>
                  <a:pt x="719693" y="840746"/>
                </a:lnTo>
                <a:lnTo>
                  <a:pt x="680680" y="834686"/>
                </a:lnTo>
                <a:lnTo>
                  <a:pt x="679134" y="826555"/>
                </a:lnTo>
                <a:lnTo>
                  <a:pt x="661083" y="826531"/>
                </a:lnTo>
                <a:lnTo>
                  <a:pt x="647508" y="836064"/>
                </a:lnTo>
                <a:lnTo>
                  <a:pt x="645175" y="824654"/>
                </a:lnTo>
                <a:lnTo>
                  <a:pt x="630058" y="829244"/>
                </a:lnTo>
                <a:lnTo>
                  <a:pt x="637975" y="820366"/>
                </a:lnTo>
                <a:lnTo>
                  <a:pt x="639054" y="807328"/>
                </a:lnTo>
                <a:lnTo>
                  <a:pt x="622406" y="811323"/>
                </a:lnTo>
                <a:lnTo>
                  <a:pt x="621334" y="803159"/>
                </a:lnTo>
                <a:lnTo>
                  <a:pt x="609423" y="799453"/>
                </a:lnTo>
                <a:lnTo>
                  <a:pt x="608092" y="792870"/>
                </a:lnTo>
                <a:lnTo>
                  <a:pt x="611447" y="764749"/>
                </a:lnTo>
                <a:lnTo>
                  <a:pt x="622390" y="767146"/>
                </a:lnTo>
                <a:lnTo>
                  <a:pt x="631650" y="758401"/>
                </a:lnTo>
                <a:lnTo>
                  <a:pt x="622389" y="755681"/>
                </a:lnTo>
                <a:lnTo>
                  <a:pt x="618593" y="745797"/>
                </a:lnTo>
                <a:lnTo>
                  <a:pt x="595529" y="746245"/>
                </a:lnTo>
                <a:lnTo>
                  <a:pt x="587508" y="728043"/>
                </a:lnTo>
                <a:lnTo>
                  <a:pt x="581721" y="729668"/>
                </a:lnTo>
                <a:lnTo>
                  <a:pt x="577764" y="716345"/>
                </a:lnTo>
                <a:lnTo>
                  <a:pt x="589612" y="711139"/>
                </a:lnTo>
                <a:lnTo>
                  <a:pt x="585736" y="702804"/>
                </a:lnTo>
                <a:lnTo>
                  <a:pt x="567395" y="710336"/>
                </a:lnTo>
                <a:lnTo>
                  <a:pt x="565428" y="705864"/>
                </a:lnTo>
                <a:lnTo>
                  <a:pt x="547284" y="704111"/>
                </a:lnTo>
                <a:lnTo>
                  <a:pt x="510826" y="726561"/>
                </a:lnTo>
                <a:lnTo>
                  <a:pt x="517090" y="740757"/>
                </a:lnTo>
                <a:lnTo>
                  <a:pt x="479507" y="747612"/>
                </a:lnTo>
                <a:lnTo>
                  <a:pt x="484220" y="758602"/>
                </a:lnTo>
                <a:lnTo>
                  <a:pt x="457083" y="763853"/>
                </a:lnTo>
                <a:lnTo>
                  <a:pt x="464138" y="776712"/>
                </a:lnTo>
                <a:lnTo>
                  <a:pt x="458469" y="778743"/>
                </a:lnTo>
                <a:lnTo>
                  <a:pt x="475920" y="776187"/>
                </a:lnTo>
                <a:lnTo>
                  <a:pt x="520102" y="754827"/>
                </a:lnTo>
                <a:lnTo>
                  <a:pt x="520506" y="762505"/>
                </a:lnTo>
                <a:lnTo>
                  <a:pt x="512141" y="764488"/>
                </a:lnTo>
                <a:close/>
              </a:path>
            </a:pathLst>
          </a:custGeom>
          <a:solidFill>
            <a:srgbClr val="E3EBF6"/>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7" name="2022 provincial petrol/diesel sales: MP"/>
          <p:cNvSpPr/>
          <p:nvPr/>
        </p:nvSpPr>
        <p:spPr>
          <a:xfrm>
            <a:off x="4447954" y="2817392"/>
            <a:ext cx="896564" cy="876875"/>
          </a:xfrm>
          <a:custGeom>
            <a:avLst/>
            <a:gdLst/>
            <a:ahLst/>
            <a:cxnLst/>
            <a:rect l="l" t="t" r="r" b="b"/>
            <a:pathLst>
              <a:path w="896564" h="876875">
                <a:moveTo>
                  <a:pt x="338721" y="859896"/>
                </a:moveTo>
                <a:lnTo>
                  <a:pt x="327756" y="863459"/>
                </a:lnTo>
                <a:lnTo>
                  <a:pt x="327855" y="874518"/>
                </a:lnTo>
                <a:lnTo>
                  <a:pt x="308947" y="876875"/>
                </a:lnTo>
                <a:lnTo>
                  <a:pt x="293159" y="857096"/>
                </a:lnTo>
                <a:lnTo>
                  <a:pt x="294735" y="848869"/>
                </a:lnTo>
                <a:lnTo>
                  <a:pt x="279308" y="838379"/>
                </a:lnTo>
                <a:lnTo>
                  <a:pt x="280433" y="830058"/>
                </a:lnTo>
                <a:lnTo>
                  <a:pt x="267835" y="810776"/>
                </a:lnTo>
                <a:lnTo>
                  <a:pt x="259421" y="807616"/>
                </a:lnTo>
                <a:lnTo>
                  <a:pt x="245605" y="812414"/>
                </a:lnTo>
                <a:lnTo>
                  <a:pt x="247000" y="798112"/>
                </a:lnTo>
                <a:lnTo>
                  <a:pt x="226861" y="793455"/>
                </a:lnTo>
                <a:lnTo>
                  <a:pt x="222153" y="781190"/>
                </a:lnTo>
                <a:lnTo>
                  <a:pt x="207447" y="780271"/>
                </a:lnTo>
                <a:lnTo>
                  <a:pt x="197484" y="787423"/>
                </a:lnTo>
                <a:lnTo>
                  <a:pt x="184264" y="763672"/>
                </a:lnTo>
                <a:lnTo>
                  <a:pt x="188645" y="759173"/>
                </a:lnTo>
                <a:lnTo>
                  <a:pt x="183686" y="744298"/>
                </a:lnTo>
                <a:lnTo>
                  <a:pt x="179098" y="750094"/>
                </a:lnTo>
                <a:lnTo>
                  <a:pt x="165286" y="740078"/>
                </a:lnTo>
                <a:lnTo>
                  <a:pt x="161648" y="745110"/>
                </a:lnTo>
                <a:lnTo>
                  <a:pt x="147726" y="745081"/>
                </a:lnTo>
                <a:lnTo>
                  <a:pt x="146223" y="756770"/>
                </a:lnTo>
                <a:lnTo>
                  <a:pt x="139468" y="747764"/>
                </a:lnTo>
                <a:lnTo>
                  <a:pt x="129294" y="751956"/>
                </a:lnTo>
                <a:lnTo>
                  <a:pt x="127451" y="743955"/>
                </a:lnTo>
                <a:lnTo>
                  <a:pt x="125057" y="748332"/>
                </a:lnTo>
                <a:lnTo>
                  <a:pt x="106269" y="732462"/>
                </a:lnTo>
                <a:lnTo>
                  <a:pt x="91424" y="727790"/>
                </a:lnTo>
                <a:lnTo>
                  <a:pt x="81855" y="737867"/>
                </a:lnTo>
                <a:lnTo>
                  <a:pt x="92927" y="738725"/>
                </a:lnTo>
                <a:lnTo>
                  <a:pt x="90667" y="745065"/>
                </a:lnTo>
                <a:lnTo>
                  <a:pt x="82488" y="741726"/>
                </a:lnTo>
                <a:lnTo>
                  <a:pt x="65148" y="756241"/>
                </a:lnTo>
                <a:lnTo>
                  <a:pt x="68803" y="749778"/>
                </a:lnTo>
                <a:lnTo>
                  <a:pt x="58526" y="740971"/>
                </a:lnTo>
                <a:lnTo>
                  <a:pt x="53054" y="726040"/>
                </a:lnTo>
                <a:lnTo>
                  <a:pt x="50460" y="734273"/>
                </a:lnTo>
                <a:lnTo>
                  <a:pt x="43513" y="729415"/>
                </a:lnTo>
                <a:lnTo>
                  <a:pt x="46762" y="733801"/>
                </a:lnTo>
                <a:lnTo>
                  <a:pt x="39017" y="741677"/>
                </a:lnTo>
                <a:lnTo>
                  <a:pt x="41601" y="735659"/>
                </a:lnTo>
                <a:lnTo>
                  <a:pt x="35225" y="721797"/>
                </a:lnTo>
                <a:lnTo>
                  <a:pt x="17950" y="724710"/>
                </a:lnTo>
                <a:lnTo>
                  <a:pt x="19404" y="718350"/>
                </a:lnTo>
                <a:lnTo>
                  <a:pt x="12775" y="722506"/>
                </a:lnTo>
                <a:lnTo>
                  <a:pt x="0" y="707804"/>
                </a:lnTo>
                <a:lnTo>
                  <a:pt x="9310" y="702837"/>
                </a:lnTo>
                <a:lnTo>
                  <a:pt x="14992" y="706842"/>
                </a:lnTo>
                <a:lnTo>
                  <a:pt x="17842" y="684726"/>
                </a:lnTo>
                <a:lnTo>
                  <a:pt x="38109" y="677371"/>
                </a:lnTo>
                <a:lnTo>
                  <a:pt x="32935" y="665924"/>
                </a:lnTo>
                <a:lnTo>
                  <a:pt x="37301" y="650062"/>
                </a:lnTo>
                <a:lnTo>
                  <a:pt x="58146" y="645613"/>
                </a:lnTo>
                <a:lnTo>
                  <a:pt x="57348" y="639010"/>
                </a:lnTo>
                <a:lnTo>
                  <a:pt x="67092" y="634440"/>
                </a:lnTo>
                <a:lnTo>
                  <a:pt x="67685" y="611836"/>
                </a:lnTo>
                <a:lnTo>
                  <a:pt x="92752" y="624115"/>
                </a:lnTo>
                <a:lnTo>
                  <a:pt x="93843" y="613982"/>
                </a:lnTo>
                <a:lnTo>
                  <a:pt x="121873" y="617510"/>
                </a:lnTo>
                <a:lnTo>
                  <a:pt x="128558" y="594294"/>
                </a:lnTo>
                <a:lnTo>
                  <a:pt x="145190" y="587687"/>
                </a:lnTo>
                <a:lnTo>
                  <a:pt x="132966" y="563769"/>
                </a:lnTo>
                <a:lnTo>
                  <a:pt x="110841" y="571947"/>
                </a:lnTo>
                <a:lnTo>
                  <a:pt x="92041" y="558895"/>
                </a:lnTo>
                <a:lnTo>
                  <a:pt x="91301" y="547603"/>
                </a:lnTo>
                <a:lnTo>
                  <a:pt x="70326" y="541083"/>
                </a:lnTo>
                <a:lnTo>
                  <a:pt x="71569" y="527545"/>
                </a:lnTo>
                <a:lnTo>
                  <a:pt x="61795" y="515536"/>
                </a:lnTo>
                <a:lnTo>
                  <a:pt x="67954" y="504167"/>
                </a:lnTo>
                <a:lnTo>
                  <a:pt x="65131" y="499623"/>
                </a:lnTo>
                <a:lnTo>
                  <a:pt x="73455" y="495774"/>
                </a:lnTo>
                <a:lnTo>
                  <a:pt x="82674" y="499057"/>
                </a:lnTo>
                <a:lnTo>
                  <a:pt x="85858" y="484544"/>
                </a:lnTo>
                <a:lnTo>
                  <a:pt x="95627" y="476726"/>
                </a:lnTo>
                <a:lnTo>
                  <a:pt x="125592" y="480778"/>
                </a:lnTo>
                <a:lnTo>
                  <a:pt x="128004" y="488680"/>
                </a:lnTo>
                <a:lnTo>
                  <a:pt x="149637" y="487670"/>
                </a:lnTo>
                <a:lnTo>
                  <a:pt x="155183" y="453155"/>
                </a:lnTo>
                <a:lnTo>
                  <a:pt x="166923" y="457935"/>
                </a:lnTo>
                <a:lnTo>
                  <a:pt x="167435" y="441234"/>
                </a:lnTo>
                <a:lnTo>
                  <a:pt x="178051" y="420925"/>
                </a:lnTo>
                <a:lnTo>
                  <a:pt x="171074" y="417049"/>
                </a:lnTo>
                <a:lnTo>
                  <a:pt x="175710" y="403140"/>
                </a:lnTo>
                <a:lnTo>
                  <a:pt x="198136" y="395978"/>
                </a:lnTo>
                <a:lnTo>
                  <a:pt x="191745" y="375551"/>
                </a:lnTo>
                <a:lnTo>
                  <a:pt x="206814" y="369490"/>
                </a:lnTo>
                <a:lnTo>
                  <a:pt x="202895" y="358334"/>
                </a:lnTo>
                <a:lnTo>
                  <a:pt x="197702" y="366500"/>
                </a:lnTo>
                <a:lnTo>
                  <a:pt x="187380" y="362565"/>
                </a:lnTo>
                <a:lnTo>
                  <a:pt x="180954" y="369265"/>
                </a:lnTo>
                <a:lnTo>
                  <a:pt x="185512" y="378100"/>
                </a:lnTo>
                <a:lnTo>
                  <a:pt x="171126" y="384189"/>
                </a:lnTo>
                <a:lnTo>
                  <a:pt x="163266" y="364667"/>
                </a:lnTo>
                <a:lnTo>
                  <a:pt x="150901" y="375681"/>
                </a:lnTo>
                <a:lnTo>
                  <a:pt x="154898" y="365065"/>
                </a:lnTo>
                <a:lnTo>
                  <a:pt x="149922" y="358449"/>
                </a:lnTo>
                <a:lnTo>
                  <a:pt x="136930" y="368332"/>
                </a:lnTo>
                <a:lnTo>
                  <a:pt x="139356" y="376389"/>
                </a:lnTo>
                <a:lnTo>
                  <a:pt x="147419" y="374900"/>
                </a:lnTo>
                <a:lnTo>
                  <a:pt x="153524" y="394324"/>
                </a:lnTo>
                <a:lnTo>
                  <a:pt x="152784" y="398518"/>
                </a:lnTo>
                <a:lnTo>
                  <a:pt x="139514" y="394240"/>
                </a:lnTo>
                <a:lnTo>
                  <a:pt x="147423" y="404563"/>
                </a:lnTo>
                <a:lnTo>
                  <a:pt x="126474" y="409910"/>
                </a:lnTo>
                <a:lnTo>
                  <a:pt x="129019" y="394924"/>
                </a:lnTo>
                <a:lnTo>
                  <a:pt x="119303" y="390736"/>
                </a:lnTo>
                <a:lnTo>
                  <a:pt x="115436" y="403674"/>
                </a:lnTo>
                <a:lnTo>
                  <a:pt x="109698" y="401597"/>
                </a:lnTo>
                <a:lnTo>
                  <a:pt x="97513" y="364347"/>
                </a:lnTo>
                <a:lnTo>
                  <a:pt x="96775" y="333700"/>
                </a:lnTo>
                <a:lnTo>
                  <a:pt x="101345" y="329383"/>
                </a:lnTo>
                <a:lnTo>
                  <a:pt x="97979" y="313856"/>
                </a:lnTo>
                <a:lnTo>
                  <a:pt x="125483" y="303147"/>
                </a:lnTo>
                <a:lnTo>
                  <a:pt x="131617" y="286090"/>
                </a:lnTo>
                <a:lnTo>
                  <a:pt x="136375" y="288172"/>
                </a:lnTo>
                <a:lnTo>
                  <a:pt x="127960" y="257472"/>
                </a:lnTo>
                <a:lnTo>
                  <a:pt x="106080" y="265323"/>
                </a:lnTo>
                <a:lnTo>
                  <a:pt x="105676" y="257645"/>
                </a:lnTo>
                <a:lnTo>
                  <a:pt x="61494" y="279005"/>
                </a:lnTo>
                <a:lnTo>
                  <a:pt x="44043" y="281561"/>
                </a:lnTo>
                <a:lnTo>
                  <a:pt x="49712" y="279530"/>
                </a:lnTo>
                <a:lnTo>
                  <a:pt x="42657" y="266671"/>
                </a:lnTo>
                <a:lnTo>
                  <a:pt x="69794" y="261420"/>
                </a:lnTo>
                <a:lnTo>
                  <a:pt x="65081" y="250430"/>
                </a:lnTo>
                <a:lnTo>
                  <a:pt x="102664" y="243575"/>
                </a:lnTo>
                <a:lnTo>
                  <a:pt x="96400" y="229379"/>
                </a:lnTo>
                <a:lnTo>
                  <a:pt x="132858" y="206929"/>
                </a:lnTo>
                <a:lnTo>
                  <a:pt x="151002" y="208682"/>
                </a:lnTo>
                <a:lnTo>
                  <a:pt x="152969" y="213154"/>
                </a:lnTo>
                <a:lnTo>
                  <a:pt x="171310" y="205622"/>
                </a:lnTo>
                <a:lnTo>
                  <a:pt x="175186" y="213957"/>
                </a:lnTo>
                <a:lnTo>
                  <a:pt x="163338" y="219163"/>
                </a:lnTo>
                <a:lnTo>
                  <a:pt x="167295" y="232486"/>
                </a:lnTo>
                <a:lnTo>
                  <a:pt x="173082" y="230861"/>
                </a:lnTo>
                <a:lnTo>
                  <a:pt x="181103" y="249063"/>
                </a:lnTo>
                <a:lnTo>
                  <a:pt x="204167" y="248615"/>
                </a:lnTo>
                <a:lnTo>
                  <a:pt x="207963" y="258499"/>
                </a:lnTo>
                <a:lnTo>
                  <a:pt x="217224" y="261219"/>
                </a:lnTo>
                <a:lnTo>
                  <a:pt x="207964" y="269964"/>
                </a:lnTo>
                <a:lnTo>
                  <a:pt x="197021" y="267567"/>
                </a:lnTo>
                <a:lnTo>
                  <a:pt x="193666" y="295688"/>
                </a:lnTo>
                <a:lnTo>
                  <a:pt x="194997" y="302271"/>
                </a:lnTo>
                <a:lnTo>
                  <a:pt x="206908" y="305977"/>
                </a:lnTo>
                <a:lnTo>
                  <a:pt x="207980" y="314141"/>
                </a:lnTo>
                <a:lnTo>
                  <a:pt x="224628" y="310146"/>
                </a:lnTo>
                <a:lnTo>
                  <a:pt x="223549" y="323184"/>
                </a:lnTo>
                <a:lnTo>
                  <a:pt x="215632" y="332062"/>
                </a:lnTo>
                <a:lnTo>
                  <a:pt x="230749" y="327472"/>
                </a:lnTo>
                <a:lnTo>
                  <a:pt x="233082" y="338882"/>
                </a:lnTo>
                <a:lnTo>
                  <a:pt x="246657" y="329349"/>
                </a:lnTo>
                <a:lnTo>
                  <a:pt x="264708" y="329373"/>
                </a:lnTo>
                <a:lnTo>
                  <a:pt x="266254" y="337504"/>
                </a:lnTo>
                <a:lnTo>
                  <a:pt x="305267" y="343564"/>
                </a:lnTo>
                <a:lnTo>
                  <a:pt x="306307" y="339061"/>
                </a:lnTo>
                <a:lnTo>
                  <a:pt x="327262" y="338712"/>
                </a:lnTo>
                <a:lnTo>
                  <a:pt x="341691" y="331982"/>
                </a:lnTo>
                <a:lnTo>
                  <a:pt x="363776" y="340351"/>
                </a:lnTo>
                <a:lnTo>
                  <a:pt x="369473" y="330475"/>
                </a:lnTo>
                <a:lnTo>
                  <a:pt x="375791" y="329907"/>
                </a:lnTo>
                <a:lnTo>
                  <a:pt x="380171" y="337104"/>
                </a:lnTo>
                <a:lnTo>
                  <a:pt x="391402" y="331927"/>
                </a:lnTo>
                <a:lnTo>
                  <a:pt x="391678" y="325347"/>
                </a:lnTo>
                <a:lnTo>
                  <a:pt x="419110" y="326909"/>
                </a:lnTo>
                <a:lnTo>
                  <a:pt x="420853" y="276837"/>
                </a:lnTo>
                <a:lnTo>
                  <a:pt x="415213" y="263235"/>
                </a:lnTo>
                <a:lnTo>
                  <a:pt x="427121" y="261790"/>
                </a:lnTo>
                <a:lnTo>
                  <a:pt x="427329" y="256568"/>
                </a:lnTo>
                <a:lnTo>
                  <a:pt x="440899" y="272833"/>
                </a:lnTo>
                <a:lnTo>
                  <a:pt x="453362" y="272917"/>
                </a:lnTo>
                <a:lnTo>
                  <a:pt x="455241" y="249597"/>
                </a:lnTo>
                <a:lnTo>
                  <a:pt x="466866" y="251115"/>
                </a:lnTo>
                <a:lnTo>
                  <a:pt x="461158" y="238797"/>
                </a:lnTo>
                <a:lnTo>
                  <a:pt x="467145" y="204840"/>
                </a:lnTo>
                <a:lnTo>
                  <a:pt x="491551" y="209024"/>
                </a:lnTo>
                <a:lnTo>
                  <a:pt x="493873" y="213554"/>
                </a:lnTo>
                <a:lnTo>
                  <a:pt x="504335" y="213599"/>
                </a:lnTo>
                <a:lnTo>
                  <a:pt x="504992" y="204884"/>
                </a:lnTo>
                <a:lnTo>
                  <a:pt x="514612" y="210923"/>
                </a:lnTo>
                <a:lnTo>
                  <a:pt x="513276" y="205288"/>
                </a:lnTo>
                <a:lnTo>
                  <a:pt x="521448" y="207035"/>
                </a:lnTo>
                <a:lnTo>
                  <a:pt x="536501" y="232892"/>
                </a:lnTo>
                <a:lnTo>
                  <a:pt x="537401" y="223066"/>
                </a:lnTo>
                <a:lnTo>
                  <a:pt x="553096" y="219101"/>
                </a:lnTo>
                <a:lnTo>
                  <a:pt x="557131" y="224519"/>
                </a:lnTo>
                <a:lnTo>
                  <a:pt x="557173" y="216960"/>
                </a:lnTo>
                <a:lnTo>
                  <a:pt x="575755" y="198442"/>
                </a:lnTo>
                <a:lnTo>
                  <a:pt x="578032" y="189057"/>
                </a:lnTo>
                <a:lnTo>
                  <a:pt x="571100" y="184614"/>
                </a:lnTo>
                <a:lnTo>
                  <a:pt x="572041" y="178407"/>
                </a:lnTo>
                <a:lnTo>
                  <a:pt x="581804" y="179301"/>
                </a:lnTo>
                <a:lnTo>
                  <a:pt x="591824" y="171941"/>
                </a:lnTo>
                <a:lnTo>
                  <a:pt x="583194" y="150664"/>
                </a:lnTo>
                <a:lnTo>
                  <a:pt x="588811" y="141389"/>
                </a:lnTo>
                <a:lnTo>
                  <a:pt x="595278" y="147402"/>
                </a:lnTo>
                <a:lnTo>
                  <a:pt x="596465" y="119246"/>
                </a:lnTo>
                <a:lnTo>
                  <a:pt x="603617" y="109784"/>
                </a:lnTo>
                <a:lnTo>
                  <a:pt x="629068" y="131023"/>
                </a:lnTo>
                <a:lnTo>
                  <a:pt x="648554" y="127554"/>
                </a:lnTo>
                <a:lnTo>
                  <a:pt x="649020" y="143137"/>
                </a:lnTo>
                <a:lnTo>
                  <a:pt x="711604" y="139571"/>
                </a:lnTo>
                <a:lnTo>
                  <a:pt x="718703" y="125367"/>
                </a:lnTo>
                <a:lnTo>
                  <a:pt x="707799" y="106212"/>
                </a:lnTo>
                <a:lnTo>
                  <a:pt x="697556" y="108500"/>
                </a:lnTo>
                <a:lnTo>
                  <a:pt x="698293" y="92707"/>
                </a:lnTo>
                <a:lnTo>
                  <a:pt x="717594" y="91084"/>
                </a:lnTo>
                <a:lnTo>
                  <a:pt x="708504" y="75142"/>
                </a:lnTo>
                <a:lnTo>
                  <a:pt x="674620" y="77790"/>
                </a:lnTo>
                <a:lnTo>
                  <a:pt x="674758" y="43354"/>
                </a:lnTo>
                <a:lnTo>
                  <a:pt x="688664" y="33395"/>
                </a:lnTo>
                <a:lnTo>
                  <a:pt x="686390" y="26022"/>
                </a:lnTo>
                <a:lnTo>
                  <a:pt x="690808" y="26714"/>
                </a:lnTo>
                <a:lnTo>
                  <a:pt x="692427" y="19385"/>
                </a:lnTo>
                <a:lnTo>
                  <a:pt x="681161" y="17054"/>
                </a:lnTo>
                <a:lnTo>
                  <a:pt x="698879" y="14439"/>
                </a:lnTo>
                <a:lnTo>
                  <a:pt x="710186" y="5115"/>
                </a:lnTo>
                <a:lnTo>
                  <a:pt x="724319" y="23748"/>
                </a:lnTo>
                <a:lnTo>
                  <a:pt x="753456" y="12750"/>
                </a:lnTo>
                <a:lnTo>
                  <a:pt x="757934" y="16899"/>
                </a:lnTo>
                <a:lnTo>
                  <a:pt x="769905" y="5329"/>
                </a:lnTo>
                <a:lnTo>
                  <a:pt x="788541" y="15719"/>
                </a:lnTo>
                <a:lnTo>
                  <a:pt x="798008" y="10180"/>
                </a:lnTo>
                <a:lnTo>
                  <a:pt x="804721" y="16491"/>
                </a:lnTo>
                <a:lnTo>
                  <a:pt x="810468" y="8332"/>
                </a:lnTo>
                <a:lnTo>
                  <a:pt x="819584" y="6478"/>
                </a:lnTo>
                <a:lnTo>
                  <a:pt x="828984" y="18722"/>
                </a:lnTo>
                <a:lnTo>
                  <a:pt x="837102" y="15621"/>
                </a:lnTo>
                <a:lnTo>
                  <a:pt x="837337" y="6738"/>
                </a:lnTo>
                <a:lnTo>
                  <a:pt x="845915" y="0"/>
                </a:lnTo>
                <a:lnTo>
                  <a:pt x="855683" y="4666"/>
                </a:lnTo>
                <a:lnTo>
                  <a:pt x="872581" y="1836"/>
                </a:lnTo>
                <a:lnTo>
                  <a:pt x="875641" y="52673"/>
                </a:lnTo>
                <a:lnTo>
                  <a:pt x="892549" y="84305"/>
                </a:lnTo>
                <a:lnTo>
                  <a:pt x="896564" y="123570"/>
                </a:lnTo>
                <a:lnTo>
                  <a:pt x="889922" y="183433"/>
                </a:lnTo>
                <a:lnTo>
                  <a:pt x="891006" y="309909"/>
                </a:lnTo>
                <a:lnTo>
                  <a:pt x="884377" y="360630"/>
                </a:lnTo>
                <a:lnTo>
                  <a:pt x="874332" y="383680"/>
                </a:lnTo>
                <a:lnTo>
                  <a:pt x="878604" y="427626"/>
                </a:lnTo>
                <a:lnTo>
                  <a:pt x="858443" y="476598"/>
                </a:lnTo>
                <a:lnTo>
                  <a:pt x="866827" y="505897"/>
                </a:lnTo>
                <a:lnTo>
                  <a:pt x="841795" y="516363"/>
                </a:lnTo>
                <a:lnTo>
                  <a:pt x="741335" y="438901"/>
                </a:lnTo>
                <a:lnTo>
                  <a:pt x="717840" y="443891"/>
                </a:lnTo>
                <a:lnTo>
                  <a:pt x="671908" y="487165"/>
                </a:lnTo>
                <a:lnTo>
                  <a:pt x="629726" y="572304"/>
                </a:lnTo>
                <a:lnTo>
                  <a:pt x="613016" y="586622"/>
                </a:lnTo>
                <a:lnTo>
                  <a:pt x="591340" y="622934"/>
                </a:lnTo>
                <a:lnTo>
                  <a:pt x="585169" y="685554"/>
                </a:lnTo>
                <a:lnTo>
                  <a:pt x="588592" y="719331"/>
                </a:lnTo>
                <a:lnTo>
                  <a:pt x="607461" y="705275"/>
                </a:lnTo>
                <a:lnTo>
                  <a:pt x="610107" y="724586"/>
                </a:lnTo>
                <a:lnTo>
                  <a:pt x="624650" y="737672"/>
                </a:lnTo>
                <a:lnTo>
                  <a:pt x="620138" y="758950"/>
                </a:lnTo>
                <a:lnTo>
                  <a:pt x="625627" y="770714"/>
                </a:lnTo>
                <a:lnTo>
                  <a:pt x="661405" y="814826"/>
                </a:lnTo>
                <a:lnTo>
                  <a:pt x="689103" y="826789"/>
                </a:lnTo>
                <a:lnTo>
                  <a:pt x="662772" y="857551"/>
                </a:lnTo>
                <a:lnTo>
                  <a:pt x="647983" y="846862"/>
                </a:lnTo>
                <a:lnTo>
                  <a:pt x="611836" y="854875"/>
                </a:lnTo>
                <a:lnTo>
                  <a:pt x="608044" y="838531"/>
                </a:lnTo>
                <a:lnTo>
                  <a:pt x="595131" y="839850"/>
                </a:lnTo>
                <a:lnTo>
                  <a:pt x="592862" y="847587"/>
                </a:lnTo>
                <a:lnTo>
                  <a:pt x="584699" y="849973"/>
                </a:lnTo>
                <a:lnTo>
                  <a:pt x="577584" y="839032"/>
                </a:lnTo>
                <a:lnTo>
                  <a:pt x="573335" y="842304"/>
                </a:lnTo>
                <a:lnTo>
                  <a:pt x="561706" y="830839"/>
                </a:lnTo>
                <a:lnTo>
                  <a:pt x="531451" y="839481"/>
                </a:lnTo>
                <a:lnTo>
                  <a:pt x="511140" y="835808"/>
                </a:lnTo>
                <a:lnTo>
                  <a:pt x="499762" y="839219"/>
                </a:lnTo>
                <a:lnTo>
                  <a:pt x="494824" y="835722"/>
                </a:lnTo>
                <a:lnTo>
                  <a:pt x="495439" y="824190"/>
                </a:lnTo>
                <a:lnTo>
                  <a:pt x="482046" y="822974"/>
                </a:lnTo>
                <a:lnTo>
                  <a:pt x="481348" y="834279"/>
                </a:lnTo>
                <a:lnTo>
                  <a:pt x="462116" y="834131"/>
                </a:lnTo>
                <a:lnTo>
                  <a:pt x="460939" y="847948"/>
                </a:lnTo>
                <a:lnTo>
                  <a:pt x="450492" y="850603"/>
                </a:lnTo>
                <a:lnTo>
                  <a:pt x="442430" y="843707"/>
                </a:lnTo>
                <a:lnTo>
                  <a:pt x="429348" y="858052"/>
                </a:lnTo>
                <a:lnTo>
                  <a:pt x="416929" y="846026"/>
                </a:lnTo>
                <a:lnTo>
                  <a:pt x="400540" y="852786"/>
                </a:lnTo>
                <a:lnTo>
                  <a:pt x="378416" y="840814"/>
                </a:lnTo>
                <a:lnTo>
                  <a:pt x="373902" y="848670"/>
                </a:lnTo>
                <a:lnTo>
                  <a:pt x="360608" y="846385"/>
                </a:lnTo>
                <a:lnTo>
                  <a:pt x="349805" y="866105"/>
                </a:lnTo>
                <a:lnTo>
                  <a:pt x="338721" y="859896"/>
                </a:lnTo>
                <a:close/>
              </a:path>
            </a:pathLst>
          </a:custGeom>
          <a:solidFill>
            <a:srgbClr val="BACCE4"/>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8" name="2022 provincial petrol/diesel sales: NW"/>
          <p:cNvSpPr/>
          <p:nvPr/>
        </p:nvSpPr>
        <p:spPr>
          <a:xfrm>
            <a:off x="3157044" y="2942563"/>
            <a:ext cx="1313825" cy="886727"/>
          </a:xfrm>
          <a:custGeom>
            <a:avLst/>
            <a:gdLst/>
            <a:ahLst/>
            <a:cxnLst/>
            <a:rect l="l" t="t" r="r" b="b"/>
            <a:pathLst>
              <a:path w="1313825" h="886727">
                <a:moveTo>
                  <a:pt x="1144938" y="529907"/>
                </a:moveTo>
                <a:lnTo>
                  <a:pt x="1138230" y="551828"/>
                </a:lnTo>
                <a:lnTo>
                  <a:pt x="1123004" y="553313"/>
                </a:lnTo>
                <a:lnTo>
                  <a:pt x="1123140" y="566629"/>
                </a:lnTo>
                <a:lnTo>
                  <a:pt x="1100495" y="588626"/>
                </a:lnTo>
                <a:lnTo>
                  <a:pt x="1082166" y="569994"/>
                </a:lnTo>
                <a:lnTo>
                  <a:pt x="1076000" y="569661"/>
                </a:lnTo>
                <a:lnTo>
                  <a:pt x="1051903" y="601718"/>
                </a:lnTo>
                <a:lnTo>
                  <a:pt x="1045248" y="598523"/>
                </a:lnTo>
                <a:lnTo>
                  <a:pt x="1045993" y="587390"/>
                </a:lnTo>
                <a:lnTo>
                  <a:pt x="1038370" y="591609"/>
                </a:lnTo>
                <a:lnTo>
                  <a:pt x="1031461" y="587500"/>
                </a:lnTo>
                <a:lnTo>
                  <a:pt x="1011983" y="589621"/>
                </a:lnTo>
                <a:lnTo>
                  <a:pt x="992122" y="572815"/>
                </a:lnTo>
                <a:lnTo>
                  <a:pt x="987057" y="598817"/>
                </a:lnTo>
                <a:lnTo>
                  <a:pt x="974310" y="584659"/>
                </a:lnTo>
                <a:lnTo>
                  <a:pt x="966654" y="592328"/>
                </a:lnTo>
                <a:lnTo>
                  <a:pt x="960862" y="587802"/>
                </a:lnTo>
                <a:lnTo>
                  <a:pt x="940196" y="598224"/>
                </a:lnTo>
                <a:lnTo>
                  <a:pt x="933913" y="609406"/>
                </a:lnTo>
                <a:lnTo>
                  <a:pt x="929421" y="603366"/>
                </a:lnTo>
                <a:lnTo>
                  <a:pt x="918064" y="605454"/>
                </a:lnTo>
                <a:lnTo>
                  <a:pt x="909321" y="618053"/>
                </a:lnTo>
                <a:lnTo>
                  <a:pt x="909538" y="632093"/>
                </a:lnTo>
                <a:lnTo>
                  <a:pt x="897031" y="627580"/>
                </a:lnTo>
                <a:lnTo>
                  <a:pt x="884125" y="643566"/>
                </a:lnTo>
                <a:lnTo>
                  <a:pt x="874041" y="642445"/>
                </a:lnTo>
                <a:lnTo>
                  <a:pt x="871966" y="647064"/>
                </a:lnTo>
                <a:lnTo>
                  <a:pt x="889289" y="672684"/>
                </a:lnTo>
                <a:lnTo>
                  <a:pt x="888258" y="685797"/>
                </a:lnTo>
                <a:lnTo>
                  <a:pt x="884205" y="682985"/>
                </a:lnTo>
                <a:lnTo>
                  <a:pt x="877437" y="693484"/>
                </a:lnTo>
                <a:lnTo>
                  <a:pt x="892070" y="705326"/>
                </a:lnTo>
                <a:lnTo>
                  <a:pt x="878582" y="702718"/>
                </a:lnTo>
                <a:lnTo>
                  <a:pt x="871944" y="708039"/>
                </a:lnTo>
                <a:lnTo>
                  <a:pt x="854341" y="702334"/>
                </a:lnTo>
                <a:lnTo>
                  <a:pt x="849287" y="714444"/>
                </a:lnTo>
                <a:lnTo>
                  <a:pt x="842824" y="709991"/>
                </a:lnTo>
                <a:lnTo>
                  <a:pt x="830620" y="713862"/>
                </a:lnTo>
                <a:lnTo>
                  <a:pt x="827382" y="734468"/>
                </a:lnTo>
                <a:lnTo>
                  <a:pt x="794198" y="755449"/>
                </a:lnTo>
                <a:lnTo>
                  <a:pt x="794521" y="768889"/>
                </a:lnTo>
                <a:lnTo>
                  <a:pt x="787302" y="774241"/>
                </a:lnTo>
                <a:lnTo>
                  <a:pt x="796394" y="779661"/>
                </a:lnTo>
                <a:lnTo>
                  <a:pt x="789748" y="786928"/>
                </a:lnTo>
                <a:lnTo>
                  <a:pt x="780673" y="790937"/>
                </a:lnTo>
                <a:lnTo>
                  <a:pt x="770813" y="763366"/>
                </a:lnTo>
                <a:lnTo>
                  <a:pt x="762931" y="764761"/>
                </a:lnTo>
                <a:lnTo>
                  <a:pt x="757748" y="757192"/>
                </a:lnTo>
                <a:lnTo>
                  <a:pt x="742622" y="762276"/>
                </a:lnTo>
                <a:lnTo>
                  <a:pt x="735729" y="747640"/>
                </a:lnTo>
                <a:lnTo>
                  <a:pt x="701796" y="763513"/>
                </a:lnTo>
                <a:lnTo>
                  <a:pt x="698496" y="779913"/>
                </a:lnTo>
                <a:lnTo>
                  <a:pt x="681698" y="769935"/>
                </a:lnTo>
                <a:lnTo>
                  <a:pt x="673713" y="777948"/>
                </a:lnTo>
                <a:lnTo>
                  <a:pt x="636958" y="788547"/>
                </a:lnTo>
                <a:lnTo>
                  <a:pt x="624604" y="804945"/>
                </a:lnTo>
                <a:lnTo>
                  <a:pt x="609741" y="805766"/>
                </a:lnTo>
                <a:lnTo>
                  <a:pt x="601381" y="815483"/>
                </a:lnTo>
                <a:lnTo>
                  <a:pt x="604943" y="823338"/>
                </a:lnTo>
                <a:lnTo>
                  <a:pt x="577519" y="838684"/>
                </a:lnTo>
                <a:lnTo>
                  <a:pt x="567757" y="853700"/>
                </a:lnTo>
                <a:lnTo>
                  <a:pt x="571574" y="860835"/>
                </a:lnTo>
                <a:lnTo>
                  <a:pt x="563947" y="874635"/>
                </a:lnTo>
                <a:lnTo>
                  <a:pt x="541155" y="878496"/>
                </a:lnTo>
                <a:lnTo>
                  <a:pt x="535991" y="886727"/>
                </a:lnTo>
                <a:lnTo>
                  <a:pt x="508545" y="840234"/>
                </a:lnTo>
                <a:lnTo>
                  <a:pt x="514811" y="838702"/>
                </a:lnTo>
                <a:lnTo>
                  <a:pt x="512417" y="835089"/>
                </a:lnTo>
                <a:lnTo>
                  <a:pt x="558095" y="781002"/>
                </a:lnTo>
                <a:lnTo>
                  <a:pt x="547127" y="776165"/>
                </a:lnTo>
                <a:lnTo>
                  <a:pt x="501937" y="781559"/>
                </a:lnTo>
                <a:lnTo>
                  <a:pt x="498061" y="756728"/>
                </a:lnTo>
                <a:lnTo>
                  <a:pt x="491787" y="758006"/>
                </a:lnTo>
                <a:lnTo>
                  <a:pt x="493002" y="764050"/>
                </a:lnTo>
                <a:lnTo>
                  <a:pt x="477122" y="767150"/>
                </a:lnTo>
                <a:lnTo>
                  <a:pt x="473922" y="772706"/>
                </a:lnTo>
                <a:lnTo>
                  <a:pt x="477506" y="790271"/>
                </a:lnTo>
                <a:lnTo>
                  <a:pt x="469569" y="804429"/>
                </a:lnTo>
                <a:lnTo>
                  <a:pt x="478278" y="818886"/>
                </a:lnTo>
                <a:lnTo>
                  <a:pt x="469531" y="820214"/>
                </a:lnTo>
                <a:lnTo>
                  <a:pt x="463149" y="833084"/>
                </a:lnTo>
                <a:lnTo>
                  <a:pt x="457932" y="831950"/>
                </a:lnTo>
                <a:lnTo>
                  <a:pt x="462832" y="857786"/>
                </a:lnTo>
                <a:lnTo>
                  <a:pt x="458454" y="864891"/>
                </a:lnTo>
                <a:lnTo>
                  <a:pt x="447237" y="867879"/>
                </a:lnTo>
                <a:lnTo>
                  <a:pt x="448223" y="875866"/>
                </a:lnTo>
                <a:lnTo>
                  <a:pt x="441654" y="881534"/>
                </a:lnTo>
                <a:lnTo>
                  <a:pt x="421158" y="866228"/>
                </a:lnTo>
                <a:lnTo>
                  <a:pt x="426260" y="853076"/>
                </a:lnTo>
                <a:lnTo>
                  <a:pt x="413172" y="838493"/>
                </a:lnTo>
                <a:lnTo>
                  <a:pt x="409250" y="843180"/>
                </a:lnTo>
                <a:lnTo>
                  <a:pt x="401914" y="835321"/>
                </a:lnTo>
                <a:lnTo>
                  <a:pt x="422688" y="802455"/>
                </a:lnTo>
                <a:lnTo>
                  <a:pt x="412718" y="797020"/>
                </a:lnTo>
                <a:lnTo>
                  <a:pt x="421276" y="782085"/>
                </a:lnTo>
                <a:lnTo>
                  <a:pt x="411809" y="776590"/>
                </a:lnTo>
                <a:lnTo>
                  <a:pt x="344929" y="791782"/>
                </a:lnTo>
                <a:lnTo>
                  <a:pt x="340846" y="783101"/>
                </a:lnTo>
                <a:lnTo>
                  <a:pt x="346446" y="761793"/>
                </a:lnTo>
                <a:lnTo>
                  <a:pt x="330919" y="757050"/>
                </a:lnTo>
                <a:lnTo>
                  <a:pt x="330515" y="745765"/>
                </a:lnTo>
                <a:lnTo>
                  <a:pt x="338568" y="693263"/>
                </a:lnTo>
                <a:lnTo>
                  <a:pt x="295004" y="667847"/>
                </a:lnTo>
                <a:lnTo>
                  <a:pt x="312823" y="623379"/>
                </a:lnTo>
                <a:lnTo>
                  <a:pt x="326825" y="616706"/>
                </a:lnTo>
                <a:lnTo>
                  <a:pt x="311131" y="576058"/>
                </a:lnTo>
                <a:lnTo>
                  <a:pt x="298790" y="566878"/>
                </a:lnTo>
                <a:lnTo>
                  <a:pt x="287919" y="566691"/>
                </a:lnTo>
                <a:lnTo>
                  <a:pt x="284266" y="575262"/>
                </a:lnTo>
                <a:lnTo>
                  <a:pt x="199870" y="537732"/>
                </a:lnTo>
                <a:lnTo>
                  <a:pt x="221696" y="506135"/>
                </a:lnTo>
                <a:lnTo>
                  <a:pt x="193669" y="484475"/>
                </a:lnTo>
                <a:lnTo>
                  <a:pt x="148306" y="473407"/>
                </a:lnTo>
                <a:lnTo>
                  <a:pt x="151396" y="436056"/>
                </a:lnTo>
                <a:lnTo>
                  <a:pt x="137258" y="418826"/>
                </a:lnTo>
                <a:lnTo>
                  <a:pt x="157387" y="385454"/>
                </a:lnTo>
                <a:lnTo>
                  <a:pt x="135334" y="379093"/>
                </a:lnTo>
                <a:lnTo>
                  <a:pt x="138879" y="362927"/>
                </a:lnTo>
                <a:lnTo>
                  <a:pt x="167114" y="371934"/>
                </a:lnTo>
                <a:lnTo>
                  <a:pt x="174573" y="350537"/>
                </a:lnTo>
                <a:lnTo>
                  <a:pt x="105070" y="345512"/>
                </a:lnTo>
                <a:lnTo>
                  <a:pt x="100413" y="375366"/>
                </a:lnTo>
                <a:lnTo>
                  <a:pt x="82427" y="373337"/>
                </a:lnTo>
                <a:lnTo>
                  <a:pt x="81322" y="389353"/>
                </a:lnTo>
                <a:lnTo>
                  <a:pt x="64200" y="387945"/>
                </a:lnTo>
                <a:lnTo>
                  <a:pt x="51671" y="446956"/>
                </a:lnTo>
                <a:lnTo>
                  <a:pt x="41594" y="467028"/>
                </a:lnTo>
                <a:lnTo>
                  <a:pt x="19681" y="456498"/>
                </a:lnTo>
                <a:lnTo>
                  <a:pt x="16984" y="382133"/>
                </a:lnTo>
                <a:lnTo>
                  <a:pt x="327" y="383151"/>
                </a:lnTo>
                <a:lnTo>
                  <a:pt x="0" y="376536"/>
                </a:lnTo>
                <a:lnTo>
                  <a:pt x="9877" y="370462"/>
                </a:lnTo>
                <a:lnTo>
                  <a:pt x="8532" y="355384"/>
                </a:lnTo>
                <a:lnTo>
                  <a:pt x="21732" y="354858"/>
                </a:lnTo>
                <a:lnTo>
                  <a:pt x="21045" y="338658"/>
                </a:lnTo>
                <a:lnTo>
                  <a:pt x="26757" y="330348"/>
                </a:lnTo>
                <a:lnTo>
                  <a:pt x="18041" y="324109"/>
                </a:lnTo>
                <a:lnTo>
                  <a:pt x="33853" y="306293"/>
                </a:lnTo>
                <a:lnTo>
                  <a:pt x="22805" y="298636"/>
                </a:lnTo>
                <a:lnTo>
                  <a:pt x="28511" y="297252"/>
                </a:lnTo>
                <a:lnTo>
                  <a:pt x="30575" y="282946"/>
                </a:lnTo>
                <a:lnTo>
                  <a:pt x="42469" y="271900"/>
                </a:lnTo>
                <a:lnTo>
                  <a:pt x="44350" y="263508"/>
                </a:lnTo>
                <a:lnTo>
                  <a:pt x="37338" y="257244"/>
                </a:lnTo>
                <a:lnTo>
                  <a:pt x="49534" y="252528"/>
                </a:lnTo>
                <a:lnTo>
                  <a:pt x="40283" y="244321"/>
                </a:lnTo>
                <a:lnTo>
                  <a:pt x="49214" y="231661"/>
                </a:lnTo>
                <a:lnTo>
                  <a:pt x="47378" y="220616"/>
                </a:lnTo>
                <a:lnTo>
                  <a:pt x="59910" y="219550"/>
                </a:lnTo>
                <a:lnTo>
                  <a:pt x="56422" y="214892"/>
                </a:lnTo>
                <a:lnTo>
                  <a:pt x="62376" y="202210"/>
                </a:lnTo>
                <a:lnTo>
                  <a:pt x="75628" y="192267"/>
                </a:lnTo>
                <a:lnTo>
                  <a:pt x="77307" y="181689"/>
                </a:lnTo>
                <a:lnTo>
                  <a:pt x="85047" y="180540"/>
                </a:lnTo>
                <a:lnTo>
                  <a:pt x="84088" y="170934"/>
                </a:lnTo>
                <a:lnTo>
                  <a:pt x="89630" y="174580"/>
                </a:lnTo>
                <a:lnTo>
                  <a:pt x="94874" y="168532"/>
                </a:lnTo>
                <a:lnTo>
                  <a:pt x="100282" y="179320"/>
                </a:lnTo>
                <a:lnTo>
                  <a:pt x="131461" y="163867"/>
                </a:lnTo>
                <a:lnTo>
                  <a:pt x="146814" y="163820"/>
                </a:lnTo>
                <a:lnTo>
                  <a:pt x="150824" y="168872"/>
                </a:lnTo>
                <a:lnTo>
                  <a:pt x="164867" y="166393"/>
                </a:lnTo>
                <a:lnTo>
                  <a:pt x="178621" y="174046"/>
                </a:lnTo>
                <a:lnTo>
                  <a:pt x="184993" y="164042"/>
                </a:lnTo>
                <a:lnTo>
                  <a:pt x="190736" y="164008"/>
                </a:lnTo>
                <a:lnTo>
                  <a:pt x="188755" y="169302"/>
                </a:lnTo>
                <a:lnTo>
                  <a:pt x="197225" y="174361"/>
                </a:lnTo>
                <a:lnTo>
                  <a:pt x="197757" y="182945"/>
                </a:lnTo>
                <a:lnTo>
                  <a:pt x="212498" y="183557"/>
                </a:lnTo>
                <a:lnTo>
                  <a:pt x="219520" y="194157"/>
                </a:lnTo>
                <a:lnTo>
                  <a:pt x="225684" y="190882"/>
                </a:lnTo>
                <a:lnTo>
                  <a:pt x="230798" y="203004"/>
                </a:lnTo>
                <a:lnTo>
                  <a:pt x="237934" y="198967"/>
                </a:lnTo>
                <a:lnTo>
                  <a:pt x="237614" y="205591"/>
                </a:lnTo>
                <a:lnTo>
                  <a:pt x="245978" y="210706"/>
                </a:lnTo>
                <a:lnTo>
                  <a:pt x="252083" y="206551"/>
                </a:lnTo>
                <a:lnTo>
                  <a:pt x="260106" y="220996"/>
                </a:lnTo>
                <a:lnTo>
                  <a:pt x="273595" y="223339"/>
                </a:lnTo>
                <a:lnTo>
                  <a:pt x="270784" y="231610"/>
                </a:lnTo>
                <a:lnTo>
                  <a:pt x="276955" y="230508"/>
                </a:lnTo>
                <a:lnTo>
                  <a:pt x="278067" y="237348"/>
                </a:lnTo>
                <a:lnTo>
                  <a:pt x="287493" y="239703"/>
                </a:lnTo>
                <a:lnTo>
                  <a:pt x="293231" y="252447"/>
                </a:lnTo>
                <a:lnTo>
                  <a:pt x="302915" y="255144"/>
                </a:lnTo>
                <a:lnTo>
                  <a:pt x="308986" y="249072"/>
                </a:lnTo>
                <a:lnTo>
                  <a:pt x="318145" y="251460"/>
                </a:lnTo>
                <a:lnTo>
                  <a:pt x="316628" y="258331"/>
                </a:lnTo>
                <a:lnTo>
                  <a:pt x="322320" y="253925"/>
                </a:lnTo>
                <a:lnTo>
                  <a:pt x="328994" y="258371"/>
                </a:lnTo>
                <a:lnTo>
                  <a:pt x="331076" y="253011"/>
                </a:lnTo>
                <a:lnTo>
                  <a:pt x="335292" y="256151"/>
                </a:lnTo>
                <a:lnTo>
                  <a:pt x="351755" y="247035"/>
                </a:lnTo>
                <a:lnTo>
                  <a:pt x="352334" y="252642"/>
                </a:lnTo>
                <a:lnTo>
                  <a:pt x="359810" y="250098"/>
                </a:lnTo>
                <a:lnTo>
                  <a:pt x="367975" y="256081"/>
                </a:lnTo>
                <a:lnTo>
                  <a:pt x="375963" y="272204"/>
                </a:lnTo>
                <a:lnTo>
                  <a:pt x="382320" y="268842"/>
                </a:lnTo>
                <a:lnTo>
                  <a:pt x="381654" y="277064"/>
                </a:lnTo>
                <a:lnTo>
                  <a:pt x="390798" y="272849"/>
                </a:lnTo>
                <a:lnTo>
                  <a:pt x="390821" y="278563"/>
                </a:lnTo>
                <a:lnTo>
                  <a:pt x="402457" y="286566"/>
                </a:lnTo>
                <a:lnTo>
                  <a:pt x="419032" y="278697"/>
                </a:lnTo>
                <a:lnTo>
                  <a:pt x="473559" y="301524"/>
                </a:lnTo>
                <a:lnTo>
                  <a:pt x="484465" y="296474"/>
                </a:lnTo>
                <a:lnTo>
                  <a:pt x="499684" y="301874"/>
                </a:lnTo>
                <a:lnTo>
                  <a:pt x="523334" y="298144"/>
                </a:lnTo>
                <a:lnTo>
                  <a:pt x="555868" y="275505"/>
                </a:lnTo>
                <a:lnTo>
                  <a:pt x="575299" y="286132"/>
                </a:lnTo>
                <a:lnTo>
                  <a:pt x="626401" y="287556"/>
                </a:lnTo>
                <a:lnTo>
                  <a:pt x="681846" y="254502"/>
                </a:lnTo>
                <a:lnTo>
                  <a:pt x="700341" y="212592"/>
                </a:lnTo>
                <a:lnTo>
                  <a:pt x="709893" y="165787"/>
                </a:lnTo>
                <a:lnTo>
                  <a:pt x="747928" y="72332"/>
                </a:lnTo>
                <a:lnTo>
                  <a:pt x="752856" y="69807"/>
                </a:lnTo>
                <a:lnTo>
                  <a:pt x="745297" y="29080"/>
                </a:lnTo>
                <a:lnTo>
                  <a:pt x="772427" y="27854"/>
                </a:lnTo>
                <a:lnTo>
                  <a:pt x="872887" y="0"/>
                </a:lnTo>
                <a:lnTo>
                  <a:pt x="880840" y="5596"/>
                </a:lnTo>
                <a:lnTo>
                  <a:pt x="880165" y="34463"/>
                </a:lnTo>
                <a:lnTo>
                  <a:pt x="887591" y="44325"/>
                </a:lnTo>
                <a:lnTo>
                  <a:pt x="925805" y="44904"/>
                </a:lnTo>
                <a:lnTo>
                  <a:pt x="955722" y="63991"/>
                </a:lnTo>
                <a:lnTo>
                  <a:pt x="962476" y="52522"/>
                </a:lnTo>
                <a:lnTo>
                  <a:pt x="1009655" y="37424"/>
                </a:lnTo>
                <a:lnTo>
                  <a:pt x="1008744" y="23331"/>
                </a:lnTo>
                <a:lnTo>
                  <a:pt x="1020527" y="23002"/>
                </a:lnTo>
                <a:lnTo>
                  <a:pt x="1023337" y="66060"/>
                </a:lnTo>
                <a:lnTo>
                  <a:pt x="1037261" y="69635"/>
                </a:lnTo>
                <a:lnTo>
                  <a:pt x="1049265" y="90010"/>
                </a:lnTo>
                <a:lnTo>
                  <a:pt x="1056239" y="82355"/>
                </a:lnTo>
                <a:lnTo>
                  <a:pt x="1066119" y="86472"/>
                </a:lnTo>
                <a:lnTo>
                  <a:pt x="1060548" y="104066"/>
                </a:lnTo>
                <a:lnTo>
                  <a:pt x="1067107" y="104933"/>
                </a:lnTo>
                <a:lnTo>
                  <a:pt x="1065077" y="112894"/>
                </a:lnTo>
                <a:lnTo>
                  <a:pt x="1076482" y="105261"/>
                </a:lnTo>
                <a:lnTo>
                  <a:pt x="1086161" y="106814"/>
                </a:lnTo>
                <a:lnTo>
                  <a:pt x="1091390" y="118600"/>
                </a:lnTo>
                <a:lnTo>
                  <a:pt x="1125202" y="113962"/>
                </a:lnTo>
                <a:lnTo>
                  <a:pt x="1139256" y="122150"/>
                </a:lnTo>
                <a:lnTo>
                  <a:pt x="1151538" y="104890"/>
                </a:lnTo>
                <a:lnTo>
                  <a:pt x="1152568" y="93521"/>
                </a:lnTo>
                <a:lnTo>
                  <a:pt x="1159874" y="90825"/>
                </a:lnTo>
                <a:lnTo>
                  <a:pt x="1173444" y="96394"/>
                </a:lnTo>
                <a:lnTo>
                  <a:pt x="1197267" y="89813"/>
                </a:lnTo>
                <a:lnTo>
                  <a:pt x="1233781" y="99536"/>
                </a:lnTo>
                <a:lnTo>
                  <a:pt x="1242673" y="88666"/>
                </a:lnTo>
                <a:lnTo>
                  <a:pt x="1254958" y="95997"/>
                </a:lnTo>
                <a:lnTo>
                  <a:pt x="1274336" y="94980"/>
                </a:lnTo>
                <a:lnTo>
                  <a:pt x="1275384" y="101477"/>
                </a:lnTo>
                <a:lnTo>
                  <a:pt x="1306440" y="113960"/>
                </a:lnTo>
                <a:lnTo>
                  <a:pt x="1295528" y="133535"/>
                </a:lnTo>
                <a:lnTo>
                  <a:pt x="1285999" y="131206"/>
                </a:lnTo>
                <a:lnTo>
                  <a:pt x="1281577" y="122597"/>
                </a:lnTo>
                <a:lnTo>
                  <a:pt x="1265183" y="125653"/>
                </a:lnTo>
                <a:lnTo>
                  <a:pt x="1267335" y="138003"/>
                </a:lnTo>
                <a:lnTo>
                  <a:pt x="1275406" y="137498"/>
                </a:lnTo>
                <a:lnTo>
                  <a:pt x="1276607" y="152854"/>
                </a:lnTo>
                <a:lnTo>
                  <a:pt x="1302266" y="155368"/>
                </a:lnTo>
                <a:lnTo>
                  <a:pt x="1313825" y="176223"/>
                </a:lnTo>
                <a:lnTo>
                  <a:pt x="1313486" y="188005"/>
                </a:lnTo>
                <a:lnTo>
                  <a:pt x="1297197" y="191367"/>
                </a:lnTo>
                <a:lnTo>
                  <a:pt x="1291154" y="183416"/>
                </a:lnTo>
                <a:lnTo>
                  <a:pt x="1285379" y="184513"/>
                </a:lnTo>
                <a:lnTo>
                  <a:pt x="1285127" y="194037"/>
                </a:lnTo>
                <a:lnTo>
                  <a:pt x="1269179" y="193918"/>
                </a:lnTo>
                <a:lnTo>
                  <a:pt x="1254274" y="202422"/>
                </a:lnTo>
                <a:lnTo>
                  <a:pt x="1244236" y="191355"/>
                </a:lnTo>
                <a:lnTo>
                  <a:pt x="1237329" y="192088"/>
                </a:lnTo>
                <a:lnTo>
                  <a:pt x="1231241" y="203126"/>
                </a:lnTo>
                <a:lnTo>
                  <a:pt x="1251822" y="219963"/>
                </a:lnTo>
                <a:lnTo>
                  <a:pt x="1241447" y="231835"/>
                </a:lnTo>
                <a:lnTo>
                  <a:pt x="1255245" y="236720"/>
                </a:lnTo>
                <a:lnTo>
                  <a:pt x="1254431" y="242775"/>
                </a:lnTo>
                <a:lnTo>
                  <a:pt x="1238754" y="238090"/>
                </a:lnTo>
                <a:lnTo>
                  <a:pt x="1232936" y="250698"/>
                </a:lnTo>
                <a:lnTo>
                  <a:pt x="1238013" y="261094"/>
                </a:lnTo>
                <a:lnTo>
                  <a:pt x="1231341" y="266227"/>
                </a:lnTo>
                <a:lnTo>
                  <a:pt x="1230147" y="276859"/>
                </a:lnTo>
                <a:lnTo>
                  <a:pt x="1237057" y="291407"/>
                </a:lnTo>
                <a:lnTo>
                  <a:pt x="1230032" y="293358"/>
                </a:lnTo>
                <a:lnTo>
                  <a:pt x="1232209" y="307791"/>
                </a:lnTo>
                <a:lnTo>
                  <a:pt x="1214000" y="319084"/>
                </a:lnTo>
                <a:lnTo>
                  <a:pt x="1216325" y="309178"/>
                </a:lnTo>
                <a:lnTo>
                  <a:pt x="1208729" y="307953"/>
                </a:lnTo>
                <a:lnTo>
                  <a:pt x="1202186" y="318373"/>
                </a:lnTo>
                <a:lnTo>
                  <a:pt x="1181897" y="326716"/>
                </a:lnTo>
                <a:lnTo>
                  <a:pt x="1181712" y="315365"/>
                </a:lnTo>
                <a:lnTo>
                  <a:pt x="1168216" y="321497"/>
                </a:lnTo>
                <a:lnTo>
                  <a:pt x="1159662" y="312405"/>
                </a:lnTo>
                <a:lnTo>
                  <a:pt x="1159068" y="300977"/>
                </a:lnTo>
                <a:lnTo>
                  <a:pt x="1136537" y="314680"/>
                </a:lnTo>
                <a:lnTo>
                  <a:pt x="1116692" y="318415"/>
                </a:lnTo>
                <a:lnTo>
                  <a:pt x="1105649" y="382081"/>
                </a:lnTo>
                <a:lnTo>
                  <a:pt x="1092338" y="381351"/>
                </a:lnTo>
                <a:lnTo>
                  <a:pt x="1091355" y="391288"/>
                </a:lnTo>
                <a:lnTo>
                  <a:pt x="1075979" y="388439"/>
                </a:lnTo>
                <a:lnTo>
                  <a:pt x="1084254" y="423673"/>
                </a:lnTo>
                <a:lnTo>
                  <a:pt x="1051078" y="447612"/>
                </a:lnTo>
                <a:lnTo>
                  <a:pt x="1060510" y="480414"/>
                </a:lnTo>
                <a:lnTo>
                  <a:pt x="1043159" y="484914"/>
                </a:lnTo>
                <a:lnTo>
                  <a:pt x="1048983" y="497882"/>
                </a:lnTo>
                <a:lnTo>
                  <a:pt x="1059509" y="497161"/>
                </a:lnTo>
                <a:lnTo>
                  <a:pt x="1062315" y="513937"/>
                </a:lnTo>
                <a:lnTo>
                  <a:pt x="1085939" y="508420"/>
                </a:lnTo>
                <a:lnTo>
                  <a:pt x="1084854" y="497813"/>
                </a:lnTo>
                <a:lnTo>
                  <a:pt x="1091094" y="498471"/>
                </a:lnTo>
                <a:lnTo>
                  <a:pt x="1104494" y="518077"/>
                </a:lnTo>
                <a:lnTo>
                  <a:pt x="1111267" y="513320"/>
                </a:lnTo>
                <a:lnTo>
                  <a:pt x="1137427" y="518167"/>
                </a:lnTo>
                <a:lnTo>
                  <a:pt x="1138230" y="535747"/>
                </a:lnTo>
                <a:lnTo>
                  <a:pt x="1144938" y="529907"/>
                </a:lnTo>
                <a:close/>
              </a:path>
            </a:pathLst>
          </a:custGeom>
          <a:solidFill>
            <a:srgbClr val="BACCE4"/>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9" name="2022 provincial petrol/diesel sales: NC"/>
          <p:cNvSpPr/>
          <p:nvPr/>
        </p:nvSpPr>
        <p:spPr>
          <a:xfrm>
            <a:off x="1778571" y="2997493"/>
            <a:ext cx="2047002" cy="2085814"/>
          </a:xfrm>
          <a:custGeom>
            <a:avLst/>
            <a:gdLst/>
            <a:ahLst/>
            <a:cxnLst/>
            <a:rect l="l" t="t" r="r" b="b"/>
            <a:pathLst>
              <a:path w="2047002" h="2085814">
                <a:moveTo>
                  <a:pt x="2027994" y="1475194"/>
                </a:moveTo>
                <a:lnTo>
                  <a:pt x="2031745" y="1513784"/>
                </a:lnTo>
                <a:lnTo>
                  <a:pt x="2047002" y="1516938"/>
                </a:lnTo>
                <a:lnTo>
                  <a:pt x="2029680" y="1537034"/>
                </a:lnTo>
                <a:lnTo>
                  <a:pt x="2039904" y="1545178"/>
                </a:lnTo>
                <a:lnTo>
                  <a:pt x="2038334" y="1559037"/>
                </a:lnTo>
                <a:lnTo>
                  <a:pt x="2030381" y="1566206"/>
                </a:lnTo>
                <a:lnTo>
                  <a:pt x="2036214" y="1572244"/>
                </a:lnTo>
                <a:lnTo>
                  <a:pt x="2022328" y="1586026"/>
                </a:lnTo>
                <a:lnTo>
                  <a:pt x="2023952" y="1595934"/>
                </a:lnTo>
                <a:lnTo>
                  <a:pt x="2010294" y="1608871"/>
                </a:lnTo>
                <a:lnTo>
                  <a:pt x="2010598" y="1625976"/>
                </a:lnTo>
                <a:lnTo>
                  <a:pt x="2003593" y="1630599"/>
                </a:lnTo>
                <a:lnTo>
                  <a:pt x="1972072" y="1619296"/>
                </a:lnTo>
                <a:lnTo>
                  <a:pt x="1963147" y="1631321"/>
                </a:lnTo>
                <a:lnTo>
                  <a:pt x="1938515" y="1639022"/>
                </a:lnTo>
                <a:lnTo>
                  <a:pt x="1926899" y="1637412"/>
                </a:lnTo>
                <a:lnTo>
                  <a:pt x="1911074" y="1652067"/>
                </a:lnTo>
                <a:lnTo>
                  <a:pt x="1893370" y="1654086"/>
                </a:lnTo>
                <a:lnTo>
                  <a:pt x="1895553" y="1665696"/>
                </a:lnTo>
                <a:lnTo>
                  <a:pt x="1887343" y="1661333"/>
                </a:lnTo>
                <a:lnTo>
                  <a:pt x="1879273" y="1669774"/>
                </a:lnTo>
                <a:lnTo>
                  <a:pt x="1862148" y="1674939"/>
                </a:lnTo>
                <a:lnTo>
                  <a:pt x="1852115" y="1668354"/>
                </a:lnTo>
                <a:lnTo>
                  <a:pt x="1837005" y="1672372"/>
                </a:lnTo>
                <a:lnTo>
                  <a:pt x="1830679" y="1677372"/>
                </a:lnTo>
                <a:lnTo>
                  <a:pt x="1828912" y="1693544"/>
                </a:lnTo>
                <a:lnTo>
                  <a:pt x="1820287" y="1697686"/>
                </a:lnTo>
                <a:lnTo>
                  <a:pt x="1819353" y="1750654"/>
                </a:lnTo>
                <a:lnTo>
                  <a:pt x="1803417" y="1752680"/>
                </a:lnTo>
                <a:lnTo>
                  <a:pt x="1797120" y="1746546"/>
                </a:lnTo>
                <a:lnTo>
                  <a:pt x="1799486" y="1752451"/>
                </a:lnTo>
                <a:lnTo>
                  <a:pt x="1781418" y="1753107"/>
                </a:lnTo>
                <a:lnTo>
                  <a:pt x="1769323" y="1766313"/>
                </a:lnTo>
                <a:lnTo>
                  <a:pt x="1742286" y="1760091"/>
                </a:lnTo>
                <a:lnTo>
                  <a:pt x="1740383" y="1772500"/>
                </a:lnTo>
                <a:lnTo>
                  <a:pt x="1722603" y="1777363"/>
                </a:lnTo>
                <a:lnTo>
                  <a:pt x="1713159" y="1757765"/>
                </a:lnTo>
                <a:lnTo>
                  <a:pt x="1717115" y="1751726"/>
                </a:lnTo>
                <a:lnTo>
                  <a:pt x="1698785" y="1751878"/>
                </a:lnTo>
                <a:lnTo>
                  <a:pt x="1695796" y="1768956"/>
                </a:lnTo>
                <a:lnTo>
                  <a:pt x="1684016" y="1785295"/>
                </a:lnTo>
                <a:lnTo>
                  <a:pt x="1671402" y="1767802"/>
                </a:lnTo>
                <a:lnTo>
                  <a:pt x="1665130" y="1766778"/>
                </a:lnTo>
                <a:lnTo>
                  <a:pt x="1672223" y="1754275"/>
                </a:lnTo>
                <a:lnTo>
                  <a:pt x="1653560" y="1749518"/>
                </a:lnTo>
                <a:lnTo>
                  <a:pt x="1644373" y="1737170"/>
                </a:lnTo>
                <a:lnTo>
                  <a:pt x="1623361" y="1738020"/>
                </a:lnTo>
                <a:lnTo>
                  <a:pt x="1602700" y="1752573"/>
                </a:lnTo>
                <a:lnTo>
                  <a:pt x="1579075" y="1744414"/>
                </a:lnTo>
                <a:lnTo>
                  <a:pt x="1577178" y="1755077"/>
                </a:lnTo>
                <a:lnTo>
                  <a:pt x="1554346" y="1759583"/>
                </a:lnTo>
                <a:lnTo>
                  <a:pt x="1539182" y="1797041"/>
                </a:lnTo>
                <a:lnTo>
                  <a:pt x="1510832" y="1823586"/>
                </a:lnTo>
                <a:lnTo>
                  <a:pt x="1502044" y="1817884"/>
                </a:lnTo>
                <a:lnTo>
                  <a:pt x="1503660" y="1801458"/>
                </a:lnTo>
                <a:lnTo>
                  <a:pt x="1497339" y="1798164"/>
                </a:lnTo>
                <a:lnTo>
                  <a:pt x="1483531" y="1794149"/>
                </a:lnTo>
                <a:lnTo>
                  <a:pt x="1467469" y="1798256"/>
                </a:lnTo>
                <a:lnTo>
                  <a:pt x="1457801" y="1783726"/>
                </a:lnTo>
                <a:lnTo>
                  <a:pt x="1440065" y="1793941"/>
                </a:lnTo>
                <a:lnTo>
                  <a:pt x="1430640" y="1779403"/>
                </a:lnTo>
                <a:lnTo>
                  <a:pt x="1404509" y="1785936"/>
                </a:lnTo>
                <a:lnTo>
                  <a:pt x="1396421" y="1781662"/>
                </a:lnTo>
                <a:lnTo>
                  <a:pt x="1404877" y="1760797"/>
                </a:lnTo>
                <a:lnTo>
                  <a:pt x="1393238" y="1758101"/>
                </a:lnTo>
                <a:lnTo>
                  <a:pt x="1392751" y="1749092"/>
                </a:lnTo>
                <a:lnTo>
                  <a:pt x="1377600" y="1747474"/>
                </a:lnTo>
                <a:lnTo>
                  <a:pt x="1336923" y="1726150"/>
                </a:lnTo>
                <a:lnTo>
                  <a:pt x="1328359" y="1728673"/>
                </a:lnTo>
                <a:lnTo>
                  <a:pt x="1315050" y="1780095"/>
                </a:lnTo>
                <a:lnTo>
                  <a:pt x="1305023" y="1784814"/>
                </a:lnTo>
                <a:lnTo>
                  <a:pt x="1308812" y="1787532"/>
                </a:lnTo>
                <a:lnTo>
                  <a:pt x="1307040" y="1806095"/>
                </a:lnTo>
                <a:lnTo>
                  <a:pt x="1287633" y="1796800"/>
                </a:lnTo>
                <a:lnTo>
                  <a:pt x="1292927" y="1808348"/>
                </a:lnTo>
                <a:lnTo>
                  <a:pt x="1286559" y="1818429"/>
                </a:lnTo>
                <a:lnTo>
                  <a:pt x="1292133" y="1834094"/>
                </a:lnTo>
                <a:lnTo>
                  <a:pt x="1287701" y="1838519"/>
                </a:lnTo>
                <a:lnTo>
                  <a:pt x="1301051" y="1850079"/>
                </a:lnTo>
                <a:lnTo>
                  <a:pt x="1291952" y="1871288"/>
                </a:lnTo>
                <a:lnTo>
                  <a:pt x="1287138" y="1854793"/>
                </a:lnTo>
                <a:lnTo>
                  <a:pt x="1275795" y="1863479"/>
                </a:lnTo>
                <a:lnTo>
                  <a:pt x="1272749" y="1887023"/>
                </a:lnTo>
                <a:lnTo>
                  <a:pt x="1259098" y="1891713"/>
                </a:lnTo>
                <a:lnTo>
                  <a:pt x="1256854" y="1901774"/>
                </a:lnTo>
                <a:lnTo>
                  <a:pt x="1245998" y="1905804"/>
                </a:lnTo>
                <a:lnTo>
                  <a:pt x="1225474" y="1899804"/>
                </a:lnTo>
                <a:lnTo>
                  <a:pt x="1215402" y="1888336"/>
                </a:lnTo>
                <a:lnTo>
                  <a:pt x="1206115" y="1899746"/>
                </a:lnTo>
                <a:lnTo>
                  <a:pt x="1195572" y="1889848"/>
                </a:lnTo>
                <a:lnTo>
                  <a:pt x="1172126" y="1895788"/>
                </a:lnTo>
                <a:lnTo>
                  <a:pt x="1176922" y="1919483"/>
                </a:lnTo>
                <a:lnTo>
                  <a:pt x="1159840" y="1922327"/>
                </a:lnTo>
                <a:lnTo>
                  <a:pt x="1150267" y="1933815"/>
                </a:lnTo>
                <a:lnTo>
                  <a:pt x="1133683" y="1938520"/>
                </a:lnTo>
                <a:lnTo>
                  <a:pt x="1122419" y="1935225"/>
                </a:lnTo>
                <a:lnTo>
                  <a:pt x="1118624" y="1951323"/>
                </a:lnTo>
                <a:lnTo>
                  <a:pt x="1097672" y="1969671"/>
                </a:lnTo>
                <a:lnTo>
                  <a:pt x="1089309" y="1990709"/>
                </a:lnTo>
                <a:lnTo>
                  <a:pt x="1093315" y="2000603"/>
                </a:lnTo>
                <a:lnTo>
                  <a:pt x="1080006" y="2007217"/>
                </a:lnTo>
                <a:lnTo>
                  <a:pt x="1051382" y="2004688"/>
                </a:lnTo>
                <a:lnTo>
                  <a:pt x="1025927" y="2011517"/>
                </a:lnTo>
                <a:lnTo>
                  <a:pt x="1014672" y="2024418"/>
                </a:lnTo>
                <a:lnTo>
                  <a:pt x="1024921" y="2051222"/>
                </a:lnTo>
                <a:lnTo>
                  <a:pt x="1018373" y="2071273"/>
                </a:lnTo>
                <a:lnTo>
                  <a:pt x="1006828" y="2076342"/>
                </a:lnTo>
                <a:lnTo>
                  <a:pt x="1004339" y="2084655"/>
                </a:lnTo>
                <a:lnTo>
                  <a:pt x="973891" y="2085287"/>
                </a:lnTo>
                <a:lnTo>
                  <a:pt x="967022" y="2069672"/>
                </a:lnTo>
                <a:lnTo>
                  <a:pt x="954304" y="2085700"/>
                </a:lnTo>
                <a:lnTo>
                  <a:pt x="941199" y="2085814"/>
                </a:lnTo>
                <a:lnTo>
                  <a:pt x="928158" y="2076549"/>
                </a:lnTo>
                <a:lnTo>
                  <a:pt x="924768" y="2078980"/>
                </a:lnTo>
                <a:lnTo>
                  <a:pt x="922809" y="2067091"/>
                </a:lnTo>
                <a:lnTo>
                  <a:pt x="909796" y="2052477"/>
                </a:lnTo>
                <a:lnTo>
                  <a:pt x="892109" y="2048026"/>
                </a:lnTo>
                <a:lnTo>
                  <a:pt x="884959" y="2040109"/>
                </a:lnTo>
                <a:lnTo>
                  <a:pt x="885090" y="2022965"/>
                </a:lnTo>
                <a:lnTo>
                  <a:pt x="873687" y="2012680"/>
                </a:lnTo>
                <a:lnTo>
                  <a:pt x="867121" y="1994125"/>
                </a:lnTo>
                <a:lnTo>
                  <a:pt x="857537" y="1950237"/>
                </a:lnTo>
                <a:lnTo>
                  <a:pt x="869167" y="1955843"/>
                </a:lnTo>
                <a:lnTo>
                  <a:pt x="886064" y="1924920"/>
                </a:lnTo>
                <a:lnTo>
                  <a:pt x="894429" y="1926545"/>
                </a:lnTo>
                <a:lnTo>
                  <a:pt x="890575" y="1904506"/>
                </a:lnTo>
                <a:lnTo>
                  <a:pt x="874430" y="1906021"/>
                </a:lnTo>
                <a:lnTo>
                  <a:pt x="877118" y="1894893"/>
                </a:lnTo>
                <a:lnTo>
                  <a:pt x="867417" y="1897305"/>
                </a:lnTo>
                <a:lnTo>
                  <a:pt x="859613" y="1912472"/>
                </a:lnTo>
                <a:lnTo>
                  <a:pt x="850221" y="1913403"/>
                </a:lnTo>
                <a:lnTo>
                  <a:pt x="847476" y="1924826"/>
                </a:lnTo>
                <a:lnTo>
                  <a:pt x="826478" y="1946448"/>
                </a:lnTo>
                <a:lnTo>
                  <a:pt x="812756" y="1948570"/>
                </a:lnTo>
                <a:lnTo>
                  <a:pt x="800321" y="1943365"/>
                </a:lnTo>
                <a:lnTo>
                  <a:pt x="789297" y="1956776"/>
                </a:lnTo>
                <a:lnTo>
                  <a:pt x="783019" y="1950502"/>
                </a:lnTo>
                <a:lnTo>
                  <a:pt x="777111" y="1959687"/>
                </a:lnTo>
                <a:lnTo>
                  <a:pt x="782335" y="1965098"/>
                </a:lnTo>
                <a:lnTo>
                  <a:pt x="771656" y="1971007"/>
                </a:lnTo>
                <a:lnTo>
                  <a:pt x="765959" y="1964933"/>
                </a:lnTo>
                <a:lnTo>
                  <a:pt x="759205" y="1973406"/>
                </a:lnTo>
                <a:lnTo>
                  <a:pt x="757551" y="2014187"/>
                </a:lnTo>
                <a:lnTo>
                  <a:pt x="741529" y="2026162"/>
                </a:lnTo>
                <a:lnTo>
                  <a:pt x="731178" y="1999029"/>
                </a:lnTo>
                <a:lnTo>
                  <a:pt x="736551" y="1978381"/>
                </a:lnTo>
                <a:lnTo>
                  <a:pt x="716330" y="1948554"/>
                </a:lnTo>
                <a:lnTo>
                  <a:pt x="710766" y="1929439"/>
                </a:lnTo>
                <a:lnTo>
                  <a:pt x="728256" y="1918767"/>
                </a:lnTo>
                <a:lnTo>
                  <a:pt x="729387" y="1900299"/>
                </a:lnTo>
                <a:lnTo>
                  <a:pt x="723270" y="1891985"/>
                </a:lnTo>
                <a:lnTo>
                  <a:pt x="731562" y="1883622"/>
                </a:lnTo>
                <a:lnTo>
                  <a:pt x="729519" y="1876259"/>
                </a:lnTo>
                <a:lnTo>
                  <a:pt x="725842" y="1885432"/>
                </a:lnTo>
                <a:lnTo>
                  <a:pt x="724778" y="1873996"/>
                </a:lnTo>
                <a:lnTo>
                  <a:pt x="711067" y="1863099"/>
                </a:lnTo>
                <a:lnTo>
                  <a:pt x="704316" y="1859275"/>
                </a:lnTo>
                <a:lnTo>
                  <a:pt x="697523" y="1866712"/>
                </a:lnTo>
                <a:lnTo>
                  <a:pt x="688141" y="1852294"/>
                </a:lnTo>
                <a:lnTo>
                  <a:pt x="680592" y="1847617"/>
                </a:lnTo>
                <a:lnTo>
                  <a:pt x="678095" y="1851484"/>
                </a:lnTo>
                <a:lnTo>
                  <a:pt x="679205" y="1821523"/>
                </a:lnTo>
                <a:lnTo>
                  <a:pt x="663129" y="1844110"/>
                </a:lnTo>
                <a:lnTo>
                  <a:pt x="660148" y="1833167"/>
                </a:lnTo>
                <a:lnTo>
                  <a:pt x="647635" y="1835668"/>
                </a:lnTo>
                <a:lnTo>
                  <a:pt x="621969" y="1827887"/>
                </a:lnTo>
                <a:lnTo>
                  <a:pt x="622271" y="1816899"/>
                </a:lnTo>
                <a:lnTo>
                  <a:pt x="634131" y="1805979"/>
                </a:lnTo>
                <a:lnTo>
                  <a:pt x="629248" y="1799153"/>
                </a:lnTo>
                <a:lnTo>
                  <a:pt x="635165" y="1794805"/>
                </a:lnTo>
                <a:lnTo>
                  <a:pt x="625397" y="1774809"/>
                </a:lnTo>
                <a:lnTo>
                  <a:pt x="632192" y="1755877"/>
                </a:lnTo>
                <a:lnTo>
                  <a:pt x="630724" y="1749356"/>
                </a:lnTo>
                <a:lnTo>
                  <a:pt x="623386" y="1749892"/>
                </a:lnTo>
                <a:lnTo>
                  <a:pt x="630117" y="1737819"/>
                </a:lnTo>
                <a:lnTo>
                  <a:pt x="612583" y="1734890"/>
                </a:lnTo>
                <a:lnTo>
                  <a:pt x="619449" y="1712223"/>
                </a:lnTo>
                <a:lnTo>
                  <a:pt x="604729" y="1695103"/>
                </a:lnTo>
                <a:lnTo>
                  <a:pt x="611255" y="1682059"/>
                </a:lnTo>
                <a:lnTo>
                  <a:pt x="600752" y="1677169"/>
                </a:lnTo>
                <a:lnTo>
                  <a:pt x="595287" y="1665358"/>
                </a:lnTo>
                <a:lnTo>
                  <a:pt x="594265" y="1633512"/>
                </a:lnTo>
                <a:lnTo>
                  <a:pt x="583590" y="1615830"/>
                </a:lnTo>
                <a:lnTo>
                  <a:pt x="584548" y="1599664"/>
                </a:lnTo>
                <a:lnTo>
                  <a:pt x="600090" y="1590366"/>
                </a:lnTo>
                <a:lnTo>
                  <a:pt x="575276" y="1576593"/>
                </a:lnTo>
                <a:lnTo>
                  <a:pt x="593719" y="1570260"/>
                </a:lnTo>
                <a:lnTo>
                  <a:pt x="590178" y="1539324"/>
                </a:lnTo>
                <a:lnTo>
                  <a:pt x="570192" y="1533283"/>
                </a:lnTo>
                <a:lnTo>
                  <a:pt x="554405" y="1521424"/>
                </a:lnTo>
                <a:lnTo>
                  <a:pt x="554111" y="1510474"/>
                </a:lnTo>
                <a:lnTo>
                  <a:pt x="545113" y="1496339"/>
                </a:lnTo>
                <a:lnTo>
                  <a:pt x="522087" y="1494715"/>
                </a:lnTo>
                <a:lnTo>
                  <a:pt x="501492" y="1463408"/>
                </a:lnTo>
                <a:lnTo>
                  <a:pt x="486671" y="1467858"/>
                </a:lnTo>
                <a:lnTo>
                  <a:pt x="483704" y="1487899"/>
                </a:lnTo>
                <a:lnTo>
                  <a:pt x="493465" y="1509054"/>
                </a:lnTo>
                <a:lnTo>
                  <a:pt x="460018" y="1473255"/>
                </a:lnTo>
                <a:lnTo>
                  <a:pt x="468355" y="1490154"/>
                </a:lnTo>
                <a:lnTo>
                  <a:pt x="459907" y="1507238"/>
                </a:lnTo>
                <a:lnTo>
                  <a:pt x="460887" y="1524508"/>
                </a:lnTo>
                <a:lnTo>
                  <a:pt x="439725" y="1566429"/>
                </a:lnTo>
                <a:lnTo>
                  <a:pt x="424515" y="1566721"/>
                </a:lnTo>
                <a:lnTo>
                  <a:pt x="427080" y="1570500"/>
                </a:lnTo>
                <a:lnTo>
                  <a:pt x="419279" y="1575376"/>
                </a:lnTo>
                <a:lnTo>
                  <a:pt x="398862" y="1560229"/>
                </a:lnTo>
                <a:lnTo>
                  <a:pt x="382572" y="1562842"/>
                </a:lnTo>
                <a:lnTo>
                  <a:pt x="381703" y="1595613"/>
                </a:lnTo>
                <a:lnTo>
                  <a:pt x="356925" y="1598449"/>
                </a:lnTo>
                <a:lnTo>
                  <a:pt x="368461" y="1620189"/>
                </a:lnTo>
                <a:lnTo>
                  <a:pt x="344504" y="1642483"/>
                </a:lnTo>
                <a:lnTo>
                  <a:pt x="350940" y="1663640"/>
                </a:lnTo>
                <a:lnTo>
                  <a:pt x="331713" y="1656423"/>
                </a:lnTo>
                <a:lnTo>
                  <a:pt x="213035" y="1456275"/>
                </a:lnTo>
                <a:lnTo>
                  <a:pt x="181843" y="1367974"/>
                </a:lnTo>
                <a:lnTo>
                  <a:pt x="160281" y="1326240"/>
                </a:lnTo>
                <a:lnTo>
                  <a:pt x="130696" y="1231511"/>
                </a:lnTo>
                <a:lnTo>
                  <a:pt x="96990" y="1175732"/>
                </a:lnTo>
                <a:lnTo>
                  <a:pt x="90237" y="1145820"/>
                </a:lnTo>
                <a:lnTo>
                  <a:pt x="73783" y="1133910"/>
                </a:lnTo>
                <a:lnTo>
                  <a:pt x="58499" y="1104963"/>
                </a:lnTo>
                <a:lnTo>
                  <a:pt x="38222" y="1093355"/>
                </a:lnTo>
                <a:lnTo>
                  <a:pt x="26993" y="1065139"/>
                </a:lnTo>
                <a:lnTo>
                  <a:pt x="28352" y="1056233"/>
                </a:lnTo>
                <a:lnTo>
                  <a:pt x="0" y="1033699"/>
                </a:lnTo>
                <a:lnTo>
                  <a:pt x="142" y="1023413"/>
                </a:lnTo>
                <a:lnTo>
                  <a:pt x="5277" y="1016112"/>
                </a:lnTo>
                <a:lnTo>
                  <a:pt x="31951" y="1005312"/>
                </a:lnTo>
                <a:lnTo>
                  <a:pt x="46686" y="989336"/>
                </a:lnTo>
                <a:lnTo>
                  <a:pt x="53829" y="995332"/>
                </a:lnTo>
                <a:lnTo>
                  <a:pt x="60922" y="993969"/>
                </a:lnTo>
                <a:lnTo>
                  <a:pt x="69571" y="979878"/>
                </a:lnTo>
                <a:lnTo>
                  <a:pt x="67119" y="968400"/>
                </a:lnTo>
                <a:lnTo>
                  <a:pt x="75363" y="959098"/>
                </a:lnTo>
                <a:lnTo>
                  <a:pt x="61644" y="937034"/>
                </a:lnTo>
                <a:lnTo>
                  <a:pt x="77414" y="934977"/>
                </a:lnTo>
                <a:lnTo>
                  <a:pt x="71709" y="923299"/>
                </a:lnTo>
                <a:lnTo>
                  <a:pt x="83483" y="919837"/>
                </a:lnTo>
                <a:lnTo>
                  <a:pt x="77115" y="908715"/>
                </a:lnTo>
                <a:lnTo>
                  <a:pt x="90005" y="909425"/>
                </a:lnTo>
                <a:lnTo>
                  <a:pt x="88095" y="887776"/>
                </a:lnTo>
                <a:lnTo>
                  <a:pt x="107392" y="878937"/>
                </a:lnTo>
                <a:lnTo>
                  <a:pt x="114335" y="882704"/>
                </a:lnTo>
                <a:lnTo>
                  <a:pt x="130842" y="870700"/>
                </a:lnTo>
                <a:lnTo>
                  <a:pt x="145164" y="885230"/>
                </a:lnTo>
                <a:lnTo>
                  <a:pt x="157544" y="888310"/>
                </a:lnTo>
                <a:lnTo>
                  <a:pt x="156980" y="912787"/>
                </a:lnTo>
                <a:lnTo>
                  <a:pt x="164958" y="923652"/>
                </a:lnTo>
                <a:lnTo>
                  <a:pt x="191379" y="916289"/>
                </a:lnTo>
                <a:lnTo>
                  <a:pt x="203535" y="933427"/>
                </a:lnTo>
                <a:lnTo>
                  <a:pt x="211497" y="959607"/>
                </a:lnTo>
                <a:lnTo>
                  <a:pt x="206427" y="969526"/>
                </a:lnTo>
                <a:lnTo>
                  <a:pt x="198324" y="970578"/>
                </a:lnTo>
                <a:lnTo>
                  <a:pt x="195415" y="980138"/>
                </a:lnTo>
                <a:lnTo>
                  <a:pt x="207543" y="1003332"/>
                </a:lnTo>
                <a:lnTo>
                  <a:pt x="219223" y="1003940"/>
                </a:lnTo>
                <a:lnTo>
                  <a:pt x="218578" y="1041822"/>
                </a:lnTo>
                <a:lnTo>
                  <a:pt x="251724" y="1030471"/>
                </a:lnTo>
                <a:lnTo>
                  <a:pt x="258718" y="1032359"/>
                </a:lnTo>
                <a:lnTo>
                  <a:pt x="263640" y="1048996"/>
                </a:lnTo>
                <a:lnTo>
                  <a:pt x="270799" y="1051892"/>
                </a:lnTo>
                <a:lnTo>
                  <a:pt x="293275" y="1041839"/>
                </a:lnTo>
                <a:lnTo>
                  <a:pt x="331404" y="1045739"/>
                </a:lnTo>
                <a:lnTo>
                  <a:pt x="349142" y="1056336"/>
                </a:lnTo>
                <a:lnTo>
                  <a:pt x="361911" y="1072201"/>
                </a:lnTo>
                <a:lnTo>
                  <a:pt x="370171" y="1070789"/>
                </a:lnTo>
                <a:lnTo>
                  <a:pt x="394476" y="1081053"/>
                </a:lnTo>
                <a:lnTo>
                  <a:pt x="410780" y="1070692"/>
                </a:lnTo>
                <a:lnTo>
                  <a:pt x="446991" y="1074154"/>
                </a:lnTo>
                <a:lnTo>
                  <a:pt x="514864" y="1052737"/>
                </a:lnTo>
                <a:lnTo>
                  <a:pt x="561388" y="1056881"/>
                </a:lnTo>
                <a:lnTo>
                  <a:pt x="574670" y="1063878"/>
                </a:lnTo>
                <a:lnTo>
                  <a:pt x="578823" y="1074455"/>
                </a:lnTo>
                <a:lnTo>
                  <a:pt x="599205" y="1082794"/>
                </a:lnTo>
                <a:lnTo>
                  <a:pt x="611995" y="1081168"/>
                </a:lnTo>
                <a:lnTo>
                  <a:pt x="631442" y="1065018"/>
                </a:lnTo>
                <a:lnTo>
                  <a:pt x="642756" y="1062377"/>
                </a:lnTo>
                <a:lnTo>
                  <a:pt x="629039" y="1042173"/>
                </a:lnTo>
                <a:lnTo>
                  <a:pt x="634823" y="1023868"/>
                </a:lnTo>
                <a:lnTo>
                  <a:pt x="665077" y="1020924"/>
                </a:lnTo>
                <a:lnTo>
                  <a:pt x="678922" y="1012400"/>
                </a:lnTo>
                <a:lnTo>
                  <a:pt x="686022" y="985143"/>
                </a:lnTo>
                <a:lnTo>
                  <a:pt x="693108" y="981262"/>
                </a:lnTo>
                <a:lnTo>
                  <a:pt x="699118" y="965755"/>
                </a:lnTo>
                <a:lnTo>
                  <a:pt x="712318" y="960864"/>
                </a:lnTo>
                <a:lnTo>
                  <a:pt x="722275" y="965581"/>
                </a:lnTo>
                <a:lnTo>
                  <a:pt x="737611" y="953280"/>
                </a:lnTo>
                <a:lnTo>
                  <a:pt x="754691" y="958310"/>
                </a:lnTo>
                <a:lnTo>
                  <a:pt x="768361" y="940921"/>
                </a:lnTo>
                <a:lnTo>
                  <a:pt x="795758" y="935937"/>
                </a:lnTo>
                <a:lnTo>
                  <a:pt x="758391" y="0"/>
                </a:lnTo>
                <a:lnTo>
                  <a:pt x="780335" y="16244"/>
                </a:lnTo>
                <a:lnTo>
                  <a:pt x="788079" y="29240"/>
                </a:lnTo>
                <a:lnTo>
                  <a:pt x="820582" y="37911"/>
                </a:lnTo>
                <a:lnTo>
                  <a:pt x="829763" y="52115"/>
                </a:lnTo>
                <a:lnTo>
                  <a:pt x="850654" y="65052"/>
                </a:lnTo>
                <a:lnTo>
                  <a:pt x="849660" y="72139"/>
                </a:lnTo>
                <a:lnTo>
                  <a:pt x="857717" y="77216"/>
                </a:lnTo>
                <a:lnTo>
                  <a:pt x="862599" y="95298"/>
                </a:lnTo>
                <a:lnTo>
                  <a:pt x="871479" y="95633"/>
                </a:lnTo>
                <a:lnTo>
                  <a:pt x="866600" y="106579"/>
                </a:lnTo>
                <a:lnTo>
                  <a:pt x="879069" y="113635"/>
                </a:lnTo>
                <a:lnTo>
                  <a:pt x="879629" y="124842"/>
                </a:lnTo>
                <a:lnTo>
                  <a:pt x="890498" y="128023"/>
                </a:lnTo>
                <a:lnTo>
                  <a:pt x="883333" y="136189"/>
                </a:lnTo>
                <a:lnTo>
                  <a:pt x="891043" y="136782"/>
                </a:lnTo>
                <a:lnTo>
                  <a:pt x="895029" y="154271"/>
                </a:lnTo>
                <a:lnTo>
                  <a:pt x="904366" y="155260"/>
                </a:lnTo>
                <a:lnTo>
                  <a:pt x="904562" y="163624"/>
                </a:lnTo>
                <a:lnTo>
                  <a:pt x="911447" y="162842"/>
                </a:lnTo>
                <a:lnTo>
                  <a:pt x="909805" y="172240"/>
                </a:lnTo>
                <a:lnTo>
                  <a:pt x="921753" y="169619"/>
                </a:lnTo>
                <a:lnTo>
                  <a:pt x="913083" y="175111"/>
                </a:lnTo>
                <a:lnTo>
                  <a:pt x="911892" y="188331"/>
                </a:lnTo>
                <a:lnTo>
                  <a:pt x="928484" y="205674"/>
                </a:lnTo>
                <a:lnTo>
                  <a:pt x="920958" y="208220"/>
                </a:lnTo>
                <a:lnTo>
                  <a:pt x="918097" y="216876"/>
                </a:lnTo>
                <a:lnTo>
                  <a:pt x="926441" y="216068"/>
                </a:lnTo>
                <a:lnTo>
                  <a:pt x="924600" y="230179"/>
                </a:lnTo>
                <a:lnTo>
                  <a:pt x="934148" y="237097"/>
                </a:lnTo>
                <a:lnTo>
                  <a:pt x="937754" y="250511"/>
                </a:lnTo>
                <a:lnTo>
                  <a:pt x="945164" y="252501"/>
                </a:lnTo>
                <a:lnTo>
                  <a:pt x="939936" y="263487"/>
                </a:lnTo>
                <a:lnTo>
                  <a:pt x="951083" y="258095"/>
                </a:lnTo>
                <a:lnTo>
                  <a:pt x="950248" y="271392"/>
                </a:lnTo>
                <a:lnTo>
                  <a:pt x="957398" y="274926"/>
                </a:lnTo>
                <a:lnTo>
                  <a:pt x="955455" y="288097"/>
                </a:lnTo>
                <a:lnTo>
                  <a:pt x="964416" y="296761"/>
                </a:lnTo>
                <a:lnTo>
                  <a:pt x="959052" y="309701"/>
                </a:lnTo>
                <a:lnTo>
                  <a:pt x="965782" y="328541"/>
                </a:lnTo>
                <a:lnTo>
                  <a:pt x="961172" y="335106"/>
                </a:lnTo>
                <a:lnTo>
                  <a:pt x="971169" y="341722"/>
                </a:lnTo>
                <a:lnTo>
                  <a:pt x="934316" y="410817"/>
                </a:lnTo>
                <a:lnTo>
                  <a:pt x="917239" y="423209"/>
                </a:lnTo>
                <a:lnTo>
                  <a:pt x="914978" y="441445"/>
                </a:lnTo>
                <a:lnTo>
                  <a:pt x="922044" y="460923"/>
                </a:lnTo>
                <a:lnTo>
                  <a:pt x="921436" y="510877"/>
                </a:lnTo>
                <a:lnTo>
                  <a:pt x="927090" y="521447"/>
                </a:lnTo>
                <a:lnTo>
                  <a:pt x="935742" y="524098"/>
                </a:lnTo>
                <a:lnTo>
                  <a:pt x="936945" y="541159"/>
                </a:lnTo>
                <a:lnTo>
                  <a:pt x="943397" y="531398"/>
                </a:lnTo>
                <a:lnTo>
                  <a:pt x="954481" y="530037"/>
                </a:lnTo>
                <a:lnTo>
                  <a:pt x="966371" y="523303"/>
                </a:lnTo>
                <a:lnTo>
                  <a:pt x="967178" y="517545"/>
                </a:lnTo>
                <a:lnTo>
                  <a:pt x="984728" y="511065"/>
                </a:lnTo>
                <a:lnTo>
                  <a:pt x="1039454" y="529080"/>
                </a:lnTo>
                <a:lnTo>
                  <a:pt x="1101113" y="513957"/>
                </a:lnTo>
                <a:lnTo>
                  <a:pt x="1129003" y="523308"/>
                </a:lnTo>
                <a:lnTo>
                  <a:pt x="1140351" y="517371"/>
                </a:lnTo>
                <a:lnTo>
                  <a:pt x="1152297" y="523878"/>
                </a:lnTo>
                <a:lnTo>
                  <a:pt x="1168553" y="521758"/>
                </a:lnTo>
                <a:lnTo>
                  <a:pt x="1187190" y="506469"/>
                </a:lnTo>
                <a:lnTo>
                  <a:pt x="1184377" y="477593"/>
                </a:lnTo>
                <a:lnTo>
                  <a:pt x="1196141" y="469759"/>
                </a:lnTo>
                <a:lnTo>
                  <a:pt x="1224888" y="471646"/>
                </a:lnTo>
                <a:lnTo>
                  <a:pt x="1248180" y="461731"/>
                </a:lnTo>
                <a:lnTo>
                  <a:pt x="1254212" y="447702"/>
                </a:lnTo>
                <a:lnTo>
                  <a:pt x="1273205" y="429123"/>
                </a:lnTo>
                <a:lnTo>
                  <a:pt x="1279752" y="399746"/>
                </a:lnTo>
                <a:lnTo>
                  <a:pt x="1291567" y="387454"/>
                </a:lnTo>
                <a:lnTo>
                  <a:pt x="1318096" y="381364"/>
                </a:lnTo>
                <a:lnTo>
                  <a:pt x="1317921" y="371204"/>
                </a:lnTo>
                <a:lnTo>
                  <a:pt x="1326978" y="367707"/>
                </a:lnTo>
                <a:lnTo>
                  <a:pt x="1330724" y="355239"/>
                </a:lnTo>
                <a:lnTo>
                  <a:pt x="1338596" y="355963"/>
                </a:lnTo>
                <a:lnTo>
                  <a:pt x="1343088" y="348661"/>
                </a:lnTo>
                <a:lnTo>
                  <a:pt x="1361315" y="354759"/>
                </a:lnTo>
                <a:lnTo>
                  <a:pt x="1366762" y="333572"/>
                </a:lnTo>
                <a:lnTo>
                  <a:pt x="1395457" y="327203"/>
                </a:lnTo>
                <a:lnTo>
                  <a:pt x="1398154" y="401568"/>
                </a:lnTo>
                <a:lnTo>
                  <a:pt x="1420067" y="412098"/>
                </a:lnTo>
                <a:lnTo>
                  <a:pt x="1430144" y="392026"/>
                </a:lnTo>
                <a:lnTo>
                  <a:pt x="1442673" y="333015"/>
                </a:lnTo>
                <a:lnTo>
                  <a:pt x="1459795" y="334423"/>
                </a:lnTo>
                <a:lnTo>
                  <a:pt x="1460900" y="318407"/>
                </a:lnTo>
                <a:lnTo>
                  <a:pt x="1478886" y="320436"/>
                </a:lnTo>
                <a:lnTo>
                  <a:pt x="1483543" y="290582"/>
                </a:lnTo>
                <a:lnTo>
                  <a:pt x="1537565" y="292412"/>
                </a:lnTo>
                <a:lnTo>
                  <a:pt x="1553046" y="295607"/>
                </a:lnTo>
                <a:lnTo>
                  <a:pt x="1545587" y="317004"/>
                </a:lnTo>
                <a:lnTo>
                  <a:pt x="1517352" y="307997"/>
                </a:lnTo>
                <a:lnTo>
                  <a:pt x="1513807" y="324163"/>
                </a:lnTo>
                <a:lnTo>
                  <a:pt x="1535860" y="330524"/>
                </a:lnTo>
                <a:lnTo>
                  <a:pt x="1515731" y="363896"/>
                </a:lnTo>
                <a:lnTo>
                  <a:pt x="1529869" y="381126"/>
                </a:lnTo>
                <a:lnTo>
                  <a:pt x="1526779" y="418477"/>
                </a:lnTo>
                <a:lnTo>
                  <a:pt x="1572142" y="429545"/>
                </a:lnTo>
                <a:lnTo>
                  <a:pt x="1600169" y="451205"/>
                </a:lnTo>
                <a:lnTo>
                  <a:pt x="1578343" y="482802"/>
                </a:lnTo>
                <a:lnTo>
                  <a:pt x="1662739" y="520332"/>
                </a:lnTo>
                <a:lnTo>
                  <a:pt x="1666392" y="511761"/>
                </a:lnTo>
                <a:lnTo>
                  <a:pt x="1677263" y="511948"/>
                </a:lnTo>
                <a:lnTo>
                  <a:pt x="1689604" y="521128"/>
                </a:lnTo>
                <a:lnTo>
                  <a:pt x="1705298" y="561776"/>
                </a:lnTo>
                <a:lnTo>
                  <a:pt x="1691296" y="568449"/>
                </a:lnTo>
                <a:lnTo>
                  <a:pt x="1673477" y="612917"/>
                </a:lnTo>
                <a:lnTo>
                  <a:pt x="1717041" y="638333"/>
                </a:lnTo>
                <a:lnTo>
                  <a:pt x="1709475" y="666328"/>
                </a:lnTo>
                <a:lnTo>
                  <a:pt x="1709392" y="702120"/>
                </a:lnTo>
                <a:lnTo>
                  <a:pt x="1724919" y="706863"/>
                </a:lnTo>
                <a:lnTo>
                  <a:pt x="1719319" y="728171"/>
                </a:lnTo>
                <a:lnTo>
                  <a:pt x="1723402" y="736852"/>
                </a:lnTo>
                <a:lnTo>
                  <a:pt x="1790282" y="721660"/>
                </a:lnTo>
                <a:lnTo>
                  <a:pt x="1799749" y="727155"/>
                </a:lnTo>
                <a:lnTo>
                  <a:pt x="1791191" y="742090"/>
                </a:lnTo>
                <a:lnTo>
                  <a:pt x="1801161" y="747525"/>
                </a:lnTo>
                <a:lnTo>
                  <a:pt x="1780387" y="780391"/>
                </a:lnTo>
                <a:lnTo>
                  <a:pt x="1787723" y="788250"/>
                </a:lnTo>
                <a:lnTo>
                  <a:pt x="1791645" y="783563"/>
                </a:lnTo>
                <a:lnTo>
                  <a:pt x="1804733" y="798146"/>
                </a:lnTo>
                <a:lnTo>
                  <a:pt x="1799631" y="811298"/>
                </a:lnTo>
                <a:lnTo>
                  <a:pt x="1820127" y="826604"/>
                </a:lnTo>
                <a:lnTo>
                  <a:pt x="1826696" y="820936"/>
                </a:lnTo>
                <a:lnTo>
                  <a:pt x="1825710" y="812949"/>
                </a:lnTo>
                <a:lnTo>
                  <a:pt x="1836927" y="809961"/>
                </a:lnTo>
                <a:lnTo>
                  <a:pt x="1841305" y="802856"/>
                </a:lnTo>
                <a:lnTo>
                  <a:pt x="1836405" y="777020"/>
                </a:lnTo>
                <a:lnTo>
                  <a:pt x="1841622" y="778154"/>
                </a:lnTo>
                <a:lnTo>
                  <a:pt x="1848004" y="765284"/>
                </a:lnTo>
                <a:lnTo>
                  <a:pt x="1856751" y="763956"/>
                </a:lnTo>
                <a:lnTo>
                  <a:pt x="1848042" y="749499"/>
                </a:lnTo>
                <a:lnTo>
                  <a:pt x="1855979" y="735341"/>
                </a:lnTo>
                <a:lnTo>
                  <a:pt x="1851167" y="722546"/>
                </a:lnTo>
                <a:lnTo>
                  <a:pt x="1855595" y="712220"/>
                </a:lnTo>
                <a:lnTo>
                  <a:pt x="1871475" y="709120"/>
                </a:lnTo>
                <a:lnTo>
                  <a:pt x="1870260" y="703076"/>
                </a:lnTo>
                <a:lnTo>
                  <a:pt x="1876534" y="701798"/>
                </a:lnTo>
                <a:lnTo>
                  <a:pt x="1880410" y="726629"/>
                </a:lnTo>
                <a:lnTo>
                  <a:pt x="1925600" y="721235"/>
                </a:lnTo>
                <a:lnTo>
                  <a:pt x="1936568" y="726072"/>
                </a:lnTo>
                <a:lnTo>
                  <a:pt x="1890890" y="780159"/>
                </a:lnTo>
                <a:lnTo>
                  <a:pt x="1893284" y="783772"/>
                </a:lnTo>
                <a:lnTo>
                  <a:pt x="1887018" y="785304"/>
                </a:lnTo>
                <a:lnTo>
                  <a:pt x="1914464" y="831797"/>
                </a:lnTo>
                <a:lnTo>
                  <a:pt x="1919628" y="823566"/>
                </a:lnTo>
                <a:lnTo>
                  <a:pt x="1932033" y="821636"/>
                </a:lnTo>
                <a:lnTo>
                  <a:pt x="1917641" y="866964"/>
                </a:lnTo>
                <a:lnTo>
                  <a:pt x="1896343" y="872001"/>
                </a:lnTo>
                <a:lnTo>
                  <a:pt x="1900844" y="882187"/>
                </a:lnTo>
                <a:lnTo>
                  <a:pt x="1911548" y="885936"/>
                </a:lnTo>
                <a:lnTo>
                  <a:pt x="1900078" y="921762"/>
                </a:lnTo>
                <a:lnTo>
                  <a:pt x="1891076" y="931691"/>
                </a:lnTo>
                <a:lnTo>
                  <a:pt x="1895808" y="935084"/>
                </a:lnTo>
                <a:lnTo>
                  <a:pt x="1886793" y="963201"/>
                </a:lnTo>
                <a:lnTo>
                  <a:pt x="1903519" y="968570"/>
                </a:lnTo>
                <a:lnTo>
                  <a:pt x="1779694" y="1226739"/>
                </a:lnTo>
                <a:lnTo>
                  <a:pt x="1780260" y="1238826"/>
                </a:lnTo>
                <a:lnTo>
                  <a:pt x="1800501" y="1267257"/>
                </a:lnTo>
                <a:lnTo>
                  <a:pt x="1813623" y="1267527"/>
                </a:lnTo>
                <a:lnTo>
                  <a:pt x="1838292" y="1291786"/>
                </a:lnTo>
                <a:lnTo>
                  <a:pt x="1851014" y="1289366"/>
                </a:lnTo>
                <a:lnTo>
                  <a:pt x="1853162" y="1308190"/>
                </a:lnTo>
                <a:lnTo>
                  <a:pt x="1879790" y="1314118"/>
                </a:lnTo>
                <a:lnTo>
                  <a:pt x="1880671" y="1327567"/>
                </a:lnTo>
                <a:lnTo>
                  <a:pt x="1897011" y="1348758"/>
                </a:lnTo>
                <a:lnTo>
                  <a:pt x="1903442" y="1367217"/>
                </a:lnTo>
                <a:lnTo>
                  <a:pt x="1909023" y="1365673"/>
                </a:lnTo>
                <a:lnTo>
                  <a:pt x="1915489" y="1372163"/>
                </a:lnTo>
                <a:lnTo>
                  <a:pt x="1913786" y="1378748"/>
                </a:lnTo>
                <a:lnTo>
                  <a:pt x="1922627" y="1388506"/>
                </a:lnTo>
                <a:lnTo>
                  <a:pt x="1933305" y="1387532"/>
                </a:lnTo>
                <a:lnTo>
                  <a:pt x="1934156" y="1407000"/>
                </a:lnTo>
                <a:lnTo>
                  <a:pt x="1946985" y="1409793"/>
                </a:lnTo>
                <a:lnTo>
                  <a:pt x="1967666" y="1441854"/>
                </a:lnTo>
                <a:lnTo>
                  <a:pt x="1977792" y="1442261"/>
                </a:lnTo>
                <a:lnTo>
                  <a:pt x="1993271" y="1461895"/>
                </a:lnTo>
                <a:lnTo>
                  <a:pt x="1999537" y="1457083"/>
                </a:lnTo>
                <a:lnTo>
                  <a:pt x="2018198" y="1462263"/>
                </a:lnTo>
                <a:lnTo>
                  <a:pt x="2027994" y="1475194"/>
                </a:lnTo>
                <a:close/>
              </a:path>
            </a:pathLst>
          </a:custGeom>
          <a:solidFill>
            <a:srgbClr val="E3EBF6"/>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0" name="2022 provincial petrol/diesel sales: WC"/>
          <p:cNvSpPr/>
          <p:nvPr/>
        </p:nvSpPr>
        <p:spPr>
          <a:xfrm>
            <a:off x="2284853" y="5322748"/>
            <a:ext cx="5752" cy="7186"/>
          </a:xfrm>
          <a:custGeom>
            <a:avLst/>
            <a:gdLst/>
            <a:ahLst/>
            <a:cxnLst/>
            <a:rect l="l" t="t" r="r" b="b"/>
            <a:pathLst>
              <a:path w="5752" h="7186">
                <a:moveTo>
                  <a:pt x="3500" y="0"/>
                </a:moveTo>
                <a:lnTo>
                  <a:pt x="5752" y="5055"/>
                </a:lnTo>
                <a:lnTo>
                  <a:pt x="3290" y="7186"/>
                </a:lnTo>
                <a:lnTo>
                  <a:pt x="0" y="2653"/>
                </a:lnTo>
                <a:lnTo>
                  <a:pt x="3500" y="0"/>
                </a:lnTo>
                <a:close/>
              </a:path>
            </a:pathLst>
          </a:custGeom>
          <a:solidFill>
            <a:srgbClr val="809CC7"/>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1" name="2022 provincial petrol/diesel sales: WC"/>
          <p:cNvSpPr/>
          <p:nvPr/>
        </p:nvSpPr>
        <p:spPr>
          <a:xfrm>
            <a:off x="2220092" y="5229576"/>
            <a:ext cx="3544" cy="4871"/>
          </a:xfrm>
          <a:custGeom>
            <a:avLst/>
            <a:gdLst/>
            <a:ahLst/>
            <a:cxnLst/>
            <a:rect l="l" t="t" r="r" b="b"/>
            <a:pathLst>
              <a:path w="3544" h="4871">
                <a:moveTo>
                  <a:pt x="0" y="4871"/>
                </a:moveTo>
                <a:lnTo>
                  <a:pt x="1386" y="0"/>
                </a:lnTo>
                <a:lnTo>
                  <a:pt x="3544" y="4547"/>
                </a:lnTo>
                <a:lnTo>
                  <a:pt x="0" y="4871"/>
                </a:lnTo>
                <a:close/>
              </a:path>
            </a:pathLst>
          </a:custGeom>
          <a:solidFill>
            <a:srgbClr val="809CC7"/>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2" name="2022 provincial petrol/diesel sales: WC"/>
          <p:cNvSpPr/>
          <p:nvPr/>
        </p:nvSpPr>
        <p:spPr>
          <a:xfrm>
            <a:off x="2112260" y="4460901"/>
            <a:ext cx="1422285" cy="1110490"/>
          </a:xfrm>
          <a:custGeom>
            <a:avLst/>
            <a:gdLst/>
            <a:ahLst/>
            <a:cxnLst/>
            <a:rect l="l" t="t" r="r" b="b"/>
            <a:pathLst>
              <a:path w="1422285" h="1110490">
                <a:moveTo>
                  <a:pt x="1388914" y="313955"/>
                </a:moveTo>
                <a:lnTo>
                  <a:pt x="1413570" y="315353"/>
                </a:lnTo>
                <a:lnTo>
                  <a:pt x="1407278" y="317751"/>
                </a:lnTo>
                <a:lnTo>
                  <a:pt x="1407012" y="326048"/>
                </a:lnTo>
                <a:lnTo>
                  <a:pt x="1400506" y="324117"/>
                </a:lnTo>
                <a:lnTo>
                  <a:pt x="1396647" y="339411"/>
                </a:lnTo>
                <a:lnTo>
                  <a:pt x="1409480" y="338180"/>
                </a:lnTo>
                <a:lnTo>
                  <a:pt x="1422285" y="351706"/>
                </a:lnTo>
                <a:lnTo>
                  <a:pt x="1415188" y="366234"/>
                </a:lnTo>
                <a:lnTo>
                  <a:pt x="1404603" y="366172"/>
                </a:lnTo>
                <a:lnTo>
                  <a:pt x="1404726" y="376313"/>
                </a:lnTo>
                <a:lnTo>
                  <a:pt x="1396433" y="381115"/>
                </a:lnTo>
                <a:lnTo>
                  <a:pt x="1395435" y="391581"/>
                </a:lnTo>
                <a:lnTo>
                  <a:pt x="1397950" y="384787"/>
                </a:lnTo>
                <a:lnTo>
                  <a:pt x="1403662" y="394681"/>
                </a:lnTo>
                <a:lnTo>
                  <a:pt x="1396036" y="405190"/>
                </a:lnTo>
                <a:lnTo>
                  <a:pt x="1382502" y="403797"/>
                </a:lnTo>
                <a:lnTo>
                  <a:pt x="1380948" y="412852"/>
                </a:lnTo>
                <a:lnTo>
                  <a:pt x="1365879" y="416318"/>
                </a:lnTo>
                <a:lnTo>
                  <a:pt x="1351020" y="428843"/>
                </a:lnTo>
                <a:lnTo>
                  <a:pt x="1323379" y="409626"/>
                </a:lnTo>
                <a:lnTo>
                  <a:pt x="1302711" y="424931"/>
                </a:lnTo>
                <a:lnTo>
                  <a:pt x="1298206" y="440420"/>
                </a:lnTo>
                <a:lnTo>
                  <a:pt x="1304716" y="448298"/>
                </a:lnTo>
                <a:lnTo>
                  <a:pt x="1301889" y="452198"/>
                </a:lnTo>
                <a:lnTo>
                  <a:pt x="1254837" y="447423"/>
                </a:lnTo>
                <a:lnTo>
                  <a:pt x="1246581" y="464400"/>
                </a:lnTo>
                <a:lnTo>
                  <a:pt x="1229754" y="454901"/>
                </a:lnTo>
                <a:lnTo>
                  <a:pt x="1224342" y="466434"/>
                </a:lnTo>
                <a:lnTo>
                  <a:pt x="1205848" y="474161"/>
                </a:lnTo>
                <a:lnTo>
                  <a:pt x="1211173" y="496639"/>
                </a:lnTo>
                <a:lnTo>
                  <a:pt x="1220800" y="506210"/>
                </a:lnTo>
                <a:lnTo>
                  <a:pt x="1225188" y="521599"/>
                </a:lnTo>
                <a:lnTo>
                  <a:pt x="1224052" y="531891"/>
                </a:lnTo>
                <a:lnTo>
                  <a:pt x="1217259" y="537028"/>
                </a:lnTo>
                <a:lnTo>
                  <a:pt x="1231088" y="545044"/>
                </a:lnTo>
                <a:lnTo>
                  <a:pt x="1235377" y="560376"/>
                </a:lnTo>
                <a:lnTo>
                  <a:pt x="1245356" y="560156"/>
                </a:lnTo>
                <a:lnTo>
                  <a:pt x="1241456" y="575951"/>
                </a:lnTo>
                <a:lnTo>
                  <a:pt x="1199892" y="561839"/>
                </a:lnTo>
                <a:lnTo>
                  <a:pt x="1178808" y="570296"/>
                </a:lnTo>
                <a:lnTo>
                  <a:pt x="1184926" y="585244"/>
                </a:lnTo>
                <a:lnTo>
                  <a:pt x="1161449" y="589433"/>
                </a:lnTo>
                <a:lnTo>
                  <a:pt x="1149145" y="609402"/>
                </a:lnTo>
                <a:lnTo>
                  <a:pt x="1153777" y="620405"/>
                </a:lnTo>
                <a:lnTo>
                  <a:pt x="1146330" y="627774"/>
                </a:lnTo>
                <a:lnTo>
                  <a:pt x="1151156" y="640857"/>
                </a:lnTo>
                <a:lnTo>
                  <a:pt x="1116809" y="701394"/>
                </a:lnTo>
                <a:lnTo>
                  <a:pt x="1105937" y="705870"/>
                </a:lnTo>
                <a:lnTo>
                  <a:pt x="1105560" y="723986"/>
                </a:lnTo>
                <a:lnTo>
                  <a:pt x="1114002" y="730209"/>
                </a:lnTo>
                <a:lnTo>
                  <a:pt x="1148479" y="731969"/>
                </a:lnTo>
                <a:lnTo>
                  <a:pt x="1191240" y="720616"/>
                </a:lnTo>
                <a:lnTo>
                  <a:pt x="1226115" y="720335"/>
                </a:lnTo>
                <a:lnTo>
                  <a:pt x="1240781" y="738821"/>
                </a:lnTo>
                <a:lnTo>
                  <a:pt x="1238728" y="733586"/>
                </a:lnTo>
                <a:lnTo>
                  <a:pt x="1268953" y="733752"/>
                </a:lnTo>
                <a:lnTo>
                  <a:pt x="1292399" y="747000"/>
                </a:lnTo>
                <a:lnTo>
                  <a:pt x="1290981" y="766485"/>
                </a:lnTo>
                <a:lnTo>
                  <a:pt x="1308040" y="779926"/>
                </a:lnTo>
                <a:lnTo>
                  <a:pt x="1307216" y="791875"/>
                </a:lnTo>
                <a:lnTo>
                  <a:pt x="1289112" y="792141"/>
                </a:lnTo>
                <a:lnTo>
                  <a:pt x="1282747" y="786796"/>
                </a:lnTo>
                <a:lnTo>
                  <a:pt x="1279648" y="799111"/>
                </a:lnTo>
                <a:lnTo>
                  <a:pt x="1258022" y="803961"/>
                </a:lnTo>
                <a:lnTo>
                  <a:pt x="1248702" y="823334"/>
                </a:lnTo>
                <a:lnTo>
                  <a:pt x="1268863" y="826868"/>
                </a:lnTo>
                <a:lnTo>
                  <a:pt x="1275136" y="820288"/>
                </a:lnTo>
                <a:lnTo>
                  <a:pt x="1283416" y="823069"/>
                </a:lnTo>
                <a:lnTo>
                  <a:pt x="1284523" y="832141"/>
                </a:lnTo>
                <a:lnTo>
                  <a:pt x="1314851" y="840760"/>
                </a:lnTo>
                <a:lnTo>
                  <a:pt x="1300924" y="853434"/>
                </a:lnTo>
                <a:lnTo>
                  <a:pt x="1303204" y="870686"/>
                </a:lnTo>
                <a:lnTo>
                  <a:pt x="1253274" y="881246"/>
                </a:lnTo>
                <a:lnTo>
                  <a:pt x="1244794" y="896550"/>
                </a:lnTo>
                <a:lnTo>
                  <a:pt x="1252468" y="904807"/>
                </a:lnTo>
                <a:lnTo>
                  <a:pt x="1167396" y="896051"/>
                </a:lnTo>
                <a:lnTo>
                  <a:pt x="1161380" y="901796"/>
                </a:lnTo>
                <a:lnTo>
                  <a:pt x="1121878" y="886424"/>
                </a:lnTo>
                <a:lnTo>
                  <a:pt x="1075660" y="878289"/>
                </a:lnTo>
                <a:lnTo>
                  <a:pt x="1055528" y="893054"/>
                </a:lnTo>
                <a:lnTo>
                  <a:pt x="1000917" y="896365"/>
                </a:lnTo>
                <a:lnTo>
                  <a:pt x="979247" y="911738"/>
                </a:lnTo>
                <a:lnTo>
                  <a:pt x="977112" y="923847"/>
                </a:lnTo>
                <a:lnTo>
                  <a:pt x="984547" y="926297"/>
                </a:lnTo>
                <a:lnTo>
                  <a:pt x="987485" y="929486"/>
                </a:lnTo>
                <a:lnTo>
                  <a:pt x="944369" y="941128"/>
                </a:lnTo>
                <a:lnTo>
                  <a:pt x="935254" y="952814"/>
                </a:lnTo>
                <a:lnTo>
                  <a:pt x="942546" y="959724"/>
                </a:lnTo>
                <a:lnTo>
                  <a:pt x="919709" y="979233"/>
                </a:lnTo>
                <a:lnTo>
                  <a:pt x="890286" y="985112"/>
                </a:lnTo>
                <a:lnTo>
                  <a:pt x="853132" y="976524"/>
                </a:lnTo>
                <a:lnTo>
                  <a:pt x="834022" y="981081"/>
                </a:lnTo>
                <a:lnTo>
                  <a:pt x="833622" y="986708"/>
                </a:lnTo>
                <a:lnTo>
                  <a:pt x="821804" y="994387"/>
                </a:lnTo>
                <a:lnTo>
                  <a:pt x="806492" y="998967"/>
                </a:lnTo>
                <a:lnTo>
                  <a:pt x="764031" y="984466"/>
                </a:lnTo>
                <a:lnTo>
                  <a:pt x="728081" y="982929"/>
                </a:lnTo>
                <a:lnTo>
                  <a:pt x="711159" y="992458"/>
                </a:lnTo>
                <a:lnTo>
                  <a:pt x="715968" y="1005109"/>
                </a:lnTo>
                <a:lnTo>
                  <a:pt x="711044" y="1011429"/>
                </a:lnTo>
                <a:lnTo>
                  <a:pt x="669990" y="1006509"/>
                </a:lnTo>
                <a:lnTo>
                  <a:pt x="643671" y="1013021"/>
                </a:lnTo>
                <a:lnTo>
                  <a:pt x="626062" y="1023868"/>
                </a:lnTo>
                <a:lnTo>
                  <a:pt x="617097" y="1039765"/>
                </a:lnTo>
                <a:lnTo>
                  <a:pt x="585693" y="1060015"/>
                </a:lnTo>
                <a:lnTo>
                  <a:pt x="583964" y="1071886"/>
                </a:lnTo>
                <a:lnTo>
                  <a:pt x="569509" y="1073654"/>
                </a:lnTo>
                <a:lnTo>
                  <a:pt x="551432" y="1084784"/>
                </a:lnTo>
                <a:lnTo>
                  <a:pt x="545161" y="1094831"/>
                </a:lnTo>
                <a:lnTo>
                  <a:pt x="548906" y="1102675"/>
                </a:lnTo>
                <a:lnTo>
                  <a:pt x="535474" y="1110490"/>
                </a:lnTo>
                <a:lnTo>
                  <a:pt x="507980" y="1094237"/>
                </a:lnTo>
                <a:lnTo>
                  <a:pt x="471107" y="1095065"/>
                </a:lnTo>
                <a:lnTo>
                  <a:pt x="458819" y="1100804"/>
                </a:lnTo>
                <a:lnTo>
                  <a:pt x="457140" y="1093822"/>
                </a:lnTo>
                <a:lnTo>
                  <a:pt x="450342" y="1093043"/>
                </a:lnTo>
                <a:lnTo>
                  <a:pt x="432430" y="1073537"/>
                </a:lnTo>
                <a:lnTo>
                  <a:pt x="417391" y="1070254"/>
                </a:lnTo>
                <a:lnTo>
                  <a:pt x="408556" y="1058323"/>
                </a:lnTo>
                <a:lnTo>
                  <a:pt x="383927" y="1066267"/>
                </a:lnTo>
                <a:lnTo>
                  <a:pt x="400739" y="1042158"/>
                </a:lnTo>
                <a:lnTo>
                  <a:pt x="391632" y="1021744"/>
                </a:lnTo>
                <a:lnTo>
                  <a:pt x="376973" y="1009082"/>
                </a:lnTo>
                <a:lnTo>
                  <a:pt x="365324" y="1017121"/>
                </a:lnTo>
                <a:lnTo>
                  <a:pt x="348965" y="1014246"/>
                </a:lnTo>
                <a:lnTo>
                  <a:pt x="326620" y="994249"/>
                </a:lnTo>
                <a:lnTo>
                  <a:pt x="281448" y="1008701"/>
                </a:lnTo>
                <a:lnTo>
                  <a:pt x="277112" y="986051"/>
                </a:lnTo>
                <a:lnTo>
                  <a:pt x="285756" y="973683"/>
                </a:lnTo>
                <a:lnTo>
                  <a:pt x="276845" y="958182"/>
                </a:lnTo>
                <a:lnTo>
                  <a:pt x="286951" y="949702"/>
                </a:lnTo>
                <a:lnTo>
                  <a:pt x="265696" y="931365"/>
                </a:lnTo>
                <a:lnTo>
                  <a:pt x="235215" y="930556"/>
                </a:lnTo>
                <a:lnTo>
                  <a:pt x="201270" y="941772"/>
                </a:lnTo>
                <a:lnTo>
                  <a:pt x="194055" y="950301"/>
                </a:lnTo>
                <a:lnTo>
                  <a:pt x="193454" y="962047"/>
                </a:lnTo>
                <a:lnTo>
                  <a:pt x="205058" y="973095"/>
                </a:lnTo>
                <a:lnTo>
                  <a:pt x="202955" y="995441"/>
                </a:lnTo>
                <a:lnTo>
                  <a:pt x="211490" y="1004682"/>
                </a:lnTo>
                <a:lnTo>
                  <a:pt x="190040" y="993428"/>
                </a:lnTo>
                <a:lnTo>
                  <a:pt x="181836" y="965055"/>
                </a:lnTo>
                <a:lnTo>
                  <a:pt x="170111" y="953546"/>
                </a:lnTo>
                <a:lnTo>
                  <a:pt x="176611" y="947367"/>
                </a:lnTo>
                <a:lnTo>
                  <a:pt x="179348" y="931068"/>
                </a:lnTo>
                <a:lnTo>
                  <a:pt x="165881" y="925870"/>
                </a:lnTo>
                <a:lnTo>
                  <a:pt x="178382" y="908350"/>
                </a:lnTo>
                <a:lnTo>
                  <a:pt x="183070" y="889228"/>
                </a:lnTo>
                <a:lnTo>
                  <a:pt x="190700" y="888031"/>
                </a:lnTo>
                <a:lnTo>
                  <a:pt x="187235" y="891101"/>
                </a:lnTo>
                <a:lnTo>
                  <a:pt x="193489" y="893692"/>
                </a:lnTo>
                <a:lnTo>
                  <a:pt x="191731" y="889356"/>
                </a:lnTo>
                <a:lnTo>
                  <a:pt x="197622" y="891329"/>
                </a:lnTo>
                <a:lnTo>
                  <a:pt x="201251" y="885525"/>
                </a:lnTo>
                <a:lnTo>
                  <a:pt x="188198" y="835591"/>
                </a:lnTo>
                <a:lnTo>
                  <a:pt x="168675" y="807481"/>
                </a:lnTo>
                <a:lnTo>
                  <a:pt x="158326" y="804635"/>
                </a:lnTo>
                <a:lnTo>
                  <a:pt x="161352" y="792123"/>
                </a:lnTo>
                <a:lnTo>
                  <a:pt x="156908" y="783218"/>
                </a:lnTo>
                <a:lnTo>
                  <a:pt x="120527" y="752912"/>
                </a:lnTo>
                <a:lnTo>
                  <a:pt x="122266" y="744768"/>
                </a:lnTo>
                <a:lnTo>
                  <a:pt x="109998" y="724284"/>
                </a:lnTo>
                <a:lnTo>
                  <a:pt x="89053" y="703683"/>
                </a:lnTo>
                <a:lnTo>
                  <a:pt x="86684" y="701926"/>
                </a:lnTo>
                <a:lnTo>
                  <a:pt x="79036" y="699556"/>
                </a:lnTo>
                <a:lnTo>
                  <a:pt x="74586" y="691841"/>
                </a:lnTo>
                <a:lnTo>
                  <a:pt x="79704" y="681435"/>
                </a:lnTo>
                <a:lnTo>
                  <a:pt x="85465" y="684198"/>
                </a:lnTo>
                <a:lnTo>
                  <a:pt x="80859" y="688682"/>
                </a:lnTo>
                <a:lnTo>
                  <a:pt x="87635" y="688466"/>
                </a:lnTo>
                <a:lnTo>
                  <a:pt x="90918" y="700800"/>
                </a:lnTo>
                <a:lnTo>
                  <a:pt x="106887" y="715038"/>
                </a:lnTo>
                <a:lnTo>
                  <a:pt x="112747" y="711678"/>
                </a:lnTo>
                <a:lnTo>
                  <a:pt x="91825" y="690618"/>
                </a:lnTo>
                <a:lnTo>
                  <a:pt x="90027" y="669857"/>
                </a:lnTo>
                <a:lnTo>
                  <a:pt x="82741" y="666187"/>
                </a:lnTo>
                <a:lnTo>
                  <a:pt x="80144" y="672604"/>
                </a:lnTo>
                <a:lnTo>
                  <a:pt x="82392" y="664176"/>
                </a:lnTo>
                <a:lnTo>
                  <a:pt x="76253" y="663602"/>
                </a:lnTo>
                <a:lnTo>
                  <a:pt x="71684" y="666672"/>
                </a:lnTo>
                <a:lnTo>
                  <a:pt x="77945" y="673504"/>
                </a:lnTo>
                <a:lnTo>
                  <a:pt x="77621" y="675997"/>
                </a:lnTo>
                <a:lnTo>
                  <a:pt x="72157" y="671370"/>
                </a:lnTo>
                <a:lnTo>
                  <a:pt x="64810" y="678610"/>
                </a:lnTo>
                <a:lnTo>
                  <a:pt x="60893" y="675984"/>
                </a:lnTo>
                <a:lnTo>
                  <a:pt x="62592" y="669268"/>
                </a:lnTo>
                <a:lnTo>
                  <a:pt x="55401" y="664004"/>
                </a:lnTo>
                <a:lnTo>
                  <a:pt x="57069" y="647838"/>
                </a:lnTo>
                <a:lnTo>
                  <a:pt x="50742" y="641839"/>
                </a:lnTo>
                <a:lnTo>
                  <a:pt x="55662" y="630570"/>
                </a:lnTo>
                <a:lnTo>
                  <a:pt x="46629" y="621615"/>
                </a:lnTo>
                <a:lnTo>
                  <a:pt x="58670" y="614853"/>
                </a:lnTo>
                <a:lnTo>
                  <a:pt x="56297" y="599648"/>
                </a:lnTo>
                <a:lnTo>
                  <a:pt x="71179" y="588009"/>
                </a:lnTo>
                <a:lnTo>
                  <a:pt x="91507" y="608266"/>
                </a:lnTo>
                <a:lnTo>
                  <a:pt x="109365" y="604394"/>
                </a:lnTo>
                <a:lnTo>
                  <a:pt x="131120" y="578706"/>
                </a:lnTo>
                <a:lnTo>
                  <a:pt x="142140" y="554568"/>
                </a:lnTo>
                <a:lnTo>
                  <a:pt x="146777" y="522928"/>
                </a:lnTo>
                <a:lnTo>
                  <a:pt x="139958" y="485536"/>
                </a:lnTo>
                <a:lnTo>
                  <a:pt x="145022" y="484479"/>
                </a:lnTo>
                <a:lnTo>
                  <a:pt x="146075" y="476060"/>
                </a:lnTo>
                <a:lnTo>
                  <a:pt x="133801" y="433726"/>
                </a:lnTo>
                <a:lnTo>
                  <a:pt x="136165" y="422648"/>
                </a:lnTo>
                <a:lnTo>
                  <a:pt x="123549" y="389670"/>
                </a:lnTo>
                <a:lnTo>
                  <a:pt x="126096" y="378898"/>
                </a:lnTo>
                <a:lnTo>
                  <a:pt x="113959" y="358778"/>
                </a:lnTo>
                <a:lnTo>
                  <a:pt x="111221" y="340294"/>
                </a:lnTo>
                <a:lnTo>
                  <a:pt x="84190" y="298438"/>
                </a:lnTo>
                <a:lnTo>
                  <a:pt x="34565" y="244223"/>
                </a:lnTo>
                <a:lnTo>
                  <a:pt x="24920" y="220581"/>
                </a:lnTo>
                <a:lnTo>
                  <a:pt x="0" y="194999"/>
                </a:lnTo>
                <a:lnTo>
                  <a:pt x="17251" y="200232"/>
                </a:lnTo>
                <a:lnTo>
                  <a:pt x="10815" y="179075"/>
                </a:lnTo>
                <a:lnTo>
                  <a:pt x="34772" y="156781"/>
                </a:lnTo>
                <a:lnTo>
                  <a:pt x="23236" y="135041"/>
                </a:lnTo>
                <a:lnTo>
                  <a:pt x="48014" y="132205"/>
                </a:lnTo>
                <a:lnTo>
                  <a:pt x="48883" y="99434"/>
                </a:lnTo>
                <a:lnTo>
                  <a:pt x="65173" y="96821"/>
                </a:lnTo>
                <a:lnTo>
                  <a:pt x="85590" y="111968"/>
                </a:lnTo>
                <a:lnTo>
                  <a:pt x="94769" y="101652"/>
                </a:lnTo>
                <a:lnTo>
                  <a:pt x="103457" y="105536"/>
                </a:lnTo>
                <a:lnTo>
                  <a:pt x="127198" y="61100"/>
                </a:lnTo>
                <a:lnTo>
                  <a:pt x="126218" y="43830"/>
                </a:lnTo>
                <a:lnTo>
                  <a:pt x="134666" y="26746"/>
                </a:lnTo>
                <a:lnTo>
                  <a:pt x="126329" y="9847"/>
                </a:lnTo>
                <a:lnTo>
                  <a:pt x="159776" y="45646"/>
                </a:lnTo>
                <a:lnTo>
                  <a:pt x="150015" y="24491"/>
                </a:lnTo>
                <a:lnTo>
                  <a:pt x="152982" y="4450"/>
                </a:lnTo>
                <a:lnTo>
                  <a:pt x="167803" y="0"/>
                </a:lnTo>
                <a:lnTo>
                  <a:pt x="188398" y="31307"/>
                </a:lnTo>
                <a:lnTo>
                  <a:pt x="211424" y="32931"/>
                </a:lnTo>
                <a:lnTo>
                  <a:pt x="220422" y="47066"/>
                </a:lnTo>
                <a:lnTo>
                  <a:pt x="220716" y="58016"/>
                </a:lnTo>
                <a:lnTo>
                  <a:pt x="236503" y="69875"/>
                </a:lnTo>
                <a:lnTo>
                  <a:pt x="256489" y="75916"/>
                </a:lnTo>
                <a:lnTo>
                  <a:pt x="260030" y="106852"/>
                </a:lnTo>
                <a:lnTo>
                  <a:pt x="241587" y="113185"/>
                </a:lnTo>
                <a:lnTo>
                  <a:pt x="266401" y="126958"/>
                </a:lnTo>
                <a:lnTo>
                  <a:pt x="250859" y="136256"/>
                </a:lnTo>
                <a:lnTo>
                  <a:pt x="249901" y="152422"/>
                </a:lnTo>
                <a:lnTo>
                  <a:pt x="260576" y="170104"/>
                </a:lnTo>
                <a:lnTo>
                  <a:pt x="261598" y="201950"/>
                </a:lnTo>
                <a:lnTo>
                  <a:pt x="267063" y="213761"/>
                </a:lnTo>
                <a:lnTo>
                  <a:pt x="277566" y="218651"/>
                </a:lnTo>
                <a:lnTo>
                  <a:pt x="271040" y="231695"/>
                </a:lnTo>
                <a:lnTo>
                  <a:pt x="285760" y="248815"/>
                </a:lnTo>
                <a:lnTo>
                  <a:pt x="278894" y="271482"/>
                </a:lnTo>
                <a:lnTo>
                  <a:pt x="296428" y="274411"/>
                </a:lnTo>
                <a:lnTo>
                  <a:pt x="289697" y="286484"/>
                </a:lnTo>
                <a:lnTo>
                  <a:pt x="297035" y="285948"/>
                </a:lnTo>
                <a:lnTo>
                  <a:pt x="298503" y="292469"/>
                </a:lnTo>
                <a:lnTo>
                  <a:pt x="291708" y="311401"/>
                </a:lnTo>
                <a:lnTo>
                  <a:pt x="301476" y="331397"/>
                </a:lnTo>
                <a:lnTo>
                  <a:pt x="295559" y="335745"/>
                </a:lnTo>
                <a:lnTo>
                  <a:pt x="300442" y="342571"/>
                </a:lnTo>
                <a:lnTo>
                  <a:pt x="288582" y="353491"/>
                </a:lnTo>
                <a:lnTo>
                  <a:pt x="288280" y="364479"/>
                </a:lnTo>
                <a:lnTo>
                  <a:pt x="313946" y="372260"/>
                </a:lnTo>
                <a:lnTo>
                  <a:pt x="326459" y="369759"/>
                </a:lnTo>
                <a:lnTo>
                  <a:pt x="329440" y="380702"/>
                </a:lnTo>
                <a:lnTo>
                  <a:pt x="345516" y="358115"/>
                </a:lnTo>
                <a:lnTo>
                  <a:pt x="344406" y="388076"/>
                </a:lnTo>
                <a:lnTo>
                  <a:pt x="346903" y="384209"/>
                </a:lnTo>
                <a:lnTo>
                  <a:pt x="354452" y="388886"/>
                </a:lnTo>
                <a:lnTo>
                  <a:pt x="363834" y="403304"/>
                </a:lnTo>
                <a:lnTo>
                  <a:pt x="370627" y="395867"/>
                </a:lnTo>
                <a:lnTo>
                  <a:pt x="377378" y="399691"/>
                </a:lnTo>
                <a:lnTo>
                  <a:pt x="391089" y="410588"/>
                </a:lnTo>
                <a:lnTo>
                  <a:pt x="392153" y="422024"/>
                </a:lnTo>
                <a:lnTo>
                  <a:pt x="395830" y="412851"/>
                </a:lnTo>
                <a:lnTo>
                  <a:pt x="397873" y="420214"/>
                </a:lnTo>
                <a:lnTo>
                  <a:pt x="389581" y="428577"/>
                </a:lnTo>
                <a:lnTo>
                  <a:pt x="395698" y="436891"/>
                </a:lnTo>
                <a:lnTo>
                  <a:pt x="394567" y="455359"/>
                </a:lnTo>
                <a:lnTo>
                  <a:pt x="377077" y="466031"/>
                </a:lnTo>
                <a:lnTo>
                  <a:pt x="382641" y="485146"/>
                </a:lnTo>
                <a:lnTo>
                  <a:pt x="402862" y="514973"/>
                </a:lnTo>
                <a:lnTo>
                  <a:pt x="397489" y="535621"/>
                </a:lnTo>
                <a:lnTo>
                  <a:pt x="407840" y="562754"/>
                </a:lnTo>
                <a:lnTo>
                  <a:pt x="423862" y="550779"/>
                </a:lnTo>
                <a:lnTo>
                  <a:pt x="425516" y="509998"/>
                </a:lnTo>
                <a:lnTo>
                  <a:pt x="432270" y="501525"/>
                </a:lnTo>
                <a:lnTo>
                  <a:pt x="437967" y="507599"/>
                </a:lnTo>
                <a:lnTo>
                  <a:pt x="448646" y="501690"/>
                </a:lnTo>
                <a:lnTo>
                  <a:pt x="443422" y="496279"/>
                </a:lnTo>
                <a:lnTo>
                  <a:pt x="449330" y="487094"/>
                </a:lnTo>
                <a:lnTo>
                  <a:pt x="455608" y="493368"/>
                </a:lnTo>
                <a:lnTo>
                  <a:pt x="466632" y="479957"/>
                </a:lnTo>
                <a:lnTo>
                  <a:pt x="479067" y="485162"/>
                </a:lnTo>
                <a:lnTo>
                  <a:pt x="492789" y="483040"/>
                </a:lnTo>
                <a:lnTo>
                  <a:pt x="513787" y="461418"/>
                </a:lnTo>
                <a:lnTo>
                  <a:pt x="516532" y="449995"/>
                </a:lnTo>
                <a:lnTo>
                  <a:pt x="525924" y="449064"/>
                </a:lnTo>
                <a:lnTo>
                  <a:pt x="533728" y="433897"/>
                </a:lnTo>
                <a:lnTo>
                  <a:pt x="543429" y="431485"/>
                </a:lnTo>
                <a:lnTo>
                  <a:pt x="540741" y="442613"/>
                </a:lnTo>
                <a:lnTo>
                  <a:pt x="556886" y="441098"/>
                </a:lnTo>
                <a:lnTo>
                  <a:pt x="560740" y="463137"/>
                </a:lnTo>
                <a:lnTo>
                  <a:pt x="552375" y="461512"/>
                </a:lnTo>
                <a:lnTo>
                  <a:pt x="535478" y="492435"/>
                </a:lnTo>
                <a:lnTo>
                  <a:pt x="523848" y="486829"/>
                </a:lnTo>
                <a:lnTo>
                  <a:pt x="533432" y="530717"/>
                </a:lnTo>
                <a:lnTo>
                  <a:pt x="539998" y="549272"/>
                </a:lnTo>
                <a:lnTo>
                  <a:pt x="551401" y="559557"/>
                </a:lnTo>
                <a:lnTo>
                  <a:pt x="551270" y="576701"/>
                </a:lnTo>
                <a:lnTo>
                  <a:pt x="558420" y="584618"/>
                </a:lnTo>
                <a:lnTo>
                  <a:pt x="576107" y="589069"/>
                </a:lnTo>
                <a:lnTo>
                  <a:pt x="589120" y="603683"/>
                </a:lnTo>
                <a:lnTo>
                  <a:pt x="591079" y="615572"/>
                </a:lnTo>
                <a:lnTo>
                  <a:pt x="594469" y="613141"/>
                </a:lnTo>
                <a:lnTo>
                  <a:pt x="607510" y="622406"/>
                </a:lnTo>
                <a:lnTo>
                  <a:pt x="620615" y="622292"/>
                </a:lnTo>
                <a:lnTo>
                  <a:pt x="633333" y="606264"/>
                </a:lnTo>
                <a:lnTo>
                  <a:pt x="640202" y="621879"/>
                </a:lnTo>
                <a:lnTo>
                  <a:pt x="670650" y="621247"/>
                </a:lnTo>
                <a:lnTo>
                  <a:pt x="673139" y="612934"/>
                </a:lnTo>
                <a:lnTo>
                  <a:pt x="684684" y="607865"/>
                </a:lnTo>
                <a:lnTo>
                  <a:pt x="691232" y="587814"/>
                </a:lnTo>
                <a:lnTo>
                  <a:pt x="680983" y="561010"/>
                </a:lnTo>
                <a:lnTo>
                  <a:pt x="692238" y="548109"/>
                </a:lnTo>
                <a:lnTo>
                  <a:pt x="717693" y="541280"/>
                </a:lnTo>
                <a:lnTo>
                  <a:pt x="746317" y="543809"/>
                </a:lnTo>
                <a:lnTo>
                  <a:pt x="759626" y="537195"/>
                </a:lnTo>
                <a:lnTo>
                  <a:pt x="755620" y="527301"/>
                </a:lnTo>
                <a:lnTo>
                  <a:pt x="763983" y="506263"/>
                </a:lnTo>
                <a:lnTo>
                  <a:pt x="784935" y="487915"/>
                </a:lnTo>
                <a:lnTo>
                  <a:pt x="788730" y="471817"/>
                </a:lnTo>
                <a:lnTo>
                  <a:pt x="799994" y="475112"/>
                </a:lnTo>
                <a:lnTo>
                  <a:pt x="816578" y="470407"/>
                </a:lnTo>
                <a:lnTo>
                  <a:pt x="826151" y="458919"/>
                </a:lnTo>
                <a:lnTo>
                  <a:pt x="843233" y="456075"/>
                </a:lnTo>
                <a:lnTo>
                  <a:pt x="838437" y="432380"/>
                </a:lnTo>
                <a:lnTo>
                  <a:pt x="861883" y="426440"/>
                </a:lnTo>
                <a:lnTo>
                  <a:pt x="872426" y="436338"/>
                </a:lnTo>
                <a:lnTo>
                  <a:pt x="881713" y="424928"/>
                </a:lnTo>
                <a:lnTo>
                  <a:pt x="891785" y="436396"/>
                </a:lnTo>
                <a:lnTo>
                  <a:pt x="912309" y="442396"/>
                </a:lnTo>
                <a:lnTo>
                  <a:pt x="923165" y="438366"/>
                </a:lnTo>
                <a:lnTo>
                  <a:pt x="925409" y="428305"/>
                </a:lnTo>
                <a:lnTo>
                  <a:pt x="939060" y="423615"/>
                </a:lnTo>
                <a:lnTo>
                  <a:pt x="942106" y="400071"/>
                </a:lnTo>
                <a:lnTo>
                  <a:pt x="953449" y="391385"/>
                </a:lnTo>
                <a:lnTo>
                  <a:pt x="958263" y="407880"/>
                </a:lnTo>
                <a:lnTo>
                  <a:pt x="967362" y="386671"/>
                </a:lnTo>
                <a:lnTo>
                  <a:pt x="954012" y="375111"/>
                </a:lnTo>
                <a:lnTo>
                  <a:pt x="958444" y="370686"/>
                </a:lnTo>
                <a:lnTo>
                  <a:pt x="952870" y="355021"/>
                </a:lnTo>
                <a:lnTo>
                  <a:pt x="959238" y="344940"/>
                </a:lnTo>
                <a:lnTo>
                  <a:pt x="953944" y="333392"/>
                </a:lnTo>
                <a:lnTo>
                  <a:pt x="973351" y="342687"/>
                </a:lnTo>
                <a:lnTo>
                  <a:pt x="975123" y="324124"/>
                </a:lnTo>
                <a:lnTo>
                  <a:pt x="971334" y="321406"/>
                </a:lnTo>
                <a:lnTo>
                  <a:pt x="981361" y="316687"/>
                </a:lnTo>
                <a:lnTo>
                  <a:pt x="994670" y="265265"/>
                </a:lnTo>
                <a:lnTo>
                  <a:pt x="1003234" y="262742"/>
                </a:lnTo>
                <a:lnTo>
                  <a:pt x="1043911" y="284066"/>
                </a:lnTo>
                <a:lnTo>
                  <a:pt x="1059062" y="285684"/>
                </a:lnTo>
                <a:lnTo>
                  <a:pt x="1059549" y="294693"/>
                </a:lnTo>
                <a:lnTo>
                  <a:pt x="1071188" y="297389"/>
                </a:lnTo>
                <a:lnTo>
                  <a:pt x="1062732" y="318254"/>
                </a:lnTo>
                <a:lnTo>
                  <a:pt x="1070820" y="322528"/>
                </a:lnTo>
                <a:lnTo>
                  <a:pt x="1096951" y="315995"/>
                </a:lnTo>
                <a:lnTo>
                  <a:pt x="1106376" y="330533"/>
                </a:lnTo>
                <a:lnTo>
                  <a:pt x="1124112" y="320318"/>
                </a:lnTo>
                <a:lnTo>
                  <a:pt x="1133780" y="334848"/>
                </a:lnTo>
                <a:lnTo>
                  <a:pt x="1149842" y="330741"/>
                </a:lnTo>
                <a:lnTo>
                  <a:pt x="1163650" y="334756"/>
                </a:lnTo>
                <a:lnTo>
                  <a:pt x="1169971" y="338050"/>
                </a:lnTo>
                <a:lnTo>
                  <a:pt x="1168355" y="354476"/>
                </a:lnTo>
                <a:lnTo>
                  <a:pt x="1177143" y="360178"/>
                </a:lnTo>
                <a:lnTo>
                  <a:pt x="1205493" y="333633"/>
                </a:lnTo>
                <a:lnTo>
                  <a:pt x="1220657" y="296175"/>
                </a:lnTo>
                <a:lnTo>
                  <a:pt x="1243489" y="291669"/>
                </a:lnTo>
                <a:lnTo>
                  <a:pt x="1245386" y="281006"/>
                </a:lnTo>
                <a:lnTo>
                  <a:pt x="1269011" y="289165"/>
                </a:lnTo>
                <a:lnTo>
                  <a:pt x="1289672" y="274612"/>
                </a:lnTo>
                <a:lnTo>
                  <a:pt x="1310684" y="273762"/>
                </a:lnTo>
                <a:lnTo>
                  <a:pt x="1319871" y="286110"/>
                </a:lnTo>
                <a:lnTo>
                  <a:pt x="1338534" y="290867"/>
                </a:lnTo>
                <a:lnTo>
                  <a:pt x="1331441" y="303370"/>
                </a:lnTo>
                <a:lnTo>
                  <a:pt x="1337713" y="304394"/>
                </a:lnTo>
                <a:lnTo>
                  <a:pt x="1350327" y="321887"/>
                </a:lnTo>
                <a:lnTo>
                  <a:pt x="1362107" y="305548"/>
                </a:lnTo>
                <a:lnTo>
                  <a:pt x="1365096" y="288470"/>
                </a:lnTo>
                <a:lnTo>
                  <a:pt x="1383426" y="288318"/>
                </a:lnTo>
                <a:lnTo>
                  <a:pt x="1379470" y="294357"/>
                </a:lnTo>
                <a:lnTo>
                  <a:pt x="1388914" y="313955"/>
                </a:lnTo>
                <a:close/>
              </a:path>
            </a:pathLst>
          </a:custGeom>
          <a:solidFill>
            <a:srgbClr val="809CC7"/>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3" name="Working geographic region: Eastern coastal"/>
          <p:cNvSpPr/>
          <p:nvPr/>
        </p:nvSpPr>
        <p:spPr>
          <a:xfrm>
            <a:off x="3217820" y="3542692"/>
            <a:ext cx="2305921" cy="1846861"/>
          </a:xfrm>
          <a:custGeom>
            <a:avLst/>
            <a:gdLst/>
            <a:ahLst/>
            <a:cxnLst/>
            <a:rect l="l" t="t" r="r" b="b"/>
            <a:pathLst>
              <a:path w="2305921" h="1846861">
                <a:moveTo>
                  <a:pt x="1600396" y="1109780"/>
                </a:moveTo>
                <a:lnTo>
                  <a:pt x="1552222" y="1156893"/>
                </a:lnTo>
                <a:lnTo>
                  <a:pt x="1532452" y="1160172"/>
                </a:lnTo>
                <a:lnTo>
                  <a:pt x="1481036" y="1208706"/>
                </a:lnTo>
                <a:lnTo>
                  <a:pt x="1453741" y="1220233"/>
                </a:lnTo>
                <a:lnTo>
                  <a:pt x="1449105" y="1230898"/>
                </a:lnTo>
                <a:lnTo>
                  <a:pt x="1438747" y="1236782"/>
                </a:lnTo>
                <a:lnTo>
                  <a:pt x="1436318" y="1248266"/>
                </a:lnTo>
                <a:lnTo>
                  <a:pt x="1417163" y="1262952"/>
                </a:lnTo>
                <a:lnTo>
                  <a:pt x="1405540" y="1283318"/>
                </a:lnTo>
                <a:lnTo>
                  <a:pt x="1388233" y="1295723"/>
                </a:lnTo>
                <a:lnTo>
                  <a:pt x="1377202" y="1316936"/>
                </a:lnTo>
                <a:lnTo>
                  <a:pt x="1362051" y="1326785"/>
                </a:lnTo>
                <a:lnTo>
                  <a:pt x="1330982" y="1366584"/>
                </a:lnTo>
                <a:lnTo>
                  <a:pt x="1308715" y="1381795"/>
                </a:lnTo>
                <a:lnTo>
                  <a:pt x="1256150" y="1438980"/>
                </a:lnTo>
                <a:lnTo>
                  <a:pt x="1230251" y="1453168"/>
                </a:lnTo>
                <a:lnTo>
                  <a:pt x="1216543" y="1471642"/>
                </a:lnTo>
                <a:lnTo>
                  <a:pt x="1165080" y="1496393"/>
                </a:lnTo>
                <a:lnTo>
                  <a:pt x="1151740" y="1522852"/>
                </a:lnTo>
                <a:lnTo>
                  <a:pt x="1125327" y="1539235"/>
                </a:lnTo>
                <a:lnTo>
                  <a:pt x="1117376" y="1551721"/>
                </a:lnTo>
                <a:lnTo>
                  <a:pt x="1074306" y="1574361"/>
                </a:lnTo>
                <a:lnTo>
                  <a:pt x="1046671" y="1599569"/>
                </a:lnTo>
                <a:lnTo>
                  <a:pt x="949172" y="1663158"/>
                </a:lnTo>
                <a:lnTo>
                  <a:pt x="939555" y="1674809"/>
                </a:lnTo>
                <a:lnTo>
                  <a:pt x="901724" y="1688654"/>
                </a:lnTo>
                <a:lnTo>
                  <a:pt x="886408" y="1699869"/>
                </a:lnTo>
                <a:lnTo>
                  <a:pt x="859634" y="1706250"/>
                </a:lnTo>
                <a:lnTo>
                  <a:pt x="819926" y="1730059"/>
                </a:lnTo>
                <a:lnTo>
                  <a:pt x="800548" y="1736227"/>
                </a:lnTo>
                <a:lnTo>
                  <a:pt x="769694" y="1734446"/>
                </a:lnTo>
                <a:lnTo>
                  <a:pt x="707203" y="1717744"/>
                </a:lnTo>
                <a:lnTo>
                  <a:pt x="655271" y="1727146"/>
                </a:lnTo>
                <a:lnTo>
                  <a:pt x="628675" y="1747032"/>
                </a:lnTo>
                <a:lnTo>
                  <a:pt x="617419" y="1771774"/>
                </a:lnTo>
                <a:lnTo>
                  <a:pt x="617199" y="1779280"/>
                </a:lnTo>
                <a:lnTo>
                  <a:pt x="636585" y="1800781"/>
                </a:lnTo>
                <a:lnTo>
                  <a:pt x="610310" y="1805450"/>
                </a:lnTo>
                <a:lnTo>
                  <a:pt x="573395" y="1801460"/>
                </a:lnTo>
                <a:lnTo>
                  <a:pt x="529835" y="1783885"/>
                </a:lnTo>
                <a:lnTo>
                  <a:pt x="490048" y="1785266"/>
                </a:lnTo>
                <a:lnTo>
                  <a:pt x="471149" y="1795943"/>
                </a:lnTo>
                <a:lnTo>
                  <a:pt x="469864" y="1812566"/>
                </a:lnTo>
                <a:lnTo>
                  <a:pt x="452936" y="1828402"/>
                </a:lnTo>
                <a:lnTo>
                  <a:pt x="450696" y="1835104"/>
                </a:lnTo>
                <a:lnTo>
                  <a:pt x="459042" y="1842469"/>
                </a:lnTo>
                <a:lnTo>
                  <a:pt x="451741" y="1846861"/>
                </a:lnTo>
                <a:lnTo>
                  <a:pt x="411111" y="1836503"/>
                </a:lnTo>
                <a:lnTo>
                  <a:pt x="403086" y="1841231"/>
                </a:lnTo>
                <a:lnTo>
                  <a:pt x="378057" y="1835260"/>
                </a:lnTo>
                <a:lnTo>
                  <a:pt x="354681" y="1818869"/>
                </a:lnTo>
                <a:lnTo>
                  <a:pt x="339416" y="1818642"/>
                </a:lnTo>
                <a:lnTo>
                  <a:pt x="314495" y="1808099"/>
                </a:lnTo>
                <a:lnTo>
                  <a:pt x="197202" y="1791204"/>
                </a:lnTo>
                <a:lnTo>
                  <a:pt x="195364" y="1771643"/>
                </a:lnTo>
                <a:lnTo>
                  <a:pt x="209291" y="1758969"/>
                </a:lnTo>
                <a:lnTo>
                  <a:pt x="178963" y="1750350"/>
                </a:lnTo>
                <a:lnTo>
                  <a:pt x="177856" y="1741278"/>
                </a:lnTo>
                <a:lnTo>
                  <a:pt x="169576" y="1738497"/>
                </a:lnTo>
                <a:lnTo>
                  <a:pt x="163303" y="1745077"/>
                </a:lnTo>
                <a:lnTo>
                  <a:pt x="143142" y="1741543"/>
                </a:lnTo>
                <a:lnTo>
                  <a:pt x="152462" y="1722170"/>
                </a:lnTo>
                <a:lnTo>
                  <a:pt x="174088" y="1717320"/>
                </a:lnTo>
                <a:lnTo>
                  <a:pt x="177187" y="1705005"/>
                </a:lnTo>
                <a:lnTo>
                  <a:pt x="183552" y="1710350"/>
                </a:lnTo>
                <a:lnTo>
                  <a:pt x="201656" y="1710084"/>
                </a:lnTo>
                <a:lnTo>
                  <a:pt x="202480" y="1698135"/>
                </a:lnTo>
                <a:lnTo>
                  <a:pt x="185421" y="1684694"/>
                </a:lnTo>
                <a:lnTo>
                  <a:pt x="186839" y="1665209"/>
                </a:lnTo>
                <a:lnTo>
                  <a:pt x="163393" y="1651961"/>
                </a:lnTo>
                <a:lnTo>
                  <a:pt x="133168" y="1651795"/>
                </a:lnTo>
                <a:lnTo>
                  <a:pt x="135221" y="1657030"/>
                </a:lnTo>
                <a:lnTo>
                  <a:pt x="120555" y="1638544"/>
                </a:lnTo>
                <a:lnTo>
                  <a:pt x="85680" y="1638825"/>
                </a:lnTo>
                <a:lnTo>
                  <a:pt x="42919" y="1650178"/>
                </a:lnTo>
                <a:lnTo>
                  <a:pt x="8442" y="1648418"/>
                </a:lnTo>
                <a:lnTo>
                  <a:pt x="0" y="1642195"/>
                </a:lnTo>
                <a:lnTo>
                  <a:pt x="377" y="1624079"/>
                </a:lnTo>
                <a:lnTo>
                  <a:pt x="11249" y="1619603"/>
                </a:lnTo>
                <a:lnTo>
                  <a:pt x="45596" y="1559066"/>
                </a:lnTo>
                <a:lnTo>
                  <a:pt x="40770" y="1545983"/>
                </a:lnTo>
                <a:lnTo>
                  <a:pt x="48217" y="1538614"/>
                </a:lnTo>
                <a:lnTo>
                  <a:pt x="43585" y="1527611"/>
                </a:lnTo>
                <a:lnTo>
                  <a:pt x="55889" y="1507642"/>
                </a:lnTo>
                <a:lnTo>
                  <a:pt x="79366" y="1503453"/>
                </a:lnTo>
                <a:lnTo>
                  <a:pt x="73248" y="1488505"/>
                </a:lnTo>
                <a:lnTo>
                  <a:pt x="94332" y="1480048"/>
                </a:lnTo>
                <a:lnTo>
                  <a:pt x="135896" y="1494160"/>
                </a:lnTo>
                <a:lnTo>
                  <a:pt x="139796" y="1478365"/>
                </a:lnTo>
                <a:lnTo>
                  <a:pt x="129817" y="1478585"/>
                </a:lnTo>
                <a:lnTo>
                  <a:pt x="125528" y="1463253"/>
                </a:lnTo>
                <a:lnTo>
                  <a:pt x="111699" y="1455237"/>
                </a:lnTo>
                <a:lnTo>
                  <a:pt x="118492" y="1450100"/>
                </a:lnTo>
                <a:lnTo>
                  <a:pt x="119628" y="1439808"/>
                </a:lnTo>
                <a:lnTo>
                  <a:pt x="115240" y="1424419"/>
                </a:lnTo>
                <a:lnTo>
                  <a:pt x="105613" y="1414848"/>
                </a:lnTo>
                <a:lnTo>
                  <a:pt x="100288" y="1392370"/>
                </a:lnTo>
                <a:lnTo>
                  <a:pt x="118782" y="1384643"/>
                </a:lnTo>
                <a:lnTo>
                  <a:pt x="124194" y="1373110"/>
                </a:lnTo>
                <a:lnTo>
                  <a:pt x="141021" y="1382609"/>
                </a:lnTo>
                <a:lnTo>
                  <a:pt x="149277" y="1365632"/>
                </a:lnTo>
                <a:lnTo>
                  <a:pt x="196329" y="1370407"/>
                </a:lnTo>
                <a:lnTo>
                  <a:pt x="199156" y="1366507"/>
                </a:lnTo>
                <a:lnTo>
                  <a:pt x="192646" y="1358629"/>
                </a:lnTo>
                <a:lnTo>
                  <a:pt x="197151" y="1343140"/>
                </a:lnTo>
                <a:lnTo>
                  <a:pt x="217819" y="1327835"/>
                </a:lnTo>
                <a:lnTo>
                  <a:pt x="245460" y="1347052"/>
                </a:lnTo>
                <a:lnTo>
                  <a:pt x="260319" y="1334527"/>
                </a:lnTo>
                <a:lnTo>
                  <a:pt x="275388" y="1331061"/>
                </a:lnTo>
                <a:lnTo>
                  <a:pt x="276942" y="1322006"/>
                </a:lnTo>
                <a:lnTo>
                  <a:pt x="290476" y="1323399"/>
                </a:lnTo>
                <a:lnTo>
                  <a:pt x="298102" y="1312890"/>
                </a:lnTo>
                <a:lnTo>
                  <a:pt x="292390" y="1302996"/>
                </a:lnTo>
                <a:lnTo>
                  <a:pt x="289875" y="1309790"/>
                </a:lnTo>
                <a:lnTo>
                  <a:pt x="290873" y="1299324"/>
                </a:lnTo>
                <a:lnTo>
                  <a:pt x="299166" y="1294522"/>
                </a:lnTo>
                <a:lnTo>
                  <a:pt x="299043" y="1284381"/>
                </a:lnTo>
                <a:lnTo>
                  <a:pt x="309628" y="1284443"/>
                </a:lnTo>
                <a:lnTo>
                  <a:pt x="316725" y="1269915"/>
                </a:lnTo>
                <a:lnTo>
                  <a:pt x="303920" y="1256389"/>
                </a:lnTo>
                <a:lnTo>
                  <a:pt x="291087" y="1257620"/>
                </a:lnTo>
                <a:lnTo>
                  <a:pt x="294946" y="1242326"/>
                </a:lnTo>
                <a:lnTo>
                  <a:pt x="301452" y="1244257"/>
                </a:lnTo>
                <a:lnTo>
                  <a:pt x="301718" y="1235960"/>
                </a:lnTo>
                <a:lnTo>
                  <a:pt x="308010" y="1233562"/>
                </a:lnTo>
                <a:lnTo>
                  <a:pt x="301562" y="1229779"/>
                </a:lnTo>
                <a:lnTo>
                  <a:pt x="303037" y="1214892"/>
                </a:lnTo>
                <a:lnTo>
                  <a:pt x="330074" y="1221114"/>
                </a:lnTo>
                <a:lnTo>
                  <a:pt x="342169" y="1207908"/>
                </a:lnTo>
                <a:lnTo>
                  <a:pt x="360237" y="1207252"/>
                </a:lnTo>
                <a:lnTo>
                  <a:pt x="357871" y="1201347"/>
                </a:lnTo>
                <a:lnTo>
                  <a:pt x="364168" y="1207481"/>
                </a:lnTo>
                <a:lnTo>
                  <a:pt x="380104" y="1205455"/>
                </a:lnTo>
                <a:lnTo>
                  <a:pt x="381038" y="1152487"/>
                </a:lnTo>
                <a:lnTo>
                  <a:pt x="389663" y="1148345"/>
                </a:lnTo>
                <a:lnTo>
                  <a:pt x="391430" y="1132173"/>
                </a:lnTo>
                <a:lnTo>
                  <a:pt x="397756" y="1127173"/>
                </a:lnTo>
                <a:lnTo>
                  <a:pt x="412866" y="1123155"/>
                </a:lnTo>
                <a:lnTo>
                  <a:pt x="422899" y="1129740"/>
                </a:lnTo>
                <a:lnTo>
                  <a:pt x="440024" y="1124575"/>
                </a:lnTo>
                <a:lnTo>
                  <a:pt x="448094" y="1116134"/>
                </a:lnTo>
                <a:lnTo>
                  <a:pt x="456304" y="1120497"/>
                </a:lnTo>
                <a:lnTo>
                  <a:pt x="454121" y="1108887"/>
                </a:lnTo>
                <a:lnTo>
                  <a:pt x="471825" y="1106868"/>
                </a:lnTo>
                <a:lnTo>
                  <a:pt x="487650" y="1092213"/>
                </a:lnTo>
                <a:lnTo>
                  <a:pt x="499266" y="1093823"/>
                </a:lnTo>
                <a:lnTo>
                  <a:pt x="523898" y="1086122"/>
                </a:lnTo>
                <a:lnTo>
                  <a:pt x="532823" y="1074097"/>
                </a:lnTo>
                <a:lnTo>
                  <a:pt x="564344" y="1085400"/>
                </a:lnTo>
                <a:lnTo>
                  <a:pt x="571349" y="1080777"/>
                </a:lnTo>
                <a:lnTo>
                  <a:pt x="571045" y="1063672"/>
                </a:lnTo>
                <a:lnTo>
                  <a:pt x="584703" y="1050735"/>
                </a:lnTo>
                <a:lnTo>
                  <a:pt x="583079" y="1040827"/>
                </a:lnTo>
                <a:lnTo>
                  <a:pt x="596965" y="1027045"/>
                </a:lnTo>
                <a:lnTo>
                  <a:pt x="591132" y="1021007"/>
                </a:lnTo>
                <a:lnTo>
                  <a:pt x="599085" y="1013838"/>
                </a:lnTo>
                <a:lnTo>
                  <a:pt x="600655" y="999979"/>
                </a:lnTo>
                <a:lnTo>
                  <a:pt x="590431" y="991835"/>
                </a:lnTo>
                <a:lnTo>
                  <a:pt x="607753" y="971739"/>
                </a:lnTo>
                <a:lnTo>
                  <a:pt x="592496" y="968585"/>
                </a:lnTo>
                <a:lnTo>
                  <a:pt x="589765" y="929004"/>
                </a:lnTo>
                <a:lnTo>
                  <a:pt x="610847" y="927081"/>
                </a:lnTo>
                <a:lnTo>
                  <a:pt x="618483" y="920478"/>
                </a:lnTo>
                <a:lnTo>
                  <a:pt x="624657" y="929189"/>
                </a:lnTo>
                <a:lnTo>
                  <a:pt x="622161" y="937287"/>
                </a:lnTo>
                <a:lnTo>
                  <a:pt x="635844" y="933293"/>
                </a:lnTo>
                <a:lnTo>
                  <a:pt x="639716" y="942526"/>
                </a:lnTo>
                <a:lnTo>
                  <a:pt x="655389" y="945796"/>
                </a:lnTo>
                <a:lnTo>
                  <a:pt x="661857" y="932688"/>
                </a:lnTo>
                <a:lnTo>
                  <a:pt x="683577" y="925979"/>
                </a:lnTo>
                <a:lnTo>
                  <a:pt x="682521" y="908976"/>
                </a:lnTo>
                <a:lnTo>
                  <a:pt x="692479" y="919597"/>
                </a:lnTo>
                <a:lnTo>
                  <a:pt x="702772" y="907689"/>
                </a:lnTo>
                <a:lnTo>
                  <a:pt x="729484" y="902377"/>
                </a:lnTo>
                <a:lnTo>
                  <a:pt x="739321" y="908546"/>
                </a:lnTo>
                <a:lnTo>
                  <a:pt x="736766" y="898253"/>
                </a:lnTo>
                <a:lnTo>
                  <a:pt x="744002" y="894080"/>
                </a:lnTo>
                <a:lnTo>
                  <a:pt x="751578" y="906455"/>
                </a:lnTo>
                <a:lnTo>
                  <a:pt x="766102" y="909539"/>
                </a:lnTo>
                <a:lnTo>
                  <a:pt x="769754" y="921502"/>
                </a:lnTo>
                <a:lnTo>
                  <a:pt x="786525" y="923054"/>
                </a:lnTo>
                <a:lnTo>
                  <a:pt x="807211" y="916742"/>
                </a:lnTo>
                <a:lnTo>
                  <a:pt x="816051" y="923120"/>
                </a:lnTo>
                <a:lnTo>
                  <a:pt x="814589" y="932262"/>
                </a:lnTo>
                <a:lnTo>
                  <a:pt x="830954" y="941283"/>
                </a:lnTo>
                <a:lnTo>
                  <a:pt x="846691" y="940900"/>
                </a:lnTo>
                <a:lnTo>
                  <a:pt x="846671" y="949122"/>
                </a:lnTo>
                <a:lnTo>
                  <a:pt x="856910" y="942523"/>
                </a:lnTo>
                <a:lnTo>
                  <a:pt x="862977" y="947568"/>
                </a:lnTo>
                <a:lnTo>
                  <a:pt x="885759" y="935750"/>
                </a:lnTo>
                <a:lnTo>
                  <a:pt x="898464" y="947400"/>
                </a:lnTo>
                <a:lnTo>
                  <a:pt x="901923" y="941182"/>
                </a:lnTo>
                <a:lnTo>
                  <a:pt x="917422" y="941179"/>
                </a:lnTo>
                <a:lnTo>
                  <a:pt x="913262" y="932383"/>
                </a:lnTo>
                <a:lnTo>
                  <a:pt x="917444" y="928139"/>
                </a:lnTo>
                <a:lnTo>
                  <a:pt x="936451" y="926678"/>
                </a:lnTo>
                <a:lnTo>
                  <a:pt x="930541" y="910358"/>
                </a:lnTo>
                <a:lnTo>
                  <a:pt x="948202" y="908305"/>
                </a:lnTo>
                <a:lnTo>
                  <a:pt x="952665" y="916129"/>
                </a:lnTo>
                <a:lnTo>
                  <a:pt x="959866" y="909582"/>
                </a:lnTo>
                <a:lnTo>
                  <a:pt x="958298" y="903906"/>
                </a:lnTo>
                <a:lnTo>
                  <a:pt x="970610" y="907838"/>
                </a:lnTo>
                <a:lnTo>
                  <a:pt x="976640" y="898323"/>
                </a:lnTo>
                <a:lnTo>
                  <a:pt x="980275" y="904166"/>
                </a:lnTo>
                <a:lnTo>
                  <a:pt x="982581" y="896803"/>
                </a:lnTo>
                <a:lnTo>
                  <a:pt x="995498" y="904972"/>
                </a:lnTo>
                <a:lnTo>
                  <a:pt x="1002261" y="897905"/>
                </a:lnTo>
                <a:lnTo>
                  <a:pt x="996312" y="887612"/>
                </a:lnTo>
                <a:lnTo>
                  <a:pt x="1011446" y="886211"/>
                </a:lnTo>
                <a:lnTo>
                  <a:pt x="1001657" y="882472"/>
                </a:lnTo>
                <a:lnTo>
                  <a:pt x="1005040" y="876175"/>
                </a:lnTo>
                <a:lnTo>
                  <a:pt x="1013406" y="879043"/>
                </a:lnTo>
                <a:lnTo>
                  <a:pt x="1019395" y="874953"/>
                </a:lnTo>
                <a:lnTo>
                  <a:pt x="1008113" y="858500"/>
                </a:lnTo>
                <a:lnTo>
                  <a:pt x="1017203" y="861459"/>
                </a:lnTo>
                <a:lnTo>
                  <a:pt x="1030933" y="855031"/>
                </a:lnTo>
                <a:lnTo>
                  <a:pt x="1038546" y="870498"/>
                </a:lnTo>
                <a:lnTo>
                  <a:pt x="1052509" y="877898"/>
                </a:lnTo>
                <a:lnTo>
                  <a:pt x="1055407" y="889128"/>
                </a:lnTo>
                <a:lnTo>
                  <a:pt x="1063453" y="890130"/>
                </a:lnTo>
                <a:lnTo>
                  <a:pt x="1064500" y="902333"/>
                </a:lnTo>
                <a:lnTo>
                  <a:pt x="1082101" y="914303"/>
                </a:lnTo>
                <a:lnTo>
                  <a:pt x="1093114" y="930695"/>
                </a:lnTo>
                <a:lnTo>
                  <a:pt x="1104866" y="934865"/>
                </a:lnTo>
                <a:lnTo>
                  <a:pt x="1131525" y="930956"/>
                </a:lnTo>
                <a:lnTo>
                  <a:pt x="1136779" y="942044"/>
                </a:lnTo>
                <a:lnTo>
                  <a:pt x="1168558" y="945387"/>
                </a:lnTo>
                <a:lnTo>
                  <a:pt x="1174818" y="951080"/>
                </a:lnTo>
                <a:lnTo>
                  <a:pt x="1175253" y="931715"/>
                </a:lnTo>
                <a:lnTo>
                  <a:pt x="1183788" y="927884"/>
                </a:lnTo>
                <a:lnTo>
                  <a:pt x="1189922" y="913010"/>
                </a:lnTo>
                <a:lnTo>
                  <a:pt x="1185757" y="897614"/>
                </a:lnTo>
                <a:lnTo>
                  <a:pt x="1192569" y="890038"/>
                </a:lnTo>
                <a:lnTo>
                  <a:pt x="1208565" y="885908"/>
                </a:lnTo>
                <a:lnTo>
                  <a:pt x="1211712" y="869617"/>
                </a:lnTo>
                <a:lnTo>
                  <a:pt x="1198193" y="853268"/>
                </a:lnTo>
                <a:lnTo>
                  <a:pt x="1204924" y="845556"/>
                </a:lnTo>
                <a:lnTo>
                  <a:pt x="1229466" y="839066"/>
                </a:lnTo>
                <a:lnTo>
                  <a:pt x="1234213" y="822961"/>
                </a:lnTo>
                <a:lnTo>
                  <a:pt x="1242109" y="816804"/>
                </a:lnTo>
                <a:lnTo>
                  <a:pt x="1258170" y="820324"/>
                </a:lnTo>
                <a:lnTo>
                  <a:pt x="1275789" y="811898"/>
                </a:lnTo>
                <a:lnTo>
                  <a:pt x="1301627" y="817832"/>
                </a:lnTo>
                <a:lnTo>
                  <a:pt x="1343760" y="806232"/>
                </a:lnTo>
                <a:lnTo>
                  <a:pt x="1379968" y="784825"/>
                </a:lnTo>
                <a:lnTo>
                  <a:pt x="1415197" y="764098"/>
                </a:lnTo>
                <a:lnTo>
                  <a:pt x="1414000" y="755797"/>
                </a:lnTo>
                <a:lnTo>
                  <a:pt x="1400589" y="745868"/>
                </a:lnTo>
                <a:lnTo>
                  <a:pt x="1407558" y="740739"/>
                </a:lnTo>
                <a:lnTo>
                  <a:pt x="1406309" y="725716"/>
                </a:lnTo>
                <a:lnTo>
                  <a:pt x="1415139" y="704303"/>
                </a:lnTo>
                <a:lnTo>
                  <a:pt x="1432325" y="693929"/>
                </a:lnTo>
                <a:lnTo>
                  <a:pt x="1442859" y="695090"/>
                </a:lnTo>
                <a:lnTo>
                  <a:pt x="1444047" y="680222"/>
                </a:lnTo>
                <a:lnTo>
                  <a:pt x="1453109" y="676793"/>
                </a:lnTo>
                <a:lnTo>
                  <a:pt x="1446754" y="656139"/>
                </a:lnTo>
                <a:lnTo>
                  <a:pt x="1471788" y="645388"/>
                </a:lnTo>
                <a:lnTo>
                  <a:pt x="1484542" y="618155"/>
                </a:lnTo>
                <a:lnTo>
                  <a:pt x="1475130" y="586055"/>
                </a:lnTo>
                <a:lnTo>
                  <a:pt x="1461074" y="579185"/>
                </a:lnTo>
                <a:lnTo>
                  <a:pt x="1464277" y="564110"/>
                </a:lnTo>
                <a:lnTo>
                  <a:pt x="1454889" y="551263"/>
                </a:lnTo>
                <a:lnTo>
                  <a:pt x="1441859" y="553397"/>
                </a:lnTo>
                <a:lnTo>
                  <a:pt x="1433563" y="536857"/>
                </a:lnTo>
                <a:lnTo>
                  <a:pt x="1413582" y="524435"/>
                </a:lnTo>
                <a:lnTo>
                  <a:pt x="1390738" y="498465"/>
                </a:lnTo>
                <a:lnTo>
                  <a:pt x="1381737" y="506548"/>
                </a:lnTo>
                <a:lnTo>
                  <a:pt x="1373099" y="492881"/>
                </a:lnTo>
                <a:lnTo>
                  <a:pt x="1375289" y="484301"/>
                </a:lnTo>
                <a:lnTo>
                  <a:pt x="1369507" y="480060"/>
                </a:lnTo>
                <a:lnTo>
                  <a:pt x="1375666" y="478096"/>
                </a:lnTo>
                <a:lnTo>
                  <a:pt x="1374677" y="472518"/>
                </a:lnTo>
                <a:lnTo>
                  <a:pt x="1366451" y="466200"/>
                </a:lnTo>
                <a:lnTo>
                  <a:pt x="1358980" y="468943"/>
                </a:lnTo>
                <a:lnTo>
                  <a:pt x="1364954" y="448700"/>
                </a:lnTo>
                <a:lnTo>
                  <a:pt x="1375558" y="438817"/>
                </a:lnTo>
                <a:lnTo>
                  <a:pt x="1383243" y="419530"/>
                </a:lnTo>
                <a:lnTo>
                  <a:pt x="1411088" y="412929"/>
                </a:lnTo>
                <a:lnTo>
                  <a:pt x="1419626" y="418655"/>
                </a:lnTo>
                <a:lnTo>
                  <a:pt x="1428063" y="409663"/>
                </a:lnTo>
                <a:lnTo>
                  <a:pt x="1433665" y="413703"/>
                </a:lnTo>
                <a:lnTo>
                  <a:pt x="1438375" y="407215"/>
                </a:lnTo>
                <a:lnTo>
                  <a:pt x="1433017" y="400556"/>
                </a:lnTo>
                <a:lnTo>
                  <a:pt x="1446560" y="383401"/>
                </a:lnTo>
                <a:lnTo>
                  <a:pt x="1455779" y="387057"/>
                </a:lnTo>
                <a:lnTo>
                  <a:pt x="1475202" y="370867"/>
                </a:lnTo>
                <a:lnTo>
                  <a:pt x="1484404" y="372233"/>
                </a:lnTo>
                <a:lnTo>
                  <a:pt x="1500893" y="346294"/>
                </a:lnTo>
                <a:lnTo>
                  <a:pt x="1532134" y="339553"/>
                </a:lnTo>
                <a:lnTo>
                  <a:pt x="1534165" y="325425"/>
                </a:lnTo>
                <a:lnTo>
                  <a:pt x="1542510" y="323575"/>
                </a:lnTo>
                <a:lnTo>
                  <a:pt x="1541702" y="301207"/>
                </a:lnTo>
                <a:lnTo>
                  <a:pt x="1533377" y="289827"/>
                </a:lnTo>
                <a:lnTo>
                  <a:pt x="1541861" y="269638"/>
                </a:lnTo>
                <a:lnTo>
                  <a:pt x="1548508" y="267521"/>
                </a:lnTo>
                <a:lnTo>
                  <a:pt x="1542958" y="258560"/>
                </a:lnTo>
                <a:lnTo>
                  <a:pt x="1551520" y="251840"/>
                </a:lnTo>
                <a:lnTo>
                  <a:pt x="1553739" y="233683"/>
                </a:lnTo>
                <a:lnTo>
                  <a:pt x="1561673" y="229796"/>
                </a:lnTo>
                <a:lnTo>
                  <a:pt x="1555778" y="218971"/>
                </a:lnTo>
                <a:lnTo>
                  <a:pt x="1557699" y="201581"/>
                </a:lnTo>
                <a:lnTo>
                  <a:pt x="1549571" y="188983"/>
                </a:lnTo>
                <a:lnTo>
                  <a:pt x="1576022" y="176250"/>
                </a:lnTo>
                <a:lnTo>
                  <a:pt x="1570623" y="158207"/>
                </a:lnTo>
                <a:lnTo>
                  <a:pt x="1559577" y="154307"/>
                </a:lnTo>
                <a:lnTo>
                  <a:pt x="1564993" y="147952"/>
                </a:lnTo>
                <a:lnTo>
                  <a:pt x="1559884" y="141053"/>
                </a:lnTo>
                <a:lnTo>
                  <a:pt x="1571534" y="136597"/>
                </a:lnTo>
                <a:lnTo>
                  <a:pt x="1579939" y="140805"/>
                </a:lnTo>
                <a:lnTo>
                  <a:pt x="1590742" y="121085"/>
                </a:lnTo>
                <a:lnTo>
                  <a:pt x="1604036" y="123370"/>
                </a:lnTo>
                <a:lnTo>
                  <a:pt x="1608550" y="115514"/>
                </a:lnTo>
                <a:lnTo>
                  <a:pt x="1630674" y="127486"/>
                </a:lnTo>
                <a:lnTo>
                  <a:pt x="1647063" y="120726"/>
                </a:lnTo>
                <a:lnTo>
                  <a:pt x="1659482" y="132752"/>
                </a:lnTo>
                <a:lnTo>
                  <a:pt x="1672564" y="118407"/>
                </a:lnTo>
                <a:lnTo>
                  <a:pt x="1680626" y="125303"/>
                </a:lnTo>
                <a:lnTo>
                  <a:pt x="1691073" y="122648"/>
                </a:lnTo>
                <a:lnTo>
                  <a:pt x="1692250" y="108831"/>
                </a:lnTo>
                <a:lnTo>
                  <a:pt x="1711482" y="108979"/>
                </a:lnTo>
                <a:lnTo>
                  <a:pt x="1712180" y="97674"/>
                </a:lnTo>
                <a:lnTo>
                  <a:pt x="1725573" y="98890"/>
                </a:lnTo>
                <a:lnTo>
                  <a:pt x="1724958" y="110422"/>
                </a:lnTo>
                <a:lnTo>
                  <a:pt x="1729896" y="113919"/>
                </a:lnTo>
                <a:lnTo>
                  <a:pt x="1741274" y="110508"/>
                </a:lnTo>
                <a:lnTo>
                  <a:pt x="1761585" y="114181"/>
                </a:lnTo>
                <a:lnTo>
                  <a:pt x="1791840" y="105539"/>
                </a:lnTo>
                <a:lnTo>
                  <a:pt x="1803469" y="117004"/>
                </a:lnTo>
                <a:lnTo>
                  <a:pt x="1807718" y="113732"/>
                </a:lnTo>
                <a:lnTo>
                  <a:pt x="1814833" y="124673"/>
                </a:lnTo>
                <a:lnTo>
                  <a:pt x="1822996" y="122287"/>
                </a:lnTo>
                <a:lnTo>
                  <a:pt x="1825265" y="114550"/>
                </a:lnTo>
                <a:lnTo>
                  <a:pt x="1838178" y="113231"/>
                </a:lnTo>
                <a:lnTo>
                  <a:pt x="1841970" y="129575"/>
                </a:lnTo>
                <a:lnTo>
                  <a:pt x="1878117" y="121562"/>
                </a:lnTo>
                <a:lnTo>
                  <a:pt x="1892906" y="132251"/>
                </a:lnTo>
                <a:lnTo>
                  <a:pt x="1919237" y="101489"/>
                </a:lnTo>
                <a:lnTo>
                  <a:pt x="1968274" y="122549"/>
                </a:lnTo>
                <a:lnTo>
                  <a:pt x="2078485" y="129340"/>
                </a:lnTo>
                <a:lnTo>
                  <a:pt x="2080657" y="77892"/>
                </a:lnTo>
                <a:lnTo>
                  <a:pt x="2093447" y="118"/>
                </a:lnTo>
                <a:lnTo>
                  <a:pt x="2113849" y="0"/>
                </a:lnTo>
                <a:lnTo>
                  <a:pt x="2117954" y="8890"/>
                </a:lnTo>
                <a:lnTo>
                  <a:pt x="2131728" y="15945"/>
                </a:lnTo>
                <a:lnTo>
                  <a:pt x="2140790" y="8714"/>
                </a:lnTo>
                <a:lnTo>
                  <a:pt x="2165774" y="18198"/>
                </a:lnTo>
                <a:lnTo>
                  <a:pt x="2293895" y="24748"/>
                </a:lnTo>
                <a:lnTo>
                  <a:pt x="2305921" y="29161"/>
                </a:lnTo>
                <a:lnTo>
                  <a:pt x="2290781" y="92016"/>
                </a:lnTo>
                <a:lnTo>
                  <a:pt x="2247232" y="189222"/>
                </a:lnTo>
                <a:lnTo>
                  <a:pt x="2224543" y="270227"/>
                </a:lnTo>
                <a:lnTo>
                  <a:pt x="2210304" y="348836"/>
                </a:lnTo>
                <a:lnTo>
                  <a:pt x="2176654" y="409994"/>
                </a:lnTo>
                <a:lnTo>
                  <a:pt x="2172316" y="434627"/>
                </a:lnTo>
                <a:lnTo>
                  <a:pt x="2159886" y="431554"/>
                </a:lnTo>
                <a:lnTo>
                  <a:pt x="2145776" y="456942"/>
                </a:lnTo>
                <a:lnTo>
                  <a:pt x="2063334" y="528481"/>
                </a:lnTo>
                <a:lnTo>
                  <a:pt x="2004825" y="549010"/>
                </a:lnTo>
                <a:lnTo>
                  <a:pt x="1905389" y="649299"/>
                </a:lnTo>
                <a:lnTo>
                  <a:pt x="1837638" y="745275"/>
                </a:lnTo>
                <a:lnTo>
                  <a:pt x="1831652" y="761240"/>
                </a:lnTo>
                <a:lnTo>
                  <a:pt x="1836129" y="773018"/>
                </a:lnTo>
                <a:lnTo>
                  <a:pt x="1794933" y="816798"/>
                </a:lnTo>
                <a:lnTo>
                  <a:pt x="1712927" y="958657"/>
                </a:lnTo>
                <a:lnTo>
                  <a:pt x="1636852" y="1066058"/>
                </a:lnTo>
                <a:lnTo>
                  <a:pt x="1629531" y="1069830"/>
                </a:lnTo>
                <a:lnTo>
                  <a:pt x="1625757" y="1065613"/>
                </a:lnTo>
                <a:lnTo>
                  <a:pt x="1626648" y="1076042"/>
                </a:lnTo>
                <a:lnTo>
                  <a:pt x="1600396" y="1109780"/>
                </a:lnTo>
                <a:close/>
              </a:path>
            </a:pathLst>
          </a:custGeom>
          <a:noFill/>
          <a:ln w="1905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4" name="Working geographic region: Inland"/>
          <p:cNvSpPr/>
          <p:nvPr/>
        </p:nvSpPr>
        <p:spPr>
          <a:xfrm>
            <a:off x="3157044" y="2320210"/>
            <a:ext cx="2187474" cy="2171604"/>
          </a:xfrm>
          <a:custGeom>
            <a:avLst/>
            <a:gdLst/>
            <a:ahLst/>
            <a:cxnLst/>
            <a:rect l="l" t="t" r="r" b="b"/>
            <a:pathLst>
              <a:path w="2187474" h="2171604">
                <a:moveTo>
                  <a:pt x="1077672" y="2088451"/>
                </a:moveTo>
                <a:lnTo>
                  <a:pt x="1080171" y="2097435"/>
                </a:lnTo>
                <a:lnTo>
                  <a:pt x="1074182" y="2101525"/>
                </a:lnTo>
                <a:lnTo>
                  <a:pt x="1065816" y="2098657"/>
                </a:lnTo>
                <a:lnTo>
                  <a:pt x="1062433" y="2104954"/>
                </a:lnTo>
                <a:lnTo>
                  <a:pt x="1072222" y="2108693"/>
                </a:lnTo>
                <a:lnTo>
                  <a:pt x="1057088" y="2110094"/>
                </a:lnTo>
                <a:lnTo>
                  <a:pt x="1063037" y="2120387"/>
                </a:lnTo>
                <a:lnTo>
                  <a:pt x="1056274" y="2127454"/>
                </a:lnTo>
                <a:lnTo>
                  <a:pt x="1043357" y="2119285"/>
                </a:lnTo>
                <a:lnTo>
                  <a:pt x="1041051" y="2126648"/>
                </a:lnTo>
                <a:lnTo>
                  <a:pt x="1037416" y="2120805"/>
                </a:lnTo>
                <a:lnTo>
                  <a:pt x="1031386" y="2130320"/>
                </a:lnTo>
                <a:lnTo>
                  <a:pt x="1019074" y="2126388"/>
                </a:lnTo>
                <a:lnTo>
                  <a:pt x="1020642" y="2132064"/>
                </a:lnTo>
                <a:lnTo>
                  <a:pt x="1013441" y="2138611"/>
                </a:lnTo>
                <a:lnTo>
                  <a:pt x="1008978" y="2130787"/>
                </a:lnTo>
                <a:lnTo>
                  <a:pt x="991317" y="2132840"/>
                </a:lnTo>
                <a:lnTo>
                  <a:pt x="997227" y="2149160"/>
                </a:lnTo>
                <a:lnTo>
                  <a:pt x="978220" y="2150621"/>
                </a:lnTo>
                <a:lnTo>
                  <a:pt x="974038" y="2154865"/>
                </a:lnTo>
                <a:lnTo>
                  <a:pt x="978198" y="2163661"/>
                </a:lnTo>
                <a:lnTo>
                  <a:pt x="962699" y="2163664"/>
                </a:lnTo>
                <a:lnTo>
                  <a:pt x="959240" y="2169882"/>
                </a:lnTo>
                <a:lnTo>
                  <a:pt x="946535" y="2158232"/>
                </a:lnTo>
                <a:lnTo>
                  <a:pt x="923753" y="2170050"/>
                </a:lnTo>
                <a:lnTo>
                  <a:pt x="917686" y="2165005"/>
                </a:lnTo>
                <a:lnTo>
                  <a:pt x="907447" y="2171604"/>
                </a:lnTo>
                <a:lnTo>
                  <a:pt x="907467" y="2163382"/>
                </a:lnTo>
                <a:lnTo>
                  <a:pt x="891730" y="2163765"/>
                </a:lnTo>
                <a:lnTo>
                  <a:pt x="875365" y="2154744"/>
                </a:lnTo>
                <a:lnTo>
                  <a:pt x="876827" y="2145602"/>
                </a:lnTo>
                <a:lnTo>
                  <a:pt x="867987" y="2139224"/>
                </a:lnTo>
                <a:lnTo>
                  <a:pt x="847301" y="2145536"/>
                </a:lnTo>
                <a:lnTo>
                  <a:pt x="830530" y="2143984"/>
                </a:lnTo>
                <a:lnTo>
                  <a:pt x="826878" y="2132021"/>
                </a:lnTo>
                <a:lnTo>
                  <a:pt x="812354" y="2128937"/>
                </a:lnTo>
                <a:lnTo>
                  <a:pt x="804778" y="2116562"/>
                </a:lnTo>
                <a:lnTo>
                  <a:pt x="797542" y="2120735"/>
                </a:lnTo>
                <a:lnTo>
                  <a:pt x="800097" y="2131028"/>
                </a:lnTo>
                <a:lnTo>
                  <a:pt x="790260" y="2124859"/>
                </a:lnTo>
                <a:lnTo>
                  <a:pt x="763548" y="2130171"/>
                </a:lnTo>
                <a:lnTo>
                  <a:pt x="753255" y="2142079"/>
                </a:lnTo>
                <a:lnTo>
                  <a:pt x="743297" y="2131458"/>
                </a:lnTo>
                <a:lnTo>
                  <a:pt x="744353" y="2148461"/>
                </a:lnTo>
                <a:lnTo>
                  <a:pt x="722633" y="2155170"/>
                </a:lnTo>
                <a:lnTo>
                  <a:pt x="716165" y="2168278"/>
                </a:lnTo>
                <a:lnTo>
                  <a:pt x="700492" y="2165008"/>
                </a:lnTo>
                <a:lnTo>
                  <a:pt x="696620" y="2155775"/>
                </a:lnTo>
                <a:lnTo>
                  <a:pt x="682937" y="2159769"/>
                </a:lnTo>
                <a:lnTo>
                  <a:pt x="685433" y="2151671"/>
                </a:lnTo>
                <a:lnTo>
                  <a:pt x="679259" y="2142960"/>
                </a:lnTo>
                <a:lnTo>
                  <a:pt x="652193" y="2154263"/>
                </a:lnTo>
                <a:lnTo>
                  <a:pt x="639725" y="2139546"/>
                </a:lnTo>
                <a:lnTo>
                  <a:pt x="621064" y="2134366"/>
                </a:lnTo>
                <a:lnTo>
                  <a:pt x="614798" y="2139178"/>
                </a:lnTo>
                <a:lnTo>
                  <a:pt x="599319" y="2119544"/>
                </a:lnTo>
                <a:lnTo>
                  <a:pt x="589193" y="2119137"/>
                </a:lnTo>
                <a:lnTo>
                  <a:pt x="568512" y="2087076"/>
                </a:lnTo>
                <a:lnTo>
                  <a:pt x="555683" y="2084283"/>
                </a:lnTo>
                <a:lnTo>
                  <a:pt x="554832" y="2064815"/>
                </a:lnTo>
                <a:lnTo>
                  <a:pt x="544154" y="2065789"/>
                </a:lnTo>
                <a:lnTo>
                  <a:pt x="535313" y="2056031"/>
                </a:lnTo>
                <a:lnTo>
                  <a:pt x="537016" y="2049446"/>
                </a:lnTo>
                <a:lnTo>
                  <a:pt x="530550" y="2042956"/>
                </a:lnTo>
                <a:lnTo>
                  <a:pt x="524969" y="2044500"/>
                </a:lnTo>
                <a:lnTo>
                  <a:pt x="518538" y="2026041"/>
                </a:lnTo>
                <a:lnTo>
                  <a:pt x="502198" y="2004850"/>
                </a:lnTo>
                <a:lnTo>
                  <a:pt x="501317" y="1991401"/>
                </a:lnTo>
                <a:lnTo>
                  <a:pt x="474689" y="1985473"/>
                </a:lnTo>
                <a:lnTo>
                  <a:pt x="472541" y="1966649"/>
                </a:lnTo>
                <a:lnTo>
                  <a:pt x="459819" y="1969069"/>
                </a:lnTo>
                <a:lnTo>
                  <a:pt x="435150" y="1944810"/>
                </a:lnTo>
                <a:lnTo>
                  <a:pt x="422028" y="1944540"/>
                </a:lnTo>
                <a:lnTo>
                  <a:pt x="403072" y="1918644"/>
                </a:lnTo>
                <a:lnTo>
                  <a:pt x="401221" y="1904022"/>
                </a:lnTo>
                <a:lnTo>
                  <a:pt x="525046" y="1645853"/>
                </a:lnTo>
                <a:lnTo>
                  <a:pt x="508320" y="1640484"/>
                </a:lnTo>
                <a:lnTo>
                  <a:pt x="517335" y="1612367"/>
                </a:lnTo>
                <a:lnTo>
                  <a:pt x="512603" y="1608974"/>
                </a:lnTo>
                <a:lnTo>
                  <a:pt x="521605" y="1599045"/>
                </a:lnTo>
                <a:lnTo>
                  <a:pt x="533075" y="1563219"/>
                </a:lnTo>
                <a:lnTo>
                  <a:pt x="522371" y="1559470"/>
                </a:lnTo>
                <a:lnTo>
                  <a:pt x="517870" y="1549284"/>
                </a:lnTo>
                <a:lnTo>
                  <a:pt x="539168" y="1544247"/>
                </a:lnTo>
                <a:lnTo>
                  <a:pt x="553560" y="1498919"/>
                </a:lnTo>
                <a:lnTo>
                  <a:pt x="563947" y="1496988"/>
                </a:lnTo>
                <a:lnTo>
                  <a:pt x="541155" y="1500849"/>
                </a:lnTo>
                <a:lnTo>
                  <a:pt x="535991" y="1509080"/>
                </a:lnTo>
                <a:lnTo>
                  <a:pt x="508545" y="1462587"/>
                </a:lnTo>
                <a:lnTo>
                  <a:pt x="514811" y="1461055"/>
                </a:lnTo>
                <a:lnTo>
                  <a:pt x="512417" y="1457442"/>
                </a:lnTo>
                <a:lnTo>
                  <a:pt x="558095" y="1403355"/>
                </a:lnTo>
                <a:lnTo>
                  <a:pt x="547127" y="1398518"/>
                </a:lnTo>
                <a:lnTo>
                  <a:pt x="501937" y="1403912"/>
                </a:lnTo>
                <a:lnTo>
                  <a:pt x="498061" y="1379081"/>
                </a:lnTo>
                <a:lnTo>
                  <a:pt x="491787" y="1380359"/>
                </a:lnTo>
                <a:lnTo>
                  <a:pt x="493002" y="1386403"/>
                </a:lnTo>
                <a:lnTo>
                  <a:pt x="477122" y="1389503"/>
                </a:lnTo>
                <a:lnTo>
                  <a:pt x="473922" y="1395059"/>
                </a:lnTo>
                <a:lnTo>
                  <a:pt x="477506" y="1412624"/>
                </a:lnTo>
                <a:lnTo>
                  <a:pt x="469569" y="1426782"/>
                </a:lnTo>
                <a:lnTo>
                  <a:pt x="478278" y="1441239"/>
                </a:lnTo>
                <a:lnTo>
                  <a:pt x="469531" y="1442567"/>
                </a:lnTo>
                <a:lnTo>
                  <a:pt x="463149" y="1455437"/>
                </a:lnTo>
                <a:lnTo>
                  <a:pt x="457932" y="1454303"/>
                </a:lnTo>
                <a:lnTo>
                  <a:pt x="462832" y="1480139"/>
                </a:lnTo>
                <a:lnTo>
                  <a:pt x="458454" y="1487244"/>
                </a:lnTo>
                <a:lnTo>
                  <a:pt x="447237" y="1490232"/>
                </a:lnTo>
                <a:lnTo>
                  <a:pt x="448223" y="1498219"/>
                </a:lnTo>
                <a:lnTo>
                  <a:pt x="441654" y="1503887"/>
                </a:lnTo>
                <a:lnTo>
                  <a:pt x="421158" y="1488581"/>
                </a:lnTo>
                <a:lnTo>
                  <a:pt x="426260" y="1475429"/>
                </a:lnTo>
                <a:lnTo>
                  <a:pt x="413172" y="1460846"/>
                </a:lnTo>
                <a:lnTo>
                  <a:pt x="409250" y="1465533"/>
                </a:lnTo>
                <a:lnTo>
                  <a:pt x="401914" y="1457674"/>
                </a:lnTo>
                <a:lnTo>
                  <a:pt x="422688" y="1424808"/>
                </a:lnTo>
                <a:lnTo>
                  <a:pt x="412718" y="1419373"/>
                </a:lnTo>
                <a:lnTo>
                  <a:pt x="421276" y="1404438"/>
                </a:lnTo>
                <a:lnTo>
                  <a:pt x="411809" y="1398943"/>
                </a:lnTo>
                <a:lnTo>
                  <a:pt x="344929" y="1414135"/>
                </a:lnTo>
                <a:lnTo>
                  <a:pt x="340846" y="1405454"/>
                </a:lnTo>
                <a:lnTo>
                  <a:pt x="346446" y="1384146"/>
                </a:lnTo>
                <a:lnTo>
                  <a:pt x="330919" y="1379403"/>
                </a:lnTo>
                <a:lnTo>
                  <a:pt x="330515" y="1368118"/>
                </a:lnTo>
                <a:lnTo>
                  <a:pt x="338568" y="1315616"/>
                </a:lnTo>
                <a:lnTo>
                  <a:pt x="295004" y="1290200"/>
                </a:lnTo>
                <a:lnTo>
                  <a:pt x="312823" y="1245732"/>
                </a:lnTo>
                <a:lnTo>
                  <a:pt x="326825" y="1239059"/>
                </a:lnTo>
                <a:lnTo>
                  <a:pt x="311131" y="1198411"/>
                </a:lnTo>
                <a:lnTo>
                  <a:pt x="298790" y="1189231"/>
                </a:lnTo>
                <a:lnTo>
                  <a:pt x="287919" y="1189044"/>
                </a:lnTo>
                <a:lnTo>
                  <a:pt x="284266" y="1197615"/>
                </a:lnTo>
                <a:lnTo>
                  <a:pt x="199870" y="1160085"/>
                </a:lnTo>
                <a:lnTo>
                  <a:pt x="221696" y="1128488"/>
                </a:lnTo>
                <a:lnTo>
                  <a:pt x="193669" y="1106828"/>
                </a:lnTo>
                <a:lnTo>
                  <a:pt x="148306" y="1095760"/>
                </a:lnTo>
                <a:lnTo>
                  <a:pt x="151396" y="1058409"/>
                </a:lnTo>
                <a:lnTo>
                  <a:pt x="137258" y="1041179"/>
                </a:lnTo>
                <a:lnTo>
                  <a:pt x="157387" y="1007807"/>
                </a:lnTo>
                <a:lnTo>
                  <a:pt x="135334" y="1001446"/>
                </a:lnTo>
                <a:lnTo>
                  <a:pt x="138879" y="985280"/>
                </a:lnTo>
                <a:lnTo>
                  <a:pt x="167114" y="994287"/>
                </a:lnTo>
                <a:lnTo>
                  <a:pt x="174573" y="972890"/>
                </a:lnTo>
                <a:lnTo>
                  <a:pt x="105070" y="967865"/>
                </a:lnTo>
                <a:lnTo>
                  <a:pt x="100413" y="997719"/>
                </a:lnTo>
                <a:lnTo>
                  <a:pt x="82427" y="995690"/>
                </a:lnTo>
                <a:lnTo>
                  <a:pt x="81322" y="1011706"/>
                </a:lnTo>
                <a:lnTo>
                  <a:pt x="64200" y="1010298"/>
                </a:lnTo>
                <a:lnTo>
                  <a:pt x="51671" y="1069309"/>
                </a:lnTo>
                <a:lnTo>
                  <a:pt x="41594" y="1089381"/>
                </a:lnTo>
                <a:lnTo>
                  <a:pt x="19681" y="1078851"/>
                </a:lnTo>
                <a:lnTo>
                  <a:pt x="16984" y="1004486"/>
                </a:lnTo>
                <a:lnTo>
                  <a:pt x="327" y="1005504"/>
                </a:lnTo>
                <a:lnTo>
                  <a:pt x="0" y="998889"/>
                </a:lnTo>
                <a:lnTo>
                  <a:pt x="9877" y="992815"/>
                </a:lnTo>
                <a:lnTo>
                  <a:pt x="8532" y="977737"/>
                </a:lnTo>
                <a:lnTo>
                  <a:pt x="21732" y="977211"/>
                </a:lnTo>
                <a:lnTo>
                  <a:pt x="21045" y="961011"/>
                </a:lnTo>
                <a:lnTo>
                  <a:pt x="26757" y="952701"/>
                </a:lnTo>
                <a:lnTo>
                  <a:pt x="18041" y="946462"/>
                </a:lnTo>
                <a:lnTo>
                  <a:pt x="33853" y="928646"/>
                </a:lnTo>
                <a:lnTo>
                  <a:pt x="22805" y="920989"/>
                </a:lnTo>
                <a:lnTo>
                  <a:pt x="28511" y="919605"/>
                </a:lnTo>
                <a:lnTo>
                  <a:pt x="30575" y="905299"/>
                </a:lnTo>
                <a:lnTo>
                  <a:pt x="42469" y="894253"/>
                </a:lnTo>
                <a:lnTo>
                  <a:pt x="44350" y="885861"/>
                </a:lnTo>
                <a:lnTo>
                  <a:pt x="37338" y="879597"/>
                </a:lnTo>
                <a:lnTo>
                  <a:pt x="49534" y="874881"/>
                </a:lnTo>
                <a:lnTo>
                  <a:pt x="40283" y="866674"/>
                </a:lnTo>
                <a:lnTo>
                  <a:pt x="49214" y="854014"/>
                </a:lnTo>
                <a:lnTo>
                  <a:pt x="47378" y="842969"/>
                </a:lnTo>
                <a:lnTo>
                  <a:pt x="59910" y="841903"/>
                </a:lnTo>
                <a:lnTo>
                  <a:pt x="56422" y="837245"/>
                </a:lnTo>
                <a:lnTo>
                  <a:pt x="62376" y="824563"/>
                </a:lnTo>
                <a:lnTo>
                  <a:pt x="75628" y="814620"/>
                </a:lnTo>
                <a:lnTo>
                  <a:pt x="77307" y="804042"/>
                </a:lnTo>
                <a:lnTo>
                  <a:pt x="85047" y="802893"/>
                </a:lnTo>
                <a:lnTo>
                  <a:pt x="84088" y="793287"/>
                </a:lnTo>
                <a:lnTo>
                  <a:pt x="89630" y="796933"/>
                </a:lnTo>
                <a:lnTo>
                  <a:pt x="94874" y="790885"/>
                </a:lnTo>
                <a:lnTo>
                  <a:pt x="100282" y="801673"/>
                </a:lnTo>
                <a:lnTo>
                  <a:pt x="131461" y="786220"/>
                </a:lnTo>
                <a:lnTo>
                  <a:pt x="146814" y="786173"/>
                </a:lnTo>
                <a:lnTo>
                  <a:pt x="150824" y="791225"/>
                </a:lnTo>
                <a:lnTo>
                  <a:pt x="164867" y="788746"/>
                </a:lnTo>
                <a:lnTo>
                  <a:pt x="178621" y="796399"/>
                </a:lnTo>
                <a:lnTo>
                  <a:pt x="184993" y="786395"/>
                </a:lnTo>
                <a:lnTo>
                  <a:pt x="190736" y="786361"/>
                </a:lnTo>
                <a:lnTo>
                  <a:pt x="188755" y="791655"/>
                </a:lnTo>
                <a:lnTo>
                  <a:pt x="197225" y="796714"/>
                </a:lnTo>
                <a:lnTo>
                  <a:pt x="197757" y="805298"/>
                </a:lnTo>
                <a:lnTo>
                  <a:pt x="212498" y="805910"/>
                </a:lnTo>
                <a:lnTo>
                  <a:pt x="219520" y="816510"/>
                </a:lnTo>
                <a:lnTo>
                  <a:pt x="225684" y="813235"/>
                </a:lnTo>
                <a:lnTo>
                  <a:pt x="230798" y="825357"/>
                </a:lnTo>
                <a:lnTo>
                  <a:pt x="237934" y="821320"/>
                </a:lnTo>
                <a:lnTo>
                  <a:pt x="237614" y="827944"/>
                </a:lnTo>
                <a:lnTo>
                  <a:pt x="245978" y="833059"/>
                </a:lnTo>
                <a:lnTo>
                  <a:pt x="252083" y="828904"/>
                </a:lnTo>
                <a:lnTo>
                  <a:pt x="260106" y="843349"/>
                </a:lnTo>
                <a:lnTo>
                  <a:pt x="273595" y="845692"/>
                </a:lnTo>
                <a:lnTo>
                  <a:pt x="270784" y="853963"/>
                </a:lnTo>
                <a:lnTo>
                  <a:pt x="276955" y="852861"/>
                </a:lnTo>
                <a:lnTo>
                  <a:pt x="278067" y="859701"/>
                </a:lnTo>
                <a:lnTo>
                  <a:pt x="287493" y="862056"/>
                </a:lnTo>
                <a:lnTo>
                  <a:pt x="293231" y="874800"/>
                </a:lnTo>
                <a:lnTo>
                  <a:pt x="302915" y="877497"/>
                </a:lnTo>
                <a:lnTo>
                  <a:pt x="308986" y="871425"/>
                </a:lnTo>
                <a:lnTo>
                  <a:pt x="318145" y="873813"/>
                </a:lnTo>
                <a:lnTo>
                  <a:pt x="316628" y="880684"/>
                </a:lnTo>
                <a:lnTo>
                  <a:pt x="322320" y="876278"/>
                </a:lnTo>
                <a:lnTo>
                  <a:pt x="328994" y="880724"/>
                </a:lnTo>
                <a:lnTo>
                  <a:pt x="331076" y="875364"/>
                </a:lnTo>
                <a:lnTo>
                  <a:pt x="335292" y="878504"/>
                </a:lnTo>
                <a:lnTo>
                  <a:pt x="351755" y="869388"/>
                </a:lnTo>
                <a:lnTo>
                  <a:pt x="352334" y="874995"/>
                </a:lnTo>
                <a:lnTo>
                  <a:pt x="359810" y="872451"/>
                </a:lnTo>
                <a:lnTo>
                  <a:pt x="367975" y="878434"/>
                </a:lnTo>
                <a:lnTo>
                  <a:pt x="375963" y="894557"/>
                </a:lnTo>
                <a:lnTo>
                  <a:pt x="382320" y="891195"/>
                </a:lnTo>
                <a:lnTo>
                  <a:pt x="381654" y="899417"/>
                </a:lnTo>
                <a:lnTo>
                  <a:pt x="390798" y="895202"/>
                </a:lnTo>
                <a:lnTo>
                  <a:pt x="390821" y="900916"/>
                </a:lnTo>
                <a:lnTo>
                  <a:pt x="402457" y="908919"/>
                </a:lnTo>
                <a:lnTo>
                  <a:pt x="419032" y="901050"/>
                </a:lnTo>
                <a:lnTo>
                  <a:pt x="473559" y="923877"/>
                </a:lnTo>
                <a:lnTo>
                  <a:pt x="484465" y="918827"/>
                </a:lnTo>
                <a:lnTo>
                  <a:pt x="499684" y="924227"/>
                </a:lnTo>
                <a:lnTo>
                  <a:pt x="523334" y="920497"/>
                </a:lnTo>
                <a:lnTo>
                  <a:pt x="555868" y="897858"/>
                </a:lnTo>
                <a:lnTo>
                  <a:pt x="575299" y="908485"/>
                </a:lnTo>
                <a:lnTo>
                  <a:pt x="626401" y="909909"/>
                </a:lnTo>
                <a:lnTo>
                  <a:pt x="681846" y="876855"/>
                </a:lnTo>
                <a:lnTo>
                  <a:pt x="700341" y="834945"/>
                </a:lnTo>
                <a:lnTo>
                  <a:pt x="709893" y="788140"/>
                </a:lnTo>
                <a:lnTo>
                  <a:pt x="747928" y="694685"/>
                </a:lnTo>
                <a:lnTo>
                  <a:pt x="752856" y="692160"/>
                </a:lnTo>
                <a:lnTo>
                  <a:pt x="745297" y="651433"/>
                </a:lnTo>
                <a:lnTo>
                  <a:pt x="772427" y="650207"/>
                </a:lnTo>
                <a:lnTo>
                  <a:pt x="872887" y="622353"/>
                </a:lnTo>
                <a:lnTo>
                  <a:pt x="880840" y="627949"/>
                </a:lnTo>
                <a:lnTo>
                  <a:pt x="876484" y="624820"/>
                </a:lnTo>
                <a:lnTo>
                  <a:pt x="891203" y="610391"/>
                </a:lnTo>
                <a:lnTo>
                  <a:pt x="900673" y="584723"/>
                </a:lnTo>
                <a:lnTo>
                  <a:pt x="918966" y="565205"/>
                </a:lnTo>
                <a:lnTo>
                  <a:pt x="936921" y="557891"/>
                </a:lnTo>
                <a:lnTo>
                  <a:pt x="946545" y="542862"/>
                </a:lnTo>
                <a:lnTo>
                  <a:pt x="965775" y="539239"/>
                </a:lnTo>
                <a:lnTo>
                  <a:pt x="984736" y="525335"/>
                </a:lnTo>
                <a:lnTo>
                  <a:pt x="989033" y="509720"/>
                </a:lnTo>
                <a:lnTo>
                  <a:pt x="984662" y="506966"/>
                </a:lnTo>
                <a:lnTo>
                  <a:pt x="988167" y="502161"/>
                </a:lnTo>
                <a:lnTo>
                  <a:pt x="983916" y="488419"/>
                </a:lnTo>
                <a:lnTo>
                  <a:pt x="989757" y="484143"/>
                </a:lnTo>
                <a:lnTo>
                  <a:pt x="1001371" y="450072"/>
                </a:lnTo>
                <a:lnTo>
                  <a:pt x="1007085" y="429378"/>
                </a:lnTo>
                <a:lnTo>
                  <a:pt x="1001779" y="423454"/>
                </a:lnTo>
                <a:lnTo>
                  <a:pt x="1008089" y="418256"/>
                </a:lnTo>
                <a:lnTo>
                  <a:pt x="1011451" y="385718"/>
                </a:lnTo>
                <a:lnTo>
                  <a:pt x="1018824" y="382200"/>
                </a:lnTo>
                <a:lnTo>
                  <a:pt x="1019156" y="370903"/>
                </a:lnTo>
                <a:lnTo>
                  <a:pt x="1024543" y="371044"/>
                </a:lnTo>
                <a:lnTo>
                  <a:pt x="1027280" y="380841"/>
                </a:lnTo>
                <a:lnTo>
                  <a:pt x="1035032" y="377897"/>
                </a:lnTo>
                <a:lnTo>
                  <a:pt x="1037607" y="370964"/>
                </a:lnTo>
                <a:lnTo>
                  <a:pt x="1032600" y="363033"/>
                </a:lnTo>
                <a:lnTo>
                  <a:pt x="1042142" y="360731"/>
                </a:lnTo>
                <a:lnTo>
                  <a:pt x="1046431" y="350403"/>
                </a:lnTo>
                <a:lnTo>
                  <a:pt x="1055255" y="352332"/>
                </a:lnTo>
                <a:lnTo>
                  <a:pt x="1050818" y="340624"/>
                </a:lnTo>
                <a:lnTo>
                  <a:pt x="1066295" y="343632"/>
                </a:lnTo>
                <a:lnTo>
                  <a:pt x="1064419" y="334339"/>
                </a:lnTo>
                <a:lnTo>
                  <a:pt x="1090542" y="325844"/>
                </a:lnTo>
                <a:lnTo>
                  <a:pt x="1097242" y="310678"/>
                </a:lnTo>
                <a:lnTo>
                  <a:pt x="1102731" y="309449"/>
                </a:lnTo>
                <a:lnTo>
                  <a:pt x="1101798" y="316614"/>
                </a:lnTo>
                <a:lnTo>
                  <a:pt x="1107627" y="317006"/>
                </a:lnTo>
                <a:lnTo>
                  <a:pt x="1108455" y="309849"/>
                </a:lnTo>
                <a:lnTo>
                  <a:pt x="1115850" y="307461"/>
                </a:lnTo>
                <a:lnTo>
                  <a:pt x="1114053" y="313539"/>
                </a:lnTo>
                <a:lnTo>
                  <a:pt x="1118858" y="317080"/>
                </a:lnTo>
                <a:lnTo>
                  <a:pt x="1123802" y="306487"/>
                </a:lnTo>
                <a:lnTo>
                  <a:pt x="1144259" y="307049"/>
                </a:lnTo>
                <a:lnTo>
                  <a:pt x="1153538" y="295965"/>
                </a:lnTo>
                <a:lnTo>
                  <a:pt x="1155290" y="276643"/>
                </a:lnTo>
                <a:lnTo>
                  <a:pt x="1162058" y="272152"/>
                </a:lnTo>
                <a:lnTo>
                  <a:pt x="1162508" y="264255"/>
                </a:lnTo>
                <a:lnTo>
                  <a:pt x="1173575" y="266912"/>
                </a:lnTo>
                <a:lnTo>
                  <a:pt x="1183129" y="259592"/>
                </a:lnTo>
                <a:lnTo>
                  <a:pt x="1195323" y="268586"/>
                </a:lnTo>
                <a:lnTo>
                  <a:pt x="1205917" y="253595"/>
                </a:lnTo>
                <a:lnTo>
                  <a:pt x="1201684" y="244152"/>
                </a:lnTo>
                <a:lnTo>
                  <a:pt x="1211934" y="244407"/>
                </a:lnTo>
                <a:lnTo>
                  <a:pt x="1213091" y="237334"/>
                </a:lnTo>
                <a:lnTo>
                  <a:pt x="1242230" y="224016"/>
                </a:lnTo>
                <a:lnTo>
                  <a:pt x="1242583" y="201276"/>
                </a:lnTo>
                <a:lnTo>
                  <a:pt x="1266942" y="189143"/>
                </a:lnTo>
                <a:lnTo>
                  <a:pt x="1268409" y="168826"/>
                </a:lnTo>
                <a:lnTo>
                  <a:pt x="1294742" y="153279"/>
                </a:lnTo>
                <a:lnTo>
                  <a:pt x="1302722" y="132784"/>
                </a:lnTo>
                <a:lnTo>
                  <a:pt x="1341099" y="104751"/>
                </a:lnTo>
                <a:lnTo>
                  <a:pt x="1384259" y="109132"/>
                </a:lnTo>
                <a:lnTo>
                  <a:pt x="1457978" y="85990"/>
                </a:lnTo>
                <a:lnTo>
                  <a:pt x="1457829" y="79951"/>
                </a:lnTo>
                <a:lnTo>
                  <a:pt x="1464185" y="76717"/>
                </a:lnTo>
                <a:lnTo>
                  <a:pt x="1480114" y="78705"/>
                </a:lnTo>
                <a:lnTo>
                  <a:pt x="1492140" y="58641"/>
                </a:lnTo>
                <a:lnTo>
                  <a:pt x="1491425" y="41045"/>
                </a:lnTo>
                <a:lnTo>
                  <a:pt x="1508888" y="18149"/>
                </a:lnTo>
                <a:lnTo>
                  <a:pt x="1536066" y="18871"/>
                </a:lnTo>
                <a:lnTo>
                  <a:pt x="1552339" y="9840"/>
                </a:lnTo>
                <a:lnTo>
                  <a:pt x="1576648" y="12923"/>
                </a:lnTo>
                <a:lnTo>
                  <a:pt x="1579974" y="17566"/>
                </a:lnTo>
                <a:lnTo>
                  <a:pt x="1610981" y="8793"/>
                </a:lnTo>
                <a:lnTo>
                  <a:pt x="1626085" y="12369"/>
                </a:lnTo>
                <a:lnTo>
                  <a:pt x="1628981" y="6002"/>
                </a:lnTo>
                <a:lnTo>
                  <a:pt x="1645859" y="7392"/>
                </a:lnTo>
                <a:lnTo>
                  <a:pt x="1657181" y="0"/>
                </a:lnTo>
                <a:lnTo>
                  <a:pt x="1684876" y="5207"/>
                </a:lnTo>
                <a:lnTo>
                  <a:pt x="1710823" y="19780"/>
                </a:lnTo>
                <a:lnTo>
                  <a:pt x="1720667" y="18983"/>
                </a:lnTo>
                <a:lnTo>
                  <a:pt x="1730872" y="28133"/>
                </a:lnTo>
                <a:lnTo>
                  <a:pt x="1742181" y="29802"/>
                </a:lnTo>
                <a:lnTo>
                  <a:pt x="1743866" y="36178"/>
                </a:lnTo>
                <a:lnTo>
                  <a:pt x="1767248" y="51796"/>
                </a:lnTo>
                <a:lnTo>
                  <a:pt x="1792349" y="48953"/>
                </a:lnTo>
                <a:lnTo>
                  <a:pt x="1805821" y="64951"/>
                </a:lnTo>
                <a:lnTo>
                  <a:pt x="1853544" y="56810"/>
                </a:lnTo>
                <a:lnTo>
                  <a:pt x="1887160" y="63400"/>
                </a:lnTo>
                <a:lnTo>
                  <a:pt x="1894925" y="57276"/>
                </a:lnTo>
                <a:lnTo>
                  <a:pt x="1936028" y="54308"/>
                </a:lnTo>
                <a:lnTo>
                  <a:pt x="1995544" y="71737"/>
                </a:lnTo>
                <a:lnTo>
                  <a:pt x="2013477" y="67374"/>
                </a:lnTo>
                <a:lnTo>
                  <a:pt x="2024932" y="78207"/>
                </a:lnTo>
                <a:lnTo>
                  <a:pt x="2038102" y="78573"/>
                </a:lnTo>
                <a:lnTo>
                  <a:pt x="2047182" y="92956"/>
                </a:lnTo>
                <a:lnTo>
                  <a:pt x="2098145" y="294162"/>
                </a:lnTo>
                <a:lnTo>
                  <a:pt x="2094059" y="366559"/>
                </a:lnTo>
                <a:lnTo>
                  <a:pt x="2122689" y="405842"/>
                </a:lnTo>
                <a:lnTo>
                  <a:pt x="2123129" y="429533"/>
                </a:lnTo>
                <a:lnTo>
                  <a:pt x="2137866" y="472814"/>
                </a:lnTo>
                <a:lnTo>
                  <a:pt x="2163148" y="491433"/>
                </a:lnTo>
                <a:lnTo>
                  <a:pt x="2163491" y="499018"/>
                </a:lnTo>
                <a:lnTo>
                  <a:pt x="2166551" y="549855"/>
                </a:lnTo>
                <a:lnTo>
                  <a:pt x="2183459" y="581487"/>
                </a:lnTo>
                <a:lnTo>
                  <a:pt x="2187474" y="620752"/>
                </a:lnTo>
                <a:lnTo>
                  <a:pt x="2180832" y="680615"/>
                </a:lnTo>
                <a:lnTo>
                  <a:pt x="2181916" y="807091"/>
                </a:lnTo>
                <a:lnTo>
                  <a:pt x="2175287" y="857812"/>
                </a:lnTo>
                <a:lnTo>
                  <a:pt x="2165242" y="880862"/>
                </a:lnTo>
                <a:lnTo>
                  <a:pt x="2169514" y="924808"/>
                </a:lnTo>
                <a:lnTo>
                  <a:pt x="2149353" y="973780"/>
                </a:lnTo>
                <a:lnTo>
                  <a:pt x="2157737" y="1003079"/>
                </a:lnTo>
                <a:lnTo>
                  <a:pt x="2132705" y="1013545"/>
                </a:lnTo>
                <a:lnTo>
                  <a:pt x="2032245" y="936083"/>
                </a:lnTo>
                <a:lnTo>
                  <a:pt x="2008750" y="941073"/>
                </a:lnTo>
                <a:lnTo>
                  <a:pt x="1962818" y="984347"/>
                </a:lnTo>
                <a:lnTo>
                  <a:pt x="1920636" y="1069486"/>
                </a:lnTo>
                <a:lnTo>
                  <a:pt x="1903926" y="1083804"/>
                </a:lnTo>
                <a:lnTo>
                  <a:pt x="1882250" y="1120116"/>
                </a:lnTo>
                <a:lnTo>
                  <a:pt x="1876079" y="1182736"/>
                </a:lnTo>
                <a:lnTo>
                  <a:pt x="1879502" y="1216513"/>
                </a:lnTo>
                <a:lnTo>
                  <a:pt x="1898371" y="1202457"/>
                </a:lnTo>
                <a:lnTo>
                  <a:pt x="1901017" y="1221768"/>
                </a:lnTo>
                <a:lnTo>
                  <a:pt x="1915560" y="1234854"/>
                </a:lnTo>
                <a:lnTo>
                  <a:pt x="1911048" y="1256132"/>
                </a:lnTo>
                <a:lnTo>
                  <a:pt x="1916537" y="1267896"/>
                </a:lnTo>
                <a:lnTo>
                  <a:pt x="1952315" y="1312008"/>
                </a:lnTo>
                <a:lnTo>
                  <a:pt x="1980013" y="1323971"/>
                </a:lnTo>
                <a:lnTo>
                  <a:pt x="1953682" y="1354733"/>
                </a:lnTo>
                <a:lnTo>
                  <a:pt x="1938893" y="1344044"/>
                </a:lnTo>
                <a:lnTo>
                  <a:pt x="1902746" y="1352057"/>
                </a:lnTo>
                <a:lnTo>
                  <a:pt x="1898954" y="1335713"/>
                </a:lnTo>
                <a:lnTo>
                  <a:pt x="1886041" y="1337032"/>
                </a:lnTo>
                <a:lnTo>
                  <a:pt x="1883772" y="1344769"/>
                </a:lnTo>
                <a:lnTo>
                  <a:pt x="1875609" y="1347155"/>
                </a:lnTo>
                <a:lnTo>
                  <a:pt x="1868494" y="1336214"/>
                </a:lnTo>
                <a:lnTo>
                  <a:pt x="1864245" y="1339486"/>
                </a:lnTo>
                <a:lnTo>
                  <a:pt x="1852616" y="1328021"/>
                </a:lnTo>
                <a:lnTo>
                  <a:pt x="1822361" y="1336663"/>
                </a:lnTo>
                <a:lnTo>
                  <a:pt x="1802050" y="1332990"/>
                </a:lnTo>
                <a:lnTo>
                  <a:pt x="1790672" y="1336401"/>
                </a:lnTo>
                <a:lnTo>
                  <a:pt x="1785734" y="1332904"/>
                </a:lnTo>
                <a:lnTo>
                  <a:pt x="1786349" y="1321372"/>
                </a:lnTo>
                <a:lnTo>
                  <a:pt x="1772956" y="1320156"/>
                </a:lnTo>
                <a:lnTo>
                  <a:pt x="1772258" y="1331461"/>
                </a:lnTo>
                <a:lnTo>
                  <a:pt x="1753026" y="1331313"/>
                </a:lnTo>
                <a:lnTo>
                  <a:pt x="1751849" y="1345130"/>
                </a:lnTo>
                <a:lnTo>
                  <a:pt x="1741402" y="1347785"/>
                </a:lnTo>
                <a:lnTo>
                  <a:pt x="1733340" y="1340889"/>
                </a:lnTo>
                <a:lnTo>
                  <a:pt x="1720258" y="1355234"/>
                </a:lnTo>
                <a:lnTo>
                  <a:pt x="1707839" y="1343208"/>
                </a:lnTo>
                <a:lnTo>
                  <a:pt x="1691450" y="1349968"/>
                </a:lnTo>
                <a:lnTo>
                  <a:pt x="1669326" y="1337996"/>
                </a:lnTo>
                <a:lnTo>
                  <a:pt x="1664812" y="1345852"/>
                </a:lnTo>
                <a:lnTo>
                  <a:pt x="1651518" y="1343567"/>
                </a:lnTo>
                <a:lnTo>
                  <a:pt x="1640715" y="1363287"/>
                </a:lnTo>
                <a:lnTo>
                  <a:pt x="1629631" y="1357078"/>
                </a:lnTo>
                <a:lnTo>
                  <a:pt x="1627982" y="1357614"/>
                </a:lnTo>
                <a:lnTo>
                  <a:pt x="1632310" y="1359079"/>
                </a:lnTo>
                <a:lnTo>
                  <a:pt x="1620660" y="1363535"/>
                </a:lnTo>
                <a:lnTo>
                  <a:pt x="1625769" y="1370434"/>
                </a:lnTo>
                <a:lnTo>
                  <a:pt x="1620353" y="1376789"/>
                </a:lnTo>
                <a:lnTo>
                  <a:pt x="1631399" y="1380689"/>
                </a:lnTo>
                <a:lnTo>
                  <a:pt x="1636798" y="1398732"/>
                </a:lnTo>
                <a:lnTo>
                  <a:pt x="1610347" y="1411465"/>
                </a:lnTo>
                <a:lnTo>
                  <a:pt x="1618475" y="1424063"/>
                </a:lnTo>
                <a:lnTo>
                  <a:pt x="1616554" y="1441453"/>
                </a:lnTo>
                <a:lnTo>
                  <a:pt x="1622449" y="1452278"/>
                </a:lnTo>
                <a:lnTo>
                  <a:pt x="1614515" y="1456165"/>
                </a:lnTo>
                <a:lnTo>
                  <a:pt x="1612296" y="1474322"/>
                </a:lnTo>
                <a:lnTo>
                  <a:pt x="1603734" y="1481042"/>
                </a:lnTo>
                <a:lnTo>
                  <a:pt x="1609284" y="1490003"/>
                </a:lnTo>
                <a:lnTo>
                  <a:pt x="1602637" y="1492120"/>
                </a:lnTo>
                <a:lnTo>
                  <a:pt x="1594153" y="1512309"/>
                </a:lnTo>
                <a:lnTo>
                  <a:pt x="1602478" y="1523689"/>
                </a:lnTo>
                <a:lnTo>
                  <a:pt x="1603734" y="1537054"/>
                </a:lnTo>
                <a:lnTo>
                  <a:pt x="1603286" y="1546057"/>
                </a:lnTo>
                <a:lnTo>
                  <a:pt x="1594941" y="1547907"/>
                </a:lnTo>
                <a:lnTo>
                  <a:pt x="1590858" y="1555249"/>
                </a:lnTo>
                <a:lnTo>
                  <a:pt x="1592910" y="1562035"/>
                </a:lnTo>
                <a:lnTo>
                  <a:pt x="1561669" y="1568776"/>
                </a:lnTo>
                <a:lnTo>
                  <a:pt x="1545180" y="1594715"/>
                </a:lnTo>
                <a:lnTo>
                  <a:pt x="1535978" y="1593349"/>
                </a:lnTo>
                <a:lnTo>
                  <a:pt x="1516555" y="1609539"/>
                </a:lnTo>
                <a:lnTo>
                  <a:pt x="1507336" y="1605883"/>
                </a:lnTo>
                <a:lnTo>
                  <a:pt x="1493793" y="1623038"/>
                </a:lnTo>
                <a:lnTo>
                  <a:pt x="1499151" y="1629697"/>
                </a:lnTo>
                <a:lnTo>
                  <a:pt x="1494441" y="1636185"/>
                </a:lnTo>
                <a:lnTo>
                  <a:pt x="1488839" y="1632145"/>
                </a:lnTo>
                <a:lnTo>
                  <a:pt x="1480402" y="1641137"/>
                </a:lnTo>
                <a:lnTo>
                  <a:pt x="1471864" y="1635411"/>
                </a:lnTo>
                <a:lnTo>
                  <a:pt x="1444019" y="1642012"/>
                </a:lnTo>
                <a:lnTo>
                  <a:pt x="1436334" y="1661299"/>
                </a:lnTo>
                <a:lnTo>
                  <a:pt x="1425730" y="1671182"/>
                </a:lnTo>
                <a:lnTo>
                  <a:pt x="1419756" y="1691425"/>
                </a:lnTo>
                <a:lnTo>
                  <a:pt x="1416270" y="1687535"/>
                </a:lnTo>
                <a:lnTo>
                  <a:pt x="1405077" y="1691160"/>
                </a:lnTo>
                <a:lnTo>
                  <a:pt x="1405072" y="1675379"/>
                </a:lnTo>
                <a:lnTo>
                  <a:pt x="1382520" y="1664825"/>
                </a:lnTo>
                <a:lnTo>
                  <a:pt x="1382696" y="1651180"/>
                </a:lnTo>
                <a:lnTo>
                  <a:pt x="1371285" y="1638721"/>
                </a:lnTo>
                <a:lnTo>
                  <a:pt x="1357311" y="1647922"/>
                </a:lnTo>
                <a:lnTo>
                  <a:pt x="1314614" y="1650735"/>
                </a:lnTo>
                <a:lnTo>
                  <a:pt x="1302257" y="1670638"/>
                </a:lnTo>
                <a:lnTo>
                  <a:pt x="1292273" y="1667528"/>
                </a:lnTo>
                <a:lnTo>
                  <a:pt x="1286765" y="1673147"/>
                </a:lnTo>
                <a:lnTo>
                  <a:pt x="1276163" y="1667782"/>
                </a:lnTo>
                <a:lnTo>
                  <a:pt x="1267696" y="1671684"/>
                </a:lnTo>
                <a:lnTo>
                  <a:pt x="1264809" y="1667161"/>
                </a:lnTo>
                <a:lnTo>
                  <a:pt x="1234170" y="1698136"/>
                </a:lnTo>
                <a:lnTo>
                  <a:pt x="1228851" y="1713633"/>
                </a:lnTo>
                <a:lnTo>
                  <a:pt x="1220210" y="1714396"/>
                </a:lnTo>
                <a:lnTo>
                  <a:pt x="1208680" y="1705232"/>
                </a:lnTo>
                <a:lnTo>
                  <a:pt x="1198299" y="1712897"/>
                </a:lnTo>
                <a:lnTo>
                  <a:pt x="1197011" y="1722459"/>
                </a:lnTo>
                <a:lnTo>
                  <a:pt x="1183933" y="1718769"/>
                </a:lnTo>
                <a:lnTo>
                  <a:pt x="1180767" y="1723187"/>
                </a:lnTo>
                <a:lnTo>
                  <a:pt x="1166906" y="1716780"/>
                </a:lnTo>
                <a:lnTo>
                  <a:pt x="1168445" y="1727229"/>
                </a:lnTo>
                <a:lnTo>
                  <a:pt x="1159636" y="1729925"/>
                </a:lnTo>
                <a:lnTo>
                  <a:pt x="1157142" y="1745412"/>
                </a:lnTo>
                <a:lnTo>
                  <a:pt x="1150785" y="1743604"/>
                </a:lnTo>
                <a:lnTo>
                  <a:pt x="1147841" y="1753870"/>
                </a:lnTo>
                <a:lnTo>
                  <a:pt x="1140714" y="1754176"/>
                </a:lnTo>
                <a:lnTo>
                  <a:pt x="1148199" y="1762396"/>
                </a:lnTo>
                <a:lnTo>
                  <a:pt x="1140326" y="1763315"/>
                </a:lnTo>
                <a:lnTo>
                  <a:pt x="1141410" y="1772573"/>
                </a:lnTo>
                <a:lnTo>
                  <a:pt x="1131215" y="1777317"/>
                </a:lnTo>
                <a:lnTo>
                  <a:pt x="1133936" y="1784313"/>
                </a:lnTo>
                <a:lnTo>
                  <a:pt x="1126392" y="1784695"/>
                </a:lnTo>
                <a:lnTo>
                  <a:pt x="1111342" y="1799238"/>
                </a:lnTo>
                <a:lnTo>
                  <a:pt x="1116965" y="1808430"/>
                </a:lnTo>
                <a:lnTo>
                  <a:pt x="1105174" y="1818949"/>
                </a:lnTo>
                <a:lnTo>
                  <a:pt x="1097416" y="1817692"/>
                </a:lnTo>
                <a:lnTo>
                  <a:pt x="1101273" y="1823547"/>
                </a:lnTo>
                <a:lnTo>
                  <a:pt x="1093120" y="1826932"/>
                </a:lnTo>
                <a:lnTo>
                  <a:pt x="1092022" y="1836840"/>
                </a:lnTo>
                <a:lnTo>
                  <a:pt x="1086385" y="1834452"/>
                </a:lnTo>
                <a:lnTo>
                  <a:pt x="1090087" y="1844865"/>
                </a:lnTo>
                <a:lnTo>
                  <a:pt x="1074671" y="1856883"/>
                </a:lnTo>
                <a:lnTo>
                  <a:pt x="1075485" y="1865371"/>
                </a:lnTo>
                <a:lnTo>
                  <a:pt x="1063113" y="1868054"/>
                </a:lnTo>
                <a:lnTo>
                  <a:pt x="1062912" y="1877327"/>
                </a:lnTo>
                <a:lnTo>
                  <a:pt x="1044118" y="1879789"/>
                </a:lnTo>
                <a:lnTo>
                  <a:pt x="1039653" y="1885892"/>
                </a:lnTo>
                <a:lnTo>
                  <a:pt x="1028850" y="1883725"/>
                </a:lnTo>
                <a:lnTo>
                  <a:pt x="1013167" y="1897275"/>
                </a:lnTo>
                <a:lnTo>
                  <a:pt x="1009034" y="1892648"/>
                </a:lnTo>
                <a:lnTo>
                  <a:pt x="1006827" y="1902808"/>
                </a:lnTo>
                <a:lnTo>
                  <a:pt x="998229" y="1897466"/>
                </a:lnTo>
                <a:lnTo>
                  <a:pt x="996919" y="1908734"/>
                </a:lnTo>
                <a:lnTo>
                  <a:pt x="1015199" y="1926699"/>
                </a:lnTo>
                <a:lnTo>
                  <a:pt x="1041121" y="1998837"/>
                </a:lnTo>
                <a:lnTo>
                  <a:pt x="1058173" y="2010954"/>
                </a:lnTo>
                <a:lnTo>
                  <a:pt x="1064449" y="2034619"/>
                </a:lnTo>
                <a:lnTo>
                  <a:pt x="1082341" y="2034061"/>
                </a:lnTo>
                <a:lnTo>
                  <a:pt x="1072650" y="2052653"/>
                </a:lnTo>
                <a:lnTo>
                  <a:pt x="1072686" y="2066952"/>
                </a:lnTo>
                <a:lnTo>
                  <a:pt x="1078781" y="2075734"/>
                </a:lnTo>
                <a:lnTo>
                  <a:pt x="1071476" y="2079685"/>
                </a:lnTo>
                <a:lnTo>
                  <a:pt x="1072487" y="2091775"/>
                </a:lnTo>
                <a:lnTo>
                  <a:pt x="1077672" y="2088451"/>
                </a:lnTo>
                <a:close/>
              </a:path>
            </a:pathLst>
          </a:custGeom>
          <a:noFill/>
          <a:ln w="1905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5" name="Working geographic region: Other / Northern Cape"/>
          <p:cNvSpPr/>
          <p:nvPr/>
        </p:nvSpPr>
        <p:spPr>
          <a:xfrm>
            <a:off x="1778571" y="2997493"/>
            <a:ext cx="2047002" cy="2085814"/>
          </a:xfrm>
          <a:custGeom>
            <a:avLst/>
            <a:gdLst/>
            <a:ahLst/>
            <a:cxnLst/>
            <a:rect l="l" t="t" r="r" b="b"/>
            <a:pathLst>
              <a:path w="2047002" h="2085814">
                <a:moveTo>
                  <a:pt x="2027994" y="1475194"/>
                </a:moveTo>
                <a:lnTo>
                  <a:pt x="2031745" y="1513784"/>
                </a:lnTo>
                <a:lnTo>
                  <a:pt x="2047002" y="1516938"/>
                </a:lnTo>
                <a:lnTo>
                  <a:pt x="2029680" y="1537034"/>
                </a:lnTo>
                <a:lnTo>
                  <a:pt x="2039904" y="1545178"/>
                </a:lnTo>
                <a:lnTo>
                  <a:pt x="2038334" y="1559037"/>
                </a:lnTo>
                <a:lnTo>
                  <a:pt x="2030381" y="1566206"/>
                </a:lnTo>
                <a:lnTo>
                  <a:pt x="2036214" y="1572244"/>
                </a:lnTo>
                <a:lnTo>
                  <a:pt x="2022328" y="1586026"/>
                </a:lnTo>
                <a:lnTo>
                  <a:pt x="2023952" y="1595934"/>
                </a:lnTo>
                <a:lnTo>
                  <a:pt x="2010294" y="1608871"/>
                </a:lnTo>
                <a:lnTo>
                  <a:pt x="2010598" y="1625976"/>
                </a:lnTo>
                <a:lnTo>
                  <a:pt x="2003593" y="1630599"/>
                </a:lnTo>
                <a:lnTo>
                  <a:pt x="1972072" y="1619296"/>
                </a:lnTo>
                <a:lnTo>
                  <a:pt x="1963147" y="1631321"/>
                </a:lnTo>
                <a:lnTo>
                  <a:pt x="1938515" y="1639022"/>
                </a:lnTo>
                <a:lnTo>
                  <a:pt x="1926899" y="1637412"/>
                </a:lnTo>
                <a:lnTo>
                  <a:pt x="1911074" y="1652067"/>
                </a:lnTo>
                <a:lnTo>
                  <a:pt x="1893370" y="1654086"/>
                </a:lnTo>
                <a:lnTo>
                  <a:pt x="1895553" y="1665696"/>
                </a:lnTo>
                <a:lnTo>
                  <a:pt x="1887343" y="1661333"/>
                </a:lnTo>
                <a:lnTo>
                  <a:pt x="1879273" y="1669774"/>
                </a:lnTo>
                <a:lnTo>
                  <a:pt x="1862148" y="1674939"/>
                </a:lnTo>
                <a:lnTo>
                  <a:pt x="1852115" y="1668354"/>
                </a:lnTo>
                <a:lnTo>
                  <a:pt x="1837005" y="1672372"/>
                </a:lnTo>
                <a:lnTo>
                  <a:pt x="1830679" y="1677372"/>
                </a:lnTo>
                <a:lnTo>
                  <a:pt x="1828912" y="1693544"/>
                </a:lnTo>
                <a:lnTo>
                  <a:pt x="1820287" y="1697686"/>
                </a:lnTo>
                <a:lnTo>
                  <a:pt x="1819353" y="1750654"/>
                </a:lnTo>
                <a:lnTo>
                  <a:pt x="1803417" y="1752680"/>
                </a:lnTo>
                <a:lnTo>
                  <a:pt x="1797120" y="1746546"/>
                </a:lnTo>
                <a:lnTo>
                  <a:pt x="1799486" y="1752451"/>
                </a:lnTo>
                <a:lnTo>
                  <a:pt x="1781418" y="1753107"/>
                </a:lnTo>
                <a:lnTo>
                  <a:pt x="1769323" y="1766313"/>
                </a:lnTo>
                <a:lnTo>
                  <a:pt x="1742286" y="1760091"/>
                </a:lnTo>
                <a:lnTo>
                  <a:pt x="1740383" y="1772500"/>
                </a:lnTo>
                <a:lnTo>
                  <a:pt x="1722603" y="1777363"/>
                </a:lnTo>
                <a:lnTo>
                  <a:pt x="1713159" y="1757765"/>
                </a:lnTo>
                <a:lnTo>
                  <a:pt x="1717115" y="1751726"/>
                </a:lnTo>
                <a:lnTo>
                  <a:pt x="1698785" y="1751878"/>
                </a:lnTo>
                <a:lnTo>
                  <a:pt x="1695796" y="1768956"/>
                </a:lnTo>
                <a:lnTo>
                  <a:pt x="1684016" y="1785295"/>
                </a:lnTo>
                <a:lnTo>
                  <a:pt x="1671402" y="1767802"/>
                </a:lnTo>
                <a:lnTo>
                  <a:pt x="1665130" y="1766778"/>
                </a:lnTo>
                <a:lnTo>
                  <a:pt x="1672223" y="1754275"/>
                </a:lnTo>
                <a:lnTo>
                  <a:pt x="1653560" y="1749518"/>
                </a:lnTo>
                <a:lnTo>
                  <a:pt x="1644373" y="1737170"/>
                </a:lnTo>
                <a:lnTo>
                  <a:pt x="1623361" y="1738020"/>
                </a:lnTo>
                <a:lnTo>
                  <a:pt x="1602700" y="1752573"/>
                </a:lnTo>
                <a:lnTo>
                  <a:pt x="1579075" y="1744414"/>
                </a:lnTo>
                <a:lnTo>
                  <a:pt x="1577178" y="1755077"/>
                </a:lnTo>
                <a:lnTo>
                  <a:pt x="1554346" y="1759583"/>
                </a:lnTo>
                <a:lnTo>
                  <a:pt x="1539182" y="1797041"/>
                </a:lnTo>
                <a:lnTo>
                  <a:pt x="1510832" y="1823586"/>
                </a:lnTo>
                <a:lnTo>
                  <a:pt x="1502044" y="1817884"/>
                </a:lnTo>
                <a:lnTo>
                  <a:pt x="1503660" y="1801458"/>
                </a:lnTo>
                <a:lnTo>
                  <a:pt x="1497339" y="1798164"/>
                </a:lnTo>
                <a:lnTo>
                  <a:pt x="1483531" y="1794149"/>
                </a:lnTo>
                <a:lnTo>
                  <a:pt x="1467469" y="1798256"/>
                </a:lnTo>
                <a:lnTo>
                  <a:pt x="1457801" y="1783726"/>
                </a:lnTo>
                <a:lnTo>
                  <a:pt x="1440065" y="1793941"/>
                </a:lnTo>
                <a:lnTo>
                  <a:pt x="1430640" y="1779403"/>
                </a:lnTo>
                <a:lnTo>
                  <a:pt x="1404509" y="1785936"/>
                </a:lnTo>
                <a:lnTo>
                  <a:pt x="1396421" y="1781662"/>
                </a:lnTo>
                <a:lnTo>
                  <a:pt x="1404877" y="1760797"/>
                </a:lnTo>
                <a:lnTo>
                  <a:pt x="1393238" y="1758101"/>
                </a:lnTo>
                <a:lnTo>
                  <a:pt x="1392751" y="1749092"/>
                </a:lnTo>
                <a:lnTo>
                  <a:pt x="1377600" y="1747474"/>
                </a:lnTo>
                <a:lnTo>
                  <a:pt x="1336923" y="1726150"/>
                </a:lnTo>
                <a:lnTo>
                  <a:pt x="1328359" y="1728673"/>
                </a:lnTo>
                <a:lnTo>
                  <a:pt x="1315050" y="1780095"/>
                </a:lnTo>
                <a:lnTo>
                  <a:pt x="1305023" y="1784814"/>
                </a:lnTo>
                <a:lnTo>
                  <a:pt x="1308812" y="1787532"/>
                </a:lnTo>
                <a:lnTo>
                  <a:pt x="1307040" y="1806095"/>
                </a:lnTo>
                <a:lnTo>
                  <a:pt x="1287633" y="1796800"/>
                </a:lnTo>
                <a:lnTo>
                  <a:pt x="1292927" y="1808348"/>
                </a:lnTo>
                <a:lnTo>
                  <a:pt x="1286559" y="1818429"/>
                </a:lnTo>
                <a:lnTo>
                  <a:pt x="1292133" y="1834094"/>
                </a:lnTo>
                <a:lnTo>
                  <a:pt x="1287701" y="1838519"/>
                </a:lnTo>
                <a:lnTo>
                  <a:pt x="1301051" y="1850079"/>
                </a:lnTo>
                <a:lnTo>
                  <a:pt x="1291952" y="1871288"/>
                </a:lnTo>
                <a:lnTo>
                  <a:pt x="1287138" y="1854793"/>
                </a:lnTo>
                <a:lnTo>
                  <a:pt x="1275795" y="1863479"/>
                </a:lnTo>
                <a:lnTo>
                  <a:pt x="1272749" y="1887023"/>
                </a:lnTo>
                <a:lnTo>
                  <a:pt x="1259098" y="1891713"/>
                </a:lnTo>
                <a:lnTo>
                  <a:pt x="1256854" y="1901774"/>
                </a:lnTo>
                <a:lnTo>
                  <a:pt x="1245998" y="1905804"/>
                </a:lnTo>
                <a:lnTo>
                  <a:pt x="1225474" y="1899804"/>
                </a:lnTo>
                <a:lnTo>
                  <a:pt x="1215402" y="1888336"/>
                </a:lnTo>
                <a:lnTo>
                  <a:pt x="1206115" y="1899746"/>
                </a:lnTo>
                <a:lnTo>
                  <a:pt x="1195572" y="1889848"/>
                </a:lnTo>
                <a:lnTo>
                  <a:pt x="1172126" y="1895788"/>
                </a:lnTo>
                <a:lnTo>
                  <a:pt x="1176922" y="1919483"/>
                </a:lnTo>
                <a:lnTo>
                  <a:pt x="1159840" y="1922327"/>
                </a:lnTo>
                <a:lnTo>
                  <a:pt x="1150267" y="1933815"/>
                </a:lnTo>
                <a:lnTo>
                  <a:pt x="1133683" y="1938520"/>
                </a:lnTo>
                <a:lnTo>
                  <a:pt x="1122419" y="1935225"/>
                </a:lnTo>
                <a:lnTo>
                  <a:pt x="1118624" y="1951323"/>
                </a:lnTo>
                <a:lnTo>
                  <a:pt x="1097672" y="1969671"/>
                </a:lnTo>
                <a:lnTo>
                  <a:pt x="1089309" y="1990709"/>
                </a:lnTo>
                <a:lnTo>
                  <a:pt x="1093315" y="2000603"/>
                </a:lnTo>
                <a:lnTo>
                  <a:pt x="1080006" y="2007217"/>
                </a:lnTo>
                <a:lnTo>
                  <a:pt x="1051382" y="2004688"/>
                </a:lnTo>
                <a:lnTo>
                  <a:pt x="1025927" y="2011517"/>
                </a:lnTo>
                <a:lnTo>
                  <a:pt x="1014672" y="2024418"/>
                </a:lnTo>
                <a:lnTo>
                  <a:pt x="1024921" y="2051222"/>
                </a:lnTo>
                <a:lnTo>
                  <a:pt x="1018373" y="2071273"/>
                </a:lnTo>
                <a:lnTo>
                  <a:pt x="1006828" y="2076342"/>
                </a:lnTo>
                <a:lnTo>
                  <a:pt x="1004339" y="2084655"/>
                </a:lnTo>
                <a:lnTo>
                  <a:pt x="973891" y="2085287"/>
                </a:lnTo>
                <a:lnTo>
                  <a:pt x="967022" y="2069672"/>
                </a:lnTo>
                <a:lnTo>
                  <a:pt x="954304" y="2085700"/>
                </a:lnTo>
                <a:lnTo>
                  <a:pt x="941199" y="2085814"/>
                </a:lnTo>
                <a:lnTo>
                  <a:pt x="928158" y="2076549"/>
                </a:lnTo>
                <a:lnTo>
                  <a:pt x="924768" y="2078980"/>
                </a:lnTo>
                <a:lnTo>
                  <a:pt x="922809" y="2067091"/>
                </a:lnTo>
                <a:lnTo>
                  <a:pt x="909796" y="2052477"/>
                </a:lnTo>
                <a:lnTo>
                  <a:pt x="892109" y="2048026"/>
                </a:lnTo>
                <a:lnTo>
                  <a:pt x="884959" y="2040109"/>
                </a:lnTo>
                <a:lnTo>
                  <a:pt x="885090" y="2022965"/>
                </a:lnTo>
                <a:lnTo>
                  <a:pt x="873687" y="2012680"/>
                </a:lnTo>
                <a:lnTo>
                  <a:pt x="867121" y="1994125"/>
                </a:lnTo>
                <a:lnTo>
                  <a:pt x="857537" y="1950237"/>
                </a:lnTo>
                <a:lnTo>
                  <a:pt x="869167" y="1955843"/>
                </a:lnTo>
                <a:lnTo>
                  <a:pt x="886064" y="1924920"/>
                </a:lnTo>
                <a:lnTo>
                  <a:pt x="894429" y="1926545"/>
                </a:lnTo>
                <a:lnTo>
                  <a:pt x="890575" y="1904506"/>
                </a:lnTo>
                <a:lnTo>
                  <a:pt x="874430" y="1906021"/>
                </a:lnTo>
                <a:lnTo>
                  <a:pt x="877118" y="1894893"/>
                </a:lnTo>
                <a:lnTo>
                  <a:pt x="867417" y="1897305"/>
                </a:lnTo>
                <a:lnTo>
                  <a:pt x="859613" y="1912472"/>
                </a:lnTo>
                <a:lnTo>
                  <a:pt x="850221" y="1913403"/>
                </a:lnTo>
                <a:lnTo>
                  <a:pt x="847476" y="1924826"/>
                </a:lnTo>
                <a:lnTo>
                  <a:pt x="826478" y="1946448"/>
                </a:lnTo>
                <a:lnTo>
                  <a:pt x="812756" y="1948570"/>
                </a:lnTo>
                <a:lnTo>
                  <a:pt x="800321" y="1943365"/>
                </a:lnTo>
                <a:lnTo>
                  <a:pt x="789297" y="1956776"/>
                </a:lnTo>
                <a:lnTo>
                  <a:pt x="783019" y="1950502"/>
                </a:lnTo>
                <a:lnTo>
                  <a:pt x="777111" y="1959687"/>
                </a:lnTo>
                <a:lnTo>
                  <a:pt x="782335" y="1965098"/>
                </a:lnTo>
                <a:lnTo>
                  <a:pt x="771656" y="1971007"/>
                </a:lnTo>
                <a:lnTo>
                  <a:pt x="765959" y="1964933"/>
                </a:lnTo>
                <a:lnTo>
                  <a:pt x="759205" y="1973406"/>
                </a:lnTo>
                <a:lnTo>
                  <a:pt x="757551" y="2014187"/>
                </a:lnTo>
                <a:lnTo>
                  <a:pt x="741529" y="2026162"/>
                </a:lnTo>
                <a:lnTo>
                  <a:pt x="731178" y="1999029"/>
                </a:lnTo>
                <a:lnTo>
                  <a:pt x="736551" y="1978381"/>
                </a:lnTo>
                <a:lnTo>
                  <a:pt x="716330" y="1948554"/>
                </a:lnTo>
                <a:lnTo>
                  <a:pt x="710766" y="1929439"/>
                </a:lnTo>
                <a:lnTo>
                  <a:pt x="728256" y="1918767"/>
                </a:lnTo>
                <a:lnTo>
                  <a:pt x="729387" y="1900299"/>
                </a:lnTo>
                <a:lnTo>
                  <a:pt x="723270" y="1891985"/>
                </a:lnTo>
                <a:lnTo>
                  <a:pt x="731562" y="1883622"/>
                </a:lnTo>
                <a:lnTo>
                  <a:pt x="729519" y="1876259"/>
                </a:lnTo>
                <a:lnTo>
                  <a:pt x="725842" y="1885432"/>
                </a:lnTo>
                <a:lnTo>
                  <a:pt x="724778" y="1873996"/>
                </a:lnTo>
                <a:lnTo>
                  <a:pt x="711067" y="1863099"/>
                </a:lnTo>
                <a:lnTo>
                  <a:pt x="704316" y="1859275"/>
                </a:lnTo>
                <a:lnTo>
                  <a:pt x="697523" y="1866712"/>
                </a:lnTo>
                <a:lnTo>
                  <a:pt x="688141" y="1852294"/>
                </a:lnTo>
                <a:lnTo>
                  <a:pt x="680592" y="1847617"/>
                </a:lnTo>
                <a:lnTo>
                  <a:pt x="678095" y="1851484"/>
                </a:lnTo>
                <a:lnTo>
                  <a:pt x="679205" y="1821523"/>
                </a:lnTo>
                <a:lnTo>
                  <a:pt x="663129" y="1844110"/>
                </a:lnTo>
                <a:lnTo>
                  <a:pt x="660148" y="1833167"/>
                </a:lnTo>
                <a:lnTo>
                  <a:pt x="647635" y="1835668"/>
                </a:lnTo>
                <a:lnTo>
                  <a:pt x="621969" y="1827887"/>
                </a:lnTo>
                <a:lnTo>
                  <a:pt x="622271" y="1816899"/>
                </a:lnTo>
                <a:lnTo>
                  <a:pt x="634131" y="1805979"/>
                </a:lnTo>
                <a:lnTo>
                  <a:pt x="629248" y="1799153"/>
                </a:lnTo>
                <a:lnTo>
                  <a:pt x="635165" y="1794805"/>
                </a:lnTo>
                <a:lnTo>
                  <a:pt x="625397" y="1774809"/>
                </a:lnTo>
                <a:lnTo>
                  <a:pt x="632192" y="1755877"/>
                </a:lnTo>
                <a:lnTo>
                  <a:pt x="630724" y="1749356"/>
                </a:lnTo>
                <a:lnTo>
                  <a:pt x="623386" y="1749892"/>
                </a:lnTo>
                <a:lnTo>
                  <a:pt x="630117" y="1737819"/>
                </a:lnTo>
                <a:lnTo>
                  <a:pt x="612583" y="1734890"/>
                </a:lnTo>
                <a:lnTo>
                  <a:pt x="619449" y="1712223"/>
                </a:lnTo>
                <a:lnTo>
                  <a:pt x="604729" y="1695103"/>
                </a:lnTo>
                <a:lnTo>
                  <a:pt x="611255" y="1682059"/>
                </a:lnTo>
                <a:lnTo>
                  <a:pt x="600752" y="1677169"/>
                </a:lnTo>
                <a:lnTo>
                  <a:pt x="595287" y="1665358"/>
                </a:lnTo>
                <a:lnTo>
                  <a:pt x="594265" y="1633512"/>
                </a:lnTo>
                <a:lnTo>
                  <a:pt x="583590" y="1615830"/>
                </a:lnTo>
                <a:lnTo>
                  <a:pt x="584548" y="1599664"/>
                </a:lnTo>
                <a:lnTo>
                  <a:pt x="600090" y="1590366"/>
                </a:lnTo>
                <a:lnTo>
                  <a:pt x="575276" y="1576593"/>
                </a:lnTo>
                <a:lnTo>
                  <a:pt x="593719" y="1570260"/>
                </a:lnTo>
                <a:lnTo>
                  <a:pt x="590178" y="1539324"/>
                </a:lnTo>
                <a:lnTo>
                  <a:pt x="570192" y="1533283"/>
                </a:lnTo>
                <a:lnTo>
                  <a:pt x="554405" y="1521424"/>
                </a:lnTo>
                <a:lnTo>
                  <a:pt x="554111" y="1510474"/>
                </a:lnTo>
                <a:lnTo>
                  <a:pt x="545113" y="1496339"/>
                </a:lnTo>
                <a:lnTo>
                  <a:pt x="522087" y="1494715"/>
                </a:lnTo>
                <a:lnTo>
                  <a:pt x="501492" y="1463408"/>
                </a:lnTo>
                <a:lnTo>
                  <a:pt x="486671" y="1467858"/>
                </a:lnTo>
                <a:lnTo>
                  <a:pt x="483704" y="1487899"/>
                </a:lnTo>
                <a:lnTo>
                  <a:pt x="493465" y="1509054"/>
                </a:lnTo>
                <a:lnTo>
                  <a:pt x="460018" y="1473255"/>
                </a:lnTo>
                <a:lnTo>
                  <a:pt x="468355" y="1490154"/>
                </a:lnTo>
                <a:lnTo>
                  <a:pt x="459907" y="1507238"/>
                </a:lnTo>
                <a:lnTo>
                  <a:pt x="460887" y="1524508"/>
                </a:lnTo>
                <a:lnTo>
                  <a:pt x="439725" y="1566429"/>
                </a:lnTo>
                <a:lnTo>
                  <a:pt x="424515" y="1566721"/>
                </a:lnTo>
                <a:lnTo>
                  <a:pt x="427080" y="1570500"/>
                </a:lnTo>
                <a:lnTo>
                  <a:pt x="419279" y="1575376"/>
                </a:lnTo>
                <a:lnTo>
                  <a:pt x="398862" y="1560229"/>
                </a:lnTo>
                <a:lnTo>
                  <a:pt x="382572" y="1562842"/>
                </a:lnTo>
                <a:lnTo>
                  <a:pt x="381703" y="1595613"/>
                </a:lnTo>
                <a:lnTo>
                  <a:pt x="356925" y="1598449"/>
                </a:lnTo>
                <a:lnTo>
                  <a:pt x="368461" y="1620189"/>
                </a:lnTo>
                <a:lnTo>
                  <a:pt x="344504" y="1642483"/>
                </a:lnTo>
                <a:lnTo>
                  <a:pt x="350940" y="1663640"/>
                </a:lnTo>
                <a:lnTo>
                  <a:pt x="331713" y="1656423"/>
                </a:lnTo>
                <a:lnTo>
                  <a:pt x="213035" y="1456275"/>
                </a:lnTo>
                <a:lnTo>
                  <a:pt x="181843" y="1367974"/>
                </a:lnTo>
                <a:lnTo>
                  <a:pt x="160281" y="1326240"/>
                </a:lnTo>
                <a:lnTo>
                  <a:pt x="130696" y="1231511"/>
                </a:lnTo>
                <a:lnTo>
                  <a:pt x="96990" y="1175732"/>
                </a:lnTo>
                <a:lnTo>
                  <a:pt x="90237" y="1145820"/>
                </a:lnTo>
                <a:lnTo>
                  <a:pt x="73783" y="1133910"/>
                </a:lnTo>
                <a:lnTo>
                  <a:pt x="58499" y="1104963"/>
                </a:lnTo>
                <a:lnTo>
                  <a:pt x="38222" y="1093355"/>
                </a:lnTo>
                <a:lnTo>
                  <a:pt x="26993" y="1065139"/>
                </a:lnTo>
                <a:lnTo>
                  <a:pt x="28352" y="1056233"/>
                </a:lnTo>
                <a:lnTo>
                  <a:pt x="0" y="1033699"/>
                </a:lnTo>
                <a:lnTo>
                  <a:pt x="142" y="1023413"/>
                </a:lnTo>
                <a:lnTo>
                  <a:pt x="5277" y="1016112"/>
                </a:lnTo>
                <a:lnTo>
                  <a:pt x="31951" y="1005312"/>
                </a:lnTo>
                <a:lnTo>
                  <a:pt x="46686" y="989336"/>
                </a:lnTo>
                <a:lnTo>
                  <a:pt x="53829" y="995332"/>
                </a:lnTo>
                <a:lnTo>
                  <a:pt x="60922" y="993969"/>
                </a:lnTo>
                <a:lnTo>
                  <a:pt x="69571" y="979878"/>
                </a:lnTo>
                <a:lnTo>
                  <a:pt x="67119" y="968400"/>
                </a:lnTo>
                <a:lnTo>
                  <a:pt x="75363" y="959098"/>
                </a:lnTo>
                <a:lnTo>
                  <a:pt x="61644" y="937034"/>
                </a:lnTo>
                <a:lnTo>
                  <a:pt x="77414" y="934977"/>
                </a:lnTo>
                <a:lnTo>
                  <a:pt x="71709" y="923299"/>
                </a:lnTo>
                <a:lnTo>
                  <a:pt x="83483" y="919837"/>
                </a:lnTo>
                <a:lnTo>
                  <a:pt x="77115" y="908715"/>
                </a:lnTo>
                <a:lnTo>
                  <a:pt x="90005" y="909425"/>
                </a:lnTo>
                <a:lnTo>
                  <a:pt x="88095" y="887776"/>
                </a:lnTo>
                <a:lnTo>
                  <a:pt x="107392" y="878937"/>
                </a:lnTo>
                <a:lnTo>
                  <a:pt x="114335" y="882704"/>
                </a:lnTo>
                <a:lnTo>
                  <a:pt x="130842" y="870700"/>
                </a:lnTo>
                <a:lnTo>
                  <a:pt x="145164" y="885230"/>
                </a:lnTo>
                <a:lnTo>
                  <a:pt x="157544" y="888310"/>
                </a:lnTo>
                <a:lnTo>
                  <a:pt x="156980" y="912787"/>
                </a:lnTo>
                <a:lnTo>
                  <a:pt x="164958" y="923652"/>
                </a:lnTo>
                <a:lnTo>
                  <a:pt x="191379" y="916289"/>
                </a:lnTo>
                <a:lnTo>
                  <a:pt x="203535" y="933427"/>
                </a:lnTo>
                <a:lnTo>
                  <a:pt x="211497" y="959607"/>
                </a:lnTo>
                <a:lnTo>
                  <a:pt x="206427" y="969526"/>
                </a:lnTo>
                <a:lnTo>
                  <a:pt x="198324" y="970578"/>
                </a:lnTo>
                <a:lnTo>
                  <a:pt x="195415" y="980138"/>
                </a:lnTo>
                <a:lnTo>
                  <a:pt x="207543" y="1003332"/>
                </a:lnTo>
                <a:lnTo>
                  <a:pt x="219223" y="1003940"/>
                </a:lnTo>
                <a:lnTo>
                  <a:pt x="218578" y="1041822"/>
                </a:lnTo>
                <a:lnTo>
                  <a:pt x="251724" y="1030471"/>
                </a:lnTo>
                <a:lnTo>
                  <a:pt x="258718" y="1032359"/>
                </a:lnTo>
                <a:lnTo>
                  <a:pt x="263640" y="1048996"/>
                </a:lnTo>
                <a:lnTo>
                  <a:pt x="270799" y="1051892"/>
                </a:lnTo>
                <a:lnTo>
                  <a:pt x="293275" y="1041839"/>
                </a:lnTo>
                <a:lnTo>
                  <a:pt x="331404" y="1045739"/>
                </a:lnTo>
                <a:lnTo>
                  <a:pt x="349142" y="1056336"/>
                </a:lnTo>
                <a:lnTo>
                  <a:pt x="361911" y="1072201"/>
                </a:lnTo>
                <a:lnTo>
                  <a:pt x="370171" y="1070789"/>
                </a:lnTo>
                <a:lnTo>
                  <a:pt x="394476" y="1081053"/>
                </a:lnTo>
                <a:lnTo>
                  <a:pt x="410780" y="1070692"/>
                </a:lnTo>
                <a:lnTo>
                  <a:pt x="446991" y="1074154"/>
                </a:lnTo>
                <a:lnTo>
                  <a:pt x="514864" y="1052737"/>
                </a:lnTo>
                <a:lnTo>
                  <a:pt x="561388" y="1056881"/>
                </a:lnTo>
                <a:lnTo>
                  <a:pt x="574670" y="1063878"/>
                </a:lnTo>
                <a:lnTo>
                  <a:pt x="578823" y="1074455"/>
                </a:lnTo>
                <a:lnTo>
                  <a:pt x="599205" y="1082794"/>
                </a:lnTo>
                <a:lnTo>
                  <a:pt x="611995" y="1081168"/>
                </a:lnTo>
                <a:lnTo>
                  <a:pt x="631442" y="1065018"/>
                </a:lnTo>
                <a:lnTo>
                  <a:pt x="642756" y="1062377"/>
                </a:lnTo>
                <a:lnTo>
                  <a:pt x="629039" y="1042173"/>
                </a:lnTo>
                <a:lnTo>
                  <a:pt x="634823" y="1023868"/>
                </a:lnTo>
                <a:lnTo>
                  <a:pt x="665077" y="1020924"/>
                </a:lnTo>
                <a:lnTo>
                  <a:pt x="678922" y="1012400"/>
                </a:lnTo>
                <a:lnTo>
                  <a:pt x="686022" y="985143"/>
                </a:lnTo>
                <a:lnTo>
                  <a:pt x="693108" y="981262"/>
                </a:lnTo>
                <a:lnTo>
                  <a:pt x="699118" y="965755"/>
                </a:lnTo>
                <a:lnTo>
                  <a:pt x="712318" y="960864"/>
                </a:lnTo>
                <a:lnTo>
                  <a:pt x="722275" y="965581"/>
                </a:lnTo>
                <a:lnTo>
                  <a:pt x="737611" y="953280"/>
                </a:lnTo>
                <a:lnTo>
                  <a:pt x="754691" y="958310"/>
                </a:lnTo>
                <a:lnTo>
                  <a:pt x="768361" y="940921"/>
                </a:lnTo>
                <a:lnTo>
                  <a:pt x="795758" y="935937"/>
                </a:lnTo>
                <a:lnTo>
                  <a:pt x="758391" y="0"/>
                </a:lnTo>
                <a:lnTo>
                  <a:pt x="780335" y="16244"/>
                </a:lnTo>
                <a:lnTo>
                  <a:pt x="788079" y="29240"/>
                </a:lnTo>
                <a:lnTo>
                  <a:pt x="820582" y="37911"/>
                </a:lnTo>
                <a:lnTo>
                  <a:pt x="829763" y="52115"/>
                </a:lnTo>
                <a:lnTo>
                  <a:pt x="850654" y="65052"/>
                </a:lnTo>
                <a:lnTo>
                  <a:pt x="849660" y="72139"/>
                </a:lnTo>
                <a:lnTo>
                  <a:pt x="857717" y="77216"/>
                </a:lnTo>
                <a:lnTo>
                  <a:pt x="862599" y="95298"/>
                </a:lnTo>
                <a:lnTo>
                  <a:pt x="871479" y="95633"/>
                </a:lnTo>
                <a:lnTo>
                  <a:pt x="866600" y="106579"/>
                </a:lnTo>
                <a:lnTo>
                  <a:pt x="879069" y="113635"/>
                </a:lnTo>
                <a:lnTo>
                  <a:pt x="879629" y="124842"/>
                </a:lnTo>
                <a:lnTo>
                  <a:pt x="890498" y="128023"/>
                </a:lnTo>
                <a:lnTo>
                  <a:pt x="883333" y="136189"/>
                </a:lnTo>
                <a:lnTo>
                  <a:pt x="891043" y="136782"/>
                </a:lnTo>
                <a:lnTo>
                  <a:pt x="895029" y="154271"/>
                </a:lnTo>
                <a:lnTo>
                  <a:pt x="904366" y="155260"/>
                </a:lnTo>
                <a:lnTo>
                  <a:pt x="904562" y="163624"/>
                </a:lnTo>
                <a:lnTo>
                  <a:pt x="911447" y="162842"/>
                </a:lnTo>
                <a:lnTo>
                  <a:pt x="909805" y="172240"/>
                </a:lnTo>
                <a:lnTo>
                  <a:pt x="921753" y="169619"/>
                </a:lnTo>
                <a:lnTo>
                  <a:pt x="913083" y="175111"/>
                </a:lnTo>
                <a:lnTo>
                  <a:pt x="911892" y="188331"/>
                </a:lnTo>
                <a:lnTo>
                  <a:pt x="928484" y="205674"/>
                </a:lnTo>
                <a:lnTo>
                  <a:pt x="920958" y="208220"/>
                </a:lnTo>
                <a:lnTo>
                  <a:pt x="918097" y="216876"/>
                </a:lnTo>
                <a:lnTo>
                  <a:pt x="926441" y="216068"/>
                </a:lnTo>
                <a:lnTo>
                  <a:pt x="924600" y="230179"/>
                </a:lnTo>
                <a:lnTo>
                  <a:pt x="934148" y="237097"/>
                </a:lnTo>
                <a:lnTo>
                  <a:pt x="937754" y="250511"/>
                </a:lnTo>
                <a:lnTo>
                  <a:pt x="945164" y="252501"/>
                </a:lnTo>
                <a:lnTo>
                  <a:pt x="939936" y="263487"/>
                </a:lnTo>
                <a:lnTo>
                  <a:pt x="951083" y="258095"/>
                </a:lnTo>
                <a:lnTo>
                  <a:pt x="950248" y="271392"/>
                </a:lnTo>
                <a:lnTo>
                  <a:pt x="957398" y="274926"/>
                </a:lnTo>
                <a:lnTo>
                  <a:pt x="955455" y="288097"/>
                </a:lnTo>
                <a:lnTo>
                  <a:pt x="964416" y="296761"/>
                </a:lnTo>
                <a:lnTo>
                  <a:pt x="959052" y="309701"/>
                </a:lnTo>
                <a:lnTo>
                  <a:pt x="965782" y="328541"/>
                </a:lnTo>
                <a:lnTo>
                  <a:pt x="961172" y="335106"/>
                </a:lnTo>
                <a:lnTo>
                  <a:pt x="971169" y="341722"/>
                </a:lnTo>
                <a:lnTo>
                  <a:pt x="934316" y="410817"/>
                </a:lnTo>
                <a:lnTo>
                  <a:pt x="917239" y="423209"/>
                </a:lnTo>
                <a:lnTo>
                  <a:pt x="914978" y="441445"/>
                </a:lnTo>
                <a:lnTo>
                  <a:pt x="922044" y="460923"/>
                </a:lnTo>
                <a:lnTo>
                  <a:pt x="921436" y="510877"/>
                </a:lnTo>
                <a:lnTo>
                  <a:pt x="927090" y="521447"/>
                </a:lnTo>
                <a:lnTo>
                  <a:pt x="935742" y="524098"/>
                </a:lnTo>
                <a:lnTo>
                  <a:pt x="936945" y="541159"/>
                </a:lnTo>
                <a:lnTo>
                  <a:pt x="943397" y="531398"/>
                </a:lnTo>
                <a:lnTo>
                  <a:pt x="954481" y="530037"/>
                </a:lnTo>
                <a:lnTo>
                  <a:pt x="966371" y="523303"/>
                </a:lnTo>
                <a:lnTo>
                  <a:pt x="967178" y="517545"/>
                </a:lnTo>
                <a:lnTo>
                  <a:pt x="984728" y="511065"/>
                </a:lnTo>
                <a:lnTo>
                  <a:pt x="1039454" y="529080"/>
                </a:lnTo>
                <a:lnTo>
                  <a:pt x="1101113" y="513957"/>
                </a:lnTo>
                <a:lnTo>
                  <a:pt x="1129003" y="523308"/>
                </a:lnTo>
                <a:lnTo>
                  <a:pt x="1140351" y="517371"/>
                </a:lnTo>
                <a:lnTo>
                  <a:pt x="1152297" y="523878"/>
                </a:lnTo>
                <a:lnTo>
                  <a:pt x="1168553" y="521758"/>
                </a:lnTo>
                <a:lnTo>
                  <a:pt x="1187190" y="506469"/>
                </a:lnTo>
                <a:lnTo>
                  <a:pt x="1184377" y="477593"/>
                </a:lnTo>
                <a:lnTo>
                  <a:pt x="1196141" y="469759"/>
                </a:lnTo>
                <a:lnTo>
                  <a:pt x="1224888" y="471646"/>
                </a:lnTo>
                <a:lnTo>
                  <a:pt x="1248180" y="461731"/>
                </a:lnTo>
                <a:lnTo>
                  <a:pt x="1254212" y="447702"/>
                </a:lnTo>
                <a:lnTo>
                  <a:pt x="1273205" y="429123"/>
                </a:lnTo>
                <a:lnTo>
                  <a:pt x="1279752" y="399746"/>
                </a:lnTo>
                <a:lnTo>
                  <a:pt x="1291567" y="387454"/>
                </a:lnTo>
                <a:lnTo>
                  <a:pt x="1318096" y="381364"/>
                </a:lnTo>
                <a:lnTo>
                  <a:pt x="1317921" y="371204"/>
                </a:lnTo>
                <a:lnTo>
                  <a:pt x="1326978" y="367707"/>
                </a:lnTo>
                <a:lnTo>
                  <a:pt x="1330724" y="355239"/>
                </a:lnTo>
                <a:lnTo>
                  <a:pt x="1338596" y="355963"/>
                </a:lnTo>
                <a:lnTo>
                  <a:pt x="1343088" y="348661"/>
                </a:lnTo>
                <a:lnTo>
                  <a:pt x="1361315" y="354759"/>
                </a:lnTo>
                <a:lnTo>
                  <a:pt x="1366762" y="333572"/>
                </a:lnTo>
                <a:lnTo>
                  <a:pt x="1395457" y="327203"/>
                </a:lnTo>
                <a:lnTo>
                  <a:pt x="1398154" y="401568"/>
                </a:lnTo>
                <a:lnTo>
                  <a:pt x="1420067" y="412098"/>
                </a:lnTo>
                <a:lnTo>
                  <a:pt x="1430144" y="392026"/>
                </a:lnTo>
                <a:lnTo>
                  <a:pt x="1442673" y="333015"/>
                </a:lnTo>
                <a:lnTo>
                  <a:pt x="1459795" y="334423"/>
                </a:lnTo>
                <a:lnTo>
                  <a:pt x="1460900" y="318407"/>
                </a:lnTo>
                <a:lnTo>
                  <a:pt x="1478886" y="320436"/>
                </a:lnTo>
                <a:lnTo>
                  <a:pt x="1483543" y="290582"/>
                </a:lnTo>
                <a:lnTo>
                  <a:pt x="1537565" y="292412"/>
                </a:lnTo>
                <a:lnTo>
                  <a:pt x="1553046" y="295607"/>
                </a:lnTo>
                <a:lnTo>
                  <a:pt x="1545587" y="317004"/>
                </a:lnTo>
                <a:lnTo>
                  <a:pt x="1517352" y="307997"/>
                </a:lnTo>
                <a:lnTo>
                  <a:pt x="1513807" y="324163"/>
                </a:lnTo>
                <a:lnTo>
                  <a:pt x="1535860" y="330524"/>
                </a:lnTo>
                <a:lnTo>
                  <a:pt x="1515731" y="363896"/>
                </a:lnTo>
                <a:lnTo>
                  <a:pt x="1529869" y="381126"/>
                </a:lnTo>
                <a:lnTo>
                  <a:pt x="1526779" y="418477"/>
                </a:lnTo>
                <a:lnTo>
                  <a:pt x="1572142" y="429545"/>
                </a:lnTo>
                <a:lnTo>
                  <a:pt x="1600169" y="451205"/>
                </a:lnTo>
                <a:lnTo>
                  <a:pt x="1578343" y="482802"/>
                </a:lnTo>
                <a:lnTo>
                  <a:pt x="1662739" y="520332"/>
                </a:lnTo>
                <a:lnTo>
                  <a:pt x="1666392" y="511761"/>
                </a:lnTo>
                <a:lnTo>
                  <a:pt x="1677263" y="511948"/>
                </a:lnTo>
                <a:lnTo>
                  <a:pt x="1689604" y="521128"/>
                </a:lnTo>
                <a:lnTo>
                  <a:pt x="1705298" y="561776"/>
                </a:lnTo>
                <a:lnTo>
                  <a:pt x="1691296" y="568449"/>
                </a:lnTo>
                <a:lnTo>
                  <a:pt x="1673477" y="612917"/>
                </a:lnTo>
                <a:lnTo>
                  <a:pt x="1717041" y="638333"/>
                </a:lnTo>
                <a:lnTo>
                  <a:pt x="1709475" y="666328"/>
                </a:lnTo>
                <a:lnTo>
                  <a:pt x="1709392" y="702120"/>
                </a:lnTo>
                <a:lnTo>
                  <a:pt x="1724919" y="706863"/>
                </a:lnTo>
                <a:lnTo>
                  <a:pt x="1719319" y="728171"/>
                </a:lnTo>
                <a:lnTo>
                  <a:pt x="1723402" y="736852"/>
                </a:lnTo>
                <a:lnTo>
                  <a:pt x="1790282" y="721660"/>
                </a:lnTo>
                <a:lnTo>
                  <a:pt x="1799749" y="727155"/>
                </a:lnTo>
                <a:lnTo>
                  <a:pt x="1791191" y="742090"/>
                </a:lnTo>
                <a:lnTo>
                  <a:pt x="1801161" y="747525"/>
                </a:lnTo>
                <a:lnTo>
                  <a:pt x="1780387" y="780391"/>
                </a:lnTo>
                <a:lnTo>
                  <a:pt x="1787723" y="788250"/>
                </a:lnTo>
                <a:lnTo>
                  <a:pt x="1791645" y="783563"/>
                </a:lnTo>
                <a:lnTo>
                  <a:pt x="1804733" y="798146"/>
                </a:lnTo>
                <a:lnTo>
                  <a:pt x="1799631" y="811298"/>
                </a:lnTo>
                <a:lnTo>
                  <a:pt x="1820127" y="826604"/>
                </a:lnTo>
                <a:lnTo>
                  <a:pt x="1826696" y="820936"/>
                </a:lnTo>
                <a:lnTo>
                  <a:pt x="1825710" y="812949"/>
                </a:lnTo>
                <a:lnTo>
                  <a:pt x="1836927" y="809961"/>
                </a:lnTo>
                <a:lnTo>
                  <a:pt x="1841305" y="802856"/>
                </a:lnTo>
                <a:lnTo>
                  <a:pt x="1836405" y="777020"/>
                </a:lnTo>
                <a:lnTo>
                  <a:pt x="1841622" y="778154"/>
                </a:lnTo>
                <a:lnTo>
                  <a:pt x="1848004" y="765284"/>
                </a:lnTo>
                <a:lnTo>
                  <a:pt x="1856751" y="763956"/>
                </a:lnTo>
                <a:lnTo>
                  <a:pt x="1848042" y="749499"/>
                </a:lnTo>
                <a:lnTo>
                  <a:pt x="1855979" y="735341"/>
                </a:lnTo>
                <a:lnTo>
                  <a:pt x="1851167" y="722546"/>
                </a:lnTo>
                <a:lnTo>
                  <a:pt x="1855595" y="712220"/>
                </a:lnTo>
                <a:lnTo>
                  <a:pt x="1871475" y="709120"/>
                </a:lnTo>
                <a:lnTo>
                  <a:pt x="1870260" y="703076"/>
                </a:lnTo>
                <a:lnTo>
                  <a:pt x="1876534" y="701798"/>
                </a:lnTo>
                <a:lnTo>
                  <a:pt x="1880410" y="726629"/>
                </a:lnTo>
                <a:lnTo>
                  <a:pt x="1925600" y="721235"/>
                </a:lnTo>
                <a:lnTo>
                  <a:pt x="1936568" y="726072"/>
                </a:lnTo>
                <a:lnTo>
                  <a:pt x="1890890" y="780159"/>
                </a:lnTo>
                <a:lnTo>
                  <a:pt x="1893284" y="783772"/>
                </a:lnTo>
                <a:lnTo>
                  <a:pt x="1887018" y="785304"/>
                </a:lnTo>
                <a:lnTo>
                  <a:pt x="1914464" y="831797"/>
                </a:lnTo>
                <a:lnTo>
                  <a:pt x="1919628" y="823566"/>
                </a:lnTo>
                <a:lnTo>
                  <a:pt x="1932033" y="821636"/>
                </a:lnTo>
                <a:lnTo>
                  <a:pt x="1917641" y="866964"/>
                </a:lnTo>
                <a:lnTo>
                  <a:pt x="1896343" y="872001"/>
                </a:lnTo>
                <a:lnTo>
                  <a:pt x="1900844" y="882187"/>
                </a:lnTo>
                <a:lnTo>
                  <a:pt x="1911548" y="885936"/>
                </a:lnTo>
                <a:lnTo>
                  <a:pt x="1900078" y="921762"/>
                </a:lnTo>
                <a:lnTo>
                  <a:pt x="1891076" y="931691"/>
                </a:lnTo>
                <a:lnTo>
                  <a:pt x="1895808" y="935084"/>
                </a:lnTo>
                <a:lnTo>
                  <a:pt x="1886793" y="963201"/>
                </a:lnTo>
                <a:lnTo>
                  <a:pt x="1903519" y="968570"/>
                </a:lnTo>
                <a:lnTo>
                  <a:pt x="1779694" y="1226739"/>
                </a:lnTo>
                <a:lnTo>
                  <a:pt x="1780260" y="1238826"/>
                </a:lnTo>
                <a:lnTo>
                  <a:pt x="1800501" y="1267257"/>
                </a:lnTo>
                <a:lnTo>
                  <a:pt x="1813623" y="1267527"/>
                </a:lnTo>
                <a:lnTo>
                  <a:pt x="1838292" y="1291786"/>
                </a:lnTo>
                <a:lnTo>
                  <a:pt x="1851014" y="1289366"/>
                </a:lnTo>
                <a:lnTo>
                  <a:pt x="1853162" y="1308190"/>
                </a:lnTo>
                <a:lnTo>
                  <a:pt x="1879790" y="1314118"/>
                </a:lnTo>
                <a:lnTo>
                  <a:pt x="1880671" y="1327567"/>
                </a:lnTo>
                <a:lnTo>
                  <a:pt x="1897011" y="1348758"/>
                </a:lnTo>
                <a:lnTo>
                  <a:pt x="1903442" y="1367217"/>
                </a:lnTo>
                <a:lnTo>
                  <a:pt x="1909023" y="1365673"/>
                </a:lnTo>
                <a:lnTo>
                  <a:pt x="1915489" y="1372163"/>
                </a:lnTo>
                <a:lnTo>
                  <a:pt x="1913786" y="1378748"/>
                </a:lnTo>
                <a:lnTo>
                  <a:pt x="1922627" y="1388506"/>
                </a:lnTo>
                <a:lnTo>
                  <a:pt x="1933305" y="1387532"/>
                </a:lnTo>
                <a:lnTo>
                  <a:pt x="1934156" y="1407000"/>
                </a:lnTo>
                <a:lnTo>
                  <a:pt x="1946985" y="1409793"/>
                </a:lnTo>
                <a:lnTo>
                  <a:pt x="1967666" y="1441854"/>
                </a:lnTo>
                <a:lnTo>
                  <a:pt x="1977792" y="1442261"/>
                </a:lnTo>
                <a:lnTo>
                  <a:pt x="1993271" y="1461895"/>
                </a:lnTo>
                <a:lnTo>
                  <a:pt x="1999537" y="1457083"/>
                </a:lnTo>
                <a:lnTo>
                  <a:pt x="2018198" y="1462263"/>
                </a:lnTo>
                <a:lnTo>
                  <a:pt x="2027994" y="1475194"/>
                </a:lnTo>
                <a:close/>
              </a:path>
            </a:pathLst>
          </a:custGeom>
          <a:noFill/>
          <a:ln w="1905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6" name="Working geographic region: Western coastal"/>
          <p:cNvSpPr/>
          <p:nvPr/>
        </p:nvSpPr>
        <p:spPr>
          <a:xfrm>
            <a:off x="2284853" y="5322748"/>
            <a:ext cx="5752" cy="7186"/>
          </a:xfrm>
          <a:custGeom>
            <a:avLst/>
            <a:gdLst/>
            <a:ahLst/>
            <a:cxnLst/>
            <a:rect l="l" t="t" r="r" b="b"/>
            <a:pathLst>
              <a:path w="5752" h="7186">
                <a:moveTo>
                  <a:pt x="0" y="2653"/>
                </a:moveTo>
                <a:lnTo>
                  <a:pt x="3500" y="0"/>
                </a:lnTo>
                <a:lnTo>
                  <a:pt x="5752" y="5055"/>
                </a:lnTo>
                <a:lnTo>
                  <a:pt x="3290" y="7186"/>
                </a:lnTo>
                <a:lnTo>
                  <a:pt x="0" y="2653"/>
                </a:lnTo>
                <a:close/>
              </a:path>
            </a:pathLst>
          </a:custGeom>
          <a:noFill/>
          <a:ln w="1905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7" name="Working geographic region: Western coastal"/>
          <p:cNvSpPr/>
          <p:nvPr/>
        </p:nvSpPr>
        <p:spPr>
          <a:xfrm>
            <a:off x="2220092" y="5229576"/>
            <a:ext cx="3544" cy="4871"/>
          </a:xfrm>
          <a:custGeom>
            <a:avLst/>
            <a:gdLst/>
            <a:ahLst/>
            <a:cxnLst/>
            <a:rect l="l" t="t" r="r" b="b"/>
            <a:pathLst>
              <a:path w="3544" h="4871">
                <a:moveTo>
                  <a:pt x="1386" y="0"/>
                </a:moveTo>
                <a:lnTo>
                  <a:pt x="3544" y="4547"/>
                </a:lnTo>
                <a:lnTo>
                  <a:pt x="0" y="4871"/>
                </a:lnTo>
                <a:lnTo>
                  <a:pt x="1386" y="0"/>
                </a:lnTo>
                <a:close/>
              </a:path>
            </a:pathLst>
          </a:custGeom>
          <a:noFill/>
          <a:ln w="1905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8" name="Working geographic region: Western coastal"/>
          <p:cNvSpPr/>
          <p:nvPr/>
        </p:nvSpPr>
        <p:spPr>
          <a:xfrm>
            <a:off x="2112260" y="4460901"/>
            <a:ext cx="1422285" cy="1110490"/>
          </a:xfrm>
          <a:custGeom>
            <a:avLst/>
            <a:gdLst/>
            <a:ahLst/>
            <a:cxnLst/>
            <a:rect l="l" t="t" r="r" b="b"/>
            <a:pathLst>
              <a:path w="1422285" h="1110490">
                <a:moveTo>
                  <a:pt x="1400506" y="324117"/>
                </a:moveTo>
                <a:lnTo>
                  <a:pt x="1396647" y="339411"/>
                </a:lnTo>
                <a:lnTo>
                  <a:pt x="1409480" y="338180"/>
                </a:lnTo>
                <a:lnTo>
                  <a:pt x="1422285" y="351706"/>
                </a:lnTo>
                <a:lnTo>
                  <a:pt x="1415188" y="366234"/>
                </a:lnTo>
                <a:lnTo>
                  <a:pt x="1404603" y="366172"/>
                </a:lnTo>
                <a:lnTo>
                  <a:pt x="1404726" y="376313"/>
                </a:lnTo>
                <a:lnTo>
                  <a:pt x="1396433" y="381115"/>
                </a:lnTo>
                <a:lnTo>
                  <a:pt x="1395435" y="391581"/>
                </a:lnTo>
                <a:lnTo>
                  <a:pt x="1397950" y="384787"/>
                </a:lnTo>
                <a:lnTo>
                  <a:pt x="1403662" y="394681"/>
                </a:lnTo>
                <a:lnTo>
                  <a:pt x="1396036" y="405190"/>
                </a:lnTo>
                <a:lnTo>
                  <a:pt x="1382502" y="403797"/>
                </a:lnTo>
                <a:lnTo>
                  <a:pt x="1380948" y="412852"/>
                </a:lnTo>
                <a:lnTo>
                  <a:pt x="1365879" y="416318"/>
                </a:lnTo>
                <a:lnTo>
                  <a:pt x="1351020" y="428843"/>
                </a:lnTo>
                <a:lnTo>
                  <a:pt x="1323379" y="409626"/>
                </a:lnTo>
                <a:lnTo>
                  <a:pt x="1302711" y="424931"/>
                </a:lnTo>
                <a:lnTo>
                  <a:pt x="1298206" y="440420"/>
                </a:lnTo>
                <a:lnTo>
                  <a:pt x="1304716" y="448298"/>
                </a:lnTo>
                <a:lnTo>
                  <a:pt x="1301889" y="452198"/>
                </a:lnTo>
                <a:lnTo>
                  <a:pt x="1254837" y="447423"/>
                </a:lnTo>
                <a:lnTo>
                  <a:pt x="1246581" y="464400"/>
                </a:lnTo>
                <a:lnTo>
                  <a:pt x="1229754" y="454901"/>
                </a:lnTo>
                <a:lnTo>
                  <a:pt x="1224342" y="466434"/>
                </a:lnTo>
                <a:lnTo>
                  <a:pt x="1205848" y="474161"/>
                </a:lnTo>
                <a:lnTo>
                  <a:pt x="1211173" y="496639"/>
                </a:lnTo>
                <a:lnTo>
                  <a:pt x="1220800" y="506210"/>
                </a:lnTo>
                <a:lnTo>
                  <a:pt x="1225188" y="521599"/>
                </a:lnTo>
                <a:lnTo>
                  <a:pt x="1224052" y="531891"/>
                </a:lnTo>
                <a:lnTo>
                  <a:pt x="1217259" y="537028"/>
                </a:lnTo>
                <a:lnTo>
                  <a:pt x="1231088" y="545044"/>
                </a:lnTo>
                <a:lnTo>
                  <a:pt x="1235377" y="560376"/>
                </a:lnTo>
                <a:lnTo>
                  <a:pt x="1245356" y="560156"/>
                </a:lnTo>
                <a:lnTo>
                  <a:pt x="1241456" y="575951"/>
                </a:lnTo>
                <a:lnTo>
                  <a:pt x="1199892" y="561839"/>
                </a:lnTo>
                <a:lnTo>
                  <a:pt x="1178808" y="570296"/>
                </a:lnTo>
                <a:lnTo>
                  <a:pt x="1184926" y="585244"/>
                </a:lnTo>
                <a:lnTo>
                  <a:pt x="1161449" y="589433"/>
                </a:lnTo>
                <a:lnTo>
                  <a:pt x="1149145" y="609402"/>
                </a:lnTo>
                <a:lnTo>
                  <a:pt x="1153777" y="620405"/>
                </a:lnTo>
                <a:lnTo>
                  <a:pt x="1146330" y="627774"/>
                </a:lnTo>
                <a:lnTo>
                  <a:pt x="1151156" y="640857"/>
                </a:lnTo>
                <a:lnTo>
                  <a:pt x="1116809" y="701394"/>
                </a:lnTo>
                <a:lnTo>
                  <a:pt x="1105937" y="705870"/>
                </a:lnTo>
                <a:lnTo>
                  <a:pt x="1105560" y="723986"/>
                </a:lnTo>
                <a:lnTo>
                  <a:pt x="1114002" y="730209"/>
                </a:lnTo>
                <a:lnTo>
                  <a:pt x="1148479" y="731969"/>
                </a:lnTo>
                <a:lnTo>
                  <a:pt x="1191240" y="720616"/>
                </a:lnTo>
                <a:lnTo>
                  <a:pt x="1226115" y="720335"/>
                </a:lnTo>
                <a:lnTo>
                  <a:pt x="1240781" y="738821"/>
                </a:lnTo>
                <a:lnTo>
                  <a:pt x="1238728" y="733586"/>
                </a:lnTo>
                <a:lnTo>
                  <a:pt x="1268953" y="733752"/>
                </a:lnTo>
                <a:lnTo>
                  <a:pt x="1292399" y="747000"/>
                </a:lnTo>
                <a:lnTo>
                  <a:pt x="1290981" y="766485"/>
                </a:lnTo>
                <a:lnTo>
                  <a:pt x="1308040" y="779926"/>
                </a:lnTo>
                <a:lnTo>
                  <a:pt x="1307216" y="791875"/>
                </a:lnTo>
                <a:lnTo>
                  <a:pt x="1289112" y="792141"/>
                </a:lnTo>
                <a:lnTo>
                  <a:pt x="1282747" y="786796"/>
                </a:lnTo>
                <a:lnTo>
                  <a:pt x="1279648" y="799111"/>
                </a:lnTo>
                <a:lnTo>
                  <a:pt x="1258022" y="803961"/>
                </a:lnTo>
                <a:lnTo>
                  <a:pt x="1248702" y="823334"/>
                </a:lnTo>
                <a:lnTo>
                  <a:pt x="1268863" y="826868"/>
                </a:lnTo>
                <a:lnTo>
                  <a:pt x="1275136" y="820288"/>
                </a:lnTo>
                <a:lnTo>
                  <a:pt x="1283416" y="823069"/>
                </a:lnTo>
                <a:lnTo>
                  <a:pt x="1284523" y="832141"/>
                </a:lnTo>
                <a:lnTo>
                  <a:pt x="1314851" y="840760"/>
                </a:lnTo>
                <a:lnTo>
                  <a:pt x="1300924" y="853434"/>
                </a:lnTo>
                <a:lnTo>
                  <a:pt x="1303204" y="870686"/>
                </a:lnTo>
                <a:lnTo>
                  <a:pt x="1253274" y="881246"/>
                </a:lnTo>
                <a:lnTo>
                  <a:pt x="1244794" y="896550"/>
                </a:lnTo>
                <a:lnTo>
                  <a:pt x="1252468" y="904807"/>
                </a:lnTo>
                <a:lnTo>
                  <a:pt x="1167396" y="896051"/>
                </a:lnTo>
                <a:lnTo>
                  <a:pt x="1161380" y="901796"/>
                </a:lnTo>
                <a:lnTo>
                  <a:pt x="1121878" y="886424"/>
                </a:lnTo>
                <a:lnTo>
                  <a:pt x="1075660" y="878289"/>
                </a:lnTo>
                <a:lnTo>
                  <a:pt x="1055528" y="893054"/>
                </a:lnTo>
                <a:lnTo>
                  <a:pt x="1000917" y="896365"/>
                </a:lnTo>
                <a:lnTo>
                  <a:pt x="979247" y="911738"/>
                </a:lnTo>
                <a:lnTo>
                  <a:pt x="977112" y="923847"/>
                </a:lnTo>
                <a:lnTo>
                  <a:pt x="984547" y="926297"/>
                </a:lnTo>
                <a:lnTo>
                  <a:pt x="987485" y="929486"/>
                </a:lnTo>
                <a:lnTo>
                  <a:pt x="944369" y="941128"/>
                </a:lnTo>
                <a:lnTo>
                  <a:pt x="935254" y="952814"/>
                </a:lnTo>
                <a:lnTo>
                  <a:pt x="942546" y="959724"/>
                </a:lnTo>
                <a:lnTo>
                  <a:pt x="919709" y="979233"/>
                </a:lnTo>
                <a:lnTo>
                  <a:pt x="890286" y="985112"/>
                </a:lnTo>
                <a:lnTo>
                  <a:pt x="853132" y="976524"/>
                </a:lnTo>
                <a:lnTo>
                  <a:pt x="834022" y="981081"/>
                </a:lnTo>
                <a:lnTo>
                  <a:pt x="833622" y="986708"/>
                </a:lnTo>
                <a:lnTo>
                  <a:pt x="821804" y="994387"/>
                </a:lnTo>
                <a:lnTo>
                  <a:pt x="806492" y="998967"/>
                </a:lnTo>
                <a:lnTo>
                  <a:pt x="764031" y="984466"/>
                </a:lnTo>
                <a:lnTo>
                  <a:pt x="728081" y="982929"/>
                </a:lnTo>
                <a:lnTo>
                  <a:pt x="711159" y="992458"/>
                </a:lnTo>
                <a:lnTo>
                  <a:pt x="715968" y="1005109"/>
                </a:lnTo>
                <a:lnTo>
                  <a:pt x="711044" y="1011429"/>
                </a:lnTo>
                <a:lnTo>
                  <a:pt x="669990" y="1006509"/>
                </a:lnTo>
                <a:lnTo>
                  <a:pt x="643671" y="1013021"/>
                </a:lnTo>
                <a:lnTo>
                  <a:pt x="626062" y="1023868"/>
                </a:lnTo>
                <a:lnTo>
                  <a:pt x="617097" y="1039765"/>
                </a:lnTo>
                <a:lnTo>
                  <a:pt x="585693" y="1060015"/>
                </a:lnTo>
                <a:lnTo>
                  <a:pt x="583964" y="1071886"/>
                </a:lnTo>
                <a:lnTo>
                  <a:pt x="569509" y="1073654"/>
                </a:lnTo>
                <a:lnTo>
                  <a:pt x="551432" y="1084784"/>
                </a:lnTo>
                <a:lnTo>
                  <a:pt x="545161" y="1094831"/>
                </a:lnTo>
                <a:lnTo>
                  <a:pt x="548906" y="1102675"/>
                </a:lnTo>
                <a:lnTo>
                  <a:pt x="535474" y="1110490"/>
                </a:lnTo>
                <a:lnTo>
                  <a:pt x="507980" y="1094237"/>
                </a:lnTo>
                <a:lnTo>
                  <a:pt x="471107" y="1095065"/>
                </a:lnTo>
                <a:lnTo>
                  <a:pt x="458819" y="1100804"/>
                </a:lnTo>
                <a:lnTo>
                  <a:pt x="457140" y="1093822"/>
                </a:lnTo>
                <a:lnTo>
                  <a:pt x="450342" y="1093043"/>
                </a:lnTo>
                <a:lnTo>
                  <a:pt x="432430" y="1073537"/>
                </a:lnTo>
                <a:lnTo>
                  <a:pt x="417391" y="1070254"/>
                </a:lnTo>
                <a:lnTo>
                  <a:pt x="408556" y="1058323"/>
                </a:lnTo>
                <a:lnTo>
                  <a:pt x="383927" y="1066267"/>
                </a:lnTo>
                <a:lnTo>
                  <a:pt x="400739" y="1042158"/>
                </a:lnTo>
                <a:lnTo>
                  <a:pt x="391632" y="1021744"/>
                </a:lnTo>
                <a:lnTo>
                  <a:pt x="376973" y="1009082"/>
                </a:lnTo>
                <a:lnTo>
                  <a:pt x="365324" y="1017121"/>
                </a:lnTo>
                <a:lnTo>
                  <a:pt x="348965" y="1014246"/>
                </a:lnTo>
                <a:lnTo>
                  <a:pt x="326620" y="994249"/>
                </a:lnTo>
                <a:lnTo>
                  <a:pt x="281448" y="1008701"/>
                </a:lnTo>
                <a:lnTo>
                  <a:pt x="277112" y="986051"/>
                </a:lnTo>
                <a:lnTo>
                  <a:pt x="285756" y="973683"/>
                </a:lnTo>
                <a:lnTo>
                  <a:pt x="276845" y="958182"/>
                </a:lnTo>
                <a:lnTo>
                  <a:pt x="286951" y="949702"/>
                </a:lnTo>
                <a:lnTo>
                  <a:pt x="265696" y="931365"/>
                </a:lnTo>
                <a:lnTo>
                  <a:pt x="235215" y="930556"/>
                </a:lnTo>
                <a:lnTo>
                  <a:pt x="201270" y="941772"/>
                </a:lnTo>
                <a:lnTo>
                  <a:pt x="194055" y="950301"/>
                </a:lnTo>
                <a:lnTo>
                  <a:pt x="193454" y="962047"/>
                </a:lnTo>
                <a:lnTo>
                  <a:pt x="205058" y="973095"/>
                </a:lnTo>
                <a:lnTo>
                  <a:pt x="202955" y="995441"/>
                </a:lnTo>
                <a:lnTo>
                  <a:pt x="211490" y="1004682"/>
                </a:lnTo>
                <a:lnTo>
                  <a:pt x="190040" y="993428"/>
                </a:lnTo>
                <a:lnTo>
                  <a:pt x="181836" y="965055"/>
                </a:lnTo>
                <a:lnTo>
                  <a:pt x="170111" y="953546"/>
                </a:lnTo>
                <a:lnTo>
                  <a:pt x="176611" y="947367"/>
                </a:lnTo>
                <a:lnTo>
                  <a:pt x="179348" y="931068"/>
                </a:lnTo>
                <a:lnTo>
                  <a:pt x="165881" y="925870"/>
                </a:lnTo>
                <a:lnTo>
                  <a:pt x="178382" y="908350"/>
                </a:lnTo>
                <a:lnTo>
                  <a:pt x="183070" y="889228"/>
                </a:lnTo>
                <a:lnTo>
                  <a:pt x="190700" y="888031"/>
                </a:lnTo>
                <a:lnTo>
                  <a:pt x="187235" y="891101"/>
                </a:lnTo>
                <a:lnTo>
                  <a:pt x="193489" y="893692"/>
                </a:lnTo>
                <a:lnTo>
                  <a:pt x="191731" y="889356"/>
                </a:lnTo>
                <a:lnTo>
                  <a:pt x="197622" y="891329"/>
                </a:lnTo>
                <a:lnTo>
                  <a:pt x="201251" y="885525"/>
                </a:lnTo>
                <a:lnTo>
                  <a:pt x="188198" y="835591"/>
                </a:lnTo>
                <a:lnTo>
                  <a:pt x="168675" y="807481"/>
                </a:lnTo>
                <a:lnTo>
                  <a:pt x="158326" y="804635"/>
                </a:lnTo>
                <a:lnTo>
                  <a:pt x="161352" y="792123"/>
                </a:lnTo>
                <a:lnTo>
                  <a:pt x="156908" y="783218"/>
                </a:lnTo>
                <a:lnTo>
                  <a:pt x="120527" y="752912"/>
                </a:lnTo>
                <a:lnTo>
                  <a:pt x="122266" y="744768"/>
                </a:lnTo>
                <a:lnTo>
                  <a:pt x="109998" y="724284"/>
                </a:lnTo>
                <a:lnTo>
                  <a:pt x="89053" y="703683"/>
                </a:lnTo>
                <a:lnTo>
                  <a:pt x="86684" y="701926"/>
                </a:lnTo>
                <a:lnTo>
                  <a:pt x="79036" y="699556"/>
                </a:lnTo>
                <a:lnTo>
                  <a:pt x="74586" y="691841"/>
                </a:lnTo>
                <a:lnTo>
                  <a:pt x="79704" y="681435"/>
                </a:lnTo>
                <a:lnTo>
                  <a:pt x="85465" y="684198"/>
                </a:lnTo>
                <a:lnTo>
                  <a:pt x="80859" y="688682"/>
                </a:lnTo>
                <a:lnTo>
                  <a:pt x="87635" y="688466"/>
                </a:lnTo>
                <a:lnTo>
                  <a:pt x="90918" y="700800"/>
                </a:lnTo>
                <a:lnTo>
                  <a:pt x="106887" y="715038"/>
                </a:lnTo>
                <a:lnTo>
                  <a:pt x="112747" y="711678"/>
                </a:lnTo>
                <a:lnTo>
                  <a:pt x="91825" y="690618"/>
                </a:lnTo>
                <a:lnTo>
                  <a:pt x="90027" y="669857"/>
                </a:lnTo>
                <a:lnTo>
                  <a:pt x="82741" y="666187"/>
                </a:lnTo>
                <a:lnTo>
                  <a:pt x="80144" y="672604"/>
                </a:lnTo>
                <a:lnTo>
                  <a:pt x="82392" y="664176"/>
                </a:lnTo>
                <a:lnTo>
                  <a:pt x="76253" y="663602"/>
                </a:lnTo>
                <a:lnTo>
                  <a:pt x="71684" y="666672"/>
                </a:lnTo>
                <a:lnTo>
                  <a:pt x="77945" y="673504"/>
                </a:lnTo>
                <a:lnTo>
                  <a:pt x="77621" y="675997"/>
                </a:lnTo>
                <a:lnTo>
                  <a:pt x="72157" y="671370"/>
                </a:lnTo>
                <a:lnTo>
                  <a:pt x="64810" y="678610"/>
                </a:lnTo>
                <a:lnTo>
                  <a:pt x="60893" y="675984"/>
                </a:lnTo>
                <a:lnTo>
                  <a:pt x="62592" y="669268"/>
                </a:lnTo>
                <a:lnTo>
                  <a:pt x="55401" y="664004"/>
                </a:lnTo>
                <a:lnTo>
                  <a:pt x="57069" y="647838"/>
                </a:lnTo>
                <a:lnTo>
                  <a:pt x="50742" y="641839"/>
                </a:lnTo>
                <a:lnTo>
                  <a:pt x="55662" y="630570"/>
                </a:lnTo>
                <a:lnTo>
                  <a:pt x="46629" y="621615"/>
                </a:lnTo>
                <a:lnTo>
                  <a:pt x="58670" y="614853"/>
                </a:lnTo>
                <a:lnTo>
                  <a:pt x="56297" y="599648"/>
                </a:lnTo>
                <a:lnTo>
                  <a:pt x="71179" y="588009"/>
                </a:lnTo>
                <a:lnTo>
                  <a:pt x="91507" y="608266"/>
                </a:lnTo>
                <a:lnTo>
                  <a:pt x="109365" y="604394"/>
                </a:lnTo>
                <a:lnTo>
                  <a:pt x="131120" y="578706"/>
                </a:lnTo>
                <a:lnTo>
                  <a:pt x="142140" y="554568"/>
                </a:lnTo>
                <a:lnTo>
                  <a:pt x="146777" y="522928"/>
                </a:lnTo>
                <a:lnTo>
                  <a:pt x="139958" y="485536"/>
                </a:lnTo>
                <a:lnTo>
                  <a:pt x="145022" y="484479"/>
                </a:lnTo>
                <a:lnTo>
                  <a:pt x="146075" y="476060"/>
                </a:lnTo>
                <a:lnTo>
                  <a:pt x="133801" y="433726"/>
                </a:lnTo>
                <a:lnTo>
                  <a:pt x="136165" y="422648"/>
                </a:lnTo>
                <a:lnTo>
                  <a:pt x="123549" y="389670"/>
                </a:lnTo>
                <a:lnTo>
                  <a:pt x="126096" y="378898"/>
                </a:lnTo>
                <a:lnTo>
                  <a:pt x="113959" y="358778"/>
                </a:lnTo>
                <a:lnTo>
                  <a:pt x="111221" y="340294"/>
                </a:lnTo>
                <a:lnTo>
                  <a:pt x="84190" y="298438"/>
                </a:lnTo>
                <a:lnTo>
                  <a:pt x="34565" y="244223"/>
                </a:lnTo>
                <a:lnTo>
                  <a:pt x="24920" y="220581"/>
                </a:lnTo>
                <a:lnTo>
                  <a:pt x="0" y="194999"/>
                </a:lnTo>
                <a:lnTo>
                  <a:pt x="17251" y="200232"/>
                </a:lnTo>
                <a:lnTo>
                  <a:pt x="10815" y="179075"/>
                </a:lnTo>
                <a:lnTo>
                  <a:pt x="34772" y="156781"/>
                </a:lnTo>
                <a:lnTo>
                  <a:pt x="23236" y="135041"/>
                </a:lnTo>
                <a:lnTo>
                  <a:pt x="48014" y="132205"/>
                </a:lnTo>
                <a:lnTo>
                  <a:pt x="48883" y="99434"/>
                </a:lnTo>
                <a:lnTo>
                  <a:pt x="65173" y="96821"/>
                </a:lnTo>
                <a:lnTo>
                  <a:pt x="85590" y="111968"/>
                </a:lnTo>
                <a:lnTo>
                  <a:pt x="94769" y="101652"/>
                </a:lnTo>
                <a:lnTo>
                  <a:pt x="103457" y="105536"/>
                </a:lnTo>
                <a:lnTo>
                  <a:pt x="127198" y="61100"/>
                </a:lnTo>
                <a:lnTo>
                  <a:pt x="126218" y="43830"/>
                </a:lnTo>
                <a:lnTo>
                  <a:pt x="134666" y="26746"/>
                </a:lnTo>
                <a:lnTo>
                  <a:pt x="126329" y="9847"/>
                </a:lnTo>
                <a:lnTo>
                  <a:pt x="159776" y="45646"/>
                </a:lnTo>
                <a:lnTo>
                  <a:pt x="150015" y="24491"/>
                </a:lnTo>
                <a:lnTo>
                  <a:pt x="152982" y="4450"/>
                </a:lnTo>
                <a:lnTo>
                  <a:pt x="167803" y="0"/>
                </a:lnTo>
                <a:lnTo>
                  <a:pt x="188398" y="31307"/>
                </a:lnTo>
                <a:lnTo>
                  <a:pt x="211424" y="32931"/>
                </a:lnTo>
                <a:lnTo>
                  <a:pt x="220422" y="47066"/>
                </a:lnTo>
                <a:lnTo>
                  <a:pt x="220716" y="58016"/>
                </a:lnTo>
                <a:lnTo>
                  <a:pt x="236503" y="69875"/>
                </a:lnTo>
                <a:lnTo>
                  <a:pt x="256489" y="75916"/>
                </a:lnTo>
                <a:lnTo>
                  <a:pt x="260030" y="106852"/>
                </a:lnTo>
                <a:lnTo>
                  <a:pt x="241587" y="113185"/>
                </a:lnTo>
                <a:lnTo>
                  <a:pt x="266401" y="126958"/>
                </a:lnTo>
                <a:lnTo>
                  <a:pt x="250859" y="136256"/>
                </a:lnTo>
                <a:lnTo>
                  <a:pt x="249901" y="152422"/>
                </a:lnTo>
                <a:lnTo>
                  <a:pt x="260576" y="170104"/>
                </a:lnTo>
                <a:lnTo>
                  <a:pt x="261598" y="201950"/>
                </a:lnTo>
                <a:lnTo>
                  <a:pt x="267063" y="213761"/>
                </a:lnTo>
                <a:lnTo>
                  <a:pt x="277566" y="218651"/>
                </a:lnTo>
                <a:lnTo>
                  <a:pt x="271040" y="231695"/>
                </a:lnTo>
                <a:lnTo>
                  <a:pt x="285760" y="248815"/>
                </a:lnTo>
                <a:lnTo>
                  <a:pt x="278894" y="271482"/>
                </a:lnTo>
                <a:lnTo>
                  <a:pt x="296428" y="274411"/>
                </a:lnTo>
                <a:lnTo>
                  <a:pt x="289697" y="286484"/>
                </a:lnTo>
                <a:lnTo>
                  <a:pt x="297035" y="285948"/>
                </a:lnTo>
                <a:lnTo>
                  <a:pt x="298503" y="292469"/>
                </a:lnTo>
                <a:lnTo>
                  <a:pt x="291708" y="311401"/>
                </a:lnTo>
                <a:lnTo>
                  <a:pt x="301476" y="331397"/>
                </a:lnTo>
                <a:lnTo>
                  <a:pt x="295559" y="335745"/>
                </a:lnTo>
                <a:lnTo>
                  <a:pt x="300442" y="342571"/>
                </a:lnTo>
                <a:lnTo>
                  <a:pt x="288582" y="353491"/>
                </a:lnTo>
                <a:lnTo>
                  <a:pt x="288280" y="364479"/>
                </a:lnTo>
                <a:lnTo>
                  <a:pt x="313946" y="372260"/>
                </a:lnTo>
                <a:lnTo>
                  <a:pt x="326459" y="369759"/>
                </a:lnTo>
                <a:lnTo>
                  <a:pt x="329440" y="380702"/>
                </a:lnTo>
                <a:lnTo>
                  <a:pt x="345516" y="358115"/>
                </a:lnTo>
                <a:lnTo>
                  <a:pt x="344406" y="388076"/>
                </a:lnTo>
                <a:lnTo>
                  <a:pt x="346903" y="384209"/>
                </a:lnTo>
                <a:lnTo>
                  <a:pt x="354452" y="388886"/>
                </a:lnTo>
                <a:lnTo>
                  <a:pt x="363834" y="403304"/>
                </a:lnTo>
                <a:lnTo>
                  <a:pt x="370627" y="395867"/>
                </a:lnTo>
                <a:lnTo>
                  <a:pt x="377378" y="399691"/>
                </a:lnTo>
                <a:lnTo>
                  <a:pt x="391089" y="410588"/>
                </a:lnTo>
                <a:lnTo>
                  <a:pt x="392153" y="422024"/>
                </a:lnTo>
                <a:lnTo>
                  <a:pt x="395830" y="412851"/>
                </a:lnTo>
                <a:lnTo>
                  <a:pt x="397873" y="420214"/>
                </a:lnTo>
                <a:lnTo>
                  <a:pt x="389581" y="428577"/>
                </a:lnTo>
                <a:lnTo>
                  <a:pt x="395698" y="436891"/>
                </a:lnTo>
                <a:lnTo>
                  <a:pt x="394567" y="455359"/>
                </a:lnTo>
                <a:lnTo>
                  <a:pt x="377077" y="466031"/>
                </a:lnTo>
                <a:lnTo>
                  <a:pt x="382641" y="485146"/>
                </a:lnTo>
                <a:lnTo>
                  <a:pt x="402862" y="514973"/>
                </a:lnTo>
                <a:lnTo>
                  <a:pt x="397489" y="535621"/>
                </a:lnTo>
                <a:lnTo>
                  <a:pt x="407840" y="562754"/>
                </a:lnTo>
                <a:lnTo>
                  <a:pt x="423862" y="550779"/>
                </a:lnTo>
                <a:lnTo>
                  <a:pt x="425516" y="509998"/>
                </a:lnTo>
                <a:lnTo>
                  <a:pt x="432270" y="501525"/>
                </a:lnTo>
                <a:lnTo>
                  <a:pt x="437967" y="507599"/>
                </a:lnTo>
                <a:lnTo>
                  <a:pt x="448646" y="501690"/>
                </a:lnTo>
                <a:lnTo>
                  <a:pt x="443422" y="496279"/>
                </a:lnTo>
                <a:lnTo>
                  <a:pt x="449330" y="487094"/>
                </a:lnTo>
                <a:lnTo>
                  <a:pt x="455608" y="493368"/>
                </a:lnTo>
                <a:lnTo>
                  <a:pt x="466632" y="479957"/>
                </a:lnTo>
                <a:lnTo>
                  <a:pt x="479067" y="485162"/>
                </a:lnTo>
                <a:lnTo>
                  <a:pt x="492789" y="483040"/>
                </a:lnTo>
                <a:lnTo>
                  <a:pt x="513787" y="461418"/>
                </a:lnTo>
                <a:lnTo>
                  <a:pt x="516532" y="449995"/>
                </a:lnTo>
                <a:lnTo>
                  <a:pt x="525924" y="449064"/>
                </a:lnTo>
                <a:lnTo>
                  <a:pt x="533728" y="433897"/>
                </a:lnTo>
                <a:lnTo>
                  <a:pt x="543429" y="431485"/>
                </a:lnTo>
                <a:lnTo>
                  <a:pt x="540741" y="442613"/>
                </a:lnTo>
                <a:lnTo>
                  <a:pt x="556886" y="441098"/>
                </a:lnTo>
                <a:lnTo>
                  <a:pt x="560740" y="463137"/>
                </a:lnTo>
                <a:lnTo>
                  <a:pt x="552375" y="461512"/>
                </a:lnTo>
                <a:lnTo>
                  <a:pt x="535478" y="492435"/>
                </a:lnTo>
                <a:lnTo>
                  <a:pt x="523848" y="486829"/>
                </a:lnTo>
                <a:lnTo>
                  <a:pt x="533432" y="530717"/>
                </a:lnTo>
                <a:lnTo>
                  <a:pt x="539998" y="549272"/>
                </a:lnTo>
                <a:lnTo>
                  <a:pt x="551401" y="559557"/>
                </a:lnTo>
                <a:lnTo>
                  <a:pt x="551270" y="576701"/>
                </a:lnTo>
                <a:lnTo>
                  <a:pt x="558420" y="584618"/>
                </a:lnTo>
                <a:lnTo>
                  <a:pt x="576107" y="589069"/>
                </a:lnTo>
                <a:lnTo>
                  <a:pt x="589120" y="603683"/>
                </a:lnTo>
                <a:lnTo>
                  <a:pt x="591079" y="615572"/>
                </a:lnTo>
                <a:lnTo>
                  <a:pt x="594469" y="613141"/>
                </a:lnTo>
                <a:lnTo>
                  <a:pt x="607510" y="622406"/>
                </a:lnTo>
                <a:lnTo>
                  <a:pt x="620615" y="622292"/>
                </a:lnTo>
                <a:lnTo>
                  <a:pt x="633333" y="606264"/>
                </a:lnTo>
                <a:lnTo>
                  <a:pt x="640202" y="621879"/>
                </a:lnTo>
                <a:lnTo>
                  <a:pt x="670650" y="621247"/>
                </a:lnTo>
                <a:lnTo>
                  <a:pt x="673139" y="612934"/>
                </a:lnTo>
                <a:lnTo>
                  <a:pt x="684684" y="607865"/>
                </a:lnTo>
                <a:lnTo>
                  <a:pt x="691232" y="587814"/>
                </a:lnTo>
                <a:lnTo>
                  <a:pt x="680983" y="561010"/>
                </a:lnTo>
                <a:lnTo>
                  <a:pt x="692238" y="548109"/>
                </a:lnTo>
                <a:lnTo>
                  <a:pt x="717693" y="541280"/>
                </a:lnTo>
                <a:lnTo>
                  <a:pt x="746317" y="543809"/>
                </a:lnTo>
                <a:lnTo>
                  <a:pt x="759626" y="537195"/>
                </a:lnTo>
                <a:lnTo>
                  <a:pt x="755620" y="527301"/>
                </a:lnTo>
                <a:lnTo>
                  <a:pt x="763983" y="506263"/>
                </a:lnTo>
                <a:lnTo>
                  <a:pt x="784935" y="487915"/>
                </a:lnTo>
                <a:lnTo>
                  <a:pt x="788730" y="471817"/>
                </a:lnTo>
                <a:lnTo>
                  <a:pt x="799994" y="475112"/>
                </a:lnTo>
                <a:lnTo>
                  <a:pt x="816578" y="470407"/>
                </a:lnTo>
                <a:lnTo>
                  <a:pt x="826151" y="458919"/>
                </a:lnTo>
                <a:lnTo>
                  <a:pt x="843233" y="456075"/>
                </a:lnTo>
                <a:lnTo>
                  <a:pt x="838437" y="432380"/>
                </a:lnTo>
                <a:lnTo>
                  <a:pt x="861883" y="426440"/>
                </a:lnTo>
                <a:lnTo>
                  <a:pt x="872426" y="436338"/>
                </a:lnTo>
                <a:lnTo>
                  <a:pt x="881713" y="424928"/>
                </a:lnTo>
                <a:lnTo>
                  <a:pt x="891785" y="436396"/>
                </a:lnTo>
                <a:lnTo>
                  <a:pt x="912309" y="442396"/>
                </a:lnTo>
                <a:lnTo>
                  <a:pt x="923165" y="438366"/>
                </a:lnTo>
                <a:lnTo>
                  <a:pt x="925409" y="428305"/>
                </a:lnTo>
                <a:lnTo>
                  <a:pt x="939060" y="423615"/>
                </a:lnTo>
                <a:lnTo>
                  <a:pt x="942106" y="400071"/>
                </a:lnTo>
                <a:lnTo>
                  <a:pt x="953449" y="391385"/>
                </a:lnTo>
                <a:lnTo>
                  <a:pt x="958263" y="407880"/>
                </a:lnTo>
                <a:lnTo>
                  <a:pt x="967362" y="386671"/>
                </a:lnTo>
                <a:lnTo>
                  <a:pt x="954012" y="375111"/>
                </a:lnTo>
                <a:lnTo>
                  <a:pt x="958444" y="370686"/>
                </a:lnTo>
                <a:lnTo>
                  <a:pt x="952870" y="355021"/>
                </a:lnTo>
                <a:lnTo>
                  <a:pt x="959238" y="344940"/>
                </a:lnTo>
                <a:lnTo>
                  <a:pt x="953944" y="333392"/>
                </a:lnTo>
                <a:lnTo>
                  <a:pt x="973351" y="342687"/>
                </a:lnTo>
                <a:lnTo>
                  <a:pt x="975123" y="324124"/>
                </a:lnTo>
                <a:lnTo>
                  <a:pt x="971334" y="321406"/>
                </a:lnTo>
                <a:lnTo>
                  <a:pt x="981361" y="316687"/>
                </a:lnTo>
                <a:lnTo>
                  <a:pt x="994670" y="265265"/>
                </a:lnTo>
                <a:lnTo>
                  <a:pt x="1003234" y="262742"/>
                </a:lnTo>
                <a:lnTo>
                  <a:pt x="1043911" y="284066"/>
                </a:lnTo>
                <a:lnTo>
                  <a:pt x="1059062" y="285684"/>
                </a:lnTo>
                <a:lnTo>
                  <a:pt x="1059549" y="294693"/>
                </a:lnTo>
                <a:lnTo>
                  <a:pt x="1071188" y="297389"/>
                </a:lnTo>
                <a:lnTo>
                  <a:pt x="1062732" y="318254"/>
                </a:lnTo>
                <a:lnTo>
                  <a:pt x="1070820" y="322528"/>
                </a:lnTo>
                <a:lnTo>
                  <a:pt x="1096951" y="315995"/>
                </a:lnTo>
                <a:lnTo>
                  <a:pt x="1106376" y="330533"/>
                </a:lnTo>
                <a:lnTo>
                  <a:pt x="1124112" y="320318"/>
                </a:lnTo>
                <a:lnTo>
                  <a:pt x="1133780" y="334848"/>
                </a:lnTo>
                <a:lnTo>
                  <a:pt x="1149842" y="330741"/>
                </a:lnTo>
                <a:lnTo>
                  <a:pt x="1163650" y="334756"/>
                </a:lnTo>
                <a:lnTo>
                  <a:pt x="1169971" y="338050"/>
                </a:lnTo>
                <a:lnTo>
                  <a:pt x="1168355" y="354476"/>
                </a:lnTo>
                <a:lnTo>
                  <a:pt x="1177143" y="360178"/>
                </a:lnTo>
                <a:lnTo>
                  <a:pt x="1205493" y="333633"/>
                </a:lnTo>
                <a:lnTo>
                  <a:pt x="1220657" y="296175"/>
                </a:lnTo>
                <a:lnTo>
                  <a:pt x="1243489" y="291669"/>
                </a:lnTo>
                <a:lnTo>
                  <a:pt x="1245386" y="281006"/>
                </a:lnTo>
                <a:lnTo>
                  <a:pt x="1269011" y="289165"/>
                </a:lnTo>
                <a:lnTo>
                  <a:pt x="1289672" y="274612"/>
                </a:lnTo>
                <a:lnTo>
                  <a:pt x="1310684" y="273762"/>
                </a:lnTo>
                <a:lnTo>
                  <a:pt x="1319871" y="286110"/>
                </a:lnTo>
                <a:lnTo>
                  <a:pt x="1338534" y="290867"/>
                </a:lnTo>
                <a:lnTo>
                  <a:pt x="1331441" y="303370"/>
                </a:lnTo>
                <a:lnTo>
                  <a:pt x="1337713" y="304394"/>
                </a:lnTo>
                <a:lnTo>
                  <a:pt x="1350327" y="321887"/>
                </a:lnTo>
                <a:lnTo>
                  <a:pt x="1362107" y="305548"/>
                </a:lnTo>
                <a:lnTo>
                  <a:pt x="1365096" y="288470"/>
                </a:lnTo>
                <a:lnTo>
                  <a:pt x="1383426" y="288318"/>
                </a:lnTo>
                <a:lnTo>
                  <a:pt x="1379470" y="294357"/>
                </a:lnTo>
                <a:lnTo>
                  <a:pt x="1388914" y="313955"/>
                </a:lnTo>
                <a:lnTo>
                  <a:pt x="1413570" y="315353"/>
                </a:lnTo>
                <a:lnTo>
                  <a:pt x="1407278" y="317751"/>
                </a:lnTo>
                <a:lnTo>
                  <a:pt x="1407012" y="326048"/>
                </a:lnTo>
                <a:lnTo>
                  <a:pt x="1400506" y="324117"/>
                </a:lnTo>
                <a:close/>
              </a:path>
            </a:pathLst>
          </a:custGeom>
          <a:noFill/>
          <a:ln w="1905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9" name="Lesotho: outside South African demand"/>
          <p:cNvSpPr/>
          <p:nvPr/>
        </p:nvSpPr>
        <p:spPr>
          <a:xfrm>
            <a:off x="4162536" y="3961551"/>
            <a:ext cx="525916" cy="523154"/>
          </a:xfrm>
          <a:custGeom>
            <a:avLst/>
            <a:gdLst/>
            <a:ahLst/>
            <a:cxnLst/>
            <a:rect l="l" t="t" r="r" b="b"/>
            <a:pathLst>
              <a:path w="525916" h="523154">
                <a:moveTo>
                  <a:pt x="372627" y="389545"/>
                </a:moveTo>
                <a:lnTo>
                  <a:pt x="352419" y="395211"/>
                </a:lnTo>
                <a:lnTo>
                  <a:pt x="349625" y="395675"/>
                </a:lnTo>
                <a:lnTo>
                  <a:pt x="336847" y="393833"/>
                </a:lnTo>
                <a:lnTo>
                  <a:pt x="319681" y="394817"/>
                </a:lnTo>
                <a:lnTo>
                  <a:pt x="306125" y="397891"/>
                </a:lnTo>
                <a:lnTo>
                  <a:pt x="295651" y="398887"/>
                </a:lnTo>
                <a:lnTo>
                  <a:pt x="278098" y="416534"/>
                </a:lnTo>
                <a:lnTo>
                  <a:pt x="245826" y="464634"/>
                </a:lnTo>
                <a:lnTo>
                  <a:pt x="237323" y="474653"/>
                </a:lnTo>
                <a:lnTo>
                  <a:pt x="234503" y="493824"/>
                </a:lnTo>
                <a:lnTo>
                  <a:pt x="226936" y="508845"/>
                </a:lnTo>
                <a:lnTo>
                  <a:pt x="217868" y="520504"/>
                </a:lnTo>
                <a:lnTo>
                  <a:pt x="209241" y="523154"/>
                </a:lnTo>
                <a:lnTo>
                  <a:pt x="183647" y="517784"/>
                </a:lnTo>
                <a:lnTo>
                  <a:pt x="150903" y="510897"/>
                </a:lnTo>
                <a:lnTo>
                  <a:pt x="132109" y="495693"/>
                </a:lnTo>
                <a:lnTo>
                  <a:pt x="115515" y="475904"/>
                </a:lnTo>
                <a:lnTo>
                  <a:pt x="106830" y="461595"/>
                </a:lnTo>
                <a:lnTo>
                  <a:pt x="97584" y="453650"/>
                </a:lnTo>
                <a:lnTo>
                  <a:pt x="94452" y="449235"/>
                </a:lnTo>
                <a:lnTo>
                  <a:pt x="81164" y="442435"/>
                </a:lnTo>
                <a:lnTo>
                  <a:pt x="76166" y="438958"/>
                </a:lnTo>
                <a:lnTo>
                  <a:pt x="71753" y="436469"/>
                </a:lnTo>
                <a:lnTo>
                  <a:pt x="66530" y="426968"/>
                </a:lnTo>
                <a:lnTo>
                  <a:pt x="63510" y="418762"/>
                </a:lnTo>
                <a:lnTo>
                  <a:pt x="65232" y="396083"/>
                </a:lnTo>
                <a:lnTo>
                  <a:pt x="56020" y="382357"/>
                </a:lnTo>
                <a:lnTo>
                  <a:pt x="40249" y="358940"/>
                </a:lnTo>
                <a:lnTo>
                  <a:pt x="30328" y="339814"/>
                </a:lnTo>
                <a:lnTo>
                  <a:pt x="16753" y="313705"/>
                </a:lnTo>
                <a:lnTo>
                  <a:pt x="8530" y="291422"/>
                </a:lnTo>
                <a:lnTo>
                  <a:pt x="0" y="268336"/>
                </a:lnTo>
                <a:lnTo>
                  <a:pt x="1330" y="258516"/>
                </a:lnTo>
                <a:lnTo>
                  <a:pt x="10003" y="251947"/>
                </a:lnTo>
                <a:lnTo>
                  <a:pt x="35295" y="240865"/>
                </a:lnTo>
                <a:lnTo>
                  <a:pt x="54944" y="232319"/>
                </a:lnTo>
                <a:lnTo>
                  <a:pt x="69208" y="216209"/>
                </a:lnTo>
                <a:lnTo>
                  <a:pt x="84942" y="192165"/>
                </a:lnTo>
                <a:lnTo>
                  <a:pt x="92663" y="177657"/>
                </a:lnTo>
                <a:lnTo>
                  <a:pt x="100202" y="171119"/>
                </a:lnTo>
                <a:lnTo>
                  <a:pt x="108523" y="160950"/>
                </a:lnTo>
                <a:lnTo>
                  <a:pt x="123173" y="138329"/>
                </a:lnTo>
                <a:lnTo>
                  <a:pt x="139504" y="113228"/>
                </a:lnTo>
                <a:lnTo>
                  <a:pt x="157005" y="86265"/>
                </a:lnTo>
                <a:lnTo>
                  <a:pt x="178515" y="78848"/>
                </a:lnTo>
                <a:lnTo>
                  <a:pt x="207867" y="70417"/>
                </a:lnTo>
                <a:lnTo>
                  <a:pt x="236499" y="47255"/>
                </a:lnTo>
                <a:lnTo>
                  <a:pt x="270424" y="28013"/>
                </a:lnTo>
                <a:lnTo>
                  <a:pt x="324969" y="7681"/>
                </a:lnTo>
                <a:lnTo>
                  <a:pt x="350282" y="2882"/>
                </a:lnTo>
                <a:lnTo>
                  <a:pt x="359936" y="0"/>
                </a:lnTo>
                <a:lnTo>
                  <a:pt x="365867" y="4306"/>
                </a:lnTo>
                <a:lnTo>
                  <a:pt x="371912" y="17015"/>
                </a:lnTo>
                <a:lnTo>
                  <a:pt x="380742" y="27763"/>
                </a:lnTo>
                <a:lnTo>
                  <a:pt x="401435" y="46642"/>
                </a:lnTo>
                <a:lnTo>
                  <a:pt x="410307" y="51328"/>
                </a:lnTo>
                <a:lnTo>
                  <a:pt x="431349" y="78994"/>
                </a:lnTo>
                <a:lnTo>
                  <a:pt x="454169" y="98265"/>
                </a:lnTo>
                <a:lnTo>
                  <a:pt x="480385" y="120477"/>
                </a:lnTo>
                <a:lnTo>
                  <a:pt x="498354" y="131718"/>
                </a:lnTo>
                <a:lnTo>
                  <a:pt x="507581" y="135002"/>
                </a:lnTo>
                <a:lnTo>
                  <a:pt x="514644" y="154164"/>
                </a:lnTo>
                <a:lnTo>
                  <a:pt x="521963" y="168462"/>
                </a:lnTo>
                <a:lnTo>
                  <a:pt x="525916" y="181738"/>
                </a:lnTo>
                <a:lnTo>
                  <a:pt x="524542" y="194491"/>
                </a:lnTo>
                <a:lnTo>
                  <a:pt x="514901" y="225444"/>
                </a:lnTo>
                <a:lnTo>
                  <a:pt x="501369" y="256934"/>
                </a:lnTo>
                <a:lnTo>
                  <a:pt x="490983" y="269862"/>
                </a:lnTo>
                <a:lnTo>
                  <a:pt x="478604" y="277821"/>
                </a:lnTo>
                <a:lnTo>
                  <a:pt x="466344" y="290016"/>
                </a:lnTo>
                <a:lnTo>
                  <a:pt x="460926" y="315482"/>
                </a:lnTo>
                <a:lnTo>
                  <a:pt x="454530" y="345440"/>
                </a:lnTo>
                <a:lnTo>
                  <a:pt x="438729" y="357322"/>
                </a:lnTo>
                <a:lnTo>
                  <a:pt x="426500" y="365058"/>
                </a:lnTo>
                <a:lnTo>
                  <a:pt x="409654" y="374496"/>
                </a:lnTo>
                <a:lnTo>
                  <a:pt x="372627" y="389545"/>
                </a:lnTo>
                <a:close/>
              </a:path>
            </a:pathLst>
          </a:custGeom>
          <a:solidFill>
            <a:srgbClr val="EEEEEE"/>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02" name="Connector 401"/>
          <p:cNvCxnSpPr/>
          <p:nvPr/>
        </p:nvCxnSpPr>
        <p:spPr>
          <a:xfrm flipV="1">
            <a:off x="2302196" y="5274153"/>
            <a:ext cx="213860" cy="7800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3" name="Connector 402"/>
          <p:cNvCxnSpPr/>
          <p:nvPr/>
        </p:nvCxnSpPr>
        <p:spPr>
          <a:xfrm flipV="1">
            <a:off x="2516056" y="4918400"/>
            <a:ext cx="662353" cy="35575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4" name="Connector 403"/>
          <p:cNvCxnSpPr/>
          <p:nvPr/>
        </p:nvCxnSpPr>
        <p:spPr>
          <a:xfrm flipV="1">
            <a:off x="3178409" y="4496001"/>
            <a:ext cx="547930" cy="42239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5" name="Connector 404"/>
          <p:cNvCxnSpPr/>
          <p:nvPr/>
        </p:nvCxnSpPr>
        <p:spPr>
          <a:xfrm flipV="1">
            <a:off x="3726339" y="4088144"/>
            <a:ext cx="249625" cy="40785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6" name="Connector 405"/>
          <p:cNvCxnSpPr/>
          <p:nvPr/>
        </p:nvCxnSpPr>
        <p:spPr>
          <a:xfrm flipV="1">
            <a:off x="3975964" y="3715560"/>
            <a:ext cx="236002" cy="37258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7" name="Connector 406"/>
          <p:cNvCxnSpPr/>
          <p:nvPr/>
        </p:nvCxnSpPr>
        <p:spPr>
          <a:xfrm flipV="1">
            <a:off x="4211966" y="3349004"/>
            <a:ext cx="195717" cy="36655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8" name="Connector 407"/>
          <p:cNvCxnSpPr/>
          <p:nvPr/>
        </p:nvCxnSpPr>
        <p:spPr>
          <a:xfrm flipV="1">
            <a:off x="4407683" y="3234833"/>
            <a:ext cx="35153" cy="11417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9" name="Connector 408"/>
          <p:cNvCxnSpPr/>
          <p:nvPr/>
        </p:nvCxnSpPr>
        <p:spPr>
          <a:xfrm flipV="1">
            <a:off x="4442836" y="2771412"/>
            <a:ext cx="307542" cy="46342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0" name="Connector 409"/>
          <p:cNvCxnSpPr/>
          <p:nvPr/>
        </p:nvCxnSpPr>
        <p:spPr>
          <a:xfrm flipV="1">
            <a:off x="4750378" y="2350020"/>
            <a:ext cx="142270" cy="42139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1" name="Connector 410"/>
          <p:cNvCxnSpPr/>
          <p:nvPr/>
        </p:nvCxnSpPr>
        <p:spPr>
          <a:xfrm>
            <a:off x="2302196" y="5352156"/>
            <a:ext cx="427623" cy="986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2" name="Connector 411"/>
          <p:cNvCxnSpPr/>
          <p:nvPr/>
        </p:nvCxnSpPr>
        <p:spPr>
          <a:xfrm>
            <a:off x="2729819" y="5362017"/>
            <a:ext cx="365466" cy="2648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3" name="Connector 412"/>
          <p:cNvCxnSpPr/>
          <p:nvPr/>
        </p:nvCxnSpPr>
        <p:spPr>
          <a:xfrm flipV="1">
            <a:off x="3095285" y="5330646"/>
            <a:ext cx="66761" cy="5785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4" name="Connector 413"/>
          <p:cNvCxnSpPr/>
          <p:nvPr/>
        </p:nvCxnSpPr>
        <p:spPr>
          <a:xfrm>
            <a:off x="3162046" y="5330646"/>
            <a:ext cx="194573" cy="1946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5" name="Connector 414"/>
          <p:cNvCxnSpPr/>
          <p:nvPr/>
        </p:nvCxnSpPr>
        <p:spPr>
          <a:xfrm flipV="1">
            <a:off x="3356619" y="5324992"/>
            <a:ext cx="482114" cy="2512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6" name="Connector 415"/>
          <p:cNvCxnSpPr/>
          <p:nvPr/>
        </p:nvCxnSpPr>
        <p:spPr>
          <a:xfrm flipV="1">
            <a:off x="3838733" y="5233353"/>
            <a:ext cx="270649" cy="9163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7" name="Connector 416"/>
          <p:cNvCxnSpPr/>
          <p:nvPr/>
        </p:nvCxnSpPr>
        <p:spPr>
          <a:xfrm flipV="1">
            <a:off x="4109382" y="5094743"/>
            <a:ext cx="222461" cy="13861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8" name="Connector 417"/>
          <p:cNvCxnSpPr/>
          <p:nvPr/>
        </p:nvCxnSpPr>
        <p:spPr>
          <a:xfrm flipV="1">
            <a:off x="4331843" y="4731963"/>
            <a:ext cx="200210" cy="36278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9" name="Connector 418"/>
          <p:cNvCxnSpPr/>
          <p:nvPr/>
        </p:nvCxnSpPr>
        <p:spPr>
          <a:xfrm flipV="1">
            <a:off x="4532053" y="4470941"/>
            <a:ext cx="150466" cy="2610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0" name="Connector 419"/>
          <p:cNvCxnSpPr/>
          <p:nvPr/>
        </p:nvCxnSpPr>
        <p:spPr>
          <a:xfrm>
            <a:off x="4682519" y="4470941"/>
            <a:ext cx="225376" cy="5817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1" name="Connector 420"/>
          <p:cNvCxnSpPr/>
          <p:nvPr/>
        </p:nvCxnSpPr>
        <p:spPr>
          <a:xfrm flipV="1">
            <a:off x="4907895" y="4315496"/>
            <a:ext cx="139454" cy="2136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2" name="Connector 421"/>
          <p:cNvCxnSpPr/>
          <p:nvPr/>
        </p:nvCxnSpPr>
        <p:spPr>
          <a:xfrm flipV="1">
            <a:off x="5047349" y="4037215"/>
            <a:ext cx="210381" cy="27828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3" name="Connector 422"/>
          <p:cNvCxnSpPr/>
          <p:nvPr/>
        </p:nvCxnSpPr>
        <p:spPr>
          <a:xfrm flipV="1">
            <a:off x="5257730" y="3712239"/>
            <a:ext cx="57336" cy="32497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4" name="Connector 423"/>
          <p:cNvCxnSpPr/>
          <p:nvPr/>
        </p:nvCxnSpPr>
        <p:spPr>
          <a:xfrm flipH="1" flipV="1">
            <a:off x="5072949" y="3578600"/>
            <a:ext cx="242117" cy="13363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5" name="Connector 424"/>
          <p:cNvCxnSpPr/>
          <p:nvPr/>
        </p:nvCxnSpPr>
        <p:spPr>
          <a:xfrm flipH="1" flipV="1">
            <a:off x="4849118" y="3448062"/>
            <a:ext cx="223831" cy="13053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6" name="Connector 425"/>
          <p:cNvCxnSpPr/>
          <p:nvPr/>
        </p:nvCxnSpPr>
        <p:spPr>
          <a:xfrm>
            <a:off x="4407683" y="3349004"/>
            <a:ext cx="69426" cy="7856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7" name="Connector 426"/>
          <p:cNvCxnSpPr/>
          <p:nvPr/>
        </p:nvCxnSpPr>
        <p:spPr>
          <a:xfrm>
            <a:off x="4477109" y="3427567"/>
            <a:ext cx="162780" cy="22763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8" name="Connector 427"/>
          <p:cNvCxnSpPr/>
          <p:nvPr/>
        </p:nvCxnSpPr>
        <p:spPr>
          <a:xfrm flipH="1">
            <a:off x="4638838" y="3655201"/>
            <a:ext cx="1051" cy="23289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9" name="Connector 428"/>
          <p:cNvCxnSpPr/>
          <p:nvPr/>
        </p:nvCxnSpPr>
        <p:spPr>
          <a:xfrm>
            <a:off x="4638838" y="3888100"/>
            <a:ext cx="137515" cy="24073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0" name="Connector 429"/>
          <p:cNvCxnSpPr/>
          <p:nvPr/>
        </p:nvCxnSpPr>
        <p:spPr>
          <a:xfrm>
            <a:off x="4776353" y="4128835"/>
            <a:ext cx="131953" cy="10815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1" name="Connector 430"/>
          <p:cNvCxnSpPr/>
          <p:nvPr/>
        </p:nvCxnSpPr>
        <p:spPr>
          <a:xfrm>
            <a:off x="4908306" y="4236989"/>
            <a:ext cx="139043" cy="7850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2" name="Connector 431"/>
          <p:cNvCxnSpPr/>
          <p:nvPr/>
        </p:nvCxnSpPr>
        <p:spPr>
          <a:xfrm>
            <a:off x="3869319" y="3105553"/>
            <a:ext cx="353970" cy="10393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3" name="Connector 432"/>
          <p:cNvCxnSpPr/>
          <p:nvPr/>
        </p:nvCxnSpPr>
        <p:spPr>
          <a:xfrm>
            <a:off x="4223289" y="3209491"/>
            <a:ext cx="219547" cy="2534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4" name="Connector 433"/>
          <p:cNvCxnSpPr/>
          <p:nvPr/>
        </p:nvCxnSpPr>
        <p:spPr>
          <a:xfrm>
            <a:off x="4442836" y="3234833"/>
            <a:ext cx="239629" cy="3799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5" name="Connector 434"/>
          <p:cNvCxnSpPr/>
          <p:nvPr/>
        </p:nvCxnSpPr>
        <p:spPr>
          <a:xfrm flipV="1">
            <a:off x="4682465" y="3187480"/>
            <a:ext cx="406634" cy="8534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6" name="Connector 435"/>
          <p:cNvCxnSpPr/>
          <p:nvPr/>
        </p:nvCxnSpPr>
        <p:spPr>
          <a:xfrm>
            <a:off x="5089099" y="3187480"/>
            <a:ext cx="234267" cy="476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7" name="Connector 436"/>
          <p:cNvCxnSpPr/>
          <p:nvPr/>
        </p:nvCxnSpPr>
        <p:spPr>
          <a:xfrm>
            <a:off x="3975964" y="4088144"/>
            <a:ext cx="106233" cy="41060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8" name="Connector 437"/>
          <p:cNvCxnSpPr/>
          <p:nvPr/>
        </p:nvCxnSpPr>
        <p:spPr>
          <a:xfrm>
            <a:off x="4082197" y="4498749"/>
            <a:ext cx="32515" cy="30238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9" name="Connector 438"/>
          <p:cNvCxnSpPr/>
          <p:nvPr/>
        </p:nvCxnSpPr>
        <p:spPr>
          <a:xfrm>
            <a:off x="4114712" y="4801131"/>
            <a:ext cx="114104" cy="17353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0" name="Connector 439"/>
          <p:cNvCxnSpPr/>
          <p:nvPr/>
        </p:nvCxnSpPr>
        <p:spPr>
          <a:xfrm>
            <a:off x="4228816" y="4974662"/>
            <a:ext cx="103027" cy="12008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1" name="Connector 440"/>
          <p:cNvCxnSpPr/>
          <p:nvPr/>
        </p:nvCxnSpPr>
        <p:spPr>
          <a:xfrm flipV="1">
            <a:off x="2302196" y="5233904"/>
            <a:ext cx="50706" cy="11825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2" name="Connector 441"/>
          <p:cNvCxnSpPr/>
          <p:nvPr/>
        </p:nvCxnSpPr>
        <p:spPr>
          <a:xfrm flipV="1">
            <a:off x="2352902" y="5008399"/>
            <a:ext cx="45400" cy="22550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3" name="Connector 442"/>
          <p:cNvCxnSpPr/>
          <p:nvPr/>
        </p:nvCxnSpPr>
        <p:spPr>
          <a:xfrm flipH="1" flipV="1">
            <a:off x="2334347" y="4760509"/>
            <a:ext cx="63955" cy="24789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4" name="Connector 443"/>
          <p:cNvCxnSpPr/>
          <p:nvPr/>
        </p:nvCxnSpPr>
        <p:spPr>
          <a:xfrm flipH="1" flipV="1">
            <a:off x="2115541" y="4275351"/>
            <a:ext cx="218806" cy="48515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5" name="Connector 444"/>
          <p:cNvCxnSpPr/>
          <p:nvPr/>
        </p:nvCxnSpPr>
        <p:spPr>
          <a:xfrm flipH="1" flipV="1">
            <a:off x="2043233" y="4048820"/>
            <a:ext cx="72308" cy="22653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6" name="Connector 445"/>
          <p:cNvCxnSpPr/>
          <p:nvPr/>
        </p:nvCxnSpPr>
        <p:spPr>
          <a:xfrm flipH="1" flipV="1">
            <a:off x="3829963" y="4972041"/>
            <a:ext cx="6994" cy="29157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7" name="Connector 446"/>
          <p:cNvCxnSpPr/>
          <p:nvPr/>
        </p:nvCxnSpPr>
        <p:spPr>
          <a:xfrm flipH="1" flipV="1">
            <a:off x="3706428" y="4692941"/>
            <a:ext cx="123535" cy="27910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8" name="Connector 447"/>
          <p:cNvCxnSpPr/>
          <p:nvPr/>
        </p:nvCxnSpPr>
        <p:spPr>
          <a:xfrm flipH="1" flipV="1">
            <a:off x="3499481" y="4322862"/>
            <a:ext cx="206947" cy="37007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9" name="Connector 448"/>
          <p:cNvCxnSpPr/>
          <p:nvPr/>
        </p:nvCxnSpPr>
        <p:spPr>
          <a:xfrm flipH="1" flipV="1">
            <a:off x="3201641" y="4229654"/>
            <a:ext cx="297840" cy="9320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0" name="Connector 449"/>
          <p:cNvCxnSpPr/>
          <p:nvPr/>
        </p:nvCxnSpPr>
        <p:spPr>
          <a:xfrm flipH="1" flipV="1">
            <a:off x="2629017" y="3939432"/>
            <a:ext cx="572624" cy="2902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1" name="Connector 450"/>
          <p:cNvCxnSpPr/>
          <p:nvPr/>
        </p:nvCxnSpPr>
        <p:spPr>
          <a:xfrm flipH="1" flipV="1">
            <a:off x="2542382" y="3251660"/>
            <a:ext cx="86635" cy="68777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2" name="Connector 451"/>
          <p:cNvCxnSpPr/>
          <p:nvPr/>
        </p:nvCxnSpPr>
        <p:spPr>
          <a:xfrm flipH="1" flipV="1">
            <a:off x="3104075" y="5237344"/>
            <a:ext cx="57971" cy="9330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3" name="Connector 452"/>
          <p:cNvCxnSpPr/>
          <p:nvPr/>
        </p:nvCxnSpPr>
        <p:spPr>
          <a:xfrm flipV="1">
            <a:off x="3104075" y="4918400"/>
            <a:ext cx="74334" cy="31894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4" name="Connector 453"/>
          <p:cNvCxnSpPr/>
          <p:nvPr/>
        </p:nvCxnSpPr>
        <p:spPr>
          <a:xfrm flipV="1">
            <a:off x="3178409" y="4806141"/>
            <a:ext cx="121983" cy="11225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5" name="Connector 454"/>
          <p:cNvCxnSpPr/>
          <p:nvPr/>
        </p:nvCxnSpPr>
        <p:spPr>
          <a:xfrm flipV="1">
            <a:off x="3300392" y="4322862"/>
            <a:ext cx="199089" cy="48327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6" name="Connector 455"/>
          <p:cNvCxnSpPr/>
          <p:nvPr/>
        </p:nvCxnSpPr>
        <p:spPr>
          <a:xfrm flipV="1">
            <a:off x="3499481" y="3987067"/>
            <a:ext cx="152908" cy="33579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7" name="Connector 456"/>
          <p:cNvCxnSpPr/>
          <p:nvPr/>
        </p:nvCxnSpPr>
        <p:spPr>
          <a:xfrm flipV="1">
            <a:off x="3652389" y="3711186"/>
            <a:ext cx="188468" cy="27588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8" name="Connector 457"/>
          <p:cNvCxnSpPr/>
          <p:nvPr/>
        </p:nvCxnSpPr>
        <p:spPr>
          <a:xfrm flipV="1">
            <a:off x="3840857" y="3511519"/>
            <a:ext cx="246356" cy="19966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9" name="Connector 458"/>
          <p:cNvCxnSpPr/>
          <p:nvPr/>
        </p:nvCxnSpPr>
        <p:spPr>
          <a:xfrm flipV="1">
            <a:off x="4087213" y="3474714"/>
            <a:ext cx="99239" cy="3680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0" name="Connector 459"/>
          <p:cNvCxnSpPr/>
          <p:nvPr/>
        </p:nvCxnSpPr>
        <p:spPr>
          <a:xfrm flipV="1">
            <a:off x="4186452" y="3349004"/>
            <a:ext cx="221231" cy="12571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1" name="Connector 460"/>
          <p:cNvCxnSpPr/>
          <p:nvPr/>
        </p:nvCxnSpPr>
        <p:spPr>
          <a:xfrm flipV="1">
            <a:off x="4407683" y="3272828"/>
            <a:ext cx="274782" cy="7617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2" name="Connector 461"/>
          <p:cNvCxnSpPr/>
          <p:nvPr/>
        </p:nvCxnSpPr>
        <p:spPr>
          <a:xfrm flipV="1">
            <a:off x="2115541" y="4119096"/>
            <a:ext cx="329795" cy="15625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3" name="Connector 462"/>
          <p:cNvCxnSpPr/>
          <p:nvPr/>
        </p:nvCxnSpPr>
        <p:spPr>
          <a:xfrm flipV="1">
            <a:off x="2445336" y="3939432"/>
            <a:ext cx="183681" cy="17966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4" name="Connector 463"/>
          <p:cNvCxnSpPr/>
          <p:nvPr/>
        </p:nvCxnSpPr>
        <p:spPr>
          <a:xfrm flipV="1">
            <a:off x="2629017" y="3664603"/>
            <a:ext cx="717115" cy="27482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5" name="Connector 464"/>
          <p:cNvCxnSpPr/>
          <p:nvPr/>
        </p:nvCxnSpPr>
        <p:spPr>
          <a:xfrm flipV="1">
            <a:off x="3346132" y="3534505"/>
            <a:ext cx="296236" cy="13009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6" name="Connector 465"/>
          <p:cNvCxnSpPr/>
          <p:nvPr/>
        </p:nvCxnSpPr>
        <p:spPr>
          <a:xfrm flipV="1">
            <a:off x="3642368" y="3376077"/>
            <a:ext cx="448951" cy="15842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7" name="Connector 466"/>
          <p:cNvCxnSpPr/>
          <p:nvPr/>
        </p:nvCxnSpPr>
        <p:spPr>
          <a:xfrm flipV="1">
            <a:off x="4091319" y="3321952"/>
            <a:ext cx="254672" cy="5412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8" name="Connector 467"/>
          <p:cNvCxnSpPr/>
          <p:nvPr/>
        </p:nvCxnSpPr>
        <p:spPr>
          <a:xfrm flipV="1">
            <a:off x="4345991" y="3262943"/>
            <a:ext cx="96145" cy="5900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9" name="Connector 468"/>
          <p:cNvCxnSpPr/>
          <p:nvPr/>
        </p:nvCxnSpPr>
        <p:spPr>
          <a:xfrm>
            <a:off x="4407683" y="3349004"/>
            <a:ext cx="89560" cy="1518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0" name="Connector 469"/>
          <p:cNvCxnSpPr/>
          <p:nvPr/>
        </p:nvCxnSpPr>
        <p:spPr>
          <a:xfrm>
            <a:off x="4497243" y="3364186"/>
            <a:ext cx="150223" cy="6095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1" name="Connector 470"/>
          <p:cNvCxnSpPr/>
          <p:nvPr/>
        </p:nvCxnSpPr>
        <p:spPr>
          <a:xfrm>
            <a:off x="4647466" y="3425140"/>
            <a:ext cx="201652" cy="229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2" name="Connector 471"/>
          <p:cNvCxnSpPr/>
          <p:nvPr/>
        </p:nvCxnSpPr>
        <p:spPr>
          <a:xfrm>
            <a:off x="4849118" y="3448062"/>
            <a:ext cx="188669" cy="4939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3" name="Connector 472"/>
          <p:cNvCxnSpPr/>
          <p:nvPr/>
        </p:nvCxnSpPr>
        <p:spPr>
          <a:xfrm flipV="1">
            <a:off x="3652389" y="3828488"/>
            <a:ext cx="17835" cy="15857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4" name="Connector 473"/>
          <p:cNvCxnSpPr/>
          <p:nvPr/>
        </p:nvCxnSpPr>
        <p:spPr>
          <a:xfrm flipH="1" flipV="1">
            <a:off x="3642368" y="3534505"/>
            <a:ext cx="27856" cy="29398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5" name="Connector 474"/>
          <p:cNvCxnSpPr/>
          <p:nvPr/>
        </p:nvCxnSpPr>
        <p:spPr>
          <a:xfrm flipV="1">
            <a:off x="3642368" y="3251111"/>
            <a:ext cx="209952" cy="28339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6" name="Connector 475"/>
          <p:cNvCxnSpPr/>
          <p:nvPr/>
        </p:nvCxnSpPr>
        <p:spPr>
          <a:xfrm flipH="1" flipV="1">
            <a:off x="3836768" y="3105383"/>
            <a:ext cx="15552" cy="14572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7" name="Connector 476"/>
          <p:cNvCxnSpPr/>
          <p:nvPr/>
        </p:nvCxnSpPr>
        <p:spPr>
          <a:xfrm flipH="1" flipV="1">
            <a:off x="4484419" y="3412423"/>
            <a:ext cx="562930" cy="903073"/>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78" name="Connector 477"/>
          <p:cNvCxnSpPr/>
          <p:nvPr/>
        </p:nvCxnSpPr>
        <p:spPr>
          <a:xfrm flipH="1">
            <a:off x="4358039" y="3412423"/>
            <a:ext cx="126380" cy="91377"/>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79" name="Connector 478"/>
          <p:cNvCxnSpPr/>
          <p:nvPr/>
        </p:nvCxnSpPr>
        <p:spPr>
          <a:xfrm flipH="1">
            <a:off x="4084954" y="3503800"/>
            <a:ext cx="273085" cy="5131"/>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0" name="Connector 479"/>
          <p:cNvCxnSpPr/>
          <p:nvPr/>
        </p:nvCxnSpPr>
        <p:spPr>
          <a:xfrm>
            <a:off x="4484419" y="3412423"/>
            <a:ext cx="178462" cy="33714"/>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1" name="Connector 480"/>
          <p:cNvCxnSpPr/>
          <p:nvPr/>
        </p:nvCxnSpPr>
        <p:spPr>
          <a:xfrm flipH="1" flipV="1">
            <a:off x="4623014" y="3324544"/>
            <a:ext cx="39867" cy="121593"/>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2" name="Connector 481"/>
          <p:cNvCxnSpPr/>
          <p:nvPr/>
        </p:nvCxnSpPr>
        <p:spPr>
          <a:xfrm flipH="1" flipV="1">
            <a:off x="4473187" y="3225416"/>
            <a:ext cx="149827" cy="99128"/>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3" name="Connector 482"/>
          <p:cNvCxnSpPr/>
          <p:nvPr/>
        </p:nvCxnSpPr>
        <p:spPr>
          <a:xfrm flipH="1" flipV="1">
            <a:off x="4425368" y="3380143"/>
            <a:ext cx="59051" cy="32280"/>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4" name="Connector 483"/>
          <p:cNvCxnSpPr/>
          <p:nvPr/>
        </p:nvCxnSpPr>
        <p:spPr>
          <a:xfrm flipH="1" flipV="1">
            <a:off x="4396155" y="3348716"/>
            <a:ext cx="29213" cy="31427"/>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5" name="Connector 484"/>
          <p:cNvCxnSpPr/>
          <p:nvPr/>
        </p:nvCxnSpPr>
        <p:spPr>
          <a:xfrm>
            <a:off x="4407683" y="3349004"/>
            <a:ext cx="639666" cy="966492"/>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6" name="Connector 485"/>
          <p:cNvCxnSpPr/>
          <p:nvPr/>
        </p:nvCxnSpPr>
        <p:spPr>
          <a:xfrm flipH="1">
            <a:off x="3652389" y="3349004"/>
            <a:ext cx="755294" cy="638063"/>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7" name="Connector 486"/>
          <p:cNvCxnSpPr/>
          <p:nvPr/>
        </p:nvCxnSpPr>
        <p:spPr>
          <a:xfrm flipH="1">
            <a:off x="3485249" y="3987067"/>
            <a:ext cx="167140" cy="491944"/>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8" name="Connector 487"/>
          <p:cNvCxnSpPr/>
          <p:nvPr/>
        </p:nvCxnSpPr>
        <p:spPr>
          <a:xfrm flipH="1">
            <a:off x="2302196" y="4479011"/>
            <a:ext cx="1183053" cy="873145"/>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9" name="Connector 488"/>
          <p:cNvCxnSpPr/>
          <p:nvPr/>
        </p:nvCxnSpPr>
        <p:spPr>
          <a:xfrm flipH="1">
            <a:off x="3975964" y="3349004"/>
            <a:ext cx="431719" cy="739140"/>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0" name="Connector 489"/>
          <p:cNvCxnSpPr/>
          <p:nvPr/>
        </p:nvCxnSpPr>
        <p:spPr>
          <a:xfrm>
            <a:off x="3975964" y="4088144"/>
            <a:ext cx="355879" cy="1006599"/>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1" name="Connector 490"/>
          <p:cNvCxnSpPr/>
          <p:nvPr/>
        </p:nvCxnSpPr>
        <p:spPr>
          <a:xfrm flipH="1">
            <a:off x="3485249" y="4088144"/>
            <a:ext cx="490715" cy="390867"/>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2" name="Connector 491"/>
          <p:cNvCxnSpPr/>
          <p:nvPr/>
        </p:nvCxnSpPr>
        <p:spPr>
          <a:xfrm>
            <a:off x="3485249" y="4479011"/>
            <a:ext cx="353484" cy="845981"/>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3" name="Connector 492"/>
          <p:cNvCxnSpPr/>
          <p:nvPr/>
        </p:nvCxnSpPr>
        <p:spPr>
          <a:xfrm>
            <a:off x="3485249" y="4479011"/>
            <a:ext cx="366559" cy="805144"/>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4" name="Connector 493"/>
          <p:cNvCxnSpPr/>
          <p:nvPr/>
        </p:nvCxnSpPr>
        <p:spPr>
          <a:xfrm flipH="1">
            <a:off x="2185167" y="3747877"/>
            <a:ext cx="1064238" cy="1385502"/>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5" name="Connector 494"/>
          <p:cNvCxnSpPr/>
          <p:nvPr/>
        </p:nvCxnSpPr>
        <p:spPr>
          <a:xfrm>
            <a:off x="3249405" y="3747877"/>
            <a:ext cx="402984" cy="239190"/>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6" name="Connector 495"/>
          <p:cNvCxnSpPr/>
          <p:nvPr/>
        </p:nvCxnSpPr>
        <p:spPr>
          <a:xfrm flipH="1">
            <a:off x="3485249" y="3987067"/>
            <a:ext cx="167140" cy="491944"/>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7" name="Connector 496"/>
          <p:cNvCxnSpPr/>
          <p:nvPr/>
        </p:nvCxnSpPr>
        <p:spPr>
          <a:xfrm>
            <a:off x="4407683" y="3349004"/>
            <a:ext cx="441435" cy="99058"/>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8" name="Connector 497"/>
          <p:cNvCxnSpPr/>
          <p:nvPr/>
        </p:nvCxnSpPr>
        <p:spPr>
          <a:xfrm>
            <a:off x="4849118" y="3448062"/>
            <a:ext cx="443800" cy="604051"/>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sp>
        <p:nvSpPr>
          <p:cNvPr id="499" name="Oval 498"/>
          <p:cNvSpPr/>
          <p:nvPr/>
        </p:nvSpPr>
        <p:spPr>
          <a:xfrm>
            <a:off x="5006201" y="4274348"/>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0" name="Oval 499"/>
          <p:cNvSpPr/>
          <p:nvPr/>
        </p:nvSpPr>
        <p:spPr>
          <a:xfrm>
            <a:off x="4316891" y="3462652"/>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1" name="Oval 500"/>
          <p:cNvSpPr/>
          <p:nvPr/>
        </p:nvSpPr>
        <p:spPr>
          <a:xfrm>
            <a:off x="4621733" y="3404989"/>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2" name="Oval 501"/>
          <p:cNvSpPr/>
          <p:nvPr/>
        </p:nvSpPr>
        <p:spPr>
          <a:xfrm>
            <a:off x="2279591" y="5299689"/>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3" name="Oval 502"/>
          <p:cNvSpPr/>
          <p:nvPr/>
        </p:nvSpPr>
        <p:spPr>
          <a:xfrm>
            <a:off x="3011349" y="5340790"/>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4" name="Rectangle 503"/>
          <p:cNvSpPr/>
          <p:nvPr/>
        </p:nvSpPr>
        <p:spPr>
          <a:xfrm>
            <a:off x="2144019" y="5092231"/>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5" name="Rectangle 504"/>
          <p:cNvSpPr/>
          <p:nvPr/>
        </p:nvSpPr>
        <p:spPr>
          <a:xfrm>
            <a:off x="2261048" y="5311008"/>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6" name="Rectangle 505"/>
          <p:cNvSpPr/>
          <p:nvPr/>
        </p:nvSpPr>
        <p:spPr>
          <a:xfrm>
            <a:off x="3054137" y="5347355"/>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7" name="Rectangle 506"/>
          <p:cNvSpPr/>
          <p:nvPr/>
        </p:nvSpPr>
        <p:spPr>
          <a:xfrm>
            <a:off x="3797585" y="5283844"/>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8" name="Rectangle 507"/>
          <p:cNvSpPr/>
          <p:nvPr/>
        </p:nvSpPr>
        <p:spPr>
          <a:xfrm>
            <a:off x="3810660" y="5243007"/>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9" name="Rectangle 508"/>
          <p:cNvSpPr/>
          <p:nvPr/>
        </p:nvSpPr>
        <p:spPr>
          <a:xfrm>
            <a:off x="4290695" y="5053595"/>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0" name="Rectangle 509"/>
          <p:cNvSpPr/>
          <p:nvPr/>
        </p:nvSpPr>
        <p:spPr>
          <a:xfrm>
            <a:off x="5006201" y="4274348"/>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1" name="Rectangle 510"/>
          <p:cNvSpPr/>
          <p:nvPr/>
        </p:nvSpPr>
        <p:spPr>
          <a:xfrm>
            <a:off x="5251770" y="4010965"/>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2" name="Diamond 511"/>
          <p:cNvSpPr/>
          <p:nvPr/>
        </p:nvSpPr>
        <p:spPr>
          <a:xfrm>
            <a:off x="5006201" y="4274348"/>
            <a:ext cx="82296" cy="82296"/>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3" name="Diamond 512"/>
          <p:cNvSpPr/>
          <p:nvPr/>
        </p:nvSpPr>
        <p:spPr>
          <a:xfrm>
            <a:off x="4443271" y="3371275"/>
            <a:ext cx="82296" cy="82296"/>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4" name="TextBox 513"/>
          <p:cNvSpPr txBox="1"/>
          <p:nvPr/>
        </p:nvSpPr>
        <p:spPr>
          <a:xfrm>
            <a:off x="5157077" y="4342928"/>
            <a:ext cx="685800" cy="201168"/>
          </a:xfrm>
          <a:prstGeom prst="rect">
            <a:avLst/>
          </a:prstGeom>
          <a:noFill/>
        </p:spPr>
        <p:txBody>
          <a:bodyPr wrap="square" lIns="22860" rIns="22860" tIns="0" bIns="0">
            <a:spAutoFit/>
          </a:bodyPr>
          <a:lstStyle/>
          <a:p>
            <a:pPr>
              <a:spcAft>
                <a:spcPts val="300"/>
              </a:spcAft>
              <a:defRPr sz="1000" b="1">
                <a:solidFill>
                  <a:srgbClr val="0A2373"/>
                </a:solidFill>
                <a:latin typeface="Lato"/>
              </a:defRPr>
            </a:pPr>
            <a:r>
              <a:t>Durban</a:t>
            </a:r>
          </a:p>
        </p:txBody>
      </p:sp>
      <p:sp>
        <p:nvSpPr>
          <p:cNvPr id="515" name="TextBox 514"/>
          <p:cNvSpPr txBox="1"/>
          <p:nvPr/>
        </p:nvSpPr>
        <p:spPr>
          <a:xfrm>
            <a:off x="4164379" y="3549583"/>
            <a:ext cx="685800" cy="201168"/>
          </a:xfrm>
          <a:prstGeom prst="rect">
            <a:avLst/>
          </a:prstGeom>
          <a:noFill/>
        </p:spPr>
        <p:txBody>
          <a:bodyPr wrap="square" lIns="22860" rIns="22860" tIns="0" bIns="0">
            <a:spAutoFit/>
          </a:bodyPr>
          <a:lstStyle/>
          <a:p>
            <a:pPr>
              <a:spcAft>
                <a:spcPts val="300"/>
              </a:spcAft>
              <a:defRPr sz="1000" b="1">
                <a:solidFill>
                  <a:srgbClr val="0A2373"/>
                </a:solidFill>
                <a:latin typeface="Lato"/>
              </a:defRPr>
            </a:pPr>
            <a:r>
              <a:t>Lesedi</a:t>
            </a:r>
          </a:p>
        </p:txBody>
      </p:sp>
      <p:cxnSp>
        <p:nvCxnSpPr>
          <p:cNvPr id="516" name="Connector 515"/>
          <p:cNvCxnSpPr/>
          <p:nvPr/>
        </p:nvCxnSpPr>
        <p:spPr>
          <a:xfrm flipH="1" flipV="1">
            <a:off x="4078053" y="2959337"/>
            <a:ext cx="296213" cy="337706"/>
          </a:xfrm>
          <a:prstGeom prst="line">
            <a:avLst/>
          </a:prstGeom>
          <a:ln w="7620">
            <a:solidFill>
              <a:srgbClr val="0A2373"/>
            </a:solidFill>
          </a:ln>
        </p:spPr>
        <p:style>
          <a:lnRef idx="2">
            <a:schemeClr val="accent1"/>
          </a:lnRef>
          <a:fillRef idx="0">
            <a:schemeClr val="accent1"/>
          </a:fillRef>
          <a:effectRef idx="1">
            <a:schemeClr val="accent1"/>
          </a:effectRef>
          <a:fontRef idx="minor">
            <a:schemeClr val="tx1"/>
          </a:fontRef>
        </p:style>
      </p:cxnSp>
      <p:sp>
        <p:nvSpPr>
          <p:cNvPr id="517" name="TextBox 516"/>
          <p:cNvSpPr txBox="1"/>
          <p:nvPr/>
        </p:nvSpPr>
        <p:spPr>
          <a:xfrm>
            <a:off x="3733647" y="4797656"/>
            <a:ext cx="548640" cy="329184"/>
          </a:xfrm>
          <a:prstGeom prst="rect">
            <a:avLst/>
          </a:prstGeom>
          <a:noFill/>
        </p:spPr>
        <p:txBody>
          <a:bodyPr wrap="square" lIns="22860" rIns="22860" tIns="0" bIns="0">
            <a:spAutoFit/>
          </a:bodyPr>
          <a:lstStyle/>
          <a:p>
            <a:pPr>
              <a:spcAft>
                <a:spcPts val="300"/>
              </a:spcAft>
              <a:defRPr sz="900" b="1">
                <a:solidFill>
                  <a:srgbClr val="0A2373"/>
                </a:solidFill>
                <a:latin typeface="Lato"/>
              </a:defRPr>
            </a:pPr>
            <a:r>
              <a:t>EC</a:t>
            </a:r>
          </a:p>
          <a:p>
            <a:pPr>
              <a:spcAft>
                <a:spcPts val="300"/>
              </a:spcAft>
              <a:defRPr sz="900" b="1">
                <a:solidFill>
                  <a:srgbClr val="0A2373"/>
                </a:solidFill>
                <a:latin typeface="Lato"/>
              </a:defRPr>
            </a:pPr>
            <a:r>
              <a:t>1.74</a:t>
            </a:r>
          </a:p>
        </p:txBody>
      </p:sp>
      <p:sp>
        <p:nvSpPr>
          <p:cNvPr id="518" name="TextBox 517"/>
          <p:cNvSpPr txBox="1"/>
          <p:nvPr/>
        </p:nvSpPr>
        <p:spPr>
          <a:xfrm>
            <a:off x="3791009" y="3800748"/>
            <a:ext cx="548640" cy="329184"/>
          </a:xfrm>
          <a:prstGeom prst="rect">
            <a:avLst/>
          </a:prstGeom>
          <a:noFill/>
        </p:spPr>
        <p:txBody>
          <a:bodyPr wrap="square" lIns="22860" rIns="22860" tIns="0" bIns="0">
            <a:spAutoFit/>
          </a:bodyPr>
          <a:lstStyle/>
          <a:p>
            <a:pPr>
              <a:spcAft>
                <a:spcPts val="300"/>
              </a:spcAft>
              <a:defRPr sz="900" b="1">
                <a:solidFill>
                  <a:srgbClr val="0A2373"/>
                </a:solidFill>
                <a:latin typeface="Lato"/>
              </a:defRPr>
            </a:pPr>
            <a:r>
              <a:t>FS</a:t>
            </a:r>
          </a:p>
          <a:p>
            <a:pPr>
              <a:spcAft>
                <a:spcPts val="300"/>
              </a:spcAft>
              <a:defRPr sz="900" b="1">
                <a:solidFill>
                  <a:srgbClr val="0A2373"/>
                </a:solidFill>
                <a:latin typeface="Lato"/>
              </a:defRPr>
            </a:pPr>
            <a:r>
              <a:t>1.37</a:t>
            </a:r>
          </a:p>
        </p:txBody>
      </p:sp>
      <p:sp>
        <p:nvSpPr>
          <p:cNvPr id="519" name="TextBox 518"/>
          <p:cNvSpPr txBox="1"/>
          <p:nvPr/>
        </p:nvSpPr>
        <p:spPr>
          <a:xfrm>
            <a:off x="3803733" y="2803889"/>
            <a:ext cx="548640" cy="329184"/>
          </a:xfrm>
          <a:prstGeom prst="rect">
            <a:avLst/>
          </a:prstGeom>
          <a:noFill/>
        </p:spPr>
        <p:txBody>
          <a:bodyPr wrap="square" lIns="22860" rIns="22860" tIns="0" bIns="0">
            <a:spAutoFit/>
          </a:bodyPr>
          <a:lstStyle/>
          <a:p>
            <a:pPr>
              <a:spcAft>
                <a:spcPts val="300"/>
              </a:spcAft>
              <a:defRPr sz="900" b="1">
                <a:solidFill>
                  <a:srgbClr val="0A2373"/>
                </a:solidFill>
                <a:latin typeface="Lato"/>
              </a:defRPr>
            </a:pPr>
            <a:r>
              <a:t>GP</a:t>
            </a:r>
          </a:p>
          <a:p>
            <a:pPr>
              <a:spcAft>
                <a:spcPts val="300"/>
              </a:spcAft>
              <a:defRPr sz="900" b="1">
                <a:solidFill>
                  <a:srgbClr val="0A2373"/>
                </a:solidFill>
                <a:latin typeface="Lato"/>
              </a:defRPr>
            </a:pPr>
            <a:r>
              <a:t>6.81</a:t>
            </a:r>
          </a:p>
        </p:txBody>
      </p:sp>
      <p:sp>
        <p:nvSpPr>
          <p:cNvPr id="520" name="TextBox 519"/>
          <p:cNvSpPr txBox="1"/>
          <p:nvPr/>
        </p:nvSpPr>
        <p:spPr>
          <a:xfrm>
            <a:off x="4594434" y="4015710"/>
            <a:ext cx="548640" cy="329184"/>
          </a:xfrm>
          <a:prstGeom prst="rect">
            <a:avLst/>
          </a:prstGeom>
          <a:noFill/>
        </p:spPr>
        <p:txBody>
          <a:bodyPr wrap="square" lIns="22860" rIns="22860" tIns="0" bIns="0">
            <a:spAutoFit/>
          </a:bodyPr>
          <a:lstStyle/>
          <a:p>
            <a:pPr>
              <a:spcAft>
                <a:spcPts val="300"/>
              </a:spcAft>
              <a:defRPr sz="900" b="1">
                <a:solidFill>
                  <a:srgbClr val="FFFFFF"/>
                </a:solidFill>
                <a:latin typeface="Lato"/>
              </a:defRPr>
            </a:pPr>
            <a:r>
              <a:t>KZN</a:t>
            </a:r>
          </a:p>
          <a:p>
            <a:pPr>
              <a:spcAft>
                <a:spcPts val="300"/>
              </a:spcAft>
              <a:defRPr sz="900" b="1">
                <a:solidFill>
                  <a:srgbClr val="FFFFFF"/>
                </a:solidFill>
                <a:latin typeface="Lato"/>
              </a:defRPr>
            </a:pPr>
            <a:r>
              <a:t>4.28</a:t>
            </a:r>
          </a:p>
        </p:txBody>
      </p:sp>
      <p:sp>
        <p:nvSpPr>
          <p:cNvPr id="521" name="TextBox 520"/>
          <p:cNvSpPr txBox="1"/>
          <p:nvPr/>
        </p:nvSpPr>
        <p:spPr>
          <a:xfrm>
            <a:off x="4417727" y="2601143"/>
            <a:ext cx="548640" cy="329184"/>
          </a:xfrm>
          <a:prstGeom prst="rect">
            <a:avLst/>
          </a:prstGeom>
          <a:noFill/>
        </p:spPr>
        <p:txBody>
          <a:bodyPr wrap="square" lIns="22860" rIns="22860" tIns="0" bIns="0">
            <a:spAutoFit/>
          </a:bodyPr>
          <a:lstStyle/>
          <a:p>
            <a:pPr>
              <a:spcAft>
                <a:spcPts val="300"/>
              </a:spcAft>
              <a:defRPr sz="900" b="1">
                <a:solidFill>
                  <a:srgbClr val="0A2373"/>
                </a:solidFill>
                <a:latin typeface="Lato"/>
              </a:defRPr>
            </a:pPr>
            <a:r>
              <a:t>LP</a:t>
            </a:r>
          </a:p>
          <a:p>
            <a:pPr>
              <a:spcAft>
                <a:spcPts val="300"/>
              </a:spcAft>
              <a:defRPr sz="900" b="1">
                <a:solidFill>
                  <a:srgbClr val="0A2373"/>
                </a:solidFill>
                <a:latin typeface="Lato"/>
              </a:defRPr>
            </a:pPr>
            <a:r>
              <a:t>0.50</a:t>
            </a:r>
          </a:p>
        </p:txBody>
      </p:sp>
      <p:sp>
        <p:nvSpPr>
          <p:cNvPr id="522" name="TextBox 521"/>
          <p:cNvSpPr txBox="1"/>
          <p:nvPr/>
        </p:nvSpPr>
        <p:spPr>
          <a:xfrm>
            <a:off x="4643472" y="3134231"/>
            <a:ext cx="548640" cy="329184"/>
          </a:xfrm>
          <a:prstGeom prst="rect">
            <a:avLst/>
          </a:prstGeom>
          <a:noFill/>
        </p:spPr>
        <p:txBody>
          <a:bodyPr wrap="square" lIns="22860" rIns="22860" tIns="0" bIns="0">
            <a:spAutoFit/>
          </a:bodyPr>
          <a:lstStyle/>
          <a:p>
            <a:pPr>
              <a:spcAft>
                <a:spcPts val="300"/>
              </a:spcAft>
              <a:defRPr sz="900" b="1">
                <a:solidFill>
                  <a:srgbClr val="0A2373"/>
                </a:solidFill>
                <a:latin typeface="Lato"/>
              </a:defRPr>
            </a:pPr>
            <a:r>
              <a:t>MP</a:t>
            </a:r>
          </a:p>
          <a:p>
            <a:pPr>
              <a:spcAft>
                <a:spcPts val="300"/>
              </a:spcAft>
              <a:defRPr sz="900" b="1">
                <a:solidFill>
                  <a:srgbClr val="0A2373"/>
                </a:solidFill>
                <a:latin typeface="Lato"/>
              </a:defRPr>
            </a:pPr>
            <a:r>
              <a:t>1.76</a:t>
            </a:r>
          </a:p>
        </p:txBody>
      </p:sp>
      <p:sp>
        <p:nvSpPr>
          <p:cNvPr id="523" name="TextBox 522"/>
          <p:cNvSpPr txBox="1"/>
          <p:nvPr/>
        </p:nvSpPr>
        <p:spPr>
          <a:xfrm>
            <a:off x="3637071" y="3249390"/>
            <a:ext cx="548640" cy="329184"/>
          </a:xfrm>
          <a:prstGeom prst="rect">
            <a:avLst/>
          </a:prstGeom>
          <a:noFill/>
        </p:spPr>
        <p:txBody>
          <a:bodyPr wrap="square" lIns="22860" rIns="22860" tIns="0" bIns="0">
            <a:spAutoFit/>
          </a:bodyPr>
          <a:lstStyle/>
          <a:p>
            <a:pPr>
              <a:spcAft>
                <a:spcPts val="300"/>
              </a:spcAft>
              <a:defRPr sz="900" b="1">
                <a:solidFill>
                  <a:srgbClr val="0A2373"/>
                </a:solidFill>
                <a:latin typeface="Lato"/>
              </a:defRPr>
            </a:pPr>
            <a:r>
              <a:t>NW</a:t>
            </a:r>
          </a:p>
          <a:p>
            <a:pPr>
              <a:spcAft>
                <a:spcPts val="300"/>
              </a:spcAft>
              <a:defRPr sz="900" b="1">
                <a:solidFill>
                  <a:srgbClr val="0A2373"/>
                </a:solidFill>
                <a:latin typeface="Lato"/>
              </a:defRPr>
            </a:pPr>
            <a:r>
              <a:t>1.07</a:t>
            </a:r>
          </a:p>
        </p:txBody>
      </p:sp>
      <p:sp>
        <p:nvSpPr>
          <p:cNvPr id="524" name="TextBox 523"/>
          <p:cNvSpPr txBox="1"/>
          <p:nvPr/>
        </p:nvSpPr>
        <p:spPr>
          <a:xfrm>
            <a:off x="2660447" y="4116476"/>
            <a:ext cx="548640" cy="329184"/>
          </a:xfrm>
          <a:prstGeom prst="rect">
            <a:avLst/>
          </a:prstGeom>
          <a:noFill/>
        </p:spPr>
        <p:txBody>
          <a:bodyPr wrap="square" lIns="22860" rIns="22860" tIns="0" bIns="0">
            <a:spAutoFit/>
          </a:bodyPr>
          <a:lstStyle/>
          <a:p>
            <a:pPr>
              <a:spcAft>
                <a:spcPts val="300"/>
              </a:spcAft>
              <a:defRPr sz="900" b="1">
                <a:solidFill>
                  <a:srgbClr val="0A2373"/>
                </a:solidFill>
                <a:latin typeface="Lato"/>
              </a:defRPr>
            </a:pPr>
            <a:r>
              <a:t>NC</a:t>
            </a:r>
          </a:p>
          <a:p>
            <a:pPr>
              <a:spcAft>
                <a:spcPts val="300"/>
              </a:spcAft>
              <a:defRPr sz="900" b="1">
                <a:solidFill>
                  <a:srgbClr val="0A2373"/>
                </a:solidFill>
                <a:latin typeface="Lato"/>
              </a:defRPr>
            </a:pPr>
            <a:r>
              <a:t>0.45</a:t>
            </a:r>
          </a:p>
        </p:txBody>
      </p:sp>
      <p:sp>
        <p:nvSpPr>
          <p:cNvPr id="525" name="TextBox 524"/>
          <p:cNvSpPr txBox="1"/>
          <p:nvPr/>
        </p:nvSpPr>
        <p:spPr>
          <a:xfrm>
            <a:off x="2480876" y="4941829"/>
            <a:ext cx="548640" cy="329184"/>
          </a:xfrm>
          <a:prstGeom prst="rect">
            <a:avLst/>
          </a:prstGeom>
          <a:noFill/>
        </p:spPr>
        <p:txBody>
          <a:bodyPr wrap="square" lIns="22860" rIns="22860" tIns="0" bIns="0">
            <a:spAutoFit/>
          </a:bodyPr>
          <a:lstStyle/>
          <a:p>
            <a:pPr>
              <a:spcAft>
                <a:spcPts val="300"/>
              </a:spcAft>
              <a:defRPr sz="900" b="1">
                <a:solidFill>
                  <a:srgbClr val="0A2373"/>
                </a:solidFill>
                <a:latin typeface="Lato"/>
              </a:defRPr>
            </a:pPr>
            <a:r>
              <a:t>WC</a:t>
            </a:r>
          </a:p>
          <a:p>
            <a:pPr>
              <a:spcAft>
                <a:spcPts val="300"/>
              </a:spcAft>
              <a:defRPr sz="900" b="1">
                <a:solidFill>
                  <a:srgbClr val="0A2373"/>
                </a:solidFill>
                <a:latin typeface="Lato"/>
              </a:defRPr>
            </a:pPr>
            <a:r>
              <a:t>3.93</a:t>
            </a:r>
          </a:p>
        </p:txBody>
      </p:sp>
      <p:sp>
        <p:nvSpPr>
          <p:cNvPr id="526" name="Rectangle 525"/>
          <p:cNvSpPr/>
          <p:nvPr/>
        </p:nvSpPr>
        <p:spPr>
          <a:xfrm>
            <a:off x="507492" y="5939028"/>
            <a:ext cx="100584" cy="100584"/>
          </a:xfrm>
          <a:prstGeom prst="rect">
            <a:avLst/>
          </a:prstGeom>
          <a:solidFill>
            <a:srgbClr val="E3EBF6"/>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7" name="TextBox 526"/>
          <p:cNvSpPr txBox="1"/>
          <p:nvPr/>
        </p:nvSpPr>
        <p:spPr>
          <a:xfrm>
            <a:off x="685800" y="5897880"/>
            <a:ext cx="566928" cy="182880"/>
          </a:xfrm>
          <a:prstGeom prst="rect">
            <a:avLst/>
          </a:prstGeom>
          <a:noFill/>
        </p:spPr>
        <p:txBody>
          <a:bodyPr wrap="square" lIns="22860" rIns="22860" tIns="0" bIns="0">
            <a:spAutoFit/>
          </a:bodyPr>
          <a:lstStyle/>
          <a:p>
            <a:pPr>
              <a:spcAft>
                <a:spcPts val="300"/>
              </a:spcAft>
              <a:defRPr sz="850" b="0">
                <a:solidFill>
                  <a:srgbClr val="000000"/>
                </a:solidFill>
                <a:latin typeface="Lato"/>
              </a:defRPr>
            </a:pPr>
            <a:r>
              <a:t>&lt;1</a:t>
            </a:r>
          </a:p>
        </p:txBody>
      </p:sp>
      <p:sp>
        <p:nvSpPr>
          <p:cNvPr id="528" name="Rectangle 527"/>
          <p:cNvSpPr/>
          <p:nvPr/>
        </p:nvSpPr>
        <p:spPr>
          <a:xfrm>
            <a:off x="1367028" y="5939028"/>
            <a:ext cx="100584" cy="100584"/>
          </a:xfrm>
          <a:prstGeom prst="rect">
            <a:avLst/>
          </a:prstGeom>
          <a:solidFill>
            <a:srgbClr val="BACCE4"/>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9" name="TextBox 528"/>
          <p:cNvSpPr txBox="1"/>
          <p:nvPr/>
        </p:nvSpPr>
        <p:spPr>
          <a:xfrm>
            <a:off x="1545336" y="5897880"/>
            <a:ext cx="566928" cy="182880"/>
          </a:xfrm>
          <a:prstGeom prst="rect">
            <a:avLst/>
          </a:prstGeom>
          <a:noFill/>
        </p:spPr>
        <p:txBody>
          <a:bodyPr wrap="square" lIns="22860" rIns="22860" tIns="0" bIns="0">
            <a:spAutoFit/>
          </a:bodyPr>
          <a:lstStyle/>
          <a:p>
            <a:pPr>
              <a:spcAft>
                <a:spcPts val="300"/>
              </a:spcAft>
              <a:defRPr sz="850" b="0">
                <a:solidFill>
                  <a:srgbClr val="000000"/>
                </a:solidFill>
                <a:latin typeface="Lato"/>
              </a:defRPr>
            </a:pPr>
            <a:r>
              <a:t>1-2</a:t>
            </a:r>
          </a:p>
        </p:txBody>
      </p:sp>
      <p:sp>
        <p:nvSpPr>
          <p:cNvPr id="530" name="Rectangle 529"/>
          <p:cNvSpPr/>
          <p:nvPr/>
        </p:nvSpPr>
        <p:spPr>
          <a:xfrm>
            <a:off x="2226563" y="5939028"/>
            <a:ext cx="100584" cy="100584"/>
          </a:xfrm>
          <a:prstGeom prst="rect">
            <a:avLst/>
          </a:prstGeom>
          <a:solidFill>
            <a:srgbClr val="809CC7"/>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1" name="TextBox 530"/>
          <p:cNvSpPr txBox="1"/>
          <p:nvPr/>
        </p:nvSpPr>
        <p:spPr>
          <a:xfrm>
            <a:off x="2404872" y="5897880"/>
            <a:ext cx="566928" cy="182880"/>
          </a:xfrm>
          <a:prstGeom prst="rect">
            <a:avLst/>
          </a:prstGeom>
          <a:noFill/>
        </p:spPr>
        <p:txBody>
          <a:bodyPr wrap="square" lIns="22860" rIns="22860" tIns="0" bIns="0">
            <a:spAutoFit/>
          </a:bodyPr>
          <a:lstStyle/>
          <a:p>
            <a:pPr>
              <a:spcAft>
                <a:spcPts val="300"/>
              </a:spcAft>
              <a:defRPr sz="850" b="0">
                <a:solidFill>
                  <a:srgbClr val="000000"/>
                </a:solidFill>
                <a:latin typeface="Lato"/>
              </a:defRPr>
            </a:pPr>
            <a:r>
              <a:t>2-4</a:t>
            </a:r>
          </a:p>
        </p:txBody>
      </p:sp>
      <p:sp>
        <p:nvSpPr>
          <p:cNvPr id="532" name="Rectangle 531"/>
          <p:cNvSpPr/>
          <p:nvPr/>
        </p:nvSpPr>
        <p:spPr>
          <a:xfrm>
            <a:off x="3086100" y="5939028"/>
            <a:ext cx="100584" cy="100584"/>
          </a:xfrm>
          <a:prstGeom prst="rect">
            <a:avLst/>
          </a:prstGeom>
          <a:solidFill>
            <a:srgbClr val="3D619D"/>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3" name="TextBox 532"/>
          <p:cNvSpPr txBox="1"/>
          <p:nvPr/>
        </p:nvSpPr>
        <p:spPr>
          <a:xfrm>
            <a:off x="3264408" y="5897880"/>
            <a:ext cx="566928" cy="182880"/>
          </a:xfrm>
          <a:prstGeom prst="rect">
            <a:avLst/>
          </a:prstGeom>
          <a:noFill/>
        </p:spPr>
        <p:txBody>
          <a:bodyPr wrap="square" lIns="22860" rIns="22860" tIns="0" bIns="0">
            <a:spAutoFit/>
          </a:bodyPr>
          <a:lstStyle/>
          <a:p>
            <a:pPr>
              <a:spcAft>
                <a:spcPts val="300"/>
              </a:spcAft>
              <a:defRPr sz="850" b="0">
                <a:solidFill>
                  <a:srgbClr val="000000"/>
                </a:solidFill>
                <a:latin typeface="Lato"/>
              </a:defRPr>
            </a:pPr>
            <a:r>
              <a:t>4-6</a:t>
            </a:r>
          </a:p>
        </p:txBody>
      </p:sp>
      <p:sp>
        <p:nvSpPr>
          <p:cNvPr id="534" name="Rectangle 533"/>
          <p:cNvSpPr/>
          <p:nvPr/>
        </p:nvSpPr>
        <p:spPr>
          <a:xfrm>
            <a:off x="3945635" y="5939028"/>
            <a:ext cx="100584" cy="100584"/>
          </a:xfrm>
          <a:prstGeom prst="rect">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5" name="TextBox 534"/>
          <p:cNvSpPr txBox="1"/>
          <p:nvPr/>
        </p:nvSpPr>
        <p:spPr>
          <a:xfrm>
            <a:off x="4123944" y="5897880"/>
            <a:ext cx="566928" cy="182880"/>
          </a:xfrm>
          <a:prstGeom prst="rect">
            <a:avLst/>
          </a:prstGeom>
          <a:noFill/>
        </p:spPr>
        <p:txBody>
          <a:bodyPr wrap="square" lIns="22860" rIns="22860" tIns="0" bIns="0">
            <a:spAutoFit/>
          </a:bodyPr>
          <a:lstStyle/>
          <a:p>
            <a:pPr>
              <a:spcAft>
                <a:spcPts val="300"/>
              </a:spcAft>
              <a:defRPr sz="850" b="0">
                <a:solidFill>
                  <a:srgbClr val="000000"/>
                </a:solidFill>
                <a:latin typeface="Lato"/>
              </a:defRPr>
            </a:pPr>
            <a:r>
              <a:t>6+</a:t>
            </a:r>
          </a:p>
        </p:txBody>
      </p:sp>
      <p:sp>
        <p:nvSpPr>
          <p:cNvPr id="536" name="TextBox 535"/>
          <p:cNvSpPr txBox="1"/>
          <p:nvPr/>
        </p:nvSpPr>
        <p:spPr>
          <a:xfrm>
            <a:off x="4773168" y="5897880"/>
            <a:ext cx="2112264" cy="182880"/>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Provincial totals, not density</a:t>
            </a:r>
          </a:p>
        </p:txBody>
      </p:sp>
      <p:sp>
        <p:nvSpPr>
          <p:cNvPr id="537" name="Oval 536"/>
          <p:cNvSpPr/>
          <p:nvPr/>
        </p:nvSpPr>
        <p:spPr>
          <a:xfrm>
            <a:off x="507492" y="6195060"/>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8" name="TextBox 537"/>
          <p:cNvSpPr txBox="1"/>
          <p:nvPr/>
        </p:nvSpPr>
        <p:spPr>
          <a:xfrm>
            <a:off x="640080" y="6144768"/>
            <a:ext cx="1124712" cy="182880"/>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Production</a:t>
            </a:r>
          </a:p>
        </p:txBody>
      </p:sp>
      <p:sp>
        <p:nvSpPr>
          <p:cNvPr id="539" name="Rectangle 538"/>
          <p:cNvSpPr/>
          <p:nvPr/>
        </p:nvSpPr>
        <p:spPr>
          <a:xfrm>
            <a:off x="1677924" y="6195060"/>
            <a:ext cx="82296" cy="82296"/>
          </a:xfrm>
          <a:prstGeom prst="rect">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0" name="TextBox 539"/>
          <p:cNvSpPr txBox="1"/>
          <p:nvPr/>
        </p:nvSpPr>
        <p:spPr>
          <a:xfrm>
            <a:off x="1810512" y="6144768"/>
            <a:ext cx="1124712" cy="182880"/>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Port</a:t>
            </a:r>
          </a:p>
        </p:txBody>
      </p:sp>
      <p:sp>
        <p:nvSpPr>
          <p:cNvPr id="541" name="Diamond 540"/>
          <p:cNvSpPr/>
          <p:nvPr/>
        </p:nvSpPr>
        <p:spPr>
          <a:xfrm>
            <a:off x="2382012" y="6195060"/>
            <a:ext cx="82296" cy="82296"/>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2" name="TextBox 541"/>
          <p:cNvSpPr txBox="1"/>
          <p:nvPr/>
        </p:nvSpPr>
        <p:spPr>
          <a:xfrm>
            <a:off x="2514600" y="6144768"/>
            <a:ext cx="1124712" cy="182880"/>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Vopak</a:t>
            </a:r>
          </a:p>
        </p:txBody>
      </p:sp>
      <p:sp>
        <p:nvSpPr>
          <p:cNvPr id="543" name="TextBox 542"/>
          <p:cNvSpPr txBox="1"/>
          <p:nvPr/>
        </p:nvSpPr>
        <p:spPr>
          <a:xfrm>
            <a:off x="4489704" y="6144768"/>
            <a:ext cx="2432304" cy="237744"/>
          </a:xfrm>
          <a:prstGeom prst="rect">
            <a:avLst/>
          </a:prstGeom>
          <a:noFill/>
        </p:spPr>
        <p:txBody>
          <a:bodyPr wrap="square" lIns="22860" rIns="22860" tIns="0" bIns="0">
            <a:spAutoFit/>
          </a:bodyPr>
          <a:lstStyle/>
          <a:p>
            <a:pPr>
              <a:spcAft>
                <a:spcPts val="300"/>
              </a:spcAft>
              <a:defRPr sz="750" b="0">
                <a:solidFill>
                  <a:srgbClr val="000000"/>
                </a:solidFill>
                <a:latin typeface="Lato"/>
              </a:defRPr>
            </a:pPr>
            <a:r>
              <a:t>Lines: road / pipe / rail; heavy outlines: working regions</a:t>
            </a:r>
          </a:p>
        </p:txBody>
      </p:sp>
      <p:cxnSp>
        <p:nvCxnSpPr>
          <p:cNvPr id="552" name="Connector 551"/>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555" name="TextBox 554"/>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What the evidence shows</a:t>
            </a:r>
          </a:p>
        </p:txBody>
      </p:sp>
      <p:sp>
        <p:nvSpPr>
          <p:cNvPr id="556" name="TextBox 555"/>
          <p:cNvSpPr txBox="1"/>
          <p:nvPr/>
        </p:nvSpPr>
        <p:spPr>
          <a:xfrm>
            <a:off x="7424927" y="218541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01 | Demand is concentrated</a:t>
            </a:r>
          </a:p>
        </p:txBody>
      </p:sp>
      <p:sp>
        <p:nvSpPr>
          <p:cNvPr id="557" name="TextBox 556"/>
          <p:cNvSpPr txBox="1"/>
          <p:nvPr/>
        </p:nvSpPr>
        <p:spPr>
          <a:xfrm>
            <a:off x="7424927" y="256946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Gauteng, KwaZulu-Natal and Western Cape account for 68.6% of reported 2022 petrol/diesel sales.</a:t>
            </a:r>
          </a:p>
        </p:txBody>
      </p:sp>
      <p:sp>
        <p:nvSpPr>
          <p:cNvPr id="558" name="TextBox 557"/>
          <p:cNvSpPr txBox="1"/>
          <p:nvPr/>
        </p:nvSpPr>
        <p:spPr>
          <a:xfrm>
            <a:off x="7424927" y="314553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02 | Four reporting regions</a:t>
            </a:r>
          </a:p>
        </p:txBody>
      </p:sp>
      <p:sp>
        <p:nvSpPr>
          <p:cNvPr id="559" name="TextBox 558"/>
          <p:cNvSpPr txBox="1"/>
          <p:nvPr/>
        </p:nvSpPr>
        <p:spPr>
          <a:xfrm>
            <a:off x="7424927" y="3529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Eastern coast: EC/KZN. Inland: GP/FS/LP/MP/NW. Western coast: WC. Other: NC. Boundaries are reporting groups.</a:t>
            </a:r>
          </a:p>
        </p:txBody>
      </p:sp>
      <p:sp>
        <p:nvSpPr>
          <p:cNvPr id="560" name="TextBox 559"/>
          <p:cNvSpPr txBox="1"/>
          <p:nvPr/>
        </p:nvSpPr>
        <p:spPr>
          <a:xfrm>
            <a:off x="7424927" y="410565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03 | Sales locate the historical market</a:t>
            </a:r>
          </a:p>
        </p:txBody>
      </p:sp>
      <p:sp>
        <p:nvSpPr>
          <p:cNvPr id="561" name="TextBox 560"/>
          <p:cNvSpPr txBox="1"/>
          <p:nvPr/>
        </p:nvSpPr>
        <p:spPr>
          <a:xfrm>
            <a:off x="7424927" y="448970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Colours show provincial sales totals, not density or customer catchments. Only Durban and Lesedi are labelled; competitor detail is on pages 13 and 15.</a:t>
            </a:r>
          </a:p>
        </p:txBody>
      </p:sp>
      <p:cxnSp>
        <p:nvCxnSpPr>
          <p:cNvPr id="562" name="Connector 561"/>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563" name="TextBox 562"/>
          <p:cNvSpPr txBox="1"/>
          <p:nvPr/>
        </p:nvSpPr>
        <p:spPr>
          <a:xfrm>
            <a:off x="7424927" y="5321808"/>
            <a:ext cx="3685032"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To resolve next</a:t>
            </a:r>
          </a:p>
        </p:txBody>
      </p:sp>
      <p:sp>
        <p:nvSpPr>
          <p:cNvPr id="564" name="TextBox 563"/>
          <p:cNvSpPr txBox="1"/>
          <p:nvPr/>
        </p:nvSpPr>
        <p:spPr>
          <a:xfrm>
            <a:off x="7424927" y="5687568"/>
            <a:ext cx="3685032" cy="62179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Nigel: confirm customer markets for Durban and Lesedi. Manish: retain the observed 2022 map; present later estimates separately with national-source flags.</a:t>
            </a:r>
          </a:p>
        </p:txBody>
      </p:sp>
      <p:sp>
        <p:nvSpPr>
          <p:cNvPr id="565" name="SCR divider marker: circle"/>
          <p:cNvSpPr/>
          <p:nvPr/>
        </p:nvSpPr>
        <p:spPr>
          <a:xfrm>
            <a:off x="7086600" y="1828800"/>
            <a:ext cx="237744" cy="237744"/>
          </a:xfrm>
          <a:prstGeom prst="ellipse">
            <a:avLst/>
          </a:prstGeom>
          <a:solidFill>
            <a:srgbClr val="0A2373"/>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66" name="SCR divider marker: arrow"/>
          <p:cNvCxnSpPr/>
          <p:nvPr/>
        </p:nvCxnSpPr>
        <p:spPr>
          <a:xfrm>
            <a:off x="7173468" y="1888236"/>
            <a:ext cx="64008" cy="59436"/>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567" name="SCR divider marker: arrow"/>
          <p:cNvCxnSpPr/>
          <p:nvPr/>
        </p:nvCxnSpPr>
        <p:spPr>
          <a:xfrm flipH="1">
            <a:off x="7173468" y="1947672"/>
            <a:ext cx="64008" cy="59435"/>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sp>
        <p:nvSpPr>
          <p:cNvPr id="568"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S2. Reported fuel sales were broadly steady through 2022, despite the pandemic dip</a:t>
            </a:r>
          </a:p>
        </p:txBody>
      </p:sp>
      <p:sp>
        <p:nvSpPr>
          <p:cNvPr id="3" name="Slide Number Placeholder"/>
          <p:cNvSpPr>
            <a:spLocks noGrp="1"/>
          </p:cNvSpPr>
          <p:nvPr>
            <p:ph type="sldNum" sz="quarter" idx="12"/>
          </p:nvPr>
        </p:nvSpPr>
        <p:spPr/>
        <p:txBody>
          <a:bodyPr/>
          <a:lstStyle/>
          <a:p>
            <a:fld id="{200F53F2-6728-429F-8198-3E32C95DB05B}" type="slidenum">
              <a:rPr lang="en-US"/>
              <a:t>‹#›</a:t>
            </a:fld>
          </a:p>
        </p:txBody>
      </p:sp>
      <p:sp>
        <p:nvSpPr>
          <p:cNvPr id="4" name="Section navigation 1">
            <a:hlinkClick action="ppaction://hlinksldjump" r:id="rId4"/>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1  Overview</a:t>
            </a:r>
          </a:p>
        </p:txBody>
      </p:sp>
      <p:sp>
        <p:nvSpPr>
          <p:cNvPr id="5" name="Section navigation 2">
            <a:hlinkClick action="ppaction://hlinksldjump" r:id="rId5"/>
          </p:cNvPr>
          <p:cNvSpPr/>
          <p:nvPr/>
        </p:nvSpPr>
        <p:spPr>
          <a:xfrm>
            <a:off x="3136392"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1">
                <a:solidFill>
                  <a:srgbClr val="FFFFFF"/>
                </a:solidFill>
                <a:latin typeface="Lato"/>
              </a:defRPr>
            </a:pPr>
            <a:r>
              <a:rPr sz="1050"/>
              <a:t>2  Market baseline</a:t>
            </a:r>
          </a:p>
        </p:txBody>
      </p:sp>
      <p:sp>
        <p:nvSpPr>
          <p:cNvPr id="6" name="Section navigation 3">
            <a:hlinkClick action="ppaction://hlinksldjump" r:id="rId6"/>
          </p:cNvPr>
          <p:cNvSpPr/>
          <p:nvPr/>
        </p:nvSpPr>
        <p:spPr>
          <a:xfrm>
            <a:off x="5815584"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3  Market changes</a:t>
            </a:r>
          </a:p>
        </p:txBody>
      </p:sp>
      <p:sp>
        <p:nvSpPr>
          <p:cNvPr id="7" name="Section navigation 4">
            <a:hlinkClick action="ppaction://hlinksldjump" r:id="rId7"/>
          </p:cNvPr>
          <p:cNvSpPr/>
          <p:nvPr/>
        </p:nvSpPr>
        <p:spPr>
          <a:xfrm>
            <a:off x="8494776"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4  Vopak outlook</a:t>
            </a:r>
          </a:p>
        </p:txBody>
      </p:sp>
      <p:sp>
        <p:nvSpPr>
          <p:cNvPr id="8"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b="0">
                <a:solidFill>
                  <a:srgbClr val="000000"/>
                </a:solidFill>
                <a:latin typeface="Lato"/>
              </a:defRPr>
            </a:pPr>
            <a:r>
              <a:rPr sz="750"/>
              <a:t>Source: DMPR provincial sales 2013–2022; Manish held-share 2024 petrol estimates (FIASA total unverified).</a:t>
            </a:r>
          </a:p>
        </p:txBody>
      </p:sp>
      <p:sp>
        <p:nvSpPr>
          <p:cNvPr id="9" name="TextBox 8"/>
          <p:cNvSpPr txBox="1"/>
          <p:nvPr/>
        </p:nvSpPr>
        <p:spPr>
          <a:xfrm>
            <a:off x="457200" y="1627632"/>
            <a:ext cx="6446520"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Annual provincial sales | 2013–2022, bn litres/year</a:t>
            </a:r>
          </a:p>
        </p:txBody>
      </p:sp>
      <p:cxnSp>
        <p:nvCxnSpPr>
          <p:cNvPr id="10" name="Connector 9"/>
          <p:cNvCxnSpPr/>
          <p:nvPr/>
        </p:nvCxnSpPr>
        <p:spPr>
          <a:xfrm>
            <a:off x="457200" y="1947672"/>
            <a:ext cx="6446520"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7424927" y="1947672"/>
            <a:ext cx="3685033"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graphicFrame>
        <p:nvGraphicFramePr>
          <p:cNvPr id="22" name="Chart 21"/>
          <p:cNvGraphicFramePr>
            <a:graphicFrameLocks noGrp="1"/>
          </p:cNvGraphicFramePr>
          <p:nvPr/>
        </p:nvGraphicFramePr>
        <p:xfrm>
          <a:off x="457200" y="2167128"/>
          <a:ext cx="6446520" cy="3593592"/>
        </p:xfrm>
        <a:graphic>
          <a:graphicData uri="http://schemas.openxmlformats.org/drawingml/2006/chart">
            <c:chart xmlns:c="http://schemas.openxmlformats.org/drawingml/2006/chart" r:id="rId3"/>
          </a:graphicData>
        </a:graphic>
      </p:graphicFrame>
      <p:cxnSp>
        <p:nvCxnSpPr>
          <p:cNvPr id="23" name="Connector 22"/>
          <p:cNvCxnSpPr/>
          <p:nvPr/>
        </p:nvCxnSpPr>
        <p:spPr>
          <a:xfrm>
            <a:off x="502920" y="5824728"/>
            <a:ext cx="246888" cy="0"/>
          </a:xfrm>
          <a:prstGeom prst="line">
            <a:avLst/>
          </a:prstGeom>
          <a:ln w="21590">
            <a:solidFill>
              <a:srgbClr val="0A2373"/>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813816" y="5760720"/>
            <a:ext cx="1783080" cy="182880"/>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Gauteng</a:t>
            </a:r>
          </a:p>
        </p:txBody>
      </p:sp>
      <p:cxnSp>
        <p:nvCxnSpPr>
          <p:cNvPr id="25" name="Connector 24"/>
          <p:cNvCxnSpPr/>
          <p:nvPr/>
        </p:nvCxnSpPr>
        <p:spPr>
          <a:xfrm>
            <a:off x="2606039" y="5824728"/>
            <a:ext cx="246888" cy="0"/>
          </a:xfrm>
          <a:prstGeom prst="line">
            <a:avLst/>
          </a:prstGeom>
          <a:ln w="21590">
            <a:solidFill>
              <a:srgbClr val="546CA2"/>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2916935" y="5760720"/>
            <a:ext cx="1783080" cy="182880"/>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KwaZulu-Natal</a:t>
            </a:r>
          </a:p>
        </p:txBody>
      </p:sp>
      <p:cxnSp>
        <p:nvCxnSpPr>
          <p:cNvPr id="27" name="Connector 26"/>
          <p:cNvCxnSpPr/>
          <p:nvPr/>
        </p:nvCxnSpPr>
        <p:spPr>
          <a:xfrm>
            <a:off x="4709159" y="5824728"/>
            <a:ext cx="246889" cy="0"/>
          </a:xfrm>
          <a:prstGeom prst="line">
            <a:avLst/>
          </a:prstGeom>
          <a:ln w="21590">
            <a:solidFill>
              <a:srgbClr val="404040"/>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5020055" y="5760720"/>
            <a:ext cx="1783080" cy="182880"/>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Western Cape</a:t>
            </a:r>
          </a:p>
        </p:txBody>
      </p:sp>
      <p:cxnSp>
        <p:nvCxnSpPr>
          <p:cNvPr id="29" name="Connector 28"/>
          <p:cNvCxnSpPr/>
          <p:nvPr/>
        </p:nvCxnSpPr>
        <p:spPr>
          <a:xfrm>
            <a:off x="502920" y="6035040"/>
            <a:ext cx="246888" cy="0"/>
          </a:xfrm>
          <a:prstGeom prst="line">
            <a:avLst/>
          </a:prstGeom>
          <a:ln w="21590">
            <a:solidFill>
              <a:srgbClr val="546CA2"/>
            </a:solidFill>
            <a:prstDash val="dash"/>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813816" y="5971032"/>
            <a:ext cx="1783080" cy="182880"/>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Mpumalanga</a:t>
            </a:r>
          </a:p>
        </p:txBody>
      </p:sp>
      <p:cxnSp>
        <p:nvCxnSpPr>
          <p:cNvPr id="31" name="Connector 30"/>
          <p:cNvCxnSpPr/>
          <p:nvPr/>
        </p:nvCxnSpPr>
        <p:spPr>
          <a:xfrm>
            <a:off x="2606039" y="6035040"/>
            <a:ext cx="246888" cy="0"/>
          </a:xfrm>
          <a:prstGeom prst="line">
            <a:avLst/>
          </a:prstGeom>
          <a:ln w="21590">
            <a:solidFill>
              <a:srgbClr val="767676"/>
            </a:solidFill>
            <a:prstDash val="dash"/>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2916935" y="5971032"/>
            <a:ext cx="1783080" cy="182880"/>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Eastern Cape</a:t>
            </a:r>
          </a:p>
        </p:txBody>
      </p:sp>
      <p:cxnSp>
        <p:nvCxnSpPr>
          <p:cNvPr id="33" name="Connector 32"/>
          <p:cNvCxnSpPr/>
          <p:nvPr/>
        </p:nvCxnSpPr>
        <p:spPr>
          <a:xfrm>
            <a:off x="4709159" y="6035040"/>
            <a:ext cx="246889" cy="0"/>
          </a:xfrm>
          <a:prstGeom prst="line">
            <a:avLst/>
          </a:prstGeom>
          <a:ln w="21590">
            <a:solidFill>
              <a:srgbClr val="0A2373"/>
            </a:solidFill>
            <a:prstDash val="sysDot"/>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5020055" y="5971032"/>
            <a:ext cx="1783080" cy="182880"/>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Free State</a:t>
            </a:r>
          </a:p>
        </p:txBody>
      </p:sp>
      <p:cxnSp>
        <p:nvCxnSpPr>
          <p:cNvPr id="35" name="Connector 34"/>
          <p:cNvCxnSpPr/>
          <p:nvPr/>
        </p:nvCxnSpPr>
        <p:spPr>
          <a:xfrm>
            <a:off x="502920" y="6245352"/>
            <a:ext cx="246888" cy="0"/>
          </a:xfrm>
          <a:prstGeom prst="line">
            <a:avLst/>
          </a:prstGeom>
          <a:ln w="21590">
            <a:solidFill>
              <a:srgbClr val="404040"/>
            </a:solidFill>
            <a:prstDash val="dashDot"/>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813816" y="6181344"/>
            <a:ext cx="1783080" cy="182880"/>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North West</a:t>
            </a:r>
          </a:p>
        </p:txBody>
      </p:sp>
      <p:cxnSp>
        <p:nvCxnSpPr>
          <p:cNvPr id="37" name="Connector 36"/>
          <p:cNvCxnSpPr/>
          <p:nvPr/>
        </p:nvCxnSpPr>
        <p:spPr>
          <a:xfrm>
            <a:off x="2606039" y="6245352"/>
            <a:ext cx="246888" cy="0"/>
          </a:xfrm>
          <a:prstGeom prst="line">
            <a:avLst/>
          </a:prstGeom>
          <a:ln w="21590">
            <a:solidFill>
              <a:srgbClr val="767676"/>
            </a:solidFill>
            <a:prstDash val="sysDot"/>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2916935" y="6181344"/>
            <a:ext cx="1783080" cy="182880"/>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Limpopo</a:t>
            </a:r>
          </a:p>
        </p:txBody>
      </p:sp>
      <p:cxnSp>
        <p:nvCxnSpPr>
          <p:cNvPr id="39" name="Connector 38"/>
          <p:cNvCxnSpPr/>
          <p:nvPr/>
        </p:nvCxnSpPr>
        <p:spPr>
          <a:xfrm>
            <a:off x="4709159" y="6245352"/>
            <a:ext cx="246889" cy="0"/>
          </a:xfrm>
          <a:prstGeom prst="line">
            <a:avLst/>
          </a:prstGeom>
          <a:ln w="21590">
            <a:solidFill>
              <a:srgbClr val="BDBEC1"/>
            </a:solidFill>
            <a:prstDash val="lgDash"/>
          </a:ln>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5020055" y="6181344"/>
            <a:ext cx="1783080" cy="182880"/>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Northern Cape</a:t>
            </a:r>
          </a:p>
        </p:txBody>
      </p:sp>
      <p:cxnSp>
        <p:nvCxnSpPr>
          <p:cNvPr id="48" name="Connector 47"/>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51" name="TextBox 50"/>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What the evidence shows</a:t>
            </a:r>
          </a:p>
        </p:txBody>
      </p:sp>
      <p:sp>
        <p:nvSpPr>
          <p:cNvPr id="52" name="TextBox 51"/>
          <p:cNvSpPr txBox="1"/>
          <p:nvPr/>
        </p:nvSpPr>
        <p:spPr>
          <a:xfrm>
            <a:off x="7424927" y="218541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01 | Gauteng remains the largest market</a:t>
            </a:r>
          </a:p>
        </p:txBody>
      </p:sp>
      <p:sp>
        <p:nvSpPr>
          <p:cNvPr id="53" name="TextBox 52"/>
          <p:cNvSpPr txBox="1"/>
          <p:nvPr/>
        </p:nvSpPr>
        <p:spPr>
          <a:xfrm>
            <a:off x="7424927" y="256946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The reported series places Gauteng above the other provinces throughout 2013–2022. Volumes differ across the smaller markets.</a:t>
            </a:r>
          </a:p>
        </p:txBody>
      </p:sp>
      <p:sp>
        <p:nvSpPr>
          <p:cNvPr id="54" name="TextBox 53"/>
          <p:cNvSpPr txBox="1"/>
          <p:nvPr/>
        </p:nvSpPr>
        <p:spPr>
          <a:xfrm>
            <a:off x="7424927" y="314553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02 | Later provinces are estimates</a:t>
            </a:r>
          </a:p>
        </p:txBody>
      </p:sp>
      <p:sp>
        <p:nvSpPr>
          <p:cNvPr id="55" name="TextBox 54"/>
          <p:cNvSpPr txBox="1"/>
          <p:nvPr/>
        </p:nvSpPr>
        <p:spPr>
          <a:xfrm>
            <a:off x="7424927" y="3529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2024 petrol estimates: Gauteng 3.47, KZN 1.47, Western Cape 1.41 bn L. These hold 2022 shares; no later observed provincial sales were found.</a:t>
            </a:r>
          </a:p>
        </p:txBody>
      </p:sp>
      <p:sp>
        <p:nvSpPr>
          <p:cNvPr id="56" name="TextBox 55"/>
          <p:cNvSpPr txBox="1"/>
          <p:nvPr/>
        </p:nvSpPr>
        <p:spPr>
          <a:xfrm>
            <a:off x="7424927" y="410565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03 | Historical differences are traced</a:t>
            </a:r>
          </a:p>
        </p:txBody>
      </p:sp>
      <p:sp>
        <p:nvSpPr>
          <p:cNvPr id="57" name="TextBox 56"/>
          <p:cNvSpPr txBox="1"/>
          <p:nvPr/>
        </p:nvSpPr>
        <p:spPr>
          <a:xfrm>
            <a:off x="7424927" y="448970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The analyst branch corrects the 2013 parser. Sources differ in 2014/2015; 2018 district coverage is incomplete. Retain these flags.</a:t>
            </a:r>
          </a:p>
        </p:txBody>
      </p:sp>
      <p:cxnSp>
        <p:nvCxnSpPr>
          <p:cNvPr id="58" name="Connector 57"/>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59" name="TextBox 58"/>
          <p:cNvSpPr txBox="1"/>
          <p:nvPr/>
        </p:nvSpPr>
        <p:spPr>
          <a:xfrm>
            <a:off x="7424927" y="5321808"/>
            <a:ext cx="3685032"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To resolve next</a:t>
            </a:r>
          </a:p>
        </p:txBody>
      </p:sp>
      <p:sp>
        <p:nvSpPr>
          <p:cNvPr id="60" name="TextBox 59"/>
          <p:cNvSpPr txBox="1"/>
          <p:nvPr/>
        </p:nvSpPr>
        <p:spPr>
          <a:xfrm>
            <a:off x="7424927" y="5687568"/>
            <a:ext cx="3685032" cy="62179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Manish: reconcile source selections and retain estimate labels. Nigel: decide whether estimated petrol volumes belong in the outlook; diesel booking shares are less stable.</a:t>
            </a:r>
          </a:p>
        </p:txBody>
      </p:sp>
      <p:sp>
        <p:nvSpPr>
          <p:cNvPr id="61" name="SCR divider marker: circle"/>
          <p:cNvSpPr/>
          <p:nvPr/>
        </p:nvSpPr>
        <p:spPr>
          <a:xfrm>
            <a:off x="7086600" y="1828800"/>
            <a:ext cx="237744" cy="237744"/>
          </a:xfrm>
          <a:prstGeom prst="ellipse">
            <a:avLst/>
          </a:prstGeom>
          <a:solidFill>
            <a:srgbClr val="0A2373"/>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2" name="SCR divider marker: arrow"/>
          <p:cNvCxnSpPr/>
          <p:nvPr/>
        </p:nvCxnSpPr>
        <p:spPr>
          <a:xfrm>
            <a:off x="7173468" y="1888236"/>
            <a:ext cx="64008" cy="59436"/>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63" name="SCR divider marker: arrow"/>
          <p:cNvCxnSpPr/>
          <p:nvPr/>
        </p:nvCxnSpPr>
        <p:spPr>
          <a:xfrm flipH="1">
            <a:off x="7173468" y="1947672"/>
            <a:ext cx="64008" cy="59435"/>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sp>
        <p:nvSpPr>
          <p:cNvPr id="64"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S1. Provincial demand is known; its supply origin still needs evidence</a:t>
            </a:r>
          </a:p>
        </p:txBody>
      </p:sp>
      <p:sp>
        <p:nvSpPr>
          <p:cNvPr id="3" name="Slide Number Placeholder"/>
          <p:cNvSpPr>
            <a:spLocks noGrp="1"/>
          </p:cNvSpPr>
          <p:nvPr>
            <p:ph type="sldNum" sz="quarter" idx="12"/>
          </p:nvPr>
        </p:nvSpPr>
        <p:spPr/>
        <p:txBody>
          <a:bodyPr/>
          <a:lstStyle/>
          <a:p>
            <a:fld id="{A625E636-5FD9-4C81-B354-7C64E11C7002}" type="slidenum">
              <a:rPr lang="en-US"/>
              <a:t>‹#›</a:t>
            </a:fld>
          </a:p>
        </p:txBody>
      </p:sp>
      <p:sp>
        <p:nvSpPr>
          <p:cNvPr id="4" name="Section navigation 1">
            <a:hlinkClick action="ppaction://hlinksldjump" r:id="rId3"/>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1  Overview</a:t>
            </a:r>
          </a:p>
        </p:txBody>
      </p:sp>
      <p:sp>
        <p:nvSpPr>
          <p:cNvPr id="5" name="Section navigation 2">
            <a:hlinkClick action="ppaction://hlinksldjump" r:id="rId4"/>
          </p:cNvPr>
          <p:cNvSpPr/>
          <p:nvPr/>
        </p:nvSpPr>
        <p:spPr>
          <a:xfrm>
            <a:off x="3136392"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1">
                <a:solidFill>
                  <a:srgbClr val="FFFFFF"/>
                </a:solidFill>
                <a:latin typeface="Lato"/>
              </a:defRPr>
            </a:pPr>
            <a:r>
              <a:rPr sz="1050"/>
              <a:t>2  Market baseline</a:t>
            </a:r>
          </a:p>
        </p:txBody>
      </p:sp>
      <p:sp>
        <p:nvSpPr>
          <p:cNvPr id="6" name="Section navigation 3">
            <a:hlinkClick action="ppaction://hlinksldjump" r:id="rId5"/>
          </p:cNvPr>
          <p:cNvSpPr/>
          <p:nvPr/>
        </p:nvSpPr>
        <p:spPr>
          <a:xfrm>
            <a:off x="5815584"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3  Market changes</a:t>
            </a:r>
          </a:p>
        </p:txBody>
      </p:sp>
      <p:sp>
        <p:nvSpPr>
          <p:cNvPr id="7" name="Section navigation 4">
            <a:hlinkClick action="ppaction://hlinksldjump" r:id="rId6"/>
          </p:cNvPr>
          <p:cNvSpPr/>
          <p:nvPr/>
        </p:nvSpPr>
        <p:spPr>
          <a:xfrm>
            <a:off x="8494776"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4  Vopak outlook</a:t>
            </a:r>
          </a:p>
        </p:txBody>
      </p:sp>
      <p:sp>
        <p:nvSpPr>
          <p:cNvPr id="8"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b="0">
                <a:solidFill>
                  <a:srgbClr val="000000"/>
                </a:solidFill>
                <a:latin typeface="Lato"/>
              </a:defRPr>
            </a:pPr>
            <a:r>
              <a:rPr sz="750"/>
              <a:t>Source: DMPR 2022 provincial sales totals; source mix from the existing illustrative national-balance CSV. Not observed origin.</a:t>
            </a:r>
          </a:p>
        </p:txBody>
      </p:sp>
      <p:sp>
        <p:nvSpPr>
          <p:cNvPr id="9" name="TextBox 8"/>
          <p:cNvSpPr txBox="1"/>
          <p:nvPr/>
        </p:nvSpPr>
        <p:spPr>
          <a:xfrm>
            <a:off x="457200" y="1627632"/>
            <a:ext cx="6446520"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2022 sales totals | ILLUSTRATIVE domestic/import allocation</a:t>
            </a:r>
          </a:p>
        </p:txBody>
      </p:sp>
      <p:cxnSp>
        <p:nvCxnSpPr>
          <p:cNvPr id="10" name="Connector 9"/>
          <p:cNvCxnSpPr/>
          <p:nvPr/>
        </p:nvCxnSpPr>
        <p:spPr>
          <a:xfrm>
            <a:off x="457200" y="1947672"/>
            <a:ext cx="6446520"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7424927" y="1947672"/>
            <a:ext cx="3685033"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1874519" y="2468880"/>
            <a:ext cx="0" cy="303580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1792223" y="2212848"/>
            <a:ext cx="36576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0</a:t>
            </a:r>
          </a:p>
        </p:txBody>
      </p:sp>
      <p:cxnSp>
        <p:nvCxnSpPr>
          <p:cNvPr id="24" name="Connector 23"/>
          <p:cNvCxnSpPr/>
          <p:nvPr/>
        </p:nvCxnSpPr>
        <p:spPr>
          <a:xfrm>
            <a:off x="2971800" y="2468880"/>
            <a:ext cx="0" cy="303580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2889504" y="2212848"/>
            <a:ext cx="36576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2</a:t>
            </a:r>
          </a:p>
        </p:txBody>
      </p:sp>
      <p:cxnSp>
        <p:nvCxnSpPr>
          <p:cNvPr id="26" name="Connector 25"/>
          <p:cNvCxnSpPr/>
          <p:nvPr/>
        </p:nvCxnSpPr>
        <p:spPr>
          <a:xfrm>
            <a:off x="4069079" y="2468880"/>
            <a:ext cx="0" cy="303580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3986783" y="2212848"/>
            <a:ext cx="36576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4</a:t>
            </a:r>
          </a:p>
        </p:txBody>
      </p:sp>
      <p:cxnSp>
        <p:nvCxnSpPr>
          <p:cNvPr id="28" name="Connector 27"/>
          <p:cNvCxnSpPr/>
          <p:nvPr/>
        </p:nvCxnSpPr>
        <p:spPr>
          <a:xfrm>
            <a:off x="5166359" y="2468880"/>
            <a:ext cx="0" cy="303580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084064" y="2212848"/>
            <a:ext cx="36576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6</a:t>
            </a:r>
          </a:p>
        </p:txBody>
      </p:sp>
      <p:cxnSp>
        <p:nvCxnSpPr>
          <p:cNvPr id="30" name="Connector 29"/>
          <p:cNvCxnSpPr/>
          <p:nvPr/>
        </p:nvCxnSpPr>
        <p:spPr>
          <a:xfrm>
            <a:off x="6263640" y="2468880"/>
            <a:ext cx="0" cy="303580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6181344" y="2212848"/>
            <a:ext cx="36576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8</a:t>
            </a:r>
          </a:p>
        </p:txBody>
      </p:sp>
      <p:sp>
        <p:nvSpPr>
          <p:cNvPr id="32" name="TextBox 31"/>
          <p:cNvSpPr txBox="1"/>
          <p:nvPr/>
        </p:nvSpPr>
        <p:spPr>
          <a:xfrm>
            <a:off x="457200" y="2606039"/>
            <a:ext cx="138988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Gauteng</a:t>
            </a:r>
          </a:p>
        </p:txBody>
      </p:sp>
      <p:sp>
        <p:nvSpPr>
          <p:cNvPr id="33" name="Rectangle 32"/>
          <p:cNvSpPr/>
          <p:nvPr/>
        </p:nvSpPr>
        <p:spPr>
          <a:xfrm>
            <a:off x="1874519" y="2596896"/>
            <a:ext cx="1310608"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185128" y="2596896"/>
            <a:ext cx="2425317"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674454" y="2596896"/>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6.81</a:t>
            </a:r>
          </a:p>
        </p:txBody>
      </p:sp>
      <p:sp>
        <p:nvSpPr>
          <p:cNvPr id="36" name="TextBox 35"/>
          <p:cNvSpPr txBox="1"/>
          <p:nvPr/>
        </p:nvSpPr>
        <p:spPr>
          <a:xfrm>
            <a:off x="457200" y="2916935"/>
            <a:ext cx="138988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KwaZulu-Natal</a:t>
            </a:r>
          </a:p>
        </p:txBody>
      </p:sp>
      <p:sp>
        <p:nvSpPr>
          <p:cNvPr id="37" name="Rectangle 36"/>
          <p:cNvSpPr/>
          <p:nvPr/>
        </p:nvSpPr>
        <p:spPr>
          <a:xfrm>
            <a:off x="1874519" y="2907791"/>
            <a:ext cx="747567"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2622087" y="2907791"/>
            <a:ext cx="1603076"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289172" y="2907791"/>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4.28</a:t>
            </a:r>
          </a:p>
        </p:txBody>
      </p:sp>
      <p:sp>
        <p:nvSpPr>
          <p:cNvPr id="40" name="TextBox 39"/>
          <p:cNvSpPr txBox="1"/>
          <p:nvPr/>
        </p:nvSpPr>
        <p:spPr>
          <a:xfrm>
            <a:off x="457200" y="3227832"/>
            <a:ext cx="138988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Western Cape</a:t>
            </a:r>
          </a:p>
        </p:txBody>
      </p:sp>
      <p:sp>
        <p:nvSpPr>
          <p:cNvPr id="41" name="Rectangle 40"/>
          <p:cNvSpPr/>
          <p:nvPr/>
        </p:nvSpPr>
        <p:spPr>
          <a:xfrm>
            <a:off x="1874519" y="3218688"/>
            <a:ext cx="691804"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2566324" y="3218688"/>
            <a:ext cx="1464775"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4095108" y="3218688"/>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3.93</a:t>
            </a:r>
          </a:p>
        </p:txBody>
      </p:sp>
      <p:sp>
        <p:nvSpPr>
          <p:cNvPr id="44" name="TextBox 43"/>
          <p:cNvSpPr txBox="1"/>
          <p:nvPr/>
        </p:nvSpPr>
        <p:spPr>
          <a:xfrm>
            <a:off x="457200" y="3538727"/>
            <a:ext cx="138988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Mpumalanga</a:t>
            </a:r>
          </a:p>
        </p:txBody>
      </p:sp>
      <p:sp>
        <p:nvSpPr>
          <p:cNvPr id="45" name="Rectangle 44"/>
          <p:cNvSpPr/>
          <p:nvPr/>
        </p:nvSpPr>
        <p:spPr>
          <a:xfrm>
            <a:off x="1874519" y="3529584"/>
            <a:ext cx="306332"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2180852" y="3529584"/>
            <a:ext cx="657731"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2902592" y="3529584"/>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1.76</a:t>
            </a:r>
          </a:p>
        </p:txBody>
      </p:sp>
      <p:sp>
        <p:nvSpPr>
          <p:cNvPr id="48" name="TextBox 47"/>
          <p:cNvSpPr txBox="1"/>
          <p:nvPr/>
        </p:nvSpPr>
        <p:spPr>
          <a:xfrm>
            <a:off x="457200" y="3849624"/>
            <a:ext cx="138988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Eastern Cape</a:t>
            </a:r>
          </a:p>
        </p:txBody>
      </p:sp>
      <p:sp>
        <p:nvSpPr>
          <p:cNvPr id="49" name="Rectangle 48"/>
          <p:cNvSpPr/>
          <p:nvPr/>
        </p:nvSpPr>
        <p:spPr>
          <a:xfrm>
            <a:off x="1874519" y="3840480"/>
            <a:ext cx="313049"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2187569" y="3840480"/>
            <a:ext cx="639107"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2890684" y="3840480"/>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1.74</a:t>
            </a:r>
          </a:p>
        </p:txBody>
      </p:sp>
      <p:sp>
        <p:nvSpPr>
          <p:cNvPr id="52" name="TextBox 51"/>
          <p:cNvSpPr txBox="1"/>
          <p:nvPr/>
        </p:nvSpPr>
        <p:spPr>
          <a:xfrm>
            <a:off x="457200" y="4160520"/>
            <a:ext cx="138988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Free State</a:t>
            </a:r>
          </a:p>
        </p:txBody>
      </p:sp>
      <p:sp>
        <p:nvSpPr>
          <p:cNvPr id="53" name="Rectangle 52"/>
          <p:cNvSpPr/>
          <p:nvPr/>
        </p:nvSpPr>
        <p:spPr>
          <a:xfrm>
            <a:off x="1874519" y="4151376"/>
            <a:ext cx="250485"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2125005" y="4151376"/>
            <a:ext cx="500777"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2689791" y="4151376"/>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1.37</a:t>
            </a:r>
          </a:p>
        </p:txBody>
      </p:sp>
      <p:sp>
        <p:nvSpPr>
          <p:cNvPr id="56" name="TextBox 55"/>
          <p:cNvSpPr txBox="1"/>
          <p:nvPr/>
        </p:nvSpPr>
        <p:spPr>
          <a:xfrm>
            <a:off x="457200" y="4471416"/>
            <a:ext cx="138988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North West</a:t>
            </a:r>
          </a:p>
        </p:txBody>
      </p:sp>
      <p:sp>
        <p:nvSpPr>
          <p:cNvPr id="57" name="Rectangle 56"/>
          <p:cNvSpPr/>
          <p:nvPr/>
        </p:nvSpPr>
        <p:spPr>
          <a:xfrm>
            <a:off x="1874519" y="4462272"/>
            <a:ext cx="194304"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2068824" y="4462272"/>
            <a:ext cx="391677"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2524509" y="4462272"/>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1.07</a:t>
            </a:r>
          </a:p>
        </p:txBody>
      </p:sp>
      <p:sp>
        <p:nvSpPr>
          <p:cNvPr id="60" name="TextBox 59"/>
          <p:cNvSpPr txBox="1"/>
          <p:nvPr/>
        </p:nvSpPr>
        <p:spPr>
          <a:xfrm>
            <a:off x="457200" y="4782312"/>
            <a:ext cx="138988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Limpopo</a:t>
            </a:r>
          </a:p>
        </p:txBody>
      </p:sp>
      <p:sp>
        <p:nvSpPr>
          <p:cNvPr id="61" name="Rectangle 60"/>
          <p:cNvSpPr/>
          <p:nvPr/>
        </p:nvSpPr>
        <p:spPr>
          <a:xfrm>
            <a:off x="1874519" y="4773168"/>
            <a:ext cx="97173"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1971693" y="4773168"/>
            <a:ext cx="174750"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2210451" y="4773168"/>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0.50</a:t>
            </a:r>
          </a:p>
        </p:txBody>
      </p:sp>
      <p:sp>
        <p:nvSpPr>
          <p:cNvPr id="64" name="TextBox 63"/>
          <p:cNvSpPr txBox="1"/>
          <p:nvPr/>
        </p:nvSpPr>
        <p:spPr>
          <a:xfrm>
            <a:off x="457200" y="5093208"/>
            <a:ext cx="138988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Northern Cape</a:t>
            </a:r>
          </a:p>
        </p:txBody>
      </p:sp>
      <p:sp>
        <p:nvSpPr>
          <p:cNvPr id="65" name="Rectangle 64"/>
          <p:cNvSpPr/>
          <p:nvPr/>
        </p:nvSpPr>
        <p:spPr>
          <a:xfrm>
            <a:off x="1874519" y="5084064"/>
            <a:ext cx="72620"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a:off x="1947140" y="5084064"/>
            <a:ext cx="175260"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2186409" y="5084064"/>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0.45</a:t>
            </a:r>
          </a:p>
        </p:txBody>
      </p:sp>
      <p:sp>
        <p:nvSpPr>
          <p:cNvPr id="68" name="Rectangle 67"/>
          <p:cNvSpPr/>
          <p:nvPr/>
        </p:nvSpPr>
        <p:spPr>
          <a:xfrm>
            <a:off x="457200" y="5715000"/>
            <a:ext cx="109728" cy="10972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621792" y="5669280"/>
            <a:ext cx="3200400" cy="246888"/>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Illustrative domestic fuel</a:t>
            </a:r>
          </a:p>
        </p:txBody>
      </p:sp>
      <p:sp>
        <p:nvSpPr>
          <p:cNvPr id="70" name="Rectangle 69"/>
          <p:cNvSpPr/>
          <p:nvPr/>
        </p:nvSpPr>
        <p:spPr>
          <a:xfrm>
            <a:off x="3246120" y="5715000"/>
            <a:ext cx="109728" cy="10972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3410712" y="5669280"/>
            <a:ext cx="3200400" cy="246888"/>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Illustrative finished-product imports</a:t>
            </a:r>
          </a:p>
        </p:txBody>
      </p:sp>
      <p:sp>
        <p:nvSpPr>
          <p:cNvPr id="72" name="TextBox 71"/>
          <p:cNvSpPr txBox="1"/>
          <p:nvPr/>
        </p:nvSpPr>
        <p:spPr>
          <a:xfrm>
            <a:off x="457200" y="6062472"/>
            <a:ext cx="6446520" cy="374904"/>
          </a:xfrm>
          <a:prstGeom prst="rect">
            <a:avLst/>
          </a:prstGeom>
          <a:noFill/>
        </p:spPr>
        <p:txBody>
          <a:bodyPr wrap="square" lIns="22860" rIns="22860" tIns="0" bIns="0">
            <a:spAutoFit/>
          </a:bodyPr>
          <a:lstStyle/>
          <a:p>
            <a:pPr>
              <a:spcAft>
                <a:spcPts val="300"/>
              </a:spcAft>
              <a:defRPr sz="1000" b="1">
                <a:solidFill>
                  <a:srgbClr val="0A2373"/>
                </a:solidFill>
                <a:latin typeface="Lato"/>
              </a:defRPr>
            </a:pPr>
            <a:r>
              <a:t>Units: bn litres/year. Imported/domestic segments are a scenario illustration, not measured provincial flows.</a:t>
            </a:r>
          </a:p>
        </p:txBody>
      </p:sp>
      <p:sp>
        <p:nvSpPr>
          <p:cNvPr id="73" name="TextBox 72"/>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What the evidence shows</a:t>
            </a:r>
          </a:p>
        </p:txBody>
      </p:sp>
      <p:sp>
        <p:nvSpPr>
          <p:cNvPr id="74" name="TextBox 73"/>
          <p:cNvSpPr txBox="1"/>
          <p:nvPr/>
        </p:nvSpPr>
        <p:spPr>
          <a:xfrm>
            <a:off x="7424927" y="218541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01 | Demand totals are sourced</a:t>
            </a:r>
          </a:p>
        </p:txBody>
      </p:sp>
      <p:sp>
        <p:nvSpPr>
          <p:cNvPr id="75" name="TextBox 74"/>
          <p:cNvSpPr txBox="1"/>
          <p:nvPr/>
        </p:nvSpPr>
        <p:spPr>
          <a:xfrm>
            <a:off x="7424927" y="256946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The provincial bars use reported 2022 petrol/diesel sales.</a:t>
            </a:r>
          </a:p>
        </p:txBody>
      </p:sp>
      <p:sp>
        <p:nvSpPr>
          <p:cNvPr id="76" name="TextBox 75"/>
          <p:cNvSpPr txBox="1"/>
          <p:nvPr/>
        </p:nvSpPr>
        <p:spPr>
          <a:xfrm>
            <a:off x="7424927" y="314553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02 | Origin shares are illustrative</a:t>
            </a:r>
          </a:p>
        </p:txBody>
      </p:sp>
      <p:sp>
        <p:nvSpPr>
          <p:cNvPr id="77" name="TextBox 76"/>
          <p:cNvSpPr txBox="1"/>
          <p:nvPr/>
        </p:nvSpPr>
        <p:spPr>
          <a:xfrm>
            <a:off x="7424927" y="3529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Domestic/import fractions are authored examples; no actual provincial origin allocation is established.</a:t>
            </a:r>
          </a:p>
        </p:txBody>
      </p:sp>
      <p:sp>
        <p:nvSpPr>
          <p:cNvPr id="78" name="TextBox 77"/>
          <p:cNvSpPr txBox="1"/>
          <p:nvPr/>
        </p:nvSpPr>
        <p:spPr>
          <a:xfrm>
            <a:off x="7424927" y="410565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03 | Imports need a national balance</a:t>
            </a:r>
          </a:p>
        </p:txBody>
      </p:sp>
      <p:sp>
        <p:nvSpPr>
          <p:cNvPr id="79" name="TextBox 78"/>
          <p:cNvSpPr txBox="1"/>
          <p:nvPr/>
        </p:nvSpPr>
        <p:spPr>
          <a:xfrm>
            <a:off x="7424927" y="448970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Exports and stock movements must be reconciled before a sourced import requirement can be presented.</a:t>
            </a:r>
          </a:p>
        </p:txBody>
      </p:sp>
      <p:cxnSp>
        <p:nvCxnSpPr>
          <p:cNvPr id="80" name="Connector 79"/>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81" name="TextBox 80"/>
          <p:cNvSpPr txBox="1"/>
          <p:nvPr/>
        </p:nvSpPr>
        <p:spPr>
          <a:xfrm>
            <a:off x="7424927" y="5321808"/>
            <a:ext cx="3685032"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To resolve next</a:t>
            </a:r>
          </a:p>
        </p:txBody>
      </p:sp>
      <p:sp>
        <p:nvSpPr>
          <p:cNvPr id="82" name="TextBox 81"/>
          <p:cNvSpPr txBox="1"/>
          <p:nvPr/>
        </p:nvSpPr>
        <p:spPr>
          <a:xfrm>
            <a:off x="7424927" y="5687568"/>
            <a:ext cx="3685032" cy="62179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Manish: populate the matched-year national balance first; retain provincial origin as unknown until supported.</a:t>
            </a:r>
          </a:p>
        </p:txBody>
      </p:sp>
      <p:sp>
        <p:nvSpPr>
          <p:cNvPr id="83" name="SCR divider marker: circle"/>
          <p:cNvSpPr/>
          <p:nvPr/>
        </p:nvSpPr>
        <p:spPr>
          <a:xfrm>
            <a:off x="7086600" y="1828800"/>
            <a:ext cx="237744" cy="237744"/>
          </a:xfrm>
          <a:prstGeom prst="ellipse">
            <a:avLst/>
          </a:prstGeom>
          <a:solidFill>
            <a:srgbClr val="0A2373"/>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84" name="SCR divider marker: arrow"/>
          <p:cNvCxnSpPr/>
          <p:nvPr/>
        </p:nvCxnSpPr>
        <p:spPr>
          <a:xfrm>
            <a:off x="7173468" y="1888236"/>
            <a:ext cx="64008" cy="59436"/>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85" name="SCR divider marker: arrow"/>
          <p:cNvCxnSpPr/>
          <p:nvPr/>
        </p:nvCxnSpPr>
        <p:spPr>
          <a:xfrm flipH="1">
            <a:off x="7173468" y="1947672"/>
            <a:ext cx="64008" cy="59435"/>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sp>
        <p:nvSpPr>
          <p:cNvPr id="86"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S/C3. Activity trends show potential demand shifts; fuel used per unit of activity still needs validation</a:t>
            </a:r>
          </a:p>
        </p:txBody>
      </p:sp>
      <p:sp>
        <p:nvSpPr>
          <p:cNvPr id="3" name="Slide Number Placeholder"/>
          <p:cNvSpPr>
            <a:spLocks noGrp="1"/>
          </p:cNvSpPr>
          <p:nvPr>
            <p:ph type="sldNum" sz="quarter" idx="12"/>
          </p:nvPr>
        </p:nvSpPr>
        <p:spPr/>
        <p:txBody>
          <a:bodyPr/>
          <a:lstStyle/>
          <a:p>
            <a:fld id="{EB075E97-8AB9-4F03-8902-63E7590D7E5B}" type="slidenum">
              <a:rPr lang="en-US"/>
              <a:t>‹#›</a:t>
            </a:fld>
          </a:p>
        </p:txBody>
      </p:sp>
      <p:sp>
        <p:nvSpPr>
          <p:cNvPr id="4" name="Section navigation 1">
            <a:hlinkClick action="ppaction://hlinksldjump" r:id="rId11"/>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1  Overview</a:t>
            </a:r>
          </a:p>
        </p:txBody>
      </p:sp>
      <p:sp>
        <p:nvSpPr>
          <p:cNvPr id="5" name="Section navigation 2">
            <a:hlinkClick action="ppaction://hlinksldjump" r:id="rId12"/>
          </p:cNvPr>
          <p:cNvSpPr/>
          <p:nvPr/>
        </p:nvSpPr>
        <p:spPr>
          <a:xfrm>
            <a:off x="3136392"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2  Market baseline</a:t>
            </a:r>
          </a:p>
        </p:txBody>
      </p:sp>
      <p:sp>
        <p:nvSpPr>
          <p:cNvPr id="6" name="Section navigation 3">
            <a:hlinkClick action="ppaction://hlinksldjump" r:id="rId13"/>
          </p:cNvPr>
          <p:cNvSpPr/>
          <p:nvPr/>
        </p:nvSpPr>
        <p:spPr>
          <a:xfrm>
            <a:off x="5815584"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1">
                <a:solidFill>
                  <a:srgbClr val="FFFFFF"/>
                </a:solidFill>
                <a:latin typeface="Lato"/>
              </a:defRPr>
            </a:pPr>
            <a:r>
              <a:rPr sz="1050"/>
              <a:t>3  Market changes</a:t>
            </a:r>
          </a:p>
        </p:txBody>
      </p:sp>
      <p:sp>
        <p:nvSpPr>
          <p:cNvPr id="7" name="Section navigation 4">
            <a:hlinkClick action="ppaction://hlinksldjump" r:id="rId14"/>
          </p:cNvPr>
          <p:cNvSpPr/>
          <p:nvPr/>
        </p:nvSpPr>
        <p:spPr>
          <a:xfrm>
            <a:off x="8494776"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4  Vopak outlook</a:t>
            </a:r>
          </a:p>
        </p:txBody>
      </p:sp>
      <p:sp>
        <p:nvSpPr>
          <p:cNvPr id="8"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a:latin typeface="Lato"/>
              </a:defRPr>
            </a:pPr>
            <a:r>
              <a:rPr sz="750"/>
              <a:t>Note: Latest staged: activity Jul 2026; GDP Q2 2026; inland prices Oct 2026. Charts use complete years. Fuel-use rates need validation; FY ends March.</a:t>
            </a:r>
          </a:p>
          <a:p>
            <a:pPr>
              <a:lnSpc>
                <a:spcPts val="900"/>
              </a:lnSpc>
              <a:spcBef>
                <a:spcPts val="0"/>
              </a:spcBef>
              <a:spcAft>
                <a:spcPts val="0"/>
              </a:spcAft>
              <a:defRPr sz="750">
                <a:latin typeface="Lato"/>
              </a:defRPr>
            </a:pPr>
            <a:r>
              <a:rPr sz="750"/>
              <a:t>Source: NaTIS; Stats SA P0441 / P2041 / P3041.2 / P7162; Eskom; naamsa; DMPR / CEF. Snapshot manifest in notes.</a:t>
            </a:r>
          </a:p>
        </p:txBody>
      </p:sp>
      <p:sp>
        <p:nvSpPr>
          <p:cNvPr id="31" name="TextBox 30"/>
          <p:cNvSpPr txBox="1"/>
          <p:nvPr/>
        </p:nvSpPr>
        <p:spPr>
          <a:xfrm>
            <a:off x="457200" y="1627632"/>
            <a:ext cx="10652760" cy="292608"/>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Potential demand levers | 2024 = 100; price panel uses nominal R/litre</a:t>
            </a:r>
          </a:p>
        </p:txBody>
      </p:sp>
      <p:cxnSp>
        <p:nvCxnSpPr>
          <p:cNvPr id="32" name="Connector 31"/>
          <p:cNvCxnSpPr/>
          <p:nvPr/>
        </p:nvCxnSpPr>
        <p:spPr>
          <a:xfrm>
            <a:off x="457200" y="1947672"/>
            <a:ext cx="1065276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457200" y="2011680"/>
            <a:ext cx="10652760" cy="201168"/>
          </a:xfrm>
          <a:prstGeom prst="rect">
            <a:avLst/>
          </a:prstGeom>
          <a:noFill/>
        </p:spPr>
        <p:txBody>
          <a:bodyPr wrap="square" lIns="22860" rIns="22860" tIns="0" bIns="0">
            <a:spAutoFit/>
          </a:bodyPr>
          <a:lstStyle/>
          <a:p>
            <a:pPr>
              <a:spcAft>
                <a:spcPts val="300"/>
              </a:spcAft>
              <a:defRPr sz="1000" b="1">
                <a:solidFill>
                  <a:srgbClr val="0A2373"/>
                </a:solidFill>
                <a:latin typeface="Lato"/>
              </a:defRPr>
            </a:pPr>
            <a:r>
              <a:t>Observed proxies, not fuel-volume effects. Activity axes 0–120; EV 0–400; prices 0–30 R/L.</a:t>
            </a:r>
          </a:p>
        </p:txBody>
      </p:sp>
      <p:sp>
        <p:nvSpPr>
          <p:cNvPr id="34" name="TextBox 33"/>
          <p:cNvSpPr txBox="1"/>
          <p:nvPr/>
        </p:nvSpPr>
        <p:spPr>
          <a:xfrm>
            <a:off x="457200" y="2295144"/>
            <a:ext cx="5166360" cy="201168"/>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Passenger travel | all-fuel stock, Dec</a:t>
            </a:r>
          </a:p>
        </p:txBody>
      </p:sp>
      <p:graphicFrame>
        <p:nvGraphicFramePr>
          <p:cNvPr id="35" name="Chart 34"/>
          <p:cNvGraphicFramePr>
            <a:graphicFrameLocks noGrp="1"/>
          </p:cNvGraphicFramePr>
          <p:nvPr/>
        </p:nvGraphicFramePr>
        <p:xfrm>
          <a:off x="457200" y="2496312"/>
          <a:ext cx="5166360" cy="594360"/>
        </p:xfrm>
        <a:graphic>
          <a:graphicData uri="http://schemas.openxmlformats.org/drawingml/2006/chart">
            <c:chart xmlns:c="http://schemas.openxmlformats.org/drawingml/2006/chart" r:id="rId3"/>
          </a:graphicData>
        </a:graphic>
      </p:graphicFrame>
      <p:cxnSp>
        <p:nvCxnSpPr>
          <p:cNvPr id="36" name="Connector 35"/>
          <p:cNvCxnSpPr/>
          <p:nvPr/>
        </p:nvCxnSpPr>
        <p:spPr>
          <a:xfrm>
            <a:off x="749808" y="3172968"/>
            <a:ext cx="182880" cy="0"/>
          </a:xfrm>
          <a:prstGeom prst="line">
            <a:avLst/>
          </a:prstGeom>
          <a:ln w="22860">
            <a:solidFill>
              <a:srgbClr val="0A2373"/>
            </a:solidFill>
          </a:ln>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969264" y="3090672"/>
            <a:ext cx="1371600" cy="182880"/>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Cars</a:t>
            </a:r>
          </a:p>
        </p:txBody>
      </p:sp>
      <p:cxnSp>
        <p:nvCxnSpPr>
          <p:cNvPr id="38" name="Connector 37"/>
          <p:cNvCxnSpPr/>
          <p:nvPr/>
        </p:nvCxnSpPr>
        <p:spPr>
          <a:xfrm>
            <a:off x="2377440" y="3172968"/>
            <a:ext cx="182880" cy="0"/>
          </a:xfrm>
          <a:prstGeom prst="line">
            <a:avLst/>
          </a:prstGeom>
          <a:ln w="22860">
            <a:solidFill>
              <a:srgbClr val="546CA2"/>
            </a:solidFill>
          </a:ln>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2596896" y="3090672"/>
            <a:ext cx="1371600" cy="182880"/>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Minibuses</a:t>
            </a:r>
          </a:p>
        </p:txBody>
      </p:sp>
      <p:sp>
        <p:nvSpPr>
          <p:cNvPr id="40" name="TextBox 39"/>
          <p:cNvSpPr txBox="1"/>
          <p:nvPr/>
        </p:nvSpPr>
        <p:spPr>
          <a:xfrm>
            <a:off x="5943600" y="2295144"/>
            <a:ext cx="5166360" cy="201168"/>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Freight demand | payload, CY</a:t>
            </a:r>
          </a:p>
        </p:txBody>
      </p:sp>
      <p:graphicFrame>
        <p:nvGraphicFramePr>
          <p:cNvPr id="41" name="Chart 40"/>
          <p:cNvGraphicFramePr>
            <a:graphicFrameLocks noGrp="1"/>
          </p:cNvGraphicFramePr>
          <p:nvPr/>
        </p:nvGraphicFramePr>
        <p:xfrm>
          <a:off x="5943600" y="2496312"/>
          <a:ext cx="5166360" cy="594360"/>
        </p:xfrm>
        <a:graphic>
          <a:graphicData uri="http://schemas.openxmlformats.org/drawingml/2006/chart">
            <c:chart xmlns:c="http://schemas.openxmlformats.org/drawingml/2006/chart" r:id="rId4"/>
          </a:graphicData>
        </a:graphic>
      </p:graphicFrame>
      <p:cxnSp>
        <p:nvCxnSpPr>
          <p:cNvPr id="42" name="Connector 41"/>
          <p:cNvCxnSpPr/>
          <p:nvPr/>
        </p:nvCxnSpPr>
        <p:spPr>
          <a:xfrm>
            <a:off x="6236208" y="3172968"/>
            <a:ext cx="182880" cy="0"/>
          </a:xfrm>
          <a:prstGeom prst="line">
            <a:avLst/>
          </a:prstGeom>
          <a:ln w="22860">
            <a:solidFill>
              <a:srgbClr val="0A2373"/>
            </a:solidFill>
          </a:ln>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6455664" y="3090672"/>
            <a:ext cx="1371600" cy="182880"/>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Road</a:t>
            </a:r>
          </a:p>
        </p:txBody>
      </p:sp>
      <p:cxnSp>
        <p:nvCxnSpPr>
          <p:cNvPr id="44" name="Connector 43"/>
          <p:cNvCxnSpPr/>
          <p:nvPr/>
        </p:nvCxnSpPr>
        <p:spPr>
          <a:xfrm>
            <a:off x="7863840" y="3172968"/>
            <a:ext cx="182879" cy="0"/>
          </a:xfrm>
          <a:prstGeom prst="line">
            <a:avLst/>
          </a:prstGeom>
          <a:ln w="22860">
            <a:solidFill>
              <a:srgbClr val="546CA2"/>
            </a:solidFill>
          </a:ln>
        </p:spPr>
        <p:style>
          <a:lnRef idx="2">
            <a:schemeClr val="accent1"/>
          </a:lnRef>
          <a:fillRef idx="0">
            <a:schemeClr val="accent1"/>
          </a:fillRef>
          <a:effectRef idx="1">
            <a:schemeClr val="accent1"/>
          </a:effectRef>
          <a:fontRef idx="minor">
            <a:schemeClr val="tx1"/>
          </a:fontRef>
        </p:style>
      </p:cxnSp>
      <p:sp>
        <p:nvSpPr>
          <p:cNvPr id="45" name="TextBox 44"/>
          <p:cNvSpPr txBox="1"/>
          <p:nvPr/>
        </p:nvSpPr>
        <p:spPr>
          <a:xfrm>
            <a:off x="8083296" y="3090672"/>
            <a:ext cx="1371600" cy="182880"/>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Rail</a:t>
            </a:r>
          </a:p>
        </p:txBody>
      </p:sp>
      <p:sp>
        <p:nvSpPr>
          <p:cNvPr id="46" name="TextBox 45"/>
          <p:cNvSpPr txBox="1"/>
          <p:nvPr/>
        </p:nvSpPr>
        <p:spPr>
          <a:xfrm>
            <a:off x="457200" y="3282696"/>
            <a:ext cx="5166360" cy="201168"/>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Agriculture | real value added, CY</a:t>
            </a:r>
          </a:p>
        </p:txBody>
      </p:sp>
      <p:graphicFrame>
        <p:nvGraphicFramePr>
          <p:cNvPr id="47" name="Chart 46"/>
          <p:cNvGraphicFramePr>
            <a:graphicFrameLocks noGrp="1"/>
          </p:cNvGraphicFramePr>
          <p:nvPr/>
        </p:nvGraphicFramePr>
        <p:xfrm>
          <a:off x="457200" y="3483864"/>
          <a:ext cx="5166360" cy="594360"/>
        </p:xfrm>
        <a:graphic>
          <a:graphicData uri="http://schemas.openxmlformats.org/drawingml/2006/chart">
            <c:chart xmlns:c="http://schemas.openxmlformats.org/drawingml/2006/chart" r:id="rId5"/>
          </a:graphicData>
        </a:graphic>
      </p:graphicFrame>
      <p:cxnSp>
        <p:nvCxnSpPr>
          <p:cNvPr id="48" name="Connector 47"/>
          <p:cNvCxnSpPr/>
          <p:nvPr/>
        </p:nvCxnSpPr>
        <p:spPr>
          <a:xfrm>
            <a:off x="749808" y="4160520"/>
            <a:ext cx="182880" cy="0"/>
          </a:xfrm>
          <a:prstGeom prst="line">
            <a:avLst/>
          </a:prstGeom>
          <a:ln w="22860">
            <a:solidFill>
              <a:srgbClr val="0A2373"/>
            </a:solidFill>
          </a:ln>
        </p:spPr>
        <p:style>
          <a:lnRef idx="2">
            <a:schemeClr val="accent1"/>
          </a:lnRef>
          <a:fillRef idx="0">
            <a:schemeClr val="accent1"/>
          </a:fillRef>
          <a:effectRef idx="1">
            <a:schemeClr val="accent1"/>
          </a:effectRef>
          <a:fontRef idx="minor">
            <a:schemeClr val="tx1"/>
          </a:fontRef>
        </p:style>
      </p:cxnSp>
      <p:sp>
        <p:nvSpPr>
          <p:cNvPr id="49" name="TextBox 48"/>
          <p:cNvSpPr txBox="1"/>
          <p:nvPr/>
        </p:nvSpPr>
        <p:spPr>
          <a:xfrm>
            <a:off x="969264" y="4078224"/>
            <a:ext cx="3566160" cy="182880"/>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Agriculture / forestry / fishing</a:t>
            </a:r>
          </a:p>
        </p:txBody>
      </p:sp>
      <p:sp>
        <p:nvSpPr>
          <p:cNvPr id="50" name="TextBox 49"/>
          <p:cNvSpPr txBox="1"/>
          <p:nvPr/>
        </p:nvSpPr>
        <p:spPr>
          <a:xfrm>
            <a:off x="5943600" y="3282696"/>
            <a:ext cx="5166360" cy="201168"/>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Manufacturing | production volume, CY</a:t>
            </a:r>
          </a:p>
        </p:txBody>
      </p:sp>
      <p:graphicFrame>
        <p:nvGraphicFramePr>
          <p:cNvPr id="51" name="Chart 50"/>
          <p:cNvGraphicFramePr>
            <a:graphicFrameLocks noGrp="1"/>
          </p:cNvGraphicFramePr>
          <p:nvPr/>
        </p:nvGraphicFramePr>
        <p:xfrm>
          <a:off x="5943600" y="3483864"/>
          <a:ext cx="5166360" cy="594360"/>
        </p:xfrm>
        <a:graphic>
          <a:graphicData uri="http://schemas.openxmlformats.org/drawingml/2006/chart">
            <c:chart xmlns:c="http://schemas.openxmlformats.org/drawingml/2006/chart" r:id="rId6"/>
          </a:graphicData>
        </a:graphic>
      </p:graphicFrame>
      <p:cxnSp>
        <p:nvCxnSpPr>
          <p:cNvPr id="52" name="Connector 51"/>
          <p:cNvCxnSpPr/>
          <p:nvPr/>
        </p:nvCxnSpPr>
        <p:spPr>
          <a:xfrm>
            <a:off x="6236208" y="4160520"/>
            <a:ext cx="182880" cy="0"/>
          </a:xfrm>
          <a:prstGeom prst="line">
            <a:avLst/>
          </a:prstGeom>
          <a:ln w="22860">
            <a:solidFill>
              <a:srgbClr val="0A2373"/>
            </a:solidFill>
          </a:ln>
        </p:spPr>
        <p:style>
          <a:lnRef idx="2">
            <a:schemeClr val="accent1"/>
          </a:lnRef>
          <a:fillRef idx="0">
            <a:schemeClr val="accent1"/>
          </a:fillRef>
          <a:effectRef idx="1">
            <a:schemeClr val="accent1"/>
          </a:effectRef>
          <a:fontRef idx="minor">
            <a:schemeClr val="tx1"/>
          </a:fontRef>
        </p:style>
      </p:cxnSp>
      <p:sp>
        <p:nvSpPr>
          <p:cNvPr id="53" name="TextBox 52"/>
          <p:cNvSpPr txBox="1"/>
          <p:nvPr/>
        </p:nvSpPr>
        <p:spPr>
          <a:xfrm>
            <a:off x="6455664" y="4078224"/>
            <a:ext cx="3566160" cy="182880"/>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Manufacturing</a:t>
            </a:r>
          </a:p>
        </p:txBody>
      </p:sp>
      <p:sp>
        <p:nvSpPr>
          <p:cNvPr id="54" name="TextBox 53"/>
          <p:cNvSpPr txBox="1"/>
          <p:nvPr/>
        </p:nvSpPr>
        <p:spPr>
          <a:xfrm>
            <a:off x="457200" y="4270248"/>
            <a:ext cx="5166360" cy="201168"/>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Mining | production volume, CY</a:t>
            </a:r>
          </a:p>
        </p:txBody>
      </p:sp>
      <p:graphicFrame>
        <p:nvGraphicFramePr>
          <p:cNvPr id="55" name="Chart 54"/>
          <p:cNvGraphicFramePr>
            <a:graphicFrameLocks noGrp="1"/>
          </p:cNvGraphicFramePr>
          <p:nvPr/>
        </p:nvGraphicFramePr>
        <p:xfrm>
          <a:off x="457200" y="4471416"/>
          <a:ext cx="5166360" cy="594360"/>
        </p:xfrm>
        <a:graphic>
          <a:graphicData uri="http://schemas.openxmlformats.org/drawingml/2006/chart">
            <c:chart xmlns:c="http://schemas.openxmlformats.org/drawingml/2006/chart" r:id="rId7"/>
          </a:graphicData>
        </a:graphic>
      </p:graphicFrame>
      <p:cxnSp>
        <p:nvCxnSpPr>
          <p:cNvPr id="56" name="Connector 55"/>
          <p:cNvCxnSpPr/>
          <p:nvPr/>
        </p:nvCxnSpPr>
        <p:spPr>
          <a:xfrm>
            <a:off x="749808" y="5148072"/>
            <a:ext cx="182880" cy="0"/>
          </a:xfrm>
          <a:prstGeom prst="line">
            <a:avLst/>
          </a:prstGeom>
          <a:ln w="22860">
            <a:solidFill>
              <a:srgbClr val="0A2373"/>
            </a:solidFill>
          </a:ln>
        </p:spPr>
        <p:style>
          <a:lnRef idx="2">
            <a:schemeClr val="accent1"/>
          </a:lnRef>
          <a:fillRef idx="0">
            <a:schemeClr val="accent1"/>
          </a:fillRef>
          <a:effectRef idx="1">
            <a:schemeClr val="accent1"/>
          </a:effectRef>
          <a:fontRef idx="minor">
            <a:schemeClr val="tx1"/>
          </a:fontRef>
        </p:style>
      </p:cxnSp>
      <p:sp>
        <p:nvSpPr>
          <p:cNvPr id="57" name="TextBox 56"/>
          <p:cNvSpPr txBox="1"/>
          <p:nvPr/>
        </p:nvSpPr>
        <p:spPr>
          <a:xfrm>
            <a:off x="969264" y="5065776"/>
            <a:ext cx="3566160" cy="182880"/>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Mining</a:t>
            </a:r>
          </a:p>
        </p:txBody>
      </p:sp>
      <p:sp>
        <p:nvSpPr>
          <p:cNvPr id="58" name="TextBox 57"/>
          <p:cNvSpPr txBox="1"/>
          <p:nvPr/>
        </p:nvSpPr>
        <p:spPr>
          <a:xfrm>
            <a:off x="5943600" y="4270248"/>
            <a:ext cx="5166360" cy="201168"/>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Diesel power | OCGT generation, FY</a:t>
            </a:r>
          </a:p>
        </p:txBody>
      </p:sp>
      <p:graphicFrame>
        <p:nvGraphicFramePr>
          <p:cNvPr id="59" name="Chart 58"/>
          <p:cNvGraphicFramePr>
            <a:graphicFrameLocks noGrp="1"/>
          </p:cNvGraphicFramePr>
          <p:nvPr/>
        </p:nvGraphicFramePr>
        <p:xfrm>
          <a:off x="5943600" y="4471416"/>
          <a:ext cx="5166360" cy="594360"/>
        </p:xfrm>
        <a:graphic>
          <a:graphicData uri="http://schemas.openxmlformats.org/drawingml/2006/chart">
            <c:chart xmlns:c="http://schemas.openxmlformats.org/drawingml/2006/chart" r:id="rId8"/>
          </a:graphicData>
        </a:graphic>
      </p:graphicFrame>
      <p:cxnSp>
        <p:nvCxnSpPr>
          <p:cNvPr id="60" name="Connector 59"/>
          <p:cNvCxnSpPr/>
          <p:nvPr/>
        </p:nvCxnSpPr>
        <p:spPr>
          <a:xfrm>
            <a:off x="6236208" y="5148072"/>
            <a:ext cx="182880" cy="0"/>
          </a:xfrm>
          <a:prstGeom prst="line">
            <a:avLst/>
          </a:prstGeom>
          <a:ln w="22860">
            <a:solidFill>
              <a:srgbClr val="0A2373"/>
            </a:solidFill>
          </a:ln>
        </p:spPr>
        <p:style>
          <a:lnRef idx="2">
            <a:schemeClr val="accent1"/>
          </a:lnRef>
          <a:fillRef idx="0">
            <a:schemeClr val="accent1"/>
          </a:fillRef>
          <a:effectRef idx="1">
            <a:schemeClr val="accent1"/>
          </a:effectRef>
          <a:fontRef idx="minor">
            <a:schemeClr val="tx1"/>
          </a:fontRef>
        </p:style>
      </p:cxnSp>
      <p:sp>
        <p:nvSpPr>
          <p:cNvPr id="61" name="TextBox 60"/>
          <p:cNvSpPr txBox="1"/>
          <p:nvPr/>
        </p:nvSpPr>
        <p:spPr>
          <a:xfrm>
            <a:off x="6455664" y="5065776"/>
            <a:ext cx="3566160" cy="182880"/>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Eskom + IPP</a:t>
            </a:r>
          </a:p>
        </p:txBody>
      </p:sp>
      <p:sp>
        <p:nvSpPr>
          <p:cNvPr id="62" name="TextBox 61"/>
          <p:cNvSpPr txBox="1"/>
          <p:nvPr/>
        </p:nvSpPr>
        <p:spPr>
          <a:xfrm>
            <a:off x="457200" y="5257800"/>
            <a:ext cx="5166360" cy="201168"/>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Electrification | annual new sales, CY</a:t>
            </a:r>
          </a:p>
        </p:txBody>
      </p:sp>
      <p:graphicFrame>
        <p:nvGraphicFramePr>
          <p:cNvPr id="63" name="Chart 62"/>
          <p:cNvGraphicFramePr>
            <a:graphicFrameLocks noGrp="1"/>
          </p:cNvGraphicFramePr>
          <p:nvPr/>
        </p:nvGraphicFramePr>
        <p:xfrm>
          <a:off x="457200" y="5458968"/>
          <a:ext cx="5166360" cy="594360"/>
        </p:xfrm>
        <a:graphic>
          <a:graphicData uri="http://schemas.openxmlformats.org/drawingml/2006/chart">
            <c:chart xmlns:c="http://schemas.openxmlformats.org/drawingml/2006/chart" r:id="rId9"/>
          </a:graphicData>
        </a:graphic>
      </p:graphicFrame>
      <p:cxnSp>
        <p:nvCxnSpPr>
          <p:cNvPr id="64" name="Connector 63"/>
          <p:cNvCxnSpPr/>
          <p:nvPr/>
        </p:nvCxnSpPr>
        <p:spPr>
          <a:xfrm>
            <a:off x="749808" y="6135624"/>
            <a:ext cx="182880" cy="0"/>
          </a:xfrm>
          <a:prstGeom prst="line">
            <a:avLst/>
          </a:prstGeom>
          <a:ln w="22860">
            <a:solidFill>
              <a:srgbClr val="0A2373"/>
            </a:solidFill>
          </a:ln>
        </p:spPr>
        <p:style>
          <a:lnRef idx="2">
            <a:schemeClr val="accent1"/>
          </a:lnRef>
          <a:fillRef idx="0">
            <a:schemeClr val="accent1"/>
          </a:fillRef>
          <a:effectRef idx="1">
            <a:schemeClr val="accent1"/>
          </a:effectRef>
          <a:fontRef idx="minor">
            <a:schemeClr val="tx1"/>
          </a:fontRef>
        </p:style>
      </p:cxnSp>
      <p:sp>
        <p:nvSpPr>
          <p:cNvPr id="65" name="TextBox 64"/>
          <p:cNvSpPr txBox="1"/>
          <p:nvPr/>
        </p:nvSpPr>
        <p:spPr>
          <a:xfrm>
            <a:off x="969264" y="6053328"/>
            <a:ext cx="1371600" cy="182880"/>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BEV</a:t>
            </a:r>
          </a:p>
        </p:txBody>
      </p:sp>
      <p:cxnSp>
        <p:nvCxnSpPr>
          <p:cNvPr id="66" name="Connector 65"/>
          <p:cNvCxnSpPr/>
          <p:nvPr/>
        </p:nvCxnSpPr>
        <p:spPr>
          <a:xfrm>
            <a:off x="2377440" y="6135624"/>
            <a:ext cx="182880" cy="0"/>
          </a:xfrm>
          <a:prstGeom prst="line">
            <a:avLst/>
          </a:prstGeom>
          <a:ln w="22860">
            <a:solidFill>
              <a:srgbClr val="546CA2"/>
            </a:solidFill>
          </a:ln>
        </p:spPr>
        <p:style>
          <a:lnRef idx="2">
            <a:schemeClr val="accent1"/>
          </a:lnRef>
          <a:fillRef idx="0">
            <a:schemeClr val="accent1"/>
          </a:fillRef>
          <a:effectRef idx="1">
            <a:schemeClr val="accent1"/>
          </a:effectRef>
          <a:fontRef idx="minor">
            <a:schemeClr val="tx1"/>
          </a:fontRef>
        </p:style>
      </p:cxnSp>
      <p:sp>
        <p:nvSpPr>
          <p:cNvPr id="67" name="TextBox 66"/>
          <p:cNvSpPr txBox="1"/>
          <p:nvPr/>
        </p:nvSpPr>
        <p:spPr>
          <a:xfrm>
            <a:off x="2596896" y="6053328"/>
            <a:ext cx="1371600" cy="182880"/>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Plug-in hybrid</a:t>
            </a:r>
          </a:p>
        </p:txBody>
      </p:sp>
      <p:cxnSp>
        <p:nvCxnSpPr>
          <p:cNvPr id="68" name="Connector 67"/>
          <p:cNvCxnSpPr/>
          <p:nvPr/>
        </p:nvCxnSpPr>
        <p:spPr>
          <a:xfrm>
            <a:off x="4005072" y="6135624"/>
            <a:ext cx="182880" cy="0"/>
          </a:xfrm>
          <a:prstGeom prst="line">
            <a:avLst/>
          </a:prstGeom>
          <a:ln w="22860">
            <a:solidFill>
              <a:srgbClr val="000000"/>
            </a:solidFill>
          </a:ln>
        </p:spPr>
        <p:style>
          <a:lnRef idx="2">
            <a:schemeClr val="accent1"/>
          </a:lnRef>
          <a:fillRef idx="0">
            <a:schemeClr val="accent1"/>
          </a:fillRef>
          <a:effectRef idx="1">
            <a:schemeClr val="accent1"/>
          </a:effectRef>
          <a:fontRef idx="minor">
            <a:schemeClr val="tx1"/>
          </a:fontRef>
        </p:style>
      </p:cxnSp>
      <p:sp>
        <p:nvSpPr>
          <p:cNvPr id="69" name="TextBox 68"/>
          <p:cNvSpPr txBox="1"/>
          <p:nvPr/>
        </p:nvSpPr>
        <p:spPr>
          <a:xfrm>
            <a:off x="4224528" y="6053328"/>
            <a:ext cx="1371600" cy="182880"/>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Hybrid</a:t>
            </a:r>
          </a:p>
        </p:txBody>
      </p:sp>
      <p:sp>
        <p:nvSpPr>
          <p:cNvPr id="70" name="TextBox 69"/>
          <p:cNvSpPr txBox="1"/>
          <p:nvPr/>
        </p:nvSpPr>
        <p:spPr>
          <a:xfrm>
            <a:off x="5943600" y="5257800"/>
            <a:ext cx="5166360" cy="201168"/>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Price response | annual nominal R/litre</a:t>
            </a:r>
          </a:p>
        </p:txBody>
      </p:sp>
      <p:graphicFrame>
        <p:nvGraphicFramePr>
          <p:cNvPr id="71" name="Chart 70"/>
          <p:cNvGraphicFramePr>
            <a:graphicFrameLocks noGrp="1"/>
          </p:cNvGraphicFramePr>
          <p:nvPr/>
        </p:nvGraphicFramePr>
        <p:xfrm>
          <a:off x="5943600" y="5458968"/>
          <a:ext cx="5166360" cy="594360"/>
        </p:xfrm>
        <a:graphic>
          <a:graphicData uri="http://schemas.openxmlformats.org/drawingml/2006/chart">
            <c:chart xmlns:c="http://schemas.openxmlformats.org/drawingml/2006/chart" r:id="rId10"/>
          </a:graphicData>
        </a:graphic>
      </p:graphicFrame>
      <p:cxnSp>
        <p:nvCxnSpPr>
          <p:cNvPr id="72" name="Connector 71"/>
          <p:cNvCxnSpPr/>
          <p:nvPr/>
        </p:nvCxnSpPr>
        <p:spPr>
          <a:xfrm>
            <a:off x="6236208" y="6135624"/>
            <a:ext cx="182880" cy="0"/>
          </a:xfrm>
          <a:prstGeom prst="line">
            <a:avLst/>
          </a:prstGeom>
          <a:ln w="22860">
            <a:solidFill>
              <a:srgbClr val="0A2373"/>
            </a:solidFill>
          </a:ln>
        </p:spPr>
        <p:style>
          <a:lnRef idx="2">
            <a:schemeClr val="accent1"/>
          </a:lnRef>
          <a:fillRef idx="0">
            <a:schemeClr val="accent1"/>
          </a:fillRef>
          <a:effectRef idx="1">
            <a:schemeClr val="accent1"/>
          </a:effectRef>
          <a:fontRef idx="minor">
            <a:schemeClr val="tx1"/>
          </a:fontRef>
        </p:style>
      </p:cxnSp>
      <p:sp>
        <p:nvSpPr>
          <p:cNvPr id="73" name="TextBox 72"/>
          <p:cNvSpPr txBox="1"/>
          <p:nvPr/>
        </p:nvSpPr>
        <p:spPr>
          <a:xfrm>
            <a:off x="6455664" y="6053328"/>
            <a:ext cx="1371600" cy="182880"/>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Petrol retail</a:t>
            </a:r>
          </a:p>
        </p:txBody>
      </p:sp>
      <p:cxnSp>
        <p:nvCxnSpPr>
          <p:cNvPr id="74" name="Connector 73"/>
          <p:cNvCxnSpPr/>
          <p:nvPr/>
        </p:nvCxnSpPr>
        <p:spPr>
          <a:xfrm>
            <a:off x="7863840" y="6135624"/>
            <a:ext cx="182879" cy="0"/>
          </a:xfrm>
          <a:prstGeom prst="line">
            <a:avLst/>
          </a:prstGeom>
          <a:ln w="22860">
            <a:solidFill>
              <a:srgbClr val="546CA2"/>
            </a:solidFill>
          </a:ln>
        </p:spPr>
        <p:style>
          <a:lnRef idx="2">
            <a:schemeClr val="accent1"/>
          </a:lnRef>
          <a:fillRef idx="0">
            <a:schemeClr val="accent1"/>
          </a:fillRef>
          <a:effectRef idx="1">
            <a:schemeClr val="accent1"/>
          </a:effectRef>
          <a:fontRef idx="minor">
            <a:schemeClr val="tx1"/>
          </a:fontRef>
        </p:style>
      </p:cxnSp>
      <p:sp>
        <p:nvSpPr>
          <p:cNvPr id="75" name="TextBox 74"/>
          <p:cNvSpPr txBox="1"/>
          <p:nvPr/>
        </p:nvSpPr>
        <p:spPr>
          <a:xfrm>
            <a:off x="8083296" y="6053328"/>
            <a:ext cx="1371600" cy="182880"/>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Diesel wholesale</a:t>
            </a:r>
          </a:p>
        </p:txBody>
      </p:sp>
      <p:sp>
        <p:nvSpPr>
          <p:cNvPr id="77"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C4. Refinery capacity has fallen; redevelopment remains conditional</a:t>
            </a:r>
          </a:p>
        </p:txBody>
      </p:sp>
      <p:sp>
        <p:nvSpPr>
          <p:cNvPr id="3" name="Slide Number Placeholder"/>
          <p:cNvSpPr>
            <a:spLocks noGrp="1"/>
          </p:cNvSpPr>
          <p:nvPr>
            <p:ph type="sldNum" sz="quarter" idx="12"/>
          </p:nvPr>
        </p:nvSpPr>
        <p:spPr/>
        <p:txBody>
          <a:bodyPr/>
          <a:lstStyle/>
          <a:p>
            <a:fld id="{42BB2661-599D-49DB-9BCA-D4655FE25BA5}" type="slidenum">
              <a:rPr lang="en-US"/>
              <a:t>‹#›</a:t>
            </a:fld>
          </a:p>
        </p:txBody>
      </p:sp>
      <p:sp>
        <p:nvSpPr>
          <p:cNvPr id="4" name="Section navigation 1">
            <a:hlinkClick action="ppaction://hlinksldjump" r:id="rId5"/>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1  Overview</a:t>
            </a:r>
          </a:p>
        </p:txBody>
      </p:sp>
      <p:sp>
        <p:nvSpPr>
          <p:cNvPr id="5" name="Section navigation 2">
            <a:hlinkClick action="ppaction://hlinksldjump" r:id="rId6"/>
          </p:cNvPr>
          <p:cNvSpPr/>
          <p:nvPr/>
        </p:nvSpPr>
        <p:spPr>
          <a:xfrm>
            <a:off x="3136392"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2  Market baseline</a:t>
            </a:r>
          </a:p>
        </p:txBody>
      </p:sp>
      <p:sp>
        <p:nvSpPr>
          <p:cNvPr id="6" name="Section navigation 3">
            <a:hlinkClick action="ppaction://hlinksldjump" r:id="rId7"/>
          </p:cNvPr>
          <p:cNvSpPr/>
          <p:nvPr/>
        </p:nvSpPr>
        <p:spPr>
          <a:xfrm>
            <a:off x="5815584"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1">
                <a:solidFill>
                  <a:srgbClr val="FFFFFF"/>
                </a:solidFill>
                <a:latin typeface="Lato"/>
              </a:defRPr>
            </a:pPr>
            <a:r>
              <a:rPr sz="1050"/>
              <a:t>3  Market changes</a:t>
            </a:r>
          </a:p>
        </p:txBody>
      </p:sp>
      <p:sp>
        <p:nvSpPr>
          <p:cNvPr id="7" name="Section navigation 4">
            <a:hlinkClick action="ppaction://hlinksldjump" r:id="rId8"/>
          </p:cNvPr>
          <p:cNvSpPr/>
          <p:nvPr/>
        </p:nvSpPr>
        <p:spPr>
          <a:xfrm>
            <a:off x="8494776"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4  Vopak outlook</a:t>
            </a:r>
          </a:p>
        </p:txBody>
      </p:sp>
      <p:sp>
        <p:nvSpPr>
          <p:cNvPr id="8"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a:latin typeface="Lato"/>
              </a:defRPr>
            </a:pPr>
            <a:r>
              <a:rPr sz="750"/>
              <a:t>Note: All products; year to June, not calendar-year petrol/diesel. B adds 400 from 2033, conditional on FID.</a:t>
            </a:r>
          </a:p>
          <a:p>
            <a:pPr>
              <a:lnSpc>
                <a:spcPts val="900"/>
              </a:lnSpc>
              <a:spcBef>
                <a:spcPts val="0"/>
              </a:spcBef>
              <a:spcAft>
                <a:spcPts val="0"/>
              </a:spcAft>
              <a:defRPr sz="750">
                <a:latin typeface="Lato"/>
              </a:defRPr>
            </a:pPr>
            <a:r>
              <a:rPr sz="750"/>
              <a:t>Source: FIASA 2025 p.49; CEF 23 Sep 2026; Sasol FY2025 metrics p.4. Capacity is not output; Sasol output is all products / FY.</a:t>
            </a:r>
          </a:p>
        </p:txBody>
      </p:sp>
      <p:sp>
        <p:nvSpPr>
          <p:cNvPr id="25" name="TextBox 24"/>
          <p:cNvSpPr txBox="1"/>
          <p:nvPr/>
        </p:nvSpPr>
        <p:spPr>
          <a:xfrm>
            <a:off x="457200" y="1627632"/>
            <a:ext cx="6446520" cy="384048"/>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Published footprint + illustrative scenarios | thousand bbl/day</a:t>
            </a:r>
          </a:p>
        </p:txBody>
      </p:sp>
      <p:cxnSp>
        <p:nvCxnSpPr>
          <p:cNvPr id="26" name="Connector 25"/>
          <p:cNvCxnSpPr/>
          <p:nvPr/>
        </p:nvCxnSpPr>
        <p:spPr>
          <a:xfrm>
            <a:off x="457200" y="1947672"/>
            <a:ext cx="644652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7424927" y="1947672"/>
            <a:ext cx="3685033"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457200" y="2176272"/>
            <a:ext cx="6446520" cy="292608"/>
          </a:xfrm>
          <a:prstGeom prst="rect">
            <a:avLst/>
          </a:prstGeom>
          <a:noFill/>
        </p:spPr>
        <p:txBody>
          <a:bodyPr wrap="square" lIns="22860" rIns="22860" tIns="0" bIns="0">
            <a:spAutoFit/>
          </a:bodyPr>
          <a:lstStyle/>
          <a:p>
            <a:pPr>
              <a:spcAft>
                <a:spcPts val="300"/>
              </a:spcAft>
              <a:defRPr sz="1100" b="1">
                <a:solidFill>
                  <a:srgbClr val="0A2373"/>
                </a:solidFill>
                <a:latin typeface="Lato"/>
              </a:defRPr>
            </a:pPr>
            <a:r>
              <a:t>History 2016–2025 is sourced; 2026 onward is illustrative, not a forecast</a:t>
            </a:r>
          </a:p>
        </p:txBody>
      </p:sp>
      <p:sp>
        <p:nvSpPr>
          <p:cNvPr id="30" name="TextBox 29"/>
          <p:cNvSpPr txBox="1"/>
          <p:nvPr/>
        </p:nvSpPr>
        <p:spPr>
          <a:xfrm>
            <a:off x="457200" y="2624328"/>
            <a:ext cx="3108960" cy="429768"/>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A | No new refinery capacity</a:t>
            </a:r>
          </a:p>
        </p:txBody>
      </p:sp>
      <p:graphicFrame>
        <p:nvGraphicFramePr>
          <p:cNvPr id="31" name="Chart 30"/>
          <p:cNvGraphicFramePr>
            <a:graphicFrameLocks noGrp="1"/>
          </p:cNvGraphicFramePr>
          <p:nvPr/>
        </p:nvGraphicFramePr>
        <p:xfrm>
          <a:off x="457200" y="3072384"/>
          <a:ext cx="3108960" cy="2350008"/>
        </p:xfrm>
        <a:graphic>
          <a:graphicData uri="http://schemas.openxmlformats.org/drawingml/2006/chart">
            <c:chart xmlns:c="http://schemas.openxmlformats.org/drawingml/2006/chart" r:id="rId3"/>
          </a:graphicData>
        </a:graphic>
      </p:graphicFrame>
      <p:sp>
        <p:nvSpPr>
          <p:cNvPr id="32" name="TextBox 31"/>
          <p:cNvSpPr txBox="1"/>
          <p:nvPr/>
        </p:nvSpPr>
        <p:spPr>
          <a:xfrm>
            <a:off x="457200" y="5495544"/>
            <a:ext cx="3108960" cy="274320"/>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2036: 358 thousand bbl/day</a:t>
            </a:r>
          </a:p>
        </p:txBody>
      </p:sp>
      <p:sp>
        <p:nvSpPr>
          <p:cNvPr id="33" name="TextBox 32"/>
          <p:cNvSpPr txBox="1"/>
          <p:nvPr/>
        </p:nvSpPr>
        <p:spPr>
          <a:xfrm>
            <a:off x="3785616" y="2624328"/>
            <a:ext cx="3108960" cy="429768"/>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B | Conditional CEF redevelopment</a:t>
            </a:r>
          </a:p>
        </p:txBody>
      </p:sp>
      <p:graphicFrame>
        <p:nvGraphicFramePr>
          <p:cNvPr id="34" name="Chart 33"/>
          <p:cNvGraphicFramePr>
            <a:graphicFrameLocks noGrp="1"/>
          </p:cNvGraphicFramePr>
          <p:nvPr/>
        </p:nvGraphicFramePr>
        <p:xfrm>
          <a:off x="3785616" y="3072384"/>
          <a:ext cx="3108960" cy="2350008"/>
        </p:xfrm>
        <a:graphic>
          <a:graphicData uri="http://schemas.openxmlformats.org/drawingml/2006/chart">
            <c:chart xmlns:c="http://schemas.openxmlformats.org/drawingml/2006/chart" r:id="rId4"/>
          </a:graphicData>
        </a:graphic>
      </p:graphicFrame>
      <p:sp>
        <p:nvSpPr>
          <p:cNvPr id="35" name="TextBox 34"/>
          <p:cNvSpPr txBox="1"/>
          <p:nvPr/>
        </p:nvSpPr>
        <p:spPr>
          <a:xfrm>
            <a:off x="3785616" y="5495544"/>
            <a:ext cx="3108960" cy="274320"/>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2036: 758 thousand bbl/day</a:t>
            </a:r>
          </a:p>
        </p:txBody>
      </p:sp>
      <p:sp>
        <p:nvSpPr>
          <p:cNvPr id="36" name="TextBox 35"/>
          <p:cNvSpPr txBox="1"/>
          <p:nvPr/>
        </p:nvSpPr>
        <p:spPr>
          <a:xfrm>
            <a:off x="457200" y="5907024"/>
            <a:ext cx="6446520" cy="310896"/>
          </a:xfrm>
          <a:prstGeom prst="rect">
            <a:avLst/>
          </a:prstGeom>
          <a:noFill/>
        </p:spPr>
        <p:txBody>
          <a:bodyPr wrap="square" lIns="22860" rIns="22860" tIns="0" bIns="0">
            <a:spAutoFit/>
          </a:bodyPr>
          <a:lstStyle/>
          <a:p>
            <a:pPr>
              <a:spcAft>
                <a:spcPts val="300"/>
              </a:spcAft>
              <a:defRPr sz="1100" b="1">
                <a:solidFill>
                  <a:srgbClr val="0A2373"/>
                </a:solidFill>
                <a:latin typeface="Lato"/>
              </a:defRPr>
            </a:pPr>
            <a:r>
              <a:t>Reported FY2024 output: Secunda 29.1; Natref Sasol share 17.8 million barrels.</a:t>
            </a:r>
          </a:p>
        </p:txBody>
      </p:sp>
      <p:cxnSp>
        <p:nvCxnSpPr>
          <p:cNvPr id="45" name="Connector 44"/>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48" name="TextBox 47"/>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What the evidence shows</a:t>
            </a:r>
          </a:p>
        </p:txBody>
      </p:sp>
      <p:sp>
        <p:nvSpPr>
          <p:cNvPr id="49" name="TextBox 48"/>
          <p:cNvSpPr txBox="1"/>
          <p:nvPr/>
        </p:nvSpPr>
        <p:spPr>
          <a:xfrm>
            <a:off x="7424927" y="218541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01 | Capacity has fallen</a:t>
            </a:r>
          </a:p>
        </p:txBody>
      </p:sp>
      <p:sp>
        <p:nvSpPr>
          <p:cNvPr id="50" name="TextBox 49"/>
          <p:cNvSpPr txBox="1"/>
          <p:nvPr/>
        </p:nvSpPr>
        <p:spPr>
          <a:xfrm>
            <a:off x="7424927" y="256946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Published capacity falls from 718 to 358 thousand bbl/day between 2020 and 2022. Redevelopment remains conditional.</a:t>
            </a:r>
          </a:p>
        </p:txBody>
      </p:sp>
      <p:sp>
        <p:nvSpPr>
          <p:cNvPr id="51" name="TextBox 50"/>
          <p:cNvSpPr txBox="1"/>
          <p:nvPr/>
        </p:nvSpPr>
        <p:spPr>
          <a:xfrm>
            <a:off x="7424927" y="314553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02 | Reported output is different</a:t>
            </a:r>
          </a:p>
        </p:txBody>
      </p:sp>
      <p:sp>
        <p:nvSpPr>
          <p:cNvPr id="52" name="TextBox 51"/>
          <p:cNvSpPr txBox="1"/>
          <p:nvPr/>
        </p:nvSpPr>
        <p:spPr>
          <a:xfrm>
            <a:off x="7424927" y="3529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FY2024 Secunda output is 29.1 million barrels; Natref is 17.8 for Sasol’s share. Both cover all products and a year to June.</a:t>
            </a:r>
          </a:p>
        </p:txBody>
      </p:sp>
      <p:sp>
        <p:nvSpPr>
          <p:cNvPr id="53" name="TextBox 52"/>
          <p:cNvSpPr txBox="1"/>
          <p:nvPr/>
        </p:nvSpPr>
        <p:spPr>
          <a:xfrm>
            <a:off x="7424927" y="410565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03 | A product bridge is needed</a:t>
            </a:r>
          </a:p>
        </p:txBody>
      </p:sp>
      <p:sp>
        <p:nvSpPr>
          <p:cNvPr id="54" name="TextBox 53"/>
          <p:cNvSpPr txBox="1"/>
          <p:nvPr/>
        </p:nvSpPr>
        <p:spPr>
          <a:xfrm>
            <a:off x="7424927" y="448970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Match product yields, calendar years and downtime before calculating import effects. Capacity does not measure actual output.</a:t>
            </a:r>
          </a:p>
        </p:txBody>
      </p:sp>
      <p:cxnSp>
        <p:nvCxnSpPr>
          <p:cNvPr id="55" name="Connector 54"/>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56" name="TextBox 55"/>
          <p:cNvSpPr txBox="1"/>
          <p:nvPr/>
        </p:nvSpPr>
        <p:spPr>
          <a:xfrm>
            <a:off x="7424927" y="5321808"/>
            <a:ext cx="3685032"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To resolve next</a:t>
            </a:r>
          </a:p>
        </p:txBody>
      </p:sp>
      <p:sp>
        <p:nvSpPr>
          <p:cNvPr id="57" name="TextBox 56"/>
          <p:cNvSpPr txBox="1"/>
          <p:nvPr/>
        </p:nvSpPr>
        <p:spPr>
          <a:xfrm>
            <a:off x="7424927" y="5687568"/>
            <a:ext cx="3685032" cy="62179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Manish: match operator output to product/year and document Natref ownership basis. Henry: review technical mechanisms. Nigel: agree refinery scenario timing.</a:t>
            </a:r>
          </a:p>
        </p:txBody>
      </p:sp>
      <p:sp>
        <p:nvSpPr>
          <p:cNvPr id="58" name="SCR divider marker: circle"/>
          <p:cNvSpPr/>
          <p:nvPr/>
        </p:nvSpPr>
        <p:spPr>
          <a:xfrm>
            <a:off x="7086600" y="1828800"/>
            <a:ext cx="237744" cy="237744"/>
          </a:xfrm>
          <a:prstGeom prst="ellipse">
            <a:avLst/>
          </a:prstGeom>
          <a:solidFill>
            <a:srgbClr val="0A2373"/>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9" name="SCR divider marker: arrow"/>
          <p:cNvCxnSpPr/>
          <p:nvPr/>
        </p:nvCxnSpPr>
        <p:spPr>
          <a:xfrm>
            <a:off x="7173468" y="1888236"/>
            <a:ext cx="64008" cy="59436"/>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60" name="SCR divider marker: arrow"/>
          <p:cNvCxnSpPr/>
          <p:nvPr/>
        </p:nvCxnSpPr>
        <p:spPr>
          <a:xfrm flipH="1">
            <a:off x="7173468" y="1947672"/>
            <a:ext cx="64008" cy="59435"/>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sp>
        <p:nvSpPr>
          <p:cNvPr id="61"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S/C3 / C4. Connect historical changes to forecast cases and market decisions</a:t>
            </a:r>
          </a:p>
        </p:txBody>
      </p:sp>
      <p:sp>
        <p:nvSpPr>
          <p:cNvPr id="3" name="Slide Number Placeholder"/>
          <p:cNvSpPr>
            <a:spLocks noGrp="1"/>
          </p:cNvSpPr>
          <p:nvPr>
            <p:ph type="sldNum" sz="quarter" idx="12"/>
          </p:nvPr>
        </p:nvSpPr>
        <p:spPr/>
        <p:txBody>
          <a:bodyPr/>
          <a:lstStyle/>
          <a:p>
            <a:fld id="{FF997DD4-CC98-46A9-B209-CB39312449BF}" type="slidenum">
              <a:rPr lang="en-US"/>
              <a:t>‹#›</a:t>
            </a:fld>
          </a:p>
        </p:txBody>
      </p:sp>
      <p:sp>
        <p:nvSpPr>
          <p:cNvPr id="4" name="Section navigation 1">
            <a:hlinkClick action="ppaction://hlinksldjump" r:id="rId3"/>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1  Overview</a:t>
            </a:r>
          </a:p>
        </p:txBody>
      </p:sp>
      <p:sp>
        <p:nvSpPr>
          <p:cNvPr id="5" name="Section navigation 2">
            <a:hlinkClick action="ppaction://hlinksldjump" r:id="rId4"/>
          </p:cNvPr>
          <p:cNvSpPr/>
          <p:nvPr/>
        </p:nvSpPr>
        <p:spPr>
          <a:xfrm>
            <a:off x="3136392"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2  Market baseline</a:t>
            </a:r>
          </a:p>
        </p:txBody>
      </p:sp>
      <p:sp>
        <p:nvSpPr>
          <p:cNvPr id="6" name="Section navigation 3">
            <a:hlinkClick action="ppaction://hlinksldjump" r:id="rId5"/>
          </p:cNvPr>
          <p:cNvSpPr/>
          <p:nvPr/>
        </p:nvSpPr>
        <p:spPr>
          <a:xfrm>
            <a:off x="5815584"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1">
                <a:solidFill>
                  <a:srgbClr val="FFFFFF"/>
                </a:solidFill>
                <a:latin typeface="Lato"/>
              </a:defRPr>
            </a:pPr>
            <a:r>
              <a:rPr sz="1050"/>
              <a:t>3  Market changes</a:t>
            </a:r>
          </a:p>
        </p:txBody>
      </p:sp>
      <p:sp>
        <p:nvSpPr>
          <p:cNvPr id="7" name="Section navigation 4">
            <a:hlinkClick action="ppaction://hlinksldjump" r:id="rId6"/>
          </p:cNvPr>
          <p:cNvSpPr/>
          <p:nvPr/>
        </p:nvSpPr>
        <p:spPr>
          <a:xfrm>
            <a:off x="8494776"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4  Vopak outlook</a:t>
            </a:r>
          </a:p>
        </p:txBody>
      </p:sp>
      <p:sp>
        <p:nvSpPr>
          <p:cNvPr id="8"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a:latin typeface="Lato"/>
              </a:defRPr>
            </a:pPr>
            <a:r>
              <a:rPr sz="750"/>
              <a:t>Note: History is observed; forecast cases are proposed. No new fuel forecast is shown until the assumptions, source selections and back-tests are reviewed.</a:t>
            </a:r>
          </a:p>
          <a:p>
            <a:pPr>
              <a:lnSpc>
                <a:spcPts val="900"/>
              </a:lnSpc>
              <a:spcBef>
                <a:spcPts val="0"/>
              </a:spcBef>
              <a:spcAft>
                <a:spcPts val="0"/>
              </a:spcAft>
              <a:defRPr sz="750">
                <a:latin typeface="Lato"/>
              </a:defRPr>
            </a:pPr>
            <a:r>
              <a:rPr sz="750"/>
              <a:t>Source: Authored forecast framework; observed series in reporting evidence snapshots. No new growth rates or fuel forecasts inferred.</a:t>
            </a:r>
          </a:p>
        </p:txBody>
      </p:sp>
      <p:sp>
        <p:nvSpPr>
          <p:cNvPr id="9" name="TextBox 8"/>
          <p:cNvSpPr txBox="1"/>
          <p:nvPr/>
        </p:nvSpPr>
        <p:spPr>
          <a:xfrm>
            <a:off x="457200" y="1627632"/>
            <a:ext cx="10652760" cy="292608"/>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Market changes | historical evidence, forecast cases and decision outputs</a:t>
            </a:r>
          </a:p>
        </p:txBody>
      </p:sp>
      <p:cxnSp>
        <p:nvCxnSpPr>
          <p:cNvPr id="10" name="Connector 9"/>
          <p:cNvCxnSpPr/>
          <p:nvPr/>
        </p:nvCxnSpPr>
        <p:spPr>
          <a:xfrm>
            <a:off x="457200" y="1947672"/>
            <a:ext cx="1065276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457200" y="2103120"/>
            <a:ext cx="10652760" cy="256032"/>
          </a:xfrm>
          <a:prstGeom prst="rect">
            <a:avLst/>
          </a:prstGeom>
          <a:noFill/>
        </p:spPr>
        <p:txBody>
          <a:bodyPr wrap="square" lIns="22860" rIns="22860" tIns="0" bIns="0">
            <a:spAutoFit/>
          </a:bodyPr>
          <a:lstStyle/>
          <a:p>
            <a:pPr>
              <a:spcAft>
                <a:spcPts val="300"/>
              </a:spcAft>
              <a:defRPr sz="1100" b="1">
                <a:solidFill>
                  <a:srgbClr val="0A2373"/>
                </a:solidFill>
                <a:latin typeface="Lato"/>
              </a:defRPr>
            </a:pPr>
            <a:r>
              <a:t>STRUCTURE FOR REVIEW | assumptions and fuel-volume effects remain uncalibrated</a:t>
            </a:r>
          </a:p>
        </p:txBody>
      </p:sp>
      <p:graphicFrame>
        <p:nvGraphicFramePr>
          <p:cNvPr id="12" name="Table 11"/>
          <p:cNvGraphicFramePr>
            <a:graphicFrameLocks noGrp="1"/>
          </p:cNvGraphicFramePr>
          <p:nvPr/>
        </p:nvGraphicFramePr>
        <p:xfrm>
          <a:off x="457200" y="2542032"/>
          <a:ext cx="10652760" cy="3154680"/>
        </p:xfrm>
        <a:graphic>
          <a:graphicData uri="http://schemas.openxmlformats.org/drawingml/2006/table">
            <a:tbl>
              <a:tblPr firstRow="1" bandRow="1">
                <a:tableStyleId>{2D5ABB26-0587-4C30-8999-92F81FD0307C}</a:tableStyleId>
              </a:tblPr>
              <a:tblGrid>
                <a:gridCol w="2514600"/>
                <a:gridCol w="3154680"/>
                <a:gridCol w="2606040"/>
                <a:gridCol w="2377440"/>
              </a:tblGrid>
              <a:tr h="630936">
                <a:tc>
                  <a:txBody>
                    <a:bodyPr/>
                    <a:lstStyle/>
                    <a:p>
                      <a:pPr>
                        <a:spcAft>
                          <a:spcPts val="0"/>
                        </a:spcAft>
                        <a:defRPr sz="1100" b="1">
                          <a:solidFill>
                            <a:srgbClr val="000000"/>
                          </a:solidFill>
                          <a:latin typeface="Lato"/>
                        </a:defRPr>
                      </a:pPr>
                      <a:r>
                        <a:t>Historical evidence</a:t>
                      </a:r>
                    </a:p>
                  </a:txBody>
                  <a:tcPr marL="50292" marR="50292" marT="41148" marB="41148" anchor="ctr">
                    <a:lnB w="6350" cap="flat">
                      <a:solidFill>
                        <a:srgbClr val="EEEEEE"/>
                      </a:solidFill>
                    </a:lnB>
                    <a:solidFill>
                      <a:srgbClr val="FFFFFF"/>
                    </a:solidFill>
                  </a:tcPr>
                </a:tc>
                <a:tc>
                  <a:txBody>
                    <a:bodyPr/>
                    <a:lstStyle/>
                    <a:p>
                      <a:pPr>
                        <a:spcAft>
                          <a:spcPts val="0"/>
                        </a:spcAft>
                        <a:defRPr sz="1100" b="1">
                          <a:solidFill>
                            <a:srgbClr val="000000"/>
                          </a:solidFill>
                          <a:latin typeface="Lato"/>
                        </a:defRPr>
                      </a:pPr>
                      <a:r>
                        <a:t>Forecast cases to define</a:t>
                      </a:r>
                    </a:p>
                  </a:txBody>
                  <a:tcPr marL="50292" marR="50292" marT="41148" marB="41148" anchor="ctr">
                    <a:lnB w="6350" cap="flat">
                      <a:solidFill>
                        <a:srgbClr val="EEEEEE"/>
                      </a:solidFill>
                    </a:lnB>
                    <a:solidFill>
                      <a:srgbClr val="FFFFFF"/>
                    </a:solidFill>
                  </a:tcPr>
                </a:tc>
                <a:tc>
                  <a:txBody>
                    <a:bodyPr/>
                    <a:lstStyle/>
                    <a:p>
                      <a:pPr>
                        <a:spcAft>
                          <a:spcPts val="0"/>
                        </a:spcAft>
                        <a:defRPr sz="1100" b="1">
                          <a:solidFill>
                            <a:srgbClr val="000000"/>
                          </a:solidFill>
                          <a:latin typeface="Lato"/>
                        </a:defRPr>
                      </a:pPr>
                      <a:r>
                        <a:t>Output to calculate</a:t>
                      </a:r>
                    </a:p>
                  </a:txBody>
                  <a:tcPr marL="50292" marR="50292" marT="41148" marB="41148" anchor="ctr">
                    <a:lnB w="6350" cap="flat">
                      <a:solidFill>
                        <a:srgbClr val="EEEEEE"/>
                      </a:solidFill>
                    </a:lnB>
                    <a:solidFill>
                      <a:srgbClr val="FFFFFF"/>
                    </a:solidFill>
                  </a:tcPr>
                </a:tc>
                <a:tc>
                  <a:txBody>
                    <a:bodyPr/>
                    <a:lstStyle/>
                    <a:p>
                      <a:pPr>
                        <a:spcAft>
                          <a:spcPts val="0"/>
                        </a:spcAft>
                        <a:defRPr sz="1100" b="1">
                          <a:solidFill>
                            <a:srgbClr val="000000"/>
                          </a:solidFill>
                          <a:latin typeface="Lato"/>
                        </a:defRPr>
                      </a:pPr>
                      <a:r>
                        <a:t>Decision it supports</a:t>
                      </a:r>
                    </a:p>
                  </a:txBody>
                  <a:tcPr marL="50292" marR="50292" marT="41148" marB="41148" anchor="ctr">
                    <a:lnB w="6350" cap="flat">
                      <a:solidFill>
                        <a:srgbClr val="EEEEEE"/>
                      </a:solidFill>
                    </a:lnB>
                    <a:solidFill>
                      <a:srgbClr val="FFFFFF"/>
                    </a:solidFill>
                  </a:tcPr>
                </a:tc>
              </a:tr>
              <a:tr h="630936">
                <a:tc>
                  <a:txBody>
                    <a:bodyPr/>
                    <a:lstStyle/>
                    <a:p>
                      <a:pPr>
                        <a:spcAft>
                          <a:spcPts val="0"/>
                        </a:spcAft>
                        <a:defRPr sz="1100" b="0">
                          <a:solidFill>
                            <a:srgbClr val="000000"/>
                          </a:solidFill>
                          <a:latin typeface="Lato"/>
                        </a:defRPr>
                      </a:pPr>
                      <a:r>
                        <a:t>Fleet, activity and prices</a:t>
                      </a:r>
                    </a:p>
                    <a:p>
                      <a:pPr>
                        <a:spcAft>
                          <a:spcPts val="0"/>
                        </a:spcAft>
                        <a:defRPr sz="1100" b="0">
                          <a:solidFill>
                            <a:srgbClr val="000000"/>
                          </a:solidFill>
                          <a:latin typeface="Lato"/>
                        </a:defRPr>
                      </a:pPr>
                      <a:r>
                        <a:t>Observed history and recent partial periods</a:t>
                      </a:r>
                    </a:p>
                  </a:txBody>
                  <a:tcPr marL="50292" marR="50292" marT="41148" marB="41148" anchor="ctr">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Base: observed performance continues. High / low: explicit growth, mileage and price assumptions</a:t>
                      </a:r>
                    </a:p>
                  </a:txBody>
                  <a:tcPr marL="50292" marR="50292" marT="41148" marB="41148" anchor="ctr">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Petrol / diesel demand by year; forecast bands and sensitivity</a:t>
                      </a:r>
                    </a:p>
                  </a:txBody>
                  <a:tcPr marL="50292" marR="50292" marT="41148" marB="41148" anchor="ctr">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Which customer markets grow, contract or change product mix?</a:t>
                      </a:r>
                    </a:p>
                  </a:txBody>
                  <a:tcPr marL="50292" marR="50292" marT="41148" marB="41148" anchor="ctr">
                    <a:lnB w="6350" cap="flat">
                      <a:solidFill>
                        <a:srgbClr val="EEEEEE"/>
                      </a:solidFill>
                    </a:lnB>
                    <a:solidFill>
                      <a:srgbClr val="FFFFFF"/>
                    </a:solidFill>
                  </a:tcPr>
                </a:tc>
              </a:tr>
              <a:tr h="630936">
                <a:tc>
                  <a:txBody>
                    <a:bodyPr/>
                    <a:lstStyle/>
                    <a:p>
                      <a:pPr>
                        <a:spcAft>
                          <a:spcPts val="0"/>
                        </a:spcAft>
                        <a:defRPr sz="1100" b="0">
                          <a:solidFill>
                            <a:srgbClr val="000000"/>
                          </a:solidFill>
                          <a:latin typeface="Lato"/>
                        </a:defRPr>
                      </a:pPr>
                      <a:r>
                        <a:t>EV, freight, sectors and power</a:t>
                      </a:r>
                    </a:p>
                    <a:p>
                      <a:pPr>
                        <a:spcAft>
                          <a:spcPts val="0"/>
                        </a:spcAft>
                        <a:defRPr sz="1100" b="0">
                          <a:solidFill>
                            <a:srgbClr val="000000"/>
                          </a:solidFill>
                          <a:latin typeface="Lato"/>
                        </a:defRPr>
                      </a:pPr>
                      <a:r>
                        <a:t>Separate activity from fuel use</a:t>
                      </a:r>
                    </a:p>
                  </a:txBody>
                  <a:tcPr marL="50292" marR="50292" marT="41148" marB="41148" anchor="ctr">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Change uptake, modal share, fuel intensity and OCGT use; separate BEV and hybrids</a:t>
                      </a:r>
                    </a:p>
                  </a:txBody>
                  <a:tcPr marL="50292" marR="50292" marT="41148" marB="41148" anchor="ctr">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Incremental litres by lever; avoid overlap with the base growth path</a:t>
                      </a:r>
                    </a:p>
                  </a:txBody>
                  <a:tcPr marL="50292" marR="50292" marT="41148" marB="41148" anchor="ctr">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Which service proposition and customer segment should Vopak prioritise?</a:t>
                      </a:r>
                    </a:p>
                  </a:txBody>
                  <a:tcPr marL="50292" marR="50292" marT="41148" marB="41148" anchor="ctr">
                    <a:lnB w="6350" cap="flat">
                      <a:solidFill>
                        <a:srgbClr val="EEEEEE"/>
                      </a:solidFill>
                    </a:lnB>
                    <a:solidFill>
                      <a:srgbClr val="FFFFFF"/>
                    </a:solidFill>
                  </a:tcPr>
                </a:tc>
              </a:tr>
              <a:tr h="630936">
                <a:tc>
                  <a:txBody>
                    <a:bodyPr/>
                    <a:lstStyle/>
                    <a:p>
                      <a:pPr>
                        <a:spcAft>
                          <a:spcPts val="0"/>
                        </a:spcAft>
                        <a:defRPr sz="1100" b="0">
                          <a:solidFill>
                            <a:srgbClr val="000000"/>
                          </a:solidFill>
                          <a:latin typeface="Lato"/>
                        </a:defRPr>
                      </a:pPr>
                      <a:r>
                        <a:t>Refinery capacity and reported output</a:t>
                      </a:r>
                    </a:p>
                    <a:p>
                      <a:pPr>
                        <a:spcAft>
                          <a:spcPts val="0"/>
                        </a:spcAft>
                        <a:defRPr sz="1100" b="0">
                          <a:solidFill>
                            <a:srgbClr val="000000"/>
                          </a:solidFill>
                          <a:latin typeface="Lato"/>
                        </a:defRPr>
                      </a:pPr>
                      <a:r>
                        <a:t>Separate actual from conditional additions</a:t>
                      </a:r>
                    </a:p>
                  </a:txBody>
                  <a:tcPr marL="50292" marR="50292" marT="41148" marB="41148" anchor="ctr">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Existing plants: output, downtime and yields. Redevelopment: conditional timing and ramp-up</a:t>
                      </a:r>
                    </a:p>
                  </a:txBody>
                  <a:tcPr marL="50292" marR="50292" marT="41148" marB="41148" anchor="ctr">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Product-specific domestic output; matched imports, exports and stock changes</a:t>
                      </a:r>
                    </a:p>
                  </a:txBody>
                  <a:tcPr marL="50292" marR="50292" marT="41148" marB="41148" anchor="ctr">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When could additional import handling or storage be needed?</a:t>
                      </a:r>
                    </a:p>
                  </a:txBody>
                  <a:tcPr marL="50292" marR="50292" marT="41148" marB="41148" anchor="ctr">
                    <a:lnB w="6350" cap="flat">
                      <a:solidFill>
                        <a:srgbClr val="EEEEEE"/>
                      </a:solidFill>
                    </a:lnB>
                    <a:solidFill>
                      <a:srgbClr val="FFFFFF"/>
                    </a:solidFill>
                  </a:tcPr>
                </a:tc>
              </a:tr>
              <a:tr h="630936">
                <a:tc>
                  <a:txBody>
                    <a:bodyPr/>
                    <a:lstStyle/>
                    <a:p>
                      <a:pPr>
                        <a:spcAft>
                          <a:spcPts val="0"/>
                        </a:spcAft>
                        <a:defRPr sz="1100" b="0">
                          <a:solidFill>
                            <a:srgbClr val="000000"/>
                          </a:solidFill>
                          <a:latin typeface="Lato"/>
                        </a:defRPr>
                      </a:pPr>
                      <a:r>
                        <a:t>Provincial sales and competing routes</a:t>
                      </a:r>
                    </a:p>
                    <a:p>
                      <a:pPr>
                        <a:spcAft>
                          <a:spcPts val="0"/>
                        </a:spcAft>
                        <a:defRPr sz="1100" b="0">
                          <a:solidFill>
                            <a:srgbClr val="000000"/>
                          </a:solidFill>
                          <a:latin typeface="Lato"/>
                        </a:defRPr>
                      </a:pPr>
                      <a:r>
                        <a:t>Later fuel shares are estimates</a:t>
                      </a:r>
                    </a:p>
                  </a:txBody>
                  <a:tcPr marL="50292" marR="50292" marT="41148" marB="41148" anchor="ctr">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Allocate national cases with explicit regional assumptions; test route cost and access</a:t>
                      </a:r>
                    </a:p>
                  </a:txBody>
                  <a:tcPr marL="50292" marR="50292" marT="41148" marB="41148" anchor="ctr">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Reachable customer litres by region and route; actual Vopak deliveries separately</a:t>
                      </a:r>
                    </a:p>
                  </a:txBody>
                  <a:tcPr marL="50292" marR="50292" marT="41148" marB="41148" anchor="ctr">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Where to play, how to win and the conditions for committing capacity</a:t>
                      </a:r>
                    </a:p>
                  </a:txBody>
                  <a:tcPr marL="50292" marR="50292" marT="41148" marB="41148" anchor="ctr">
                    <a:lnB w="6350" cap="flat">
                      <a:solidFill>
                        <a:srgbClr val="EEEEEE"/>
                      </a:solidFill>
                    </a:lnB>
                    <a:solidFill>
                      <a:srgbClr val="FFFFFF"/>
                    </a:solidFill>
                  </a:tcPr>
                </a:tc>
              </a:tr>
            </a:tbl>
          </a:graphicData>
        </a:graphic>
      </p:graphicFrame>
      <p:sp>
        <p:nvSpPr>
          <p:cNvPr id="13" name="TextBox 12"/>
          <p:cNvSpPr txBox="1"/>
          <p:nvPr/>
        </p:nvSpPr>
        <p:spPr>
          <a:xfrm>
            <a:off x="457200" y="5879592"/>
            <a:ext cx="10652760" cy="256032"/>
          </a:xfrm>
          <a:prstGeom prst="rect">
            <a:avLst/>
          </a:prstGeom>
          <a:noFill/>
        </p:spPr>
        <p:txBody>
          <a:bodyPr wrap="square" lIns="22860" rIns="22860" tIns="0" bIns="0">
            <a:spAutoFit/>
          </a:bodyPr>
          <a:lstStyle/>
          <a:p>
            <a:pPr>
              <a:spcAft>
                <a:spcPts val="300"/>
              </a:spcAft>
              <a:defRPr sz="1150" b="1">
                <a:solidFill>
                  <a:srgbClr val="0A2373"/>
                </a:solidFill>
                <a:latin typeface="Lato"/>
              </a:defRPr>
            </a:pPr>
            <a:r>
              <a:t>Historical evidence → agreed assumptions and levers → annual demand and supply → regional access → Vopak decision</a:t>
            </a:r>
          </a:p>
        </p:txBody>
      </p:sp>
      <p:sp>
        <p:nvSpPr>
          <p:cNvPr id="15"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C5. Transport cost shapes the market Durban and Lesedi can reach</a:t>
            </a:r>
          </a:p>
        </p:txBody>
      </p:sp>
      <p:sp>
        <p:nvSpPr>
          <p:cNvPr id="3" name="Slide Number Placeholder"/>
          <p:cNvSpPr>
            <a:spLocks noGrp="1"/>
          </p:cNvSpPr>
          <p:nvPr>
            <p:ph type="sldNum" sz="quarter" idx="12"/>
          </p:nvPr>
        </p:nvSpPr>
        <p:spPr/>
        <p:txBody>
          <a:bodyPr/>
          <a:lstStyle/>
          <a:p>
            <a:fld id="{BF727970-95E9-49D7-9EB0-D67854984AD5}" type="slidenum">
              <a:rPr lang="en-US"/>
              <a:t>‹#›</a:t>
            </a:fld>
          </a:p>
        </p:txBody>
      </p:sp>
      <p:sp>
        <p:nvSpPr>
          <p:cNvPr id="4" name="Section navigation 1">
            <a:hlinkClick action="ppaction://hlinksldjump" r:id="rId3"/>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1  Overview</a:t>
            </a:r>
          </a:p>
        </p:txBody>
      </p:sp>
      <p:sp>
        <p:nvSpPr>
          <p:cNvPr id="5" name="Section navigation 2">
            <a:hlinkClick action="ppaction://hlinksldjump" r:id="rId4"/>
          </p:cNvPr>
          <p:cNvSpPr/>
          <p:nvPr/>
        </p:nvSpPr>
        <p:spPr>
          <a:xfrm>
            <a:off x="3136392"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2  Market baseline</a:t>
            </a:r>
          </a:p>
        </p:txBody>
      </p:sp>
      <p:sp>
        <p:nvSpPr>
          <p:cNvPr id="6" name="Section navigation 3">
            <a:hlinkClick action="ppaction://hlinksldjump" r:id="rId5"/>
          </p:cNvPr>
          <p:cNvSpPr/>
          <p:nvPr/>
        </p:nvSpPr>
        <p:spPr>
          <a:xfrm>
            <a:off x="5815584"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1">
                <a:solidFill>
                  <a:srgbClr val="FFFFFF"/>
                </a:solidFill>
                <a:latin typeface="Lato"/>
              </a:defRPr>
            </a:pPr>
            <a:r>
              <a:rPr sz="1050"/>
              <a:t>3  Market changes</a:t>
            </a:r>
          </a:p>
        </p:txBody>
      </p:sp>
      <p:sp>
        <p:nvSpPr>
          <p:cNvPr id="7" name="Section navigation 4">
            <a:hlinkClick action="ppaction://hlinksldjump" r:id="rId6"/>
          </p:cNvPr>
          <p:cNvSpPr/>
          <p:nvPr/>
        </p:nvSpPr>
        <p:spPr>
          <a:xfrm>
            <a:off x="8494776"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4  Vopak outlook</a:t>
            </a:r>
          </a:p>
        </p:txBody>
      </p:sp>
      <p:sp>
        <p:nvSpPr>
          <p:cNvPr id="8"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a:latin typeface="Lato"/>
              </a:defRPr>
            </a:pPr>
            <a:r>
              <a:rPr sz="750"/>
              <a:t>Note: Illustrative road cost only. Pipeline/rail access and commercial rights are not priced.</a:t>
            </a:r>
          </a:p>
          <a:p>
            <a:pPr>
              <a:lnSpc>
                <a:spcPts val="900"/>
              </a:lnSpc>
              <a:spcBef>
                <a:spcPts val="0"/>
              </a:spcBef>
              <a:spcAft>
                <a:spcPts val="0"/>
              </a:spcAft>
              <a:defRPr sz="750">
                <a:latin typeface="Lato"/>
              </a:defRPr>
            </a:pPr>
            <a:r>
              <a:rPr sz="750"/>
              <a:t>Source: Existing appendix routes; illustrative candidate connections, not verified catchments. Natural Earth 1:50m.</a:t>
            </a:r>
          </a:p>
        </p:txBody>
      </p:sp>
      <p:cxnSp>
        <p:nvCxnSpPr>
          <p:cNvPr id="11" name="Connector 10"/>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22" name="Map frame; common geographic extent"/>
          <p:cNvSpPr/>
          <p:nvPr/>
        </p:nvSpPr>
        <p:spPr>
          <a:xfrm>
            <a:off x="457200" y="2176272"/>
            <a:ext cx="6446520" cy="3657600"/>
          </a:xfrm>
          <a:prstGeom prst="rect">
            <a:avLst/>
          </a:prstGeom>
          <a:solidFill>
            <a:srgbClr val="F5F8FB"/>
          </a:solidFill>
          <a:ln w="6350">
            <a:solidFill>
              <a:srgbClr val="EEE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Natural Earth 1:50m boundary: Zimbabwe"/>
          <p:cNvSpPr/>
          <p:nvPr/>
        </p:nvSpPr>
        <p:spPr>
          <a:xfrm>
            <a:off x="4666558" y="2283150"/>
            <a:ext cx="640603" cy="124667"/>
          </a:xfrm>
          <a:custGeom>
            <a:avLst/>
            <a:gdLst/>
            <a:ahLst/>
            <a:cxnLst/>
            <a:rect l="l" t="t" r="r" b="b"/>
            <a:pathLst>
              <a:path w="640603" h="124667">
                <a:moveTo>
                  <a:pt x="532798" y="124667"/>
                </a:moveTo>
                <a:lnTo>
                  <a:pt x="511926" y="109016"/>
                </a:lnTo>
                <a:lnTo>
                  <a:pt x="482921" y="98105"/>
                </a:lnTo>
                <a:lnTo>
                  <a:pt x="445720" y="91953"/>
                </a:lnTo>
                <a:lnTo>
                  <a:pt x="397041" y="91514"/>
                </a:lnTo>
                <a:lnTo>
                  <a:pt x="336956" y="96794"/>
                </a:lnTo>
                <a:lnTo>
                  <a:pt x="273200" y="84399"/>
                </a:lnTo>
                <a:lnTo>
                  <a:pt x="205640" y="54358"/>
                </a:lnTo>
                <a:lnTo>
                  <a:pt x="149008" y="42519"/>
                </a:lnTo>
                <a:lnTo>
                  <a:pt x="80617" y="51925"/>
                </a:lnTo>
                <a:lnTo>
                  <a:pt x="77609" y="52119"/>
                </a:lnTo>
                <a:lnTo>
                  <a:pt x="66080" y="42468"/>
                </a:lnTo>
                <a:lnTo>
                  <a:pt x="48096" y="21881"/>
                </a:lnTo>
                <a:lnTo>
                  <a:pt x="17130" y="17336"/>
                </a:lnTo>
                <a:lnTo>
                  <a:pt x="8838" y="12403"/>
                </a:lnTo>
                <a:lnTo>
                  <a:pt x="2113" y="4755"/>
                </a:lnTo>
                <a:lnTo>
                  <a:pt x="0" y="0"/>
                </a:lnTo>
                <a:lnTo>
                  <a:pt x="640603" y="27451"/>
                </a:lnTo>
                <a:lnTo>
                  <a:pt x="603077" y="64721"/>
                </a:lnTo>
                <a:lnTo>
                  <a:pt x="567618" y="100041"/>
                </a:lnTo>
                <a:lnTo>
                  <a:pt x="532798" y="124667"/>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Natural Earth 1:50m boundary: eSwatini"/>
          <p:cNvSpPr/>
          <p:nvPr/>
        </p:nvSpPr>
        <p:spPr>
          <a:xfrm>
            <a:off x="5033317" y="3262069"/>
            <a:ext cx="303816" cy="406727"/>
          </a:xfrm>
          <a:custGeom>
            <a:avLst/>
            <a:gdLst/>
            <a:ahLst/>
            <a:cxnLst/>
            <a:rect l="l" t="t" r="r" b="b"/>
            <a:pathLst>
              <a:path w="303816" h="406727">
                <a:moveTo>
                  <a:pt x="275537" y="62013"/>
                </a:moveTo>
                <a:lnTo>
                  <a:pt x="279992" y="66023"/>
                </a:lnTo>
                <a:lnTo>
                  <a:pt x="300559" y="79029"/>
                </a:lnTo>
                <a:lnTo>
                  <a:pt x="301167" y="102598"/>
                </a:lnTo>
                <a:lnTo>
                  <a:pt x="297630" y="129281"/>
                </a:lnTo>
                <a:lnTo>
                  <a:pt x="292422" y="145953"/>
                </a:lnTo>
                <a:lnTo>
                  <a:pt x="293076" y="162892"/>
                </a:lnTo>
                <a:lnTo>
                  <a:pt x="298399" y="189519"/>
                </a:lnTo>
                <a:lnTo>
                  <a:pt x="303816" y="207841"/>
                </a:lnTo>
                <a:lnTo>
                  <a:pt x="300767" y="289576"/>
                </a:lnTo>
                <a:lnTo>
                  <a:pt x="293834" y="285411"/>
                </a:lnTo>
                <a:lnTo>
                  <a:pt x="281033" y="281155"/>
                </a:lnTo>
                <a:lnTo>
                  <a:pt x="274062" y="282377"/>
                </a:lnTo>
                <a:lnTo>
                  <a:pt x="265716" y="318604"/>
                </a:lnTo>
                <a:lnTo>
                  <a:pt x="257848" y="372766"/>
                </a:lnTo>
                <a:lnTo>
                  <a:pt x="258748" y="406727"/>
                </a:lnTo>
                <a:lnTo>
                  <a:pt x="209539" y="404969"/>
                </a:lnTo>
                <a:lnTo>
                  <a:pt x="147538" y="397851"/>
                </a:lnTo>
                <a:lnTo>
                  <a:pt x="103732" y="380884"/>
                </a:lnTo>
                <a:lnTo>
                  <a:pt x="57283" y="346190"/>
                </a:lnTo>
                <a:lnTo>
                  <a:pt x="31080" y="294539"/>
                </a:lnTo>
                <a:lnTo>
                  <a:pt x="20039" y="262374"/>
                </a:lnTo>
                <a:lnTo>
                  <a:pt x="2592" y="259702"/>
                </a:lnTo>
                <a:lnTo>
                  <a:pt x="0" y="254199"/>
                </a:lnTo>
                <a:lnTo>
                  <a:pt x="214" y="215634"/>
                </a:lnTo>
                <a:lnTo>
                  <a:pt x="2435" y="175217"/>
                </a:lnTo>
                <a:lnTo>
                  <a:pt x="6204" y="164642"/>
                </a:lnTo>
                <a:lnTo>
                  <a:pt x="41147" y="116459"/>
                </a:lnTo>
                <a:lnTo>
                  <a:pt x="62888" y="86540"/>
                </a:lnTo>
                <a:lnTo>
                  <a:pt x="76940" y="57249"/>
                </a:lnTo>
                <a:lnTo>
                  <a:pt x="106140" y="23556"/>
                </a:lnTo>
                <a:lnTo>
                  <a:pt x="136758" y="2646"/>
                </a:lnTo>
                <a:lnTo>
                  <a:pt x="147881" y="0"/>
                </a:lnTo>
                <a:lnTo>
                  <a:pt x="155348" y="1319"/>
                </a:lnTo>
                <a:lnTo>
                  <a:pt x="205786" y="34956"/>
                </a:lnTo>
                <a:lnTo>
                  <a:pt x="257515" y="67144"/>
                </a:lnTo>
                <a:lnTo>
                  <a:pt x="269261" y="64507"/>
                </a:lnTo>
                <a:lnTo>
                  <a:pt x="275537" y="62013"/>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Natural Earth 1:50m boundary: South Africa"/>
          <p:cNvSpPr/>
          <p:nvPr/>
        </p:nvSpPr>
        <p:spPr>
          <a:xfrm>
            <a:off x="1777332" y="2325669"/>
            <a:ext cx="3733333" cy="3233142"/>
          </a:xfrm>
          <a:custGeom>
            <a:avLst/>
            <a:gdLst/>
            <a:ahLst/>
            <a:cxnLst/>
            <a:rect l="l" t="t" r="r" b="b"/>
            <a:pathLst>
              <a:path w="3733333" h="3233142">
                <a:moveTo>
                  <a:pt x="2966835" y="9600"/>
                </a:moveTo>
                <a:lnTo>
                  <a:pt x="2969843" y="9406"/>
                </a:lnTo>
                <a:lnTo>
                  <a:pt x="3038234" y="0"/>
                </a:lnTo>
                <a:lnTo>
                  <a:pt x="3094866" y="11839"/>
                </a:lnTo>
                <a:lnTo>
                  <a:pt x="3162426" y="41880"/>
                </a:lnTo>
                <a:lnTo>
                  <a:pt x="3226182" y="54275"/>
                </a:lnTo>
                <a:lnTo>
                  <a:pt x="3286267" y="48995"/>
                </a:lnTo>
                <a:lnTo>
                  <a:pt x="3334946" y="49434"/>
                </a:lnTo>
                <a:lnTo>
                  <a:pt x="3372147" y="55586"/>
                </a:lnTo>
                <a:lnTo>
                  <a:pt x="3401152" y="66497"/>
                </a:lnTo>
                <a:lnTo>
                  <a:pt x="3422024" y="82148"/>
                </a:lnTo>
                <a:lnTo>
                  <a:pt x="3422673" y="95641"/>
                </a:lnTo>
                <a:lnTo>
                  <a:pt x="3424067" y="101830"/>
                </a:lnTo>
                <a:lnTo>
                  <a:pt x="3433809" y="137865"/>
                </a:lnTo>
                <a:lnTo>
                  <a:pt x="3448258" y="191687"/>
                </a:lnTo>
                <a:lnTo>
                  <a:pt x="3457177" y="241168"/>
                </a:lnTo>
                <a:lnTo>
                  <a:pt x="3469352" y="309049"/>
                </a:lnTo>
                <a:lnTo>
                  <a:pt x="3467084" y="346368"/>
                </a:lnTo>
                <a:lnTo>
                  <a:pt x="3470139" y="361001"/>
                </a:lnTo>
                <a:lnTo>
                  <a:pt x="3483031" y="379757"/>
                </a:lnTo>
                <a:lnTo>
                  <a:pt x="3498320" y="411626"/>
                </a:lnTo>
                <a:lnTo>
                  <a:pt x="3503186" y="429514"/>
                </a:lnTo>
                <a:lnTo>
                  <a:pt x="3508174" y="442961"/>
                </a:lnTo>
                <a:lnTo>
                  <a:pt x="3524658" y="468868"/>
                </a:lnTo>
                <a:lnTo>
                  <a:pt x="3536493" y="507434"/>
                </a:lnTo>
                <a:lnTo>
                  <a:pt x="3545551" y="558135"/>
                </a:lnTo>
                <a:lnTo>
                  <a:pt x="3554255" y="582713"/>
                </a:lnTo>
                <a:lnTo>
                  <a:pt x="3557379" y="594722"/>
                </a:lnTo>
                <a:lnTo>
                  <a:pt x="3560741" y="616477"/>
                </a:lnTo>
                <a:lnTo>
                  <a:pt x="3557730" y="661812"/>
                </a:lnTo>
                <a:lnTo>
                  <a:pt x="3555214" y="714385"/>
                </a:lnTo>
                <a:lnTo>
                  <a:pt x="3552398" y="773102"/>
                </a:lnTo>
                <a:lnTo>
                  <a:pt x="3550091" y="821569"/>
                </a:lnTo>
                <a:lnTo>
                  <a:pt x="3547005" y="845993"/>
                </a:lnTo>
                <a:lnTo>
                  <a:pt x="3544435" y="915675"/>
                </a:lnTo>
                <a:lnTo>
                  <a:pt x="3527627" y="951107"/>
                </a:lnTo>
                <a:lnTo>
                  <a:pt x="3527933" y="979684"/>
                </a:lnTo>
                <a:lnTo>
                  <a:pt x="3531522" y="998413"/>
                </a:lnTo>
                <a:lnTo>
                  <a:pt x="3525246" y="1000907"/>
                </a:lnTo>
                <a:lnTo>
                  <a:pt x="3513500" y="1003544"/>
                </a:lnTo>
                <a:lnTo>
                  <a:pt x="3461771" y="971356"/>
                </a:lnTo>
                <a:lnTo>
                  <a:pt x="3411333" y="937719"/>
                </a:lnTo>
                <a:lnTo>
                  <a:pt x="3403866" y="936400"/>
                </a:lnTo>
                <a:lnTo>
                  <a:pt x="3392743" y="939046"/>
                </a:lnTo>
                <a:lnTo>
                  <a:pt x="3362125" y="959956"/>
                </a:lnTo>
                <a:lnTo>
                  <a:pt x="3332925" y="993649"/>
                </a:lnTo>
                <a:lnTo>
                  <a:pt x="3318873" y="1022940"/>
                </a:lnTo>
                <a:lnTo>
                  <a:pt x="3297132" y="1052859"/>
                </a:lnTo>
                <a:lnTo>
                  <a:pt x="3262189" y="1101042"/>
                </a:lnTo>
                <a:lnTo>
                  <a:pt x="3258420" y="1111617"/>
                </a:lnTo>
                <a:lnTo>
                  <a:pt x="3256199" y="1152034"/>
                </a:lnTo>
                <a:lnTo>
                  <a:pt x="3255985" y="1190599"/>
                </a:lnTo>
                <a:lnTo>
                  <a:pt x="3258577" y="1196102"/>
                </a:lnTo>
                <a:lnTo>
                  <a:pt x="3276024" y="1198774"/>
                </a:lnTo>
                <a:lnTo>
                  <a:pt x="3287065" y="1230939"/>
                </a:lnTo>
                <a:lnTo>
                  <a:pt x="3313268" y="1282590"/>
                </a:lnTo>
                <a:lnTo>
                  <a:pt x="3359717" y="1317284"/>
                </a:lnTo>
                <a:lnTo>
                  <a:pt x="3403523" y="1334251"/>
                </a:lnTo>
                <a:lnTo>
                  <a:pt x="3465524" y="1341369"/>
                </a:lnTo>
                <a:lnTo>
                  <a:pt x="3514733" y="1343127"/>
                </a:lnTo>
                <a:lnTo>
                  <a:pt x="3513833" y="1309166"/>
                </a:lnTo>
                <a:lnTo>
                  <a:pt x="3521701" y="1255004"/>
                </a:lnTo>
                <a:lnTo>
                  <a:pt x="3530047" y="1218777"/>
                </a:lnTo>
                <a:lnTo>
                  <a:pt x="3537018" y="1217555"/>
                </a:lnTo>
                <a:lnTo>
                  <a:pt x="3549819" y="1221811"/>
                </a:lnTo>
                <a:lnTo>
                  <a:pt x="3556752" y="1225976"/>
                </a:lnTo>
                <a:lnTo>
                  <a:pt x="3576668" y="1225632"/>
                </a:lnTo>
                <a:lnTo>
                  <a:pt x="3611432" y="1234946"/>
                </a:lnTo>
                <a:lnTo>
                  <a:pt x="3639869" y="1235897"/>
                </a:lnTo>
                <a:lnTo>
                  <a:pt x="3665286" y="1236787"/>
                </a:lnTo>
                <a:lnTo>
                  <a:pt x="3708272" y="1238303"/>
                </a:lnTo>
                <a:lnTo>
                  <a:pt x="3733333" y="1239508"/>
                </a:lnTo>
                <a:lnTo>
                  <a:pt x="3721150" y="1297960"/>
                </a:lnTo>
                <a:lnTo>
                  <a:pt x="3682714" y="1388226"/>
                </a:lnTo>
                <a:lnTo>
                  <a:pt x="3668970" y="1429875"/>
                </a:lnTo>
                <a:lnTo>
                  <a:pt x="3631826" y="1579543"/>
                </a:lnTo>
                <a:lnTo>
                  <a:pt x="3591119" y="1653608"/>
                </a:lnTo>
                <a:lnTo>
                  <a:pt x="3569060" y="1683872"/>
                </a:lnTo>
                <a:lnTo>
                  <a:pt x="3507633" y="1736119"/>
                </a:lnTo>
                <a:lnTo>
                  <a:pt x="3490836" y="1746478"/>
                </a:lnTo>
                <a:lnTo>
                  <a:pt x="3476084" y="1752881"/>
                </a:lnTo>
                <a:lnTo>
                  <a:pt x="3450305" y="1757807"/>
                </a:lnTo>
                <a:lnTo>
                  <a:pt x="3344844" y="1865068"/>
                </a:lnTo>
                <a:lnTo>
                  <a:pt x="3305055" y="1917498"/>
                </a:lnTo>
                <a:lnTo>
                  <a:pt x="3268258" y="1995090"/>
                </a:lnTo>
                <a:lnTo>
                  <a:pt x="3233648" y="2036976"/>
                </a:lnTo>
                <a:lnTo>
                  <a:pt x="3181549" y="2127487"/>
                </a:lnTo>
                <a:lnTo>
                  <a:pt x="3135787" y="2197171"/>
                </a:lnTo>
                <a:lnTo>
                  <a:pt x="3092232" y="2260660"/>
                </a:lnTo>
                <a:lnTo>
                  <a:pt x="3018383" y="2347591"/>
                </a:lnTo>
                <a:lnTo>
                  <a:pt x="2986354" y="2372311"/>
                </a:lnTo>
                <a:lnTo>
                  <a:pt x="2965008" y="2383367"/>
                </a:lnTo>
                <a:lnTo>
                  <a:pt x="2907659" y="2433421"/>
                </a:lnTo>
                <a:lnTo>
                  <a:pt x="2826912" y="2514529"/>
                </a:lnTo>
                <a:lnTo>
                  <a:pt x="2765068" y="2586933"/>
                </a:lnTo>
                <a:lnTo>
                  <a:pt x="2674085" y="2668627"/>
                </a:lnTo>
                <a:lnTo>
                  <a:pt x="2622038" y="2704139"/>
                </a:lnTo>
                <a:lnTo>
                  <a:pt x="2543709" y="2774920"/>
                </a:lnTo>
                <a:lnTo>
                  <a:pt x="2522195" y="2785163"/>
                </a:lnTo>
                <a:lnTo>
                  <a:pt x="2434882" y="2850899"/>
                </a:lnTo>
                <a:lnTo>
                  <a:pt x="2372565" y="2890785"/>
                </a:lnTo>
                <a:lnTo>
                  <a:pt x="2272369" y="2936803"/>
                </a:lnTo>
                <a:lnTo>
                  <a:pt x="2232763" y="2949613"/>
                </a:lnTo>
                <a:lnTo>
                  <a:pt x="2138751" y="2936283"/>
                </a:lnTo>
                <a:lnTo>
                  <a:pt x="2099377" y="2942567"/>
                </a:lnTo>
                <a:lnTo>
                  <a:pt x="2066366" y="2971124"/>
                </a:lnTo>
                <a:lnTo>
                  <a:pt x="2063070" y="3012406"/>
                </a:lnTo>
                <a:lnTo>
                  <a:pt x="2049388" y="3018526"/>
                </a:lnTo>
                <a:lnTo>
                  <a:pt x="2028712" y="3016583"/>
                </a:lnTo>
                <a:lnTo>
                  <a:pt x="1963138" y="2999169"/>
                </a:lnTo>
                <a:lnTo>
                  <a:pt x="1927528" y="3002438"/>
                </a:lnTo>
                <a:lnTo>
                  <a:pt x="1906765" y="3024469"/>
                </a:lnTo>
                <a:lnTo>
                  <a:pt x="1890088" y="3052403"/>
                </a:lnTo>
                <a:lnTo>
                  <a:pt x="1840757" y="3053951"/>
                </a:lnTo>
                <a:lnTo>
                  <a:pt x="1752685" y="3025533"/>
                </a:lnTo>
                <a:lnTo>
                  <a:pt x="1649019" y="3008915"/>
                </a:lnTo>
                <a:lnTo>
                  <a:pt x="1625028" y="3007252"/>
                </a:lnTo>
                <a:lnTo>
                  <a:pt x="1575181" y="3029348"/>
                </a:lnTo>
                <a:lnTo>
                  <a:pt x="1557702" y="3032728"/>
                </a:lnTo>
                <a:lnTo>
                  <a:pt x="1484593" y="3029351"/>
                </a:lnTo>
                <a:lnTo>
                  <a:pt x="1443792" y="3016589"/>
                </a:lnTo>
                <a:lnTo>
                  <a:pt x="1405029" y="3017338"/>
                </a:lnTo>
                <a:lnTo>
                  <a:pt x="1375581" y="3029178"/>
                </a:lnTo>
                <a:lnTo>
                  <a:pt x="1339670" y="3033940"/>
                </a:lnTo>
                <a:lnTo>
                  <a:pt x="1244748" y="3114071"/>
                </a:lnTo>
                <a:lnTo>
                  <a:pt x="1194697" y="3115634"/>
                </a:lnTo>
                <a:lnTo>
                  <a:pt x="1151823" y="3125967"/>
                </a:lnTo>
                <a:lnTo>
                  <a:pt x="1130405" y="3126363"/>
                </a:lnTo>
                <a:lnTo>
                  <a:pt x="1089944" y="3116883"/>
                </a:lnTo>
                <a:lnTo>
                  <a:pt x="1075046" y="3118128"/>
                </a:lnTo>
                <a:lnTo>
                  <a:pt x="1052435" y="3123810"/>
                </a:lnTo>
                <a:lnTo>
                  <a:pt x="1030149" y="3138300"/>
                </a:lnTo>
                <a:lnTo>
                  <a:pt x="978466" y="3146201"/>
                </a:lnTo>
                <a:lnTo>
                  <a:pt x="958790" y="3158634"/>
                </a:lnTo>
                <a:lnTo>
                  <a:pt x="874461" y="3233142"/>
                </a:lnTo>
                <a:lnTo>
                  <a:pt x="854409" y="3231205"/>
                </a:lnTo>
                <a:lnTo>
                  <a:pt x="838078" y="3227314"/>
                </a:lnTo>
                <a:lnTo>
                  <a:pt x="792630" y="3228571"/>
                </a:lnTo>
                <a:lnTo>
                  <a:pt x="739203" y="3193329"/>
                </a:lnTo>
                <a:lnTo>
                  <a:pt x="719614" y="3196707"/>
                </a:lnTo>
                <a:lnTo>
                  <a:pt x="724285" y="3185139"/>
                </a:lnTo>
                <a:lnTo>
                  <a:pt x="724790" y="3165021"/>
                </a:lnTo>
                <a:lnTo>
                  <a:pt x="713141" y="3151417"/>
                </a:lnTo>
                <a:lnTo>
                  <a:pt x="705430" y="3145475"/>
                </a:lnTo>
                <a:lnTo>
                  <a:pt x="685257" y="3147682"/>
                </a:lnTo>
                <a:lnTo>
                  <a:pt x="673538" y="3131169"/>
                </a:lnTo>
                <a:lnTo>
                  <a:pt x="642449" y="3131176"/>
                </a:lnTo>
                <a:lnTo>
                  <a:pt x="631975" y="3136066"/>
                </a:lnTo>
                <a:lnTo>
                  <a:pt x="617143" y="3137743"/>
                </a:lnTo>
                <a:lnTo>
                  <a:pt x="614803" y="3120547"/>
                </a:lnTo>
                <a:lnTo>
                  <a:pt x="615345" y="3109603"/>
                </a:lnTo>
                <a:lnTo>
                  <a:pt x="613453" y="3092933"/>
                </a:lnTo>
                <a:lnTo>
                  <a:pt x="608515" y="3072622"/>
                </a:lnTo>
                <a:lnTo>
                  <a:pt x="596089" y="3066742"/>
                </a:lnTo>
                <a:lnTo>
                  <a:pt x="586685" y="3064505"/>
                </a:lnTo>
                <a:lnTo>
                  <a:pt x="564760" y="3067129"/>
                </a:lnTo>
                <a:lnTo>
                  <a:pt x="549739" y="3070181"/>
                </a:lnTo>
                <a:lnTo>
                  <a:pt x="542986" y="3076550"/>
                </a:lnTo>
                <a:lnTo>
                  <a:pt x="535782" y="3092038"/>
                </a:lnTo>
                <a:lnTo>
                  <a:pt x="538518" y="3137733"/>
                </a:lnTo>
                <a:lnTo>
                  <a:pt x="526832" y="3125261"/>
                </a:lnTo>
                <a:lnTo>
                  <a:pt x="512741" y="3098608"/>
                </a:lnTo>
                <a:lnTo>
                  <a:pt x="506935" y="3069645"/>
                </a:lnTo>
                <a:lnTo>
                  <a:pt x="509228" y="3034847"/>
                </a:lnTo>
                <a:lnTo>
                  <a:pt x="531976" y="3020383"/>
                </a:lnTo>
                <a:lnTo>
                  <a:pt x="528707" y="2997154"/>
                </a:lnTo>
                <a:lnTo>
                  <a:pt x="522458" y="2977202"/>
                </a:lnTo>
                <a:lnTo>
                  <a:pt x="492840" y="2926898"/>
                </a:lnTo>
                <a:lnTo>
                  <a:pt x="481028" y="2903795"/>
                </a:lnTo>
                <a:lnTo>
                  <a:pt x="457545" y="2889055"/>
                </a:lnTo>
                <a:lnTo>
                  <a:pt x="437580" y="2851396"/>
                </a:lnTo>
                <a:lnTo>
                  <a:pt x="419021" y="2838418"/>
                </a:lnTo>
                <a:lnTo>
                  <a:pt x="409914" y="2811788"/>
                </a:lnTo>
                <a:lnTo>
                  <a:pt x="391251" y="2791162"/>
                </a:lnTo>
                <a:lnTo>
                  <a:pt x="383149" y="2757257"/>
                </a:lnTo>
                <a:lnTo>
                  <a:pt x="391392" y="2736997"/>
                </a:lnTo>
                <a:lnTo>
                  <a:pt x="405777" y="2725361"/>
                </a:lnTo>
                <a:lnTo>
                  <a:pt x="422247" y="2741424"/>
                </a:lnTo>
                <a:lnTo>
                  <a:pt x="440903" y="2733636"/>
                </a:lnTo>
                <a:lnTo>
                  <a:pt x="466517" y="2707240"/>
                </a:lnTo>
                <a:lnTo>
                  <a:pt x="480283" y="2668683"/>
                </a:lnTo>
                <a:lnTo>
                  <a:pt x="477610" y="2608438"/>
                </a:lnTo>
                <a:lnTo>
                  <a:pt x="471173" y="2571082"/>
                </a:lnTo>
                <a:lnTo>
                  <a:pt x="443515" y="2475208"/>
                </a:lnTo>
                <a:lnTo>
                  <a:pt x="431858" y="2453493"/>
                </a:lnTo>
                <a:lnTo>
                  <a:pt x="378341" y="2386908"/>
                </a:lnTo>
                <a:lnTo>
                  <a:pt x="315146" y="2297348"/>
                </a:lnTo>
                <a:lnTo>
                  <a:pt x="232726" y="2155215"/>
                </a:lnTo>
                <a:lnTo>
                  <a:pt x="191840" y="2069318"/>
                </a:lnTo>
                <a:lnTo>
                  <a:pt x="126553" y="1894872"/>
                </a:lnTo>
                <a:lnTo>
                  <a:pt x="72533" y="1797388"/>
                </a:lnTo>
                <a:lnTo>
                  <a:pt x="7894" y="1707460"/>
                </a:lnTo>
                <a:lnTo>
                  <a:pt x="0" y="1701881"/>
                </a:lnTo>
                <a:lnTo>
                  <a:pt x="8068" y="1689808"/>
                </a:lnTo>
                <a:lnTo>
                  <a:pt x="37797" y="1665865"/>
                </a:lnTo>
                <a:lnTo>
                  <a:pt x="51623" y="1658998"/>
                </a:lnTo>
                <a:lnTo>
                  <a:pt x="59368" y="1661166"/>
                </a:lnTo>
                <a:lnTo>
                  <a:pt x="66317" y="1654687"/>
                </a:lnTo>
                <a:lnTo>
                  <a:pt x="72454" y="1639513"/>
                </a:lnTo>
                <a:lnTo>
                  <a:pt x="73095" y="1625624"/>
                </a:lnTo>
                <a:lnTo>
                  <a:pt x="75287" y="1605884"/>
                </a:lnTo>
                <a:lnTo>
                  <a:pt x="81499" y="1593745"/>
                </a:lnTo>
                <a:lnTo>
                  <a:pt x="87619" y="1569953"/>
                </a:lnTo>
                <a:lnTo>
                  <a:pt x="99719" y="1554159"/>
                </a:lnTo>
                <a:lnTo>
                  <a:pt x="126845" y="1542432"/>
                </a:lnTo>
                <a:lnTo>
                  <a:pt x="148749" y="1554118"/>
                </a:lnTo>
                <a:lnTo>
                  <a:pt x="158405" y="1566394"/>
                </a:lnTo>
                <a:lnTo>
                  <a:pt x="163138" y="1583107"/>
                </a:lnTo>
                <a:lnTo>
                  <a:pt x="172965" y="1590687"/>
                </a:lnTo>
                <a:lnTo>
                  <a:pt x="187867" y="1589144"/>
                </a:lnTo>
                <a:lnTo>
                  <a:pt x="199062" y="1598901"/>
                </a:lnTo>
                <a:lnTo>
                  <a:pt x="206519" y="1619930"/>
                </a:lnTo>
                <a:lnTo>
                  <a:pt x="206273" y="1635537"/>
                </a:lnTo>
                <a:lnTo>
                  <a:pt x="198397" y="1645719"/>
                </a:lnTo>
                <a:lnTo>
                  <a:pt x="200393" y="1658300"/>
                </a:lnTo>
                <a:lnTo>
                  <a:pt x="212207" y="1673334"/>
                </a:lnTo>
                <a:lnTo>
                  <a:pt x="217614" y="1687978"/>
                </a:lnTo>
                <a:lnTo>
                  <a:pt x="226106" y="1707214"/>
                </a:lnTo>
                <a:lnTo>
                  <a:pt x="264754" y="1716310"/>
                </a:lnTo>
                <a:lnTo>
                  <a:pt x="283685" y="1721628"/>
                </a:lnTo>
                <a:lnTo>
                  <a:pt x="315771" y="1721877"/>
                </a:lnTo>
                <a:lnTo>
                  <a:pt x="346491" y="1728859"/>
                </a:lnTo>
                <a:lnTo>
                  <a:pt x="375827" y="1742620"/>
                </a:lnTo>
                <a:lnTo>
                  <a:pt x="422745" y="1743662"/>
                </a:lnTo>
                <a:lnTo>
                  <a:pt x="487310" y="1732159"/>
                </a:lnTo>
                <a:lnTo>
                  <a:pt x="541028" y="1732870"/>
                </a:lnTo>
                <a:lnTo>
                  <a:pt x="583850" y="1745749"/>
                </a:lnTo>
                <a:lnTo>
                  <a:pt x="614437" y="1747004"/>
                </a:lnTo>
                <a:lnTo>
                  <a:pt x="632851" y="1736593"/>
                </a:lnTo>
                <a:lnTo>
                  <a:pt x="640370" y="1722463"/>
                </a:lnTo>
                <a:lnTo>
                  <a:pt x="636981" y="1704632"/>
                </a:lnTo>
                <a:lnTo>
                  <a:pt x="645814" y="1692820"/>
                </a:lnTo>
                <a:lnTo>
                  <a:pt x="666852" y="1686991"/>
                </a:lnTo>
                <a:lnTo>
                  <a:pt x="683256" y="1672686"/>
                </a:lnTo>
                <a:lnTo>
                  <a:pt x="695056" y="1649846"/>
                </a:lnTo>
                <a:lnTo>
                  <a:pt x="723913" y="1630422"/>
                </a:lnTo>
                <a:lnTo>
                  <a:pt x="769850" y="1614446"/>
                </a:lnTo>
                <a:lnTo>
                  <a:pt x="793029" y="1613935"/>
                </a:lnTo>
                <a:lnTo>
                  <a:pt x="791523" y="1577904"/>
                </a:lnTo>
                <a:lnTo>
                  <a:pt x="786804" y="1464172"/>
                </a:lnTo>
                <a:lnTo>
                  <a:pt x="782135" y="1350449"/>
                </a:lnTo>
                <a:lnTo>
                  <a:pt x="777519" y="1236763"/>
                </a:lnTo>
                <a:lnTo>
                  <a:pt x="772953" y="1123063"/>
                </a:lnTo>
                <a:lnTo>
                  <a:pt x="768438" y="1009378"/>
                </a:lnTo>
                <a:lnTo>
                  <a:pt x="763976" y="895733"/>
                </a:lnTo>
                <a:lnTo>
                  <a:pt x="759564" y="782080"/>
                </a:lnTo>
                <a:lnTo>
                  <a:pt x="755446" y="674783"/>
                </a:lnTo>
                <a:lnTo>
                  <a:pt x="766963" y="682059"/>
                </a:lnTo>
                <a:lnTo>
                  <a:pt x="842788" y="736091"/>
                </a:lnTo>
                <a:lnTo>
                  <a:pt x="863721" y="765280"/>
                </a:lnTo>
                <a:lnTo>
                  <a:pt x="874257" y="783874"/>
                </a:lnTo>
                <a:lnTo>
                  <a:pt x="908224" y="851684"/>
                </a:lnTo>
                <a:lnTo>
                  <a:pt x="933808" y="912681"/>
                </a:lnTo>
                <a:lnTo>
                  <a:pt x="954409" y="958632"/>
                </a:lnTo>
                <a:lnTo>
                  <a:pt x="956555" y="979895"/>
                </a:lnTo>
                <a:lnTo>
                  <a:pt x="959923" y="1000641"/>
                </a:lnTo>
                <a:lnTo>
                  <a:pt x="962940" y="1010781"/>
                </a:lnTo>
                <a:lnTo>
                  <a:pt x="961557" y="1022172"/>
                </a:lnTo>
                <a:lnTo>
                  <a:pt x="949036" y="1047994"/>
                </a:lnTo>
                <a:lnTo>
                  <a:pt x="936068" y="1067893"/>
                </a:lnTo>
                <a:lnTo>
                  <a:pt x="920626" y="1094985"/>
                </a:lnTo>
                <a:lnTo>
                  <a:pt x="920274" y="1130061"/>
                </a:lnTo>
                <a:lnTo>
                  <a:pt x="926642" y="1171119"/>
                </a:lnTo>
                <a:lnTo>
                  <a:pt x="937361" y="1191279"/>
                </a:lnTo>
                <a:lnTo>
                  <a:pt x="950146" y="1197572"/>
                </a:lnTo>
                <a:lnTo>
                  <a:pt x="979833" y="1186294"/>
                </a:lnTo>
                <a:lnTo>
                  <a:pt x="998961" y="1188796"/>
                </a:lnTo>
                <a:lnTo>
                  <a:pt x="1026043" y="1195747"/>
                </a:lnTo>
                <a:lnTo>
                  <a:pt x="1113898" y="1188181"/>
                </a:lnTo>
                <a:lnTo>
                  <a:pt x="1124602" y="1190392"/>
                </a:lnTo>
                <a:lnTo>
                  <a:pt x="1157898" y="1192395"/>
                </a:lnTo>
                <a:lnTo>
                  <a:pt x="1168910" y="1188694"/>
                </a:lnTo>
                <a:lnTo>
                  <a:pt x="1178621" y="1179711"/>
                </a:lnTo>
                <a:lnTo>
                  <a:pt x="1189495" y="1154665"/>
                </a:lnTo>
                <a:lnTo>
                  <a:pt x="1199600" y="1146280"/>
                </a:lnTo>
                <a:lnTo>
                  <a:pt x="1218172" y="1141604"/>
                </a:lnTo>
                <a:lnTo>
                  <a:pt x="1240145" y="1134383"/>
                </a:lnTo>
                <a:lnTo>
                  <a:pt x="1258184" y="1119707"/>
                </a:lnTo>
                <a:lnTo>
                  <a:pt x="1286209" y="1070124"/>
                </a:lnTo>
                <a:lnTo>
                  <a:pt x="1343655" y="1025442"/>
                </a:lnTo>
                <a:lnTo>
                  <a:pt x="1361377" y="1014692"/>
                </a:lnTo>
                <a:lnTo>
                  <a:pt x="1372462" y="1002785"/>
                </a:lnTo>
                <a:lnTo>
                  <a:pt x="1381995" y="986869"/>
                </a:lnTo>
                <a:lnTo>
                  <a:pt x="1401516" y="931823"/>
                </a:lnTo>
                <a:lnTo>
                  <a:pt x="1416250" y="885995"/>
                </a:lnTo>
                <a:lnTo>
                  <a:pt x="1421180" y="864439"/>
                </a:lnTo>
                <a:lnTo>
                  <a:pt x="1434482" y="829136"/>
                </a:lnTo>
                <a:lnTo>
                  <a:pt x="1450946" y="806467"/>
                </a:lnTo>
                <a:lnTo>
                  <a:pt x="1467211" y="794394"/>
                </a:lnTo>
                <a:lnTo>
                  <a:pt x="1475403" y="791243"/>
                </a:lnTo>
                <a:lnTo>
                  <a:pt x="1496514" y="784876"/>
                </a:lnTo>
                <a:lnTo>
                  <a:pt x="1523703" y="778838"/>
                </a:lnTo>
                <a:lnTo>
                  <a:pt x="1552435" y="784784"/>
                </a:lnTo>
                <a:lnTo>
                  <a:pt x="1583327" y="797944"/>
                </a:lnTo>
                <a:lnTo>
                  <a:pt x="1618235" y="820427"/>
                </a:lnTo>
                <a:lnTo>
                  <a:pt x="1653956" y="848335"/>
                </a:lnTo>
                <a:lnTo>
                  <a:pt x="1670390" y="862556"/>
                </a:lnTo>
                <a:lnTo>
                  <a:pt x="1688012" y="868840"/>
                </a:lnTo>
                <a:lnTo>
                  <a:pt x="1719314" y="870839"/>
                </a:lnTo>
                <a:lnTo>
                  <a:pt x="1739821" y="870197"/>
                </a:lnTo>
                <a:lnTo>
                  <a:pt x="1771863" y="898103"/>
                </a:lnTo>
                <a:lnTo>
                  <a:pt x="1787997" y="899791"/>
                </a:lnTo>
                <a:lnTo>
                  <a:pt x="1824076" y="908146"/>
                </a:lnTo>
                <a:lnTo>
                  <a:pt x="1868611" y="916778"/>
                </a:lnTo>
                <a:lnTo>
                  <a:pt x="1896637" y="915736"/>
                </a:lnTo>
                <a:lnTo>
                  <a:pt x="1926654" y="900522"/>
                </a:lnTo>
                <a:lnTo>
                  <a:pt x="1948319" y="899881"/>
                </a:lnTo>
                <a:lnTo>
                  <a:pt x="1976315" y="901139"/>
                </a:lnTo>
                <a:lnTo>
                  <a:pt x="2007082" y="897042"/>
                </a:lnTo>
                <a:lnTo>
                  <a:pt x="2029677" y="890602"/>
                </a:lnTo>
                <a:lnTo>
                  <a:pt x="2046991" y="877469"/>
                </a:lnTo>
                <a:lnTo>
                  <a:pt x="2062266" y="863089"/>
                </a:lnTo>
                <a:lnTo>
                  <a:pt x="2079966" y="820159"/>
                </a:lnTo>
                <a:lnTo>
                  <a:pt x="2090244" y="785583"/>
                </a:lnTo>
                <a:lnTo>
                  <a:pt x="2106122" y="745856"/>
                </a:lnTo>
                <a:lnTo>
                  <a:pt x="2125682" y="692021"/>
                </a:lnTo>
                <a:lnTo>
                  <a:pt x="2132789" y="654450"/>
                </a:lnTo>
                <a:lnTo>
                  <a:pt x="2139928" y="644149"/>
                </a:lnTo>
                <a:lnTo>
                  <a:pt x="2167980" y="632871"/>
                </a:lnTo>
                <a:lnTo>
                  <a:pt x="2191182" y="625167"/>
                </a:lnTo>
                <a:lnTo>
                  <a:pt x="2253570" y="611015"/>
                </a:lnTo>
                <a:lnTo>
                  <a:pt x="2266419" y="603281"/>
                </a:lnTo>
                <a:lnTo>
                  <a:pt x="2278267" y="585686"/>
                </a:lnTo>
                <a:lnTo>
                  <a:pt x="2305824" y="555951"/>
                </a:lnTo>
                <a:lnTo>
                  <a:pt x="2339731" y="531296"/>
                </a:lnTo>
                <a:lnTo>
                  <a:pt x="2357256" y="517158"/>
                </a:lnTo>
                <a:lnTo>
                  <a:pt x="2390827" y="395759"/>
                </a:lnTo>
                <a:lnTo>
                  <a:pt x="2394910" y="380786"/>
                </a:lnTo>
                <a:lnTo>
                  <a:pt x="2418612" y="348831"/>
                </a:lnTo>
                <a:lnTo>
                  <a:pt x="2433169" y="335413"/>
                </a:lnTo>
                <a:lnTo>
                  <a:pt x="2442408" y="335325"/>
                </a:lnTo>
                <a:lnTo>
                  <a:pt x="2455675" y="327033"/>
                </a:lnTo>
                <a:lnTo>
                  <a:pt x="2472984" y="310543"/>
                </a:lnTo>
                <a:lnTo>
                  <a:pt x="2493424" y="300557"/>
                </a:lnTo>
                <a:lnTo>
                  <a:pt x="2516987" y="297131"/>
                </a:lnTo>
                <a:lnTo>
                  <a:pt x="2532413" y="286273"/>
                </a:lnTo>
                <a:lnTo>
                  <a:pt x="2539727" y="268046"/>
                </a:lnTo>
                <a:lnTo>
                  <a:pt x="2551991" y="259377"/>
                </a:lnTo>
                <a:lnTo>
                  <a:pt x="2569223" y="260247"/>
                </a:lnTo>
                <a:lnTo>
                  <a:pt x="2579150" y="254630"/>
                </a:lnTo>
                <a:lnTo>
                  <a:pt x="2581820" y="242470"/>
                </a:lnTo>
                <a:lnTo>
                  <a:pt x="2592449" y="232260"/>
                </a:lnTo>
                <a:lnTo>
                  <a:pt x="2611066" y="223983"/>
                </a:lnTo>
                <a:lnTo>
                  <a:pt x="2620944" y="213915"/>
                </a:lnTo>
                <a:lnTo>
                  <a:pt x="2622075" y="202047"/>
                </a:lnTo>
                <a:lnTo>
                  <a:pt x="2644697" y="173663"/>
                </a:lnTo>
                <a:lnTo>
                  <a:pt x="2688940" y="128789"/>
                </a:lnTo>
                <a:lnTo>
                  <a:pt x="2730274" y="104272"/>
                </a:lnTo>
                <a:lnTo>
                  <a:pt x="2768667" y="100124"/>
                </a:lnTo>
                <a:lnTo>
                  <a:pt x="2805166" y="91605"/>
                </a:lnTo>
                <a:lnTo>
                  <a:pt x="2839831" y="78709"/>
                </a:lnTo>
                <a:lnTo>
                  <a:pt x="2865623" y="57616"/>
                </a:lnTo>
                <a:lnTo>
                  <a:pt x="2882563" y="28355"/>
                </a:lnTo>
                <a:lnTo>
                  <a:pt x="2910749" y="12638"/>
                </a:lnTo>
                <a:lnTo>
                  <a:pt x="2966835" y="9600"/>
                </a:lnTo>
                <a:close/>
              </a:path>
            </a:pathLst>
          </a:custGeom>
          <a:solidFill>
            <a:srgbClr val="F2F1ED"/>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Natural Earth 1:50m boundary: Namibia"/>
          <p:cNvSpPr/>
          <p:nvPr/>
        </p:nvSpPr>
        <p:spPr>
          <a:xfrm>
            <a:off x="1559449" y="2283120"/>
            <a:ext cx="1183416" cy="1789553"/>
          </a:xfrm>
          <a:custGeom>
            <a:avLst/>
            <a:gdLst/>
            <a:ahLst/>
            <a:cxnLst/>
            <a:rect l="l" t="t" r="r" b="b"/>
            <a:pathLst>
              <a:path w="1183416" h="1789553">
                <a:moveTo>
                  <a:pt x="1183416" y="0"/>
                </a:moveTo>
                <a:lnTo>
                  <a:pt x="1183408" y="50"/>
                </a:lnTo>
                <a:lnTo>
                  <a:pt x="1148059" y="1205"/>
                </a:lnTo>
                <a:lnTo>
                  <a:pt x="1068126" y="3970"/>
                </a:lnTo>
                <a:lnTo>
                  <a:pt x="1000871" y="6463"/>
                </a:lnTo>
                <a:lnTo>
                  <a:pt x="946521" y="8588"/>
                </a:lnTo>
                <a:lnTo>
                  <a:pt x="948786" y="70417"/>
                </a:lnTo>
                <a:lnTo>
                  <a:pt x="951473" y="143567"/>
                </a:lnTo>
                <a:lnTo>
                  <a:pt x="954181" y="216704"/>
                </a:lnTo>
                <a:lnTo>
                  <a:pt x="956910" y="289852"/>
                </a:lnTo>
                <a:lnTo>
                  <a:pt x="959683" y="363010"/>
                </a:lnTo>
                <a:lnTo>
                  <a:pt x="962477" y="436179"/>
                </a:lnTo>
                <a:lnTo>
                  <a:pt x="965269" y="509359"/>
                </a:lnTo>
                <a:lnTo>
                  <a:pt x="968082" y="582549"/>
                </a:lnTo>
                <a:lnTo>
                  <a:pt x="970918" y="655773"/>
                </a:lnTo>
                <a:lnTo>
                  <a:pt x="973087" y="710996"/>
                </a:lnTo>
                <a:lnTo>
                  <a:pt x="973329" y="717332"/>
                </a:lnTo>
                <a:lnTo>
                  <a:pt x="977447" y="824629"/>
                </a:lnTo>
                <a:lnTo>
                  <a:pt x="981859" y="938282"/>
                </a:lnTo>
                <a:lnTo>
                  <a:pt x="986321" y="1051927"/>
                </a:lnTo>
                <a:lnTo>
                  <a:pt x="990836" y="1165612"/>
                </a:lnTo>
                <a:lnTo>
                  <a:pt x="995402" y="1279312"/>
                </a:lnTo>
                <a:lnTo>
                  <a:pt x="1000018" y="1392998"/>
                </a:lnTo>
                <a:lnTo>
                  <a:pt x="1004687" y="1506721"/>
                </a:lnTo>
                <a:lnTo>
                  <a:pt x="1009406" y="1620453"/>
                </a:lnTo>
                <a:lnTo>
                  <a:pt x="1010912" y="1656484"/>
                </a:lnTo>
                <a:lnTo>
                  <a:pt x="987733" y="1656995"/>
                </a:lnTo>
                <a:lnTo>
                  <a:pt x="941796" y="1672971"/>
                </a:lnTo>
                <a:lnTo>
                  <a:pt x="912939" y="1692395"/>
                </a:lnTo>
                <a:lnTo>
                  <a:pt x="901139" y="1715235"/>
                </a:lnTo>
                <a:lnTo>
                  <a:pt x="884735" y="1729540"/>
                </a:lnTo>
                <a:lnTo>
                  <a:pt x="863697" y="1735369"/>
                </a:lnTo>
                <a:lnTo>
                  <a:pt x="854864" y="1747181"/>
                </a:lnTo>
                <a:lnTo>
                  <a:pt x="858253" y="1765012"/>
                </a:lnTo>
                <a:lnTo>
                  <a:pt x="850734" y="1779142"/>
                </a:lnTo>
                <a:lnTo>
                  <a:pt x="832320" y="1789553"/>
                </a:lnTo>
                <a:lnTo>
                  <a:pt x="801733" y="1788298"/>
                </a:lnTo>
                <a:lnTo>
                  <a:pt x="758911" y="1775419"/>
                </a:lnTo>
                <a:lnTo>
                  <a:pt x="705193" y="1774708"/>
                </a:lnTo>
                <a:lnTo>
                  <a:pt x="640628" y="1786211"/>
                </a:lnTo>
                <a:lnTo>
                  <a:pt x="593710" y="1785169"/>
                </a:lnTo>
                <a:lnTo>
                  <a:pt x="564374" y="1771408"/>
                </a:lnTo>
                <a:lnTo>
                  <a:pt x="533654" y="1764426"/>
                </a:lnTo>
                <a:lnTo>
                  <a:pt x="501568" y="1764177"/>
                </a:lnTo>
                <a:lnTo>
                  <a:pt x="482637" y="1758859"/>
                </a:lnTo>
                <a:lnTo>
                  <a:pt x="443989" y="1749763"/>
                </a:lnTo>
                <a:lnTo>
                  <a:pt x="435497" y="1730527"/>
                </a:lnTo>
                <a:lnTo>
                  <a:pt x="430090" y="1715883"/>
                </a:lnTo>
                <a:lnTo>
                  <a:pt x="418276" y="1700849"/>
                </a:lnTo>
                <a:lnTo>
                  <a:pt x="416280" y="1688268"/>
                </a:lnTo>
                <a:lnTo>
                  <a:pt x="424156" y="1678086"/>
                </a:lnTo>
                <a:lnTo>
                  <a:pt x="424402" y="1662479"/>
                </a:lnTo>
                <a:lnTo>
                  <a:pt x="416945" y="1641450"/>
                </a:lnTo>
                <a:lnTo>
                  <a:pt x="405750" y="1631693"/>
                </a:lnTo>
                <a:lnTo>
                  <a:pt x="390848" y="1633236"/>
                </a:lnTo>
                <a:lnTo>
                  <a:pt x="381021" y="1625656"/>
                </a:lnTo>
                <a:lnTo>
                  <a:pt x="376288" y="1608943"/>
                </a:lnTo>
                <a:lnTo>
                  <a:pt x="366632" y="1596667"/>
                </a:lnTo>
                <a:lnTo>
                  <a:pt x="344728" y="1584981"/>
                </a:lnTo>
                <a:lnTo>
                  <a:pt x="317602" y="1596708"/>
                </a:lnTo>
                <a:lnTo>
                  <a:pt x="305502" y="1612502"/>
                </a:lnTo>
                <a:lnTo>
                  <a:pt x="299382" y="1636294"/>
                </a:lnTo>
                <a:lnTo>
                  <a:pt x="293170" y="1648433"/>
                </a:lnTo>
                <a:lnTo>
                  <a:pt x="290978" y="1668173"/>
                </a:lnTo>
                <a:lnTo>
                  <a:pt x="290337" y="1682062"/>
                </a:lnTo>
                <a:lnTo>
                  <a:pt x="284200" y="1697236"/>
                </a:lnTo>
                <a:lnTo>
                  <a:pt x="277251" y="1703715"/>
                </a:lnTo>
                <a:lnTo>
                  <a:pt x="269506" y="1701547"/>
                </a:lnTo>
                <a:lnTo>
                  <a:pt x="255680" y="1708414"/>
                </a:lnTo>
                <a:lnTo>
                  <a:pt x="225951" y="1732357"/>
                </a:lnTo>
                <a:lnTo>
                  <a:pt x="217883" y="1744430"/>
                </a:lnTo>
                <a:lnTo>
                  <a:pt x="191115" y="1725546"/>
                </a:lnTo>
                <a:lnTo>
                  <a:pt x="111591" y="1653127"/>
                </a:lnTo>
                <a:lnTo>
                  <a:pt x="109892" y="1652007"/>
                </a:lnTo>
                <a:lnTo>
                  <a:pt x="0" y="61502"/>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Natural Earth 1:50m boundary: Mozambique"/>
          <p:cNvSpPr/>
          <p:nvPr/>
        </p:nvSpPr>
        <p:spPr>
          <a:xfrm>
            <a:off x="5199356" y="2310601"/>
            <a:ext cx="602150" cy="1254576"/>
          </a:xfrm>
          <a:custGeom>
            <a:avLst/>
            <a:gdLst/>
            <a:ahLst/>
            <a:cxnLst/>
            <a:rect l="l" t="t" r="r" b="b"/>
            <a:pathLst>
              <a:path w="602150" h="1254576">
                <a:moveTo>
                  <a:pt x="0" y="97216"/>
                </a:moveTo>
                <a:lnTo>
                  <a:pt x="34820" y="72590"/>
                </a:lnTo>
                <a:lnTo>
                  <a:pt x="70279" y="37270"/>
                </a:lnTo>
                <a:lnTo>
                  <a:pt x="107805" y="0"/>
                </a:lnTo>
                <a:lnTo>
                  <a:pt x="602150" y="30639"/>
                </a:lnTo>
                <a:lnTo>
                  <a:pt x="551179" y="817534"/>
                </a:lnTo>
                <a:lnTo>
                  <a:pt x="486819" y="840334"/>
                </a:lnTo>
                <a:lnTo>
                  <a:pt x="443328" y="855816"/>
                </a:lnTo>
                <a:lnTo>
                  <a:pt x="350248" y="908459"/>
                </a:lnTo>
                <a:lnTo>
                  <a:pt x="308806" y="945252"/>
                </a:lnTo>
                <a:lnTo>
                  <a:pt x="290010" y="989339"/>
                </a:lnTo>
                <a:lnTo>
                  <a:pt x="273391" y="1009025"/>
                </a:lnTo>
                <a:lnTo>
                  <a:pt x="256757" y="1034229"/>
                </a:lnTo>
                <a:lnTo>
                  <a:pt x="268537" y="1057514"/>
                </a:lnTo>
                <a:lnTo>
                  <a:pt x="280401" y="1075326"/>
                </a:lnTo>
                <a:lnTo>
                  <a:pt x="294903" y="1087677"/>
                </a:lnTo>
                <a:lnTo>
                  <a:pt x="302176" y="1097992"/>
                </a:lnTo>
                <a:lnTo>
                  <a:pt x="312073" y="1105473"/>
                </a:lnTo>
                <a:lnTo>
                  <a:pt x="324657" y="1070837"/>
                </a:lnTo>
                <a:lnTo>
                  <a:pt x="330483" y="1060193"/>
                </a:lnTo>
                <a:lnTo>
                  <a:pt x="339386" y="1059925"/>
                </a:lnTo>
                <a:lnTo>
                  <a:pt x="331791" y="1102726"/>
                </a:lnTo>
                <a:lnTo>
                  <a:pt x="312305" y="1249805"/>
                </a:lnTo>
                <a:lnTo>
                  <a:pt x="311309" y="1254576"/>
                </a:lnTo>
                <a:lnTo>
                  <a:pt x="286248" y="1253371"/>
                </a:lnTo>
                <a:lnTo>
                  <a:pt x="243262" y="1251855"/>
                </a:lnTo>
                <a:lnTo>
                  <a:pt x="217845" y="1250965"/>
                </a:lnTo>
                <a:lnTo>
                  <a:pt x="189408" y="1250014"/>
                </a:lnTo>
                <a:lnTo>
                  <a:pt x="154644" y="1240700"/>
                </a:lnTo>
                <a:lnTo>
                  <a:pt x="134728" y="1241044"/>
                </a:lnTo>
                <a:lnTo>
                  <a:pt x="137777" y="1159309"/>
                </a:lnTo>
                <a:lnTo>
                  <a:pt x="132360" y="1140987"/>
                </a:lnTo>
                <a:lnTo>
                  <a:pt x="127037" y="1114360"/>
                </a:lnTo>
                <a:lnTo>
                  <a:pt x="126383" y="1097421"/>
                </a:lnTo>
                <a:lnTo>
                  <a:pt x="131591" y="1080749"/>
                </a:lnTo>
                <a:lnTo>
                  <a:pt x="135128" y="1054066"/>
                </a:lnTo>
                <a:lnTo>
                  <a:pt x="134520" y="1030497"/>
                </a:lnTo>
                <a:lnTo>
                  <a:pt x="113953" y="1017491"/>
                </a:lnTo>
                <a:lnTo>
                  <a:pt x="109498" y="1013481"/>
                </a:lnTo>
                <a:lnTo>
                  <a:pt x="105909" y="994752"/>
                </a:lnTo>
                <a:lnTo>
                  <a:pt x="105603" y="966175"/>
                </a:lnTo>
                <a:lnTo>
                  <a:pt x="122411" y="930743"/>
                </a:lnTo>
                <a:lnTo>
                  <a:pt x="124981" y="861061"/>
                </a:lnTo>
                <a:lnTo>
                  <a:pt x="128067" y="836637"/>
                </a:lnTo>
                <a:lnTo>
                  <a:pt x="130374" y="788170"/>
                </a:lnTo>
                <a:lnTo>
                  <a:pt x="133190" y="729453"/>
                </a:lnTo>
                <a:lnTo>
                  <a:pt x="135706" y="676880"/>
                </a:lnTo>
                <a:lnTo>
                  <a:pt x="138717" y="631545"/>
                </a:lnTo>
                <a:lnTo>
                  <a:pt x="135355" y="609790"/>
                </a:lnTo>
                <a:lnTo>
                  <a:pt x="132231" y="597781"/>
                </a:lnTo>
                <a:lnTo>
                  <a:pt x="123527" y="573203"/>
                </a:lnTo>
                <a:lnTo>
                  <a:pt x="114469" y="522502"/>
                </a:lnTo>
                <a:lnTo>
                  <a:pt x="102634" y="483936"/>
                </a:lnTo>
                <a:lnTo>
                  <a:pt x="86150" y="458029"/>
                </a:lnTo>
                <a:lnTo>
                  <a:pt x="81162" y="444582"/>
                </a:lnTo>
                <a:lnTo>
                  <a:pt x="76296" y="426694"/>
                </a:lnTo>
                <a:lnTo>
                  <a:pt x="61007" y="394825"/>
                </a:lnTo>
                <a:lnTo>
                  <a:pt x="48115" y="376069"/>
                </a:lnTo>
                <a:lnTo>
                  <a:pt x="45060" y="361436"/>
                </a:lnTo>
                <a:lnTo>
                  <a:pt x="47328" y="324117"/>
                </a:lnTo>
                <a:lnTo>
                  <a:pt x="35153" y="256236"/>
                </a:lnTo>
                <a:lnTo>
                  <a:pt x="26234" y="206755"/>
                </a:lnTo>
                <a:lnTo>
                  <a:pt x="11785" y="152933"/>
                </a:lnTo>
                <a:lnTo>
                  <a:pt x="2043" y="116898"/>
                </a:lnTo>
                <a:lnTo>
                  <a:pt x="649" y="110709"/>
                </a:lnTo>
                <a:lnTo>
                  <a:pt x="0" y="97216"/>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Natural Earth 1:50m boundary: Lesotho"/>
          <p:cNvSpPr/>
          <p:nvPr/>
        </p:nvSpPr>
        <p:spPr>
          <a:xfrm>
            <a:off x="4162536" y="3961551"/>
            <a:ext cx="525916" cy="523154"/>
          </a:xfrm>
          <a:custGeom>
            <a:avLst/>
            <a:gdLst/>
            <a:ahLst/>
            <a:cxnLst/>
            <a:rect l="l" t="t" r="r" b="b"/>
            <a:pathLst>
              <a:path w="525916" h="523154">
                <a:moveTo>
                  <a:pt x="372627" y="389545"/>
                </a:moveTo>
                <a:lnTo>
                  <a:pt x="352419" y="395211"/>
                </a:lnTo>
                <a:lnTo>
                  <a:pt x="349625" y="395675"/>
                </a:lnTo>
                <a:lnTo>
                  <a:pt x="336847" y="393833"/>
                </a:lnTo>
                <a:lnTo>
                  <a:pt x="319681" y="394817"/>
                </a:lnTo>
                <a:lnTo>
                  <a:pt x="306125" y="397891"/>
                </a:lnTo>
                <a:lnTo>
                  <a:pt x="295651" y="398887"/>
                </a:lnTo>
                <a:lnTo>
                  <a:pt x="278098" y="416534"/>
                </a:lnTo>
                <a:lnTo>
                  <a:pt x="245826" y="464634"/>
                </a:lnTo>
                <a:lnTo>
                  <a:pt x="237323" y="474653"/>
                </a:lnTo>
                <a:lnTo>
                  <a:pt x="234503" y="493824"/>
                </a:lnTo>
                <a:lnTo>
                  <a:pt x="226936" y="508845"/>
                </a:lnTo>
                <a:lnTo>
                  <a:pt x="217868" y="520504"/>
                </a:lnTo>
                <a:lnTo>
                  <a:pt x="209241" y="523154"/>
                </a:lnTo>
                <a:lnTo>
                  <a:pt x="183647" y="517784"/>
                </a:lnTo>
                <a:lnTo>
                  <a:pt x="150903" y="510897"/>
                </a:lnTo>
                <a:lnTo>
                  <a:pt x="132109" y="495693"/>
                </a:lnTo>
                <a:lnTo>
                  <a:pt x="115515" y="475904"/>
                </a:lnTo>
                <a:lnTo>
                  <a:pt x="106830" y="461595"/>
                </a:lnTo>
                <a:lnTo>
                  <a:pt x="97584" y="453650"/>
                </a:lnTo>
                <a:lnTo>
                  <a:pt x="94452" y="449235"/>
                </a:lnTo>
                <a:lnTo>
                  <a:pt x="81164" y="442435"/>
                </a:lnTo>
                <a:lnTo>
                  <a:pt x="76166" y="438958"/>
                </a:lnTo>
                <a:lnTo>
                  <a:pt x="71753" y="436469"/>
                </a:lnTo>
                <a:lnTo>
                  <a:pt x="66530" y="426968"/>
                </a:lnTo>
                <a:lnTo>
                  <a:pt x="63510" y="418762"/>
                </a:lnTo>
                <a:lnTo>
                  <a:pt x="65232" y="396083"/>
                </a:lnTo>
                <a:lnTo>
                  <a:pt x="56020" y="382357"/>
                </a:lnTo>
                <a:lnTo>
                  <a:pt x="40249" y="358940"/>
                </a:lnTo>
                <a:lnTo>
                  <a:pt x="30328" y="339814"/>
                </a:lnTo>
                <a:lnTo>
                  <a:pt x="16753" y="313705"/>
                </a:lnTo>
                <a:lnTo>
                  <a:pt x="8530" y="291422"/>
                </a:lnTo>
                <a:lnTo>
                  <a:pt x="0" y="268336"/>
                </a:lnTo>
                <a:lnTo>
                  <a:pt x="1330" y="258516"/>
                </a:lnTo>
                <a:lnTo>
                  <a:pt x="10003" y="251947"/>
                </a:lnTo>
                <a:lnTo>
                  <a:pt x="35295" y="240865"/>
                </a:lnTo>
                <a:lnTo>
                  <a:pt x="54944" y="232319"/>
                </a:lnTo>
                <a:lnTo>
                  <a:pt x="69208" y="216209"/>
                </a:lnTo>
                <a:lnTo>
                  <a:pt x="84942" y="192165"/>
                </a:lnTo>
                <a:lnTo>
                  <a:pt x="92663" y="177657"/>
                </a:lnTo>
                <a:lnTo>
                  <a:pt x="100202" y="171119"/>
                </a:lnTo>
                <a:lnTo>
                  <a:pt x="108523" y="160950"/>
                </a:lnTo>
                <a:lnTo>
                  <a:pt x="123173" y="138329"/>
                </a:lnTo>
                <a:lnTo>
                  <a:pt x="139504" y="113228"/>
                </a:lnTo>
                <a:lnTo>
                  <a:pt x="157005" y="86265"/>
                </a:lnTo>
                <a:lnTo>
                  <a:pt x="178515" y="78848"/>
                </a:lnTo>
                <a:lnTo>
                  <a:pt x="207867" y="70417"/>
                </a:lnTo>
                <a:lnTo>
                  <a:pt x="236499" y="47255"/>
                </a:lnTo>
                <a:lnTo>
                  <a:pt x="270424" y="28013"/>
                </a:lnTo>
                <a:lnTo>
                  <a:pt x="324969" y="7681"/>
                </a:lnTo>
                <a:lnTo>
                  <a:pt x="350282" y="2882"/>
                </a:lnTo>
                <a:lnTo>
                  <a:pt x="359936" y="0"/>
                </a:lnTo>
                <a:lnTo>
                  <a:pt x="365867" y="4306"/>
                </a:lnTo>
                <a:lnTo>
                  <a:pt x="371912" y="17015"/>
                </a:lnTo>
                <a:lnTo>
                  <a:pt x="380742" y="27763"/>
                </a:lnTo>
                <a:lnTo>
                  <a:pt x="401435" y="46642"/>
                </a:lnTo>
                <a:lnTo>
                  <a:pt x="410307" y="51328"/>
                </a:lnTo>
                <a:lnTo>
                  <a:pt x="431349" y="78994"/>
                </a:lnTo>
                <a:lnTo>
                  <a:pt x="454169" y="98265"/>
                </a:lnTo>
                <a:lnTo>
                  <a:pt x="480385" y="120477"/>
                </a:lnTo>
                <a:lnTo>
                  <a:pt x="498354" y="131718"/>
                </a:lnTo>
                <a:lnTo>
                  <a:pt x="507581" y="135002"/>
                </a:lnTo>
                <a:lnTo>
                  <a:pt x="514644" y="154164"/>
                </a:lnTo>
                <a:lnTo>
                  <a:pt x="521963" y="168462"/>
                </a:lnTo>
                <a:lnTo>
                  <a:pt x="525916" y="181738"/>
                </a:lnTo>
                <a:lnTo>
                  <a:pt x="524542" y="194491"/>
                </a:lnTo>
                <a:lnTo>
                  <a:pt x="514901" y="225444"/>
                </a:lnTo>
                <a:lnTo>
                  <a:pt x="501369" y="256934"/>
                </a:lnTo>
                <a:lnTo>
                  <a:pt x="490983" y="269862"/>
                </a:lnTo>
                <a:lnTo>
                  <a:pt x="478604" y="277821"/>
                </a:lnTo>
                <a:lnTo>
                  <a:pt x="466344" y="290016"/>
                </a:lnTo>
                <a:lnTo>
                  <a:pt x="460926" y="315482"/>
                </a:lnTo>
                <a:lnTo>
                  <a:pt x="454530" y="345440"/>
                </a:lnTo>
                <a:lnTo>
                  <a:pt x="438729" y="357322"/>
                </a:lnTo>
                <a:lnTo>
                  <a:pt x="426500" y="365058"/>
                </a:lnTo>
                <a:lnTo>
                  <a:pt x="409654" y="374496"/>
                </a:lnTo>
                <a:lnTo>
                  <a:pt x="372627" y="389545"/>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Natural Earth 1:50m boundary: Botswana"/>
          <p:cNvSpPr/>
          <p:nvPr/>
        </p:nvSpPr>
        <p:spPr>
          <a:xfrm>
            <a:off x="2505970" y="2283120"/>
            <a:ext cx="2238197" cy="1240121"/>
          </a:xfrm>
          <a:custGeom>
            <a:avLst/>
            <a:gdLst/>
            <a:ahLst/>
            <a:cxnLst/>
            <a:rect l="l" t="t" r="r" b="b"/>
            <a:pathLst>
              <a:path w="2238197" h="1240121">
                <a:moveTo>
                  <a:pt x="2160588" y="30"/>
                </a:moveTo>
                <a:lnTo>
                  <a:pt x="2162701" y="4785"/>
                </a:lnTo>
                <a:lnTo>
                  <a:pt x="2169426" y="12433"/>
                </a:lnTo>
                <a:lnTo>
                  <a:pt x="2177718" y="17366"/>
                </a:lnTo>
                <a:lnTo>
                  <a:pt x="2208684" y="21911"/>
                </a:lnTo>
                <a:lnTo>
                  <a:pt x="2226668" y="42498"/>
                </a:lnTo>
                <a:lnTo>
                  <a:pt x="2238197" y="52149"/>
                </a:lnTo>
                <a:lnTo>
                  <a:pt x="2182111" y="55187"/>
                </a:lnTo>
                <a:lnTo>
                  <a:pt x="2153925" y="70904"/>
                </a:lnTo>
                <a:lnTo>
                  <a:pt x="2136985" y="100165"/>
                </a:lnTo>
                <a:lnTo>
                  <a:pt x="2111193" y="121258"/>
                </a:lnTo>
                <a:lnTo>
                  <a:pt x="2076528" y="134154"/>
                </a:lnTo>
                <a:lnTo>
                  <a:pt x="2040029" y="142673"/>
                </a:lnTo>
                <a:lnTo>
                  <a:pt x="2001636" y="146821"/>
                </a:lnTo>
                <a:lnTo>
                  <a:pt x="1960302" y="171338"/>
                </a:lnTo>
                <a:lnTo>
                  <a:pt x="1916059" y="216212"/>
                </a:lnTo>
                <a:lnTo>
                  <a:pt x="1893437" y="244596"/>
                </a:lnTo>
                <a:lnTo>
                  <a:pt x="1892306" y="256464"/>
                </a:lnTo>
                <a:lnTo>
                  <a:pt x="1882428" y="266532"/>
                </a:lnTo>
                <a:lnTo>
                  <a:pt x="1863811" y="274809"/>
                </a:lnTo>
                <a:lnTo>
                  <a:pt x="1853182" y="285019"/>
                </a:lnTo>
                <a:lnTo>
                  <a:pt x="1850512" y="297179"/>
                </a:lnTo>
                <a:lnTo>
                  <a:pt x="1840585" y="302796"/>
                </a:lnTo>
                <a:lnTo>
                  <a:pt x="1823353" y="301926"/>
                </a:lnTo>
                <a:lnTo>
                  <a:pt x="1811089" y="310595"/>
                </a:lnTo>
                <a:lnTo>
                  <a:pt x="1803775" y="328822"/>
                </a:lnTo>
                <a:lnTo>
                  <a:pt x="1788349" y="339680"/>
                </a:lnTo>
                <a:lnTo>
                  <a:pt x="1764786" y="343106"/>
                </a:lnTo>
                <a:lnTo>
                  <a:pt x="1744346" y="353092"/>
                </a:lnTo>
                <a:lnTo>
                  <a:pt x="1727037" y="369582"/>
                </a:lnTo>
                <a:lnTo>
                  <a:pt x="1713770" y="377874"/>
                </a:lnTo>
                <a:lnTo>
                  <a:pt x="1704531" y="377962"/>
                </a:lnTo>
                <a:lnTo>
                  <a:pt x="1689974" y="391380"/>
                </a:lnTo>
                <a:lnTo>
                  <a:pt x="1666272" y="423335"/>
                </a:lnTo>
                <a:lnTo>
                  <a:pt x="1662189" y="438308"/>
                </a:lnTo>
                <a:lnTo>
                  <a:pt x="1628618" y="559707"/>
                </a:lnTo>
                <a:lnTo>
                  <a:pt x="1611093" y="573845"/>
                </a:lnTo>
                <a:lnTo>
                  <a:pt x="1577186" y="598500"/>
                </a:lnTo>
                <a:lnTo>
                  <a:pt x="1549629" y="628235"/>
                </a:lnTo>
                <a:lnTo>
                  <a:pt x="1537781" y="645830"/>
                </a:lnTo>
                <a:lnTo>
                  <a:pt x="1524932" y="653564"/>
                </a:lnTo>
                <a:lnTo>
                  <a:pt x="1462544" y="667716"/>
                </a:lnTo>
                <a:lnTo>
                  <a:pt x="1439342" y="675420"/>
                </a:lnTo>
                <a:lnTo>
                  <a:pt x="1411290" y="686698"/>
                </a:lnTo>
                <a:lnTo>
                  <a:pt x="1404151" y="696999"/>
                </a:lnTo>
                <a:lnTo>
                  <a:pt x="1397044" y="734570"/>
                </a:lnTo>
                <a:lnTo>
                  <a:pt x="1377484" y="788405"/>
                </a:lnTo>
                <a:lnTo>
                  <a:pt x="1361606" y="828132"/>
                </a:lnTo>
                <a:lnTo>
                  <a:pt x="1351328" y="862708"/>
                </a:lnTo>
                <a:lnTo>
                  <a:pt x="1333628" y="905638"/>
                </a:lnTo>
                <a:lnTo>
                  <a:pt x="1318353" y="920018"/>
                </a:lnTo>
                <a:lnTo>
                  <a:pt x="1301039" y="933151"/>
                </a:lnTo>
                <a:lnTo>
                  <a:pt x="1278444" y="939591"/>
                </a:lnTo>
                <a:lnTo>
                  <a:pt x="1247677" y="943688"/>
                </a:lnTo>
                <a:lnTo>
                  <a:pt x="1219681" y="942430"/>
                </a:lnTo>
                <a:lnTo>
                  <a:pt x="1198016" y="943071"/>
                </a:lnTo>
                <a:lnTo>
                  <a:pt x="1167999" y="958285"/>
                </a:lnTo>
                <a:lnTo>
                  <a:pt x="1139973" y="959327"/>
                </a:lnTo>
                <a:lnTo>
                  <a:pt x="1095438" y="950695"/>
                </a:lnTo>
                <a:lnTo>
                  <a:pt x="1059359" y="942340"/>
                </a:lnTo>
                <a:lnTo>
                  <a:pt x="1043225" y="940652"/>
                </a:lnTo>
                <a:lnTo>
                  <a:pt x="1011183" y="912746"/>
                </a:lnTo>
                <a:lnTo>
                  <a:pt x="990676" y="913388"/>
                </a:lnTo>
                <a:lnTo>
                  <a:pt x="959374" y="911389"/>
                </a:lnTo>
                <a:lnTo>
                  <a:pt x="941752" y="905105"/>
                </a:lnTo>
                <a:lnTo>
                  <a:pt x="925318" y="890884"/>
                </a:lnTo>
                <a:lnTo>
                  <a:pt x="889597" y="862976"/>
                </a:lnTo>
                <a:lnTo>
                  <a:pt x="854689" y="840493"/>
                </a:lnTo>
                <a:lnTo>
                  <a:pt x="823797" y="827333"/>
                </a:lnTo>
                <a:lnTo>
                  <a:pt x="795065" y="821387"/>
                </a:lnTo>
                <a:lnTo>
                  <a:pt x="767876" y="827425"/>
                </a:lnTo>
                <a:lnTo>
                  <a:pt x="746765" y="833792"/>
                </a:lnTo>
                <a:lnTo>
                  <a:pt x="738573" y="836943"/>
                </a:lnTo>
                <a:lnTo>
                  <a:pt x="722308" y="849016"/>
                </a:lnTo>
                <a:lnTo>
                  <a:pt x="705844" y="871685"/>
                </a:lnTo>
                <a:lnTo>
                  <a:pt x="692542" y="906988"/>
                </a:lnTo>
                <a:lnTo>
                  <a:pt x="687612" y="928544"/>
                </a:lnTo>
                <a:lnTo>
                  <a:pt x="672878" y="974372"/>
                </a:lnTo>
                <a:lnTo>
                  <a:pt x="653357" y="1029418"/>
                </a:lnTo>
                <a:lnTo>
                  <a:pt x="643824" y="1045334"/>
                </a:lnTo>
                <a:lnTo>
                  <a:pt x="632739" y="1057241"/>
                </a:lnTo>
                <a:lnTo>
                  <a:pt x="615017" y="1067991"/>
                </a:lnTo>
                <a:lnTo>
                  <a:pt x="557571" y="1112673"/>
                </a:lnTo>
                <a:lnTo>
                  <a:pt x="529546" y="1162256"/>
                </a:lnTo>
                <a:lnTo>
                  <a:pt x="511507" y="1176932"/>
                </a:lnTo>
                <a:lnTo>
                  <a:pt x="489534" y="1184153"/>
                </a:lnTo>
                <a:lnTo>
                  <a:pt x="470962" y="1188829"/>
                </a:lnTo>
                <a:lnTo>
                  <a:pt x="460857" y="1197214"/>
                </a:lnTo>
                <a:lnTo>
                  <a:pt x="449983" y="1222260"/>
                </a:lnTo>
                <a:lnTo>
                  <a:pt x="440272" y="1231243"/>
                </a:lnTo>
                <a:lnTo>
                  <a:pt x="429260" y="1234944"/>
                </a:lnTo>
                <a:lnTo>
                  <a:pt x="395964" y="1232941"/>
                </a:lnTo>
                <a:lnTo>
                  <a:pt x="385260" y="1230730"/>
                </a:lnTo>
                <a:lnTo>
                  <a:pt x="297405" y="1238296"/>
                </a:lnTo>
                <a:lnTo>
                  <a:pt x="270323" y="1231345"/>
                </a:lnTo>
                <a:lnTo>
                  <a:pt x="251195" y="1228843"/>
                </a:lnTo>
                <a:lnTo>
                  <a:pt x="221508" y="1240121"/>
                </a:lnTo>
                <a:lnTo>
                  <a:pt x="208723" y="1233828"/>
                </a:lnTo>
                <a:lnTo>
                  <a:pt x="198004" y="1213668"/>
                </a:lnTo>
                <a:lnTo>
                  <a:pt x="191636" y="1172610"/>
                </a:lnTo>
                <a:lnTo>
                  <a:pt x="191988" y="1137534"/>
                </a:lnTo>
                <a:lnTo>
                  <a:pt x="207430" y="1110442"/>
                </a:lnTo>
                <a:lnTo>
                  <a:pt x="220398" y="1090543"/>
                </a:lnTo>
                <a:lnTo>
                  <a:pt x="232919" y="1064721"/>
                </a:lnTo>
                <a:lnTo>
                  <a:pt x="234302" y="1053330"/>
                </a:lnTo>
                <a:lnTo>
                  <a:pt x="231285" y="1043190"/>
                </a:lnTo>
                <a:lnTo>
                  <a:pt x="227917" y="1022444"/>
                </a:lnTo>
                <a:lnTo>
                  <a:pt x="225771" y="1001181"/>
                </a:lnTo>
                <a:lnTo>
                  <a:pt x="205170" y="955230"/>
                </a:lnTo>
                <a:lnTo>
                  <a:pt x="179586" y="894233"/>
                </a:lnTo>
                <a:lnTo>
                  <a:pt x="145619" y="826423"/>
                </a:lnTo>
                <a:lnTo>
                  <a:pt x="135083" y="807829"/>
                </a:lnTo>
                <a:lnTo>
                  <a:pt x="114150" y="778640"/>
                </a:lnTo>
                <a:lnTo>
                  <a:pt x="38325" y="724608"/>
                </a:lnTo>
                <a:lnTo>
                  <a:pt x="26808" y="717332"/>
                </a:lnTo>
                <a:lnTo>
                  <a:pt x="26566" y="710996"/>
                </a:lnTo>
                <a:lnTo>
                  <a:pt x="24397" y="655773"/>
                </a:lnTo>
                <a:lnTo>
                  <a:pt x="21561" y="582549"/>
                </a:lnTo>
                <a:lnTo>
                  <a:pt x="18748" y="509359"/>
                </a:lnTo>
                <a:lnTo>
                  <a:pt x="15956" y="436179"/>
                </a:lnTo>
                <a:lnTo>
                  <a:pt x="13162" y="363010"/>
                </a:lnTo>
                <a:lnTo>
                  <a:pt x="10389" y="289852"/>
                </a:lnTo>
                <a:lnTo>
                  <a:pt x="7660" y="216704"/>
                </a:lnTo>
                <a:lnTo>
                  <a:pt x="4952" y="143567"/>
                </a:lnTo>
                <a:lnTo>
                  <a:pt x="2265" y="70417"/>
                </a:lnTo>
                <a:lnTo>
                  <a:pt x="0" y="8588"/>
                </a:lnTo>
                <a:lnTo>
                  <a:pt x="54350" y="6463"/>
                </a:lnTo>
                <a:lnTo>
                  <a:pt x="121605" y="3970"/>
                </a:lnTo>
                <a:lnTo>
                  <a:pt x="201538" y="1205"/>
                </a:lnTo>
                <a:lnTo>
                  <a:pt x="236887" y="50"/>
                </a:lnTo>
                <a:lnTo>
                  <a:pt x="236895" y="0"/>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3" name="Connector 22"/>
          <p:cNvCxnSpPr/>
          <p:nvPr/>
        </p:nvCxnSpPr>
        <p:spPr>
          <a:xfrm flipH="1" flipV="1">
            <a:off x="2647004" y="5549869"/>
            <a:ext cx="3076" cy="6388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H="1" flipV="1">
            <a:off x="2643945" y="5485981"/>
            <a:ext cx="3059" cy="638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H="1" flipV="1">
            <a:off x="2640901" y="5422089"/>
            <a:ext cx="3044" cy="638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flipV="1">
            <a:off x="2637873" y="5358191"/>
            <a:ext cx="3028" cy="638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H="1" flipV="1">
            <a:off x="2634861" y="5294290"/>
            <a:ext cx="3012" cy="6390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H="1" flipV="1">
            <a:off x="2631865" y="5230384"/>
            <a:ext cx="2996" cy="6390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H="1" flipV="1">
            <a:off x="2628885" y="5166475"/>
            <a:ext cx="2980" cy="639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H="1" flipV="1">
            <a:off x="2625920" y="5102562"/>
            <a:ext cx="2965" cy="639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H="1" flipV="1">
            <a:off x="2622972" y="5038646"/>
            <a:ext cx="2948" cy="639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H="1" flipV="1">
            <a:off x="2620039" y="4974727"/>
            <a:ext cx="2933" cy="63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H="1" flipV="1">
            <a:off x="2617123" y="4910806"/>
            <a:ext cx="2916" cy="639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H="1" flipV="1">
            <a:off x="2614222" y="4846882"/>
            <a:ext cx="2901" cy="639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H="1" flipV="1">
            <a:off x="2611337" y="4782957"/>
            <a:ext cx="2885"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H="1" flipV="1">
            <a:off x="2608468" y="4719029"/>
            <a:ext cx="286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H="1" flipV="1">
            <a:off x="2605615" y="4655101"/>
            <a:ext cx="2853"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H="1" flipV="1">
            <a:off x="2602778" y="4591171"/>
            <a:ext cx="2837"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H="1" flipV="1">
            <a:off x="2599957" y="4527241"/>
            <a:ext cx="282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H="1" flipV="1">
            <a:off x="2597152" y="4463309"/>
            <a:ext cx="2805" cy="639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H="1" flipV="1">
            <a:off x="2594363" y="4399378"/>
            <a:ext cx="2789"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H="1" flipV="1">
            <a:off x="2591590" y="4335447"/>
            <a:ext cx="2773"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H="1" flipV="1">
            <a:off x="2588833" y="4271516"/>
            <a:ext cx="2757"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H="1" flipV="1">
            <a:off x="2586092" y="4207586"/>
            <a:ext cx="274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H="1" flipV="1">
            <a:off x="2583367" y="4143657"/>
            <a:ext cx="2725" cy="639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H="1" flipV="1">
            <a:off x="2580658" y="4079729"/>
            <a:ext cx="270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H="1" flipV="1">
            <a:off x="2577965" y="4015803"/>
            <a:ext cx="2693" cy="6392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H="1" flipV="1">
            <a:off x="2575288" y="3951878"/>
            <a:ext cx="2677"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H="1" flipV="1">
            <a:off x="2572628" y="3887956"/>
            <a:ext cx="2660" cy="639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H="1" flipV="1">
            <a:off x="2569983" y="3824036"/>
            <a:ext cx="2645" cy="6392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H="1" flipV="1">
            <a:off x="2567354" y="3760119"/>
            <a:ext cx="2629" cy="639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H="1" flipV="1">
            <a:off x="2564742" y="3696205"/>
            <a:ext cx="2612" cy="639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H="1" flipV="1">
            <a:off x="2562146" y="3632294"/>
            <a:ext cx="2596" cy="639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H="1" flipV="1">
            <a:off x="2559565" y="3568387"/>
            <a:ext cx="2581" cy="639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H="1" flipV="1">
            <a:off x="2557001" y="3504483"/>
            <a:ext cx="2564" cy="639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H="1" flipV="1">
            <a:off x="2554453" y="3440584"/>
            <a:ext cx="2548" cy="638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H="1" flipV="1">
            <a:off x="2551922" y="3376689"/>
            <a:ext cx="2531" cy="6389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flipH="1" flipV="1">
            <a:off x="2549406" y="3312799"/>
            <a:ext cx="2516" cy="6389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flipH="1" flipV="1">
            <a:off x="2546907" y="3248914"/>
            <a:ext cx="2499" cy="638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flipH="1" flipV="1">
            <a:off x="2544424" y="3185035"/>
            <a:ext cx="2483" cy="638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flipH="1" flipV="1">
            <a:off x="2541957" y="3121161"/>
            <a:ext cx="2467" cy="638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flipH="1" flipV="1">
            <a:off x="2539506" y="3057293"/>
            <a:ext cx="2451" cy="6386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flipH="1" flipV="1">
            <a:off x="2537072" y="2993431"/>
            <a:ext cx="2434" cy="6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flipH="1" flipV="1">
            <a:off x="2534653" y="2929576"/>
            <a:ext cx="2419" cy="6385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flipH="1" flipV="1">
            <a:off x="2532251" y="2865727"/>
            <a:ext cx="2402" cy="63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flipH="1" flipV="1">
            <a:off x="2529866" y="2801886"/>
            <a:ext cx="2385" cy="63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flipH="1" flipV="1">
            <a:off x="2527496" y="2738052"/>
            <a:ext cx="2370" cy="638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flipH="1" flipV="1">
            <a:off x="2525143" y="2674225"/>
            <a:ext cx="2353" cy="6382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flipH="1" flipV="1">
            <a:off x="2522806" y="2610407"/>
            <a:ext cx="2337" cy="638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flipH="1" flipV="1">
            <a:off x="2520486" y="2546596"/>
            <a:ext cx="2320" cy="638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flipH="1" flipV="1">
            <a:off x="2518182" y="2482794"/>
            <a:ext cx="2304" cy="63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flipH="1" flipV="1">
            <a:off x="2515894" y="2419001"/>
            <a:ext cx="2288" cy="6379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flipH="1" flipV="1">
            <a:off x="2513623" y="2355217"/>
            <a:ext cx="2271" cy="637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flipH="1" flipV="1">
            <a:off x="2511368" y="2291443"/>
            <a:ext cx="2255" cy="637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flipV="1">
            <a:off x="3704235" y="5526594"/>
            <a:ext cx="0" cy="6390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flipV="1">
            <a:off x="3704235" y="5462683"/>
            <a:ext cx="0" cy="639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flipV="1">
            <a:off x="3704235" y="5398768"/>
            <a:ext cx="0" cy="6391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flipV="1">
            <a:off x="3704235" y="5334848"/>
            <a:ext cx="0" cy="6392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flipV="1">
            <a:off x="3704235" y="5270926"/>
            <a:ext cx="0" cy="639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flipV="1">
            <a:off x="3704235" y="5206999"/>
            <a:ext cx="0" cy="6392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flipV="1">
            <a:off x="3704235" y="5143070"/>
            <a:ext cx="0" cy="639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flipV="1">
            <a:off x="3704235" y="5079137"/>
            <a:ext cx="0" cy="6393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flipV="1">
            <a:off x="3704235" y="5015202"/>
            <a:ext cx="0" cy="6393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flipV="1">
            <a:off x="3704235" y="4951265"/>
            <a:ext cx="0" cy="6393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flipV="1">
            <a:off x="3704235" y="4887326"/>
            <a:ext cx="0" cy="639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flipV="1">
            <a:off x="3704235" y="4823385"/>
            <a:ext cx="0" cy="639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flipV="1">
            <a:off x="3704235" y="4759442"/>
            <a:ext cx="0" cy="639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flipV="1">
            <a:off x="3704235" y="4695499"/>
            <a:ext cx="0" cy="639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flipV="1">
            <a:off x="3704235" y="4631554"/>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flipV="1">
            <a:off x="3704235" y="4567610"/>
            <a:ext cx="0" cy="6394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flipV="1">
            <a:off x="3704235" y="4503665"/>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flipV="1">
            <a:off x="3704235" y="4439720"/>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flipV="1">
            <a:off x="3704235" y="4375775"/>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flipV="1">
            <a:off x="3704235" y="4311831"/>
            <a:ext cx="0" cy="6394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flipV="1">
            <a:off x="3704235" y="4247888"/>
            <a:ext cx="0" cy="639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flipV="1">
            <a:off x="3704235" y="4183947"/>
            <a:ext cx="0" cy="639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flipV="1">
            <a:off x="3704235" y="4120006"/>
            <a:ext cx="0" cy="639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flipV="1">
            <a:off x="3704235" y="4056068"/>
            <a:ext cx="0" cy="6393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9" name="Connector 98"/>
          <p:cNvCxnSpPr/>
          <p:nvPr/>
        </p:nvCxnSpPr>
        <p:spPr>
          <a:xfrm flipV="1">
            <a:off x="3704235" y="3992132"/>
            <a:ext cx="0" cy="6393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0" name="Connector 99"/>
          <p:cNvCxnSpPr/>
          <p:nvPr/>
        </p:nvCxnSpPr>
        <p:spPr>
          <a:xfrm flipV="1">
            <a:off x="3704235" y="3928198"/>
            <a:ext cx="0" cy="639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flipV="1">
            <a:off x="3704235" y="3864267"/>
            <a:ext cx="0"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2" name="Connector 101"/>
          <p:cNvCxnSpPr/>
          <p:nvPr/>
        </p:nvCxnSpPr>
        <p:spPr>
          <a:xfrm flipV="1">
            <a:off x="3704235" y="3800339"/>
            <a:ext cx="0"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3" name="Connector 102"/>
          <p:cNvCxnSpPr/>
          <p:nvPr/>
        </p:nvCxnSpPr>
        <p:spPr>
          <a:xfrm flipV="1">
            <a:off x="3704235" y="3736414"/>
            <a:ext cx="0"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4" name="Connector 103"/>
          <p:cNvCxnSpPr/>
          <p:nvPr/>
        </p:nvCxnSpPr>
        <p:spPr>
          <a:xfrm flipV="1">
            <a:off x="3704235" y="3672493"/>
            <a:ext cx="0" cy="639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5" name="Connector 104"/>
          <p:cNvCxnSpPr/>
          <p:nvPr/>
        </p:nvCxnSpPr>
        <p:spPr>
          <a:xfrm flipV="1">
            <a:off x="3704235" y="3608575"/>
            <a:ext cx="0" cy="639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6" name="Connector 105"/>
          <p:cNvCxnSpPr/>
          <p:nvPr/>
        </p:nvCxnSpPr>
        <p:spPr>
          <a:xfrm flipV="1">
            <a:off x="3704235" y="3544662"/>
            <a:ext cx="0" cy="639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7" name="Connector 106"/>
          <p:cNvCxnSpPr/>
          <p:nvPr/>
        </p:nvCxnSpPr>
        <p:spPr>
          <a:xfrm flipV="1">
            <a:off x="3704235" y="3480753"/>
            <a:ext cx="0" cy="639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8" name="Connector 107"/>
          <p:cNvCxnSpPr/>
          <p:nvPr/>
        </p:nvCxnSpPr>
        <p:spPr>
          <a:xfrm flipV="1">
            <a:off x="3704235" y="3416849"/>
            <a:ext cx="0" cy="639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9" name="Connector 108"/>
          <p:cNvCxnSpPr/>
          <p:nvPr/>
        </p:nvCxnSpPr>
        <p:spPr>
          <a:xfrm flipV="1">
            <a:off x="3704235" y="3352950"/>
            <a:ext cx="0" cy="638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0" name="Connector 109"/>
          <p:cNvCxnSpPr/>
          <p:nvPr/>
        </p:nvCxnSpPr>
        <p:spPr>
          <a:xfrm flipV="1">
            <a:off x="3704235" y="3289056"/>
            <a:ext cx="0" cy="638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1" name="Connector 110"/>
          <p:cNvCxnSpPr/>
          <p:nvPr/>
        </p:nvCxnSpPr>
        <p:spPr>
          <a:xfrm flipV="1">
            <a:off x="3704235" y="3225168"/>
            <a:ext cx="0" cy="638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2" name="Connector 111"/>
          <p:cNvCxnSpPr/>
          <p:nvPr/>
        </p:nvCxnSpPr>
        <p:spPr>
          <a:xfrm flipV="1">
            <a:off x="3704235" y="3161285"/>
            <a:ext cx="0" cy="6388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3" name="Connector 112"/>
          <p:cNvCxnSpPr/>
          <p:nvPr/>
        </p:nvCxnSpPr>
        <p:spPr>
          <a:xfrm flipV="1">
            <a:off x="3704235" y="3097409"/>
            <a:ext cx="0" cy="638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4" name="Connector 113"/>
          <p:cNvCxnSpPr/>
          <p:nvPr/>
        </p:nvCxnSpPr>
        <p:spPr>
          <a:xfrm flipV="1">
            <a:off x="3704235" y="3033540"/>
            <a:ext cx="0" cy="6386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5" name="Connector 114"/>
          <p:cNvCxnSpPr/>
          <p:nvPr/>
        </p:nvCxnSpPr>
        <p:spPr>
          <a:xfrm flipV="1">
            <a:off x="3704235" y="2969677"/>
            <a:ext cx="0" cy="638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6" name="Connector 115"/>
          <p:cNvCxnSpPr/>
          <p:nvPr/>
        </p:nvCxnSpPr>
        <p:spPr>
          <a:xfrm flipV="1">
            <a:off x="3704235" y="2905821"/>
            <a:ext cx="0" cy="6385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7" name="Connector 116"/>
          <p:cNvCxnSpPr/>
          <p:nvPr/>
        </p:nvCxnSpPr>
        <p:spPr>
          <a:xfrm flipV="1">
            <a:off x="3704235" y="2841972"/>
            <a:ext cx="0" cy="63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8" name="Connector 117"/>
          <p:cNvCxnSpPr/>
          <p:nvPr/>
        </p:nvCxnSpPr>
        <p:spPr>
          <a:xfrm flipV="1">
            <a:off x="3704235" y="2778131"/>
            <a:ext cx="0" cy="63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9" name="Connector 118"/>
          <p:cNvCxnSpPr/>
          <p:nvPr/>
        </p:nvCxnSpPr>
        <p:spPr>
          <a:xfrm flipV="1">
            <a:off x="3704235" y="2714298"/>
            <a:ext cx="0" cy="6383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0" name="Connector 119"/>
          <p:cNvCxnSpPr/>
          <p:nvPr/>
        </p:nvCxnSpPr>
        <p:spPr>
          <a:xfrm flipV="1">
            <a:off x="3704235" y="2650473"/>
            <a:ext cx="0" cy="638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1" name="Connector 120"/>
          <p:cNvCxnSpPr/>
          <p:nvPr/>
        </p:nvCxnSpPr>
        <p:spPr>
          <a:xfrm flipV="1">
            <a:off x="3704235" y="2586657"/>
            <a:ext cx="0" cy="638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2" name="Connector 121"/>
          <p:cNvCxnSpPr/>
          <p:nvPr/>
        </p:nvCxnSpPr>
        <p:spPr>
          <a:xfrm flipV="1">
            <a:off x="3704235" y="2522849"/>
            <a:ext cx="0" cy="6380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3" name="Connector 122"/>
          <p:cNvCxnSpPr/>
          <p:nvPr/>
        </p:nvCxnSpPr>
        <p:spPr>
          <a:xfrm flipV="1">
            <a:off x="3704235" y="2459050"/>
            <a:ext cx="0" cy="637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4" name="Connector 123"/>
          <p:cNvCxnSpPr/>
          <p:nvPr/>
        </p:nvCxnSpPr>
        <p:spPr>
          <a:xfrm flipV="1">
            <a:off x="3704235" y="2395261"/>
            <a:ext cx="0" cy="6378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5" name="Connector 124"/>
          <p:cNvCxnSpPr/>
          <p:nvPr/>
        </p:nvCxnSpPr>
        <p:spPr>
          <a:xfrm flipV="1">
            <a:off x="3704235" y="2331481"/>
            <a:ext cx="0" cy="6378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6" name="Connector 125"/>
          <p:cNvCxnSpPr/>
          <p:nvPr/>
        </p:nvCxnSpPr>
        <p:spPr>
          <a:xfrm flipV="1">
            <a:off x="3704235" y="2267712"/>
            <a:ext cx="0" cy="6376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7" name="Connector 126"/>
          <p:cNvCxnSpPr/>
          <p:nvPr/>
        </p:nvCxnSpPr>
        <p:spPr>
          <a:xfrm flipV="1">
            <a:off x="4758389" y="5549869"/>
            <a:ext cx="3076" cy="6388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8" name="Connector 127"/>
          <p:cNvCxnSpPr/>
          <p:nvPr/>
        </p:nvCxnSpPr>
        <p:spPr>
          <a:xfrm flipV="1">
            <a:off x="4761465" y="5485981"/>
            <a:ext cx="3059" cy="638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9" name="Connector 128"/>
          <p:cNvCxnSpPr/>
          <p:nvPr/>
        </p:nvCxnSpPr>
        <p:spPr>
          <a:xfrm flipV="1">
            <a:off x="4764524" y="5422089"/>
            <a:ext cx="3044" cy="638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0" name="Connector 129"/>
          <p:cNvCxnSpPr/>
          <p:nvPr/>
        </p:nvCxnSpPr>
        <p:spPr>
          <a:xfrm flipV="1">
            <a:off x="4767568" y="5358191"/>
            <a:ext cx="3028" cy="638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1" name="Connector 130"/>
          <p:cNvCxnSpPr/>
          <p:nvPr/>
        </p:nvCxnSpPr>
        <p:spPr>
          <a:xfrm flipV="1">
            <a:off x="4770596" y="5294290"/>
            <a:ext cx="3012" cy="6390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2" name="Connector 131"/>
          <p:cNvCxnSpPr/>
          <p:nvPr/>
        </p:nvCxnSpPr>
        <p:spPr>
          <a:xfrm flipV="1">
            <a:off x="4773608" y="5230384"/>
            <a:ext cx="2996" cy="6390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3" name="Connector 132"/>
          <p:cNvCxnSpPr/>
          <p:nvPr/>
        </p:nvCxnSpPr>
        <p:spPr>
          <a:xfrm flipV="1">
            <a:off x="4776604" y="5166475"/>
            <a:ext cx="2980" cy="639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4" name="Connector 133"/>
          <p:cNvCxnSpPr/>
          <p:nvPr/>
        </p:nvCxnSpPr>
        <p:spPr>
          <a:xfrm flipV="1">
            <a:off x="4779584" y="5102562"/>
            <a:ext cx="2965" cy="639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5" name="Connector 134"/>
          <p:cNvCxnSpPr/>
          <p:nvPr/>
        </p:nvCxnSpPr>
        <p:spPr>
          <a:xfrm flipV="1">
            <a:off x="4782549" y="5038646"/>
            <a:ext cx="2948" cy="639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6" name="Connector 135"/>
          <p:cNvCxnSpPr/>
          <p:nvPr/>
        </p:nvCxnSpPr>
        <p:spPr>
          <a:xfrm flipV="1">
            <a:off x="4785497" y="4974727"/>
            <a:ext cx="2933" cy="63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7" name="Connector 136"/>
          <p:cNvCxnSpPr/>
          <p:nvPr/>
        </p:nvCxnSpPr>
        <p:spPr>
          <a:xfrm flipV="1">
            <a:off x="4788430" y="4910806"/>
            <a:ext cx="2917" cy="639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8" name="Connector 137"/>
          <p:cNvCxnSpPr/>
          <p:nvPr/>
        </p:nvCxnSpPr>
        <p:spPr>
          <a:xfrm flipV="1">
            <a:off x="4791347" y="4846882"/>
            <a:ext cx="2900" cy="639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9" name="Connector 138"/>
          <p:cNvCxnSpPr/>
          <p:nvPr/>
        </p:nvCxnSpPr>
        <p:spPr>
          <a:xfrm flipV="1">
            <a:off x="4794247" y="4782957"/>
            <a:ext cx="2885"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0" name="Connector 139"/>
          <p:cNvCxnSpPr/>
          <p:nvPr/>
        </p:nvCxnSpPr>
        <p:spPr>
          <a:xfrm flipV="1">
            <a:off x="4797132" y="4719029"/>
            <a:ext cx="286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1" name="Connector 140"/>
          <p:cNvCxnSpPr/>
          <p:nvPr/>
        </p:nvCxnSpPr>
        <p:spPr>
          <a:xfrm flipV="1">
            <a:off x="4800001" y="4655101"/>
            <a:ext cx="2853"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2" name="Connector 141"/>
          <p:cNvCxnSpPr/>
          <p:nvPr/>
        </p:nvCxnSpPr>
        <p:spPr>
          <a:xfrm flipV="1">
            <a:off x="4802854" y="4591171"/>
            <a:ext cx="2837"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3" name="Connector 142"/>
          <p:cNvCxnSpPr/>
          <p:nvPr/>
        </p:nvCxnSpPr>
        <p:spPr>
          <a:xfrm flipV="1">
            <a:off x="4805691" y="4527241"/>
            <a:ext cx="282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4" name="Connector 143"/>
          <p:cNvCxnSpPr/>
          <p:nvPr/>
        </p:nvCxnSpPr>
        <p:spPr>
          <a:xfrm flipV="1">
            <a:off x="4808512" y="4463309"/>
            <a:ext cx="2805" cy="639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5" name="Connector 144"/>
          <p:cNvCxnSpPr/>
          <p:nvPr/>
        </p:nvCxnSpPr>
        <p:spPr>
          <a:xfrm flipV="1">
            <a:off x="4811317" y="4399378"/>
            <a:ext cx="2789"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6" name="Connector 145"/>
          <p:cNvCxnSpPr/>
          <p:nvPr/>
        </p:nvCxnSpPr>
        <p:spPr>
          <a:xfrm flipV="1">
            <a:off x="4814106" y="4335447"/>
            <a:ext cx="2773"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7" name="Connector 146"/>
          <p:cNvCxnSpPr/>
          <p:nvPr/>
        </p:nvCxnSpPr>
        <p:spPr>
          <a:xfrm flipV="1">
            <a:off x="4816879" y="4271516"/>
            <a:ext cx="2757"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8" name="Connector 147"/>
          <p:cNvCxnSpPr/>
          <p:nvPr/>
        </p:nvCxnSpPr>
        <p:spPr>
          <a:xfrm flipV="1">
            <a:off x="4819636" y="4207586"/>
            <a:ext cx="274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9" name="Connector 148"/>
          <p:cNvCxnSpPr/>
          <p:nvPr/>
        </p:nvCxnSpPr>
        <p:spPr>
          <a:xfrm flipV="1">
            <a:off x="4822377" y="4143657"/>
            <a:ext cx="2725" cy="639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0" name="Connector 149"/>
          <p:cNvCxnSpPr/>
          <p:nvPr/>
        </p:nvCxnSpPr>
        <p:spPr>
          <a:xfrm flipV="1">
            <a:off x="4825102" y="4079729"/>
            <a:ext cx="270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1" name="Connector 150"/>
          <p:cNvCxnSpPr/>
          <p:nvPr/>
        </p:nvCxnSpPr>
        <p:spPr>
          <a:xfrm flipV="1">
            <a:off x="4827811" y="4015803"/>
            <a:ext cx="2693" cy="6392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2" name="Connector 151"/>
          <p:cNvCxnSpPr/>
          <p:nvPr/>
        </p:nvCxnSpPr>
        <p:spPr>
          <a:xfrm flipV="1">
            <a:off x="4830504" y="3951878"/>
            <a:ext cx="2677"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3" name="Connector 152"/>
          <p:cNvCxnSpPr/>
          <p:nvPr/>
        </p:nvCxnSpPr>
        <p:spPr>
          <a:xfrm flipV="1">
            <a:off x="4833181" y="3887956"/>
            <a:ext cx="2661" cy="639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4" name="Connector 153"/>
          <p:cNvCxnSpPr/>
          <p:nvPr/>
        </p:nvCxnSpPr>
        <p:spPr>
          <a:xfrm flipV="1">
            <a:off x="4835842" y="3824036"/>
            <a:ext cx="2644" cy="6392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5" name="Connector 154"/>
          <p:cNvCxnSpPr/>
          <p:nvPr/>
        </p:nvCxnSpPr>
        <p:spPr>
          <a:xfrm flipV="1">
            <a:off x="4838486" y="3760119"/>
            <a:ext cx="2629" cy="639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6" name="Connector 155"/>
          <p:cNvCxnSpPr/>
          <p:nvPr/>
        </p:nvCxnSpPr>
        <p:spPr>
          <a:xfrm flipV="1">
            <a:off x="4841115" y="3696205"/>
            <a:ext cx="2612" cy="639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7" name="Connector 156"/>
          <p:cNvCxnSpPr/>
          <p:nvPr/>
        </p:nvCxnSpPr>
        <p:spPr>
          <a:xfrm flipV="1">
            <a:off x="4843727" y="3632294"/>
            <a:ext cx="2597" cy="639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8" name="Connector 157"/>
          <p:cNvCxnSpPr/>
          <p:nvPr/>
        </p:nvCxnSpPr>
        <p:spPr>
          <a:xfrm flipV="1">
            <a:off x="4846324" y="3568387"/>
            <a:ext cx="2580" cy="639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9" name="Connector 158"/>
          <p:cNvCxnSpPr/>
          <p:nvPr/>
        </p:nvCxnSpPr>
        <p:spPr>
          <a:xfrm flipV="1">
            <a:off x="4848904" y="3504483"/>
            <a:ext cx="2564" cy="639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0" name="Connector 159"/>
          <p:cNvCxnSpPr/>
          <p:nvPr/>
        </p:nvCxnSpPr>
        <p:spPr>
          <a:xfrm flipV="1">
            <a:off x="4851468" y="3440584"/>
            <a:ext cx="2548" cy="638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1" name="Connector 160"/>
          <p:cNvCxnSpPr/>
          <p:nvPr/>
        </p:nvCxnSpPr>
        <p:spPr>
          <a:xfrm flipV="1">
            <a:off x="4854016" y="3376689"/>
            <a:ext cx="2531" cy="6389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2" name="Connector 161"/>
          <p:cNvCxnSpPr/>
          <p:nvPr/>
        </p:nvCxnSpPr>
        <p:spPr>
          <a:xfrm flipV="1">
            <a:off x="4856547" y="3312799"/>
            <a:ext cx="2516" cy="6389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3" name="Connector 162"/>
          <p:cNvCxnSpPr/>
          <p:nvPr/>
        </p:nvCxnSpPr>
        <p:spPr>
          <a:xfrm flipV="1">
            <a:off x="4859063" y="3248914"/>
            <a:ext cx="2499" cy="638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4" name="Connector 163"/>
          <p:cNvCxnSpPr/>
          <p:nvPr/>
        </p:nvCxnSpPr>
        <p:spPr>
          <a:xfrm flipV="1">
            <a:off x="4861562" y="3185035"/>
            <a:ext cx="2484" cy="638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5" name="Connector 164"/>
          <p:cNvCxnSpPr/>
          <p:nvPr/>
        </p:nvCxnSpPr>
        <p:spPr>
          <a:xfrm flipV="1">
            <a:off x="4864046" y="3121161"/>
            <a:ext cx="2466" cy="638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6" name="Connector 165"/>
          <p:cNvCxnSpPr/>
          <p:nvPr/>
        </p:nvCxnSpPr>
        <p:spPr>
          <a:xfrm flipV="1">
            <a:off x="4866512" y="3057293"/>
            <a:ext cx="2451" cy="6386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7" name="Connector 166"/>
          <p:cNvCxnSpPr/>
          <p:nvPr/>
        </p:nvCxnSpPr>
        <p:spPr>
          <a:xfrm flipV="1">
            <a:off x="4868963" y="2993431"/>
            <a:ext cx="2435" cy="6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8" name="Connector 167"/>
          <p:cNvCxnSpPr/>
          <p:nvPr/>
        </p:nvCxnSpPr>
        <p:spPr>
          <a:xfrm flipV="1">
            <a:off x="4871398" y="2929576"/>
            <a:ext cx="2418" cy="6385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9" name="Connector 168"/>
          <p:cNvCxnSpPr/>
          <p:nvPr/>
        </p:nvCxnSpPr>
        <p:spPr>
          <a:xfrm flipV="1">
            <a:off x="4873816" y="2865727"/>
            <a:ext cx="2402" cy="63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0" name="Connector 169"/>
          <p:cNvCxnSpPr/>
          <p:nvPr/>
        </p:nvCxnSpPr>
        <p:spPr>
          <a:xfrm flipV="1">
            <a:off x="4876218" y="2801886"/>
            <a:ext cx="2385" cy="63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1" name="Connector 170"/>
          <p:cNvCxnSpPr/>
          <p:nvPr/>
        </p:nvCxnSpPr>
        <p:spPr>
          <a:xfrm flipV="1">
            <a:off x="4878603" y="2738052"/>
            <a:ext cx="2370" cy="638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2" name="Connector 171"/>
          <p:cNvCxnSpPr/>
          <p:nvPr/>
        </p:nvCxnSpPr>
        <p:spPr>
          <a:xfrm flipV="1">
            <a:off x="4880973" y="2674225"/>
            <a:ext cx="2353" cy="6382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3" name="Connector 172"/>
          <p:cNvCxnSpPr/>
          <p:nvPr/>
        </p:nvCxnSpPr>
        <p:spPr>
          <a:xfrm flipV="1">
            <a:off x="4883326" y="2610407"/>
            <a:ext cx="2337" cy="638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4" name="Connector 173"/>
          <p:cNvCxnSpPr/>
          <p:nvPr/>
        </p:nvCxnSpPr>
        <p:spPr>
          <a:xfrm flipV="1">
            <a:off x="4885663" y="2546596"/>
            <a:ext cx="2320" cy="638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5" name="Connector 174"/>
          <p:cNvCxnSpPr/>
          <p:nvPr/>
        </p:nvCxnSpPr>
        <p:spPr>
          <a:xfrm flipV="1">
            <a:off x="4887983" y="2482794"/>
            <a:ext cx="2304" cy="63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6" name="Connector 175"/>
          <p:cNvCxnSpPr/>
          <p:nvPr/>
        </p:nvCxnSpPr>
        <p:spPr>
          <a:xfrm flipV="1">
            <a:off x="4890287" y="2419001"/>
            <a:ext cx="2288" cy="6379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7" name="Connector 176"/>
          <p:cNvCxnSpPr/>
          <p:nvPr/>
        </p:nvCxnSpPr>
        <p:spPr>
          <a:xfrm flipV="1">
            <a:off x="4892575" y="2355217"/>
            <a:ext cx="2272" cy="637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8" name="Connector 177"/>
          <p:cNvCxnSpPr/>
          <p:nvPr/>
        </p:nvCxnSpPr>
        <p:spPr>
          <a:xfrm flipV="1">
            <a:off x="4894847" y="2291443"/>
            <a:ext cx="2255" cy="637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9" name="Connector 178"/>
          <p:cNvCxnSpPr/>
          <p:nvPr/>
        </p:nvCxnSpPr>
        <p:spPr>
          <a:xfrm flipV="1">
            <a:off x="1610133" y="3106301"/>
            <a:ext cx="57983" cy="42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0" name="Connector 179"/>
          <p:cNvCxnSpPr/>
          <p:nvPr/>
        </p:nvCxnSpPr>
        <p:spPr>
          <a:xfrm flipV="1">
            <a:off x="1668116" y="3102201"/>
            <a:ext cx="58000" cy="410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1" name="Connector 180"/>
          <p:cNvCxnSpPr/>
          <p:nvPr/>
        </p:nvCxnSpPr>
        <p:spPr>
          <a:xfrm flipV="1">
            <a:off x="1726116" y="3098220"/>
            <a:ext cx="58015" cy="39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2" name="Connector 181"/>
          <p:cNvCxnSpPr/>
          <p:nvPr/>
        </p:nvCxnSpPr>
        <p:spPr>
          <a:xfrm flipV="1">
            <a:off x="1784131" y="3094358"/>
            <a:ext cx="58029" cy="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3" name="Connector 182"/>
          <p:cNvCxnSpPr/>
          <p:nvPr/>
        </p:nvCxnSpPr>
        <p:spPr>
          <a:xfrm flipV="1">
            <a:off x="1842160" y="3090616"/>
            <a:ext cx="58044" cy="374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4" name="Connector 183"/>
          <p:cNvCxnSpPr/>
          <p:nvPr/>
        </p:nvCxnSpPr>
        <p:spPr>
          <a:xfrm flipV="1">
            <a:off x="1900204" y="3086992"/>
            <a:ext cx="58058" cy="36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5" name="Connector 184"/>
          <p:cNvCxnSpPr/>
          <p:nvPr/>
        </p:nvCxnSpPr>
        <p:spPr>
          <a:xfrm flipV="1">
            <a:off x="1958262" y="3083487"/>
            <a:ext cx="58071" cy="350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6" name="Connector 185"/>
          <p:cNvCxnSpPr/>
          <p:nvPr/>
        </p:nvCxnSpPr>
        <p:spPr>
          <a:xfrm flipV="1">
            <a:off x="2016333" y="3080101"/>
            <a:ext cx="58085" cy="33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7" name="Connector 186"/>
          <p:cNvCxnSpPr/>
          <p:nvPr/>
        </p:nvCxnSpPr>
        <p:spPr>
          <a:xfrm flipV="1">
            <a:off x="2074418" y="3076834"/>
            <a:ext cx="58096" cy="3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8" name="Connector 187"/>
          <p:cNvCxnSpPr/>
          <p:nvPr/>
        </p:nvCxnSpPr>
        <p:spPr>
          <a:xfrm flipV="1">
            <a:off x="2132514" y="3073686"/>
            <a:ext cx="58109" cy="31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9" name="Connector 188"/>
          <p:cNvCxnSpPr/>
          <p:nvPr/>
        </p:nvCxnSpPr>
        <p:spPr>
          <a:xfrm flipV="1">
            <a:off x="2190623" y="3070656"/>
            <a:ext cx="58121" cy="30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0" name="Connector 189"/>
          <p:cNvCxnSpPr/>
          <p:nvPr/>
        </p:nvCxnSpPr>
        <p:spPr>
          <a:xfrm flipV="1">
            <a:off x="2248744" y="3067746"/>
            <a:ext cx="58132" cy="291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1" name="Connector 190"/>
          <p:cNvCxnSpPr/>
          <p:nvPr/>
        </p:nvCxnSpPr>
        <p:spPr>
          <a:xfrm flipV="1">
            <a:off x="2306876" y="3064954"/>
            <a:ext cx="58142" cy="27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2" name="Connector 191"/>
          <p:cNvCxnSpPr/>
          <p:nvPr/>
        </p:nvCxnSpPr>
        <p:spPr>
          <a:xfrm flipV="1">
            <a:off x="2365018" y="3062282"/>
            <a:ext cx="58153" cy="26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3" name="Connector 192"/>
          <p:cNvCxnSpPr/>
          <p:nvPr/>
        </p:nvCxnSpPr>
        <p:spPr>
          <a:xfrm flipV="1">
            <a:off x="2423171" y="3059728"/>
            <a:ext cx="58163" cy="255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4" name="Connector 193"/>
          <p:cNvCxnSpPr/>
          <p:nvPr/>
        </p:nvCxnSpPr>
        <p:spPr>
          <a:xfrm flipV="1">
            <a:off x="2481334" y="3057293"/>
            <a:ext cx="58172" cy="243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5" name="Connector 194"/>
          <p:cNvCxnSpPr/>
          <p:nvPr/>
        </p:nvCxnSpPr>
        <p:spPr>
          <a:xfrm flipV="1">
            <a:off x="2539506" y="3054977"/>
            <a:ext cx="58181" cy="23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6" name="Connector 195"/>
          <p:cNvCxnSpPr/>
          <p:nvPr/>
        </p:nvCxnSpPr>
        <p:spPr>
          <a:xfrm flipV="1">
            <a:off x="2597687" y="3052779"/>
            <a:ext cx="58190" cy="2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7" name="Connector 196"/>
          <p:cNvCxnSpPr/>
          <p:nvPr/>
        </p:nvCxnSpPr>
        <p:spPr>
          <a:xfrm flipV="1">
            <a:off x="2655877" y="3050701"/>
            <a:ext cx="58197" cy="20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8" name="Connector 197"/>
          <p:cNvCxnSpPr/>
          <p:nvPr/>
        </p:nvCxnSpPr>
        <p:spPr>
          <a:xfrm flipV="1">
            <a:off x="2714074" y="3048741"/>
            <a:ext cx="58206" cy="196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9" name="Connector 198"/>
          <p:cNvCxnSpPr/>
          <p:nvPr/>
        </p:nvCxnSpPr>
        <p:spPr>
          <a:xfrm flipV="1">
            <a:off x="2772280" y="3046900"/>
            <a:ext cx="58212" cy="1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0" name="Connector 199"/>
          <p:cNvCxnSpPr/>
          <p:nvPr/>
        </p:nvCxnSpPr>
        <p:spPr>
          <a:xfrm flipV="1">
            <a:off x="2830492" y="3045178"/>
            <a:ext cx="58219" cy="17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1" name="Connector 200"/>
          <p:cNvCxnSpPr/>
          <p:nvPr/>
        </p:nvCxnSpPr>
        <p:spPr>
          <a:xfrm flipV="1">
            <a:off x="2888711" y="3043575"/>
            <a:ext cx="58226" cy="16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2" name="Connector 201"/>
          <p:cNvCxnSpPr/>
          <p:nvPr/>
        </p:nvCxnSpPr>
        <p:spPr>
          <a:xfrm flipV="1">
            <a:off x="2946937" y="3042090"/>
            <a:ext cx="58231" cy="1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3" name="Connector 202"/>
          <p:cNvCxnSpPr/>
          <p:nvPr/>
        </p:nvCxnSpPr>
        <p:spPr>
          <a:xfrm flipV="1">
            <a:off x="3005168" y="3040724"/>
            <a:ext cx="58237" cy="1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4" name="Connector 203"/>
          <p:cNvCxnSpPr/>
          <p:nvPr/>
        </p:nvCxnSpPr>
        <p:spPr>
          <a:xfrm flipV="1">
            <a:off x="3063405" y="3039477"/>
            <a:ext cx="58241" cy="12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5" name="Connector 204"/>
          <p:cNvCxnSpPr/>
          <p:nvPr/>
        </p:nvCxnSpPr>
        <p:spPr>
          <a:xfrm flipV="1">
            <a:off x="3121646" y="3038349"/>
            <a:ext cx="58246" cy="11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6" name="Connector 205"/>
          <p:cNvCxnSpPr/>
          <p:nvPr/>
        </p:nvCxnSpPr>
        <p:spPr>
          <a:xfrm flipV="1">
            <a:off x="3179892" y="3037340"/>
            <a:ext cx="58251" cy="10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7" name="Connector 206"/>
          <p:cNvCxnSpPr/>
          <p:nvPr/>
        </p:nvCxnSpPr>
        <p:spPr>
          <a:xfrm flipV="1">
            <a:off x="3238143" y="3036449"/>
            <a:ext cx="58253" cy="8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8" name="Connector 207"/>
          <p:cNvCxnSpPr/>
          <p:nvPr/>
        </p:nvCxnSpPr>
        <p:spPr>
          <a:xfrm flipV="1">
            <a:off x="3296396" y="3035677"/>
            <a:ext cx="58257" cy="7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9" name="Connector 208"/>
          <p:cNvCxnSpPr/>
          <p:nvPr/>
        </p:nvCxnSpPr>
        <p:spPr>
          <a:xfrm flipV="1">
            <a:off x="3354653" y="3035024"/>
            <a:ext cx="58260" cy="6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0" name="Connector 209"/>
          <p:cNvCxnSpPr/>
          <p:nvPr/>
        </p:nvCxnSpPr>
        <p:spPr>
          <a:xfrm flipV="1">
            <a:off x="3412913" y="3034490"/>
            <a:ext cx="58261" cy="5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1" name="Connector 210"/>
          <p:cNvCxnSpPr/>
          <p:nvPr/>
        </p:nvCxnSpPr>
        <p:spPr>
          <a:xfrm flipV="1">
            <a:off x="3471174" y="3034074"/>
            <a:ext cx="58264" cy="4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2" name="Connector 211"/>
          <p:cNvCxnSpPr/>
          <p:nvPr/>
        </p:nvCxnSpPr>
        <p:spPr>
          <a:xfrm flipV="1">
            <a:off x="3529438" y="3033777"/>
            <a:ext cx="58265" cy="29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3" name="Connector 212"/>
          <p:cNvCxnSpPr/>
          <p:nvPr/>
        </p:nvCxnSpPr>
        <p:spPr>
          <a:xfrm flipV="1">
            <a:off x="3587703" y="3033599"/>
            <a:ext cx="58265" cy="1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4" name="Connector 213"/>
          <p:cNvCxnSpPr/>
          <p:nvPr/>
        </p:nvCxnSpPr>
        <p:spPr>
          <a:xfrm flipV="1">
            <a:off x="3645968" y="3033540"/>
            <a:ext cx="58267"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5" name="Connector 214"/>
          <p:cNvCxnSpPr/>
          <p:nvPr/>
        </p:nvCxnSpPr>
        <p:spPr>
          <a:xfrm>
            <a:off x="3704235" y="3033540"/>
            <a:ext cx="58266"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6" name="Connector 215"/>
          <p:cNvCxnSpPr/>
          <p:nvPr/>
        </p:nvCxnSpPr>
        <p:spPr>
          <a:xfrm>
            <a:off x="3762501" y="3033599"/>
            <a:ext cx="58266" cy="1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7" name="Connector 216"/>
          <p:cNvCxnSpPr/>
          <p:nvPr/>
        </p:nvCxnSpPr>
        <p:spPr>
          <a:xfrm>
            <a:off x="3820767" y="3033777"/>
            <a:ext cx="58264" cy="29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8" name="Connector 217"/>
          <p:cNvCxnSpPr/>
          <p:nvPr/>
        </p:nvCxnSpPr>
        <p:spPr>
          <a:xfrm>
            <a:off x="3879031" y="3034074"/>
            <a:ext cx="58264" cy="4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9" name="Connector 218"/>
          <p:cNvCxnSpPr/>
          <p:nvPr/>
        </p:nvCxnSpPr>
        <p:spPr>
          <a:xfrm>
            <a:off x="3937295" y="3034490"/>
            <a:ext cx="58262" cy="5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0" name="Connector 219"/>
          <p:cNvCxnSpPr/>
          <p:nvPr/>
        </p:nvCxnSpPr>
        <p:spPr>
          <a:xfrm>
            <a:off x="3995557" y="3035024"/>
            <a:ext cx="58259" cy="6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1" name="Connector 220"/>
          <p:cNvCxnSpPr/>
          <p:nvPr/>
        </p:nvCxnSpPr>
        <p:spPr>
          <a:xfrm>
            <a:off x="4053816" y="3035677"/>
            <a:ext cx="58257" cy="7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2" name="Connector 221"/>
          <p:cNvCxnSpPr/>
          <p:nvPr/>
        </p:nvCxnSpPr>
        <p:spPr>
          <a:xfrm>
            <a:off x="4112073" y="3036449"/>
            <a:ext cx="58254" cy="8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3" name="Connector 222"/>
          <p:cNvCxnSpPr/>
          <p:nvPr/>
        </p:nvCxnSpPr>
        <p:spPr>
          <a:xfrm>
            <a:off x="4170327" y="3037340"/>
            <a:ext cx="58250" cy="10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4" name="Connector 223"/>
          <p:cNvCxnSpPr/>
          <p:nvPr/>
        </p:nvCxnSpPr>
        <p:spPr>
          <a:xfrm>
            <a:off x="4228577" y="3038349"/>
            <a:ext cx="58246" cy="11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5" name="Connector 224"/>
          <p:cNvCxnSpPr/>
          <p:nvPr/>
        </p:nvCxnSpPr>
        <p:spPr>
          <a:xfrm>
            <a:off x="4286823" y="3039477"/>
            <a:ext cx="58241" cy="12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6" name="Connector 225"/>
          <p:cNvCxnSpPr/>
          <p:nvPr/>
        </p:nvCxnSpPr>
        <p:spPr>
          <a:xfrm>
            <a:off x="4345064" y="3040724"/>
            <a:ext cx="58237" cy="1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7" name="Connector 226"/>
          <p:cNvCxnSpPr/>
          <p:nvPr/>
        </p:nvCxnSpPr>
        <p:spPr>
          <a:xfrm>
            <a:off x="4403301" y="3042090"/>
            <a:ext cx="58231" cy="1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8" name="Connector 227"/>
          <p:cNvCxnSpPr/>
          <p:nvPr/>
        </p:nvCxnSpPr>
        <p:spPr>
          <a:xfrm>
            <a:off x="4461532" y="3043575"/>
            <a:ext cx="58226" cy="16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9" name="Connector 228"/>
          <p:cNvCxnSpPr/>
          <p:nvPr/>
        </p:nvCxnSpPr>
        <p:spPr>
          <a:xfrm>
            <a:off x="4519758" y="3045178"/>
            <a:ext cx="58219" cy="17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0" name="Connector 229"/>
          <p:cNvCxnSpPr/>
          <p:nvPr/>
        </p:nvCxnSpPr>
        <p:spPr>
          <a:xfrm>
            <a:off x="4577977" y="3046900"/>
            <a:ext cx="58212" cy="1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1" name="Connector 230"/>
          <p:cNvCxnSpPr/>
          <p:nvPr/>
        </p:nvCxnSpPr>
        <p:spPr>
          <a:xfrm>
            <a:off x="4636189" y="3048741"/>
            <a:ext cx="58206" cy="196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2" name="Connector 231"/>
          <p:cNvCxnSpPr/>
          <p:nvPr/>
        </p:nvCxnSpPr>
        <p:spPr>
          <a:xfrm>
            <a:off x="4694395" y="3050701"/>
            <a:ext cx="58197" cy="20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3" name="Connector 232"/>
          <p:cNvCxnSpPr/>
          <p:nvPr/>
        </p:nvCxnSpPr>
        <p:spPr>
          <a:xfrm>
            <a:off x="4752592" y="3052779"/>
            <a:ext cx="58190" cy="2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4" name="Connector 233"/>
          <p:cNvCxnSpPr/>
          <p:nvPr/>
        </p:nvCxnSpPr>
        <p:spPr>
          <a:xfrm>
            <a:off x="4810782" y="3054977"/>
            <a:ext cx="58181" cy="23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5" name="Connector 234"/>
          <p:cNvCxnSpPr/>
          <p:nvPr/>
        </p:nvCxnSpPr>
        <p:spPr>
          <a:xfrm>
            <a:off x="4868963" y="3057293"/>
            <a:ext cx="58172" cy="243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6" name="Connector 235"/>
          <p:cNvCxnSpPr/>
          <p:nvPr/>
        </p:nvCxnSpPr>
        <p:spPr>
          <a:xfrm>
            <a:off x="4927135" y="3059728"/>
            <a:ext cx="58163" cy="255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7" name="Connector 236"/>
          <p:cNvCxnSpPr/>
          <p:nvPr/>
        </p:nvCxnSpPr>
        <p:spPr>
          <a:xfrm>
            <a:off x="4985298" y="3062282"/>
            <a:ext cx="58153" cy="26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8" name="Connector 237"/>
          <p:cNvCxnSpPr/>
          <p:nvPr/>
        </p:nvCxnSpPr>
        <p:spPr>
          <a:xfrm>
            <a:off x="5043451" y="3064954"/>
            <a:ext cx="58142" cy="27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9" name="Connector 238"/>
          <p:cNvCxnSpPr/>
          <p:nvPr/>
        </p:nvCxnSpPr>
        <p:spPr>
          <a:xfrm>
            <a:off x="5101593" y="3067746"/>
            <a:ext cx="58132" cy="291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0" name="Connector 239"/>
          <p:cNvCxnSpPr/>
          <p:nvPr/>
        </p:nvCxnSpPr>
        <p:spPr>
          <a:xfrm>
            <a:off x="5159725" y="3070656"/>
            <a:ext cx="58121" cy="30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1" name="Connector 240"/>
          <p:cNvCxnSpPr/>
          <p:nvPr/>
        </p:nvCxnSpPr>
        <p:spPr>
          <a:xfrm>
            <a:off x="5217846" y="3073686"/>
            <a:ext cx="58109" cy="31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2" name="Connector 241"/>
          <p:cNvCxnSpPr/>
          <p:nvPr/>
        </p:nvCxnSpPr>
        <p:spPr>
          <a:xfrm>
            <a:off x="5275955" y="3076834"/>
            <a:ext cx="58097" cy="3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3" name="Connector 242"/>
          <p:cNvCxnSpPr/>
          <p:nvPr/>
        </p:nvCxnSpPr>
        <p:spPr>
          <a:xfrm>
            <a:off x="5334052" y="3080101"/>
            <a:ext cx="58084" cy="33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4" name="Connector 243"/>
          <p:cNvCxnSpPr/>
          <p:nvPr/>
        </p:nvCxnSpPr>
        <p:spPr>
          <a:xfrm>
            <a:off x="5392136" y="3083487"/>
            <a:ext cx="58071" cy="350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5" name="Connector 244"/>
          <p:cNvCxnSpPr/>
          <p:nvPr/>
        </p:nvCxnSpPr>
        <p:spPr>
          <a:xfrm>
            <a:off x="5450207" y="3086992"/>
            <a:ext cx="58058" cy="36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6" name="Connector 245"/>
          <p:cNvCxnSpPr/>
          <p:nvPr/>
        </p:nvCxnSpPr>
        <p:spPr>
          <a:xfrm>
            <a:off x="5508265" y="3090616"/>
            <a:ext cx="58044" cy="374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7" name="Connector 246"/>
          <p:cNvCxnSpPr/>
          <p:nvPr/>
        </p:nvCxnSpPr>
        <p:spPr>
          <a:xfrm>
            <a:off x="5566309" y="3094358"/>
            <a:ext cx="58030" cy="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8" name="Connector 247"/>
          <p:cNvCxnSpPr/>
          <p:nvPr/>
        </p:nvCxnSpPr>
        <p:spPr>
          <a:xfrm>
            <a:off x="5624339" y="3098220"/>
            <a:ext cx="58014" cy="39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9" name="Connector 248"/>
          <p:cNvCxnSpPr/>
          <p:nvPr/>
        </p:nvCxnSpPr>
        <p:spPr>
          <a:xfrm>
            <a:off x="5682353" y="3102201"/>
            <a:ext cx="58000" cy="410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0" name="Connector 249"/>
          <p:cNvCxnSpPr/>
          <p:nvPr/>
        </p:nvCxnSpPr>
        <p:spPr>
          <a:xfrm flipV="1">
            <a:off x="1703930" y="4384168"/>
            <a:ext cx="55375" cy="41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1" name="Connector 250"/>
          <p:cNvCxnSpPr/>
          <p:nvPr/>
        </p:nvCxnSpPr>
        <p:spPr>
          <a:xfrm flipV="1">
            <a:off x="1759305" y="4380092"/>
            <a:ext cx="55390" cy="40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2" name="Connector 251"/>
          <p:cNvCxnSpPr/>
          <p:nvPr/>
        </p:nvCxnSpPr>
        <p:spPr>
          <a:xfrm flipV="1">
            <a:off x="1814695" y="4376135"/>
            <a:ext cx="55407" cy="39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3" name="Connector 252"/>
          <p:cNvCxnSpPr/>
          <p:nvPr/>
        </p:nvCxnSpPr>
        <p:spPr>
          <a:xfrm flipV="1">
            <a:off x="1870102" y="4372296"/>
            <a:ext cx="55421" cy="38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4" name="Connector 253"/>
          <p:cNvCxnSpPr/>
          <p:nvPr/>
        </p:nvCxnSpPr>
        <p:spPr>
          <a:xfrm flipV="1">
            <a:off x="1925523" y="4368575"/>
            <a:ext cx="55436" cy="37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5" name="Connector 254"/>
          <p:cNvCxnSpPr/>
          <p:nvPr/>
        </p:nvCxnSpPr>
        <p:spPr>
          <a:xfrm flipV="1">
            <a:off x="1980959" y="4364973"/>
            <a:ext cx="55450" cy="36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6" name="Connector 255"/>
          <p:cNvCxnSpPr/>
          <p:nvPr/>
        </p:nvCxnSpPr>
        <p:spPr>
          <a:xfrm flipV="1">
            <a:off x="2036409" y="4361488"/>
            <a:ext cx="55464" cy="3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7" name="Connector 256"/>
          <p:cNvCxnSpPr/>
          <p:nvPr/>
        </p:nvCxnSpPr>
        <p:spPr>
          <a:xfrm flipV="1">
            <a:off x="2091873" y="4358122"/>
            <a:ext cx="55477" cy="3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8" name="Connector 257"/>
          <p:cNvCxnSpPr/>
          <p:nvPr/>
        </p:nvCxnSpPr>
        <p:spPr>
          <a:xfrm flipV="1">
            <a:off x="2147350" y="4354874"/>
            <a:ext cx="55490" cy="32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9" name="Connector 258"/>
          <p:cNvCxnSpPr/>
          <p:nvPr/>
        </p:nvCxnSpPr>
        <p:spPr>
          <a:xfrm flipV="1">
            <a:off x="2202840" y="4351744"/>
            <a:ext cx="55503" cy="31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0" name="Connector 259"/>
          <p:cNvCxnSpPr/>
          <p:nvPr/>
        </p:nvCxnSpPr>
        <p:spPr>
          <a:xfrm flipV="1">
            <a:off x="2258343" y="4348733"/>
            <a:ext cx="55514" cy="30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1" name="Connector 260"/>
          <p:cNvCxnSpPr/>
          <p:nvPr/>
        </p:nvCxnSpPr>
        <p:spPr>
          <a:xfrm flipV="1">
            <a:off x="2313857" y="4345839"/>
            <a:ext cx="55525" cy="28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2" name="Connector 261"/>
          <p:cNvCxnSpPr/>
          <p:nvPr/>
        </p:nvCxnSpPr>
        <p:spPr>
          <a:xfrm flipV="1">
            <a:off x="2369382" y="4343064"/>
            <a:ext cx="55537" cy="277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3" name="Connector 262"/>
          <p:cNvCxnSpPr/>
          <p:nvPr/>
        </p:nvCxnSpPr>
        <p:spPr>
          <a:xfrm flipV="1">
            <a:off x="2424919" y="4340407"/>
            <a:ext cx="55547" cy="26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4" name="Connector 263"/>
          <p:cNvCxnSpPr/>
          <p:nvPr/>
        </p:nvCxnSpPr>
        <p:spPr>
          <a:xfrm flipV="1">
            <a:off x="2480466" y="4337868"/>
            <a:ext cx="55557" cy="25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5" name="Connector 264"/>
          <p:cNvCxnSpPr/>
          <p:nvPr/>
        </p:nvCxnSpPr>
        <p:spPr>
          <a:xfrm flipV="1">
            <a:off x="2536023" y="4335447"/>
            <a:ext cx="55567" cy="24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6" name="Connector 265"/>
          <p:cNvCxnSpPr/>
          <p:nvPr/>
        </p:nvCxnSpPr>
        <p:spPr>
          <a:xfrm flipV="1">
            <a:off x="2591590" y="4333144"/>
            <a:ext cx="55576" cy="23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7" name="Connector 266"/>
          <p:cNvCxnSpPr/>
          <p:nvPr/>
        </p:nvCxnSpPr>
        <p:spPr>
          <a:xfrm flipV="1">
            <a:off x="2647166" y="4330960"/>
            <a:ext cx="55584" cy="21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8" name="Connector 267"/>
          <p:cNvCxnSpPr/>
          <p:nvPr/>
        </p:nvCxnSpPr>
        <p:spPr>
          <a:xfrm flipV="1">
            <a:off x="2702750" y="4328893"/>
            <a:ext cx="55593" cy="20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9" name="Connector 268"/>
          <p:cNvCxnSpPr/>
          <p:nvPr/>
        </p:nvCxnSpPr>
        <p:spPr>
          <a:xfrm flipV="1">
            <a:off x="2758343" y="4326945"/>
            <a:ext cx="55601" cy="19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0" name="Connector 269"/>
          <p:cNvCxnSpPr/>
          <p:nvPr/>
        </p:nvCxnSpPr>
        <p:spPr>
          <a:xfrm flipV="1">
            <a:off x="2813944" y="4325115"/>
            <a:ext cx="55607" cy="18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1" name="Connector 270"/>
          <p:cNvCxnSpPr/>
          <p:nvPr/>
        </p:nvCxnSpPr>
        <p:spPr>
          <a:xfrm flipV="1">
            <a:off x="2869551" y="4323402"/>
            <a:ext cx="55615" cy="17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2" name="Connector 271"/>
          <p:cNvCxnSpPr/>
          <p:nvPr/>
        </p:nvCxnSpPr>
        <p:spPr>
          <a:xfrm flipV="1">
            <a:off x="2925166" y="4321808"/>
            <a:ext cx="55621" cy="15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3" name="Connector 272"/>
          <p:cNvCxnSpPr/>
          <p:nvPr/>
        </p:nvCxnSpPr>
        <p:spPr>
          <a:xfrm flipV="1">
            <a:off x="2980787" y="4320332"/>
            <a:ext cx="55627" cy="14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4" name="Connector 273"/>
          <p:cNvCxnSpPr/>
          <p:nvPr/>
        </p:nvCxnSpPr>
        <p:spPr>
          <a:xfrm flipV="1">
            <a:off x="3036414" y="4318975"/>
            <a:ext cx="55633" cy="13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5" name="Connector 274"/>
          <p:cNvCxnSpPr/>
          <p:nvPr/>
        </p:nvCxnSpPr>
        <p:spPr>
          <a:xfrm flipV="1">
            <a:off x="3092047" y="4317735"/>
            <a:ext cx="55637" cy="124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6" name="Connector 275"/>
          <p:cNvCxnSpPr/>
          <p:nvPr/>
        </p:nvCxnSpPr>
        <p:spPr>
          <a:xfrm flipV="1">
            <a:off x="3147684" y="4316613"/>
            <a:ext cx="55642" cy="11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7" name="Connector 276"/>
          <p:cNvCxnSpPr/>
          <p:nvPr/>
        </p:nvCxnSpPr>
        <p:spPr>
          <a:xfrm flipV="1">
            <a:off x="3203326" y="4315610"/>
            <a:ext cx="55646" cy="10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8" name="Connector 277"/>
          <p:cNvCxnSpPr/>
          <p:nvPr/>
        </p:nvCxnSpPr>
        <p:spPr>
          <a:xfrm flipV="1">
            <a:off x="3258972" y="4314724"/>
            <a:ext cx="55650" cy="8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9" name="Connector 278"/>
          <p:cNvCxnSpPr/>
          <p:nvPr/>
        </p:nvCxnSpPr>
        <p:spPr>
          <a:xfrm flipV="1">
            <a:off x="3314622" y="4313957"/>
            <a:ext cx="55653" cy="7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0" name="Connector 279"/>
          <p:cNvCxnSpPr/>
          <p:nvPr/>
        </p:nvCxnSpPr>
        <p:spPr>
          <a:xfrm flipV="1">
            <a:off x="3370275" y="4313307"/>
            <a:ext cx="55656" cy="65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1" name="Connector 280"/>
          <p:cNvCxnSpPr/>
          <p:nvPr/>
        </p:nvCxnSpPr>
        <p:spPr>
          <a:xfrm flipV="1">
            <a:off x="3425931" y="4312776"/>
            <a:ext cx="55658" cy="5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2" name="Connector 281"/>
          <p:cNvCxnSpPr/>
          <p:nvPr/>
        </p:nvCxnSpPr>
        <p:spPr>
          <a:xfrm flipV="1">
            <a:off x="3481589" y="4312363"/>
            <a:ext cx="55660" cy="4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3" name="Connector 282"/>
          <p:cNvCxnSpPr/>
          <p:nvPr/>
        </p:nvCxnSpPr>
        <p:spPr>
          <a:xfrm flipV="1">
            <a:off x="3537249" y="4312067"/>
            <a:ext cx="55661" cy="2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4" name="Connector 283"/>
          <p:cNvCxnSpPr/>
          <p:nvPr/>
        </p:nvCxnSpPr>
        <p:spPr>
          <a:xfrm flipV="1">
            <a:off x="3592910" y="4311890"/>
            <a:ext cx="55662" cy="17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5" name="Connector 284"/>
          <p:cNvCxnSpPr/>
          <p:nvPr/>
        </p:nvCxnSpPr>
        <p:spPr>
          <a:xfrm flipV="1">
            <a:off x="3648572" y="4311831"/>
            <a:ext cx="55663"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6" name="Connector 285"/>
          <p:cNvCxnSpPr/>
          <p:nvPr/>
        </p:nvCxnSpPr>
        <p:spPr>
          <a:xfrm>
            <a:off x="3704235" y="4311831"/>
            <a:ext cx="55662"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7" name="Connector 286"/>
          <p:cNvCxnSpPr/>
          <p:nvPr/>
        </p:nvCxnSpPr>
        <p:spPr>
          <a:xfrm>
            <a:off x="3759897" y="4311890"/>
            <a:ext cx="55662" cy="17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8" name="Connector 287"/>
          <p:cNvCxnSpPr/>
          <p:nvPr/>
        </p:nvCxnSpPr>
        <p:spPr>
          <a:xfrm>
            <a:off x="3815559" y="4312067"/>
            <a:ext cx="55662" cy="2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9" name="Connector 288"/>
          <p:cNvCxnSpPr/>
          <p:nvPr/>
        </p:nvCxnSpPr>
        <p:spPr>
          <a:xfrm>
            <a:off x="3871221" y="4312363"/>
            <a:ext cx="55659" cy="4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0" name="Connector 289"/>
          <p:cNvCxnSpPr/>
          <p:nvPr/>
        </p:nvCxnSpPr>
        <p:spPr>
          <a:xfrm>
            <a:off x="3926880" y="4312776"/>
            <a:ext cx="55658" cy="5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1" name="Connector 290"/>
          <p:cNvCxnSpPr/>
          <p:nvPr/>
        </p:nvCxnSpPr>
        <p:spPr>
          <a:xfrm>
            <a:off x="3982538" y="4313307"/>
            <a:ext cx="55656" cy="65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2" name="Connector 291"/>
          <p:cNvCxnSpPr/>
          <p:nvPr/>
        </p:nvCxnSpPr>
        <p:spPr>
          <a:xfrm>
            <a:off x="4038194" y="4313957"/>
            <a:ext cx="55653" cy="7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3" name="Connector 292"/>
          <p:cNvCxnSpPr/>
          <p:nvPr/>
        </p:nvCxnSpPr>
        <p:spPr>
          <a:xfrm>
            <a:off x="4093847" y="4314724"/>
            <a:ext cx="55650" cy="8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4" name="Connector 293"/>
          <p:cNvCxnSpPr/>
          <p:nvPr/>
        </p:nvCxnSpPr>
        <p:spPr>
          <a:xfrm>
            <a:off x="4149497" y="4315610"/>
            <a:ext cx="55646" cy="10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5" name="Connector 294"/>
          <p:cNvCxnSpPr/>
          <p:nvPr/>
        </p:nvCxnSpPr>
        <p:spPr>
          <a:xfrm>
            <a:off x="4205143" y="4316613"/>
            <a:ext cx="55642" cy="11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6" name="Connector 295"/>
          <p:cNvCxnSpPr/>
          <p:nvPr/>
        </p:nvCxnSpPr>
        <p:spPr>
          <a:xfrm>
            <a:off x="4260785" y="4317735"/>
            <a:ext cx="55638" cy="124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7" name="Connector 296"/>
          <p:cNvCxnSpPr/>
          <p:nvPr/>
        </p:nvCxnSpPr>
        <p:spPr>
          <a:xfrm>
            <a:off x="4316423" y="4318975"/>
            <a:ext cx="55632" cy="13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8" name="Connector 297"/>
          <p:cNvCxnSpPr/>
          <p:nvPr/>
        </p:nvCxnSpPr>
        <p:spPr>
          <a:xfrm>
            <a:off x="4372055" y="4320332"/>
            <a:ext cx="55627" cy="14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9" name="Connector 298"/>
          <p:cNvCxnSpPr/>
          <p:nvPr/>
        </p:nvCxnSpPr>
        <p:spPr>
          <a:xfrm>
            <a:off x="4427682" y="4321808"/>
            <a:ext cx="55621" cy="15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0" name="Connector 299"/>
          <p:cNvCxnSpPr/>
          <p:nvPr/>
        </p:nvCxnSpPr>
        <p:spPr>
          <a:xfrm>
            <a:off x="4483303" y="4323402"/>
            <a:ext cx="55615" cy="17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1" name="Connector 300"/>
          <p:cNvCxnSpPr/>
          <p:nvPr/>
        </p:nvCxnSpPr>
        <p:spPr>
          <a:xfrm>
            <a:off x="4538918" y="4325115"/>
            <a:ext cx="55608" cy="18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2" name="Connector 301"/>
          <p:cNvCxnSpPr/>
          <p:nvPr/>
        </p:nvCxnSpPr>
        <p:spPr>
          <a:xfrm>
            <a:off x="4594526" y="4326945"/>
            <a:ext cx="55600" cy="19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3" name="Connector 302"/>
          <p:cNvCxnSpPr/>
          <p:nvPr/>
        </p:nvCxnSpPr>
        <p:spPr>
          <a:xfrm>
            <a:off x="4650126" y="4328893"/>
            <a:ext cx="55593" cy="20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4" name="Connector 303"/>
          <p:cNvCxnSpPr/>
          <p:nvPr/>
        </p:nvCxnSpPr>
        <p:spPr>
          <a:xfrm>
            <a:off x="4705719" y="4330960"/>
            <a:ext cx="55584" cy="21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5" name="Connector 304"/>
          <p:cNvCxnSpPr/>
          <p:nvPr/>
        </p:nvCxnSpPr>
        <p:spPr>
          <a:xfrm>
            <a:off x="4761303" y="4333144"/>
            <a:ext cx="55576" cy="23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6" name="Connector 305"/>
          <p:cNvCxnSpPr/>
          <p:nvPr/>
        </p:nvCxnSpPr>
        <p:spPr>
          <a:xfrm>
            <a:off x="4816879" y="4335447"/>
            <a:ext cx="55567" cy="24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7" name="Connector 306"/>
          <p:cNvCxnSpPr/>
          <p:nvPr/>
        </p:nvCxnSpPr>
        <p:spPr>
          <a:xfrm>
            <a:off x="4872446" y="4337868"/>
            <a:ext cx="55557" cy="25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8" name="Connector 307"/>
          <p:cNvCxnSpPr/>
          <p:nvPr/>
        </p:nvCxnSpPr>
        <p:spPr>
          <a:xfrm>
            <a:off x="4928003" y="4340407"/>
            <a:ext cx="55547" cy="26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9" name="Connector 308"/>
          <p:cNvCxnSpPr/>
          <p:nvPr/>
        </p:nvCxnSpPr>
        <p:spPr>
          <a:xfrm>
            <a:off x="4983550" y="4343064"/>
            <a:ext cx="55537" cy="277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0" name="Connector 309"/>
          <p:cNvCxnSpPr/>
          <p:nvPr/>
        </p:nvCxnSpPr>
        <p:spPr>
          <a:xfrm>
            <a:off x="5039087" y="4345839"/>
            <a:ext cx="55525" cy="28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1" name="Connector 310"/>
          <p:cNvCxnSpPr/>
          <p:nvPr/>
        </p:nvCxnSpPr>
        <p:spPr>
          <a:xfrm>
            <a:off x="5094612" y="4348733"/>
            <a:ext cx="55515" cy="30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2" name="Connector 311"/>
          <p:cNvCxnSpPr/>
          <p:nvPr/>
        </p:nvCxnSpPr>
        <p:spPr>
          <a:xfrm>
            <a:off x="5150127" y="4351744"/>
            <a:ext cx="55502" cy="31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3" name="Connector 312"/>
          <p:cNvCxnSpPr/>
          <p:nvPr/>
        </p:nvCxnSpPr>
        <p:spPr>
          <a:xfrm>
            <a:off x="5205629" y="4354874"/>
            <a:ext cx="55490" cy="32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4" name="Connector 313"/>
          <p:cNvCxnSpPr/>
          <p:nvPr/>
        </p:nvCxnSpPr>
        <p:spPr>
          <a:xfrm>
            <a:off x="5261119" y="4358122"/>
            <a:ext cx="55477" cy="3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5" name="Connector 314"/>
          <p:cNvCxnSpPr/>
          <p:nvPr/>
        </p:nvCxnSpPr>
        <p:spPr>
          <a:xfrm>
            <a:off x="5316596" y="4361488"/>
            <a:ext cx="55464" cy="3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6" name="Connector 315"/>
          <p:cNvCxnSpPr/>
          <p:nvPr/>
        </p:nvCxnSpPr>
        <p:spPr>
          <a:xfrm>
            <a:off x="5372060" y="4364973"/>
            <a:ext cx="55450" cy="36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7" name="Connector 316"/>
          <p:cNvCxnSpPr/>
          <p:nvPr/>
        </p:nvCxnSpPr>
        <p:spPr>
          <a:xfrm>
            <a:off x="5427510" y="4368575"/>
            <a:ext cx="55436" cy="37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8" name="Connector 317"/>
          <p:cNvCxnSpPr/>
          <p:nvPr/>
        </p:nvCxnSpPr>
        <p:spPr>
          <a:xfrm>
            <a:off x="5482946" y="4372296"/>
            <a:ext cx="55422" cy="38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9" name="Connector 318"/>
          <p:cNvCxnSpPr/>
          <p:nvPr/>
        </p:nvCxnSpPr>
        <p:spPr>
          <a:xfrm>
            <a:off x="5538368" y="4376135"/>
            <a:ext cx="55406" cy="39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0" name="Connector 319"/>
          <p:cNvCxnSpPr/>
          <p:nvPr/>
        </p:nvCxnSpPr>
        <p:spPr>
          <a:xfrm>
            <a:off x="5593774" y="4380092"/>
            <a:ext cx="55391" cy="40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1" name="Connector 320"/>
          <p:cNvCxnSpPr/>
          <p:nvPr/>
        </p:nvCxnSpPr>
        <p:spPr>
          <a:xfrm flipV="1">
            <a:off x="1809240" y="5661717"/>
            <a:ext cx="52447" cy="41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2" name="Connector 321"/>
          <p:cNvCxnSpPr/>
          <p:nvPr/>
        </p:nvCxnSpPr>
        <p:spPr>
          <a:xfrm flipV="1">
            <a:off x="1861687" y="5657705"/>
            <a:ext cx="52464" cy="401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3" name="Connector 322"/>
          <p:cNvCxnSpPr/>
          <p:nvPr/>
        </p:nvCxnSpPr>
        <p:spPr>
          <a:xfrm flipV="1">
            <a:off x="1914151" y="5653809"/>
            <a:ext cx="52479" cy="38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4" name="Connector 323"/>
          <p:cNvCxnSpPr/>
          <p:nvPr/>
        </p:nvCxnSpPr>
        <p:spPr>
          <a:xfrm flipV="1">
            <a:off x="1966630" y="5650030"/>
            <a:ext cx="52495" cy="37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5" name="Connector 324"/>
          <p:cNvCxnSpPr/>
          <p:nvPr/>
        </p:nvCxnSpPr>
        <p:spPr>
          <a:xfrm flipV="1">
            <a:off x="2019125" y="5646367"/>
            <a:ext cx="52509" cy="36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6" name="Connector 325"/>
          <p:cNvCxnSpPr/>
          <p:nvPr/>
        </p:nvCxnSpPr>
        <p:spPr>
          <a:xfrm flipV="1">
            <a:off x="2071634" y="5642820"/>
            <a:ext cx="52523" cy="35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7" name="Connector 326"/>
          <p:cNvCxnSpPr/>
          <p:nvPr/>
        </p:nvCxnSpPr>
        <p:spPr>
          <a:xfrm flipV="1">
            <a:off x="2124157" y="5639390"/>
            <a:ext cx="52538" cy="34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8" name="Connector 327"/>
          <p:cNvCxnSpPr/>
          <p:nvPr/>
        </p:nvCxnSpPr>
        <p:spPr>
          <a:xfrm flipV="1">
            <a:off x="2176695" y="5636076"/>
            <a:ext cx="52551" cy="33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9" name="Connector 328"/>
          <p:cNvCxnSpPr/>
          <p:nvPr/>
        </p:nvCxnSpPr>
        <p:spPr>
          <a:xfrm flipV="1">
            <a:off x="2229246" y="5632878"/>
            <a:ext cx="52564" cy="3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0" name="Connector 329"/>
          <p:cNvCxnSpPr/>
          <p:nvPr/>
        </p:nvCxnSpPr>
        <p:spPr>
          <a:xfrm flipV="1">
            <a:off x="2281810" y="5629797"/>
            <a:ext cx="52576" cy="30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1" name="Connector 330"/>
          <p:cNvCxnSpPr/>
          <p:nvPr/>
        </p:nvCxnSpPr>
        <p:spPr>
          <a:xfrm flipV="1">
            <a:off x="2334386" y="5626832"/>
            <a:ext cx="52588" cy="296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2" name="Connector 331"/>
          <p:cNvCxnSpPr/>
          <p:nvPr/>
        </p:nvCxnSpPr>
        <p:spPr>
          <a:xfrm flipV="1">
            <a:off x="2386974" y="5623983"/>
            <a:ext cx="52600" cy="2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3" name="Connector 332"/>
          <p:cNvCxnSpPr/>
          <p:nvPr/>
        </p:nvCxnSpPr>
        <p:spPr>
          <a:xfrm flipV="1">
            <a:off x="2439574" y="5621251"/>
            <a:ext cx="52611" cy="27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4" name="Connector 333"/>
          <p:cNvCxnSpPr/>
          <p:nvPr/>
        </p:nvCxnSpPr>
        <p:spPr>
          <a:xfrm flipV="1">
            <a:off x="2492185" y="5618634"/>
            <a:ext cx="52622" cy="26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5" name="Connector 334"/>
          <p:cNvCxnSpPr/>
          <p:nvPr/>
        </p:nvCxnSpPr>
        <p:spPr>
          <a:xfrm flipV="1">
            <a:off x="2544807" y="5616135"/>
            <a:ext cx="52631" cy="24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6" name="Connector 335"/>
          <p:cNvCxnSpPr/>
          <p:nvPr/>
        </p:nvCxnSpPr>
        <p:spPr>
          <a:xfrm flipV="1">
            <a:off x="2597438" y="5613751"/>
            <a:ext cx="52642" cy="23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7" name="Connector 336"/>
          <p:cNvCxnSpPr/>
          <p:nvPr/>
        </p:nvCxnSpPr>
        <p:spPr>
          <a:xfrm flipV="1">
            <a:off x="2650080" y="5611484"/>
            <a:ext cx="52651" cy="2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8" name="Connector 337"/>
          <p:cNvCxnSpPr/>
          <p:nvPr/>
        </p:nvCxnSpPr>
        <p:spPr>
          <a:xfrm flipV="1">
            <a:off x="2702731" y="5609333"/>
            <a:ext cx="52659" cy="215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9" name="Connector 338"/>
          <p:cNvCxnSpPr/>
          <p:nvPr/>
        </p:nvCxnSpPr>
        <p:spPr>
          <a:xfrm flipV="1">
            <a:off x="2755390" y="5607299"/>
            <a:ext cx="52668" cy="20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0" name="Connector 339"/>
          <p:cNvCxnSpPr/>
          <p:nvPr/>
        </p:nvCxnSpPr>
        <p:spPr>
          <a:xfrm flipV="1">
            <a:off x="2808058" y="5605380"/>
            <a:ext cx="52675" cy="1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1" name="Connector 340"/>
          <p:cNvCxnSpPr/>
          <p:nvPr/>
        </p:nvCxnSpPr>
        <p:spPr>
          <a:xfrm flipV="1">
            <a:off x="2860733" y="5603578"/>
            <a:ext cx="52683" cy="1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2" name="Connector 341"/>
          <p:cNvCxnSpPr/>
          <p:nvPr/>
        </p:nvCxnSpPr>
        <p:spPr>
          <a:xfrm flipV="1">
            <a:off x="2913416" y="5601893"/>
            <a:ext cx="52690" cy="16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3" name="Connector 342"/>
          <p:cNvCxnSpPr/>
          <p:nvPr/>
        </p:nvCxnSpPr>
        <p:spPr>
          <a:xfrm flipV="1">
            <a:off x="2966106" y="5600323"/>
            <a:ext cx="52697" cy="157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4" name="Connector 343"/>
          <p:cNvCxnSpPr/>
          <p:nvPr/>
        </p:nvCxnSpPr>
        <p:spPr>
          <a:xfrm flipV="1">
            <a:off x="3018803" y="5598870"/>
            <a:ext cx="52702" cy="14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5" name="Connector 344"/>
          <p:cNvCxnSpPr/>
          <p:nvPr/>
        </p:nvCxnSpPr>
        <p:spPr>
          <a:xfrm flipV="1">
            <a:off x="3071505" y="5597533"/>
            <a:ext cx="52708" cy="133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6" name="Connector 345"/>
          <p:cNvCxnSpPr/>
          <p:nvPr/>
        </p:nvCxnSpPr>
        <p:spPr>
          <a:xfrm flipV="1">
            <a:off x="3124213" y="5596312"/>
            <a:ext cx="52713" cy="12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7" name="Connector 346"/>
          <p:cNvCxnSpPr/>
          <p:nvPr/>
        </p:nvCxnSpPr>
        <p:spPr>
          <a:xfrm flipV="1">
            <a:off x="3176926" y="5595208"/>
            <a:ext cx="52718" cy="11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8" name="Connector 347"/>
          <p:cNvCxnSpPr/>
          <p:nvPr/>
        </p:nvCxnSpPr>
        <p:spPr>
          <a:xfrm flipV="1">
            <a:off x="3229644" y="5594220"/>
            <a:ext cx="52722" cy="9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9" name="Connector 348"/>
          <p:cNvCxnSpPr/>
          <p:nvPr/>
        </p:nvCxnSpPr>
        <p:spPr>
          <a:xfrm flipV="1">
            <a:off x="3282366" y="5593348"/>
            <a:ext cx="52725" cy="8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0" name="Connector 349"/>
          <p:cNvCxnSpPr/>
          <p:nvPr/>
        </p:nvCxnSpPr>
        <p:spPr>
          <a:xfrm flipV="1">
            <a:off x="3335091" y="5592592"/>
            <a:ext cx="52729" cy="75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1" name="Connector 350"/>
          <p:cNvCxnSpPr/>
          <p:nvPr/>
        </p:nvCxnSpPr>
        <p:spPr>
          <a:xfrm flipV="1">
            <a:off x="3387820" y="5591953"/>
            <a:ext cx="52732" cy="6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2" name="Connector 351"/>
          <p:cNvCxnSpPr/>
          <p:nvPr/>
        </p:nvCxnSpPr>
        <p:spPr>
          <a:xfrm flipV="1">
            <a:off x="3440552" y="5591430"/>
            <a:ext cx="52733" cy="52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3" name="Connector 352"/>
          <p:cNvCxnSpPr/>
          <p:nvPr/>
        </p:nvCxnSpPr>
        <p:spPr>
          <a:xfrm flipV="1">
            <a:off x="3493285" y="5591023"/>
            <a:ext cx="52736" cy="4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4" name="Connector 353"/>
          <p:cNvCxnSpPr/>
          <p:nvPr/>
        </p:nvCxnSpPr>
        <p:spPr>
          <a:xfrm flipV="1">
            <a:off x="3546021" y="5590732"/>
            <a:ext cx="52737" cy="2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5" name="Connector 354"/>
          <p:cNvCxnSpPr/>
          <p:nvPr/>
        </p:nvCxnSpPr>
        <p:spPr>
          <a:xfrm flipV="1">
            <a:off x="3598758" y="5590558"/>
            <a:ext cx="52738" cy="1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6" name="Connector 355"/>
          <p:cNvCxnSpPr/>
          <p:nvPr/>
        </p:nvCxnSpPr>
        <p:spPr>
          <a:xfrm flipV="1">
            <a:off x="3651496" y="5590500"/>
            <a:ext cx="52739" cy="5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7" name="Connector 356"/>
          <p:cNvCxnSpPr/>
          <p:nvPr/>
        </p:nvCxnSpPr>
        <p:spPr>
          <a:xfrm>
            <a:off x="3704235" y="5590500"/>
            <a:ext cx="52738" cy="5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8" name="Connector 357"/>
          <p:cNvCxnSpPr/>
          <p:nvPr/>
        </p:nvCxnSpPr>
        <p:spPr>
          <a:xfrm>
            <a:off x="3756973" y="5590558"/>
            <a:ext cx="52738" cy="1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9" name="Connector 358"/>
          <p:cNvCxnSpPr/>
          <p:nvPr/>
        </p:nvCxnSpPr>
        <p:spPr>
          <a:xfrm>
            <a:off x="3809711" y="5590732"/>
            <a:ext cx="52737" cy="2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0" name="Connector 359"/>
          <p:cNvCxnSpPr/>
          <p:nvPr/>
        </p:nvCxnSpPr>
        <p:spPr>
          <a:xfrm>
            <a:off x="3862448" y="5591023"/>
            <a:ext cx="52736" cy="4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1" name="Connector 360"/>
          <p:cNvCxnSpPr/>
          <p:nvPr/>
        </p:nvCxnSpPr>
        <p:spPr>
          <a:xfrm>
            <a:off x="3915184" y="5591430"/>
            <a:ext cx="52734" cy="52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2" name="Connector 361"/>
          <p:cNvCxnSpPr/>
          <p:nvPr/>
        </p:nvCxnSpPr>
        <p:spPr>
          <a:xfrm>
            <a:off x="3967918" y="5591953"/>
            <a:ext cx="52731" cy="6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3" name="Connector 362"/>
          <p:cNvCxnSpPr/>
          <p:nvPr/>
        </p:nvCxnSpPr>
        <p:spPr>
          <a:xfrm>
            <a:off x="4020649" y="5592592"/>
            <a:ext cx="52729" cy="75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4" name="Connector 363"/>
          <p:cNvCxnSpPr/>
          <p:nvPr/>
        </p:nvCxnSpPr>
        <p:spPr>
          <a:xfrm>
            <a:off x="4073378" y="5593348"/>
            <a:ext cx="52725" cy="8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5" name="Connector 364"/>
          <p:cNvCxnSpPr/>
          <p:nvPr/>
        </p:nvCxnSpPr>
        <p:spPr>
          <a:xfrm>
            <a:off x="4126103" y="5594220"/>
            <a:ext cx="52722" cy="9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6" name="Connector 365"/>
          <p:cNvCxnSpPr/>
          <p:nvPr/>
        </p:nvCxnSpPr>
        <p:spPr>
          <a:xfrm>
            <a:off x="4178825" y="5595208"/>
            <a:ext cx="52718" cy="11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7" name="Connector 366"/>
          <p:cNvCxnSpPr/>
          <p:nvPr/>
        </p:nvCxnSpPr>
        <p:spPr>
          <a:xfrm>
            <a:off x="4231543" y="5596312"/>
            <a:ext cx="52713" cy="12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8" name="Connector 367"/>
          <p:cNvCxnSpPr/>
          <p:nvPr/>
        </p:nvCxnSpPr>
        <p:spPr>
          <a:xfrm>
            <a:off x="4284256" y="5597533"/>
            <a:ext cx="52708" cy="133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9" name="Connector 368"/>
          <p:cNvCxnSpPr/>
          <p:nvPr/>
        </p:nvCxnSpPr>
        <p:spPr>
          <a:xfrm>
            <a:off x="4336964" y="5598870"/>
            <a:ext cx="52702" cy="14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0" name="Connector 369"/>
          <p:cNvCxnSpPr/>
          <p:nvPr/>
        </p:nvCxnSpPr>
        <p:spPr>
          <a:xfrm>
            <a:off x="4389666" y="5600323"/>
            <a:ext cx="52697" cy="157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1" name="Connector 370"/>
          <p:cNvCxnSpPr/>
          <p:nvPr/>
        </p:nvCxnSpPr>
        <p:spPr>
          <a:xfrm>
            <a:off x="4442363" y="5601893"/>
            <a:ext cx="52690" cy="16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2" name="Connector 371"/>
          <p:cNvCxnSpPr/>
          <p:nvPr/>
        </p:nvCxnSpPr>
        <p:spPr>
          <a:xfrm>
            <a:off x="4495053" y="5603578"/>
            <a:ext cx="52683" cy="1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3" name="Connector 372"/>
          <p:cNvCxnSpPr/>
          <p:nvPr/>
        </p:nvCxnSpPr>
        <p:spPr>
          <a:xfrm>
            <a:off x="4547736" y="5605380"/>
            <a:ext cx="52675" cy="1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4" name="Connector 373"/>
          <p:cNvCxnSpPr/>
          <p:nvPr/>
        </p:nvCxnSpPr>
        <p:spPr>
          <a:xfrm>
            <a:off x="4600411" y="5607299"/>
            <a:ext cx="52668" cy="20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5" name="Connector 374"/>
          <p:cNvCxnSpPr/>
          <p:nvPr/>
        </p:nvCxnSpPr>
        <p:spPr>
          <a:xfrm>
            <a:off x="4653079" y="5609333"/>
            <a:ext cx="52660" cy="215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6" name="Connector 375"/>
          <p:cNvCxnSpPr/>
          <p:nvPr/>
        </p:nvCxnSpPr>
        <p:spPr>
          <a:xfrm>
            <a:off x="4705739" y="5611484"/>
            <a:ext cx="52650" cy="2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7" name="Connector 376"/>
          <p:cNvCxnSpPr/>
          <p:nvPr/>
        </p:nvCxnSpPr>
        <p:spPr>
          <a:xfrm>
            <a:off x="4758389" y="5613751"/>
            <a:ext cx="52642" cy="23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8" name="Connector 377"/>
          <p:cNvCxnSpPr/>
          <p:nvPr/>
        </p:nvCxnSpPr>
        <p:spPr>
          <a:xfrm>
            <a:off x="4811031" y="5616135"/>
            <a:ext cx="52632" cy="24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9" name="Connector 378"/>
          <p:cNvCxnSpPr/>
          <p:nvPr/>
        </p:nvCxnSpPr>
        <p:spPr>
          <a:xfrm>
            <a:off x="4863663" y="5618634"/>
            <a:ext cx="52621" cy="26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0" name="Connector 379"/>
          <p:cNvCxnSpPr/>
          <p:nvPr/>
        </p:nvCxnSpPr>
        <p:spPr>
          <a:xfrm>
            <a:off x="4916284" y="5621251"/>
            <a:ext cx="52611" cy="27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1" name="Connector 380"/>
          <p:cNvCxnSpPr/>
          <p:nvPr/>
        </p:nvCxnSpPr>
        <p:spPr>
          <a:xfrm>
            <a:off x="4968895" y="5623983"/>
            <a:ext cx="52600" cy="2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2" name="Connector 381"/>
          <p:cNvCxnSpPr/>
          <p:nvPr/>
        </p:nvCxnSpPr>
        <p:spPr>
          <a:xfrm>
            <a:off x="5021495" y="5626832"/>
            <a:ext cx="52588" cy="296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3" name="Connector 382"/>
          <p:cNvCxnSpPr/>
          <p:nvPr/>
        </p:nvCxnSpPr>
        <p:spPr>
          <a:xfrm>
            <a:off x="5074083" y="5629797"/>
            <a:ext cx="52577" cy="30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4" name="Connector 383"/>
          <p:cNvCxnSpPr/>
          <p:nvPr/>
        </p:nvCxnSpPr>
        <p:spPr>
          <a:xfrm>
            <a:off x="5126660" y="5632878"/>
            <a:ext cx="52563" cy="3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5" name="Connector 384"/>
          <p:cNvCxnSpPr/>
          <p:nvPr/>
        </p:nvCxnSpPr>
        <p:spPr>
          <a:xfrm>
            <a:off x="5179223" y="5636076"/>
            <a:ext cx="52551" cy="33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6" name="Connector 385"/>
          <p:cNvCxnSpPr/>
          <p:nvPr/>
        </p:nvCxnSpPr>
        <p:spPr>
          <a:xfrm>
            <a:off x="5231774" y="5639390"/>
            <a:ext cx="52538" cy="34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7" name="Connector 386"/>
          <p:cNvCxnSpPr/>
          <p:nvPr/>
        </p:nvCxnSpPr>
        <p:spPr>
          <a:xfrm>
            <a:off x="5284312" y="5642820"/>
            <a:ext cx="52523" cy="35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8" name="Connector 387"/>
          <p:cNvCxnSpPr/>
          <p:nvPr/>
        </p:nvCxnSpPr>
        <p:spPr>
          <a:xfrm>
            <a:off x="5336835" y="5646367"/>
            <a:ext cx="52510" cy="36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9" name="Connector 388"/>
          <p:cNvCxnSpPr/>
          <p:nvPr/>
        </p:nvCxnSpPr>
        <p:spPr>
          <a:xfrm>
            <a:off x="5389345" y="5650030"/>
            <a:ext cx="52494" cy="37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0" name="Connector 389"/>
          <p:cNvCxnSpPr/>
          <p:nvPr/>
        </p:nvCxnSpPr>
        <p:spPr>
          <a:xfrm>
            <a:off x="5441839" y="5653809"/>
            <a:ext cx="52479" cy="38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1" name="Connector 390"/>
          <p:cNvCxnSpPr/>
          <p:nvPr/>
        </p:nvCxnSpPr>
        <p:spPr>
          <a:xfrm>
            <a:off x="5494318" y="5657705"/>
            <a:ext cx="52464" cy="401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2" name="Connector 391"/>
          <p:cNvCxnSpPr/>
          <p:nvPr/>
        </p:nvCxnSpPr>
        <p:spPr>
          <a:xfrm flipH="1" flipV="1">
            <a:off x="1817670" y="2685759"/>
            <a:ext cx="9059" cy="153194"/>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sp>
        <p:nvSpPr>
          <p:cNvPr id="393" name="TextBox 392"/>
          <p:cNvSpPr txBox="1"/>
          <p:nvPr/>
        </p:nvSpPr>
        <p:spPr>
          <a:xfrm>
            <a:off x="1744518" y="2475447"/>
            <a:ext cx="182880" cy="182880"/>
          </a:xfrm>
          <a:prstGeom prst="rect">
            <a:avLst/>
          </a:prstGeom>
          <a:noFill/>
        </p:spPr>
        <p:txBody>
          <a:bodyPr wrap="square" lIns="22860" rIns="22860" tIns="0" bIns="0">
            <a:spAutoFit/>
          </a:bodyPr>
          <a:lstStyle/>
          <a:p>
            <a:pPr>
              <a:spcAft>
                <a:spcPts val="300"/>
              </a:spcAft>
              <a:defRPr sz="900" b="1">
                <a:solidFill>
                  <a:srgbClr val="000000"/>
                </a:solidFill>
                <a:latin typeface="Lato"/>
              </a:defRPr>
            </a:pPr>
            <a:r>
              <a:t>N</a:t>
            </a:r>
          </a:p>
        </p:txBody>
      </p:sp>
      <p:cxnSp>
        <p:nvCxnSpPr>
          <p:cNvPr id="394" name="Connector 393"/>
          <p:cNvCxnSpPr/>
          <p:nvPr/>
        </p:nvCxnSpPr>
        <p:spPr>
          <a:xfrm flipH="1">
            <a:off x="1781094" y="2685759"/>
            <a:ext cx="36576" cy="82296"/>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5" name="Connector 394"/>
          <p:cNvCxnSpPr/>
          <p:nvPr/>
        </p:nvCxnSpPr>
        <p:spPr>
          <a:xfrm>
            <a:off x="1817670" y="2685759"/>
            <a:ext cx="36576" cy="82296"/>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6" name="Connector 395"/>
          <p:cNvCxnSpPr/>
          <p:nvPr/>
        </p:nvCxnSpPr>
        <p:spPr>
          <a:xfrm>
            <a:off x="640080" y="5632704"/>
            <a:ext cx="1153731" cy="0"/>
          </a:xfrm>
          <a:prstGeom prst="line">
            <a:avLst/>
          </a:prstGeom>
          <a:ln w="215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7" name="Connector 396"/>
          <p:cNvCxnSpPr/>
          <p:nvPr/>
        </p:nvCxnSpPr>
        <p:spPr>
          <a:xfrm>
            <a:off x="640080" y="5600700"/>
            <a:ext cx="0" cy="64008"/>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8" name="Connector 397"/>
          <p:cNvCxnSpPr/>
          <p:nvPr/>
        </p:nvCxnSpPr>
        <p:spPr>
          <a:xfrm>
            <a:off x="1216945" y="5600700"/>
            <a:ext cx="0" cy="64008"/>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9" name="Connector 398"/>
          <p:cNvCxnSpPr/>
          <p:nvPr/>
        </p:nvCxnSpPr>
        <p:spPr>
          <a:xfrm>
            <a:off x="1793811" y="5600700"/>
            <a:ext cx="0" cy="64008"/>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sp>
        <p:nvSpPr>
          <p:cNvPr id="400" name="TextBox 399"/>
          <p:cNvSpPr txBox="1"/>
          <p:nvPr/>
        </p:nvSpPr>
        <p:spPr>
          <a:xfrm>
            <a:off x="621792" y="5422392"/>
            <a:ext cx="164592" cy="164592"/>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0</a:t>
            </a:r>
          </a:p>
        </p:txBody>
      </p:sp>
      <p:sp>
        <p:nvSpPr>
          <p:cNvPr id="401" name="TextBox 400"/>
          <p:cNvSpPr txBox="1"/>
          <p:nvPr/>
        </p:nvSpPr>
        <p:spPr>
          <a:xfrm>
            <a:off x="1647507" y="5422392"/>
            <a:ext cx="502920" cy="164592"/>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500 km</a:t>
            </a:r>
          </a:p>
        </p:txBody>
      </p:sp>
      <p:sp>
        <p:nvSpPr>
          <p:cNvPr id="402" name="Illustrative delivered road transport cost class None; reference terminal None"/>
          <p:cNvSpPr/>
          <p:nvPr/>
        </p:nvSpPr>
        <p:spPr>
          <a:xfrm>
            <a:off x="1777332" y="4003253"/>
            <a:ext cx="23246" cy="51234"/>
          </a:xfrm>
          <a:custGeom>
            <a:avLst/>
            <a:gdLst/>
            <a:ahLst/>
            <a:cxnLst/>
            <a:rect l="l" t="t" r="r" b="b"/>
            <a:pathLst>
              <a:path w="23246" h="51234">
                <a:moveTo>
                  <a:pt x="23246" y="51234"/>
                </a:moveTo>
                <a:lnTo>
                  <a:pt x="7894" y="29876"/>
                </a:lnTo>
                <a:lnTo>
                  <a:pt x="0" y="24297"/>
                </a:lnTo>
                <a:lnTo>
                  <a:pt x="8068" y="12224"/>
                </a:lnTo>
                <a:lnTo>
                  <a:pt x="23246" y="0"/>
                </a:lnTo>
                <a:lnTo>
                  <a:pt x="23246" y="51234"/>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3" name="Illustrative delivered road transport cost class None; reference terminal None"/>
          <p:cNvSpPr/>
          <p:nvPr/>
        </p:nvSpPr>
        <p:spPr>
          <a:xfrm>
            <a:off x="1843178" y="4113755"/>
            <a:ext cx="15086" cy="24460"/>
          </a:xfrm>
          <a:custGeom>
            <a:avLst/>
            <a:gdLst/>
            <a:ahLst/>
            <a:cxnLst/>
            <a:rect l="l" t="t" r="r" b="b"/>
            <a:pathLst>
              <a:path w="15086" h="24460">
                <a:moveTo>
                  <a:pt x="15086" y="0"/>
                </a:moveTo>
                <a:lnTo>
                  <a:pt x="15086" y="24460"/>
                </a:lnTo>
                <a:lnTo>
                  <a:pt x="6687" y="9302"/>
                </a:lnTo>
                <a:lnTo>
                  <a:pt x="0" y="0"/>
                </a:lnTo>
                <a:lnTo>
                  <a:pt x="150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4" name="Illustrative delivered road transport cost class 4; reference terminal Lesedi"/>
          <p:cNvSpPr/>
          <p:nvPr/>
        </p:nvSpPr>
        <p:spPr>
          <a:xfrm>
            <a:off x="1801714" y="4056068"/>
            <a:ext cx="56550" cy="57687"/>
          </a:xfrm>
          <a:custGeom>
            <a:avLst/>
            <a:gdLst/>
            <a:ahLst/>
            <a:cxnLst/>
            <a:rect l="l" t="t" r="r" b="b"/>
            <a:pathLst>
              <a:path w="56550" h="57687">
                <a:moveTo>
                  <a:pt x="56550" y="0"/>
                </a:moveTo>
                <a:lnTo>
                  <a:pt x="56550" y="57687"/>
                </a:lnTo>
                <a:lnTo>
                  <a:pt x="41464" y="57687"/>
                </a:lnTo>
                <a:lnTo>
                  <a:pt x="0" y="0"/>
                </a:lnTo>
                <a:lnTo>
                  <a:pt x="5655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5" name="Illustrative delivered road transport cost class 4; reference terminal Lesedi"/>
          <p:cNvSpPr/>
          <p:nvPr/>
        </p:nvSpPr>
        <p:spPr>
          <a:xfrm>
            <a:off x="1800578" y="3998382"/>
            <a:ext cx="57686" cy="57686"/>
          </a:xfrm>
          <a:custGeom>
            <a:avLst/>
            <a:gdLst/>
            <a:ahLst/>
            <a:cxnLst/>
            <a:rect l="l" t="t" r="r" b="b"/>
            <a:pathLst>
              <a:path w="57686" h="57686">
                <a:moveTo>
                  <a:pt x="57686" y="0"/>
                </a:moveTo>
                <a:lnTo>
                  <a:pt x="57686" y="57686"/>
                </a:lnTo>
                <a:lnTo>
                  <a:pt x="1136" y="57686"/>
                </a:lnTo>
                <a:lnTo>
                  <a:pt x="0" y="56105"/>
                </a:lnTo>
                <a:lnTo>
                  <a:pt x="0" y="4871"/>
                </a:lnTo>
                <a:lnTo>
                  <a:pt x="6049" y="0"/>
                </a:lnTo>
                <a:lnTo>
                  <a:pt x="5768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6" name="Illustrative delivered road transport cost class 4; reference terminal Lesedi"/>
          <p:cNvSpPr/>
          <p:nvPr/>
        </p:nvSpPr>
        <p:spPr>
          <a:xfrm>
            <a:off x="1806627" y="3940695"/>
            <a:ext cx="51637" cy="57687"/>
          </a:xfrm>
          <a:custGeom>
            <a:avLst/>
            <a:gdLst/>
            <a:ahLst/>
            <a:cxnLst/>
            <a:rect l="l" t="t" r="r" b="b"/>
            <a:pathLst>
              <a:path w="51637" h="57687">
                <a:moveTo>
                  <a:pt x="51637" y="0"/>
                </a:moveTo>
                <a:lnTo>
                  <a:pt x="51637" y="57687"/>
                </a:lnTo>
                <a:lnTo>
                  <a:pt x="0" y="57687"/>
                </a:lnTo>
                <a:lnTo>
                  <a:pt x="8502" y="50839"/>
                </a:lnTo>
                <a:lnTo>
                  <a:pt x="22328" y="43972"/>
                </a:lnTo>
                <a:lnTo>
                  <a:pt x="30073" y="46140"/>
                </a:lnTo>
                <a:lnTo>
                  <a:pt x="37022" y="39661"/>
                </a:lnTo>
                <a:lnTo>
                  <a:pt x="43159" y="24487"/>
                </a:lnTo>
                <a:lnTo>
                  <a:pt x="43800" y="10598"/>
                </a:lnTo>
                <a:lnTo>
                  <a:pt x="44977" y="0"/>
                </a:lnTo>
                <a:lnTo>
                  <a:pt x="5163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7" name="Illustrative delivered road transport cost class None; reference terminal None"/>
          <p:cNvSpPr/>
          <p:nvPr/>
        </p:nvSpPr>
        <p:spPr>
          <a:xfrm>
            <a:off x="1851604" y="3920521"/>
            <a:ext cx="6660" cy="20174"/>
          </a:xfrm>
          <a:custGeom>
            <a:avLst/>
            <a:gdLst/>
            <a:ahLst/>
            <a:cxnLst/>
            <a:rect l="l" t="t" r="r" b="b"/>
            <a:pathLst>
              <a:path w="6660" h="20174">
                <a:moveTo>
                  <a:pt x="6660" y="20174"/>
                </a:moveTo>
                <a:lnTo>
                  <a:pt x="0" y="20174"/>
                </a:lnTo>
                <a:lnTo>
                  <a:pt x="1015" y="11032"/>
                </a:lnTo>
                <a:lnTo>
                  <a:pt x="6660" y="0"/>
                </a:lnTo>
                <a:lnTo>
                  <a:pt x="6660" y="20174"/>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8" name="Illustrative delivered road transport cost class 4; reference terminal Lesedi"/>
          <p:cNvSpPr/>
          <p:nvPr/>
        </p:nvSpPr>
        <p:spPr>
          <a:xfrm>
            <a:off x="1907099" y="4229128"/>
            <a:ext cx="8852" cy="23653"/>
          </a:xfrm>
          <a:custGeom>
            <a:avLst/>
            <a:gdLst/>
            <a:ahLst/>
            <a:cxnLst/>
            <a:rect l="l" t="t" r="r" b="b"/>
            <a:pathLst>
              <a:path w="8852" h="23653">
                <a:moveTo>
                  <a:pt x="8852" y="0"/>
                </a:moveTo>
                <a:lnTo>
                  <a:pt x="8852" y="23653"/>
                </a:lnTo>
                <a:lnTo>
                  <a:pt x="0" y="0"/>
                </a:lnTo>
                <a:lnTo>
                  <a:pt x="8852"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9" name="Illustrative delivered road transport cost class 4; reference terminal Lesedi"/>
          <p:cNvSpPr/>
          <p:nvPr/>
        </p:nvSpPr>
        <p:spPr>
          <a:xfrm>
            <a:off x="1876677" y="4171441"/>
            <a:ext cx="39274" cy="57687"/>
          </a:xfrm>
          <a:custGeom>
            <a:avLst/>
            <a:gdLst/>
            <a:ahLst/>
            <a:cxnLst/>
            <a:rect l="l" t="t" r="r" b="b"/>
            <a:pathLst>
              <a:path w="39274" h="57687">
                <a:moveTo>
                  <a:pt x="39274" y="0"/>
                </a:moveTo>
                <a:lnTo>
                  <a:pt x="39274" y="57687"/>
                </a:lnTo>
                <a:lnTo>
                  <a:pt x="30422" y="57687"/>
                </a:lnTo>
                <a:lnTo>
                  <a:pt x="27208" y="49100"/>
                </a:lnTo>
                <a:lnTo>
                  <a:pt x="0" y="0"/>
                </a:lnTo>
                <a:lnTo>
                  <a:pt x="3927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0" name="Illustrative delivered road transport cost class 4; reference terminal Lesedi"/>
          <p:cNvSpPr/>
          <p:nvPr/>
        </p:nvSpPr>
        <p:spPr>
          <a:xfrm>
            <a:off x="1858264" y="4113755"/>
            <a:ext cx="57687" cy="57686"/>
          </a:xfrm>
          <a:custGeom>
            <a:avLst/>
            <a:gdLst/>
            <a:ahLst/>
            <a:cxnLst/>
            <a:rect l="l" t="t" r="r" b="b"/>
            <a:pathLst>
              <a:path w="57687" h="57686">
                <a:moveTo>
                  <a:pt x="0" y="0"/>
                </a:moveTo>
                <a:lnTo>
                  <a:pt x="57687" y="0"/>
                </a:lnTo>
                <a:lnTo>
                  <a:pt x="57687" y="57686"/>
                </a:lnTo>
                <a:lnTo>
                  <a:pt x="18413" y="57686"/>
                </a:lnTo>
                <a:lnTo>
                  <a:pt x="0" y="24460"/>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1" name="Illustrative delivered road transport cost class 4; reference terminal Lesedi"/>
          <p:cNvSpPr/>
          <p:nvPr/>
        </p:nvSpPr>
        <p:spPr>
          <a:xfrm>
            <a:off x="1858264"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2" name="Illustrative delivered road transport cost class 4; reference terminal Lesedi"/>
          <p:cNvSpPr/>
          <p:nvPr/>
        </p:nvSpPr>
        <p:spPr>
          <a:xfrm>
            <a:off x="1858264"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3" name="Illustrative delivered road transport cost class 4; reference terminal Lesedi"/>
          <p:cNvSpPr/>
          <p:nvPr/>
        </p:nvSpPr>
        <p:spPr>
          <a:xfrm>
            <a:off x="1858264"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4" name="Illustrative delivered road transport cost class 4; reference terminal Lesedi"/>
          <p:cNvSpPr/>
          <p:nvPr/>
        </p:nvSpPr>
        <p:spPr>
          <a:xfrm>
            <a:off x="1858264" y="3883008"/>
            <a:ext cx="57687" cy="57687"/>
          </a:xfrm>
          <a:custGeom>
            <a:avLst/>
            <a:gdLst/>
            <a:ahLst/>
            <a:cxnLst/>
            <a:rect l="l" t="t" r="r" b="b"/>
            <a:pathLst>
              <a:path w="57687" h="57687">
                <a:moveTo>
                  <a:pt x="57687" y="0"/>
                </a:moveTo>
                <a:lnTo>
                  <a:pt x="57687" y="57687"/>
                </a:lnTo>
                <a:lnTo>
                  <a:pt x="0" y="57687"/>
                </a:lnTo>
                <a:lnTo>
                  <a:pt x="0" y="37513"/>
                </a:lnTo>
                <a:lnTo>
                  <a:pt x="567" y="36406"/>
                </a:lnTo>
                <a:lnTo>
                  <a:pt x="6687" y="12614"/>
                </a:lnTo>
                <a:lnTo>
                  <a:pt x="16351" y="0"/>
                </a:lnTo>
                <a:lnTo>
                  <a:pt x="5768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5" name="Illustrative delivered road transport cost class None; reference terminal None"/>
          <p:cNvSpPr/>
          <p:nvPr/>
        </p:nvSpPr>
        <p:spPr>
          <a:xfrm>
            <a:off x="1874615" y="3868101"/>
            <a:ext cx="41336" cy="14907"/>
          </a:xfrm>
          <a:custGeom>
            <a:avLst/>
            <a:gdLst/>
            <a:ahLst/>
            <a:cxnLst/>
            <a:rect l="l" t="t" r="r" b="b"/>
            <a:pathLst>
              <a:path w="41336" h="14907">
                <a:moveTo>
                  <a:pt x="41336" y="14907"/>
                </a:moveTo>
                <a:lnTo>
                  <a:pt x="0" y="14907"/>
                </a:lnTo>
                <a:lnTo>
                  <a:pt x="2436" y="11727"/>
                </a:lnTo>
                <a:lnTo>
                  <a:pt x="29562" y="0"/>
                </a:lnTo>
                <a:lnTo>
                  <a:pt x="41336" y="6282"/>
                </a:lnTo>
                <a:lnTo>
                  <a:pt x="41336" y="1490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6" name="Illustrative delivered road transport cost class 4; reference terminal Lesedi"/>
          <p:cNvSpPr/>
          <p:nvPr/>
        </p:nvSpPr>
        <p:spPr>
          <a:xfrm>
            <a:off x="1950278" y="4344501"/>
            <a:ext cx="23360" cy="57687"/>
          </a:xfrm>
          <a:custGeom>
            <a:avLst/>
            <a:gdLst/>
            <a:ahLst/>
            <a:cxnLst/>
            <a:rect l="l" t="t" r="r" b="b"/>
            <a:pathLst>
              <a:path w="23360" h="57687">
                <a:moveTo>
                  <a:pt x="23360" y="0"/>
                </a:moveTo>
                <a:lnTo>
                  <a:pt x="23360" y="57687"/>
                </a:lnTo>
                <a:lnTo>
                  <a:pt x="22322" y="57687"/>
                </a:lnTo>
                <a:lnTo>
                  <a:pt x="18894" y="50486"/>
                </a:lnTo>
                <a:lnTo>
                  <a:pt x="0" y="0"/>
                </a:lnTo>
                <a:lnTo>
                  <a:pt x="2336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7" name="Illustrative delivered road transport cost class 4; reference terminal Lesedi"/>
          <p:cNvSpPr/>
          <p:nvPr/>
        </p:nvSpPr>
        <p:spPr>
          <a:xfrm>
            <a:off x="1928688" y="4286814"/>
            <a:ext cx="44950" cy="57687"/>
          </a:xfrm>
          <a:custGeom>
            <a:avLst/>
            <a:gdLst/>
            <a:ahLst/>
            <a:cxnLst/>
            <a:rect l="l" t="t" r="r" b="b"/>
            <a:pathLst>
              <a:path w="44950" h="57687">
                <a:moveTo>
                  <a:pt x="44950" y="0"/>
                </a:moveTo>
                <a:lnTo>
                  <a:pt x="44950" y="57687"/>
                </a:lnTo>
                <a:lnTo>
                  <a:pt x="21590" y="57687"/>
                </a:lnTo>
                <a:lnTo>
                  <a:pt x="0" y="0"/>
                </a:lnTo>
                <a:lnTo>
                  <a:pt x="4495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8" name="Illustrative delivered road transport cost class 4; reference terminal Lesedi"/>
          <p:cNvSpPr/>
          <p:nvPr/>
        </p:nvSpPr>
        <p:spPr>
          <a:xfrm>
            <a:off x="1915951" y="4229128"/>
            <a:ext cx="57687" cy="57686"/>
          </a:xfrm>
          <a:custGeom>
            <a:avLst/>
            <a:gdLst/>
            <a:ahLst/>
            <a:cxnLst/>
            <a:rect l="l" t="t" r="r" b="b"/>
            <a:pathLst>
              <a:path w="57687" h="57686">
                <a:moveTo>
                  <a:pt x="0" y="0"/>
                </a:moveTo>
                <a:lnTo>
                  <a:pt x="57687" y="0"/>
                </a:lnTo>
                <a:lnTo>
                  <a:pt x="57687" y="57686"/>
                </a:lnTo>
                <a:lnTo>
                  <a:pt x="12737" y="57686"/>
                </a:lnTo>
                <a:lnTo>
                  <a:pt x="0" y="23653"/>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9" name="Illustrative delivered road transport cost class 4; reference terminal Lesedi"/>
          <p:cNvSpPr/>
          <p:nvPr/>
        </p:nvSpPr>
        <p:spPr>
          <a:xfrm>
            <a:off x="1915951"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0" name="Illustrative delivered road transport cost class 4; reference terminal Lesedi"/>
          <p:cNvSpPr/>
          <p:nvPr/>
        </p:nvSpPr>
        <p:spPr>
          <a:xfrm>
            <a:off x="1915951"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1" name="Illustrative delivered road transport cost class 4; reference terminal Lesedi"/>
          <p:cNvSpPr/>
          <p:nvPr/>
        </p:nvSpPr>
        <p:spPr>
          <a:xfrm>
            <a:off x="1915951"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2" name="Illustrative delivered road transport cost class 4; reference terminal Lesedi"/>
          <p:cNvSpPr/>
          <p:nvPr/>
        </p:nvSpPr>
        <p:spPr>
          <a:xfrm>
            <a:off x="1915951"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3" name="Illustrative delivered road transport cost class 4; reference terminal Lesedi"/>
          <p:cNvSpPr/>
          <p:nvPr/>
        </p:nvSpPr>
        <p:spPr>
          <a:xfrm>
            <a:off x="1915951"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4" name="Illustrative delivered road transport cost class 4; reference terminal Lesedi"/>
          <p:cNvSpPr/>
          <p:nvPr/>
        </p:nvSpPr>
        <p:spPr>
          <a:xfrm>
            <a:off x="1915951" y="3883008"/>
            <a:ext cx="57687" cy="57687"/>
          </a:xfrm>
          <a:custGeom>
            <a:avLst/>
            <a:gdLst/>
            <a:ahLst/>
            <a:cxnLst/>
            <a:rect l="l" t="t" r="r" b="b"/>
            <a:pathLst>
              <a:path w="57687" h="57687">
                <a:moveTo>
                  <a:pt x="57687" y="57687"/>
                </a:moveTo>
                <a:lnTo>
                  <a:pt x="0" y="57687"/>
                </a:lnTo>
                <a:lnTo>
                  <a:pt x="0" y="0"/>
                </a:lnTo>
                <a:lnTo>
                  <a:pt x="12664" y="0"/>
                </a:lnTo>
                <a:lnTo>
                  <a:pt x="19786" y="9055"/>
                </a:lnTo>
                <a:lnTo>
                  <a:pt x="24519" y="25768"/>
                </a:lnTo>
                <a:lnTo>
                  <a:pt x="34346" y="33348"/>
                </a:lnTo>
                <a:lnTo>
                  <a:pt x="49248" y="31805"/>
                </a:lnTo>
                <a:lnTo>
                  <a:pt x="57687" y="39160"/>
                </a:lnTo>
                <a:lnTo>
                  <a:pt x="57687"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5" name="Illustrative delivered road transport cost class 4; reference terminal Lesedi"/>
          <p:cNvSpPr/>
          <p:nvPr/>
        </p:nvSpPr>
        <p:spPr>
          <a:xfrm>
            <a:off x="1915951" y="3874383"/>
            <a:ext cx="12664" cy="8625"/>
          </a:xfrm>
          <a:custGeom>
            <a:avLst/>
            <a:gdLst/>
            <a:ahLst/>
            <a:cxnLst/>
            <a:rect l="l" t="t" r="r" b="b"/>
            <a:pathLst>
              <a:path w="12664" h="8625">
                <a:moveTo>
                  <a:pt x="0" y="8625"/>
                </a:moveTo>
                <a:lnTo>
                  <a:pt x="0" y="0"/>
                </a:lnTo>
                <a:lnTo>
                  <a:pt x="10130" y="5404"/>
                </a:lnTo>
                <a:lnTo>
                  <a:pt x="12664" y="8625"/>
                </a:lnTo>
                <a:lnTo>
                  <a:pt x="0" y="8625"/>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6" name="Illustrative delivered road transport cost class 4; reference terminal Lesedi"/>
          <p:cNvSpPr/>
          <p:nvPr/>
        </p:nvSpPr>
        <p:spPr>
          <a:xfrm>
            <a:off x="2000058" y="4459874"/>
            <a:ext cx="31266" cy="57683"/>
          </a:xfrm>
          <a:custGeom>
            <a:avLst/>
            <a:gdLst/>
            <a:ahLst/>
            <a:cxnLst/>
            <a:rect l="l" t="t" r="r" b="b"/>
            <a:pathLst>
              <a:path w="31266" h="57683">
                <a:moveTo>
                  <a:pt x="31266" y="0"/>
                </a:moveTo>
                <a:lnTo>
                  <a:pt x="31266" y="57683"/>
                </a:lnTo>
                <a:lnTo>
                  <a:pt x="10000" y="21010"/>
                </a:lnTo>
                <a:lnTo>
                  <a:pt x="0" y="0"/>
                </a:lnTo>
                <a:lnTo>
                  <a:pt x="3126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7" name="Illustrative delivered road transport cost class 4; reference terminal Lesedi"/>
          <p:cNvSpPr/>
          <p:nvPr/>
        </p:nvSpPr>
        <p:spPr>
          <a:xfrm>
            <a:off x="1973638" y="4402188"/>
            <a:ext cx="57686" cy="57686"/>
          </a:xfrm>
          <a:custGeom>
            <a:avLst/>
            <a:gdLst/>
            <a:ahLst/>
            <a:cxnLst/>
            <a:rect l="l" t="t" r="r" b="b"/>
            <a:pathLst>
              <a:path w="57686" h="57686">
                <a:moveTo>
                  <a:pt x="0" y="0"/>
                </a:moveTo>
                <a:lnTo>
                  <a:pt x="57686" y="0"/>
                </a:lnTo>
                <a:lnTo>
                  <a:pt x="57686" y="57686"/>
                </a:lnTo>
                <a:lnTo>
                  <a:pt x="26420" y="57686"/>
                </a:lnTo>
                <a:lnTo>
                  <a:pt x="0" y="2180"/>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8" name="Illustrative delivered road transport cost class 4; reference terminal Lesedi"/>
          <p:cNvSpPr/>
          <p:nvPr/>
        </p:nvSpPr>
        <p:spPr>
          <a:xfrm>
            <a:off x="1973638"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9" name="Illustrative delivered road transport cost class 4; reference terminal Lesedi"/>
          <p:cNvSpPr/>
          <p:nvPr/>
        </p:nvSpPr>
        <p:spPr>
          <a:xfrm>
            <a:off x="1973638"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0" name="Illustrative delivered road transport cost class 4; reference terminal Lesedi"/>
          <p:cNvSpPr/>
          <p:nvPr/>
        </p:nvSpPr>
        <p:spPr>
          <a:xfrm>
            <a:off x="1973638"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1" name="Illustrative delivered road transport cost class 4; reference terminal Lesedi"/>
          <p:cNvSpPr/>
          <p:nvPr/>
        </p:nvSpPr>
        <p:spPr>
          <a:xfrm>
            <a:off x="1973638"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2" name="Illustrative delivered road transport cost class 4; reference terminal Lesedi"/>
          <p:cNvSpPr/>
          <p:nvPr/>
        </p:nvSpPr>
        <p:spPr>
          <a:xfrm>
            <a:off x="1973638"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3" name="Illustrative delivered road transport cost class 4; reference terminal Lesedi"/>
          <p:cNvSpPr/>
          <p:nvPr/>
        </p:nvSpPr>
        <p:spPr>
          <a:xfrm>
            <a:off x="1973638"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4" name="Illustrative delivered road transport cost class 4; reference terminal Lesedi"/>
          <p:cNvSpPr/>
          <p:nvPr/>
        </p:nvSpPr>
        <p:spPr>
          <a:xfrm>
            <a:off x="1973638" y="3998382"/>
            <a:ext cx="57686" cy="57686"/>
          </a:xfrm>
          <a:custGeom>
            <a:avLst/>
            <a:gdLst/>
            <a:ahLst/>
            <a:cxnLst/>
            <a:rect l="l" t="t" r="r" b="b"/>
            <a:pathLst>
              <a:path w="57686" h="57686">
                <a:moveTo>
                  <a:pt x="57686" y="57686"/>
                </a:moveTo>
                <a:lnTo>
                  <a:pt x="0" y="57686"/>
                </a:lnTo>
                <a:lnTo>
                  <a:pt x="0" y="0"/>
                </a:lnTo>
                <a:lnTo>
                  <a:pt x="15412" y="0"/>
                </a:lnTo>
                <a:lnTo>
                  <a:pt x="15901" y="621"/>
                </a:lnTo>
                <a:lnTo>
                  <a:pt x="21308" y="15265"/>
                </a:lnTo>
                <a:lnTo>
                  <a:pt x="29800" y="34501"/>
                </a:lnTo>
                <a:lnTo>
                  <a:pt x="57686" y="41064"/>
                </a:lnTo>
                <a:lnTo>
                  <a:pt x="57686"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5" name="Illustrative delivered road transport cost class 4; reference terminal Lesedi"/>
          <p:cNvSpPr/>
          <p:nvPr/>
        </p:nvSpPr>
        <p:spPr>
          <a:xfrm>
            <a:off x="1973638" y="3940695"/>
            <a:ext cx="15412" cy="57687"/>
          </a:xfrm>
          <a:custGeom>
            <a:avLst/>
            <a:gdLst/>
            <a:ahLst/>
            <a:cxnLst/>
            <a:rect l="l" t="t" r="r" b="b"/>
            <a:pathLst>
              <a:path w="15412" h="57687">
                <a:moveTo>
                  <a:pt x="0" y="57687"/>
                </a:moveTo>
                <a:lnTo>
                  <a:pt x="0" y="0"/>
                </a:lnTo>
                <a:lnTo>
                  <a:pt x="8474" y="0"/>
                </a:lnTo>
                <a:lnTo>
                  <a:pt x="10213" y="4904"/>
                </a:lnTo>
                <a:lnTo>
                  <a:pt x="9967" y="20511"/>
                </a:lnTo>
                <a:lnTo>
                  <a:pt x="2091" y="30693"/>
                </a:lnTo>
                <a:lnTo>
                  <a:pt x="4087" y="43274"/>
                </a:lnTo>
                <a:lnTo>
                  <a:pt x="15412"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6" name="Illustrative delivered road transport cost class 4; reference terminal Lesedi"/>
          <p:cNvSpPr/>
          <p:nvPr/>
        </p:nvSpPr>
        <p:spPr>
          <a:xfrm>
            <a:off x="1973638" y="3922168"/>
            <a:ext cx="8474" cy="18527"/>
          </a:xfrm>
          <a:custGeom>
            <a:avLst/>
            <a:gdLst/>
            <a:ahLst/>
            <a:cxnLst/>
            <a:rect l="l" t="t" r="r" b="b"/>
            <a:pathLst>
              <a:path w="8474" h="18527">
                <a:moveTo>
                  <a:pt x="0" y="18527"/>
                </a:moveTo>
                <a:lnTo>
                  <a:pt x="0" y="0"/>
                </a:lnTo>
                <a:lnTo>
                  <a:pt x="2756" y="2402"/>
                </a:lnTo>
                <a:lnTo>
                  <a:pt x="8474" y="18527"/>
                </a:lnTo>
                <a:lnTo>
                  <a:pt x="0" y="1852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7" name="Illustrative delivered road transport cost class 4; reference terminal Lesedi"/>
          <p:cNvSpPr/>
          <p:nvPr/>
        </p:nvSpPr>
        <p:spPr>
          <a:xfrm>
            <a:off x="2064777" y="4575247"/>
            <a:ext cx="24234" cy="41791"/>
          </a:xfrm>
          <a:custGeom>
            <a:avLst/>
            <a:gdLst/>
            <a:ahLst/>
            <a:cxnLst/>
            <a:rect l="l" t="t" r="r" b="b"/>
            <a:pathLst>
              <a:path w="24234" h="41791">
                <a:moveTo>
                  <a:pt x="24234" y="0"/>
                </a:moveTo>
                <a:lnTo>
                  <a:pt x="24234" y="41791"/>
                </a:lnTo>
                <a:lnTo>
                  <a:pt x="0" y="0"/>
                </a:lnTo>
                <a:lnTo>
                  <a:pt x="2423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8" name="Illustrative delivered road transport cost class 4; reference terminal Lesedi"/>
          <p:cNvSpPr/>
          <p:nvPr/>
        </p:nvSpPr>
        <p:spPr>
          <a:xfrm>
            <a:off x="2031326" y="4517561"/>
            <a:ext cx="57685" cy="57686"/>
          </a:xfrm>
          <a:custGeom>
            <a:avLst/>
            <a:gdLst/>
            <a:ahLst/>
            <a:cxnLst/>
            <a:rect l="l" t="t" r="r" b="b"/>
            <a:pathLst>
              <a:path w="57685" h="57686">
                <a:moveTo>
                  <a:pt x="57685" y="0"/>
                </a:moveTo>
                <a:lnTo>
                  <a:pt x="57685" y="57686"/>
                </a:lnTo>
                <a:lnTo>
                  <a:pt x="33451" y="57686"/>
                </a:lnTo>
                <a:lnTo>
                  <a:pt x="0" y="0"/>
                </a:lnTo>
                <a:lnTo>
                  <a:pt x="57685"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9" name="Illustrative delivered road transport cost class 4; reference terminal Lesedi"/>
          <p:cNvSpPr/>
          <p:nvPr/>
        </p:nvSpPr>
        <p:spPr>
          <a:xfrm>
            <a:off x="2031324" y="4459874"/>
            <a:ext cx="57687" cy="57687"/>
          </a:xfrm>
          <a:custGeom>
            <a:avLst/>
            <a:gdLst/>
            <a:ahLst/>
            <a:cxnLst/>
            <a:rect l="l" t="t" r="r" b="b"/>
            <a:pathLst>
              <a:path w="57687" h="57687">
                <a:moveTo>
                  <a:pt x="0" y="0"/>
                </a:moveTo>
                <a:lnTo>
                  <a:pt x="57687" y="0"/>
                </a:lnTo>
                <a:lnTo>
                  <a:pt x="57687" y="57687"/>
                </a:lnTo>
                <a:lnTo>
                  <a:pt x="2" y="57687"/>
                </a:lnTo>
                <a:lnTo>
                  <a:pt x="0" y="57683"/>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0" name="Illustrative delivered road transport cost class 4; reference terminal Lesedi"/>
          <p:cNvSpPr/>
          <p:nvPr/>
        </p:nvSpPr>
        <p:spPr>
          <a:xfrm>
            <a:off x="2031324"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1" name="Illustrative delivered road transport cost class 4; reference terminal Lesedi"/>
          <p:cNvSpPr/>
          <p:nvPr/>
        </p:nvSpPr>
        <p:spPr>
          <a:xfrm>
            <a:off x="2031324"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2" name="Illustrative delivered road transport cost class 4; reference terminal Lesedi"/>
          <p:cNvSpPr/>
          <p:nvPr/>
        </p:nvSpPr>
        <p:spPr>
          <a:xfrm>
            <a:off x="2031324"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3" name="Illustrative delivered road transport cost class 4; reference terminal Lesedi"/>
          <p:cNvSpPr/>
          <p:nvPr/>
        </p:nvSpPr>
        <p:spPr>
          <a:xfrm>
            <a:off x="2031324"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4" name="Illustrative delivered road transport cost class 4; reference terminal Lesedi"/>
          <p:cNvSpPr/>
          <p:nvPr/>
        </p:nvSpPr>
        <p:spPr>
          <a:xfrm>
            <a:off x="2031324"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5" name="Illustrative delivered road transport cost class 4; reference terminal Lesedi"/>
          <p:cNvSpPr/>
          <p:nvPr/>
        </p:nvSpPr>
        <p:spPr>
          <a:xfrm>
            <a:off x="2031324"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6" name="Illustrative delivered road transport cost class 4; reference terminal Lesedi"/>
          <p:cNvSpPr/>
          <p:nvPr/>
        </p:nvSpPr>
        <p:spPr>
          <a:xfrm>
            <a:off x="2031324"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7" name="Illustrative delivered road transport cost class 4; reference terminal Lesedi"/>
          <p:cNvSpPr/>
          <p:nvPr/>
        </p:nvSpPr>
        <p:spPr>
          <a:xfrm>
            <a:off x="2031324" y="4039446"/>
            <a:ext cx="57687" cy="16622"/>
          </a:xfrm>
          <a:custGeom>
            <a:avLst/>
            <a:gdLst/>
            <a:ahLst/>
            <a:cxnLst/>
            <a:rect l="l" t="t" r="r" b="b"/>
            <a:pathLst>
              <a:path w="57687" h="16622">
                <a:moveTo>
                  <a:pt x="57687" y="16622"/>
                </a:moveTo>
                <a:lnTo>
                  <a:pt x="0" y="16622"/>
                </a:lnTo>
                <a:lnTo>
                  <a:pt x="0" y="0"/>
                </a:lnTo>
                <a:lnTo>
                  <a:pt x="10762" y="2533"/>
                </a:lnTo>
                <a:lnTo>
                  <a:pt x="29693" y="7851"/>
                </a:lnTo>
                <a:lnTo>
                  <a:pt x="57687" y="8068"/>
                </a:lnTo>
                <a:lnTo>
                  <a:pt x="57687" y="16622"/>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8" name="Illustrative delivered road transport cost class 4; reference terminal Lesedi"/>
          <p:cNvSpPr/>
          <p:nvPr/>
        </p:nvSpPr>
        <p:spPr>
          <a:xfrm>
            <a:off x="2140180" y="4690620"/>
            <a:ext cx="6517" cy="9236"/>
          </a:xfrm>
          <a:custGeom>
            <a:avLst/>
            <a:gdLst/>
            <a:ahLst/>
            <a:cxnLst/>
            <a:rect l="l" t="t" r="r" b="b"/>
            <a:pathLst>
              <a:path w="6517" h="9236">
                <a:moveTo>
                  <a:pt x="6517" y="0"/>
                </a:moveTo>
                <a:lnTo>
                  <a:pt x="6517" y="9236"/>
                </a:lnTo>
                <a:lnTo>
                  <a:pt x="0" y="0"/>
                </a:lnTo>
                <a:lnTo>
                  <a:pt x="651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9" name="Illustrative delivered road transport cost class 4; reference terminal Lesedi"/>
          <p:cNvSpPr/>
          <p:nvPr/>
        </p:nvSpPr>
        <p:spPr>
          <a:xfrm>
            <a:off x="2099475" y="4632934"/>
            <a:ext cx="47222" cy="57686"/>
          </a:xfrm>
          <a:custGeom>
            <a:avLst/>
            <a:gdLst/>
            <a:ahLst/>
            <a:cxnLst/>
            <a:rect l="l" t="t" r="r" b="b"/>
            <a:pathLst>
              <a:path w="47222" h="57686">
                <a:moveTo>
                  <a:pt x="47222" y="0"/>
                </a:moveTo>
                <a:lnTo>
                  <a:pt x="47222" y="57686"/>
                </a:lnTo>
                <a:lnTo>
                  <a:pt x="40705" y="57686"/>
                </a:lnTo>
                <a:lnTo>
                  <a:pt x="0" y="0"/>
                </a:lnTo>
                <a:lnTo>
                  <a:pt x="47222"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0" name="Illustrative delivered road transport cost class 4; reference terminal Lesedi"/>
          <p:cNvSpPr/>
          <p:nvPr/>
        </p:nvSpPr>
        <p:spPr>
          <a:xfrm>
            <a:off x="2089011" y="4575247"/>
            <a:ext cx="57686" cy="57687"/>
          </a:xfrm>
          <a:custGeom>
            <a:avLst/>
            <a:gdLst/>
            <a:ahLst/>
            <a:cxnLst/>
            <a:rect l="l" t="t" r="r" b="b"/>
            <a:pathLst>
              <a:path w="57686" h="57687">
                <a:moveTo>
                  <a:pt x="0" y="0"/>
                </a:moveTo>
                <a:lnTo>
                  <a:pt x="57686" y="0"/>
                </a:lnTo>
                <a:lnTo>
                  <a:pt x="57686" y="57687"/>
                </a:lnTo>
                <a:lnTo>
                  <a:pt x="10464" y="57687"/>
                </a:lnTo>
                <a:lnTo>
                  <a:pt x="3467" y="47770"/>
                </a:lnTo>
                <a:lnTo>
                  <a:pt x="0" y="41791"/>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1" name="Illustrative delivered road transport cost class 4; reference terminal Lesedi"/>
          <p:cNvSpPr/>
          <p:nvPr/>
        </p:nvSpPr>
        <p:spPr>
          <a:xfrm>
            <a:off x="2089011"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2" name="Illustrative delivered road transport cost class 4; reference terminal Lesedi"/>
          <p:cNvSpPr/>
          <p:nvPr/>
        </p:nvSpPr>
        <p:spPr>
          <a:xfrm>
            <a:off x="2089011"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3" name="Illustrative delivered road transport cost class 4; reference terminal Lesedi"/>
          <p:cNvSpPr/>
          <p:nvPr/>
        </p:nvSpPr>
        <p:spPr>
          <a:xfrm>
            <a:off x="2089011"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4" name="Illustrative delivered road transport cost class 4; reference terminal Lesedi"/>
          <p:cNvSpPr/>
          <p:nvPr/>
        </p:nvSpPr>
        <p:spPr>
          <a:xfrm>
            <a:off x="2089011"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5" name="Illustrative delivered road transport cost class 4; reference terminal Lesedi"/>
          <p:cNvSpPr/>
          <p:nvPr/>
        </p:nvSpPr>
        <p:spPr>
          <a:xfrm>
            <a:off x="2089011"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6" name="Illustrative delivered road transport cost class 4; reference terminal Lesedi"/>
          <p:cNvSpPr/>
          <p:nvPr/>
        </p:nvSpPr>
        <p:spPr>
          <a:xfrm>
            <a:off x="2089011"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7" name="Illustrative delivered road transport cost class 4; reference terminal Lesedi"/>
          <p:cNvSpPr/>
          <p:nvPr/>
        </p:nvSpPr>
        <p:spPr>
          <a:xfrm>
            <a:off x="2089011"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8" name="Illustrative delivered road transport cost class 4; reference terminal Lesedi"/>
          <p:cNvSpPr/>
          <p:nvPr/>
        </p:nvSpPr>
        <p:spPr>
          <a:xfrm>
            <a:off x="2089011"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9" name="Illustrative delivered road transport cost class 4; reference terminal Lesedi"/>
          <p:cNvSpPr/>
          <p:nvPr/>
        </p:nvSpPr>
        <p:spPr>
          <a:xfrm>
            <a:off x="2089011" y="4056068"/>
            <a:ext cx="57686" cy="57687"/>
          </a:xfrm>
          <a:custGeom>
            <a:avLst/>
            <a:gdLst/>
            <a:ahLst/>
            <a:cxnLst/>
            <a:rect l="l" t="t" r="r" b="b"/>
            <a:pathLst>
              <a:path w="57686" h="57687">
                <a:moveTo>
                  <a:pt x="57686" y="57687"/>
                </a:moveTo>
                <a:lnTo>
                  <a:pt x="0" y="57687"/>
                </a:lnTo>
                <a:lnTo>
                  <a:pt x="0" y="0"/>
                </a:lnTo>
                <a:lnTo>
                  <a:pt x="38095" y="0"/>
                </a:lnTo>
                <a:lnTo>
                  <a:pt x="57686" y="9190"/>
                </a:lnTo>
                <a:lnTo>
                  <a:pt x="57686"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0" name="Illustrative delivered road transport cost class 4; reference terminal Lesedi"/>
          <p:cNvSpPr/>
          <p:nvPr/>
        </p:nvSpPr>
        <p:spPr>
          <a:xfrm>
            <a:off x="2089011" y="4047514"/>
            <a:ext cx="38095" cy="8554"/>
          </a:xfrm>
          <a:custGeom>
            <a:avLst/>
            <a:gdLst/>
            <a:ahLst/>
            <a:cxnLst/>
            <a:rect l="l" t="t" r="r" b="b"/>
            <a:pathLst>
              <a:path w="38095" h="8554">
                <a:moveTo>
                  <a:pt x="0" y="8554"/>
                </a:moveTo>
                <a:lnTo>
                  <a:pt x="0" y="0"/>
                </a:lnTo>
                <a:lnTo>
                  <a:pt x="4092" y="32"/>
                </a:lnTo>
                <a:lnTo>
                  <a:pt x="34812" y="7014"/>
                </a:lnTo>
                <a:lnTo>
                  <a:pt x="38095" y="8554"/>
                </a:lnTo>
                <a:lnTo>
                  <a:pt x="0" y="8554"/>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1" name="Illustrative delivered road transport cost class 4; reference terminal Lesedi"/>
          <p:cNvSpPr/>
          <p:nvPr/>
        </p:nvSpPr>
        <p:spPr>
          <a:xfrm>
            <a:off x="2192258" y="5152113"/>
            <a:ext cx="12126" cy="17590"/>
          </a:xfrm>
          <a:custGeom>
            <a:avLst/>
            <a:gdLst/>
            <a:ahLst/>
            <a:cxnLst/>
            <a:rect l="l" t="t" r="r" b="b"/>
            <a:pathLst>
              <a:path w="12126" h="17590">
                <a:moveTo>
                  <a:pt x="12126" y="0"/>
                </a:moveTo>
                <a:lnTo>
                  <a:pt x="12126" y="17590"/>
                </a:lnTo>
                <a:lnTo>
                  <a:pt x="4095" y="11974"/>
                </a:lnTo>
                <a:lnTo>
                  <a:pt x="0" y="0"/>
                </a:lnTo>
                <a:lnTo>
                  <a:pt x="1212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2" name="Illustrative delivered road transport cost class 4; reference terminal Lesedi"/>
          <p:cNvSpPr/>
          <p:nvPr/>
        </p:nvSpPr>
        <p:spPr>
          <a:xfrm>
            <a:off x="2163229" y="5094426"/>
            <a:ext cx="41155" cy="57687"/>
          </a:xfrm>
          <a:custGeom>
            <a:avLst/>
            <a:gdLst/>
            <a:ahLst/>
            <a:cxnLst/>
            <a:rect l="l" t="t" r="r" b="b"/>
            <a:pathLst>
              <a:path w="41155" h="57687">
                <a:moveTo>
                  <a:pt x="41155" y="0"/>
                </a:moveTo>
                <a:lnTo>
                  <a:pt x="41155" y="57687"/>
                </a:lnTo>
                <a:lnTo>
                  <a:pt x="29029" y="57687"/>
                </a:lnTo>
                <a:lnTo>
                  <a:pt x="24017" y="43031"/>
                </a:lnTo>
                <a:lnTo>
                  <a:pt x="5354" y="22405"/>
                </a:lnTo>
                <a:lnTo>
                  <a:pt x="0" y="0"/>
                </a:lnTo>
                <a:lnTo>
                  <a:pt x="41155"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3" name="Illustrative delivered road transport cost class 4; reference terminal Lesedi"/>
          <p:cNvSpPr/>
          <p:nvPr/>
        </p:nvSpPr>
        <p:spPr>
          <a:xfrm>
            <a:off x="2160481" y="5051030"/>
            <a:ext cx="43903" cy="43396"/>
          </a:xfrm>
          <a:custGeom>
            <a:avLst/>
            <a:gdLst/>
            <a:ahLst/>
            <a:cxnLst/>
            <a:rect l="l" t="t" r="r" b="b"/>
            <a:pathLst>
              <a:path w="43903" h="43396">
                <a:moveTo>
                  <a:pt x="43903" y="43396"/>
                </a:moveTo>
                <a:lnTo>
                  <a:pt x="2748" y="43396"/>
                </a:lnTo>
                <a:lnTo>
                  <a:pt x="0" y="31896"/>
                </a:lnTo>
                <a:lnTo>
                  <a:pt x="8243" y="11636"/>
                </a:lnTo>
                <a:lnTo>
                  <a:pt x="22628" y="0"/>
                </a:lnTo>
                <a:lnTo>
                  <a:pt x="39098" y="16063"/>
                </a:lnTo>
                <a:lnTo>
                  <a:pt x="43903" y="14057"/>
                </a:lnTo>
                <a:lnTo>
                  <a:pt x="43903" y="4339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4" name="Illustrative delivered road transport cost class 4; reference terminal Lesedi"/>
          <p:cNvSpPr/>
          <p:nvPr/>
        </p:nvSpPr>
        <p:spPr>
          <a:xfrm>
            <a:off x="2184391" y="4748307"/>
            <a:ext cx="19993" cy="24875"/>
          </a:xfrm>
          <a:custGeom>
            <a:avLst/>
            <a:gdLst/>
            <a:ahLst/>
            <a:cxnLst/>
            <a:rect l="l" t="t" r="r" b="b"/>
            <a:pathLst>
              <a:path w="19993" h="24875">
                <a:moveTo>
                  <a:pt x="19993" y="0"/>
                </a:moveTo>
                <a:lnTo>
                  <a:pt x="19993" y="24875"/>
                </a:lnTo>
                <a:lnTo>
                  <a:pt x="0" y="0"/>
                </a:lnTo>
                <a:lnTo>
                  <a:pt x="19993"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5" name="Illustrative delivered road transport cost class 4; reference terminal Lesedi"/>
          <p:cNvSpPr/>
          <p:nvPr/>
        </p:nvSpPr>
        <p:spPr>
          <a:xfrm>
            <a:off x="2146697" y="4690620"/>
            <a:ext cx="57687" cy="57687"/>
          </a:xfrm>
          <a:custGeom>
            <a:avLst/>
            <a:gdLst/>
            <a:ahLst/>
            <a:cxnLst/>
            <a:rect l="l" t="t" r="r" b="b"/>
            <a:pathLst>
              <a:path w="57687" h="57687">
                <a:moveTo>
                  <a:pt x="0" y="0"/>
                </a:moveTo>
                <a:lnTo>
                  <a:pt x="57687" y="0"/>
                </a:lnTo>
                <a:lnTo>
                  <a:pt x="57687" y="57687"/>
                </a:lnTo>
                <a:lnTo>
                  <a:pt x="37694" y="57687"/>
                </a:lnTo>
                <a:lnTo>
                  <a:pt x="8976" y="21957"/>
                </a:lnTo>
                <a:lnTo>
                  <a:pt x="0" y="923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6" name="Illustrative delivered road transport cost class 4; reference terminal Lesedi"/>
          <p:cNvSpPr/>
          <p:nvPr/>
        </p:nvSpPr>
        <p:spPr>
          <a:xfrm>
            <a:off x="2146697"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7" name="Illustrative delivered road transport cost class 4; reference terminal Lesedi"/>
          <p:cNvSpPr/>
          <p:nvPr/>
        </p:nvSpPr>
        <p:spPr>
          <a:xfrm>
            <a:off x="2146697"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8" name="Illustrative delivered road transport cost class 4; reference terminal Lesedi"/>
          <p:cNvSpPr/>
          <p:nvPr/>
        </p:nvSpPr>
        <p:spPr>
          <a:xfrm>
            <a:off x="2146697"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9" name="Illustrative delivered road transport cost class 4; reference terminal Lesedi"/>
          <p:cNvSpPr/>
          <p:nvPr/>
        </p:nvSpPr>
        <p:spPr>
          <a:xfrm>
            <a:off x="2146697"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0" name="Illustrative delivered road transport cost class 4; reference terminal Lesedi"/>
          <p:cNvSpPr/>
          <p:nvPr/>
        </p:nvSpPr>
        <p:spPr>
          <a:xfrm>
            <a:off x="2146697"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1" name="Illustrative delivered road transport cost class 4; reference terminal Lesedi"/>
          <p:cNvSpPr/>
          <p:nvPr/>
        </p:nvSpPr>
        <p:spPr>
          <a:xfrm>
            <a:off x="2146697"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2" name="Illustrative delivered road transport cost class 4; reference terminal Lesedi"/>
          <p:cNvSpPr/>
          <p:nvPr/>
        </p:nvSpPr>
        <p:spPr>
          <a:xfrm>
            <a:off x="2146697"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3" name="Illustrative delivered road transport cost class 4; reference terminal Lesedi"/>
          <p:cNvSpPr/>
          <p:nvPr/>
        </p:nvSpPr>
        <p:spPr>
          <a:xfrm>
            <a:off x="2146697"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4" name="Illustrative delivered road transport cost class 4; reference terminal Lesedi"/>
          <p:cNvSpPr/>
          <p:nvPr/>
        </p:nvSpPr>
        <p:spPr>
          <a:xfrm>
            <a:off x="2146697"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5" name="Illustrative delivered road transport cost class 4; reference terminal Lesedi"/>
          <p:cNvSpPr/>
          <p:nvPr/>
        </p:nvSpPr>
        <p:spPr>
          <a:xfrm>
            <a:off x="2146697"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6" name="Illustrative delivered road transport cost class 4; reference terminal Lesedi"/>
          <p:cNvSpPr/>
          <p:nvPr/>
        </p:nvSpPr>
        <p:spPr>
          <a:xfrm>
            <a:off x="2146697" y="4065258"/>
            <a:ext cx="57687" cy="48497"/>
          </a:xfrm>
          <a:custGeom>
            <a:avLst/>
            <a:gdLst/>
            <a:ahLst/>
            <a:cxnLst/>
            <a:rect l="l" t="t" r="r" b="b"/>
            <a:pathLst>
              <a:path w="57687" h="48497">
                <a:moveTo>
                  <a:pt x="57687" y="48497"/>
                </a:moveTo>
                <a:lnTo>
                  <a:pt x="0" y="48497"/>
                </a:lnTo>
                <a:lnTo>
                  <a:pt x="0" y="0"/>
                </a:lnTo>
                <a:lnTo>
                  <a:pt x="6462" y="3031"/>
                </a:lnTo>
                <a:lnTo>
                  <a:pt x="53380" y="4073"/>
                </a:lnTo>
                <a:lnTo>
                  <a:pt x="57687" y="3306"/>
                </a:lnTo>
                <a:lnTo>
                  <a:pt x="57687" y="4849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7" name="Illustrative delivered road transport cost class 4; reference terminal Lesedi"/>
          <p:cNvSpPr/>
          <p:nvPr/>
        </p:nvSpPr>
        <p:spPr>
          <a:xfrm>
            <a:off x="2232266" y="5209799"/>
            <a:ext cx="29804" cy="26922"/>
          </a:xfrm>
          <a:custGeom>
            <a:avLst/>
            <a:gdLst/>
            <a:ahLst/>
            <a:cxnLst/>
            <a:rect l="l" t="t" r="r" b="b"/>
            <a:pathLst>
              <a:path w="29804" h="26922">
                <a:moveTo>
                  <a:pt x="29804" y="0"/>
                </a:moveTo>
                <a:lnTo>
                  <a:pt x="29804" y="26922"/>
                </a:lnTo>
                <a:lnTo>
                  <a:pt x="26094" y="19665"/>
                </a:lnTo>
                <a:lnTo>
                  <a:pt x="2611" y="4925"/>
                </a:lnTo>
                <a:lnTo>
                  <a:pt x="0" y="0"/>
                </a:lnTo>
                <a:lnTo>
                  <a:pt x="2980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8" name="Illustrative delivered road transport cost class 4; reference terminal Lesedi"/>
          <p:cNvSpPr/>
          <p:nvPr/>
        </p:nvSpPr>
        <p:spPr>
          <a:xfrm>
            <a:off x="2204384" y="5152113"/>
            <a:ext cx="57686" cy="57686"/>
          </a:xfrm>
          <a:custGeom>
            <a:avLst/>
            <a:gdLst/>
            <a:ahLst/>
            <a:cxnLst/>
            <a:rect l="l" t="t" r="r" b="b"/>
            <a:pathLst>
              <a:path w="57686" h="57686">
                <a:moveTo>
                  <a:pt x="0" y="0"/>
                </a:moveTo>
                <a:lnTo>
                  <a:pt x="57686" y="0"/>
                </a:lnTo>
                <a:lnTo>
                  <a:pt x="57686" y="57686"/>
                </a:lnTo>
                <a:lnTo>
                  <a:pt x="27882" y="57686"/>
                </a:lnTo>
                <a:lnTo>
                  <a:pt x="10528" y="24952"/>
                </a:lnTo>
                <a:lnTo>
                  <a:pt x="0" y="17590"/>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9" name="Illustrative delivered road transport cost class 4; reference terminal Lesedi"/>
          <p:cNvSpPr/>
          <p:nvPr/>
        </p:nvSpPr>
        <p:spPr>
          <a:xfrm>
            <a:off x="2204384"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0" name="Illustrative delivered road transport cost class 4; reference terminal Lesedi"/>
          <p:cNvSpPr/>
          <p:nvPr/>
        </p:nvSpPr>
        <p:spPr>
          <a:xfrm>
            <a:off x="2204384" y="5036740"/>
            <a:ext cx="57686" cy="57686"/>
          </a:xfrm>
          <a:custGeom>
            <a:avLst/>
            <a:gdLst/>
            <a:ahLst/>
            <a:cxnLst/>
            <a:rect l="l" t="t" r="r" b="b"/>
            <a:pathLst>
              <a:path w="57686" h="57686">
                <a:moveTo>
                  <a:pt x="57686" y="0"/>
                </a:moveTo>
                <a:lnTo>
                  <a:pt x="57686" y="57686"/>
                </a:lnTo>
                <a:lnTo>
                  <a:pt x="0" y="57686"/>
                </a:lnTo>
                <a:lnTo>
                  <a:pt x="0" y="28347"/>
                </a:lnTo>
                <a:lnTo>
                  <a:pt x="13851" y="22565"/>
                </a:lnTo>
                <a:lnTo>
                  <a:pt x="35747" y="0"/>
                </a:lnTo>
                <a:lnTo>
                  <a:pt x="5768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1" name="Illustrative delivered road transport cost class 4; reference terminal Lesedi"/>
          <p:cNvSpPr/>
          <p:nvPr/>
        </p:nvSpPr>
        <p:spPr>
          <a:xfrm>
            <a:off x="2240131" y="4979053"/>
            <a:ext cx="21939" cy="57687"/>
          </a:xfrm>
          <a:custGeom>
            <a:avLst/>
            <a:gdLst/>
            <a:ahLst/>
            <a:cxnLst/>
            <a:rect l="l" t="t" r="r" b="b"/>
            <a:pathLst>
              <a:path w="21939" h="57687">
                <a:moveTo>
                  <a:pt x="21939" y="0"/>
                </a:moveTo>
                <a:lnTo>
                  <a:pt x="21939" y="57687"/>
                </a:lnTo>
                <a:lnTo>
                  <a:pt x="0" y="57687"/>
                </a:lnTo>
                <a:lnTo>
                  <a:pt x="3718" y="53856"/>
                </a:lnTo>
                <a:lnTo>
                  <a:pt x="17484" y="15299"/>
                </a:lnTo>
                <a:lnTo>
                  <a:pt x="16805" y="0"/>
                </a:lnTo>
                <a:lnTo>
                  <a:pt x="21939"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2" name="Illustrative delivered road transport cost class 4; reference terminal Lesedi"/>
          <p:cNvSpPr/>
          <p:nvPr/>
        </p:nvSpPr>
        <p:spPr>
          <a:xfrm>
            <a:off x="2252747" y="4921367"/>
            <a:ext cx="9323" cy="57686"/>
          </a:xfrm>
          <a:custGeom>
            <a:avLst/>
            <a:gdLst/>
            <a:ahLst/>
            <a:cxnLst/>
            <a:rect l="l" t="t" r="r" b="b"/>
            <a:pathLst>
              <a:path w="9323" h="57686">
                <a:moveTo>
                  <a:pt x="9323" y="0"/>
                </a:moveTo>
                <a:lnTo>
                  <a:pt x="9323" y="57686"/>
                </a:lnTo>
                <a:lnTo>
                  <a:pt x="4189" y="57686"/>
                </a:lnTo>
                <a:lnTo>
                  <a:pt x="2195" y="12740"/>
                </a:lnTo>
                <a:lnTo>
                  <a:pt x="0" y="0"/>
                </a:lnTo>
                <a:lnTo>
                  <a:pt x="9323"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3" name="Illustrative delivered road transport cost class 4; reference terminal Lesedi"/>
          <p:cNvSpPr/>
          <p:nvPr/>
        </p:nvSpPr>
        <p:spPr>
          <a:xfrm>
            <a:off x="2238964" y="4863680"/>
            <a:ext cx="23106" cy="57687"/>
          </a:xfrm>
          <a:custGeom>
            <a:avLst/>
            <a:gdLst/>
            <a:ahLst/>
            <a:cxnLst/>
            <a:rect l="l" t="t" r="r" b="b"/>
            <a:pathLst>
              <a:path w="23106" h="57687">
                <a:moveTo>
                  <a:pt x="23106" y="0"/>
                </a:moveTo>
                <a:lnTo>
                  <a:pt x="23106" y="57687"/>
                </a:lnTo>
                <a:lnTo>
                  <a:pt x="13783" y="57687"/>
                </a:lnTo>
                <a:lnTo>
                  <a:pt x="9541" y="33071"/>
                </a:lnTo>
                <a:lnTo>
                  <a:pt x="0" y="0"/>
                </a:lnTo>
                <a:lnTo>
                  <a:pt x="2310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4" name="Illustrative delivered road transport cost class 4; reference terminal Lesedi"/>
          <p:cNvSpPr/>
          <p:nvPr/>
        </p:nvSpPr>
        <p:spPr>
          <a:xfrm>
            <a:off x="2222323" y="4805994"/>
            <a:ext cx="39747" cy="57686"/>
          </a:xfrm>
          <a:custGeom>
            <a:avLst/>
            <a:gdLst/>
            <a:ahLst/>
            <a:cxnLst/>
            <a:rect l="l" t="t" r="r" b="b"/>
            <a:pathLst>
              <a:path w="39747" h="57686">
                <a:moveTo>
                  <a:pt x="39747" y="0"/>
                </a:moveTo>
                <a:lnTo>
                  <a:pt x="39747" y="57686"/>
                </a:lnTo>
                <a:lnTo>
                  <a:pt x="16641" y="57686"/>
                </a:lnTo>
                <a:lnTo>
                  <a:pt x="0" y="0"/>
                </a:lnTo>
                <a:lnTo>
                  <a:pt x="3974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5" name="Illustrative delivered road transport cost class 4; reference terminal Lesedi"/>
          <p:cNvSpPr/>
          <p:nvPr/>
        </p:nvSpPr>
        <p:spPr>
          <a:xfrm>
            <a:off x="2204384" y="4748307"/>
            <a:ext cx="57686" cy="57687"/>
          </a:xfrm>
          <a:custGeom>
            <a:avLst/>
            <a:gdLst/>
            <a:ahLst/>
            <a:cxnLst/>
            <a:rect l="l" t="t" r="r" b="b"/>
            <a:pathLst>
              <a:path w="57686" h="57687">
                <a:moveTo>
                  <a:pt x="0" y="0"/>
                </a:moveTo>
                <a:lnTo>
                  <a:pt x="57686" y="0"/>
                </a:lnTo>
                <a:lnTo>
                  <a:pt x="57686" y="57687"/>
                </a:lnTo>
                <a:lnTo>
                  <a:pt x="17939" y="57687"/>
                </a:lnTo>
                <a:lnTo>
                  <a:pt x="16463" y="52570"/>
                </a:lnTo>
                <a:lnTo>
                  <a:pt x="4806" y="30855"/>
                </a:lnTo>
                <a:lnTo>
                  <a:pt x="0" y="24875"/>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6" name="Illustrative delivered road transport cost class 4; reference terminal Lesedi"/>
          <p:cNvSpPr/>
          <p:nvPr/>
        </p:nvSpPr>
        <p:spPr>
          <a:xfrm>
            <a:off x="2204384"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7" name="Illustrative delivered road transport cost class 4; reference terminal Lesedi"/>
          <p:cNvSpPr/>
          <p:nvPr/>
        </p:nvSpPr>
        <p:spPr>
          <a:xfrm>
            <a:off x="2204384"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8" name="Illustrative delivered road transport cost class 4; reference terminal Lesedi"/>
          <p:cNvSpPr/>
          <p:nvPr/>
        </p:nvSpPr>
        <p:spPr>
          <a:xfrm>
            <a:off x="2204384"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9" name="Illustrative delivered road transport cost class 4; reference terminal Lesedi"/>
          <p:cNvSpPr/>
          <p:nvPr/>
        </p:nvSpPr>
        <p:spPr>
          <a:xfrm>
            <a:off x="2204384"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0" name="Illustrative delivered road transport cost class 4; reference terminal Lesedi"/>
          <p:cNvSpPr/>
          <p:nvPr/>
        </p:nvSpPr>
        <p:spPr>
          <a:xfrm>
            <a:off x="2204384"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1" name="Illustrative delivered road transport cost class 4; reference terminal Lesedi"/>
          <p:cNvSpPr/>
          <p:nvPr/>
        </p:nvSpPr>
        <p:spPr>
          <a:xfrm>
            <a:off x="2204384"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2" name="Illustrative delivered road transport cost class 4; reference terminal Lesedi"/>
          <p:cNvSpPr/>
          <p:nvPr/>
        </p:nvSpPr>
        <p:spPr>
          <a:xfrm>
            <a:off x="2204384"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3" name="Illustrative delivered road transport cost class 4; reference terminal Lesedi"/>
          <p:cNvSpPr/>
          <p:nvPr/>
        </p:nvSpPr>
        <p:spPr>
          <a:xfrm>
            <a:off x="2204384"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4" name="Illustrative delivered road transport cost class 4; reference terminal Lesedi"/>
          <p:cNvSpPr/>
          <p:nvPr/>
        </p:nvSpPr>
        <p:spPr>
          <a:xfrm>
            <a:off x="2204384"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5" name="Illustrative delivered road transport cost class 4; reference terminal Lesedi"/>
          <p:cNvSpPr/>
          <p:nvPr/>
        </p:nvSpPr>
        <p:spPr>
          <a:xfrm>
            <a:off x="2204384"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6" name="Illustrative delivered road transport cost class 4; reference terminal Lesedi"/>
          <p:cNvSpPr/>
          <p:nvPr/>
        </p:nvSpPr>
        <p:spPr>
          <a:xfrm>
            <a:off x="2204384"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7" name="Illustrative delivered road transport cost class 4; reference terminal Lesedi"/>
          <p:cNvSpPr/>
          <p:nvPr/>
        </p:nvSpPr>
        <p:spPr>
          <a:xfrm>
            <a:off x="2204384" y="4058286"/>
            <a:ext cx="57686" cy="55469"/>
          </a:xfrm>
          <a:custGeom>
            <a:avLst/>
            <a:gdLst/>
            <a:ahLst/>
            <a:cxnLst/>
            <a:rect l="l" t="t" r="r" b="b"/>
            <a:pathLst>
              <a:path w="57686" h="55469">
                <a:moveTo>
                  <a:pt x="57686" y="55469"/>
                </a:moveTo>
                <a:lnTo>
                  <a:pt x="0" y="55469"/>
                </a:lnTo>
                <a:lnTo>
                  <a:pt x="0" y="10278"/>
                </a:lnTo>
                <a:lnTo>
                  <a:pt x="57686" y="0"/>
                </a:lnTo>
                <a:lnTo>
                  <a:pt x="57686" y="55469"/>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8" name="Illustrative delivered road transport cost class 4; reference terminal Lesedi"/>
          <p:cNvSpPr/>
          <p:nvPr/>
        </p:nvSpPr>
        <p:spPr>
          <a:xfrm>
            <a:off x="2298674" y="5440546"/>
            <a:ext cx="17176" cy="22856"/>
          </a:xfrm>
          <a:custGeom>
            <a:avLst/>
            <a:gdLst/>
            <a:ahLst/>
            <a:cxnLst/>
            <a:rect l="l" t="t" r="r" b="b"/>
            <a:pathLst>
              <a:path w="17176" h="22856">
                <a:moveTo>
                  <a:pt x="15808" y="0"/>
                </a:moveTo>
                <a:lnTo>
                  <a:pt x="17176" y="22856"/>
                </a:lnTo>
                <a:lnTo>
                  <a:pt x="5490" y="10384"/>
                </a:lnTo>
                <a:lnTo>
                  <a:pt x="0" y="0"/>
                </a:lnTo>
                <a:lnTo>
                  <a:pt x="15808"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9" name="Illustrative delivered road transport cost class 4; reference terminal Lesedi"/>
          <p:cNvSpPr/>
          <p:nvPr/>
        </p:nvSpPr>
        <p:spPr>
          <a:xfrm>
            <a:off x="2284267" y="5382859"/>
            <a:ext cx="35490" cy="57687"/>
          </a:xfrm>
          <a:custGeom>
            <a:avLst/>
            <a:gdLst/>
            <a:ahLst/>
            <a:cxnLst/>
            <a:rect l="l" t="t" r="r" b="b"/>
            <a:pathLst>
              <a:path w="35490" h="57687">
                <a:moveTo>
                  <a:pt x="35490" y="0"/>
                </a:moveTo>
                <a:lnTo>
                  <a:pt x="35490" y="20566"/>
                </a:lnTo>
                <a:lnTo>
                  <a:pt x="28847" y="34848"/>
                </a:lnTo>
                <a:lnTo>
                  <a:pt x="30215" y="57687"/>
                </a:lnTo>
                <a:lnTo>
                  <a:pt x="14407" y="57687"/>
                </a:lnTo>
                <a:lnTo>
                  <a:pt x="5806" y="41418"/>
                </a:lnTo>
                <a:lnTo>
                  <a:pt x="0" y="12455"/>
                </a:lnTo>
                <a:lnTo>
                  <a:pt x="821" y="0"/>
                </a:lnTo>
                <a:lnTo>
                  <a:pt x="3549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0" name="Illustrative delivered road transport cost class 4; reference terminal Lesedi"/>
          <p:cNvSpPr/>
          <p:nvPr/>
        </p:nvSpPr>
        <p:spPr>
          <a:xfrm>
            <a:off x="2285088" y="5325173"/>
            <a:ext cx="34669" cy="57686"/>
          </a:xfrm>
          <a:custGeom>
            <a:avLst/>
            <a:gdLst/>
            <a:ahLst/>
            <a:cxnLst/>
            <a:rect l="l" t="t" r="r" b="b"/>
            <a:pathLst>
              <a:path w="34669" h="57686">
                <a:moveTo>
                  <a:pt x="34669" y="0"/>
                </a:moveTo>
                <a:lnTo>
                  <a:pt x="34669" y="57686"/>
                </a:lnTo>
                <a:lnTo>
                  <a:pt x="0" y="57686"/>
                </a:lnTo>
                <a:lnTo>
                  <a:pt x="1472" y="35343"/>
                </a:lnTo>
                <a:lnTo>
                  <a:pt x="24220" y="20879"/>
                </a:lnTo>
                <a:lnTo>
                  <a:pt x="21281" y="0"/>
                </a:lnTo>
                <a:lnTo>
                  <a:pt x="34669"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1" name="Illustrative delivered road transport cost class 4; reference terminal Lesedi"/>
          <p:cNvSpPr/>
          <p:nvPr/>
        </p:nvSpPr>
        <p:spPr>
          <a:xfrm>
            <a:off x="2278956" y="5267486"/>
            <a:ext cx="40801" cy="57687"/>
          </a:xfrm>
          <a:custGeom>
            <a:avLst/>
            <a:gdLst/>
            <a:ahLst/>
            <a:cxnLst/>
            <a:rect l="l" t="t" r="r" b="b"/>
            <a:pathLst>
              <a:path w="40801" h="57687">
                <a:moveTo>
                  <a:pt x="40801" y="0"/>
                </a:moveTo>
                <a:lnTo>
                  <a:pt x="40801" y="57687"/>
                </a:lnTo>
                <a:lnTo>
                  <a:pt x="27413" y="57687"/>
                </a:lnTo>
                <a:lnTo>
                  <a:pt x="27083" y="55337"/>
                </a:lnTo>
                <a:lnTo>
                  <a:pt x="20834" y="35385"/>
                </a:lnTo>
                <a:lnTo>
                  <a:pt x="0" y="0"/>
                </a:lnTo>
                <a:lnTo>
                  <a:pt x="40801"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2" name="Illustrative delivered road transport cost class 4; reference terminal Lesedi"/>
          <p:cNvSpPr/>
          <p:nvPr/>
        </p:nvSpPr>
        <p:spPr>
          <a:xfrm>
            <a:off x="2262070" y="5209799"/>
            <a:ext cx="57687" cy="57687"/>
          </a:xfrm>
          <a:custGeom>
            <a:avLst/>
            <a:gdLst/>
            <a:ahLst/>
            <a:cxnLst/>
            <a:rect l="l" t="t" r="r" b="b"/>
            <a:pathLst>
              <a:path w="57687" h="57687">
                <a:moveTo>
                  <a:pt x="0" y="0"/>
                </a:moveTo>
                <a:lnTo>
                  <a:pt x="57687" y="0"/>
                </a:lnTo>
                <a:lnTo>
                  <a:pt x="57687" y="57687"/>
                </a:lnTo>
                <a:lnTo>
                  <a:pt x="16886" y="57687"/>
                </a:lnTo>
                <a:lnTo>
                  <a:pt x="8102" y="42768"/>
                </a:lnTo>
                <a:lnTo>
                  <a:pt x="0" y="26922"/>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3" name="Illustrative delivered road transport cost class 4; reference terminal Lesedi"/>
          <p:cNvSpPr/>
          <p:nvPr/>
        </p:nvSpPr>
        <p:spPr>
          <a:xfrm>
            <a:off x="2262070"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4" name="Illustrative delivered road transport cost class 4; reference terminal Lesedi"/>
          <p:cNvSpPr/>
          <p:nvPr/>
        </p:nvSpPr>
        <p:spPr>
          <a:xfrm>
            <a:off x="2262070"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5" name="Illustrative delivered road transport cost class 4; reference terminal Lesedi"/>
          <p:cNvSpPr/>
          <p:nvPr/>
        </p:nvSpPr>
        <p:spPr>
          <a:xfrm>
            <a:off x="2262070"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6" name="Illustrative delivered road transport cost class 4; reference terminal Lesedi"/>
          <p:cNvSpPr/>
          <p:nvPr/>
        </p:nvSpPr>
        <p:spPr>
          <a:xfrm>
            <a:off x="2262070"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7" name="Illustrative delivered road transport cost class 4; reference terminal Lesedi"/>
          <p:cNvSpPr/>
          <p:nvPr/>
        </p:nvSpPr>
        <p:spPr>
          <a:xfrm>
            <a:off x="2262070"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8" name="Illustrative delivered road transport cost class 4; reference terminal Lesedi"/>
          <p:cNvSpPr/>
          <p:nvPr/>
        </p:nvSpPr>
        <p:spPr>
          <a:xfrm>
            <a:off x="2262070"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9" name="Illustrative delivered road transport cost class 4; reference terminal Lesedi"/>
          <p:cNvSpPr/>
          <p:nvPr/>
        </p:nvSpPr>
        <p:spPr>
          <a:xfrm>
            <a:off x="2262070"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0" name="Illustrative delivered road transport cost class 4; reference terminal Lesedi"/>
          <p:cNvSpPr/>
          <p:nvPr/>
        </p:nvSpPr>
        <p:spPr>
          <a:xfrm>
            <a:off x="2262070"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1" name="Illustrative delivered road transport cost class 4; reference terminal Lesedi"/>
          <p:cNvSpPr/>
          <p:nvPr/>
        </p:nvSpPr>
        <p:spPr>
          <a:xfrm>
            <a:off x="2262070"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2" name="Illustrative delivered road transport cost class 4; reference terminal Lesedi"/>
          <p:cNvSpPr/>
          <p:nvPr/>
        </p:nvSpPr>
        <p:spPr>
          <a:xfrm>
            <a:off x="2262070"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3" name="Illustrative delivered road transport cost class 4; reference terminal Lesedi"/>
          <p:cNvSpPr/>
          <p:nvPr/>
        </p:nvSpPr>
        <p:spPr>
          <a:xfrm>
            <a:off x="2262070"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4" name="Illustrative delivered road transport cost class 4; reference terminal Lesedi"/>
          <p:cNvSpPr/>
          <p:nvPr/>
        </p:nvSpPr>
        <p:spPr>
          <a:xfrm>
            <a:off x="2262070"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5" name="Illustrative delivered road transport cost class 4; reference terminal Lesedi"/>
          <p:cNvSpPr/>
          <p:nvPr/>
        </p:nvSpPr>
        <p:spPr>
          <a:xfrm>
            <a:off x="2262070"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6" name="Illustrative delivered road transport cost class 4; reference terminal Lesedi"/>
          <p:cNvSpPr/>
          <p:nvPr/>
        </p:nvSpPr>
        <p:spPr>
          <a:xfrm>
            <a:off x="2262070"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7" name="Illustrative delivered road transport cost class 4; reference terminal Lesedi"/>
          <p:cNvSpPr/>
          <p:nvPr/>
        </p:nvSpPr>
        <p:spPr>
          <a:xfrm>
            <a:off x="2262070"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8" name="Illustrative delivered road transport cost class 4; reference terminal Lesedi"/>
          <p:cNvSpPr/>
          <p:nvPr/>
        </p:nvSpPr>
        <p:spPr>
          <a:xfrm>
            <a:off x="2262070"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9" name="Illustrative delivered road transport cost class 4; reference terminal Lesedi"/>
          <p:cNvSpPr/>
          <p:nvPr/>
        </p:nvSpPr>
        <p:spPr>
          <a:xfrm>
            <a:off x="2262070"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0" name="Illustrative delivered road transport cost class 4; reference terminal Lesedi"/>
          <p:cNvSpPr/>
          <p:nvPr/>
        </p:nvSpPr>
        <p:spPr>
          <a:xfrm>
            <a:off x="2262070"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1" name="Illustrative delivered road transport cost class 4; reference terminal Lesedi"/>
          <p:cNvSpPr/>
          <p:nvPr/>
        </p:nvSpPr>
        <p:spPr>
          <a:xfrm>
            <a:off x="2262070"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2" name="Illustrative delivered road transport cost class 4; reference terminal Lesedi"/>
          <p:cNvSpPr/>
          <p:nvPr/>
        </p:nvSpPr>
        <p:spPr>
          <a:xfrm>
            <a:off x="2262070" y="4057828"/>
            <a:ext cx="57687" cy="55927"/>
          </a:xfrm>
          <a:custGeom>
            <a:avLst/>
            <a:gdLst/>
            <a:ahLst/>
            <a:cxnLst/>
            <a:rect l="l" t="t" r="r" b="b"/>
            <a:pathLst>
              <a:path w="57687" h="55927">
                <a:moveTo>
                  <a:pt x="57687" y="55927"/>
                </a:moveTo>
                <a:lnTo>
                  <a:pt x="0" y="55927"/>
                </a:lnTo>
                <a:lnTo>
                  <a:pt x="0" y="458"/>
                </a:lnTo>
                <a:lnTo>
                  <a:pt x="2572" y="0"/>
                </a:lnTo>
                <a:lnTo>
                  <a:pt x="56290" y="711"/>
                </a:lnTo>
                <a:lnTo>
                  <a:pt x="57687" y="1131"/>
                </a:lnTo>
                <a:lnTo>
                  <a:pt x="57687" y="5592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3" name="Illustrative delivered road transport cost class 4; reference terminal Lesedi"/>
          <p:cNvSpPr/>
          <p:nvPr/>
        </p:nvSpPr>
        <p:spPr>
          <a:xfrm>
            <a:off x="2319757" y="5382859"/>
            <a:ext cx="57687" cy="20566"/>
          </a:xfrm>
          <a:custGeom>
            <a:avLst/>
            <a:gdLst/>
            <a:ahLst/>
            <a:cxnLst/>
            <a:rect l="l" t="t" r="r" b="b"/>
            <a:pathLst>
              <a:path w="57687" h="20566">
                <a:moveTo>
                  <a:pt x="0" y="0"/>
                </a:moveTo>
                <a:lnTo>
                  <a:pt x="57687" y="0"/>
                </a:lnTo>
                <a:lnTo>
                  <a:pt x="57687" y="11455"/>
                </a:lnTo>
                <a:lnTo>
                  <a:pt x="53664" y="9552"/>
                </a:lnTo>
                <a:lnTo>
                  <a:pt x="44260" y="7315"/>
                </a:lnTo>
                <a:lnTo>
                  <a:pt x="22335" y="9939"/>
                </a:lnTo>
                <a:lnTo>
                  <a:pt x="7314" y="12991"/>
                </a:lnTo>
                <a:lnTo>
                  <a:pt x="561" y="19360"/>
                </a:lnTo>
                <a:lnTo>
                  <a:pt x="0" y="2056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4" name="Illustrative delivered road transport cost class 4; reference terminal Lesedi"/>
          <p:cNvSpPr/>
          <p:nvPr/>
        </p:nvSpPr>
        <p:spPr>
          <a:xfrm>
            <a:off x="2319757"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5" name="Illustrative delivered road transport cost class 4; reference terminal Lesedi"/>
          <p:cNvSpPr/>
          <p:nvPr/>
        </p:nvSpPr>
        <p:spPr>
          <a:xfrm>
            <a:off x="2319757"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6" name="Illustrative delivered road transport cost class 4; reference terminal Lesedi"/>
          <p:cNvSpPr/>
          <p:nvPr/>
        </p:nvSpPr>
        <p:spPr>
          <a:xfrm>
            <a:off x="2319757"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7" name="Illustrative delivered road transport cost class 4; reference terminal Lesedi"/>
          <p:cNvSpPr/>
          <p:nvPr/>
        </p:nvSpPr>
        <p:spPr>
          <a:xfrm>
            <a:off x="2319757"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8" name="Illustrative delivered road transport cost class 4; reference terminal Lesedi"/>
          <p:cNvSpPr/>
          <p:nvPr/>
        </p:nvSpPr>
        <p:spPr>
          <a:xfrm>
            <a:off x="2319757"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9" name="Illustrative delivered road transport cost class 4; reference terminal Lesedi"/>
          <p:cNvSpPr/>
          <p:nvPr/>
        </p:nvSpPr>
        <p:spPr>
          <a:xfrm>
            <a:off x="2319757"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0" name="Illustrative delivered road transport cost class 4; reference terminal Lesedi"/>
          <p:cNvSpPr/>
          <p:nvPr/>
        </p:nvSpPr>
        <p:spPr>
          <a:xfrm>
            <a:off x="2319757"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1" name="Illustrative delivered road transport cost class 4; reference terminal Lesedi"/>
          <p:cNvSpPr/>
          <p:nvPr/>
        </p:nvSpPr>
        <p:spPr>
          <a:xfrm>
            <a:off x="2319757"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2" name="Illustrative delivered road transport cost class 4; reference terminal Lesedi"/>
          <p:cNvSpPr/>
          <p:nvPr/>
        </p:nvSpPr>
        <p:spPr>
          <a:xfrm>
            <a:off x="2319757"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3" name="Illustrative delivered road transport cost class 4; reference terminal Lesedi"/>
          <p:cNvSpPr/>
          <p:nvPr/>
        </p:nvSpPr>
        <p:spPr>
          <a:xfrm>
            <a:off x="2319757"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4" name="Illustrative delivered road transport cost class 4; reference terminal Lesedi"/>
          <p:cNvSpPr/>
          <p:nvPr/>
        </p:nvSpPr>
        <p:spPr>
          <a:xfrm>
            <a:off x="2319757"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5" name="Illustrative delivered road transport cost class 4; reference terminal Lesedi"/>
          <p:cNvSpPr/>
          <p:nvPr/>
        </p:nvSpPr>
        <p:spPr>
          <a:xfrm>
            <a:off x="2319757"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6" name="Illustrative delivered road transport cost class 4; reference terminal Lesedi"/>
          <p:cNvSpPr/>
          <p:nvPr/>
        </p:nvSpPr>
        <p:spPr>
          <a:xfrm>
            <a:off x="2319757"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7" name="Illustrative delivered road transport cost class 4; reference terminal Lesedi"/>
          <p:cNvSpPr/>
          <p:nvPr/>
        </p:nvSpPr>
        <p:spPr>
          <a:xfrm>
            <a:off x="2319757"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8" name="Illustrative delivered road transport cost class 4; reference terminal Lesedi"/>
          <p:cNvSpPr/>
          <p:nvPr/>
        </p:nvSpPr>
        <p:spPr>
          <a:xfrm>
            <a:off x="2319757"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9" name="Illustrative delivered road transport cost class 4; reference terminal Lesedi"/>
          <p:cNvSpPr/>
          <p:nvPr/>
        </p:nvSpPr>
        <p:spPr>
          <a:xfrm>
            <a:off x="2319757"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0" name="Illustrative delivered road transport cost class 4; reference terminal Lesedi"/>
          <p:cNvSpPr/>
          <p:nvPr/>
        </p:nvSpPr>
        <p:spPr>
          <a:xfrm>
            <a:off x="2319757"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1" name="Illustrative delivered road transport cost class 4; reference terminal Lesedi"/>
          <p:cNvSpPr/>
          <p:nvPr/>
        </p:nvSpPr>
        <p:spPr>
          <a:xfrm>
            <a:off x="2319757"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2" name="Illustrative delivered road transport cost class 4; reference terminal Lesedi"/>
          <p:cNvSpPr/>
          <p:nvPr/>
        </p:nvSpPr>
        <p:spPr>
          <a:xfrm>
            <a:off x="2319757"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3" name="Illustrative delivered road transport cost class 4; reference terminal Lesedi"/>
          <p:cNvSpPr/>
          <p:nvPr/>
        </p:nvSpPr>
        <p:spPr>
          <a:xfrm>
            <a:off x="2319757"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4" name="Illustrative delivered road transport cost class 4; reference terminal Lesedi"/>
          <p:cNvSpPr/>
          <p:nvPr/>
        </p:nvSpPr>
        <p:spPr>
          <a:xfrm>
            <a:off x="2319757"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5" name="Illustrative delivered road transport cost class 4; reference terminal Lesedi"/>
          <p:cNvSpPr/>
          <p:nvPr/>
        </p:nvSpPr>
        <p:spPr>
          <a:xfrm>
            <a:off x="2319757"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6" name="Illustrative delivered road transport cost class 4; reference terminal Lesedi"/>
          <p:cNvSpPr/>
          <p:nvPr/>
        </p:nvSpPr>
        <p:spPr>
          <a:xfrm>
            <a:off x="2319757" y="4058959"/>
            <a:ext cx="57687" cy="54796"/>
          </a:xfrm>
          <a:custGeom>
            <a:avLst/>
            <a:gdLst/>
            <a:ahLst/>
            <a:cxnLst/>
            <a:rect l="l" t="t" r="r" b="b"/>
            <a:pathLst>
              <a:path w="57687" h="54796">
                <a:moveTo>
                  <a:pt x="57687" y="54796"/>
                </a:moveTo>
                <a:lnTo>
                  <a:pt x="0" y="54796"/>
                </a:lnTo>
                <a:lnTo>
                  <a:pt x="0" y="0"/>
                </a:lnTo>
                <a:lnTo>
                  <a:pt x="41425" y="12459"/>
                </a:lnTo>
                <a:lnTo>
                  <a:pt x="57687" y="13126"/>
                </a:lnTo>
                <a:lnTo>
                  <a:pt x="57687" y="5479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7" name="Illustrative delivered road transport cost class 4; reference terminal Lesedi"/>
          <p:cNvSpPr/>
          <p:nvPr/>
        </p:nvSpPr>
        <p:spPr>
          <a:xfrm>
            <a:off x="2392135" y="5440546"/>
            <a:ext cx="42995" cy="22866"/>
          </a:xfrm>
          <a:custGeom>
            <a:avLst/>
            <a:gdLst/>
            <a:ahLst/>
            <a:cxnLst/>
            <a:rect l="l" t="t" r="r" b="b"/>
            <a:pathLst>
              <a:path w="42995" h="22866">
                <a:moveTo>
                  <a:pt x="42995" y="0"/>
                </a:moveTo>
                <a:lnTo>
                  <a:pt x="42995" y="16296"/>
                </a:lnTo>
                <a:lnTo>
                  <a:pt x="27646" y="16299"/>
                </a:lnTo>
                <a:lnTo>
                  <a:pt x="17172" y="21189"/>
                </a:lnTo>
                <a:lnTo>
                  <a:pt x="2340" y="22866"/>
                </a:lnTo>
                <a:lnTo>
                  <a:pt x="0" y="5670"/>
                </a:lnTo>
                <a:lnTo>
                  <a:pt x="281" y="0"/>
                </a:lnTo>
                <a:lnTo>
                  <a:pt x="42995"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8" name="Illustrative delivered road transport cost class 4; reference terminal Lesedi"/>
          <p:cNvSpPr/>
          <p:nvPr/>
        </p:nvSpPr>
        <p:spPr>
          <a:xfrm>
            <a:off x="2377444" y="5382859"/>
            <a:ext cx="57686" cy="57687"/>
          </a:xfrm>
          <a:custGeom>
            <a:avLst/>
            <a:gdLst/>
            <a:ahLst/>
            <a:cxnLst/>
            <a:rect l="l" t="t" r="r" b="b"/>
            <a:pathLst>
              <a:path w="57686" h="57687">
                <a:moveTo>
                  <a:pt x="0" y="0"/>
                </a:moveTo>
                <a:lnTo>
                  <a:pt x="57686" y="0"/>
                </a:lnTo>
                <a:lnTo>
                  <a:pt x="57686" y="57687"/>
                </a:lnTo>
                <a:lnTo>
                  <a:pt x="14972" y="57687"/>
                </a:lnTo>
                <a:lnTo>
                  <a:pt x="15233" y="52413"/>
                </a:lnTo>
                <a:lnTo>
                  <a:pt x="13341" y="35743"/>
                </a:lnTo>
                <a:lnTo>
                  <a:pt x="8403" y="15432"/>
                </a:lnTo>
                <a:lnTo>
                  <a:pt x="0" y="11455"/>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9" name="Illustrative delivered road transport cost class 4; reference terminal Lesedi"/>
          <p:cNvSpPr/>
          <p:nvPr/>
        </p:nvSpPr>
        <p:spPr>
          <a:xfrm>
            <a:off x="2377444"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0" name="Illustrative delivered road transport cost class 4; reference terminal Lesedi"/>
          <p:cNvSpPr/>
          <p:nvPr/>
        </p:nvSpPr>
        <p:spPr>
          <a:xfrm>
            <a:off x="2377444"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1" name="Illustrative delivered road transport cost class 4; reference terminal Lesedi"/>
          <p:cNvSpPr/>
          <p:nvPr/>
        </p:nvSpPr>
        <p:spPr>
          <a:xfrm>
            <a:off x="2377444"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2" name="Illustrative delivered road transport cost class 4; reference terminal Lesedi"/>
          <p:cNvSpPr/>
          <p:nvPr/>
        </p:nvSpPr>
        <p:spPr>
          <a:xfrm>
            <a:off x="2377444"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3" name="Illustrative delivered road transport cost class 4; reference terminal Lesedi"/>
          <p:cNvSpPr/>
          <p:nvPr/>
        </p:nvSpPr>
        <p:spPr>
          <a:xfrm>
            <a:off x="2377444"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4" name="Illustrative delivered road transport cost class 4; reference terminal Lesedi"/>
          <p:cNvSpPr/>
          <p:nvPr/>
        </p:nvSpPr>
        <p:spPr>
          <a:xfrm>
            <a:off x="2377444"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5" name="Illustrative delivered road transport cost class 4; reference terminal Lesedi"/>
          <p:cNvSpPr/>
          <p:nvPr/>
        </p:nvSpPr>
        <p:spPr>
          <a:xfrm>
            <a:off x="2377444"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6" name="Illustrative delivered road transport cost class 4; reference terminal Lesedi"/>
          <p:cNvSpPr/>
          <p:nvPr/>
        </p:nvSpPr>
        <p:spPr>
          <a:xfrm>
            <a:off x="2377444"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7" name="Illustrative delivered road transport cost class 4; reference terminal Lesedi"/>
          <p:cNvSpPr/>
          <p:nvPr/>
        </p:nvSpPr>
        <p:spPr>
          <a:xfrm>
            <a:off x="2377444"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8" name="Illustrative delivered road transport cost class 4; reference terminal Lesedi"/>
          <p:cNvSpPr/>
          <p:nvPr/>
        </p:nvSpPr>
        <p:spPr>
          <a:xfrm>
            <a:off x="2377444"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9" name="Illustrative delivered road transport cost class 4; reference terminal Lesedi"/>
          <p:cNvSpPr/>
          <p:nvPr/>
        </p:nvSpPr>
        <p:spPr>
          <a:xfrm>
            <a:off x="2377444"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0" name="Illustrative delivered road transport cost class 4; reference terminal Lesedi"/>
          <p:cNvSpPr/>
          <p:nvPr/>
        </p:nvSpPr>
        <p:spPr>
          <a:xfrm>
            <a:off x="2377444"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1" name="Illustrative delivered road transport cost class 4; reference terminal Lesedi"/>
          <p:cNvSpPr/>
          <p:nvPr/>
        </p:nvSpPr>
        <p:spPr>
          <a:xfrm>
            <a:off x="2377444"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2" name="Illustrative delivered road transport cost class 4; reference terminal Lesedi"/>
          <p:cNvSpPr/>
          <p:nvPr/>
        </p:nvSpPr>
        <p:spPr>
          <a:xfrm>
            <a:off x="2377444"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3" name="Illustrative delivered road transport cost class 4; reference terminal Lesedi"/>
          <p:cNvSpPr/>
          <p:nvPr/>
        </p:nvSpPr>
        <p:spPr>
          <a:xfrm>
            <a:off x="2377444"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4" name="Illustrative delivered road transport cost class 4; reference terminal Lesedi"/>
          <p:cNvSpPr/>
          <p:nvPr/>
        </p:nvSpPr>
        <p:spPr>
          <a:xfrm>
            <a:off x="2377444"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5" name="Illustrative delivered road transport cost class 4; reference terminal Lesedi"/>
          <p:cNvSpPr/>
          <p:nvPr/>
        </p:nvSpPr>
        <p:spPr>
          <a:xfrm>
            <a:off x="2377444"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6" name="Illustrative delivered road transport cost class 4; reference terminal Lesedi"/>
          <p:cNvSpPr/>
          <p:nvPr/>
        </p:nvSpPr>
        <p:spPr>
          <a:xfrm>
            <a:off x="2377444"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7" name="Illustrative delivered road transport cost class 4; reference terminal Lesedi"/>
          <p:cNvSpPr/>
          <p:nvPr/>
        </p:nvSpPr>
        <p:spPr>
          <a:xfrm>
            <a:off x="2377444"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8" name="Illustrative delivered road transport cost class 4; reference terminal Lesedi"/>
          <p:cNvSpPr/>
          <p:nvPr/>
        </p:nvSpPr>
        <p:spPr>
          <a:xfrm>
            <a:off x="2377444"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9" name="Illustrative delivered road transport cost class 4; reference terminal Lesedi"/>
          <p:cNvSpPr/>
          <p:nvPr/>
        </p:nvSpPr>
        <p:spPr>
          <a:xfrm>
            <a:off x="2377444"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0" name="Illustrative delivered road transport cost class 4; reference terminal Lesedi"/>
          <p:cNvSpPr/>
          <p:nvPr/>
        </p:nvSpPr>
        <p:spPr>
          <a:xfrm>
            <a:off x="2377444"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1" name="Illustrative delivered road transport cost class 4; reference terminal Lesedi"/>
          <p:cNvSpPr/>
          <p:nvPr/>
        </p:nvSpPr>
        <p:spPr>
          <a:xfrm>
            <a:off x="2377444" y="4056068"/>
            <a:ext cx="57686" cy="57687"/>
          </a:xfrm>
          <a:custGeom>
            <a:avLst/>
            <a:gdLst/>
            <a:ahLst/>
            <a:cxnLst/>
            <a:rect l="l" t="t" r="r" b="b"/>
            <a:pathLst>
              <a:path w="57686" h="57687">
                <a:moveTo>
                  <a:pt x="57686" y="0"/>
                </a:moveTo>
                <a:lnTo>
                  <a:pt x="57686" y="57687"/>
                </a:lnTo>
                <a:lnTo>
                  <a:pt x="0" y="57687"/>
                </a:lnTo>
                <a:lnTo>
                  <a:pt x="0" y="16017"/>
                </a:lnTo>
                <a:lnTo>
                  <a:pt x="14325" y="16605"/>
                </a:lnTo>
                <a:lnTo>
                  <a:pt x="32739" y="6194"/>
                </a:lnTo>
                <a:lnTo>
                  <a:pt x="36035" y="0"/>
                </a:lnTo>
                <a:lnTo>
                  <a:pt x="5768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2" name="Illustrative delivered road transport cost class 4; reference terminal Lesedi"/>
          <p:cNvSpPr/>
          <p:nvPr/>
        </p:nvSpPr>
        <p:spPr>
          <a:xfrm>
            <a:off x="2413479" y="4015168"/>
            <a:ext cx="21651" cy="40900"/>
          </a:xfrm>
          <a:custGeom>
            <a:avLst/>
            <a:gdLst/>
            <a:ahLst/>
            <a:cxnLst/>
            <a:rect l="l" t="t" r="r" b="b"/>
            <a:pathLst>
              <a:path w="21651" h="40900">
                <a:moveTo>
                  <a:pt x="21651" y="40900"/>
                </a:moveTo>
                <a:lnTo>
                  <a:pt x="0" y="40900"/>
                </a:lnTo>
                <a:lnTo>
                  <a:pt x="4223" y="32964"/>
                </a:lnTo>
                <a:lnTo>
                  <a:pt x="834" y="15133"/>
                </a:lnTo>
                <a:lnTo>
                  <a:pt x="9667" y="3321"/>
                </a:lnTo>
                <a:lnTo>
                  <a:pt x="21651" y="0"/>
                </a:lnTo>
                <a:lnTo>
                  <a:pt x="21651" y="4090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3" name="Illustrative delivered road transport cost class 4; reference terminal Lesedi"/>
          <p:cNvSpPr/>
          <p:nvPr/>
        </p:nvSpPr>
        <p:spPr>
          <a:xfrm>
            <a:off x="2435130" y="5440546"/>
            <a:ext cx="57687" cy="39277"/>
          </a:xfrm>
          <a:custGeom>
            <a:avLst/>
            <a:gdLst/>
            <a:ahLst/>
            <a:cxnLst/>
            <a:rect l="l" t="t" r="r" b="b"/>
            <a:pathLst>
              <a:path w="57687" h="39277">
                <a:moveTo>
                  <a:pt x="0" y="0"/>
                </a:moveTo>
                <a:lnTo>
                  <a:pt x="57687" y="0"/>
                </a:lnTo>
                <a:lnTo>
                  <a:pt x="57687" y="39277"/>
                </a:lnTo>
                <a:lnTo>
                  <a:pt x="55343" y="36540"/>
                </a:lnTo>
                <a:lnTo>
                  <a:pt x="47632" y="30598"/>
                </a:lnTo>
                <a:lnTo>
                  <a:pt x="27459" y="32805"/>
                </a:lnTo>
                <a:lnTo>
                  <a:pt x="15740" y="16292"/>
                </a:lnTo>
                <a:lnTo>
                  <a:pt x="0" y="1629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4" name="Illustrative delivered road transport cost class 4; reference terminal Lesedi"/>
          <p:cNvSpPr/>
          <p:nvPr/>
        </p:nvSpPr>
        <p:spPr>
          <a:xfrm>
            <a:off x="2435130" y="538285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5" name="Illustrative delivered road transport cost class 4; reference terminal Lesedi"/>
          <p:cNvSpPr/>
          <p:nvPr/>
        </p:nvSpPr>
        <p:spPr>
          <a:xfrm>
            <a:off x="2435130"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6" name="Illustrative delivered road transport cost class 4; reference terminal Lesedi"/>
          <p:cNvSpPr/>
          <p:nvPr/>
        </p:nvSpPr>
        <p:spPr>
          <a:xfrm>
            <a:off x="2435130"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7" name="Illustrative delivered road transport cost class 4; reference terminal Lesedi"/>
          <p:cNvSpPr/>
          <p:nvPr/>
        </p:nvSpPr>
        <p:spPr>
          <a:xfrm>
            <a:off x="2435130"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8" name="Illustrative delivered road transport cost class 4; reference terminal Lesedi"/>
          <p:cNvSpPr/>
          <p:nvPr/>
        </p:nvSpPr>
        <p:spPr>
          <a:xfrm>
            <a:off x="2435130"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9" name="Illustrative delivered road transport cost class 4; reference terminal Lesedi"/>
          <p:cNvSpPr/>
          <p:nvPr/>
        </p:nvSpPr>
        <p:spPr>
          <a:xfrm>
            <a:off x="2435130"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0" name="Illustrative delivered road transport cost class 4; reference terminal Lesedi"/>
          <p:cNvSpPr/>
          <p:nvPr/>
        </p:nvSpPr>
        <p:spPr>
          <a:xfrm>
            <a:off x="2435130"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1" name="Illustrative delivered road transport cost class 4; reference terminal Lesedi"/>
          <p:cNvSpPr/>
          <p:nvPr/>
        </p:nvSpPr>
        <p:spPr>
          <a:xfrm>
            <a:off x="2435130"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2" name="Illustrative delivered road transport cost class 4; reference terminal Lesedi"/>
          <p:cNvSpPr/>
          <p:nvPr/>
        </p:nvSpPr>
        <p:spPr>
          <a:xfrm>
            <a:off x="2435130"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3" name="Illustrative delivered road transport cost class 4; reference terminal Lesedi"/>
          <p:cNvSpPr/>
          <p:nvPr/>
        </p:nvSpPr>
        <p:spPr>
          <a:xfrm>
            <a:off x="2435130"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4" name="Illustrative delivered road transport cost class 4; reference terminal Lesedi"/>
          <p:cNvSpPr/>
          <p:nvPr/>
        </p:nvSpPr>
        <p:spPr>
          <a:xfrm>
            <a:off x="2435130"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5" name="Illustrative delivered road transport cost class 4; reference terminal Lesedi"/>
          <p:cNvSpPr/>
          <p:nvPr/>
        </p:nvSpPr>
        <p:spPr>
          <a:xfrm>
            <a:off x="2435130"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6" name="Illustrative delivered road transport cost class 4; reference terminal Lesedi"/>
          <p:cNvSpPr/>
          <p:nvPr/>
        </p:nvSpPr>
        <p:spPr>
          <a:xfrm>
            <a:off x="2435130"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7" name="Illustrative delivered road transport cost class 4; reference terminal Lesedi"/>
          <p:cNvSpPr/>
          <p:nvPr/>
        </p:nvSpPr>
        <p:spPr>
          <a:xfrm>
            <a:off x="2435130"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8" name="Illustrative delivered road transport cost class 4; reference terminal Lesedi"/>
          <p:cNvSpPr/>
          <p:nvPr/>
        </p:nvSpPr>
        <p:spPr>
          <a:xfrm>
            <a:off x="2435130"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9" name="Illustrative delivered road transport cost class 4; reference terminal Lesedi"/>
          <p:cNvSpPr/>
          <p:nvPr/>
        </p:nvSpPr>
        <p:spPr>
          <a:xfrm>
            <a:off x="2435130"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0" name="Illustrative delivered road transport cost class 4; reference terminal Lesedi"/>
          <p:cNvSpPr/>
          <p:nvPr/>
        </p:nvSpPr>
        <p:spPr>
          <a:xfrm>
            <a:off x="2435130"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1" name="Illustrative delivered road transport cost class None; reference terminal None"/>
          <p:cNvSpPr/>
          <p:nvPr/>
        </p:nvSpPr>
        <p:spPr>
          <a:xfrm>
            <a:off x="2435130"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2" name="Illustrative delivered road transport cost class None; reference terminal None"/>
          <p:cNvSpPr/>
          <p:nvPr/>
        </p:nvSpPr>
        <p:spPr>
          <a:xfrm>
            <a:off x="2435130"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3" name="Illustrative delivered road transport cost class 4; reference terminal Lesedi"/>
          <p:cNvSpPr/>
          <p:nvPr/>
        </p:nvSpPr>
        <p:spPr>
          <a:xfrm>
            <a:off x="2435130"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4" name="Illustrative delivered road transport cost class 4; reference terminal Lesedi"/>
          <p:cNvSpPr/>
          <p:nvPr/>
        </p:nvSpPr>
        <p:spPr>
          <a:xfrm>
            <a:off x="2435130"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5" name="Illustrative delivered road transport cost class 4; reference terminal Lesedi"/>
          <p:cNvSpPr/>
          <p:nvPr/>
        </p:nvSpPr>
        <p:spPr>
          <a:xfrm>
            <a:off x="2435130"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6" name="Illustrative delivered road transport cost class 4; reference terminal Lesedi"/>
          <p:cNvSpPr/>
          <p:nvPr/>
        </p:nvSpPr>
        <p:spPr>
          <a:xfrm>
            <a:off x="2435130"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7" name="Illustrative delivered road transport cost class 4; reference terminal Lesedi"/>
          <p:cNvSpPr/>
          <p:nvPr/>
        </p:nvSpPr>
        <p:spPr>
          <a:xfrm>
            <a:off x="2435130"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8" name="Illustrative delivered road transport cost class 4; reference terminal Lesedi"/>
          <p:cNvSpPr/>
          <p:nvPr/>
        </p:nvSpPr>
        <p:spPr>
          <a:xfrm>
            <a:off x="2435130" y="3998382"/>
            <a:ext cx="57687" cy="57686"/>
          </a:xfrm>
          <a:custGeom>
            <a:avLst/>
            <a:gdLst/>
            <a:ahLst/>
            <a:cxnLst/>
            <a:rect l="l" t="t" r="r" b="b"/>
            <a:pathLst>
              <a:path w="57687" h="57686">
                <a:moveTo>
                  <a:pt x="57687" y="0"/>
                </a:moveTo>
                <a:lnTo>
                  <a:pt x="57687" y="57686"/>
                </a:lnTo>
                <a:lnTo>
                  <a:pt x="0" y="57686"/>
                </a:lnTo>
                <a:lnTo>
                  <a:pt x="0" y="16786"/>
                </a:lnTo>
                <a:lnTo>
                  <a:pt x="9054" y="14278"/>
                </a:lnTo>
                <a:lnTo>
                  <a:pt x="25427" y="0"/>
                </a:lnTo>
                <a:lnTo>
                  <a:pt x="5768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9" name="Illustrative delivered road transport cost class 4; reference terminal Lesedi"/>
          <p:cNvSpPr/>
          <p:nvPr/>
        </p:nvSpPr>
        <p:spPr>
          <a:xfrm>
            <a:off x="2460557" y="3961764"/>
            <a:ext cx="32260" cy="36618"/>
          </a:xfrm>
          <a:custGeom>
            <a:avLst/>
            <a:gdLst/>
            <a:ahLst/>
            <a:cxnLst/>
            <a:rect l="l" t="t" r="r" b="b"/>
            <a:pathLst>
              <a:path w="32260" h="36618">
                <a:moveTo>
                  <a:pt x="32260" y="36618"/>
                </a:moveTo>
                <a:lnTo>
                  <a:pt x="0" y="36618"/>
                </a:lnTo>
                <a:lnTo>
                  <a:pt x="31" y="36591"/>
                </a:lnTo>
                <a:lnTo>
                  <a:pt x="11831" y="13751"/>
                </a:lnTo>
                <a:lnTo>
                  <a:pt x="32260" y="0"/>
                </a:lnTo>
                <a:lnTo>
                  <a:pt x="32260" y="36618"/>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0" name="Illustrative delivered road transport cost class 4; reference terminal Durban"/>
          <p:cNvSpPr/>
          <p:nvPr/>
        </p:nvSpPr>
        <p:spPr>
          <a:xfrm>
            <a:off x="2496946" y="5498232"/>
            <a:ext cx="53557" cy="43173"/>
          </a:xfrm>
          <a:custGeom>
            <a:avLst/>
            <a:gdLst/>
            <a:ahLst/>
            <a:cxnLst/>
            <a:rect l="l" t="t" r="r" b="b"/>
            <a:pathLst>
              <a:path w="53557" h="43173">
                <a:moveTo>
                  <a:pt x="53557" y="0"/>
                </a:moveTo>
                <a:lnTo>
                  <a:pt x="53557" y="43173"/>
                </a:lnTo>
                <a:lnTo>
                  <a:pt x="19589" y="20766"/>
                </a:lnTo>
                <a:lnTo>
                  <a:pt x="0" y="24144"/>
                </a:lnTo>
                <a:lnTo>
                  <a:pt x="4671" y="12576"/>
                </a:lnTo>
                <a:lnTo>
                  <a:pt x="4986" y="0"/>
                </a:lnTo>
                <a:lnTo>
                  <a:pt x="5355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1" name="Illustrative delivered road transport cost class 4; reference terminal Lesedi"/>
          <p:cNvSpPr/>
          <p:nvPr/>
        </p:nvSpPr>
        <p:spPr>
          <a:xfrm>
            <a:off x="2492817" y="5440546"/>
            <a:ext cx="57686" cy="57686"/>
          </a:xfrm>
          <a:custGeom>
            <a:avLst/>
            <a:gdLst/>
            <a:ahLst/>
            <a:cxnLst/>
            <a:rect l="l" t="t" r="r" b="b"/>
            <a:pathLst>
              <a:path w="57686" h="57686">
                <a:moveTo>
                  <a:pt x="0" y="0"/>
                </a:moveTo>
                <a:lnTo>
                  <a:pt x="57686" y="0"/>
                </a:lnTo>
                <a:lnTo>
                  <a:pt x="57686" y="57686"/>
                </a:lnTo>
                <a:lnTo>
                  <a:pt x="9115" y="57686"/>
                </a:lnTo>
                <a:lnTo>
                  <a:pt x="9305" y="50144"/>
                </a:lnTo>
                <a:lnTo>
                  <a:pt x="0" y="39277"/>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2" name="Illustrative delivered road transport cost class 4; reference terminal Lesedi"/>
          <p:cNvSpPr/>
          <p:nvPr/>
        </p:nvSpPr>
        <p:spPr>
          <a:xfrm>
            <a:off x="2492817" y="538285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3" name="Illustrative delivered road transport cost class 4; reference terminal Lesedi"/>
          <p:cNvSpPr/>
          <p:nvPr/>
        </p:nvSpPr>
        <p:spPr>
          <a:xfrm>
            <a:off x="2492817"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4" name="Illustrative delivered road transport cost class 4; reference terminal Lesedi"/>
          <p:cNvSpPr/>
          <p:nvPr/>
        </p:nvSpPr>
        <p:spPr>
          <a:xfrm>
            <a:off x="2492817"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5" name="Illustrative delivered road transport cost class 4; reference terminal Lesedi"/>
          <p:cNvSpPr/>
          <p:nvPr/>
        </p:nvSpPr>
        <p:spPr>
          <a:xfrm>
            <a:off x="2492817"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6" name="Illustrative delivered road transport cost class 4; reference terminal Lesedi"/>
          <p:cNvSpPr/>
          <p:nvPr/>
        </p:nvSpPr>
        <p:spPr>
          <a:xfrm>
            <a:off x="2492817"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7" name="Illustrative delivered road transport cost class 4; reference terminal Lesedi"/>
          <p:cNvSpPr/>
          <p:nvPr/>
        </p:nvSpPr>
        <p:spPr>
          <a:xfrm>
            <a:off x="2492817"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8" name="Illustrative delivered road transport cost class 4; reference terminal Lesedi"/>
          <p:cNvSpPr/>
          <p:nvPr/>
        </p:nvSpPr>
        <p:spPr>
          <a:xfrm>
            <a:off x="2492817"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9" name="Illustrative delivered road transport cost class 4; reference terminal Lesedi"/>
          <p:cNvSpPr/>
          <p:nvPr/>
        </p:nvSpPr>
        <p:spPr>
          <a:xfrm>
            <a:off x="2492817"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0" name="Illustrative delivered road transport cost class 4; reference terminal Lesedi"/>
          <p:cNvSpPr/>
          <p:nvPr/>
        </p:nvSpPr>
        <p:spPr>
          <a:xfrm>
            <a:off x="2492817"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1" name="Illustrative delivered road transport cost class 4; reference terminal Lesedi"/>
          <p:cNvSpPr/>
          <p:nvPr/>
        </p:nvSpPr>
        <p:spPr>
          <a:xfrm>
            <a:off x="2492817"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2" name="Illustrative delivered road transport cost class 4; reference terminal Lesedi"/>
          <p:cNvSpPr/>
          <p:nvPr/>
        </p:nvSpPr>
        <p:spPr>
          <a:xfrm>
            <a:off x="2492817"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3" name="Illustrative delivered road transport cost class 4; reference terminal Lesedi"/>
          <p:cNvSpPr/>
          <p:nvPr/>
        </p:nvSpPr>
        <p:spPr>
          <a:xfrm>
            <a:off x="2492817"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4" name="Illustrative delivered road transport cost class 4; reference terminal Lesedi"/>
          <p:cNvSpPr/>
          <p:nvPr/>
        </p:nvSpPr>
        <p:spPr>
          <a:xfrm>
            <a:off x="2492817"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5" name="Illustrative delivered road transport cost class 4; reference terminal Lesedi"/>
          <p:cNvSpPr/>
          <p:nvPr/>
        </p:nvSpPr>
        <p:spPr>
          <a:xfrm>
            <a:off x="2492817"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6" name="Illustrative delivered road transport cost class None; reference terminal None"/>
          <p:cNvSpPr/>
          <p:nvPr/>
        </p:nvSpPr>
        <p:spPr>
          <a:xfrm>
            <a:off x="2492817"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7" name="Illustrative delivered road transport cost class None; reference terminal None"/>
          <p:cNvSpPr/>
          <p:nvPr/>
        </p:nvSpPr>
        <p:spPr>
          <a:xfrm>
            <a:off x="2492817"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8" name="Illustrative delivered road transport cost class None; reference terminal None"/>
          <p:cNvSpPr/>
          <p:nvPr/>
        </p:nvSpPr>
        <p:spPr>
          <a:xfrm>
            <a:off x="2492817"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9" name="Illustrative delivered road transport cost class None; reference terminal None"/>
          <p:cNvSpPr/>
          <p:nvPr/>
        </p:nvSpPr>
        <p:spPr>
          <a:xfrm>
            <a:off x="2492817"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0" name="Illustrative delivered road transport cost class None; reference terminal None"/>
          <p:cNvSpPr/>
          <p:nvPr/>
        </p:nvSpPr>
        <p:spPr>
          <a:xfrm>
            <a:off x="2492817"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1" name="Illustrative delivered road transport cost class 4; reference terminal Lesedi"/>
          <p:cNvSpPr/>
          <p:nvPr/>
        </p:nvSpPr>
        <p:spPr>
          <a:xfrm>
            <a:off x="2492817"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2" name="Illustrative delivered road transport cost class 4; reference terminal Lesedi"/>
          <p:cNvSpPr/>
          <p:nvPr/>
        </p:nvSpPr>
        <p:spPr>
          <a:xfrm>
            <a:off x="2492817"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3" name="Illustrative delivered road transport cost class 4; reference terminal Lesedi"/>
          <p:cNvSpPr/>
          <p:nvPr/>
        </p:nvSpPr>
        <p:spPr>
          <a:xfrm>
            <a:off x="2492817"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4" name="Illustrative delivered road transport cost class 4; reference terminal Lesedi"/>
          <p:cNvSpPr/>
          <p:nvPr/>
        </p:nvSpPr>
        <p:spPr>
          <a:xfrm>
            <a:off x="2492817"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5" name="Illustrative delivered road transport cost class 4; reference terminal Lesedi"/>
          <p:cNvSpPr/>
          <p:nvPr/>
        </p:nvSpPr>
        <p:spPr>
          <a:xfrm>
            <a:off x="2492817"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6" name="Illustrative delivered road transport cost class 4; reference terminal Lesedi"/>
          <p:cNvSpPr/>
          <p:nvPr/>
        </p:nvSpPr>
        <p:spPr>
          <a:xfrm>
            <a:off x="2492817"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7" name="Illustrative delivered road transport cost class 4; reference terminal Lesedi"/>
          <p:cNvSpPr/>
          <p:nvPr/>
        </p:nvSpPr>
        <p:spPr>
          <a:xfrm>
            <a:off x="2492817" y="3940695"/>
            <a:ext cx="57686" cy="57687"/>
          </a:xfrm>
          <a:custGeom>
            <a:avLst/>
            <a:gdLst/>
            <a:ahLst/>
            <a:cxnLst/>
            <a:rect l="l" t="t" r="r" b="b"/>
            <a:pathLst>
              <a:path w="57686" h="57687">
                <a:moveTo>
                  <a:pt x="57686" y="0"/>
                </a:moveTo>
                <a:lnTo>
                  <a:pt x="57686" y="57687"/>
                </a:lnTo>
                <a:lnTo>
                  <a:pt x="0" y="57687"/>
                </a:lnTo>
                <a:lnTo>
                  <a:pt x="0" y="21069"/>
                </a:lnTo>
                <a:lnTo>
                  <a:pt x="8428" y="15396"/>
                </a:lnTo>
                <a:lnTo>
                  <a:pt x="52698" y="0"/>
                </a:lnTo>
                <a:lnTo>
                  <a:pt x="5768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8" name="Illustrative delivered road transport cost class 4; reference terminal Lesedi"/>
          <p:cNvSpPr/>
          <p:nvPr/>
        </p:nvSpPr>
        <p:spPr>
          <a:xfrm>
            <a:off x="2549204" y="3421516"/>
            <a:ext cx="1299" cy="32656"/>
          </a:xfrm>
          <a:custGeom>
            <a:avLst/>
            <a:gdLst/>
            <a:ahLst/>
            <a:cxnLst/>
            <a:rect l="l" t="t" r="r" b="b"/>
            <a:pathLst>
              <a:path w="1299" h="32656">
                <a:moveTo>
                  <a:pt x="1299" y="0"/>
                </a:moveTo>
                <a:lnTo>
                  <a:pt x="1299" y="32656"/>
                </a:lnTo>
                <a:lnTo>
                  <a:pt x="1081" y="27216"/>
                </a:lnTo>
                <a:lnTo>
                  <a:pt x="0" y="0"/>
                </a:lnTo>
                <a:lnTo>
                  <a:pt x="1299"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9" name="Illustrative delivered road transport cost class 4; reference terminal Lesedi"/>
          <p:cNvSpPr/>
          <p:nvPr/>
        </p:nvSpPr>
        <p:spPr>
          <a:xfrm>
            <a:off x="2546913" y="3363829"/>
            <a:ext cx="3590" cy="57687"/>
          </a:xfrm>
          <a:custGeom>
            <a:avLst/>
            <a:gdLst/>
            <a:ahLst/>
            <a:cxnLst/>
            <a:rect l="l" t="t" r="r" b="b"/>
            <a:pathLst>
              <a:path w="3590" h="57687">
                <a:moveTo>
                  <a:pt x="3590" y="0"/>
                </a:moveTo>
                <a:lnTo>
                  <a:pt x="3590" y="57687"/>
                </a:lnTo>
                <a:lnTo>
                  <a:pt x="2291" y="57687"/>
                </a:lnTo>
                <a:lnTo>
                  <a:pt x="0" y="0"/>
                </a:lnTo>
                <a:lnTo>
                  <a:pt x="359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0" name="Illustrative delivered road transport cost class 4; reference terminal Lesedi"/>
          <p:cNvSpPr/>
          <p:nvPr/>
        </p:nvSpPr>
        <p:spPr>
          <a:xfrm>
            <a:off x="2544635" y="3306143"/>
            <a:ext cx="5868" cy="57686"/>
          </a:xfrm>
          <a:custGeom>
            <a:avLst/>
            <a:gdLst/>
            <a:ahLst/>
            <a:cxnLst/>
            <a:rect l="l" t="t" r="r" b="b"/>
            <a:pathLst>
              <a:path w="5868" h="57686">
                <a:moveTo>
                  <a:pt x="5868" y="0"/>
                </a:moveTo>
                <a:lnTo>
                  <a:pt x="5868" y="57686"/>
                </a:lnTo>
                <a:lnTo>
                  <a:pt x="2278" y="57686"/>
                </a:lnTo>
                <a:lnTo>
                  <a:pt x="1135" y="28904"/>
                </a:lnTo>
                <a:lnTo>
                  <a:pt x="0" y="0"/>
                </a:lnTo>
                <a:lnTo>
                  <a:pt x="5868"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1" name="Illustrative delivered road transport cost class 4; reference terminal Lesedi"/>
          <p:cNvSpPr/>
          <p:nvPr/>
        </p:nvSpPr>
        <p:spPr>
          <a:xfrm>
            <a:off x="2542370" y="3248456"/>
            <a:ext cx="8133" cy="57687"/>
          </a:xfrm>
          <a:custGeom>
            <a:avLst/>
            <a:gdLst/>
            <a:ahLst/>
            <a:cxnLst/>
            <a:rect l="l" t="t" r="r" b="b"/>
            <a:pathLst>
              <a:path w="8133" h="57687">
                <a:moveTo>
                  <a:pt x="8133" y="0"/>
                </a:moveTo>
                <a:lnTo>
                  <a:pt x="8133" y="57687"/>
                </a:lnTo>
                <a:lnTo>
                  <a:pt x="2265" y="57687"/>
                </a:lnTo>
                <a:lnTo>
                  <a:pt x="0" y="0"/>
                </a:lnTo>
                <a:lnTo>
                  <a:pt x="8133"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2" name="Illustrative delivered road transport cost class 4; reference terminal Lesedi"/>
          <p:cNvSpPr/>
          <p:nvPr/>
        </p:nvSpPr>
        <p:spPr>
          <a:xfrm>
            <a:off x="2540119" y="3190770"/>
            <a:ext cx="10384" cy="57686"/>
          </a:xfrm>
          <a:custGeom>
            <a:avLst/>
            <a:gdLst/>
            <a:ahLst/>
            <a:cxnLst/>
            <a:rect l="l" t="t" r="r" b="b"/>
            <a:pathLst>
              <a:path w="10384" h="57686">
                <a:moveTo>
                  <a:pt x="10384" y="0"/>
                </a:moveTo>
                <a:lnTo>
                  <a:pt x="10384" y="57686"/>
                </a:lnTo>
                <a:lnTo>
                  <a:pt x="2251" y="57686"/>
                </a:lnTo>
                <a:lnTo>
                  <a:pt x="1189" y="30632"/>
                </a:lnTo>
                <a:lnTo>
                  <a:pt x="0" y="0"/>
                </a:lnTo>
                <a:lnTo>
                  <a:pt x="1038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3" name="Illustrative delivered road transport cost class 4; reference terminal Lesedi"/>
          <p:cNvSpPr/>
          <p:nvPr/>
        </p:nvSpPr>
        <p:spPr>
          <a:xfrm>
            <a:off x="2537880" y="3133083"/>
            <a:ext cx="12623" cy="57687"/>
          </a:xfrm>
          <a:custGeom>
            <a:avLst/>
            <a:gdLst/>
            <a:ahLst/>
            <a:cxnLst/>
            <a:rect l="l" t="t" r="r" b="b"/>
            <a:pathLst>
              <a:path w="12623" h="57687">
                <a:moveTo>
                  <a:pt x="12623" y="0"/>
                </a:moveTo>
                <a:lnTo>
                  <a:pt x="12623" y="57687"/>
                </a:lnTo>
                <a:lnTo>
                  <a:pt x="2239" y="57687"/>
                </a:lnTo>
                <a:lnTo>
                  <a:pt x="0" y="0"/>
                </a:lnTo>
                <a:lnTo>
                  <a:pt x="12623"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4" name="Illustrative delivered road transport cost class 4; reference terminal Lesedi"/>
          <p:cNvSpPr/>
          <p:nvPr/>
        </p:nvSpPr>
        <p:spPr>
          <a:xfrm>
            <a:off x="2535654" y="3075396"/>
            <a:ext cx="14849" cy="57687"/>
          </a:xfrm>
          <a:custGeom>
            <a:avLst/>
            <a:gdLst/>
            <a:ahLst/>
            <a:cxnLst/>
            <a:rect l="l" t="t" r="r" b="b"/>
            <a:pathLst>
              <a:path w="14849" h="57687">
                <a:moveTo>
                  <a:pt x="14849" y="0"/>
                </a:moveTo>
                <a:lnTo>
                  <a:pt x="14849" y="57687"/>
                </a:lnTo>
                <a:lnTo>
                  <a:pt x="2226" y="57687"/>
                </a:lnTo>
                <a:lnTo>
                  <a:pt x="1242" y="32353"/>
                </a:lnTo>
                <a:lnTo>
                  <a:pt x="0" y="0"/>
                </a:lnTo>
                <a:lnTo>
                  <a:pt x="14849"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5" name="Illustrative delivered road transport cost class 4; reference terminal Lesedi"/>
          <p:cNvSpPr/>
          <p:nvPr/>
        </p:nvSpPr>
        <p:spPr>
          <a:xfrm>
            <a:off x="2533440" y="3017710"/>
            <a:ext cx="17063" cy="57686"/>
          </a:xfrm>
          <a:custGeom>
            <a:avLst/>
            <a:gdLst/>
            <a:ahLst/>
            <a:cxnLst/>
            <a:rect l="l" t="t" r="r" b="b"/>
            <a:pathLst>
              <a:path w="17063" h="57686">
                <a:moveTo>
                  <a:pt x="17063" y="0"/>
                </a:moveTo>
                <a:lnTo>
                  <a:pt x="17063" y="57686"/>
                </a:lnTo>
                <a:lnTo>
                  <a:pt x="2214" y="57686"/>
                </a:lnTo>
                <a:lnTo>
                  <a:pt x="0" y="0"/>
                </a:lnTo>
                <a:lnTo>
                  <a:pt x="17063"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6" name="Illustrative delivered road transport cost class None; reference terminal None"/>
          <p:cNvSpPr/>
          <p:nvPr/>
        </p:nvSpPr>
        <p:spPr>
          <a:xfrm>
            <a:off x="2532778" y="3000452"/>
            <a:ext cx="17725" cy="17258"/>
          </a:xfrm>
          <a:custGeom>
            <a:avLst/>
            <a:gdLst/>
            <a:ahLst/>
            <a:cxnLst/>
            <a:rect l="l" t="t" r="r" b="b"/>
            <a:pathLst>
              <a:path w="17725" h="17258">
                <a:moveTo>
                  <a:pt x="17725" y="17258"/>
                </a:moveTo>
                <a:lnTo>
                  <a:pt x="662" y="17258"/>
                </a:lnTo>
                <a:lnTo>
                  <a:pt x="0" y="0"/>
                </a:lnTo>
                <a:lnTo>
                  <a:pt x="11517" y="7276"/>
                </a:lnTo>
                <a:lnTo>
                  <a:pt x="17725" y="11700"/>
                </a:lnTo>
                <a:lnTo>
                  <a:pt x="17725" y="1725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7" name="Illustrative delivered road transport cost class 4; reference terminal Durban"/>
          <p:cNvSpPr/>
          <p:nvPr/>
        </p:nvSpPr>
        <p:spPr>
          <a:xfrm>
            <a:off x="2550503" y="5498232"/>
            <a:ext cx="57687" cy="56008"/>
          </a:xfrm>
          <a:custGeom>
            <a:avLst/>
            <a:gdLst/>
            <a:ahLst/>
            <a:cxnLst/>
            <a:rect l="l" t="t" r="r" b="b"/>
            <a:pathLst>
              <a:path w="57687" h="56008">
                <a:moveTo>
                  <a:pt x="0" y="0"/>
                </a:moveTo>
                <a:lnTo>
                  <a:pt x="57687" y="0"/>
                </a:lnTo>
                <a:lnTo>
                  <a:pt x="57687" y="54951"/>
                </a:lnTo>
                <a:lnTo>
                  <a:pt x="19459" y="56008"/>
                </a:lnTo>
                <a:lnTo>
                  <a:pt x="0" y="43173"/>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8" name="Illustrative delivered road transport cost class 4; reference terminal Durban"/>
          <p:cNvSpPr/>
          <p:nvPr/>
        </p:nvSpPr>
        <p:spPr>
          <a:xfrm>
            <a:off x="2550503" y="544054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9" name="Illustrative delivered road transport cost class 4; reference terminal Durban"/>
          <p:cNvSpPr/>
          <p:nvPr/>
        </p:nvSpPr>
        <p:spPr>
          <a:xfrm>
            <a:off x="2550503" y="538285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0" name="Illustrative delivered road transport cost class 4; reference terminal Lesedi"/>
          <p:cNvSpPr/>
          <p:nvPr/>
        </p:nvSpPr>
        <p:spPr>
          <a:xfrm>
            <a:off x="2550503"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1" name="Illustrative delivered road transport cost class 4; reference terminal Lesedi"/>
          <p:cNvSpPr/>
          <p:nvPr/>
        </p:nvSpPr>
        <p:spPr>
          <a:xfrm>
            <a:off x="2550503"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2" name="Illustrative delivered road transport cost class 4; reference terminal Lesedi"/>
          <p:cNvSpPr/>
          <p:nvPr/>
        </p:nvSpPr>
        <p:spPr>
          <a:xfrm>
            <a:off x="2550503"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3" name="Illustrative delivered road transport cost class 4; reference terminal Lesedi"/>
          <p:cNvSpPr/>
          <p:nvPr/>
        </p:nvSpPr>
        <p:spPr>
          <a:xfrm>
            <a:off x="2550503"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4" name="Illustrative delivered road transport cost class 4; reference terminal Lesedi"/>
          <p:cNvSpPr/>
          <p:nvPr/>
        </p:nvSpPr>
        <p:spPr>
          <a:xfrm>
            <a:off x="2550503"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5" name="Illustrative delivered road transport cost class 4; reference terminal Lesedi"/>
          <p:cNvSpPr/>
          <p:nvPr/>
        </p:nvSpPr>
        <p:spPr>
          <a:xfrm>
            <a:off x="2550503"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6" name="Illustrative delivered road transport cost class 4; reference terminal Lesedi"/>
          <p:cNvSpPr/>
          <p:nvPr/>
        </p:nvSpPr>
        <p:spPr>
          <a:xfrm>
            <a:off x="2550503"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7" name="Illustrative delivered road transport cost class 4; reference terminal Lesedi"/>
          <p:cNvSpPr/>
          <p:nvPr/>
        </p:nvSpPr>
        <p:spPr>
          <a:xfrm>
            <a:off x="2550503"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8" name="Illustrative delivered road transport cost class 4; reference terminal Lesedi"/>
          <p:cNvSpPr/>
          <p:nvPr/>
        </p:nvSpPr>
        <p:spPr>
          <a:xfrm>
            <a:off x="2550503"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9" name="Illustrative delivered road transport cost class 4; reference terminal Lesedi"/>
          <p:cNvSpPr/>
          <p:nvPr/>
        </p:nvSpPr>
        <p:spPr>
          <a:xfrm>
            <a:off x="2550503"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0" name="Illustrative delivered road transport cost class None; reference terminal None"/>
          <p:cNvSpPr/>
          <p:nvPr/>
        </p:nvSpPr>
        <p:spPr>
          <a:xfrm>
            <a:off x="2550503"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1" name="Illustrative delivered road transport cost class None; reference terminal None"/>
          <p:cNvSpPr/>
          <p:nvPr/>
        </p:nvSpPr>
        <p:spPr>
          <a:xfrm>
            <a:off x="2550503"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2" name="Illustrative delivered road transport cost class None; reference terminal None"/>
          <p:cNvSpPr/>
          <p:nvPr/>
        </p:nvSpPr>
        <p:spPr>
          <a:xfrm>
            <a:off x="2550503"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3" name="Illustrative delivered road transport cost class None; reference terminal None"/>
          <p:cNvSpPr/>
          <p:nvPr/>
        </p:nvSpPr>
        <p:spPr>
          <a:xfrm>
            <a:off x="2550503"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4" name="Illustrative delivered road transport cost class None; reference terminal None"/>
          <p:cNvSpPr/>
          <p:nvPr/>
        </p:nvSpPr>
        <p:spPr>
          <a:xfrm>
            <a:off x="2550503"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5" name="Illustrative delivered road transport cost class None; reference terminal None"/>
          <p:cNvSpPr/>
          <p:nvPr/>
        </p:nvSpPr>
        <p:spPr>
          <a:xfrm>
            <a:off x="2550503"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6" name="Illustrative delivered road transport cost class None; reference terminal None"/>
          <p:cNvSpPr/>
          <p:nvPr/>
        </p:nvSpPr>
        <p:spPr>
          <a:xfrm>
            <a:off x="2550503"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7" name="Illustrative delivered road transport cost class None; reference terminal None"/>
          <p:cNvSpPr/>
          <p:nvPr/>
        </p:nvSpPr>
        <p:spPr>
          <a:xfrm>
            <a:off x="2550503"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8" name="Illustrative delivered road transport cost class None; reference terminal None"/>
          <p:cNvSpPr/>
          <p:nvPr/>
        </p:nvSpPr>
        <p:spPr>
          <a:xfrm>
            <a:off x="2550503"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9" name="Illustrative delivered road transport cost class 4; reference terminal Lesedi"/>
          <p:cNvSpPr/>
          <p:nvPr/>
        </p:nvSpPr>
        <p:spPr>
          <a:xfrm>
            <a:off x="2550503"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0" name="Illustrative delivered road transport cost class 4; reference terminal Lesedi"/>
          <p:cNvSpPr/>
          <p:nvPr/>
        </p:nvSpPr>
        <p:spPr>
          <a:xfrm>
            <a:off x="2550503"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1" name="Illustrative delivered road transport cost class 4; reference terminal Lesedi"/>
          <p:cNvSpPr/>
          <p:nvPr/>
        </p:nvSpPr>
        <p:spPr>
          <a:xfrm>
            <a:off x="2550503"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2" name="Illustrative delivered road transport cost class 4; reference terminal Lesedi"/>
          <p:cNvSpPr/>
          <p:nvPr/>
        </p:nvSpPr>
        <p:spPr>
          <a:xfrm>
            <a:off x="2550503"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3" name="Illustrative delivered road transport cost class 4; reference terminal Lesedi"/>
          <p:cNvSpPr/>
          <p:nvPr/>
        </p:nvSpPr>
        <p:spPr>
          <a:xfrm>
            <a:off x="2550503"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4" name="Illustrative delivered road transport cost class 4; reference terminal Lesedi"/>
          <p:cNvSpPr/>
          <p:nvPr/>
        </p:nvSpPr>
        <p:spPr>
          <a:xfrm>
            <a:off x="2550503"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5" name="Illustrative delivered road transport cost class 4; reference terminal Lesedi"/>
          <p:cNvSpPr/>
          <p:nvPr/>
        </p:nvSpPr>
        <p:spPr>
          <a:xfrm>
            <a:off x="2550503" y="3883008"/>
            <a:ext cx="57687" cy="57687"/>
          </a:xfrm>
          <a:custGeom>
            <a:avLst/>
            <a:gdLst/>
            <a:ahLst/>
            <a:cxnLst/>
            <a:rect l="l" t="t" r="r" b="b"/>
            <a:pathLst>
              <a:path w="57687" h="57687">
                <a:moveTo>
                  <a:pt x="57687" y="0"/>
                </a:moveTo>
                <a:lnTo>
                  <a:pt x="57687" y="57687"/>
                </a:lnTo>
                <a:lnTo>
                  <a:pt x="0" y="57687"/>
                </a:lnTo>
                <a:lnTo>
                  <a:pt x="0" y="57034"/>
                </a:lnTo>
                <a:lnTo>
                  <a:pt x="19858" y="56596"/>
                </a:lnTo>
                <a:lnTo>
                  <a:pt x="18352" y="20565"/>
                </a:lnTo>
                <a:lnTo>
                  <a:pt x="17499" y="0"/>
                </a:lnTo>
                <a:lnTo>
                  <a:pt x="5768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6" name="Illustrative delivered road transport cost class 4; reference terminal Lesedi"/>
          <p:cNvSpPr/>
          <p:nvPr/>
        </p:nvSpPr>
        <p:spPr>
          <a:xfrm>
            <a:off x="2565608" y="3825322"/>
            <a:ext cx="42582" cy="57686"/>
          </a:xfrm>
          <a:custGeom>
            <a:avLst/>
            <a:gdLst/>
            <a:ahLst/>
            <a:cxnLst/>
            <a:rect l="l" t="t" r="r" b="b"/>
            <a:pathLst>
              <a:path w="42582" h="57686">
                <a:moveTo>
                  <a:pt x="42582" y="0"/>
                </a:moveTo>
                <a:lnTo>
                  <a:pt x="42582" y="57686"/>
                </a:lnTo>
                <a:lnTo>
                  <a:pt x="2394" y="57686"/>
                </a:lnTo>
                <a:lnTo>
                  <a:pt x="0" y="0"/>
                </a:lnTo>
                <a:lnTo>
                  <a:pt x="42582"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7" name="Illustrative delivered road transport cost class 4; reference terminal Lesedi"/>
          <p:cNvSpPr/>
          <p:nvPr/>
        </p:nvSpPr>
        <p:spPr>
          <a:xfrm>
            <a:off x="2563224" y="3767635"/>
            <a:ext cx="44966" cy="57687"/>
          </a:xfrm>
          <a:custGeom>
            <a:avLst/>
            <a:gdLst/>
            <a:ahLst/>
            <a:cxnLst/>
            <a:rect l="l" t="t" r="r" b="b"/>
            <a:pathLst>
              <a:path w="44966" h="57687">
                <a:moveTo>
                  <a:pt x="44966" y="0"/>
                </a:moveTo>
                <a:lnTo>
                  <a:pt x="44966" y="57687"/>
                </a:lnTo>
                <a:lnTo>
                  <a:pt x="2384" y="57687"/>
                </a:lnTo>
                <a:lnTo>
                  <a:pt x="912" y="22206"/>
                </a:lnTo>
                <a:lnTo>
                  <a:pt x="0" y="0"/>
                </a:lnTo>
                <a:lnTo>
                  <a:pt x="4496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8" name="Illustrative delivered road transport cost class 4; reference terminal Lesedi"/>
          <p:cNvSpPr/>
          <p:nvPr/>
        </p:nvSpPr>
        <p:spPr>
          <a:xfrm>
            <a:off x="2560856" y="3709949"/>
            <a:ext cx="47334" cy="57686"/>
          </a:xfrm>
          <a:custGeom>
            <a:avLst/>
            <a:gdLst/>
            <a:ahLst/>
            <a:cxnLst/>
            <a:rect l="l" t="t" r="r" b="b"/>
            <a:pathLst>
              <a:path w="47334" h="57686">
                <a:moveTo>
                  <a:pt x="47334" y="0"/>
                </a:moveTo>
                <a:lnTo>
                  <a:pt x="47334" y="57686"/>
                </a:lnTo>
                <a:lnTo>
                  <a:pt x="2368" y="57686"/>
                </a:lnTo>
                <a:lnTo>
                  <a:pt x="0" y="0"/>
                </a:lnTo>
                <a:lnTo>
                  <a:pt x="4733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9" name="Illustrative delivered road transport cost class 4; reference terminal Lesedi"/>
          <p:cNvSpPr/>
          <p:nvPr/>
        </p:nvSpPr>
        <p:spPr>
          <a:xfrm>
            <a:off x="2558498" y="3652262"/>
            <a:ext cx="49692" cy="57687"/>
          </a:xfrm>
          <a:custGeom>
            <a:avLst/>
            <a:gdLst/>
            <a:ahLst/>
            <a:cxnLst/>
            <a:rect l="l" t="t" r="r" b="b"/>
            <a:pathLst>
              <a:path w="49692" h="57687">
                <a:moveTo>
                  <a:pt x="49692" y="0"/>
                </a:moveTo>
                <a:lnTo>
                  <a:pt x="49692" y="57687"/>
                </a:lnTo>
                <a:lnTo>
                  <a:pt x="2358" y="57687"/>
                </a:lnTo>
                <a:lnTo>
                  <a:pt x="969" y="23856"/>
                </a:lnTo>
                <a:lnTo>
                  <a:pt x="0" y="0"/>
                </a:lnTo>
                <a:lnTo>
                  <a:pt x="49692"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0" name="Illustrative delivered road transport cost class 4; reference terminal Lesedi"/>
          <p:cNvSpPr/>
          <p:nvPr/>
        </p:nvSpPr>
        <p:spPr>
          <a:xfrm>
            <a:off x="2556156" y="3594576"/>
            <a:ext cx="52034" cy="57686"/>
          </a:xfrm>
          <a:custGeom>
            <a:avLst/>
            <a:gdLst/>
            <a:ahLst/>
            <a:cxnLst/>
            <a:rect l="l" t="t" r="r" b="b"/>
            <a:pathLst>
              <a:path w="52034" h="57686">
                <a:moveTo>
                  <a:pt x="52034" y="0"/>
                </a:moveTo>
                <a:lnTo>
                  <a:pt x="52034" y="57686"/>
                </a:lnTo>
                <a:lnTo>
                  <a:pt x="2342" y="57686"/>
                </a:lnTo>
                <a:lnTo>
                  <a:pt x="0" y="0"/>
                </a:lnTo>
                <a:lnTo>
                  <a:pt x="5203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1" name="Illustrative delivered road transport cost class 4; reference terminal Lesedi"/>
          <p:cNvSpPr/>
          <p:nvPr/>
        </p:nvSpPr>
        <p:spPr>
          <a:xfrm>
            <a:off x="2553825" y="3536889"/>
            <a:ext cx="54365" cy="57687"/>
          </a:xfrm>
          <a:custGeom>
            <a:avLst/>
            <a:gdLst/>
            <a:ahLst/>
            <a:cxnLst/>
            <a:rect l="l" t="t" r="r" b="b"/>
            <a:pathLst>
              <a:path w="54365" h="57687">
                <a:moveTo>
                  <a:pt x="54365" y="0"/>
                </a:moveTo>
                <a:lnTo>
                  <a:pt x="54365" y="57687"/>
                </a:lnTo>
                <a:lnTo>
                  <a:pt x="2331" y="57687"/>
                </a:lnTo>
                <a:lnTo>
                  <a:pt x="1026" y="25543"/>
                </a:lnTo>
                <a:lnTo>
                  <a:pt x="0" y="0"/>
                </a:lnTo>
                <a:lnTo>
                  <a:pt x="54365"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2" name="Illustrative delivered road transport cost class 4; reference terminal Lesedi"/>
          <p:cNvSpPr/>
          <p:nvPr/>
        </p:nvSpPr>
        <p:spPr>
          <a:xfrm>
            <a:off x="2551508" y="3479202"/>
            <a:ext cx="56682" cy="57687"/>
          </a:xfrm>
          <a:custGeom>
            <a:avLst/>
            <a:gdLst/>
            <a:ahLst/>
            <a:cxnLst/>
            <a:rect l="l" t="t" r="r" b="b"/>
            <a:pathLst>
              <a:path w="56682" h="57687">
                <a:moveTo>
                  <a:pt x="56682" y="0"/>
                </a:moveTo>
                <a:lnTo>
                  <a:pt x="56682" y="57687"/>
                </a:lnTo>
                <a:lnTo>
                  <a:pt x="2317" y="57687"/>
                </a:lnTo>
                <a:lnTo>
                  <a:pt x="0" y="0"/>
                </a:lnTo>
                <a:lnTo>
                  <a:pt x="56682"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3" name="Illustrative delivered road transport cost class 4; reference terminal Lesedi"/>
          <p:cNvSpPr/>
          <p:nvPr/>
        </p:nvSpPr>
        <p:spPr>
          <a:xfrm>
            <a:off x="2550503" y="3421516"/>
            <a:ext cx="57687" cy="57686"/>
          </a:xfrm>
          <a:custGeom>
            <a:avLst/>
            <a:gdLst/>
            <a:ahLst/>
            <a:cxnLst/>
            <a:rect l="l" t="t" r="r" b="b"/>
            <a:pathLst>
              <a:path w="57687" h="57686">
                <a:moveTo>
                  <a:pt x="0" y="0"/>
                </a:moveTo>
                <a:lnTo>
                  <a:pt x="57687" y="0"/>
                </a:lnTo>
                <a:lnTo>
                  <a:pt x="57687" y="57686"/>
                </a:lnTo>
                <a:lnTo>
                  <a:pt x="1005" y="57686"/>
                </a:lnTo>
                <a:lnTo>
                  <a:pt x="0" y="3265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4" name="Illustrative delivered road transport cost class 4; reference terminal Lesedi"/>
          <p:cNvSpPr/>
          <p:nvPr/>
        </p:nvSpPr>
        <p:spPr>
          <a:xfrm>
            <a:off x="2550503"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5" name="Illustrative delivered road transport cost class 4; reference terminal Lesedi"/>
          <p:cNvSpPr/>
          <p:nvPr/>
        </p:nvSpPr>
        <p:spPr>
          <a:xfrm>
            <a:off x="2550503"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6" name="Illustrative delivered road transport cost class 4; reference terminal Lesedi"/>
          <p:cNvSpPr/>
          <p:nvPr/>
        </p:nvSpPr>
        <p:spPr>
          <a:xfrm>
            <a:off x="2550503"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7" name="Illustrative delivered road transport cost class 4; reference terminal Lesedi"/>
          <p:cNvSpPr/>
          <p:nvPr/>
        </p:nvSpPr>
        <p:spPr>
          <a:xfrm>
            <a:off x="2550503"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8" name="Illustrative delivered road transport cost class 4; reference terminal Lesedi"/>
          <p:cNvSpPr/>
          <p:nvPr/>
        </p:nvSpPr>
        <p:spPr>
          <a:xfrm>
            <a:off x="2550503"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9" name="Illustrative delivered road transport cost class 4; reference terminal Lesedi"/>
          <p:cNvSpPr/>
          <p:nvPr/>
        </p:nvSpPr>
        <p:spPr>
          <a:xfrm>
            <a:off x="2550503"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0" name="Illustrative delivered road transport cost class 4; reference terminal Lesedi"/>
          <p:cNvSpPr/>
          <p:nvPr/>
        </p:nvSpPr>
        <p:spPr>
          <a:xfrm>
            <a:off x="2550503" y="3017710"/>
            <a:ext cx="57687" cy="57686"/>
          </a:xfrm>
          <a:custGeom>
            <a:avLst/>
            <a:gdLst/>
            <a:ahLst/>
            <a:cxnLst/>
            <a:rect l="l" t="t" r="r" b="b"/>
            <a:pathLst>
              <a:path w="57687" h="57686">
                <a:moveTo>
                  <a:pt x="57687" y="57686"/>
                </a:moveTo>
                <a:lnTo>
                  <a:pt x="0" y="57686"/>
                </a:lnTo>
                <a:lnTo>
                  <a:pt x="0" y="0"/>
                </a:lnTo>
                <a:lnTo>
                  <a:pt x="7800" y="0"/>
                </a:lnTo>
                <a:lnTo>
                  <a:pt x="57687" y="35548"/>
                </a:lnTo>
                <a:lnTo>
                  <a:pt x="57687"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1" name="Illustrative delivered road transport cost class None; reference terminal None"/>
          <p:cNvSpPr/>
          <p:nvPr/>
        </p:nvSpPr>
        <p:spPr>
          <a:xfrm>
            <a:off x="2550503" y="3012152"/>
            <a:ext cx="7800" cy="5558"/>
          </a:xfrm>
          <a:custGeom>
            <a:avLst/>
            <a:gdLst/>
            <a:ahLst/>
            <a:cxnLst/>
            <a:rect l="l" t="t" r="r" b="b"/>
            <a:pathLst>
              <a:path w="7800" h="5558">
                <a:moveTo>
                  <a:pt x="0" y="5558"/>
                </a:moveTo>
                <a:lnTo>
                  <a:pt x="0" y="0"/>
                </a:lnTo>
                <a:lnTo>
                  <a:pt x="7800" y="5558"/>
                </a:lnTo>
                <a:lnTo>
                  <a:pt x="0" y="555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2" name="Illustrative delivered road transport cost class 4; reference terminal Durban"/>
          <p:cNvSpPr/>
          <p:nvPr/>
        </p:nvSpPr>
        <p:spPr>
          <a:xfrm>
            <a:off x="2627732" y="5555919"/>
            <a:ext cx="27334" cy="2892"/>
          </a:xfrm>
          <a:custGeom>
            <a:avLst/>
            <a:gdLst/>
            <a:ahLst/>
            <a:cxnLst/>
            <a:rect l="l" t="t" r="r" b="b"/>
            <a:pathLst>
              <a:path w="27334" h="2892">
                <a:moveTo>
                  <a:pt x="27334" y="0"/>
                </a:moveTo>
                <a:lnTo>
                  <a:pt x="24061" y="2892"/>
                </a:lnTo>
                <a:lnTo>
                  <a:pt x="4009" y="955"/>
                </a:lnTo>
                <a:lnTo>
                  <a:pt x="0" y="0"/>
                </a:lnTo>
                <a:lnTo>
                  <a:pt x="2733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3" name="Illustrative delivered road transport cost class 4; reference terminal Durban"/>
          <p:cNvSpPr/>
          <p:nvPr/>
        </p:nvSpPr>
        <p:spPr>
          <a:xfrm>
            <a:off x="2608190" y="5498232"/>
            <a:ext cx="57686" cy="57687"/>
          </a:xfrm>
          <a:custGeom>
            <a:avLst/>
            <a:gdLst/>
            <a:ahLst/>
            <a:cxnLst/>
            <a:rect l="l" t="t" r="r" b="b"/>
            <a:pathLst>
              <a:path w="57686" h="57687">
                <a:moveTo>
                  <a:pt x="0" y="0"/>
                </a:moveTo>
                <a:lnTo>
                  <a:pt x="57686" y="0"/>
                </a:lnTo>
                <a:lnTo>
                  <a:pt x="57686" y="48136"/>
                </a:lnTo>
                <a:lnTo>
                  <a:pt x="46876" y="57687"/>
                </a:lnTo>
                <a:lnTo>
                  <a:pt x="19542" y="57687"/>
                </a:lnTo>
                <a:lnTo>
                  <a:pt x="7220" y="54751"/>
                </a:lnTo>
                <a:lnTo>
                  <a:pt x="0" y="54951"/>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4" name="Illustrative delivered road transport cost class 4; reference terminal Durban"/>
          <p:cNvSpPr/>
          <p:nvPr/>
        </p:nvSpPr>
        <p:spPr>
          <a:xfrm>
            <a:off x="2608190" y="544054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5" name="Illustrative delivered road transport cost class 4; reference terminal Durban"/>
          <p:cNvSpPr/>
          <p:nvPr/>
        </p:nvSpPr>
        <p:spPr>
          <a:xfrm>
            <a:off x="2608190" y="538285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6" name="Illustrative delivered road transport cost class 4; reference terminal Lesedi"/>
          <p:cNvSpPr/>
          <p:nvPr/>
        </p:nvSpPr>
        <p:spPr>
          <a:xfrm>
            <a:off x="2608190"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7" name="Illustrative delivered road transport cost class 4; reference terminal Lesedi"/>
          <p:cNvSpPr/>
          <p:nvPr/>
        </p:nvSpPr>
        <p:spPr>
          <a:xfrm>
            <a:off x="2608190"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8" name="Illustrative delivered road transport cost class 4; reference terminal Lesedi"/>
          <p:cNvSpPr/>
          <p:nvPr/>
        </p:nvSpPr>
        <p:spPr>
          <a:xfrm>
            <a:off x="2608190"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9" name="Illustrative delivered road transport cost class 4; reference terminal Lesedi"/>
          <p:cNvSpPr/>
          <p:nvPr/>
        </p:nvSpPr>
        <p:spPr>
          <a:xfrm>
            <a:off x="2608190"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0" name="Illustrative delivered road transport cost class 4; reference terminal Lesedi"/>
          <p:cNvSpPr/>
          <p:nvPr/>
        </p:nvSpPr>
        <p:spPr>
          <a:xfrm>
            <a:off x="2608190"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1" name="Illustrative delivered road transport cost class 4; reference terminal Lesedi"/>
          <p:cNvSpPr/>
          <p:nvPr/>
        </p:nvSpPr>
        <p:spPr>
          <a:xfrm>
            <a:off x="2608190"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2" name="Illustrative delivered road transport cost class 4; reference terminal Lesedi"/>
          <p:cNvSpPr/>
          <p:nvPr/>
        </p:nvSpPr>
        <p:spPr>
          <a:xfrm>
            <a:off x="2608190"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3" name="Illustrative delivered road transport cost class 4; reference terminal Lesedi"/>
          <p:cNvSpPr/>
          <p:nvPr/>
        </p:nvSpPr>
        <p:spPr>
          <a:xfrm>
            <a:off x="2608190"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4" name="Illustrative delivered road transport cost class None; reference terminal None"/>
          <p:cNvSpPr/>
          <p:nvPr/>
        </p:nvSpPr>
        <p:spPr>
          <a:xfrm>
            <a:off x="2608190"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5" name="Illustrative delivered road transport cost class None; reference terminal None"/>
          <p:cNvSpPr/>
          <p:nvPr/>
        </p:nvSpPr>
        <p:spPr>
          <a:xfrm>
            <a:off x="2608190"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6" name="Illustrative delivered road transport cost class None; reference terminal None"/>
          <p:cNvSpPr/>
          <p:nvPr/>
        </p:nvSpPr>
        <p:spPr>
          <a:xfrm>
            <a:off x="2608190"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7" name="Illustrative delivered road transport cost class None; reference terminal None"/>
          <p:cNvSpPr/>
          <p:nvPr/>
        </p:nvSpPr>
        <p:spPr>
          <a:xfrm>
            <a:off x="2608190"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8" name="Illustrative delivered road transport cost class None; reference terminal None"/>
          <p:cNvSpPr/>
          <p:nvPr/>
        </p:nvSpPr>
        <p:spPr>
          <a:xfrm>
            <a:off x="2608190"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9" name="Illustrative delivered road transport cost class None; reference terminal None"/>
          <p:cNvSpPr/>
          <p:nvPr/>
        </p:nvSpPr>
        <p:spPr>
          <a:xfrm>
            <a:off x="2608190"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0" name="Illustrative delivered road transport cost class None; reference terminal None"/>
          <p:cNvSpPr/>
          <p:nvPr/>
        </p:nvSpPr>
        <p:spPr>
          <a:xfrm>
            <a:off x="2608190"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1" name="Illustrative delivered road transport cost class None; reference terminal None"/>
          <p:cNvSpPr/>
          <p:nvPr/>
        </p:nvSpPr>
        <p:spPr>
          <a:xfrm>
            <a:off x="2608190"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2" name="Illustrative delivered road transport cost class None; reference terminal None"/>
          <p:cNvSpPr/>
          <p:nvPr/>
        </p:nvSpPr>
        <p:spPr>
          <a:xfrm>
            <a:off x="2608190"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3" name="Illustrative delivered road transport cost class None; reference terminal None"/>
          <p:cNvSpPr/>
          <p:nvPr/>
        </p:nvSpPr>
        <p:spPr>
          <a:xfrm>
            <a:off x="2608190"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4" name="Illustrative delivered road transport cost class None; reference terminal None"/>
          <p:cNvSpPr/>
          <p:nvPr/>
        </p:nvSpPr>
        <p:spPr>
          <a:xfrm>
            <a:off x="2608190"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5" name="Illustrative delivered road transport cost class None; reference terminal None"/>
          <p:cNvSpPr/>
          <p:nvPr/>
        </p:nvSpPr>
        <p:spPr>
          <a:xfrm>
            <a:off x="2608190"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6" name="Illustrative delivered road transport cost class 4; reference terminal Lesedi"/>
          <p:cNvSpPr/>
          <p:nvPr/>
        </p:nvSpPr>
        <p:spPr>
          <a:xfrm>
            <a:off x="2608190"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7" name="Illustrative delivered road transport cost class 4; reference terminal Lesedi"/>
          <p:cNvSpPr/>
          <p:nvPr/>
        </p:nvSpPr>
        <p:spPr>
          <a:xfrm>
            <a:off x="2608190"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8" name="Illustrative delivered road transport cost class 4; reference terminal Lesedi"/>
          <p:cNvSpPr/>
          <p:nvPr/>
        </p:nvSpPr>
        <p:spPr>
          <a:xfrm>
            <a:off x="2608190"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9" name="Illustrative delivered road transport cost class 4; reference terminal Lesedi"/>
          <p:cNvSpPr/>
          <p:nvPr/>
        </p:nvSpPr>
        <p:spPr>
          <a:xfrm>
            <a:off x="2608190"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0" name="Illustrative delivered road transport cost class 4; reference terminal Lesedi"/>
          <p:cNvSpPr/>
          <p:nvPr/>
        </p:nvSpPr>
        <p:spPr>
          <a:xfrm>
            <a:off x="2608190"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1" name="Illustrative delivered road transport cost class 4; reference terminal Lesedi"/>
          <p:cNvSpPr/>
          <p:nvPr/>
        </p:nvSpPr>
        <p:spPr>
          <a:xfrm>
            <a:off x="2608190"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2" name="Illustrative delivered road transport cost class 4; reference terminal Lesedi"/>
          <p:cNvSpPr/>
          <p:nvPr/>
        </p:nvSpPr>
        <p:spPr>
          <a:xfrm>
            <a:off x="2608190"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3" name="Illustrative delivered road transport cost class 4; reference terminal Lesedi"/>
          <p:cNvSpPr/>
          <p:nvPr/>
        </p:nvSpPr>
        <p:spPr>
          <a:xfrm>
            <a:off x="2608190"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4" name="Illustrative delivered road transport cost class 4; reference terminal Lesedi"/>
          <p:cNvSpPr/>
          <p:nvPr/>
        </p:nvSpPr>
        <p:spPr>
          <a:xfrm>
            <a:off x="2608190"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5" name="Illustrative delivered road transport cost class 4; reference terminal Lesedi"/>
          <p:cNvSpPr/>
          <p:nvPr/>
        </p:nvSpPr>
        <p:spPr>
          <a:xfrm>
            <a:off x="2608190"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6" name="Illustrative delivered road transport cost class 4; reference terminal Lesedi"/>
          <p:cNvSpPr/>
          <p:nvPr/>
        </p:nvSpPr>
        <p:spPr>
          <a:xfrm>
            <a:off x="2608190"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7" name="Illustrative delivered road transport cost class 4; reference terminal Lesedi"/>
          <p:cNvSpPr/>
          <p:nvPr/>
        </p:nvSpPr>
        <p:spPr>
          <a:xfrm>
            <a:off x="2608190"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8" name="Illustrative delivered road transport cost class 4; reference terminal Lesedi"/>
          <p:cNvSpPr/>
          <p:nvPr/>
        </p:nvSpPr>
        <p:spPr>
          <a:xfrm>
            <a:off x="2608190"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9" name="Illustrative delivered road transport cost class 4; reference terminal Lesedi"/>
          <p:cNvSpPr/>
          <p:nvPr/>
        </p:nvSpPr>
        <p:spPr>
          <a:xfrm>
            <a:off x="2608190"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0" name="Illustrative delivered road transport cost class 4; reference terminal Lesedi"/>
          <p:cNvSpPr/>
          <p:nvPr/>
        </p:nvSpPr>
        <p:spPr>
          <a:xfrm>
            <a:off x="2608190"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1" name="Illustrative delivered road transport cost class 4; reference terminal Lesedi"/>
          <p:cNvSpPr/>
          <p:nvPr/>
        </p:nvSpPr>
        <p:spPr>
          <a:xfrm>
            <a:off x="2608190"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2" name="Illustrative delivered road transport cost class 4; reference terminal Lesedi"/>
          <p:cNvSpPr/>
          <p:nvPr/>
        </p:nvSpPr>
        <p:spPr>
          <a:xfrm>
            <a:off x="2608190"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3" name="Illustrative delivered road transport cost class 4; reference terminal Lesedi"/>
          <p:cNvSpPr/>
          <p:nvPr/>
        </p:nvSpPr>
        <p:spPr>
          <a:xfrm>
            <a:off x="2608190"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4" name="Illustrative delivered road transport cost class 4; reference terminal Lesedi"/>
          <p:cNvSpPr/>
          <p:nvPr/>
        </p:nvSpPr>
        <p:spPr>
          <a:xfrm>
            <a:off x="2608190" y="3133083"/>
            <a:ext cx="57686" cy="57687"/>
          </a:xfrm>
          <a:custGeom>
            <a:avLst/>
            <a:gdLst/>
            <a:ahLst/>
            <a:cxnLst/>
            <a:rect l="l" t="t" r="r" b="b"/>
            <a:pathLst>
              <a:path w="57686" h="57687">
                <a:moveTo>
                  <a:pt x="57686" y="57687"/>
                </a:moveTo>
                <a:lnTo>
                  <a:pt x="0" y="57687"/>
                </a:lnTo>
                <a:lnTo>
                  <a:pt x="0" y="0"/>
                </a:lnTo>
                <a:lnTo>
                  <a:pt x="55191" y="0"/>
                </a:lnTo>
                <a:lnTo>
                  <a:pt x="57686" y="4983"/>
                </a:lnTo>
                <a:lnTo>
                  <a:pt x="57686"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5" name="Illustrative delivered road transport cost class 4; reference terminal Lesedi"/>
          <p:cNvSpPr/>
          <p:nvPr/>
        </p:nvSpPr>
        <p:spPr>
          <a:xfrm>
            <a:off x="2608190" y="3075396"/>
            <a:ext cx="55191" cy="57687"/>
          </a:xfrm>
          <a:custGeom>
            <a:avLst/>
            <a:gdLst/>
            <a:ahLst/>
            <a:cxnLst/>
            <a:rect l="l" t="t" r="r" b="b"/>
            <a:pathLst>
              <a:path w="55191" h="57687">
                <a:moveTo>
                  <a:pt x="0" y="57687"/>
                </a:moveTo>
                <a:lnTo>
                  <a:pt x="0" y="0"/>
                </a:lnTo>
                <a:lnTo>
                  <a:pt x="21710" y="0"/>
                </a:lnTo>
                <a:lnTo>
                  <a:pt x="32863" y="15553"/>
                </a:lnTo>
                <a:lnTo>
                  <a:pt x="43399" y="34147"/>
                </a:lnTo>
                <a:lnTo>
                  <a:pt x="55191"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6" name="Illustrative delivered road transport cost class 4; reference terminal Lesedi"/>
          <p:cNvSpPr/>
          <p:nvPr/>
        </p:nvSpPr>
        <p:spPr>
          <a:xfrm>
            <a:off x="2608190" y="3053258"/>
            <a:ext cx="21710" cy="22138"/>
          </a:xfrm>
          <a:custGeom>
            <a:avLst/>
            <a:gdLst/>
            <a:ahLst/>
            <a:cxnLst/>
            <a:rect l="l" t="t" r="r" b="b"/>
            <a:pathLst>
              <a:path w="21710" h="22138">
                <a:moveTo>
                  <a:pt x="0" y="22138"/>
                </a:moveTo>
                <a:lnTo>
                  <a:pt x="0" y="0"/>
                </a:lnTo>
                <a:lnTo>
                  <a:pt x="11930" y="8502"/>
                </a:lnTo>
                <a:lnTo>
                  <a:pt x="21710" y="22138"/>
                </a:lnTo>
                <a:lnTo>
                  <a:pt x="0" y="22138"/>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7" name="Illustrative delivered road transport cost class 4; reference terminal Durban"/>
          <p:cNvSpPr/>
          <p:nvPr/>
        </p:nvSpPr>
        <p:spPr>
          <a:xfrm>
            <a:off x="2665876" y="5498232"/>
            <a:ext cx="54480" cy="48136"/>
          </a:xfrm>
          <a:custGeom>
            <a:avLst/>
            <a:gdLst/>
            <a:ahLst/>
            <a:cxnLst/>
            <a:rect l="l" t="t" r="r" b="b"/>
            <a:pathLst>
              <a:path w="54480" h="48136">
                <a:moveTo>
                  <a:pt x="0" y="0"/>
                </a:moveTo>
                <a:lnTo>
                  <a:pt x="54480" y="0"/>
                </a:lnTo>
                <a:lnTo>
                  <a:pt x="0" y="4813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8" name="Illustrative delivered road transport cost class 4; reference terminal Durban"/>
          <p:cNvSpPr/>
          <p:nvPr/>
        </p:nvSpPr>
        <p:spPr>
          <a:xfrm>
            <a:off x="2665876" y="5440546"/>
            <a:ext cx="57687" cy="57686"/>
          </a:xfrm>
          <a:custGeom>
            <a:avLst/>
            <a:gdLst/>
            <a:ahLst/>
            <a:cxnLst/>
            <a:rect l="l" t="t" r="r" b="b"/>
            <a:pathLst>
              <a:path w="57687" h="57686">
                <a:moveTo>
                  <a:pt x="0" y="57686"/>
                </a:moveTo>
                <a:lnTo>
                  <a:pt x="0" y="0"/>
                </a:lnTo>
                <a:lnTo>
                  <a:pt x="57687" y="0"/>
                </a:lnTo>
                <a:lnTo>
                  <a:pt x="57687" y="54853"/>
                </a:lnTo>
                <a:lnTo>
                  <a:pt x="54480"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9" name="Illustrative delivered road transport cost class 4; reference terminal Durban"/>
          <p:cNvSpPr/>
          <p:nvPr/>
        </p:nvSpPr>
        <p:spPr>
          <a:xfrm>
            <a:off x="2665876" y="538285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0" name="Illustrative delivered road transport cost class 4; reference terminal Durban"/>
          <p:cNvSpPr/>
          <p:nvPr/>
        </p:nvSpPr>
        <p:spPr>
          <a:xfrm>
            <a:off x="2665876"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1" name="Illustrative delivered road transport cost class 4; reference terminal Lesedi"/>
          <p:cNvSpPr/>
          <p:nvPr/>
        </p:nvSpPr>
        <p:spPr>
          <a:xfrm>
            <a:off x="2665876"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2" name="Illustrative delivered road transport cost class 4; reference terminal Lesedi"/>
          <p:cNvSpPr/>
          <p:nvPr/>
        </p:nvSpPr>
        <p:spPr>
          <a:xfrm>
            <a:off x="2665876"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3" name="Illustrative delivered road transport cost class 4; reference terminal Lesedi"/>
          <p:cNvSpPr/>
          <p:nvPr/>
        </p:nvSpPr>
        <p:spPr>
          <a:xfrm>
            <a:off x="2665876"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4" name="Illustrative delivered road transport cost class 4; reference terminal Lesedi"/>
          <p:cNvSpPr/>
          <p:nvPr/>
        </p:nvSpPr>
        <p:spPr>
          <a:xfrm>
            <a:off x="2665876"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5" name="Illustrative delivered road transport cost class 4; reference terminal Lesedi"/>
          <p:cNvSpPr/>
          <p:nvPr/>
        </p:nvSpPr>
        <p:spPr>
          <a:xfrm>
            <a:off x="2665876"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6" name="Illustrative delivered road transport cost class 4; reference terminal Lesedi"/>
          <p:cNvSpPr/>
          <p:nvPr/>
        </p:nvSpPr>
        <p:spPr>
          <a:xfrm>
            <a:off x="2665876"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7" name="Illustrative delivered road transport cost class 4; reference terminal Lesedi"/>
          <p:cNvSpPr/>
          <p:nvPr/>
        </p:nvSpPr>
        <p:spPr>
          <a:xfrm>
            <a:off x="2665876"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8" name="Illustrative delivered road transport cost class None; reference terminal None"/>
          <p:cNvSpPr/>
          <p:nvPr/>
        </p:nvSpPr>
        <p:spPr>
          <a:xfrm>
            <a:off x="2665876"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9" name="Illustrative delivered road transport cost class None; reference terminal None"/>
          <p:cNvSpPr/>
          <p:nvPr/>
        </p:nvSpPr>
        <p:spPr>
          <a:xfrm>
            <a:off x="2665876"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0" name="Illustrative delivered road transport cost class None; reference terminal None"/>
          <p:cNvSpPr/>
          <p:nvPr/>
        </p:nvSpPr>
        <p:spPr>
          <a:xfrm>
            <a:off x="2665876"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1" name="Illustrative delivered road transport cost class None; reference terminal None"/>
          <p:cNvSpPr/>
          <p:nvPr/>
        </p:nvSpPr>
        <p:spPr>
          <a:xfrm>
            <a:off x="2665876"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2" name="Illustrative delivered road transport cost class None; reference terminal None"/>
          <p:cNvSpPr/>
          <p:nvPr/>
        </p:nvSpPr>
        <p:spPr>
          <a:xfrm>
            <a:off x="2665876"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3" name="Illustrative delivered road transport cost class None; reference terminal None"/>
          <p:cNvSpPr/>
          <p:nvPr/>
        </p:nvSpPr>
        <p:spPr>
          <a:xfrm>
            <a:off x="2665876"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4" name="Illustrative delivered road transport cost class None; reference terminal None"/>
          <p:cNvSpPr/>
          <p:nvPr/>
        </p:nvSpPr>
        <p:spPr>
          <a:xfrm>
            <a:off x="2665876"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5" name="Illustrative delivered road transport cost class None; reference terminal None"/>
          <p:cNvSpPr/>
          <p:nvPr/>
        </p:nvSpPr>
        <p:spPr>
          <a:xfrm>
            <a:off x="2665876"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6" name="Illustrative delivered road transport cost class None; reference terminal None"/>
          <p:cNvSpPr/>
          <p:nvPr/>
        </p:nvSpPr>
        <p:spPr>
          <a:xfrm>
            <a:off x="2665876"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7" name="Illustrative delivered road transport cost class None; reference terminal None"/>
          <p:cNvSpPr/>
          <p:nvPr/>
        </p:nvSpPr>
        <p:spPr>
          <a:xfrm>
            <a:off x="2665876"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8" name="Illustrative delivered road transport cost class None; reference terminal None"/>
          <p:cNvSpPr/>
          <p:nvPr/>
        </p:nvSpPr>
        <p:spPr>
          <a:xfrm>
            <a:off x="2665876"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9" name="Illustrative delivered road transport cost class None; reference terminal None"/>
          <p:cNvSpPr/>
          <p:nvPr/>
        </p:nvSpPr>
        <p:spPr>
          <a:xfrm>
            <a:off x="2665876"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0" name="Illustrative delivered road transport cost class 4; reference terminal Lesedi"/>
          <p:cNvSpPr/>
          <p:nvPr/>
        </p:nvSpPr>
        <p:spPr>
          <a:xfrm>
            <a:off x="2665876"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1" name="Illustrative delivered road transport cost class 4; reference terminal Lesedi"/>
          <p:cNvSpPr/>
          <p:nvPr/>
        </p:nvSpPr>
        <p:spPr>
          <a:xfrm>
            <a:off x="2665876"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2" name="Illustrative delivered road transport cost class 4; reference terminal Lesedi"/>
          <p:cNvSpPr/>
          <p:nvPr/>
        </p:nvSpPr>
        <p:spPr>
          <a:xfrm>
            <a:off x="2665876"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3" name="Illustrative delivered road transport cost class 3; reference terminal Lesedi"/>
          <p:cNvSpPr/>
          <p:nvPr/>
        </p:nvSpPr>
        <p:spPr>
          <a:xfrm>
            <a:off x="2665876"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4" name="Illustrative delivered road transport cost class 3; reference terminal Lesedi"/>
          <p:cNvSpPr/>
          <p:nvPr/>
        </p:nvSpPr>
        <p:spPr>
          <a:xfrm>
            <a:off x="2665876"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5" name="Illustrative delivered road transport cost class 4; reference terminal Lesedi"/>
          <p:cNvSpPr/>
          <p:nvPr/>
        </p:nvSpPr>
        <p:spPr>
          <a:xfrm>
            <a:off x="2665876"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6" name="Illustrative delivered road transport cost class 4; reference terminal Lesedi"/>
          <p:cNvSpPr/>
          <p:nvPr/>
        </p:nvSpPr>
        <p:spPr>
          <a:xfrm>
            <a:off x="2665876"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7" name="Illustrative delivered road transport cost class 4; reference terminal Lesedi"/>
          <p:cNvSpPr/>
          <p:nvPr/>
        </p:nvSpPr>
        <p:spPr>
          <a:xfrm>
            <a:off x="2665876"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8" name="Illustrative delivered road transport cost class 4; reference terminal Lesedi"/>
          <p:cNvSpPr/>
          <p:nvPr/>
        </p:nvSpPr>
        <p:spPr>
          <a:xfrm>
            <a:off x="2665876"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9" name="Illustrative delivered road transport cost class 4; reference terminal Lesedi"/>
          <p:cNvSpPr/>
          <p:nvPr/>
        </p:nvSpPr>
        <p:spPr>
          <a:xfrm>
            <a:off x="2665876"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0" name="Illustrative delivered road transport cost class 4; reference terminal Lesedi"/>
          <p:cNvSpPr/>
          <p:nvPr/>
        </p:nvSpPr>
        <p:spPr>
          <a:xfrm>
            <a:off x="2665876"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1" name="Illustrative delivered road transport cost class 4; reference terminal Lesedi"/>
          <p:cNvSpPr/>
          <p:nvPr/>
        </p:nvSpPr>
        <p:spPr>
          <a:xfrm>
            <a:off x="2665876"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2" name="Illustrative delivered road transport cost class 4; reference terminal Lesedi"/>
          <p:cNvSpPr/>
          <p:nvPr/>
        </p:nvSpPr>
        <p:spPr>
          <a:xfrm>
            <a:off x="2665876" y="3479202"/>
            <a:ext cx="57687" cy="57687"/>
          </a:xfrm>
          <a:custGeom>
            <a:avLst/>
            <a:gdLst/>
            <a:ahLst/>
            <a:cxnLst/>
            <a:rect l="l" t="t" r="r" b="b"/>
            <a:pathLst>
              <a:path w="57687" h="57687">
                <a:moveTo>
                  <a:pt x="57687" y="57687"/>
                </a:moveTo>
                <a:lnTo>
                  <a:pt x="0" y="57687"/>
                </a:lnTo>
                <a:lnTo>
                  <a:pt x="0" y="0"/>
                </a:lnTo>
                <a:lnTo>
                  <a:pt x="35371" y="0"/>
                </a:lnTo>
                <a:lnTo>
                  <a:pt x="38098" y="17586"/>
                </a:lnTo>
                <a:lnTo>
                  <a:pt x="48817" y="37746"/>
                </a:lnTo>
                <a:lnTo>
                  <a:pt x="57687" y="42112"/>
                </a:lnTo>
                <a:lnTo>
                  <a:pt x="57687"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3" name="Illustrative delivered road transport cost class 4; reference terminal Lesedi"/>
          <p:cNvSpPr/>
          <p:nvPr/>
        </p:nvSpPr>
        <p:spPr>
          <a:xfrm>
            <a:off x="2665876" y="3421516"/>
            <a:ext cx="35371" cy="57686"/>
          </a:xfrm>
          <a:custGeom>
            <a:avLst/>
            <a:gdLst/>
            <a:ahLst/>
            <a:cxnLst/>
            <a:rect l="l" t="t" r="r" b="b"/>
            <a:pathLst>
              <a:path w="35371" h="57686">
                <a:moveTo>
                  <a:pt x="0" y="57686"/>
                </a:moveTo>
                <a:lnTo>
                  <a:pt x="0" y="0"/>
                </a:lnTo>
                <a:lnTo>
                  <a:pt x="32074" y="0"/>
                </a:lnTo>
                <a:lnTo>
                  <a:pt x="31730" y="34214"/>
                </a:lnTo>
                <a:lnTo>
                  <a:pt x="35371"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4" name="Illustrative delivered road transport cost class 4; reference terminal Lesedi"/>
          <p:cNvSpPr/>
          <p:nvPr/>
        </p:nvSpPr>
        <p:spPr>
          <a:xfrm>
            <a:off x="2665876" y="3363829"/>
            <a:ext cx="57687" cy="57687"/>
          </a:xfrm>
          <a:custGeom>
            <a:avLst/>
            <a:gdLst/>
            <a:ahLst/>
            <a:cxnLst/>
            <a:rect l="l" t="t" r="r" b="b"/>
            <a:pathLst>
              <a:path w="57687" h="57687">
                <a:moveTo>
                  <a:pt x="0" y="57687"/>
                </a:moveTo>
                <a:lnTo>
                  <a:pt x="0" y="0"/>
                </a:lnTo>
                <a:lnTo>
                  <a:pt x="57687" y="0"/>
                </a:lnTo>
                <a:lnTo>
                  <a:pt x="57687" y="14138"/>
                </a:lnTo>
                <a:lnTo>
                  <a:pt x="47524" y="29733"/>
                </a:lnTo>
                <a:lnTo>
                  <a:pt x="32082" y="56825"/>
                </a:lnTo>
                <a:lnTo>
                  <a:pt x="32074"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5" name="Illustrative delivered road transport cost class 4; reference terminal Lesedi"/>
          <p:cNvSpPr/>
          <p:nvPr/>
        </p:nvSpPr>
        <p:spPr>
          <a:xfrm>
            <a:off x="2665876"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6" name="Illustrative delivered road transport cost class 4; reference terminal Lesedi"/>
          <p:cNvSpPr/>
          <p:nvPr/>
        </p:nvSpPr>
        <p:spPr>
          <a:xfrm>
            <a:off x="2665876" y="3248456"/>
            <a:ext cx="57687" cy="57687"/>
          </a:xfrm>
          <a:custGeom>
            <a:avLst/>
            <a:gdLst/>
            <a:ahLst/>
            <a:cxnLst/>
            <a:rect l="l" t="t" r="r" b="b"/>
            <a:pathLst>
              <a:path w="57687" h="57687">
                <a:moveTo>
                  <a:pt x="57687" y="57687"/>
                </a:moveTo>
                <a:lnTo>
                  <a:pt x="0" y="57687"/>
                </a:lnTo>
                <a:lnTo>
                  <a:pt x="0" y="0"/>
                </a:lnTo>
                <a:lnTo>
                  <a:pt x="49795" y="0"/>
                </a:lnTo>
                <a:lnTo>
                  <a:pt x="57687" y="17604"/>
                </a:lnTo>
                <a:lnTo>
                  <a:pt x="57687"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7" name="Illustrative delivered road transport cost class 4; reference terminal Lesedi"/>
          <p:cNvSpPr/>
          <p:nvPr/>
        </p:nvSpPr>
        <p:spPr>
          <a:xfrm>
            <a:off x="2665876" y="3190770"/>
            <a:ext cx="49795" cy="57686"/>
          </a:xfrm>
          <a:custGeom>
            <a:avLst/>
            <a:gdLst/>
            <a:ahLst/>
            <a:cxnLst/>
            <a:rect l="l" t="t" r="r" b="b"/>
            <a:pathLst>
              <a:path w="49795" h="57686">
                <a:moveTo>
                  <a:pt x="0" y="57686"/>
                </a:moveTo>
                <a:lnTo>
                  <a:pt x="0" y="0"/>
                </a:lnTo>
                <a:lnTo>
                  <a:pt x="25307" y="0"/>
                </a:lnTo>
                <a:lnTo>
                  <a:pt x="45264" y="47580"/>
                </a:lnTo>
                <a:lnTo>
                  <a:pt x="49795"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8" name="Illustrative delivered road transport cost class 4; reference terminal Lesedi"/>
          <p:cNvSpPr/>
          <p:nvPr/>
        </p:nvSpPr>
        <p:spPr>
          <a:xfrm>
            <a:off x="2665876" y="3138066"/>
            <a:ext cx="25307" cy="52704"/>
          </a:xfrm>
          <a:custGeom>
            <a:avLst/>
            <a:gdLst/>
            <a:ahLst/>
            <a:cxnLst/>
            <a:rect l="l" t="t" r="r" b="b"/>
            <a:pathLst>
              <a:path w="25307" h="52704">
                <a:moveTo>
                  <a:pt x="0" y="52704"/>
                </a:moveTo>
                <a:lnTo>
                  <a:pt x="0" y="0"/>
                </a:lnTo>
                <a:lnTo>
                  <a:pt x="19680" y="39287"/>
                </a:lnTo>
                <a:lnTo>
                  <a:pt x="25307" y="52704"/>
                </a:lnTo>
                <a:lnTo>
                  <a:pt x="0" y="52704"/>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9" name="Illustrative delivered road transport cost class 4; reference terminal Durban"/>
          <p:cNvSpPr/>
          <p:nvPr/>
        </p:nvSpPr>
        <p:spPr>
          <a:xfrm>
            <a:off x="2723563" y="5440546"/>
            <a:ext cx="57687" cy="54853"/>
          </a:xfrm>
          <a:custGeom>
            <a:avLst/>
            <a:gdLst/>
            <a:ahLst/>
            <a:cxnLst/>
            <a:rect l="l" t="t" r="r" b="b"/>
            <a:pathLst>
              <a:path w="57687" h="54853">
                <a:moveTo>
                  <a:pt x="0" y="0"/>
                </a:moveTo>
                <a:lnTo>
                  <a:pt x="57687" y="0"/>
                </a:lnTo>
                <a:lnTo>
                  <a:pt x="57687" y="27433"/>
                </a:lnTo>
                <a:lnTo>
                  <a:pt x="32235" y="31324"/>
                </a:lnTo>
                <a:lnTo>
                  <a:pt x="12559" y="43757"/>
                </a:lnTo>
                <a:lnTo>
                  <a:pt x="0" y="54853"/>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0" name="Illustrative delivered road transport cost class 4; reference terminal Durban"/>
          <p:cNvSpPr/>
          <p:nvPr/>
        </p:nvSpPr>
        <p:spPr>
          <a:xfrm>
            <a:off x="2723563" y="538285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1" name="Illustrative delivered road transport cost class 4; reference terminal Durban"/>
          <p:cNvSpPr/>
          <p:nvPr/>
        </p:nvSpPr>
        <p:spPr>
          <a:xfrm>
            <a:off x="2723563"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2" name="Illustrative delivered road transport cost class 4; reference terminal Lesedi"/>
          <p:cNvSpPr/>
          <p:nvPr/>
        </p:nvSpPr>
        <p:spPr>
          <a:xfrm>
            <a:off x="2723563"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3" name="Illustrative delivered road transport cost class 4; reference terminal Lesedi"/>
          <p:cNvSpPr/>
          <p:nvPr/>
        </p:nvSpPr>
        <p:spPr>
          <a:xfrm>
            <a:off x="2723563"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4" name="Illustrative delivered road transport cost class 4; reference terminal Lesedi"/>
          <p:cNvSpPr/>
          <p:nvPr/>
        </p:nvSpPr>
        <p:spPr>
          <a:xfrm>
            <a:off x="2723563"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5" name="Illustrative delivered road transport cost class 4; reference terminal Lesedi"/>
          <p:cNvSpPr/>
          <p:nvPr/>
        </p:nvSpPr>
        <p:spPr>
          <a:xfrm>
            <a:off x="2723563"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6" name="Illustrative delivered road transport cost class 4; reference terminal Lesedi"/>
          <p:cNvSpPr/>
          <p:nvPr/>
        </p:nvSpPr>
        <p:spPr>
          <a:xfrm>
            <a:off x="2723563"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7" name="Illustrative delivered road transport cost class 4; reference terminal Lesedi"/>
          <p:cNvSpPr/>
          <p:nvPr/>
        </p:nvSpPr>
        <p:spPr>
          <a:xfrm>
            <a:off x="2723563"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8" name="Illustrative delivered road transport cost class 4; reference terminal Lesedi"/>
          <p:cNvSpPr/>
          <p:nvPr/>
        </p:nvSpPr>
        <p:spPr>
          <a:xfrm>
            <a:off x="2723563"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9" name="Illustrative delivered road transport cost class 4; reference terminal Lesedi"/>
          <p:cNvSpPr/>
          <p:nvPr/>
        </p:nvSpPr>
        <p:spPr>
          <a:xfrm>
            <a:off x="2723563"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0" name="Illustrative delivered road transport cost class None; reference terminal None"/>
          <p:cNvSpPr/>
          <p:nvPr/>
        </p:nvSpPr>
        <p:spPr>
          <a:xfrm>
            <a:off x="2723563"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1" name="Illustrative delivered road transport cost class None; reference terminal None"/>
          <p:cNvSpPr/>
          <p:nvPr/>
        </p:nvSpPr>
        <p:spPr>
          <a:xfrm>
            <a:off x="2723563"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2" name="Illustrative delivered road transport cost class None; reference terminal None"/>
          <p:cNvSpPr/>
          <p:nvPr/>
        </p:nvSpPr>
        <p:spPr>
          <a:xfrm>
            <a:off x="2723563"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3" name="Illustrative delivered road transport cost class None; reference terminal None"/>
          <p:cNvSpPr/>
          <p:nvPr/>
        </p:nvSpPr>
        <p:spPr>
          <a:xfrm>
            <a:off x="2723563"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4" name="Illustrative delivered road transport cost class None; reference terminal None"/>
          <p:cNvSpPr/>
          <p:nvPr/>
        </p:nvSpPr>
        <p:spPr>
          <a:xfrm>
            <a:off x="2723563"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5" name="Illustrative delivered road transport cost class None; reference terminal None"/>
          <p:cNvSpPr/>
          <p:nvPr/>
        </p:nvSpPr>
        <p:spPr>
          <a:xfrm>
            <a:off x="2723563"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6" name="Illustrative delivered road transport cost class None; reference terminal None"/>
          <p:cNvSpPr/>
          <p:nvPr/>
        </p:nvSpPr>
        <p:spPr>
          <a:xfrm>
            <a:off x="2723563"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7" name="Illustrative delivered road transport cost class None; reference terminal None"/>
          <p:cNvSpPr/>
          <p:nvPr/>
        </p:nvSpPr>
        <p:spPr>
          <a:xfrm>
            <a:off x="2723563"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8" name="Illustrative delivered road transport cost class None; reference terminal None"/>
          <p:cNvSpPr/>
          <p:nvPr/>
        </p:nvSpPr>
        <p:spPr>
          <a:xfrm>
            <a:off x="2723563"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9" name="Illustrative delivered road transport cost class None; reference terminal None"/>
          <p:cNvSpPr/>
          <p:nvPr/>
        </p:nvSpPr>
        <p:spPr>
          <a:xfrm>
            <a:off x="2723563"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0" name="Illustrative delivered road transport cost class 3; reference terminal Lesedi"/>
          <p:cNvSpPr/>
          <p:nvPr/>
        </p:nvSpPr>
        <p:spPr>
          <a:xfrm>
            <a:off x="2723563"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1" name="Illustrative delivered road transport cost class 3; reference terminal Lesedi"/>
          <p:cNvSpPr/>
          <p:nvPr/>
        </p:nvSpPr>
        <p:spPr>
          <a:xfrm>
            <a:off x="2723563"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2" name="Illustrative delivered road transport cost class 3; reference terminal Lesedi"/>
          <p:cNvSpPr/>
          <p:nvPr/>
        </p:nvSpPr>
        <p:spPr>
          <a:xfrm>
            <a:off x="2723563"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3" name="Illustrative delivered road transport cost class 3; reference terminal Lesedi"/>
          <p:cNvSpPr/>
          <p:nvPr/>
        </p:nvSpPr>
        <p:spPr>
          <a:xfrm>
            <a:off x="2723563"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4" name="Illustrative delivered road transport cost class 3; reference terminal Lesedi"/>
          <p:cNvSpPr/>
          <p:nvPr/>
        </p:nvSpPr>
        <p:spPr>
          <a:xfrm>
            <a:off x="2723563"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5" name="Illustrative delivered road transport cost class 3; reference terminal Lesedi"/>
          <p:cNvSpPr/>
          <p:nvPr/>
        </p:nvSpPr>
        <p:spPr>
          <a:xfrm>
            <a:off x="2723563"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6" name="Illustrative delivered road transport cost class 4; reference terminal Lesedi"/>
          <p:cNvSpPr/>
          <p:nvPr/>
        </p:nvSpPr>
        <p:spPr>
          <a:xfrm>
            <a:off x="2723563"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7" name="Illustrative delivered road transport cost class 4; reference terminal Lesedi"/>
          <p:cNvSpPr/>
          <p:nvPr/>
        </p:nvSpPr>
        <p:spPr>
          <a:xfrm>
            <a:off x="2723563"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8" name="Illustrative delivered road transport cost class 4; reference terminal Lesedi"/>
          <p:cNvSpPr/>
          <p:nvPr/>
        </p:nvSpPr>
        <p:spPr>
          <a:xfrm>
            <a:off x="2723563"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9" name="Illustrative delivered road transport cost class 4; reference terminal Lesedi"/>
          <p:cNvSpPr/>
          <p:nvPr/>
        </p:nvSpPr>
        <p:spPr>
          <a:xfrm>
            <a:off x="2723563"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0" name="Illustrative delivered road transport cost class 4; reference terminal Lesedi"/>
          <p:cNvSpPr/>
          <p:nvPr/>
        </p:nvSpPr>
        <p:spPr>
          <a:xfrm>
            <a:off x="2723563"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1" name="Illustrative delivered road transport cost class 4; reference terminal Lesedi"/>
          <p:cNvSpPr/>
          <p:nvPr/>
        </p:nvSpPr>
        <p:spPr>
          <a:xfrm>
            <a:off x="2723563"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2" name="Illustrative delivered road transport cost class 4; reference terminal Lesedi"/>
          <p:cNvSpPr/>
          <p:nvPr/>
        </p:nvSpPr>
        <p:spPr>
          <a:xfrm>
            <a:off x="2723563"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3" name="Illustrative delivered road transport cost class 4; reference terminal Lesedi"/>
          <p:cNvSpPr/>
          <p:nvPr/>
        </p:nvSpPr>
        <p:spPr>
          <a:xfrm>
            <a:off x="2723563" y="3511963"/>
            <a:ext cx="57687" cy="24926"/>
          </a:xfrm>
          <a:custGeom>
            <a:avLst/>
            <a:gdLst/>
            <a:ahLst/>
            <a:cxnLst/>
            <a:rect l="l" t="t" r="r" b="b"/>
            <a:pathLst>
              <a:path w="57687" h="24926">
                <a:moveTo>
                  <a:pt x="57687" y="24926"/>
                </a:moveTo>
                <a:lnTo>
                  <a:pt x="0" y="24926"/>
                </a:lnTo>
                <a:lnTo>
                  <a:pt x="0" y="9351"/>
                </a:lnTo>
                <a:lnTo>
                  <a:pt x="3915" y="11278"/>
                </a:lnTo>
                <a:lnTo>
                  <a:pt x="33602" y="0"/>
                </a:lnTo>
                <a:lnTo>
                  <a:pt x="52730" y="2502"/>
                </a:lnTo>
                <a:lnTo>
                  <a:pt x="57687" y="3774"/>
                </a:lnTo>
                <a:lnTo>
                  <a:pt x="57687" y="2492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4" name="Illustrative delivered road transport cost class 4; reference terminal Lesedi"/>
          <p:cNvSpPr/>
          <p:nvPr/>
        </p:nvSpPr>
        <p:spPr>
          <a:xfrm>
            <a:off x="2723563" y="3363829"/>
            <a:ext cx="7574" cy="14138"/>
          </a:xfrm>
          <a:custGeom>
            <a:avLst/>
            <a:gdLst/>
            <a:ahLst/>
            <a:cxnLst/>
            <a:rect l="l" t="t" r="r" b="b"/>
            <a:pathLst>
              <a:path w="7574" h="14138">
                <a:moveTo>
                  <a:pt x="0" y="0"/>
                </a:moveTo>
                <a:lnTo>
                  <a:pt x="7574" y="0"/>
                </a:lnTo>
                <a:lnTo>
                  <a:pt x="2805" y="9834"/>
                </a:lnTo>
                <a:lnTo>
                  <a:pt x="0" y="14138"/>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5" name="Illustrative delivered road transport cost class 4; reference terminal Lesedi"/>
          <p:cNvSpPr/>
          <p:nvPr/>
        </p:nvSpPr>
        <p:spPr>
          <a:xfrm>
            <a:off x="2723563" y="3306143"/>
            <a:ext cx="16709" cy="57686"/>
          </a:xfrm>
          <a:custGeom>
            <a:avLst/>
            <a:gdLst/>
            <a:ahLst/>
            <a:cxnLst/>
            <a:rect l="l" t="t" r="r" b="b"/>
            <a:pathLst>
              <a:path w="16709" h="57686">
                <a:moveTo>
                  <a:pt x="0" y="57686"/>
                </a:moveTo>
                <a:lnTo>
                  <a:pt x="0" y="0"/>
                </a:lnTo>
                <a:lnTo>
                  <a:pt x="10418" y="0"/>
                </a:lnTo>
                <a:lnTo>
                  <a:pt x="13692" y="20167"/>
                </a:lnTo>
                <a:lnTo>
                  <a:pt x="16709" y="30307"/>
                </a:lnTo>
                <a:lnTo>
                  <a:pt x="15326" y="41698"/>
                </a:lnTo>
                <a:lnTo>
                  <a:pt x="7574"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6" name="Illustrative delivered road transport cost class 4; reference terminal Lesedi"/>
          <p:cNvSpPr/>
          <p:nvPr/>
        </p:nvSpPr>
        <p:spPr>
          <a:xfrm>
            <a:off x="2723563" y="3266060"/>
            <a:ext cx="10418" cy="40083"/>
          </a:xfrm>
          <a:custGeom>
            <a:avLst/>
            <a:gdLst/>
            <a:ahLst/>
            <a:cxnLst/>
            <a:rect l="l" t="t" r="r" b="b"/>
            <a:pathLst>
              <a:path w="10418" h="40083">
                <a:moveTo>
                  <a:pt x="0" y="40083"/>
                </a:moveTo>
                <a:lnTo>
                  <a:pt x="0" y="0"/>
                </a:lnTo>
                <a:lnTo>
                  <a:pt x="8178" y="18241"/>
                </a:lnTo>
                <a:lnTo>
                  <a:pt x="10324" y="39504"/>
                </a:lnTo>
                <a:lnTo>
                  <a:pt x="10418" y="40083"/>
                </a:lnTo>
                <a:lnTo>
                  <a:pt x="0" y="40083"/>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7" name="Illustrative delivered road transport cost class 4; reference terminal Durban"/>
          <p:cNvSpPr/>
          <p:nvPr/>
        </p:nvSpPr>
        <p:spPr>
          <a:xfrm>
            <a:off x="2781250" y="5440546"/>
            <a:ext cx="57686" cy="27433"/>
          </a:xfrm>
          <a:custGeom>
            <a:avLst/>
            <a:gdLst/>
            <a:ahLst/>
            <a:cxnLst/>
            <a:rect l="l" t="t" r="r" b="b"/>
            <a:pathLst>
              <a:path w="57686" h="27433">
                <a:moveTo>
                  <a:pt x="0" y="0"/>
                </a:moveTo>
                <a:lnTo>
                  <a:pt x="57686" y="0"/>
                </a:lnTo>
                <a:lnTo>
                  <a:pt x="57686" y="6629"/>
                </a:lnTo>
                <a:lnTo>
                  <a:pt x="48517" y="8933"/>
                </a:lnTo>
                <a:lnTo>
                  <a:pt x="26231" y="23423"/>
                </a:lnTo>
                <a:lnTo>
                  <a:pt x="0" y="27433"/>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8" name="Illustrative delivered road transport cost class 4; reference terminal Durban"/>
          <p:cNvSpPr/>
          <p:nvPr/>
        </p:nvSpPr>
        <p:spPr>
          <a:xfrm>
            <a:off x="2781250" y="538285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9" name="Illustrative delivered road transport cost class 4; reference terminal Durban"/>
          <p:cNvSpPr/>
          <p:nvPr/>
        </p:nvSpPr>
        <p:spPr>
          <a:xfrm>
            <a:off x="2781250"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0" name="Illustrative delivered road transport cost class 4; reference terminal Lesedi"/>
          <p:cNvSpPr/>
          <p:nvPr/>
        </p:nvSpPr>
        <p:spPr>
          <a:xfrm>
            <a:off x="2781250"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1" name="Illustrative delivered road transport cost class 4; reference terminal Lesedi"/>
          <p:cNvSpPr/>
          <p:nvPr/>
        </p:nvSpPr>
        <p:spPr>
          <a:xfrm>
            <a:off x="2781250"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2" name="Illustrative delivered road transport cost class 4; reference terminal Lesedi"/>
          <p:cNvSpPr/>
          <p:nvPr/>
        </p:nvSpPr>
        <p:spPr>
          <a:xfrm>
            <a:off x="2781250"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3" name="Illustrative delivered road transport cost class 4; reference terminal Lesedi"/>
          <p:cNvSpPr/>
          <p:nvPr/>
        </p:nvSpPr>
        <p:spPr>
          <a:xfrm>
            <a:off x="2781250"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4" name="Illustrative delivered road transport cost class 4; reference terminal Lesedi"/>
          <p:cNvSpPr/>
          <p:nvPr/>
        </p:nvSpPr>
        <p:spPr>
          <a:xfrm>
            <a:off x="2781250"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5" name="Illustrative delivered road transport cost class 4; reference terminal Lesedi"/>
          <p:cNvSpPr/>
          <p:nvPr/>
        </p:nvSpPr>
        <p:spPr>
          <a:xfrm>
            <a:off x="2781250"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6" name="Illustrative delivered road transport cost class 4; reference terminal Lesedi"/>
          <p:cNvSpPr/>
          <p:nvPr/>
        </p:nvSpPr>
        <p:spPr>
          <a:xfrm>
            <a:off x="2781250"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7" name="Illustrative delivered road transport cost class 4; reference terminal Lesedi"/>
          <p:cNvSpPr/>
          <p:nvPr/>
        </p:nvSpPr>
        <p:spPr>
          <a:xfrm>
            <a:off x="2781250"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8" name="Illustrative delivered road transport cost class None; reference terminal None"/>
          <p:cNvSpPr/>
          <p:nvPr/>
        </p:nvSpPr>
        <p:spPr>
          <a:xfrm>
            <a:off x="2781250"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9" name="Illustrative delivered road transport cost class None; reference terminal None"/>
          <p:cNvSpPr/>
          <p:nvPr/>
        </p:nvSpPr>
        <p:spPr>
          <a:xfrm>
            <a:off x="2781250"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0" name="Illustrative delivered road transport cost class None; reference terminal None"/>
          <p:cNvSpPr/>
          <p:nvPr/>
        </p:nvSpPr>
        <p:spPr>
          <a:xfrm>
            <a:off x="2781250"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1" name="Illustrative delivered road transport cost class None; reference terminal None"/>
          <p:cNvSpPr/>
          <p:nvPr/>
        </p:nvSpPr>
        <p:spPr>
          <a:xfrm>
            <a:off x="2781250"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2" name="Illustrative delivered road transport cost class None; reference terminal None"/>
          <p:cNvSpPr/>
          <p:nvPr/>
        </p:nvSpPr>
        <p:spPr>
          <a:xfrm>
            <a:off x="2781250"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3" name="Illustrative delivered road transport cost class None; reference terminal None"/>
          <p:cNvSpPr/>
          <p:nvPr/>
        </p:nvSpPr>
        <p:spPr>
          <a:xfrm>
            <a:off x="2781250"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4" name="Illustrative delivered road transport cost class None; reference terminal None"/>
          <p:cNvSpPr/>
          <p:nvPr/>
        </p:nvSpPr>
        <p:spPr>
          <a:xfrm>
            <a:off x="2781250"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5" name="Illustrative delivered road transport cost class None; reference terminal None"/>
          <p:cNvSpPr/>
          <p:nvPr/>
        </p:nvSpPr>
        <p:spPr>
          <a:xfrm>
            <a:off x="2781250"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6" name="Illustrative delivered road transport cost class None; reference terminal None"/>
          <p:cNvSpPr/>
          <p:nvPr/>
        </p:nvSpPr>
        <p:spPr>
          <a:xfrm>
            <a:off x="2781250"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7" name="Illustrative delivered road transport cost class None; reference terminal None"/>
          <p:cNvSpPr/>
          <p:nvPr/>
        </p:nvSpPr>
        <p:spPr>
          <a:xfrm>
            <a:off x="2781250"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8" name="Illustrative delivered road transport cost class 3; reference terminal Lesedi"/>
          <p:cNvSpPr/>
          <p:nvPr/>
        </p:nvSpPr>
        <p:spPr>
          <a:xfrm>
            <a:off x="2781250"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9" name="Illustrative delivered road transport cost class 3; reference terminal Lesedi"/>
          <p:cNvSpPr/>
          <p:nvPr/>
        </p:nvSpPr>
        <p:spPr>
          <a:xfrm>
            <a:off x="2781250"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0" name="Illustrative delivered road transport cost class 3; reference terminal Lesedi"/>
          <p:cNvSpPr/>
          <p:nvPr/>
        </p:nvSpPr>
        <p:spPr>
          <a:xfrm>
            <a:off x="2781250"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1" name="Illustrative delivered road transport cost class 3; reference terminal Lesedi"/>
          <p:cNvSpPr/>
          <p:nvPr/>
        </p:nvSpPr>
        <p:spPr>
          <a:xfrm>
            <a:off x="2781250"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2" name="Illustrative delivered road transport cost class 3; reference terminal Lesedi"/>
          <p:cNvSpPr/>
          <p:nvPr/>
        </p:nvSpPr>
        <p:spPr>
          <a:xfrm>
            <a:off x="2781250"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3" name="Illustrative delivered road transport cost class 3; reference terminal Lesedi"/>
          <p:cNvSpPr/>
          <p:nvPr/>
        </p:nvSpPr>
        <p:spPr>
          <a:xfrm>
            <a:off x="2781250"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4" name="Illustrative delivered road transport cost class 3; reference terminal Lesedi"/>
          <p:cNvSpPr/>
          <p:nvPr/>
        </p:nvSpPr>
        <p:spPr>
          <a:xfrm>
            <a:off x="2781250"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5" name="Illustrative delivered road transport cost class 4; reference terminal Lesedi"/>
          <p:cNvSpPr/>
          <p:nvPr/>
        </p:nvSpPr>
        <p:spPr>
          <a:xfrm>
            <a:off x="2781250"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6" name="Illustrative delivered road transport cost class 4; reference terminal Lesedi"/>
          <p:cNvSpPr/>
          <p:nvPr/>
        </p:nvSpPr>
        <p:spPr>
          <a:xfrm>
            <a:off x="2781250"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7" name="Illustrative delivered road transport cost class 4; reference terminal Lesedi"/>
          <p:cNvSpPr/>
          <p:nvPr/>
        </p:nvSpPr>
        <p:spPr>
          <a:xfrm>
            <a:off x="2781250"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8" name="Illustrative delivered road transport cost class 4; reference terminal Lesedi"/>
          <p:cNvSpPr/>
          <p:nvPr/>
        </p:nvSpPr>
        <p:spPr>
          <a:xfrm>
            <a:off x="2781250"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9" name="Illustrative delivered road transport cost class 4; reference terminal Lesedi"/>
          <p:cNvSpPr/>
          <p:nvPr/>
        </p:nvSpPr>
        <p:spPr>
          <a:xfrm>
            <a:off x="2781250"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0" name="Illustrative delivered road transport cost class 4; reference terminal Lesedi"/>
          <p:cNvSpPr/>
          <p:nvPr/>
        </p:nvSpPr>
        <p:spPr>
          <a:xfrm>
            <a:off x="2781250"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1" name="Illustrative delivered road transport cost class None; reference terminal None"/>
          <p:cNvSpPr/>
          <p:nvPr/>
        </p:nvSpPr>
        <p:spPr>
          <a:xfrm>
            <a:off x="2781250" y="3515737"/>
            <a:ext cx="57686" cy="21152"/>
          </a:xfrm>
          <a:custGeom>
            <a:avLst/>
            <a:gdLst/>
            <a:ahLst/>
            <a:cxnLst/>
            <a:rect l="l" t="t" r="r" b="b"/>
            <a:pathLst>
              <a:path w="57686" h="21152">
                <a:moveTo>
                  <a:pt x="57686" y="21152"/>
                </a:moveTo>
                <a:lnTo>
                  <a:pt x="0" y="21152"/>
                </a:lnTo>
                <a:lnTo>
                  <a:pt x="0" y="0"/>
                </a:lnTo>
                <a:lnTo>
                  <a:pt x="22125" y="5679"/>
                </a:lnTo>
                <a:lnTo>
                  <a:pt x="57686" y="2617"/>
                </a:lnTo>
                <a:lnTo>
                  <a:pt x="57686" y="2115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2" name="Illustrative delivered road transport cost class 4; reference terminal Durban"/>
          <p:cNvSpPr/>
          <p:nvPr/>
        </p:nvSpPr>
        <p:spPr>
          <a:xfrm>
            <a:off x="2838936" y="5440546"/>
            <a:ext cx="57687" cy="8882"/>
          </a:xfrm>
          <a:custGeom>
            <a:avLst/>
            <a:gdLst/>
            <a:ahLst/>
            <a:cxnLst/>
            <a:rect l="l" t="t" r="r" b="b"/>
            <a:pathLst>
              <a:path w="57687" h="8882">
                <a:moveTo>
                  <a:pt x="0" y="0"/>
                </a:moveTo>
                <a:lnTo>
                  <a:pt x="57687" y="0"/>
                </a:lnTo>
                <a:lnTo>
                  <a:pt x="57687" y="8882"/>
                </a:lnTo>
                <a:lnTo>
                  <a:pt x="28340" y="2006"/>
                </a:lnTo>
                <a:lnTo>
                  <a:pt x="13442" y="3251"/>
                </a:lnTo>
                <a:lnTo>
                  <a:pt x="0" y="6629"/>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3" name="Illustrative delivered road transport cost class 4; reference terminal Durban"/>
          <p:cNvSpPr/>
          <p:nvPr/>
        </p:nvSpPr>
        <p:spPr>
          <a:xfrm>
            <a:off x="2838936" y="538285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4" name="Illustrative delivered road transport cost class 4; reference terminal Durban"/>
          <p:cNvSpPr/>
          <p:nvPr/>
        </p:nvSpPr>
        <p:spPr>
          <a:xfrm>
            <a:off x="2838936"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5" name="Illustrative delivered road transport cost class 4; reference terminal Lesedi"/>
          <p:cNvSpPr/>
          <p:nvPr/>
        </p:nvSpPr>
        <p:spPr>
          <a:xfrm>
            <a:off x="2838936"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6" name="Illustrative delivered road transport cost class 4; reference terminal Lesedi"/>
          <p:cNvSpPr/>
          <p:nvPr/>
        </p:nvSpPr>
        <p:spPr>
          <a:xfrm>
            <a:off x="2838936"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7" name="Illustrative delivered road transport cost class 4; reference terminal Lesedi"/>
          <p:cNvSpPr/>
          <p:nvPr/>
        </p:nvSpPr>
        <p:spPr>
          <a:xfrm>
            <a:off x="2838936"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8" name="Illustrative delivered road transport cost class 4; reference terminal Lesedi"/>
          <p:cNvSpPr/>
          <p:nvPr/>
        </p:nvSpPr>
        <p:spPr>
          <a:xfrm>
            <a:off x="2838936"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9" name="Illustrative delivered road transport cost class 4; reference terminal Lesedi"/>
          <p:cNvSpPr/>
          <p:nvPr/>
        </p:nvSpPr>
        <p:spPr>
          <a:xfrm>
            <a:off x="2838936"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0" name="Illustrative delivered road transport cost class 4; reference terminal Lesedi"/>
          <p:cNvSpPr/>
          <p:nvPr/>
        </p:nvSpPr>
        <p:spPr>
          <a:xfrm>
            <a:off x="2838936"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1" name="Illustrative delivered road transport cost class 4; reference terminal Lesedi"/>
          <p:cNvSpPr/>
          <p:nvPr/>
        </p:nvSpPr>
        <p:spPr>
          <a:xfrm>
            <a:off x="2838936"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2" name="Illustrative delivered road transport cost class 4; reference terminal Lesedi"/>
          <p:cNvSpPr/>
          <p:nvPr/>
        </p:nvSpPr>
        <p:spPr>
          <a:xfrm>
            <a:off x="2838936"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3" name="Illustrative delivered road transport cost class 4; reference terminal Lesedi"/>
          <p:cNvSpPr/>
          <p:nvPr/>
        </p:nvSpPr>
        <p:spPr>
          <a:xfrm>
            <a:off x="2838936"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4" name="Illustrative delivered road transport cost class None; reference terminal None"/>
          <p:cNvSpPr/>
          <p:nvPr/>
        </p:nvSpPr>
        <p:spPr>
          <a:xfrm>
            <a:off x="2838936"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5" name="Illustrative delivered road transport cost class None; reference terminal None"/>
          <p:cNvSpPr/>
          <p:nvPr/>
        </p:nvSpPr>
        <p:spPr>
          <a:xfrm>
            <a:off x="2838936"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6" name="Illustrative delivered road transport cost class None; reference terminal None"/>
          <p:cNvSpPr/>
          <p:nvPr/>
        </p:nvSpPr>
        <p:spPr>
          <a:xfrm>
            <a:off x="2838936"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7" name="Illustrative delivered road transport cost class None; reference terminal None"/>
          <p:cNvSpPr/>
          <p:nvPr/>
        </p:nvSpPr>
        <p:spPr>
          <a:xfrm>
            <a:off x="2838936"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8" name="Illustrative delivered road transport cost class None; reference terminal None"/>
          <p:cNvSpPr/>
          <p:nvPr/>
        </p:nvSpPr>
        <p:spPr>
          <a:xfrm>
            <a:off x="2838936"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9" name="Illustrative delivered road transport cost class None; reference terminal None"/>
          <p:cNvSpPr/>
          <p:nvPr/>
        </p:nvSpPr>
        <p:spPr>
          <a:xfrm>
            <a:off x="2838936"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0" name="Illustrative delivered road transport cost class None; reference terminal None"/>
          <p:cNvSpPr/>
          <p:nvPr/>
        </p:nvSpPr>
        <p:spPr>
          <a:xfrm>
            <a:off x="2838936"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1" name="Illustrative delivered road transport cost class None; reference terminal None"/>
          <p:cNvSpPr/>
          <p:nvPr/>
        </p:nvSpPr>
        <p:spPr>
          <a:xfrm>
            <a:off x="2838936"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2" name="Illustrative delivered road transport cost class 3; reference terminal Lesedi"/>
          <p:cNvSpPr/>
          <p:nvPr/>
        </p:nvSpPr>
        <p:spPr>
          <a:xfrm>
            <a:off x="2838936"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3" name="Illustrative delivered road transport cost class 3; reference terminal Lesedi"/>
          <p:cNvSpPr/>
          <p:nvPr/>
        </p:nvSpPr>
        <p:spPr>
          <a:xfrm>
            <a:off x="2838936"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4" name="Illustrative delivered road transport cost class 3; reference terminal Lesedi"/>
          <p:cNvSpPr/>
          <p:nvPr/>
        </p:nvSpPr>
        <p:spPr>
          <a:xfrm>
            <a:off x="2838936"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5" name="Illustrative delivered road transport cost class 3; reference terminal Lesedi"/>
          <p:cNvSpPr/>
          <p:nvPr/>
        </p:nvSpPr>
        <p:spPr>
          <a:xfrm>
            <a:off x="2838936"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6" name="Illustrative delivered road transport cost class 3; reference terminal Lesedi"/>
          <p:cNvSpPr/>
          <p:nvPr/>
        </p:nvSpPr>
        <p:spPr>
          <a:xfrm>
            <a:off x="2838936"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7" name="Illustrative delivered road transport cost class 3; reference terminal Lesedi"/>
          <p:cNvSpPr/>
          <p:nvPr/>
        </p:nvSpPr>
        <p:spPr>
          <a:xfrm>
            <a:off x="2838936"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8" name="Illustrative delivered road transport cost class 3; reference terminal Lesedi"/>
          <p:cNvSpPr/>
          <p:nvPr/>
        </p:nvSpPr>
        <p:spPr>
          <a:xfrm>
            <a:off x="2838936"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9" name="Illustrative delivered road transport cost class 3; reference terminal Lesedi"/>
          <p:cNvSpPr/>
          <p:nvPr/>
        </p:nvSpPr>
        <p:spPr>
          <a:xfrm>
            <a:off x="2838936"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0" name="Illustrative delivered road transport cost class 4; reference terminal Lesedi"/>
          <p:cNvSpPr/>
          <p:nvPr/>
        </p:nvSpPr>
        <p:spPr>
          <a:xfrm>
            <a:off x="2838936"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1" name="Illustrative delivered road transport cost class 4; reference terminal Lesedi"/>
          <p:cNvSpPr/>
          <p:nvPr/>
        </p:nvSpPr>
        <p:spPr>
          <a:xfrm>
            <a:off x="2838936"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2" name="Illustrative delivered road transport cost class 4; reference terminal Lesedi"/>
          <p:cNvSpPr/>
          <p:nvPr/>
        </p:nvSpPr>
        <p:spPr>
          <a:xfrm>
            <a:off x="2838936"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3" name="Illustrative delivered road transport cost class 4; reference terminal Lesedi"/>
          <p:cNvSpPr/>
          <p:nvPr/>
        </p:nvSpPr>
        <p:spPr>
          <a:xfrm>
            <a:off x="2838936"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4" name="Illustrative delivered road transport cost class 4; reference terminal Lesedi"/>
          <p:cNvSpPr/>
          <p:nvPr/>
        </p:nvSpPr>
        <p:spPr>
          <a:xfrm>
            <a:off x="2838936"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5" name="Illustrative delivered road transport cost class None; reference terminal None"/>
          <p:cNvSpPr/>
          <p:nvPr/>
        </p:nvSpPr>
        <p:spPr>
          <a:xfrm>
            <a:off x="2838936"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6" name="Illustrative delivered road transport cost class None; reference terminal None"/>
          <p:cNvSpPr/>
          <p:nvPr/>
        </p:nvSpPr>
        <p:spPr>
          <a:xfrm>
            <a:off x="2838936" y="3513850"/>
            <a:ext cx="57687" cy="23039"/>
          </a:xfrm>
          <a:custGeom>
            <a:avLst/>
            <a:gdLst/>
            <a:ahLst/>
            <a:cxnLst/>
            <a:rect l="l" t="t" r="r" b="b"/>
            <a:pathLst>
              <a:path w="57687" h="23039">
                <a:moveTo>
                  <a:pt x="57687" y="23039"/>
                </a:moveTo>
                <a:lnTo>
                  <a:pt x="0" y="23039"/>
                </a:lnTo>
                <a:lnTo>
                  <a:pt x="0" y="4504"/>
                </a:lnTo>
                <a:lnTo>
                  <a:pt x="52294" y="0"/>
                </a:lnTo>
                <a:lnTo>
                  <a:pt x="57687" y="1114"/>
                </a:lnTo>
                <a:lnTo>
                  <a:pt x="57687" y="23039"/>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7" name="Illustrative delivered road transport cost class 4; reference terminal Durban"/>
          <p:cNvSpPr/>
          <p:nvPr/>
        </p:nvSpPr>
        <p:spPr>
          <a:xfrm>
            <a:off x="2896623" y="5440546"/>
            <a:ext cx="57686" cy="11486"/>
          </a:xfrm>
          <a:custGeom>
            <a:avLst/>
            <a:gdLst/>
            <a:ahLst/>
            <a:cxnLst/>
            <a:rect l="l" t="t" r="r" b="b"/>
            <a:pathLst>
              <a:path w="57686" h="11486">
                <a:moveTo>
                  <a:pt x="0" y="0"/>
                </a:moveTo>
                <a:lnTo>
                  <a:pt x="57686" y="0"/>
                </a:lnTo>
                <a:lnTo>
                  <a:pt x="57686" y="5027"/>
                </a:lnTo>
                <a:lnTo>
                  <a:pt x="32532" y="11090"/>
                </a:lnTo>
                <a:lnTo>
                  <a:pt x="11114" y="11486"/>
                </a:lnTo>
                <a:lnTo>
                  <a:pt x="0" y="8882"/>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8" name="Illustrative delivered road transport cost class 4; reference terminal Durban"/>
          <p:cNvSpPr/>
          <p:nvPr/>
        </p:nvSpPr>
        <p:spPr>
          <a:xfrm>
            <a:off x="2896623" y="538285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9" name="Illustrative delivered road transport cost class 4; reference terminal Lesedi"/>
          <p:cNvSpPr/>
          <p:nvPr/>
        </p:nvSpPr>
        <p:spPr>
          <a:xfrm>
            <a:off x="2896623"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0" name="Illustrative delivered road transport cost class 4; reference terminal Lesedi"/>
          <p:cNvSpPr/>
          <p:nvPr/>
        </p:nvSpPr>
        <p:spPr>
          <a:xfrm>
            <a:off x="2896623"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1" name="Illustrative delivered road transport cost class 4; reference terminal Lesedi"/>
          <p:cNvSpPr/>
          <p:nvPr/>
        </p:nvSpPr>
        <p:spPr>
          <a:xfrm>
            <a:off x="2896623"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2" name="Illustrative delivered road transport cost class 4; reference terminal Lesedi"/>
          <p:cNvSpPr/>
          <p:nvPr/>
        </p:nvSpPr>
        <p:spPr>
          <a:xfrm>
            <a:off x="2896623"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3" name="Illustrative delivered road transport cost class 4; reference terminal Lesedi"/>
          <p:cNvSpPr/>
          <p:nvPr/>
        </p:nvSpPr>
        <p:spPr>
          <a:xfrm>
            <a:off x="2896623"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4" name="Illustrative delivered road transport cost class 4; reference terminal Lesedi"/>
          <p:cNvSpPr/>
          <p:nvPr/>
        </p:nvSpPr>
        <p:spPr>
          <a:xfrm>
            <a:off x="2896623"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5" name="Illustrative delivered road transport cost class 4; reference terminal Lesedi"/>
          <p:cNvSpPr/>
          <p:nvPr/>
        </p:nvSpPr>
        <p:spPr>
          <a:xfrm>
            <a:off x="2896623"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6" name="Illustrative delivered road transport cost class 4; reference terminal Lesedi"/>
          <p:cNvSpPr/>
          <p:nvPr/>
        </p:nvSpPr>
        <p:spPr>
          <a:xfrm>
            <a:off x="2896623"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7" name="Illustrative delivered road transport cost class 4; reference terminal Lesedi"/>
          <p:cNvSpPr/>
          <p:nvPr/>
        </p:nvSpPr>
        <p:spPr>
          <a:xfrm>
            <a:off x="2896623"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8" name="Illustrative delivered road transport cost class 4; reference terminal Lesedi"/>
          <p:cNvSpPr/>
          <p:nvPr/>
        </p:nvSpPr>
        <p:spPr>
          <a:xfrm>
            <a:off x="2896623"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9" name="Illustrative delivered road transport cost class None; reference terminal None"/>
          <p:cNvSpPr/>
          <p:nvPr/>
        </p:nvSpPr>
        <p:spPr>
          <a:xfrm>
            <a:off x="2896623"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0" name="Illustrative delivered road transport cost class None; reference terminal None"/>
          <p:cNvSpPr/>
          <p:nvPr/>
        </p:nvSpPr>
        <p:spPr>
          <a:xfrm>
            <a:off x="2896623"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1" name="Illustrative delivered road transport cost class None; reference terminal None"/>
          <p:cNvSpPr/>
          <p:nvPr/>
        </p:nvSpPr>
        <p:spPr>
          <a:xfrm>
            <a:off x="2896623"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2" name="Illustrative delivered road transport cost class None; reference terminal None"/>
          <p:cNvSpPr/>
          <p:nvPr/>
        </p:nvSpPr>
        <p:spPr>
          <a:xfrm>
            <a:off x="2896623"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3" name="Illustrative delivered road transport cost class None; reference terminal None"/>
          <p:cNvSpPr/>
          <p:nvPr/>
        </p:nvSpPr>
        <p:spPr>
          <a:xfrm>
            <a:off x="2896623"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4" name="Illustrative delivered road transport cost class None; reference terminal None"/>
          <p:cNvSpPr/>
          <p:nvPr/>
        </p:nvSpPr>
        <p:spPr>
          <a:xfrm>
            <a:off x="2896623"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5" name="Illustrative delivered road transport cost class None; reference terminal None"/>
          <p:cNvSpPr/>
          <p:nvPr/>
        </p:nvSpPr>
        <p:spPr>
          <a:xfrm>
            <a:off x="2896623"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6" name="Illustrative delivered road transport cost class None; reference terminal None"/>
          <p:cNvSpPr/>
          <p:nvPr/>
        </p:nvSpPr>
        <p:spPr>
          <a:xfrm>
            <a:off x="2896623"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7" name="Illustrative delivered road transport cost class 3; reference terminal Lesedi"/>
          <p:cNvSpPr/>
          <p:nvPr/>
        </p:nvSpPr>
        <p:spPr>
          <a:xfrm>
            <a:off x="2896623"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8" name="Illustrative delivered road transport cost class 3; reference terminal Lesedi"/>
          <p:cNvSpPr/>
          <p:nvPr/>
        </p:nvSpPr>
        <p:spPr>
          <a:xfrm>
            <a:off x="2896623"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9" name="Illustrative delivered road transport cost class 3; reference terminal Lesedi"/>
          <p:cNvSpPr/>
          <p:nvPr/>
        </p:nvSpPr>
        <p:spPr>
          <a:xfrm>
            <a:off x="2896623"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0" name="Illustrative delivered road transport cost class 3; reference terminal Lesedi"/>
          <p:cNvSpPr/>
          <p:nvPr/>
        </p:nvSpPr>
        <p:spPr>
          <a:xfrm>
            <a:off x="2896623"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1" name="Illustrative delivered road transport cost class 3; reference terminal Lesedi"/>
          <p:cNvSpPr/>
          <p:nvPr/>
        </p:nvSpPr>
        <p:spPr>
          <a:xfrm>
            <a:off x="2896623"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2" name="Illustrative delivered road transport cost class 3; reference terminal Lesedi"/>
          <p:cNvSpPr/>
          <p:nvPr/>
        </p:nvSpPr>
        <p:spPr>
          <a:xfrm>
            <a:off x="2896623"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3" name="Illustrative delivered road transport cost class 3; reference terminal Lesedi"/>
          <p:cNvSpPr/>
          <p:nvPr/>
        </p:nvSpPr>
        <p:spPr>
          <a:xfrm>
            <a:off x="2896623"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4" name="Illustrative delivered road transport cost class 3; reference terminal Lesedi"/>
          <p:cNvSpPr/>
          <p:nvPr/>
        </p:nvSpPr>
        <p:spPr>
          <a:xfrm>
            <a:off x="2896623"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5" name="Illustrative delivered road transport cost class 3; reference terminal Lesedi"/>
          <p:cNvSpPr/>
          <p:nvPr/>
        </p:nvSpPr>
        <p:spPr>
          <a:xfrm>
            <a:off x="2896623"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6" name="Illustrative delivered road transport cost class 3; reference terminal Lesedi"/>
          <p:cNvSpPr/>
          <p:nvPr/>
        </p:nvSpPr>
        <p:spPr>
          <a:xfrm>
            <a:off x="2896623"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7" name="Illustrative delivered road transport cost class 3; reference terminal Lesedi"/>
          <p:cNvSpPr/>
          <p:nvPr/>
        </p:nvSpPr>
        <p:spPr>
          <a:xfrm>
            <a:off x="2896623"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8" name="Illustrative delivered road transport cost class 4; reference terminal Lesedi"/>
          <p:cNvSpPr/>
          <p:nvPr/>
        </p:nvSpPr>
        <p:spPr>
          <a:xfrm>
            <a:off x="2896623"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9" name="Illustrative delivered road transport cost class 4; reference terminal Lesedi"/>
          <p:cNvSpPr/>
          <p:nvPr/>
        </p:nvSpPr>
        <p:spPr>
          <a:xfrm>
            <a:off x="2896623"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0" name="Illustrative delivered road transport cost class None; reference terminal None"/>
          <p:cNvSpPr/>
          <p:nvPr/>
        </p:nvSpPr>
        <p:spPr>
          <a:xfrm>
            <a:off x="2896623"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1" name="Illustrative delivered road transport cost class None; reference terminal None"/>
          <p:cNvSpPr/>
          <p:nvPr/>
        </p:nvSpPr>
        <p:spPr>
          <a:xfrm>
            <a:off x="2896623" y="3506901"/>
            <a:ext cx="57686" cy="29988"/>
          </a:xfrm>
          <a:custGeom>
            <a:avLst/>
            <a:gdLst/>
            <a:ahLst/>
            <a:cxnLst/>
            <a:rect l="l" t="t" r="r" b="b"/>
            <a:pathLst>
              <a:path w="57686" h="29988">
                <a:moveTo>
                  <a:pt x="57686" y="29988"/>
                </a:moveTo>
                <a:lnTo>
                  <a:pt x="0" y="29988"/>
                </a:lnTo>
                <a:lnTo>
                  <a:pt x="0" y="8063"/>
                </a:lnTo>
                <a:lnTo>
                  <a:pt x="5311" y="9160"/>
                </a:lnTo>
                <a:lnTo>
                  <a:pt x="38607" y="11163"/>
                </a:lnTo>
                <a:lnTo>
                  <a:pt x="49619" y="7462"/>
                </a:lnTo>
                <a:lnTo>
                  <a:pt x="57686" y="0"/>
                </a:lnTo>
                <a:lnTo>
                  <a:pt x="57686" y="2998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2" name="Illustrative delivered road transport cost class 4; reference terminal Durban"/>
          <p:cNvSpPr/>
          <p:nvPr/>
        </p:nvSpPr>
        <p:spPr>
          <a:xfrm>
            <a:off x="2954309" y="5440546"/>
            <a:ext cx="41969" cy="5027"/>
          </a:xfrm>
          <a:custGeom>
            <a:avLst/>
            <a:gdLst/>
            <a:ahLst/>
            <a:cxnLst/>
            <a:rect l="l" t="t" r="r" b="b"/>
            <a:pathLst>
              <a:path w="41969" h="5027">
                <a:moveTo>
                  <a:pt x="0" y="0"/>
                </a:moveTo>
                <a:lnTo>
                  <a:pt x="41969" y="0"/>
                </a:lnTo>
                <a:lnTo>
                  <a:pt x="17720" y="757"/>
                </a:lnTo>
                <a:lnTo>
                  <a:pt x="0" y="5027"/>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3" name="Illustrative delivered road transport cost class 4; reference terminal Durban"/>
          <p:cNvSpPr/>
          <p:nvPr/>
        </p:nvSpPr>
        <p:spPr>
          <a:xfrm>
            <a:off x="2954309" y="5382859"/>
            <a:ext cx="57687" cy="57687"/>
          </a:xfrm>
          <a:custGeom>
            <a:avLst/>
            <a:gdLst/>
            <a:ahLst/>
            <a:cxnLst/>
            <a:rect l="l" t="t" r="r" b="b"/>
            <a:pathLst>
              <a:path w="57687" h="57687">
                <a:moveTo>
                  <a:pt x="0" y="57687"/>
                </a:moveTo>
                <a:lnTo>
                  <a:pt x="0" y="0"/>
                </a:lnTo>
                <a:lnTo>
                  <a:pt x="57687" y="0"/>
                </a:lnTo>
                <a:lnTo>
                  <a:pt x="57687" y="57196"/>
                </a:lnTo>
                <a:lnTo>
                  <a:pt x="41969"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4" name="Illustrative delivered road transport cost class 4; reference terminal Durban"/>
          <p:cNvSpPr/>
          <p:nvPr/>
        </p:nvSpPr>
        <p:spPr>
          <a:xfrm>
            <a:off x="2954309"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5" name="Illustrative delivered road transport cost class 4; reference terminal Lesedi"/>
          <p:cNvSpPr/>
          <p:nvPr/>
        </p:nvSpPr>
        <p:spPr>
          <a:xfrm>
            <a:off x="2954309"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6" name="Illustrative delivered road transport cost class 4; reference terminal Lesedi"/>
          <p:cNvSpPr/>
          <p:nvPr/>
        </p:nvSpPr>
        <p:spPr>
          <a:xfrm>
            <a:off x="2954309"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7" name="Illustrative delivered road transport cost class 4; reference terminal Lesedi"/>
          <p:cNvSpPr/>
          <p:nvPr/>
        </p:nvSpPr>
        <p:spPr>
          <a:xfrm>
            <a:off x="2954309"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8" name="Illustrative delivered road transport cost class 4; reference terminal Lesedi"/>
          <p:cNvSpPr/>
          <p:nvPr/>
        </p:nvSpPr>
        <p:spPr>
          <a:xfrm>
            <a:off x="2954309"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9" name="Illustrative delivered road transport cost class 3; reference terminal Lesedi"/>
          <p:cNvSpPr/>
          <p:nvPr/>
        </p:nvSpPr>
        <p:spPr>
          <a:xfrm>
            <a:off x="2954309"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0" name="Illustrative delivered road transport cost class 3; reference terminal Lesedi"/>
          <p:cNvSpPr/>
          <p:nvPr/>
        </p:nvSpPr>
        <p:spPr>
          <a:xfrm>
            <a:off x="2954309"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1" name="Illustrative delivered road transport cost class 3; reference terminal Lesedi"/>
          <p:cNvSpPr/>
          <p:nvPr/>
        </p:nvSpPr>
        <p:spPr>
          <a:xfrm>
            <a:off x="2954309"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2" name="Illustrative delivered road transport cost class 3; reference terminal Lesedi"/>
          <p:cNvSpPr/>
          <p:nvPr/>
        </p:nvSpPr>
        <p:spPr>
          <a:xfrm>
            <a:off x="2954309"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3" name="Illustrative delivered road transport cost class 3; reference terminal Lesedi"/>
          <p:cNvSpPr/>
          <p:nvPr/>
        </p:nvSpPr>
        <p:spPr>
          <a:xfrm>
            <a:off x="2954309"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4" name="Illustrative delivered road transport cost class 4; reference terminal Lesedi"/>
          <p:cNvSpPr/>
          <p:nvPr/>
        </p:nvSpPr>
        <p:spPr>
          <a:xfrm>
            <a:off x="2954309"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5" name="Illustrative delivered road transport cost class None; reference terminal None"/>
          <p:cNvSpPr/>
          <p:nvPr/>
        </p:nvSpPr>
        <p:spPr>
          <a:xfrm>
            <a:off x="2954309"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6" name="Illustrative delivered road transport cost class None; reference terminal None"/>
          <p:cNvSpPr/>
          <p:nvPr/>
        </p:nvSpPr>
        <p:spPr>
          <a:xfrm>
            <a:off x="2954309"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7" name="Illustrative delivered road transport cost class None; reference terminal None"/>
          <p:cNvSpPr/>
          <p:nvPr/>
        </p:nvSpPr>
        <p:spPr>
          <a:xfrm>
            <a:off x="2954309"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8" name="Illustrative delivered road transport cost class None; reference terminal None"/>
          <p:cNvSpPr/>
          <p:nvPr/>
        </p:nvSpPr>
        <p:spPr>
          <a:xfrm>
            <a:off x="2954309"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9" name="Illustrative delivered road transport cost class None; reference terminal None"/>
          <p:cNvSpPr/>
          <p:nvPr/>
        </p:nvSpPr>
        <p:spPr>
          <a:xfrm>
            <a:off x="2954309"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0" name="Illustrative delivered road transport cost class None; reference terminal None"/>
          <p:cNvSpPr/>
          <p:nvPr/>
        </p:nvSpPr>
        <p:spPr>
          <a:xfrm>
            <a:off x="2954309"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1" name="Illustrative delivered road transport cost class 3; reference terminal Lesedi"/>
          <p:cNvSpPr/>
          <p:nvPr/>
        </p:nvSpPr>
        <p:spPr>
          <a:xfrm>
            <a:off x="2954309"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2" name="Illustrative delivered road transport cost class 3; reference terminal Lesedi"/>
          <p:cNvSpPr/>
          <p:nvPr/>
        </p:nvSpPr>
        <p:spPr>
          <a:xfrm>
            <a:off x="2954309"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3" name="Illustrative delivered road transport cost class 3; reference terminal Lesedi"/>
          <p:cNvSpPr/>
          <p:nvPr/>
        </p:nvSpPr>
        <p:spPr>
          <a:xfrm>
            <a:off x="2954309"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4" name="Illustrative delivered road transport cost class 3; reference terminal Lesedi"/>
          <p:cNvSpPr/>
          <p:nvPr/>
        </p:nvSpPr>
        <p:spPr>
          <a:xfrm>
            <a:off x="2954309"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5" name="Illustrative delivered road transport cost class 3; reference terminal Lesedi"/>
          <p:cNvSpPr/>
          <p:nvPr/>
        </p:nvSpPr>
        <p:spPr>
          <a:xfrm>
            <a:off x="2954309"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6" name="Illustrative delivered road transport cost class 3; reference terminal Lesedi"/>
          <p:cNvSpPr/>
          <p:nvPr/>
        </p:nvSpPr>
        <p:spPr>
          <a:xfrm>
            <a:off x="2954309"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7" name="Illustrative delivered road transport cost class 3; reference terminal Lesedi"/>
          <p:cNvSpPr/>
          <p:nvPr/>
        </p:nvSpPr>
        <p:spPr>
          <a:xfrm>
            <a:off x="2954309"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8" name="Illustrative delivered road transport cost class 3; reference terminal Lesedi"/>
          <p:cNvSpPr/>
          <p:nvPr/>
        </p:nvSpPr>
        <p:spPr>
          <a:xfrm>
            <a:off x="2954309"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9" name="Illustrative delivered road transport cost class 3; reference terminal Lesedi"/>
          <p:cNvSpPr/>
          <p:nvPr/>
        </p:nvSpPr>
        <p:spPr>
          <a:xfrm>
            <a:off x="2954309"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0" name="Illustrative delivered road transport cost class 3; reference terminal Lesedi"/>
          <p:cNvSpPr/>
          <p:nvPr/>
        </p:nvSpPr>
        <p:spPr>
          <a:xfrm>
            <a:off x="2954309"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1" name="Illustrative delivered road transport cost class 3; reference terminal Lesedi"/>
          <p:cNvSpPr/>
          <p:nvPr/>
        </p:nvSpPr>
        <p:spPr>
          <a:xfrm>
            <a:off x="2954309"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2" name="Illustrative delivered road transport cost class 3; reference terminal Lesedi"/>
          <p:cNvSpPr/>
          <p:nvPr/>
        </p:nvSpPr>
        <p:spPr>
          <a:xfrm>
            <a:off x="2954309"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3" name="Illustrative delivered road transport cost class 3; reference terminal Lesedi"/>
          <p:cNvSpPr/>
          <p:nvPr/>
        </p:nvSpPr>
        <p:spPr>
          <a:xfrm>
            <a:off x="2954309"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4" name="Illustrative delivered road transport cost class 3; reference terminal Lesedi"/>
          <p:cNvSpPr/>
          <p:nvPr/>
        </p:nvSpPr>
        <p:spPr>
          <a:xfrm>
            <a:off x="2954309"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5" name="Illustrative delivered road transport cost class 4; reference terminal Lesedi"/>
          <p:cNvSpPr/>
          <p:nvPr/>
        </p:nvSpPr>
        <p:spPr>
          <a:xfrm>
            <a:off x="2954309"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6" name="Illustrative delivered road transport cost class None; reference terminal None"/>
          <p:cNvSpPr/>
          <p:nvPr/>
        </p:nvSpPr>
        <p:spPr>
          <a:xfrm>
            <a:off x="2954309" y="3479202"/>
            <a:ext cx="57687" cy="57687"/>
          </a:xfrm>
          <a:custGeom>
            <a:avLst/>
            <a:gdLst/>
            <a:ahLst/>
            <a:cxnLst/>
            <a:rect l="l" t="t" r="r" b="b"/>
            <a:pathLst>
              <a:path w="57687" h="57687">
                <a:moveTo>
                  <a:pt x="57687" y="0"/>
                </a:moveTo>
                <a:lnTo>
                  <a:pt x="57687" y="57687"/>
                </a:lnTo>
                <a:lnTo>
                  <a:pt x="0" y="57687"/>
                </a:lnTo>
                <a:lnTo>
                  <a:pt x="0" y="27699"/>
                </a:lnTo>
                <a:lnTo>
                  <a:pt x="1644" y="26178"/>
                </a:lnTo>
                <a:lnTo>
                  <a:pt x="12518" y="1132"/>
                </a:lnTo>
                <a:lnTo>
                  <a:pt x="13882"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7" name="Illustrative delivered road transport cost class None; reference terminal None"/>
          <p:cNvSpPr/>
          <p:nvPr/>
        </p:nvSpPr>
        <p:spPr>
          <a:xfrm>
            <a:off x="2968191" y="3461853"/>
            <a:ext cx="43805" cy="17349"/>
          </a:xfrm>
          <a:custGeom>
            <a:avLst/>
            <a:gdLst/>
            <a:ahLst/>
            <a:cxnLst/>
            <a:rect l="l" t="t" r="r" b="b"/>
            <a:pathLst>
              <a:path w="43805" h="17349">
                <a:moveTo>
                  <a:pt x="43805" y="17349"/>
                </a:moveTo>
                <a:lnTo>
                  <a:pt x="0" y="17349"/>
                </a:lnTo>
                <a:lnTo>
                  <a:pt x="8741" y="10096"/>
                </a:lnTo>
                <a:lnTo>
                  <a:pt x="27313" y="5420"/>
                </a:lnTo>
                <a:lnTo>
                  <a:pt x="43805" y="0"/>
                </a:lnTo>
                <a:lnTo>
                  <a:pt x="43805" y="17349"/>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8" name="Illustrative delivered road transport cost class 4; reference terminal Durban"/>
          <p:cNvSpPr/>
          <p:nvPr/>
        </p:nvSpPr>
        <p:spPr>
          <a:xfrm>
            <a:off x="3011996" y="5382859"/>
            <a:ext cx="57686" cy="57196"/>
          </a:xfrm>
          <a:custGeom>
            <a:avLst/>
            <a:gdLst/>
            <a:ahLst/>
            <a:cxnLst/>
            <a:rect l="l" t="t" r="r" b="b"/>
            <a:pathLst>
              <a:path w="57686" h="57196">
                <a:moveTo>
                  <a:pt x="0" y="0"/>
                </a:moveTo>
                <a:lnTo>
                  <a:pt x="57686" y="0"/>
                </a:lnTo>
                <a:lnTo>
                  <a:pt x="57686" y="16696"/>
                </a:lnTo>
                <a:lnTo>
                  <a:pt x="10084" y="56881"/>
                </a:lnTo>
                <a:lnTo>
                  <a:pt x="0" y="5719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9" name="Illustrative delivered road transport cost class 4; reference terminal Durban"/>
          <p:cNvSpPr/>
          <p:nvPr/>
        </p:nvSpPr>
        <p:spPr>
          <a:xfrm>
            <a:off x="3011996"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0" name="Illustrative delivered road transport cost class 4; reference terminal Lesedi"/>
          <p:cNvSpPr/>
          <p:nvPr/>
        </p:nvSpPr>
        <p:spPr>
          <a:xfrm>
            <a:off x="3011996"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1" name="Illustrative delivered road transport cost class 4; reference terminal Lesedi"/>
          <p:cNvSpPr/>
          <p:nvPr/>
        </p:nvSpPr>
        <p:spPr>
          <a:xfrm>
            <a:off x="3011996"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2" name="Illustrative delivered road transport cost class 4; reference terminal Lesedi"/>
          <p:cNvSpPr/>
          <p:nvPr/>
        </p:nvSpPr>
        <p:spPr>
          <a:xfrm>
            <a:off x="3011996"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3" name="Illustrative delivered road transport cost class 4; reference terminal Lesedi"/>
          <p:cNvSpPr/>
          <p:nvPr/>
        </p:nvSpPr>
        <p:spPr>
          <a:xfrm>
            <a:off x="3011996"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4" name="Illustrative delivered road transport cost class 3; reference terminal Lesedi"/>
          <p:cNvSpPr/>
          <p:nvPr/>
        </p:nvSpPr>
        <p:spPr>
          <a:xfrm>
            <a:off x="3011996"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5" name="Illustrative delivered road transport cost class 3; reference terminal Lesedi"/>
          <p:cNvSpPr/>
          <p:nvPr/>
        </p:nvSpPr>
        <p:spPr>
          <a:xfrm>
            <a:off x="3011996"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6" name="Illustrative delivered road transport cost class 3; reference terminal Lesedi"/>
          <p:cNvSpPr/>
          <p:nvPr/>
        </p:nvSpPr>
        <p:spPr>
          <a:xfrm>
            <a:off x="3011996"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7" name="Illustrative delivered road transport cost class 3; reference terminal Lesedi"/>
          <p:cNvSpPr/>
          <p:nvPr/>
        </p:nvSpPr>
        <p:spPr>
          <a:xfrm>
            <a:off x="3011996"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8" name="Illustrative delivered road transport cost class 3; reference terminal Lesedi"/>
          <p:cNvSpPr/>
          <p:nvPr/>
        </p:nvSpPr>
        <p:spPr>
          <a:xfrm>
            <a:off x="3011996"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9" name="Illustrative delivered road transport cost class 3; reference terminal Lesedi"/>
          <p:cNvSpPr/>
          <p:nvPr/>
        </p:nvSpPr>
        <p:spPr>
          <a:xfrm>
            <a:off x="3011996"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0" name="Illustrative delivered road transport cost class None; reference terminal None"/>
          <p:cNvSpPr/>
          <p:nvPr/>
        </p:nvSpPr>
        <p:spPr>
          <a:xfrm>
            <a:off x="3011996"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1" name="Illustrative delivered road transport cost class None; reference terminal None"/>
          <p:cNvSpPr/>
          <p:nvPr/>
        </p:nvSpPr>
        <p:spPr>
          <a:xfrm>
            <a:off x="3011996"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2" name="Illustrative delivered road transport cost class None; reference terminal None"/>
          <p:cNvSpPr/>
          <p:nvPr/>
        </p:nvSpPr>
        <p:spPr>
          <a:xfrm>
            <a:off x="3011996"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3" name="Illustrative delivered road transport cost class None; reference terminal None"/>
          <p:cNvSpPr/>
          <p:nvPr/>
        </p:nvSpPr>
        <p:spPr>
          <a:xfrm>
            <a:off x="3011996"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4" name="Illustrative delivered road transport cost class None; reference terminal None"/>
          <p:cNvSpPr/>
          <p:nvPr/>
        </p:nvSpPr>
        <p:spPr>
          <a:xfrm>
            <a:off x="3011996"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5" name="Illustrative delivered road transport cost class None; reference terminal None"/>
          <p:cNvSpPr/>
          <p:nvPr/>
        </p:nvSpPr>
        <p:spPr>
          <a:xfrm>
            <a:off x="3011996"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6" name="Illustrative delivered road transport cost class 3; reference terminal Lesedi"/>
          <p:cNvSpPr/>
          <p:nvPr/>
        </p:nvSpPr>
        <p:spPr>
          <a:xfrm>
            <a:off x="3011996"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7" name="Illustrative delivered road transport cost class 3; reference terminal Lesedi"/>
          <p:cNvSpPr/>
          <p:nvPr/>
        </p:nvSpPr>
        <p:spPr>
          <a:xfrm>
            <a:off x="3011996"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8" name="Illustrative delivered road transport cost class 3; reference terminal Lesedi"/>
          <p:cNvSpPr/>
          <p:nvPr/>
        </p:nvSpPr>
        <p:spPr>
          <a:xfrm>
            <a:off x="3011996"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9" name="Illustrative delivered road transport cost class 3; reference terminal Lesedi"/>
          <p:cNvSpPr/>
          <p:nvPr/>
        </p:nvSpPr>
        <p:spPr>
          <a:xfrm>
            <a:off x="3011996"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0" name="Illustrative delivered road transport cost class 3; reference terminal Lesedi"/>
          <p:cNvSpPr/>
          <p:nvPr/>
        </p:nvSpPr>
        <p:spPr>
          <a:xfrm>
            <a:off x="3011996"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1" name="Illustrative delivered road transport cost class 3; reference terminal Lesedi"/>
          <p:cNvSpPr/>
          <p:nvPr/>
        </p:nvSpPr>
        <p:spPr>
          <a:xfrm>
            <a:off x="3011996"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2" name="Illustrative delivered road transport cost class 3; reference terminal Lesedi"/>
          <p:cNvSpPr/>
          <p:nvPr/>
        </p:nvSpPr>
        <p:spPr>
          <a:xfrm>
            <a:off x="3011996"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3" name="Illustrative delivered road transport cost class 3; reference terminal Lesedi"/>
          <p:cNvSpPr/>
          <p:nvPr/>
        </p:nvSpPr>
        <p:spPr>
          <a:xfrm>
            <a:off x="3011996"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4" name="Illustrative delivered road transport cost class 3; reference terminal Lesedi"/>
          <p:cNvSpPr/>
          <p:nvPr/>
        </p:nvSpPr>
        <p:spPr>
          <a:xfrm>
            <a:off x="3011996"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5" name="Illustrative delivered road transport cost class 3; reference terminal Lesedi"/>
          <p:cNvSpPr/>
          <p:nvPr/>
        </p:nvSpPr>
        <p:spPr>
          <a:xfrm>
            <a:off x="3011996"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6" name="Illustrative delivered road transport cost class 3; reference terminal Lesedi"/>
          <p:cNvSpPr/>
          <p:nvPr/>
        </p:nvSpPr>
        <p:spPr>
          <a:xfrm>
            <a:off x="3011996"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7" name="Illustrative delivered road transport cost class 3; reference terminal Lesedi"/>
          <p:cNvSpPr/>
          <p:nvPr/>
        </p:nvSpPr>
        <p:spPr>
          <a:xfrm>
            <a:off x="3011996"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8" name="Illustrative delivered road transport cost class 3; reference terminal Lesedi"/>
          <p:cNvSpPr/>
          <p:nvPr/>
        </p:nvSpPr>
        <p:spPr>
          <a:xfrm>
            <a:off x="3011996"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9" name="Illustrative delivered road transport cost class 3; reference terminal Lesedi"/>
          <p:cNvSpPr/>
          <p:nvPr/>
        </p:nvSpPr>
        <p:spPr>
          <a:xfrm>
            <a:off x="3011996"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0" name="Illustrative delivered road transport cost class 3; reference terminal Lesedi"/>
          <p:cNvSpPr/>
          <p:nvPr/>
        </p:nvSpPr>
        <p:spPr>
          <a:xfrm>
            <a:off x="3011996"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1" name="Illustrative delivered road transport cost class None; reference terminal None"/>
          <p:cNvSpPr/>
          <p:nvPr/>
        </p:nvSpPr>
        <p:spPr>
          <a:xfrm>
            <a:off x="3011996"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2" name="Illustrative delivered road transport cost class None; reference terminal None"/>
          <p:cNvSpPr/>
          <p:nvPr/>
        </p:nvSpPr>
        <p:spPr>
          <a:xfrm>
            <a:off x="3011996" y="3421516"/>
            <a:ext cx="57686" cy="57686"/>
          </a:xfrm>
          <a:custGeom>
            <a:avLst/>
            <a:gdLst/>
            <a:ahLst/>
            <a:cxnLst/>
            <a:rect l="l" t="t" r="r" b="b"/>
            <a:pathLst>
              <a:path w="57686" h="57686">
                <a:moveTo>
                  <a:pt x="57686" y="0"/>
                </a:moveTo>
                <a:lnTo>
                  <a:pt x="57686" y="57686"/>
                </a:lnTo>
                <a:lnTo>
                  <a:pt x="0" y="57686"/>
                </a:lnTo>
                <a:lnTo>
                  <a:pt x="0" y="40337"/>
                </a:lnTo>
                <a:lnTo>
                  <a:pt x="5481" y="38536"/>
                </a:lnTo>
                <a:lnTo>
                  <a:pt x="23520" y="23860"/>
                </a:lnTo>
                <a:lnTo>
                  <a:pt x="37006" y="0"/>
                </a:lnTo>
                <a:lnTo>
                  <a:pt x="576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3" name="Illustrative delivered road transport cost class None; reference terminal None"/>
          <p:cNvSpPr/>
          <p:nvPr/>
        </p:nvSpPr>
        <p:spPr>
          <a:xfrm>
            <a:off x="3049002" y="3391017"/>
            <a:ext cx="20680" cy="30499"/>
          </a:xfrm>
          <a:custGeom>
            <a:avLst/>
            <a:gdLst/>
            <a:ahLst/>
            <a:cxnLst/>
            <a:rect l="l" t="t" r="r" b="b"/>
            <a:pathLst>
              <a:path w="20680" h="30499">
                <a:moveTo>
                  <a:pt x="20680" y="30499"/>
                </a:moveTo>
                <a:lnTo>
                  <a:pt x="0" y="30499"/>
                </a:lnTo>
                <a:lnTo>
                  <a:pt x="14539" y="4776"/>
                </a:lnTo>
                <a:lnTo>
                  <a:pt x="20680" y="0"/>
                </a:lnTo>
                <a:lnTo>
                  <a:pt x="20680" y="30499"/>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4" name="Illustrative delivered road transport cost class 4; reference terminal Durban"/>
          <p:cNvSpPr/>
          <p:nvPr/>
        </p:nvSpPr>
        <p:spPr>
          <a:xfrm>
            <a:off x="3069682" y="5382859"/>
            <a:ext cx="19778" cy="16696"/>
          </a:xfrm>
          <a:custGeom>
            <a:avLst/>
            <a:gdLst/>
            <a:ahLst/>
            <a:cxnLst/>
            <a:rect l="l" t="t" r="r" b="b"/>
            <a:pathLst>
              <a:path w="19778" h="16696">
                <a:moveTo>
                  <a:pt x="0" y="0"/>
                </a:moveTo>
                <a:lnTo>
                  <a:pt x="19778" y="0"/>
                </a:lnTo>
                <a:lnTo>
                  <a:pt x="0" y="1669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5" name="Illustrative delivered road transport cost class 4; reference terminal Durban"/>
          <p:cNvSpPr/>
          <p:nvPr/>
        </p:nvSpPr>
        <p:spPr>
          <a:xfrm>
            <a:off x="3069682" y="5325173"/>
            <a:ext cx="57687" cy="57686"/>
          </a:xfrm>
          <a:custGeom>
            <a:avLst/>
            <a:gdLst/>
            <a:ahLst/>
            <a:cxnLst/>
            <a:rect l="l" t="t" r="r" b="b"/>
            <a:pathLst>
              <a:path w="57687" h="57686">
                <a:moveTo>
                  <a:pt x="0" y="57686"/>
                </a:moveTo>
                <a:lnTo>
                  <a:pt x="0" y="0"/>
                </a:lnTo>
                <a:lnTo>
                  <a:pt x="57687" y="0"/>
                </a:lnTo>
                <a:lnTo>
                  <a:pt x="57687" y="33061"/>
                </a:lnTo>
                <a:lnTo>
                  <a:pt x="47320" y="34436"/>
                </a:lnTo>
                <a:lnTo>
                  <a:pt x="19778"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6" name="Illustrative delivered road transport cost class 4; reference terminal Durban"/>
          <p:cNvSpPr/>
          <p:nvPr/>
        </p:nvSpPr>
        <p:spPr>
          <a:xfrm>
            <a:off x="3069682"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7" name="Illustrative delivered road transport cost class 4; reference terminal Lesedi"/>
          <p:cNvSpPr/>
          <p:nvPr/>
        </p:nvSpPr>
        <p:spPr>
          <a:xfrm>
            <a:off x="3069682"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8" name="Illustrative delivered road transport cost class 4; reference terminal Lesedi"/>
          <p:cNvSpPr/>
          <p:nvPr/>
        </p:nvSpPr>
        <p:spPr>
          <a:xfrm>
            <a:off x="3069682"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9" name="Illustrative delivered road transport cost class 3; reference terminal Lesedi"/>
          <p:cNvSpPr/>
          <p:nvPr/>
        </p:nvSpPr>
        <p:spPr>
          <a:xfrm>
            <a:off x="3069682"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0" name="Illustrative delivered road transport cost class 3; reference terminal Lesedi"/>
          <p:cNvSpPr/>
          <p:nvPr/>
        </p:nvSpPr>
        <p:spPr>
          <a:xfrm>
            <a:off x="3069682"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1" name="Illustrative delivered road transport cost class 3; reference terminal Lesedi"/>
          <p:cNvSpPr/>
          <p:nvPr/>
        </p:nvSpPr>
        <p:spPr>
          <a:xfrm>
            <a:off x="3069682"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2" name="Illustrative delivered road transport cost class 3; reference terminal Lesedi"/>
          <p:cNvSpPr/>
          <p:nvPr/>
        </p:nvSpPr>
        <p:spPr>
          <a:xfrm>
            <a:off x="3069682"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3" name="Illustrative delivered road transport cost class 3; reference terminal Lesedi"/>
          <p:cNvSpPr/>
          <p:nvPr/>
        </p:nvSpPr>
        <p:spPr>
          <a:xfrm>
            <a:off x="3069682"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4" name="Illustrative delivered road transport cost class 3; reference terminal Lesedi"/>
          <p:cNvSpPr/>
          <p:nvPr/>
        </p:nvSpPr>
        <p:spPr>
          <a:xfrm>
            <a:off x="3069682"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5" name="Illustrative delivered road transport cost class 3; reference terminal Lesedi"/>
          <p:cNvSpPr/>
          <p:nvPr/>
        </p:nvSpPr>
        <p:spPr>
          <a:xfrm>
            <a:off x="3069682"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6" name="Illustrative delivered road transport cost class 3; reference terminal Lesedi"/>
          <p:cNvSpPr/>
          <p:nvPr/>
        </p:nvSpPr>
        <p:spPr>
          <a:xfrm>
            <a:off x="3069682"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7" name="Illustrative delivered road transport cost class None; reference terminal None"/>
          <p:cNvSpPr/>
          <p:nvPr/>
        </p:nvSpPr>
        <p:spPr>
          <a:xfrm>
            <a:off x="3069682"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8" name="Illustrative delivered road transport cost class None; reference terminal None"/>
          <p:cNvSpPr/>
          <p:nvPr/>
        </p:nvSpPr>
        <p:spPr>
          <a:xfrm>
            <a:off x="3069682"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9" name="Illustrative delivered road transport cost class None; reference terminal None"/>
          <p:cNvSpPr/>
          <p:nvPr/>
        </p:nvSpPr>
        <p:spPr>
          <a:xfrm>
            <a:off x="3069682"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0" name="Illustrative delivered road transport cost class None; reference terminal None"/>
          <p:cNvSpPr/>
          <p:nvPr/>
        </p:nvSpPr>
        <p:spPr>
          <a:xfrm>
            <a:off x="3069682"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1" name="Illustrative delivered road transport cost class 3; reference terminal Lesedi"/>
          <p:cNvSpPr/>
          <p:nvPr/>
        </p:nvSpPr>
        <p:spPr>
          <a:xfrm>
            <a:off x="3069682"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2" name="Illustrative delivered road transport cost class 3; reference terminal Lesedi"/>
          <p:cNvSpPr/>
          <p:nvPr/>
        </p:nvSpPr>
        <p:spPr>
          <a:xfrm>
            <a:off x="3069682"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3" name="Illustrative delivered road transport cost class 3; reference terminal Lesedi"/>
          <p:cNvSpPr/>
          <p:nvPr/>
        </p:nvSpPr>
        <p:spPr>
          <a:xfrm>
            <a:off x="3069682"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4" name="Illustrative delivered road transport cost class 3; reference terminal Lesedi"/>
          <p:cNvSpPr/>
          <p:nvPr/>
        </p:nvSpPr>
        <p:spPr>
          <a:xfrm>
            <a:off x="3069682"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5" name="Illustrative delivered road transport cost class 3; reference terminal Lesedi"/>
          <p:cNvSpPr/>
          <p:nvPr/>
        </p:nvSpPr>
        <p:spPr>
          <a:xfrm>
            <a:off x="3069682"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6" name="Illustrative delivered road transport cost class 3; reference terminal Lesedi"/>
          <p:cNvSpPr/>
          <p:nvPr/>
        </p:nvSpPr>
        <p:spPr>
          <a:xfrm>
            <a:off x="3069682"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7" name="Illustrative delivered road transport cost class 3; reference terminal Lesedi"/>
          <p:cNvSpPr/>
          <p:nvPr/>
        </p:nvSpPr>
        <p:spPr>
          <a:xfrm>
            <a:off x="3069682"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8" name="Illustrative delivered road transport cost class 3; reference terminal Lesedi"/>
          <p:cNvSpPr/>
          <p:nvPr/>
        </p:nvSpPr>
        <p:spPr>
          <a:xfrm>
            <a:off x="3069682"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9" name="Illustrative delivered road transport cost class 3; reference terminal Lesedi"/>
          <p:cNvSpPr/>
          <p:nvPr/>
        </p:nvSpPr>
        <p:spPr>
          <a:xfrm>
            <a:off x="3069682"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0" name="Illustrative delivered road transport cost class 3; reference terminal Lesedi"/>
          <p:cNvSpPr/>
          <p:nvPr/>
        </p:nvSpPr>
        <p:spPr>
          <a:xfrm>
            <a:off x="3069682"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1" name="Illustrative delivered road transport cost class 3; reference terminal Lesedi"/>
          <p:cNvSpPr/>
          <p:nvPr/>
        </p:nvSpPr>
        <p:spPr>
          <a:xfrm>
            <a:off x="3069682"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2" name="Illustrative delivered road transport cost class 3; reference terminal Lesedi"/>
          <p:cNvSpPr/>
          <p:nvPr/>
        </p:nvSpPr>
        <p:spPr>
          <a:xfrm>
            <a:off x="3069682"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3" name="Illustrative delivered road transport cost class 3; reference terminal Lesedi"/>
          <p:cNvSpPr/>
          <p:nvPr/>
        </p:nvSpPr>
        <p:spPr>
          <a:xfrm>
            <a:off x="3069682"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4" name="Illustrative delivered road transport cost class 3; reference terminal Lesedi"/>
          <p:cNvSpPr/>
          <p:nvPr/>
        </p:nvSpPr>
        <p:spPr>
          <a:xfrm>
            <a:off x="3069682"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5" name="Illustrative delivered road transport cost class 3; reference terminal Lesedi"/>
          <p:cNvSpPr/>
          <p:nvPr/>
        </p:nvSpPr>
        <p:spPr>
          <a:xfrm>
            <a:off x="3069682"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6" name="Illustrative delivered road transport cost class 3; reference terminal Lesedi"/>
          <p:cNvSpPr/>
          <p:nvPr/>
        </p:nvSpPr>
        <p:spPr>
          <a:xfrm>
            <a:off x="3069682"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7" name="Illustrative delivered road transport cost class None; reference terminal None"/>
          <p:cNvSpPr/>
          <p:nvPr/>
        </p:nvSpPr>
        <p:spPr>
          <a:xfrm>
            <a:off x="3069682"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8" name="Illustrative delivered road transport cost class None; reference terminal None"/>
          <p:cNvSpPr/>
          <p:nvPr/>
        </p:nvSpPr>
        <p:spPr>
          <a:xfrm>
            <a:off x="3069682"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9" name="Illustrative delivered road transport cost class None; reference terminal None"/>
          <p:cNvSpPr/>
          <p:nvPr/>
        </p:nvSpPr>
        <p:spPr>
          <a:xfrm>
            <a:off x="3069682" y="3363829"/>
            <a:ext cx="57687" cy="57687"/>
          </a:xfrm>
          <a:custGeom>
            <a:avLst/>
            <a:gdLst/>
            <a:ahLst/>
            <a:cxnLst/>
            <a:rect l="l" t="t" r="r" b="b"/>
            <a:pathLst>
              <a:path w="57687" h="57687">
                <a:moveTo>
                  <a:pt x="57687" y="0"/>
                </a:moveTo>
                <a:lnTo>
                  <a:pt x="57687" y="57687"/>
                </a:lnTo>
                <a:lnTo>
                  <a:pt x="0" y="57687"/>
                </a:lnTo>
                <a:lnTo>
                  <a:pt x="0" y="27188"/>
                </a:lnTo>
                <a:lnTo>
                  <a:pt x="34954"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0" name="Illustrative delivered road transport cost class None; reference terminal None"/>
          <p:cNvSpPr/>
          <p:nvPr/>
        </p:nvSpPr>
        <p:spPr>
          <a:xfrm>
            <a:off x="3104636" y="3347240"/>
            <a:ext cx="22733" cy="16589"/>
          </a:xfrm>
          <a:custGeom>
            <a:avLst/>
            <a:gdLst/>
            <a:ahLst/>
            <a:cxnLst/>
            <a:rect l="l" t="t" r="r" b="b"/>
            <a:pathLst>
              <a:path w="22733" h="16589">
                <a:moveTo>
                  <a:pt x="22733" y="16589"/>
                </a:moveTo>
                <a:lnTo>
                  <a:pt x="0" y="16589"/>
                </a:lnTo>
                <a:lnTo>
                  <a:pt x="16351" y="3871"/>
                </a:lnTo>
                <a:lnTo>
                  <a:pt x="22733" y="0"/>
                </a:lnTo>
                <a:lnTo>
                  <a:pt x="22733" y="16589"/>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1" name="Illustrative delivered road transport cost class 4; reference terminal Durban"/>
          <p:cNvSpPr/>
          <p:nvPr/>
        </p:nvSpPr>
        <p:spPr>
          <a:xfrm>
            <a:off x="3127369" y="5325173"/>
            <a:ext cx="57686" cy="33061"/>
          </a:xfrm>
          <a:custGeom>
            <a:avLst/>
            <a:gdLst/>
            <a:ahLst/>
            <a:cxnLst/>
            <a:rect l="l" t="t" r="r" b="b"/>
            <a:pathLst>
              <a:path w="57686" h="33061">
                <a:moveTo>
                  <a:pt x="0" y="0"/>
                </a:moveTo>
                <a:lnTo>
                  <a:pt x="57686" y="0"/>
                </a:lnTo>
                <a:lnTo>
                  <a:pt x="57686" y="17782"/>
                </a:lnTo>
                <a:lnTo>
                  <a:pt x="54992" y="17834"/>
                </a:lnTo>
                <a:lnTo>
                  <a:pt x="25544" y="29674"/>
                </a:lnTo>
                <a:lnTo>
                  <a:pt x="0" y="33061"/>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2" name="Illustrative delivered road transport cost class 4; reference terminal Durban"/>
          <p:cNvSpPr/>
          <p:nvPr/>
        </p:nvSpPr>
        <p:spPr>
          <a:xfrm>
            <a:off x="3127369"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3" name="Illustrative delivered road transport cost class 4; reference terminal Durban"/>
          <p:cNvSpPr/>
          <p:nvPr/>
        </p:nvSpPr>
        <p:spPr>
          <a:xfrm>
            <a:off x="3127369"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4" name="Illustrative delivered road transport cost class 4; reference terminal Lesedi"/>
          <p:cNvSpPr/>
          <p:nvPr/>
        </p:nvSpPr>
        <p:spPr>
          <a:xfrm>
            <a:off x="3127369"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5" name="Illustrative delivered road transport cost class 3; reference terminal Lesedi"/>
          <p:cNvSpPr/>
          <p:nvPr/>
        </p:nvSpPr>
        <p:spPr>
          <a:xfrm>
            <a:off x="3127369"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6" name="Illustrative delivered road transport cost class 3; reference terminal Lesedi"/>
          <p:cNvSpPr/>
          <p:nvPr/>
        </p:nvSpPr>
        <p:spPr>
          <a:xfrm>
            <a:off x="3127369"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7" name="Illustrative delivered road transport cost class 3; reference terminal Lesedi"/>
          <p:cNvSpPr/>
          <p:nvPr/>
        </p:nvSpPr>
        <p:spPr>
          <a:xfrm>
            <a:off x="3127369"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8" name="Illustrative delivered road transport cost class 3; reference terminal Lesedi"/>
          <p:cNvSpPr/>
          <p:nvPr/>
        </p:nvSpPr>
        <p:spPr>
          <a:xfrm>
            <a:off x="3127369"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9" name="Illustrative delivered road transport cost class 3; reference terminal Lesedi"/>
          <p:cNvSpPr/>
          <p:nvPr/>
        </p:nvSpPr>
        <p:spPr>
          <a:xfrm>
            <a:off x="3127369"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0" name="Illustrative delivered road transport cost class 3; reference terminal Lesedi"/>
          <p:cNvSpPr/>
          <p:nvPr/>
        </p:nvSpPr>
        <p:spPr>
          <a:xfrm>
            <a:off x="3127369"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1" name="Illustrative delivered road transport cost class 3; reference terminal Lesedi"/>
          <p:cNvSpPr/>
          <p:nvPr/>
        </p:nvSpPr>
        <p:spPr>
          <a:xfrm>
            <a:off x="3127369"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2" name="Illustrative delivered road transport cost class 3; reference terminal Lesedi"/>
          <p:cNvSpPr/>
          <p:nvPr/>
        </p:nvSpPr>
        <p:spPr>
          <a:xfrm>
            <a:off x="3127369"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3" name="Illustrative delivered road transport cost class 3; reference terminal Lesedi"/>
          <p:cNvSpPr/>
          <p:nvPr/>
        </p:nvSpPr>
        <p:spPr>
          <a:xfrm>
            <a:off x="3127369"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4" name="Illustrative delivered road transport cost class 3; reference terminal Lesedi"/>
          <p:cNvSpPr/>
          <p:nvPr/>
        </p:nvSpPr>
        <p:spPr>
          <a:xfrm>
            <a:off x="3127369"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5" name="Illustrative delivered road transport cost class None; reference terminal None"/>
          <p:cNvSpPr/>
          <p:nvPr/>
        </p:nvSpPr>
        <p:spPr>
          <a:xfrm>
            <a:off x="3127369"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6" name="Illustrative delivered road transport cost class None; reference terminal None"/>
          <p:cNvSpPr/>
          <p:nvPr/>
        </p:nvSpPr>
        <p:spPr>
          <a:xfrm>
            <a:off x="3127369"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7" name="Illustrative delivered road transport cost class 3; reference terminal Lesedi"/>
          <p:cNvSpPr/>
          <p:nvPr/>
        </p:nvSpPr>
        <p:spPr>
          <a:xfrm>
            <a:off x="3127369"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8" name="Illustrative delivered road transport cost class 3; reference terminal Lesedi"/>
          <p:cNvSpPr/>
          <p:nvPr/>
        </p:nvSpPr>
        <p:spPr>
          <a:xfrm>
            <a:off x="3127369"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9" name="Illustrative delivered road transport cost class 3; reference terminal Lesedi"/>
          <p:cNvSpPr/>
          <p:nvPr/>
        </p:nvSpPr>
        <p:spPr>
          <a:xfrm>
            <a:off x="3127369"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0" name="Illustrative delivered road transport cost class 3; reference terminal Lesedi"/>
          <p:cNvSpPr/>
          <p:nvPr/>
        </p:nvSpPr>
        <p:spPr>
          <a:xfrm>
            <a:off x="3127369"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1" name="Illustrative delivered road transport cost class 3; reference terminal Lesedi"/>
          <p:cNvSpPr/>
          <p:nvPr/>
        </p:nvSpPr>
        <p:spPr>
          <a:xfrm>
            <a:off x="3127369"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2" name="Illustrative delivered road transport cost class 3; reference terminal Lesedi"/>
          <p:cNvSpPr/>
          <p:nvPr/>
        </p:nvSpPr>
        <p:spPr>
          <a:xfrm>
            <a:off x="3127369"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3" name="Illustrative delivered road transport cost class 3; reference terminal Lesedi"/>
          <p:cNvSpPr/>
          <p:nvPr/>
        </p:nvSpPr>
        <p:spPr>
          <a:xfrm>
            <a:off x="3127369"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4" name="Illustrative delivered road transport cost class 3; reference terminal Lesedi"/>
          <p:cNvSpPr/>
          <p:nvPr/>
        </p:nvSpPr>
        <p:spPr>
          <a:xfrm>
            <a:off x="3127369"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5" name="Illustrative delivered road transport cost class 3; reference terminal Lesedi"/>
          <p:cNvSpPr/>
          <p:nvPr/>
        </p:nvSpPr>
        <p:spPr>
          <a:xfrm>
            <a:off x="3127369"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6" name="Illustrative delivered road transport cost class 3; reference terminal Lesedi"/>
          <p:cNvSpPr/>
          <p:nvPr/>
        </p:nvSpPr>
        <p:spPr>
          <a:xfrm>
            <a:off x="3127369"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7" name="Illustrative delivered road transport cost class 3; reference terminal Lesedi"/>
          <p:cNvSpPr/>
          <p:nvPr/>
        </p:nvSpPr>
        <p:spPr>
          <a:xfrm>
            <a:off x="3127369"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8" name="Illustrative delivered road transport cost class 3; reference terminal Lesedi"/>
          <p:cNvSpPr/>
          <p:nvPr/>
        </p:nvSpPr>
        <p:spPr>
          <a:xfrm>
            <a:off x="3127369"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9" name="Illustrative delivered road transport cost class 3; reference terminal Lesedi"/>
          <p:cNvSpPr/>
          <p:nvPr/>
        </p:nvSpPr>
        <p:spPr>
          <a:xfrm>
            <a:off x="3127369"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0" name="Illustrative delivered road transport cost class 3; reference terminal Lesedi"/>
          <p:cNvSpPr/>
          <p:nvPr/>
        </p:nvSpPr>
        <p:spPr>
          <a:xfrm>
            <a:off x="3127369"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1" name="Illustrative delivered road transport cost class 3; reference terminal Lesedi"/>
          <p:cNvSpPr/>
          <p:nvPr/>
        </p:nvSpPr>
        <p:spPr>
          <a:xfrm>
            <a:off x="3127369"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2" name="Illustrative delivered road transport cost class 3; reference terminal Lesedi"/>
          <p:cNvSpPr/>
          <p:nvPr/>
        </p:nvSpPr>
        <p:spPr>
          <a:xfrm>
            <a:off x="3127369"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3" name="Illustrative delivered road transport cost class 3; reference terminal Lesedi"/>
          <p:cNvSpPr/>
          <p:nvPr/>
        </p:nvSpPr>
        <p:spPr>
          <a:xfrm>
            <a:off x="3127369"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4" name="Illustrative delivered road transport cost class None; reference terminal None"/>
          <p:cNvSpPr/>
          <p:nvPr/>
        </p:nvSpPr>
        <p:spPr>
          <a:xfrm>
            <a:off x="3127369"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5" name="Illustrative delivered road transport cost class None; reference terminal None"/>
          <p:cNvSpPr/>
          <p:nvPr/>
        </p:nvSpPr>
        <p:spPr>
          <a:xfrm>
            <a:off x="3127369"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6" name="Illustrative delivered road transport cost class None; reference terminal None"/>
          <p:cNvSpPr/>
          <p:nvPr/>
        </p:nvSpPr>
        <p:spPr>
          <a:xfrm>
            <a:off x="3127369" y="3306143"/>
            <a:ext cx="57686" cy="57686"/>
          </a:xfrm>
          <a:custGeom>
            <a:avLst/>
            <a:gdLst/>
            <a:ahLst/>
            <a:cxnLst/>
            <a:rect l="l" t="t" r="r" b="b"/>
            <a:pathLst>
              <a:path w="57686" h="57686">
                <a:moveTo>
                  <a:pt x="57686" y="0"/>
                </a:moveTo>
                <a:lnTo>
                  <a:pt x="57686" y="57686"/>
                </a:lnTo>
                <a:lnTo>
                  <a:pt x="0" y="57686"/>
                </a:lnTo>
                <a:lnTo>
                  <a:pt x="0" y="41097"/>
                </a:lnTo>
                <a:lnTo>
                  <a:pt x="11340" y="34218"/>
                </a:lnTo>
                <a:lnTo>
                  <a:pt x="22425" y="22311"/>
                </a:lnTo>
                <a:lnTo>
                  <a:pt x="31958" y="6395"/>
                </a:lnTo>
                <a:lnTo>
                  <a:pt x="34226" y="0"/>
                </a:lnTo>
                <a:lnTo>
                  <a:pt x="576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7" name="Illustrative delivered road transport cost class None; reference terminal None"/>
          <p:cNvSpPr/>
          <p:nvPr/>
        </p:nvSpPr>
        <p:spPr>
          <a:xfrm>
            <a:off x="3161595" y="3248456"/>
            <a:ext cx="23460" cy="57687"/>
          </a:xfrm>
          <a:custGeom>
            <a:avLst/>
            <a:gdLst/>
            <a:ahLst/>
            <a:cxnLst/>
            <a:rect l="l" t="t" r="r" b="b"/>
            <a:pathLst>
              <a:path w="23460" h="57687">
                <a:moveTo>
                  <a:pt x="23460" y="0"/>
                </a:moveTo>
                <a:lnTo>
                  <a:pt x="23460" y="57687"/>
                </a:lnTo>
                <a:lnTo>
                  <a:pt x="0" y="57687"/>
                </a:lnTo>
                <a:lnTo>
                  <a:pt x="17253" y="9036"/>
                </a:lnTo>
                <a:lnTo>
                  <a:pt x="20158" y="0"/>
                </a:lnTo>
                <a:lnTo>
                  <a:pt x="23460"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8" name="Illustrative delivered road transport cost class None; reference terminal None"/>
          <p:cNvSpPr/>
          <p:nvPr/>
        </p:nvSpPr>
        <p:spPr>
          <a:xfrm>
            <a:off x="3181753" y="3238184"/>
            <a:ext cx="3302" cy="10272"/>
          </a:xfrm>
          <a:custGeom>
            <a:avLst/>
            <a:gdLst/>
            <a:ahLst/>
            <a:cxnLst/>
            <a:rect l="l" t="t" r="r" b="b"/>
            <a:pathLst>
              <a:path w="3302" h="10272">
                <a:moveTo>
                  <a:pt x="3302" y="10272"/>
                </a:moveTo>
                <a:lnTo>
                  <a:pt x="0" y="10272"/>
                </a:lnTo>
                <a:lnTo>
                  <a:pt x="3302" y="0"/>
                </a:lnTo>
                <a:lnTo>
                  <a:pt x="3302" y="1027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9" name="Illustrative delivered road transport cost class 3; reference terminal Durban"/>
          <p:cNvSpPr/>
          <p:nvPr/>
        </p:nvSpPr>
        <p:spPr>
          <a:xfrm>
            <a:off x="3185055" y="5325173"/>
            <a:ext cx="57687" cy="23847"/>
          </a:xfrm>
          <a:custGeom>
            <a:avLst/>
            <a:gdLst/>
            <a:ahLst/>
            <a:cxnLst/>
            <a:rect l="l" t="t" r="r" b="b"/>
            <a:pathLst>
              <a:path w="57687" h="23847">
                <a:moveTo>
                  <a:pt x="0" y="0"/>
                </a:moveTo>
                <a:lnTo>
                  <a:pt x="57687" y="0"/>
                </a:lnTo>
                <a:lnTo>
                  <a:pt x="57687" y="23847"/>
                </a:lnTo>
                <a:lnTo>
                  <a:pt x="36069" y="17085"/>
                </a:lnTo>
                <a:lnTo>
                  <a:pt x="0" y="17782"/>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0" name="Illustrative delivered road transport cost class 3; reference terminal Durban"/>
          <p:cNvSpPr/>
          <p:nvPr/>
        </p:nvSpPr>
        <p:spPr>
          <a:xfrm>
            <a:off x="3185055"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1" name="Illustrative delivered road transport cost class 3; reference terminal Durban"/>
          <p:cNvSpPr/>
          <p:nvPr/>
        </p:nvSpPr>
        <p:spPr>
          <a:xfrm>
            <a:off x="3185055"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2" name="Illustrative delivered road transport cost class 4; reference terminal Durban"/>
          <p:cNvSpPr/>
          <p:nvPr/>
        </p:nvSpPr>
        <p:spPr>
          <a:xfrm>
            <a:off x="3185055"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3" name="Illustrative delivered road transport cost class 3; reference terminal Lesedi"/>
          <p:cNvSpPr/>
          <p:nvPr/>
        </p:nvSpPr>
        <p:spPr>
          <a:xfrm>
            <a:off x="3185055"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4" name="Illustrative delivered road transport cost class 3; reference terminal Lesedi"/>
          <p:cNvSpPr/>
          <p:nvPr/>
        </p:nvSpPr>
        <p:spPr>
          <a:xfrm>
            <a:off x="3185055"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5" name="Illustrative delivered road transport cost class 3; reference terminal Lesedi"/>
          <p:cNvSpPr/>
          <p:nvPr/>
        </p:nvSpPr>
        <p:spPr>
          <a:xfrm>
            <a:off x="3185055"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6" name="Illustrative delivered road transport cost class 3; reference terminal Lesedi"/>
          <p:cNvSpPr/>
          <p:nvPr/>
        </p:nvSpPr>
        <p:spPr>
          <a:xfrm>
            <a:off x="3185055"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7" name="Illustrative delivered road transport cost class 3; reference terminal Lesedi"/>
          <p:cNvSpPr/>
          <p:nvPr/>
        </p:nvSpPr>
        <p:spPr>
          <a:xfrm>
            <a:off x="3185055"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8" name="Illustrative delivered road transport cost class 3; reference terminal Lesedi"/>
          <p:cNvSpPr/>
          <p:nvPr/>
        </p:nvSpPr>
        <p:spPr>
          <a:xfrm>
            <a:off x="3185055"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9" name="Illustrative delivered road transport cost class 3; reference terminal Lesedi"/>
          <p:cNvSpPr/>
          <p:nvPr/>
        </p:nvSpPr>
        <p:spPr>
          <a:xfrm>
            <a:off x="3185055"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0" name="Illustrative delivered road transport cost class 3; reference terminal Lesedi"/>
          <p:cNvSpPr/>
          <p:nvPr/>
        </p:nvSpPr>
        <p:spPr>
          <a:xfrm>
            <a:off x="3185055"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1" name="Illustrative delivered road transport cost class 3; reference terminal Lesedi"/>
          <p:cNvSpPr/>
          <p:nvPr/>
        </p:nvSpPr>
        <p:spPr>
          <a:xfrm>
            <a:off x="3185055"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2" name="Illustrative delivered road transport cost class 3; reference terminal Lesedi"/>
          <p:cNvSpPr/>
          <p:nvPr/>
        </p:nvSpPr>
        <p:spPr>
          <a:xfrm>
            <a:off x="3185055"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3" name="Illustrative delivered road transport cost class 3; reference terminal Lesedi"/>
          <p:cNvSpPr/>
          <p:nvPr/>
        </p:nvSpPr>
        <p:spPr>
          <a:xfrm>
            <a:off x="3185055"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4" name="Illustrative delivered road transport cost class 3; reference terminal Lesedi"/>
          <p:cNvSpPr/>
          <p:nvPr/>
        </p:nvSpPr>
        <p:spPr>
          <a:xfrm>
            <a:off x="3185055"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5" name="Illustrative delivered road transport cost class 3; reference terminal Lesedi"/>
          <p:cNvSpPr/>
          <p:nvPr/>
        </p:nvSpPr>
        <p:spPr>
          <a:xfrm>
            <a:off x="3185055"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6" name="Illustrative delivered road transport cost class 3; reference terminal Lesedi"/>
          <p:cNvSpPr/>
          <p:nvPr/>
        </p:nvSpPr>
        <p:spPr>
          <a:xfrm>
            <a:off x="3185055"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7" name="Illustrative delivered road transport cost class 3; reference terminal Lesedi"/>
          <p:cNvSpPr/>
          <p:nvPr/>
        </p:nvSpPr>
        <p:spPr>
          <a:xfrm>
            <a:off x="3185055"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8" name="Illustrative delivered road transport cost class 2; reference terminal Lesedi"/>
          <p:cNvSpPr/>
          <p:nvPr/>
        </p:nvSpPr>
        <p:spPr>
          <a:xfrm>
            <a:off x="3185055"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9" name="Illustrative delivered road transport cost class 2; reference terminal Lesedi"/>
          <p:cNvSpPr/>
          <p:nvPr/>
        </p:nvSpPr>
        <p:spPr>
          <a:xfrm>
            <a:off x="3185055"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0" name="Illustrative delivered road transport cost class 3; reference terminal Lesedi"/>
          <p:cNvSpPr/>
          <p:nvPr/>
        </p:nvSpPr>
        <p:spPr>
          <a:xfrm>
            <a:off x="3185055"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1" name="Illustrative delivered road transport cost class 3; reference terminal Lesedi"/>
          <p:cNvSpPr/>
          <p:nvPr/>
        </p:nvSpPr>
        <p:spPr>
          <a:xfrm>
            <a:off x="3185055"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2" name="Illustrative delivered road transport cost class 3; reference terminal Lesedi"/>
          <p:cNvSpPr/>
          <p:nvPr/>
        </p:nvSpPr>
        <p:spPr>
          <a:xfrm>
            <a:off x="3185055"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3" name="Illustrative delivered road transport cost class None; reference terminal None"/>
          <p:cNvSpPr/>
          <p:nvPr/>
        </p:nvSpPr>
        <p:spPr>
          <a:xfrm>
            <a:off x="3185055"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4" name="Illustrative delivered road transport cost class 3; reference terminal Lesedi"/>
          <p:cNvSpPr/>
          <p:nvPr/>
        </p:nvSpPr>
        <p:spPr>
          <a:xfrm>
            <a:off x="3185055"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5" name="Illustrative delivered road transport cost class 3; reference terminal Lesedi"/>
          <p:cNvSpPr/>
          <p:nvPr/>
        </p:nvSpPr>
        <p:spPr>
          <a:xfrm>
            <a:off x="3185055"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6" name="Illustrative delivered road transport cost class 3; reference terminal Lesedi"/>
          <p:cNvSpPr/>
          <p:nvPr/>
        </p:nvSpPr>
        <p:spPr>
          <a:xfrm>
            <a:off x="3185055"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7" name="Illustrative delivered road transport cost class 3; reference terminal Lesedi"/>
          <p:cNvSpPr/>
          <p:nvPr/>
        </p:nvSpPr>
        <p:spPr>
          <a:xfrm>
            <a:off x="3185055"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8" name="Illustrative delivered road transport cost class 3; reference terminal Lesedi"/>
          <p:cNvSpPr/>
          <p:nvPr/>
        </p:nvSpPr>
        <p:spPr>
          <a:xfrm>
            <a:off x="3185055"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9" name="Illustrative delivered road transport cost class 3; reference terminal Lesedi"/>
          <p:cNvSpPr/>
          <p:nvPr/>
        </p:nvSpPr>
        <p:spPr>
          <a:xfrm>
            <a:off x="3185055"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0" name="Illustrative delivered road transport cost class 3; reference terminal Lesedi"/>
          <p:cNvSpPr/>
          <p:nvPr/>
        </p:nvSpPr>
        <p:spPr>
          <a:xfrm>
            <a:off x="3185055"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1" name="Illustrative delivered road transport cost class 3; reference terminal Lesedi"/>
          <p:cNvSpPr/>
          <p:nvPr/>
        </p:nvSpPr>
        <p:spPr>
          <a:xfrm>
            <a:off x="3185055"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2" name="Illustrative delivered road transport cost class None; reference terminal None"/>
          <p:cNvSpPr/>
          <p:nvPr/>
        </p:nvSpPr>
        <p:spPr>
          <a:xfrm>
            <a:off x="3185055"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3" name="Illustrative delivered road transport cost class None; reference terminal None"/>
          <p:cNvSpPr/>
          <p:nvPr/>
        </p:nvSpPr>
        <p:spPr>
          <a:xfrm>
            <a:off x="3185055"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4" name="Illustrative delivered road transport cost class None; reference terminal None"/>
          <p:cNvSpPr/>
          <p:nvPr/>
        </p:nvSpPr>
        <p:spPr>
          <a:xfrm>
            <a:off x="3185055"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5" name="Illustrative delivered road transport cost class None; reference terminal None"/>
          <p:cNvSpPr/>
          <p:nvPr/>
        </p:nvSpPr>
        <p:spPr>
          <a:xfrm>
            <a:off x="3185055"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6" name="Illustrative delivered road transport cost class None; reference terminal None"/>
          <p:cNvSpPr/>
          <p:nvPr/>
        </p:nvSpPr>
        <p:spPr>
          <a:xfrm>
            <a:off x="3185055" y="3190770"/>
            <a:ext cx="57687" cy="57686"/>
          </a:xfrm>
          <a:custGeom>
            <a:avLst/>
            <a:gdLst/>
            <a:ahLst/>
            <a:cxnLst/>
            <a:rect l="l" t="t" r="r" b="b"/>
            <a:pathLst>
              <a:path w="57687" h="57686">
                <a:moveTo>
                  <a:pt x="57687" y="0"/>
                </a:moveTo>
                <a:lnTo>
                  <a:pt x="57687" y="57686"/>
                </a:lnTo>
                <a:lnTo>
                  <a:pt x="0" y="57686"/>
                </a:lnTo>
                <a:lnTo>
                  <a:pt x="0" y="47414"/>
                </a:lnTo>
                <a:lnTo>
                  <a:pt x="8527" y="20894"/>
                </a:lnTo>
                <a:lnTo>
                  <a:pt x="13306"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7" name="Illustrative delivered road transport cost class None; reference terminal None"/>
          <p:cNvSpPr/>
          <p:nvPr/>
        </p:nvSpPr>
        <p:spPr>
          <a:xfrm>
            <a:off x="3198361" y="3133083"/>
            <a:ext cx="44381" cy="57687"/>
          </a:xfrm>
          <a:custGeom>
            <a:avLst/>
            <a:gdLst/>
            <a:ahLst/>
            <a:cxnLst/>
            <a:rect l="l" t="t" r="r" b="b"/>
            <a:pathLst>
              <a:path w="44381" h="57687">
                <a:moveTo>
                  <a:pt x="44381" y="0"/>
                </a:moveTo>
                <a:lnTo>
                  <a:pt x="44381" y="57687"/>
                </a:lnTo>
                <a:lnTo>
                  <a:pt x="0" y="57687"/>
                </a:lnTo>
                <a:lnTo>
                  <a:pt x="151" y="57025"/>
                </a:lnTo>
                <a:lnTo>
                  <a:pt x="13453" y="21722"/>
                </a:lnTo>
                <a:lnTo>
                  <a:pt x="29229" y="0"/>
                </a:lnTo>
                <a:lnTo>
                  <a:pt x="44381"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8" name="Illustrative delivered road transport cost class None; reference terminal None"/>
          <p:cNvSpPr/>
          <p:nvPr/>
        </p:nvSpPr>
        <p:spPr>
          <a:xfrm>
            <a:off x="3227590" y="3121400"/>
            <a:ext cx="15152" cy="11683"/>
          </a:xfrm>
          <a:custGeom>
            <a:avLst/>
            <a:gdLst/>
            <a:ahLst/>
            <a:cxnLst/>
            <a:rect l="l" t="t" r="r" b="b"/>
            <a:pathLst>
              <a:path w="15152" h="11683">
                <a:moveTo>
                  <a:pt x="15152" y="11683"/>
                </a:moveTo>
                <a:lnTo>
                  <a:pt x="0" y="11683"/>
                </a:lnTo>
                <a:lnTo>
                  <a:pt x="688" y="10736"/>
                </a:lnTo>
                <a:lnTo>
                  <a:pt x="15152" y="0"/>
                </a:lnTo>
                <a:lnTo>
                  <a:pt x="15152" y="11683"/>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9" name="Illustrative delivered road transport cost class 3; reference terminal Durban"/>
          <p:cNvSpPr/>
          <p:nvPr/>
        </p:nvSpPr>
        <p:spPr>
          <a:xfrm>
            <a:off x="3242742" y="5325173"/>
            <a:ext cx="57687" cy="31626"/>
          </a:xfrm>
          <a:custGeom>
            <a:avLst/>
            <a:gdLst/>
            <a:ahLst/>
            <a:cxnLst/>
            <a:rect l="l" t="t" r="r" b="b"/>
            <a:pathLst>
              <a:path w="57687" h="31626">
                <a:moveTo>
                  <a:pt x="0" y="0"/>
                </a:moveTo>
                <a:lnTo>
                  <a:pt x="57687" y="0"/>
                </a:lnTo>
                <a:lnTo>
                  <a:pt x="57687" y="31626"/>
                </a:lnTo>
                <a:lnTo>
                  <a:pt x="19183" y="29847"/>
                </a:lnTo>
                <a:lnTo>
                  <a:pt x="0" y="23847"/>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0" name="Illustrative delivered road transport cost class 3; reference terminal Durban"/>
          <p:cNvSpPr/>
          <p:nvPr/>
        </p:nvSpPr>
        <p:spPr>
          <a:xfrm>
            <a:off x="3242742"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1" name="Illustrative delivered road transport cost class 3; reference terminal Durban"/>
          <p:cNvSpPr/>
          <p:nvPr/>
        </p:nvSpPr>
        <p:spPr>
          <a:xfrm>
            <a:off x="3242742"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2" name="Illustrative delivered road transport cost class 4; reference terminal Durban"/>
          <p:cNvSpPr/>
          <p:nvPr/>
        </p:nvSpPr>
        <p:spPr>
          <a:xfrm>
            <a:off x="3242742"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3" name="Illustrative delivered road transport cost class 3; reference terminal Lesedi"/>
          <p:cNvSpPr/>
          <p:nvPr/>
        </p:nvSpPr>
        <p:spPr>
          <a:xfrm>
            <a:off x="3242742"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4" name="Illustrative delivered road transport cost class 3; reference terminal Lesedi"/>
          <p:cNvSpPr/>
          <p:nvPr/>
        </p:nvSpPr>
        <p:spPr>
          <a:xfrm>
            <a:off x="3242742"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5" name="Illustrative delivered road transport cost class 3; reference terminal Lesedi"/>
          <p:cNvSpPr/>
          <p:nvPr/>
        </p:nvSpPr>
        <p:spPr>
          <a:xfrm>
            <a:off x="3242742"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6" name="Illustrative delivered road transport cost class 3; reference terminal Lesedi"/>
          <p:cNvSpPr/>
          <p:nvPr/>
        </p:nvSpPr>
        <p:spPr>
          <a:xfrm>
            <a:off x="3242742"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7" name="Illustrative delivered road transport cost class 3; reference terminal Lesedi"/>
          <p:cNvSpPr/>
          <p:nvPr/>
        </p:nvSpPr>
        <p:spPr>
          <a:xfrm>
            <a:off x="3242742"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8" name="Illustrative delivered road transport cost class 3; reference terminal Lesedi"/>
          <p:cNvSpPr/>
          <p:nvPr/>
        </p:nvSpPr>
        <p:spPr>
          <a:xfrm>
            <a:off x="3242742"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9" name="Illustrative delivered road transport cost class 3; reference terminal Lesedi"/>
          <p:cNvSpPr/>
          <p:nvPr/>
        </p:nvSpPr>
        <p:spPr>
          <a:xfrm>
            <a:off x="3242742"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0" name="Illustrative delivered road transport cost class 3; reference terminal Lesedi"/>
          <p:cNvSpPr/>
          <p:nvPr/>
        </p:nvSpPr>
        <p:spPr>
          <a:xfrm>
            <a:off x="3242742"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1" name="Illustrative delivered road transport cost class 3; reference terminal Lesedi"/>
          <p:cNvSpPr/>
          <p:nvPr/>
        </p:nvSpPr>
        <p:spPr>
          <a:xfrm>
            <a:off x="3242742"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2" name="Illustrative delivered road transport cost class 3; reference terminal Lesedi"/>
          <p:cNvSpPr/>
          <p:nvPr/>
        </p:nvSpPr>
        <p:spPr>
          <a:xfrm>
            <a:off x="3242742"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3" name="Illustrative delivered road transport cost class 3; reference terminal Lesedi"/>
          <p:cNvSpPr/>
          <p:nvPr/>
        </p:nvSpPr>
        <p:spPr>
          <a:xfrm>
            <a:off x="3242742"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4" name="Illustrative delivered road transport cost class 3; reference terminal Lesedi"/>
          <p:cNvSpPr/>
          <p:nvPr/>
        </p:nvSpPr>
        <p:spPr>
          <a:xfrm>
            <a:off x="3242742"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5" name="Illustrative delivered road transport cost class 3; reference terminal Lesedi"/>
          <p:cNvSpPr/>
          <p:nvPr/>
        </p:nvSpPr>
        <p:spPr>
          <a:xfrm>
            <a:off x="3242742"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6" name="Illustrative delivered road transport cost class 2; reference terminal Lesedi"/>
          <p:cNvSpPr/>
          <p:nvPr/>
        </p:nvSpPr>
        <p:spPr>
          <a:xfrm>
            <a:off x="3242742"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7" name="Illustrative delivered road transport cost class 2; reference terminal Lesedi"/>
          <p:cNvSpPr/>
          <p:nvPr/>
        </p:nvSpPr>
        <p:spPr>
          <a:xfrm>
            <a:off x="3242742"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8" name="Illustrative delivered road transport cost class 2; reference terminal Lesedi"/>
          <p:cNvSpPr/>
          <p:nvPr/>
        </p:nvSpPr>
        <p:spPr>
          <a:xfrm>
            <a:off x="3242742"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9" name="Illustrative delivered road transport cost class 2; reference terminal Lesedi"/>
          <p:cNvSpPr/>
          <p:nvPr/>
        </p:nvSpPr>
        <p:spPr>
          <a:xfrm>
            <a:off x="3242742"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0" name="Illustrative delivered road transport cost class 3; reference terminal Lesedi"/>
          <p:cNvSpPr/>
          <p:nvPr/>
        </p:nvSpPr>
        <p:spPr>
          <a:xfrm>
            <a:off x="3242742"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1" name="Illustrative delivered road transport cost class 3; reference terminal Lesedi"/>
          <p:cNvSpPr/>
          <p:nvPr/>
        </p:nvSpPr>
        <p:spPr>
          <a:xfrm>
            <a:off x="3242742"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2" name="Illustrative delivered road transport cost class 3; reference terminal Lesedi"/>
          <p:cNvSpPr/>
          <p:nvPr/>
        </p:nvSpPr>
        <p:spPr>
          <a:xfrm>
            <a:off x="3242742"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3" name="Illustrative delivered road transport cost class None; reference terminal None"/>
          <p:cNvSpPr/>
          <p:nvPr/>
        </p:nvSpPr>
        <p:spPr>
          <a:xfrm>
            <a:off x="3242742"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4" name="Illustrative delivered road transport cost class 3; reference terminal Lesedi"/>
          <p:cNvSpPr/>
          <p:nvPr/>
        </p:nvSpPr>
        <p:spPr>
          <a:xfrm>
            <a:off x="3242742"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5" name="Illustrative delivered road transport cost class 3; reference terminal Lesedi"/>
          <p:cNvSpPr/>
          <p:nvPr/>
        </p:nvSpPr>
        <p:spPr>
          <a:xfrm>
            <a:off x="3242742"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6" name="Illustrative delivered road transport cost class 3; reference terminal Lesedi"/>
          <p:cNvSpPr/>
          <p:nvPr/>
        </p:nvSpPr>
        <p:spPr>
          <a:xfrm>
            <a:off x="3242742"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7" name="Illustrative delivered road transport cost class 3; reference terminal Lesedi"/>
          <p:cNvSpPr/>
          <p:nvPr/>
        </p:nvSpPr>
        <p:spPr>
          <a:xfrm>
            <a:off x="3242742"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8" name="Illustrative delivered road transport cost class 3; reference terminal Lesedi"/>
          <p:cNvSpPr/>
          <p:nvPr/>
        </p:nvSpPr>
        <p:spPr>
          <a:xfrm>
            <a:off x="3242742"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9" name="Illustrative delivered road transport cost class 3; reference terminal Lesedi"/>
          <p:cNvSpPr/>
          <p:nvPr/>
        </p:nvSpPr>
        <p:spPr>
          <a:xfrm>
            <a:off x="3242742"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0" name="Illustrative delivered road transport cost class 3; reference terminal Lesedi"/>
          <p:cNvSpPr/>
          <p:nvPr/>
        </p:nvSpPr>
        <p:spPr>
          <a:xfrm>
            <a:off x="3242742"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1" name="Illustrative delivered road transport cost class 3; reference terminal Lesedi"/>
          <p:cNvSpPr/>
          <p:nvPr/>
        </p:nvSpPr>
        <p:spPr>
          <a:xfrm>
            <a:off x="3242742"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2" name="Illustrative delivered road transport cost class 3; reference terminal Lesedi"/>
          <p:cNvSpPr/>
          <p:nvPr/>
        </p:nvSpPr>
        <p:spPr>
          <a:xfrm>
            <a:off x="3242742"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3" name="Illustrative delivered road transport cost class None; reference terminal None"/>
          <p:cNvSpPr/>
          <p:nvPr/>
        </p:nvSpPr>
        <p:spPr>
          <a:xfrm>
            <a:off x="3242742"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4" name="Illustrative delivered road transport cost class None; reference terminal None"/>
          <p:cNvSpPr/>
          <p:nvPr/>
        </p:nvSpPr>
        <p:spPr>
          <a:xfrm>
            <a:off x="3242742"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5" name="Illustrative delivered road transport cost class None; reference terminal None"/>
          <p:cNvSpPr/>
          <p:nvPr/>
        </p:nvSpPr>
        <p:spPr>
          <a:xfrm>
            <a:off x="3242742"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6" name="Illustrative delivered road transport cost class None; reference terminal None"/>
          <p:cNvSpPr/>
          <p:nvPr/>
        </p:nvSpPr>
        <p:spPr>
          <a:xfrm>
            <a:off x="3242742"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7" name="Illustrative delivered road transport cost class None; reference terminal None"/>
          <p:cNvSpPr/>
          <p:nvPr/>
        </p:nvSpPr>
        <p:spPr>
          <a:xfrm>
            <a:off x="3242742"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8" name="Illustrative delivered road transport cost class None; reference terminal None"/>
          <p:cNvSpPr/>
          <p:nvPr/>
        </p:nvSpPr>
        <p:spPr>
          <a:xfrm>
            <a:off x="3242742" y="3104642"/>
            <a:ext cx="57687" cy="28441"/>
          </a:xfrm>
          <a:custGeom>
            <a:avLst/>
            <a:gdLst/>
            <a:ahLst/>
            <a:cxnLst/>
            <a:rect l="l" t="t" r="r" b="b"/>
            <a:pathLst>
              <a:path w="57687" h="28441">
                <a:moveTo>
                  <a:pt x="57687" y="28441"/>
                </a:moveTo>
                <a:lnTo>
                  <a:pt x="0" y="28441"/>
                </a:lnTo>
                <a:lnTo>
                  <a:pt x="0" y="16758"/>
                </a:lnTo>
                <a:lnTo>
                  <a:pt x="1801" y="15421"/>
                </a:lnTo>
                <a:lnTo>
                  <a:pt x="9993" y="12270"/>
                </a:lnTo>
                <a:lnTo>
                  <a:pt x="31104" y="5903"/>
                </a:lnTo>
                <a:lnTo>
                  <a:pt x="57687" y="0"/>
                </a:lnTo>
                <a:lnTo>
                  <a:pt x="57687" y="28441"/>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9" name="Illustrative delivered road transport cost class 3; reference terminal Durban"/>
          <p:cNvSpPr/>
          <p:nvPr/>
        </p:nvSpPr>
        <p:spPr>
          <a:xfrm>
            <a:off x="3300429" y="5325173"/>
            <a:ext cx="57686" cy="33224"/>
          </a:xfrm>
          <a:custGeom>
            <a:avLst/>
            <a:gdLst/>
            <a:ahLst/>
            <a:cxnLst/>
            <a:rect l="l" t="t" r="r" b="b"/>
            <a:pathLst>
              <a:path w="57686" h="33224">
                <a:moveTo>
                  <a:pt x="0" y="0"/>
                </a:moveTo>
                <a:lnTo>
                  <a:pt x="57686" y="0"/>
                </a:lnTo>
                <a:lnTo>
                  <a:pt x="57686" y="27360"/>
                </a:lnTo>
                <a:lnTo>
                  <a:pt x="52084" y="29844"/>
                </a:lnTo>
                <a:lnTo>
                  <a:pt x="34605" y="33224"/>
                </a:lnTo>
                <a:lnTo>
                  <a:pt x="0" y="31626"/>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0" name="Illustrative delivered road transport cost class 3; reference terminal Durban"/>
          <p:cNvSpPr/>
          <p:nvPr/>
        </p:nvSpPr>
        <p:spPr>
          <a:xfrm>
            <a:off x="3300429"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1" name="Illustrative delivered road transport cost class 3; reference terminal Durban"/>
          <p:cNvSpPr/>
          <p:nvPr/>
        </p:nvSpPr>
        <p:spPr>
          <a:xfrm>
            <a:off x="3300429"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2" name="Illustrative delivered road transport cost class 3; reference terminal Durban"/>
          <p:cNvSpPr/>
          <p:nvPr/>
        </p:nvSpPr>
        <p:spPr>
          <a:xfrm>
            <a:off x="3300429"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3" name="Illustrative delivered road transport cost class 4; reference terminal Durban"/>
          <p:cNvSpPr/>
          <p:nvPr/>
        </p:nvSpPr>
        <p:spPr>
          <a:xfrm>
            <a:off x="3300429"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4" name="Illustrative delivered road transport cost class 3; reference terminal Lesedi"/>
          <p:cNvSpPr/>
          <p:nvPr/>
        </p:nvSpPr>
        <p:spPr>
          <a:xfrm>
            <a:off x="3300429"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5" name="Illustrative delivered road transport cost class 3; reference terminal Lesedi"/>
          <p:cNvSpPr/>
          <p:nvPr/>
        </p:nvSpPr>
        <p:spPr>
          <a:xfrm>
            <a:off x="3300429"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6" name="Illustrative delivered road transport cost class 3; reference terminal Lesedi"/>
          <p:cNvSpPr/>
          <p:nvPr/>
        </p:nvSpPr>
        <p:spPr>
          <a:xfrm>
            <a:off x="3300429"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7" name="Illustrative delivered road transport cost class 3; reference terminal Lesedi"/>
          <p:cNvSpPr/>
          <p:nvPr/>
        </p:nvSpPr>
        <p:spPr>
          <a:xfrm>
            <a:off x="3300429"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8" name="Illustrative delivered road transport cost class 3; reference terminal Lesedi"/>
          <p:cNvSpPr/>
          <p:nvPr/>
        </p:nvSpPr>
        <p:spPr>
          <a:xfrm>
            <a:off x="3300429"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9" name="Illustrative delivered road transport cost class 3; reference terminal Lesedi"/>
          <p:cNvSpPr/>
          <p:nvPr/>
        </p:nvSpPr>
        <p:spPr>
          <a:xfrm>
            <a:off x="3300429"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0" name="Illustrative delivered road transport cost class 3; reference terminal Lesedi"/>
          <p:cNvSpPr/>
          <p:nvPr/>
        </p:nvSpPr>
        <p:spPr>
          <a:xfrm>
            <a:off x="3300429"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1" name="Illustrative delivered road transport cost class 3; reference terminal Lesedi"/>
          <p:cNvSpPr/>
          <p:nvPr/>
        </p:nvSpPr>
        <p:spPr>
          <a:xfrm>
            <a:off x="3300429"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2" name="Illustrative delivered road transport cost class 3; reference terminal Lesedi"/>
          <p:cNvSpPr/>
          <p:nvPr/>
        </p:nvSpPr>
        <p:spPr>
          <a:xfrm>
            <a:off x="3300429"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3" name="Illustrative delivered road transport cost class 2; reference terminal Lesedi"/>
          <p:cNvSpPr/>
          <p:nvPr/>
        </p:nvSpPr>
        <p:spPr>
          <a:xfrm>
            <a:off x="3300429"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4" name="Illustrative delivered road transport cost class 2; reference terminal Lesedi"/>
          <p:cNvSpPr/>
          <p:nvPr/>
        </p:nvSpPr>
        <p:spPr>
          <a:xfrm>
            <a:off x="3300429"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5" name="Illustrative delivered road transport cost class 2; reference terminal Lesedi"/>
          <p:cNvSpPr/>
          <p:nvPr/>
        </p:nvSpPr>
        <p:spPr>
          <a:xfrm>
            <a:off x="3300429"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6" name="Illustrative delivered road transport cost class 2; reference terminal Lesedi"/>
          <p:cNvSpPr/>
          <p:nvPr/>
        </p:nvSpPr>
        <p:spPr>
          <a:xfrm>
            <a:off x="3300429"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7" name="Illustrative delivered road transport cost class 2; reference terminal Lesedi"/>
          <p:cNvSpPr/>
          <p:nvPr/>
        </p:nvSpPr>
        <p:spPr>
          <a:xfrm>
            <a:off x="3300429"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8" name="Illustrative delivered road transport cost class 2; reference terminal Lesedi"/>
          <p:cNvSpPr/>
          <p:nvPr/>
        </p:nvSpPr>
        <p:spPr>
          <a:xfrm>
            <a:off x="3300429"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9" name="Illustrative delivered road transport cost class 2; reference terminal Lesedi"/>
          <p:cNvSpPr/>
          <p:nvPr/>
        </p:nvSpPr>
        <p:spPr>
          <a:xfrm>
            <a:off x="3300429"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0" name="Illustrative delivered road transport cost class 2; reference terminal Lesedi"/>
          <p:cNvSpPr/>
          <p:nvPr/>
        </p:nvSpPr>
        <p:spPr>
          <a:xfrm>
            <a:off x="3300429"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1" name="Illustrative delivered road transport cost class 3; reference terminal Lesedi"/>
          <p:cNvSpPr/>
          <p:nvPr/>
        </p:nvSpPr>
        <p:spPr>
          <a:xfrm>
            <a:off x="3300429"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2" name="Illustrative delivered road transport cost class None; reference terminal None"/>
          <p:cNvSpPr/>
          <p:nvPr/>
        </p:nvSpPr>
        <p:spPr>
          <a:xfrm>
            <a:off x="3300429"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3" name="Illustrative delivered road transport cost class None; reference terminal None"/>
          <p:cNvSpPr/>
          <p:nvPr/>
        </p:nvSpPr>
        <p:spPr>
          <a:xfrm>
            <a:off x="3300429"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4" name="Illustrative delivered road transport cost class 3; reference terminal Lesedi"/>
          <p:cNvSpPr/>
          <p:nvPr/>
        </p:nvSpPr>
        <p:spPr>
          <a:xfrm>
            <a:off x="3300429"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5" name="Illustrative delivered road transport cost class 3; reference terminal Lesedi"/>
          <p:cNvSpPr/>
          <p:nvPr/>
        </p:nvSpPr>
        <p:spPr>
          <a:xfrm>
            <a:off x="3300429"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6" name="Illustrative delivered road transport cost class 3; reference terminal Lesedi"/>
          <p:cNvSpPr/>
          <p:nvPr/>
        </p:nvSpPr>
        <p:spPr>
          <a:xfrm>
            <a:off x="3300429"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7" name="Illustrative delivered road transport cost class 3; reference terminal Lesedi"/>
          <p:cNvSpPr/>
          <p:nvPr/>
        </p:nvSpPr>
        <p:spPr>
          <a:xfrm>
            <a:off x="3300429"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8" name="Illustrative delivered road transport cost class 3; reference terminal Lesedi"/>
          <p:cNvSpPr/>
          <p:nvPr/>
        </p:nvSpPr>
        <p:spPr>
          <a:xfrm>
            <a:off x="3300429"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9" name="Illustrative delivered road transport cost class 3; reference terminal Lesedi"/>
          <p:cNvSpPr/>
          <p:nvPr/>
        </p:nvSpPr>
        <p:spPr>
          <a:xfrm>
            <a:off x="3300429"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0" name="Illustrative delivered road transport cost class 3; reference terminal Lesedi"/>
          <p:cNvSpPr/>
          <p:nvPr/>
        </p:nvSpPr>
        <p:spPr>
          <a:xfrm>
            <a:off x="3300429"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1" name="Illustrative delivered road transport cost class 3; reference terminal Lesedi"/>
          <p:cNvSpPr/>
          <p:nvPr/>
        </p:nvSpPr>
        <p:spPr>
          <a:xfrm>
            <a:off x="3300429"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2" name="Illustrative delivered road transport cost class 3; reference terminal Lesedi"/>
          <p:cNvSpPr/>
          <p:nvPr/>
        </p:nvSpPr>
        <p:spPr>
          <a:xfrm>
            <a:off x="3300429"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3" name="Illustrative delivered road transport cost class None; reference terminal None"/>
          <p:cNvSpPr/>
          <p:nvPr/>
        </p:nvSpPr>
        <p:spPr>
          <a:xfrm>
            <a:off x="3300429"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4" name="Illustrative delivered road transport cost class None; reference terminal None"/>
          <p:cNvSpPr/>
          <p:nvPr/>
        </p:nvSpPr>
        <p:spPr>
          <a:xfrm>
            <a:off x="3300429"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5" name="Illustrative delivered road transport cost class None; reference terminal None"/>
          <p:cNvSpPr/>
          <p:nvPr/>
        </p:nvSpPr>
        <p:spPr>
          <a:xfrm>
            <a:off x="3300429"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6" name="Illustrative delivered road transport cost class None; reference terminal None"/>
          <p:cNvSpPr/>
          <p:nvPr/>
        </p:nvSpPr>
        <p:spPr>
          <a:xfrm>
            <a:off x="3300429"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7" name="Illustrative delivered road transport cost class None; reference terminal None"/>
          <p:cNvSpPr/>
          <p:nvPr/>
        </p:nvSpPr>
        <p:spPr>
          <a:xfrm>
            <a:off x="3300429"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8" name="Illustrative delivered road transport cost class None; reference terminal None"/>
          <p:cNvSpPr/>
          <p:nvPr/>
        </p:nvSpPr>
        <p:spPr>
          <a:xfrm>
            <a:off x="3300429" y="3104507"/>
            <a:ext cx="57686" cy="28576"/>
          </a:xfrm>
          <a:custGeom>
            <a:avLst/>
            <a:gdLst/>
            <a:ahLst/>
            <a:cxnLst/>
            <a:rect l="l" t="t" r="r" b="b"/>
            <a:pathLst>
              <a:path w="57686" h="28576">
                <a:moveTo>
                  <a:pt x="57686" y="28576"/>
                </a:moveTo>
                <a:lnTo>
                  <a:pt x="0" y="28576"/>
                </a:lnTo>
                <a:lnTo>
                  <a:pt x="0" y="135"/>
                </a:lnTo>
                <a:lnTo>
                  <a:pt x="606" y="0"/>
                </a:lnTo>
                <a:lnTo>
                  <a:pt x="29338" y="5946"/>
                </a:lnTo>
                <a:lnTo>
                  <a:pt x="57686" y="18023"/>
                </a:lnTo>
                <a:lnTo>
                  <a:pt x="57686" y="2857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9" name="Illustrative delivered road transport cost class 3; reference terminal Durban"/>
          <p:cNvSpPr/>
          <p:nvPr/>
        </p:nvSpPr>
        <p:spPr>
          <a:xfrm>
            <a:off x="3358115" y="5325173"/>
            <a:ext cx="57687" cy="27360"/>
          </a:xfrm>
          <a:custGeom>
            <a:avLst/>
            <a:gdLst/>
            <a:ahLst/>
            <a:cxnLst/>
            <a:rect l="l" t="t" r="r" b="b"/>
            <a:pathLst>
              <a:path w="57687" h="27360">
                <a:moveTo>
                  <a:pt x="0" y="0"/>
                </a:moveTo>
                <a:lnTo>
                  <a:pt x="57687" y="0"/>
                </a:lnTo>
                <a:lnTo>
                  <a:pt x="57687" y="8680"/>
                </a:lnTo>
                <a:lnTo>
                  <a:pt x="44245" y="7748"/>
                </a:lnTo>
                <a:lnTo>
                  <a:pt x="0" y="27360"/>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0" name="Illustrative delivered road transport cost class 3; reference terminal Durban"/>
          <p:cNvSpPr/>
          <p:nvPr/>
        </p:nvSpPr>
        <p:spPr>
          <a:xfrm>
            <a:off x="3358115"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1" name="Illustrative delivered road transport cost class 3; reference terminal Durban"/>
          <p:cNvSpPr/>
          <p:nvPr/>
        </p:nvSpPr>
        <p:spPr>
          <a:xfrm>
            <a:off x="3358115"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2" name="Illustrative delivered road transport cost class 3; reference terminal Durban"/>
          <p:cNvSpPr/>
          <p:nvPr/>
        </p:nvSpPr>
        <p:spPr>
          <a:xfrm>
            <a:off x="3358115"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3" name="Illustrative delivered road transport cost class 3; reference terminal Durban"/>
          <p:cNvSpPr/>
          <p:nvPr/>
        </p:nvSpPr>
        <p:spPr>
          <a:xfrm>
            <a:off x="3358115"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4" name="Illustrative delivered road transport cost class None; reference terminal None"/>
          <p:cNvSpPr/>
          <p:nvPr/>
        </p:nvSpPr>
        <p:spPr>
          <a:xfrm>
            <a:off x="3358115"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5" name="Illustrative delivered road transport cost class 3; reference terminal Lesedi"/>
          <p:cNvSpPr/>
          <p:nvPr/>
        </p:nvSpPr>
        <p:spPr>
          <a:xfrm>
            <a:off x="3358115"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6" name="Illustrative delivered road transport cost class 3; reference terminal Lesedi"/>
          <p:cNvSpPr/>
          <p:nvPr/>
        </p:nvSpPr>
        <p:spPr>
          <a:xfrm>
            <a:off x="3358115"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7" name="Illustrative delivered road transport cost class 3; reference terminal Lesedi"/>
          <p:cNvSpPr/>
          <p:nvPr/>
        </p:nvSpPr>
        <p:spPr>
          <a:xfrm>
            <a:off x="3358115"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8" name="Illustrative delivered road transport cost class 3; reference terminal Lesedi"/>
          <p:cNvSpPr/>
          <p:nvPr/>
        </p:nvSpPr>
        <p:spPr>
          <a:xfrm>
            <a:off x="3358115"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9" name="Illustrative delivered road transport cost class 3; reference terminal Lesedi"/>
          <p:cNvSpPr/>
          <p:nvPr/>
        </p:nvSpPr>
        <p:spPr>
          <a:xfrm>
            <a:off x="3358115"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0" name="Illustrative delivered road transport cost class 3; reference terminal Lesedi"/>
          <p:cNvSpPr/>
          <p:nvPr/>
        </p:nvSpPr>
        <p:spPr>
          <a:xfrm>
            <a:off x="3358115"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1" name="Illustrative delivered road transport cost class 3; reference terminal Lesedi"/>
          <p:cNvSpPr/>
          <p:nvPr/>
        </p:nvSpPr>
        <p:spPr>
          <a:xfrm>
            <a:off x="3358115"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2" name="Illustrative delivered road transport cost class 2; reference terminal Lesedi"/>
          <p:cNvSpPr/>
          <p:nvPr/>
        </p:nvSpPr>
        <p:spPr>
          <a:xfrm>
            <a:off x="3358115"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3" name="Illustrative delivered road transport cost class 2; reference terminal Lesedi"/>
          <p:cNvSpPr/>
          <p:nvPr/>
        </p:nvSpPr>
        <p:spPr>
          <a:xfrm>
            <a:off x="3358115"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4" name="Illustrative delivered road transport cost class 2; reference terminal Lesedi"/>
          <p:cNvSpPr/>
          <p:nvPr/>
        </p:nvSpPr>
        <p:spPr>
          <a:xfrm>
            <a:off x="3358115"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5" name="Illustrative delivered road transport cost class 2; reference terminal Lesedi"/>
          <p:cNvSpPr/>
          <p:nvPr/>
        </p:nvSpPr>
        <p:spPr>
          <a:xfrm>
            <a:off x="3358115"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6" name="Illustrative delivered road transport cost class 2; reference terminal Lesedi"/>
          <p:cNvSpPr/>
          <p:nvPr/>
        </p:nvSpPr>
        <p:spPr>
          <a:xfrm>
            <a:off x="3358115"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7" name="Illustrative delivered road transport cost class 2; reference terminal Lesedi"/>
          <p:cNvSpPr/>
          <p:nvPr/>
        </p:nvSpPr>
        <p:spPr>
          <a:xfrm>
            <a:off x="3358115"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8" name="Illustrative delivered road transport cost class 2; reference terminal Lesedi"/>
          <p:cNvSpPr/>
          <p:nvPr/>
        </p:nvSpPr>
        <p:spPr>
          <a:xfrm>
            <a:off x="3358115"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9" name="Illustrative delivered road transport cost class 2; reference terminal Lesedi"/>
          <p:cNvSpPr/>
          <p:nvPr/>
        </p:nvSpPr>
        <p:spPr>
          <a:xfrm>
            <a:off x="3358115"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0" name="Illustrative delivered road transport cost class 2; reference terminal Lesedi"/>
          <p:cNvSpPr/>
          <p:nvPr/>
        </p:nvSpPr>
        <p:spPr>
          <a:xfrm>
            <a:off x="3358115"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1" name="Illustrative delivered road transport cost class 2; reference terminal Lesedi"/>
          <p:cNvSpPr/>
          <p:nvPr/>
        </p:nvSpPr>
        <p:spPr>
          <a:xfrm>
            <a:off x="3358115"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2" name="Illustrative delivered road transport cost class 2; reference terminal Lesedi"/>
          <p:cNvSpPr/>
          <p:nvPr/>
        </p:nvSpPr>
        <p:spPr>
          <a:xfrm>
            <a:off x="3358115"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3" name="Illustrative delivered road transport cost class None; reference terminal None"/>
          <p:cNvSpPr/>
          <p:nvPr/>
        </p:nvSpPr>
        <p:spPr>
          <a:xfrm>
            <a:off x="3358115"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4" name="Illustrative delivered road transport cost class None; reference terminal None"/>
          <p:cNvSpPr/>
          <p:nvPr/>
        </p:nvSpPr>
        <p:spPr>
          <a:xfrm>
            <a:off x="3358115"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5" name="Illustrative delivered road transport cost class 3; reference terminal Lesedi"/>
          <p:cNvSpPr/>
          <p:nvPr/>
        </p:nvSpPr>
        <p:spPr>
          <a:xfrm>
            <a:off x="3358115"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6" name="Illustrative delivered road transport cost class 3; reference terminal Lesedi"/>
          <p:cNvSpPr/>
          <p:nvPr/>
        </p:nvSpPr>
        <p:spPr>
          <a:xfrm>
            <a:off x="3358115"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7" name="Illustrative delivered road transport cost class 3; reference terminal Lesedi"/>
          <p:cNvSpPr/>
          <p:nvPr/>
        </p:nvSpPr>
        <p:spPr>
          <a:xfrm>
            <a:off x="3358115"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8" name="Illustrative delivered road transport cost class 3; reference terminal Lesedi"/>
          <p:cNvSpPr/>
          <p:nvPr/>
        </p:nvSpPr>
        <p:spPr>
          <a:xfrm>
            <a:off x="3358115"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9" name="Illustrative delivered road transport cost class 3; reference terminal Lesedi"/>
          <p:cNvSpPr/>
          <p:nvPr/>
        </p:nvSpPr>
        <p:spPr>
          <a:xfrm>
            <a:off x="3358115"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0" name="Illustrative delivered road transport cost class 3; reference terminal Lesedi"/>
          <p:cNvSpPr/>
          <p:nvPr/>
        </p:nvSpPr>
        <p:spPr>
          <a:xfrm>
            <a:off x="3358115"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1" name="Illustrative delivered road transport cost class 3; reference terminal Lesedi"/>
          <p:cNvSpPr/>
          <p:nvPr/>
        </p:nvSpPr>
        <p:spPr>
          <a:xfrm>
            <a:off x="3358115"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2" name="Illustrative delivered road transport cost class 3; reference terminal Lesedi"/>
          <p:cNvSpPr/>
          <p:nvPr/>
        </p:nvSpPr>
        <p:spPr>
          <a:xfrm>
            <a:off x="3358115"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3" name="Illustrative delivered road transport cost class None; reference terminal None"/>
          <p:cNvSpPr/>
          <p:nvPr/>
        </p:nvSpPr>
        <p:spPr>
          <a:xfrm>
            <a:off x="3358115"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4" name="Illustrative delivered road transport cost class None; reference terminal None"/>
          <p:cNvSpPr/>
          <p:nvPr/>
        </p:nvSpPr>
        <p:spPr>
          <a:xfrm>
            <a:off x="3358115"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5" name="Illustrative delivered road transport cost class None; reference terminal None"/>
          <p:cNvSpPr/>
          <p:nvPr/>
        </p:nvSpPr>
        <p:spPr>
          <a:xfrm>
            <a:off x="3358115"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6" name="Illustrative delivered road transport cost class None; reference terminal None"/>
          <p:cNvSpPr/>
          <p:nvPr/>
        </p:nvSpPr>
        <p:spPr>
          <a:xfrm>
            <a:off x="3358115"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7" name="Illustrative delivered road transport cost class None; reference terminal None"/>
          <p:cNvSpPr/>
          <p:nvPr/>
        </p:nvSpPr>
        <p:spPr>
          <a:xfrm>
            <a:off x="3358115" y="3133083"/>
            <a:ext cx="57687" cy="57687"/>
          </a:xfrm>
          <a:custGeom>
            <a:avLst/>
            <a:gdLst/>
            <a:ahLst/>
            <a:cxnLst/>
            <a:rect l="l" t="t" r="r" b="b"/>
            <a:pathLst>
              <a:path w="57687" h="57687">
                <a:moveTo>
                  <a:pt x="57687" y="57687"/>
                </a:moveTo>
                <a:lnTo>
                  <a:pt x="0" y="57687"/>
                </a:lnTo>
                <a:lnTo>
                  <a:pt x="0" y="0"/>
                </a:lnTo>
                <a:lnTo>
                  <a:pt x="17247" y="0"/>
                </a:lnTo>
                <a:lnTo>
                  <a:pt x="37452" y="13013"/>
                </a:lnTo>
                <a:lnTo>
                  <a:pt x="57687" y="28822"/>
                </a:lnTo>
                <a:lnTo>
                  <a:pt x="57687"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8" name="Illustrative delivered road transport cost class None; reference terminal None"/>
          <p:cNvSpPr/>
          <p:nvPr/>
        </p:nvSpPr>
        <p:spPr>
          <a:xfrm>
            <a:off x="3358115" y="3122530"/>
            <a:ext cx="17247" cy="10553"/>
          </a:xfrm>
          <a:custGeom>
            <a:avLst/>
            <a:gdLst/>
            <a:ahLst/>
            <a:cxnLst/>
            <a:rect l="l" t="t" r="r" b="b"/>
            <a:pathLst>
              <a:path w="17247" h="10553">
                <a:moveTo>
                  <a:pt x="0" y="10553"/>
                </a:moveTo>
                <a:lnTo>
                  <a:pt x="0" y="0"/>
                </a:lnTo>
                <a:lnTo>
                  <a:pt x="2544" y="1083"/>
                </a:lnTo>
                <a:lnTo>
                  <a:pt x="17247" y="10553"/>
                </a:lnTo>
                <a:lnTo>
                  <a:pt x="0" y="10553"/>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9" name="Illustrative delivered road transport cost class 3; reference terminal Durban"/>
          <p:cNvSpPr/>
          <p:nvPr/>
        </p:nvSpPr>
        <p:spPr>
          <a:xfrm>
            <a:off x="3415802" y="5325173"/>
            <a:ext cx="57686" cy="16967"/>
          </a:xfrm>
          <a:custGeom>
            <a:avLst/>
            <a:gdLst/>
            <a:ahLst/>
            <a:cxnLst/>
            <a:rect l="l" t="t" r="r" b="b"/>
            <a:pathLst>
              <a:path w="57686" h="16967">
                <a:moveTo>
                  <a:pt x="0" y="0"/>
                </a:moveTo>
                <a:lnTo>
                  <a:pt x="57686" y="0"/>
                </a:lnTo>
                <a:lnTo>
                  <a:pt x="57686" y="16967"/>
                </a:lnTo>
                <a:lnTo>
                  <a:pt x="10549" y="9411"/>
                </a:lnTo>
                <a:lnTo>
                  <a:pt x="0" y="8680"/>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0" name="Illustrative delivered road transport cost class 3; reference terminal Durban"/>
          <p:cNvSpPr/>
          <p:nvPr/>
        </p:nvSpPr>
        <p:spPr>
          <a:xfrm>
            <a:off x="3415802"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1" name="Illustrative delivered road transport cost class 3; reference terminal Durban"/>
          <p:cNvSpPr/>
          <p:nvPr/>
        </p:nvSpPr>
        <p:spPr>
          <a:xfrm>
            <a:off x="3415802"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2" name="Illustrative delivered road transport cost class 3; reference terminal Durban"/>
          <p:cNvSpPr/>
          <p:nvPr/>
        </p:nvSpPr>
        <p:spPr>
          <a:xfrm>
            <a:off x="3415802"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3" name="Illustrative delivered road transport cost class 3; reference terminal Durban"/>
          <p:cNvSpPr/>
          <p:nvPr/>
        </p:nvSpPr>
        <p:spPr>
          <a:xfrm>
            <a:off x="3415802"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4" name="Illustrative delivered road transport cost class None; reference terminal None"/>
          <p:cNvSpPr/>
          <p:nvPr/>
        </p:nvSpPr>
        <p:spPr>
          <a:xfrm>
            <a:off x="3415802"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5" name="Illustrative delivered road transport cost class None; reference terminal None"/>
          <p:cNvSpPr/>
          <p:nvPr/>
        </p:nvSpPr>
        <p:spPr>
          <a:xfrm>
            <a:off x="3415802"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6" name="Illustrative delivered road transport cost class 3; reference terminal Lesedi"/>
          <p:cNvSpPr/>
          <p:nvPr/>
        </p:nvSpPr>
        <p:spPr>
          <a:xfrm>
            <a:off x="3415802"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7" name="Illustrative delivered road transport cost class 3; reference terminal Lesedi"/>
          <p:cNvSpPr/>
          <p:nvPr/>
        </p:nvSpPr>
        <p:spPr>
          <a:xfrm>
            <a:off x="3415802"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8" name="Illustrative delivered road transport cost class 3; reference terminal Lesedi"/>
          <p:cNvSpPr/>
          <p:nvPr/>
        </p:nvSpPr>
        <p:spPr>
          <a:xfrm>
            <a:off x="3415802"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9" name="Illustrative delivered road transport cost class 3; reference terminal Lesedi"/>
          <p:cNvSpPr/>
          <p:nvPr/>
        </p:nvSpPr>
        <p:spPr>
          <a:xfrm>
            <a:off x="3415802"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0" name="Illustrative delivered road transport cost class 2; reference terminal Lesedi"/>
          <p:cNvSpPr/>
          <p:nvPr/>
        </p:nvSpPr>
        <p:spPr>
          <a:xfrm>
            <a:off x="3415802"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1" name="Illustrative delivered road transport cost class 2; reference terminal Lesedi"/>
          <p:cNvSpPr/>
          <p:nvPr/>
        </p:nvSpPr>
        <p:spPr>
          <a:xfrm>
            <a:off x="3415802"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2" name="Illustrative delivered road transport cost class 2; reference terminal Lesedi"/>
          <p:cNvSpPr/>
          <p:nvPr/>
        </p:nvSpPr>
        <p:spPr>
          <a:xfrm>
            <a:off x="3415802"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3" name="Illustrative delivered road transport cost class 2; reference terminal Lesedi"/>
          <p:cNvSpPr/>
          <p:nvPr/>
        </p:nvSpPr>
        <p:spPr>
          <a:xfrm>
            <a:off x="3415802"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4" name="Illustrative delivered road transport cost class 2; reference terminal Lesedi"/>
          <p:cNvSpPr/>
          <p:nvPr/>
        </p:nvSpPr>
        <p:spPr>
          <a:xfrm>
            <a:off x="3415802"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5" name="Illustrative delivered road transport cost class 2; reference terminal Lesedi"/>
          <p:cNvSpPr/>
          <p:nvPr/>
        </p:nvSpPr>
        <p:spPr>
          <a:xfrm>
            <a:off x="3415802"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6" name="Illustrative delivered road transport cost class 2; reference terminal Lesedi"/>
          <p:cNvSpPr/>
          <p:nvPr/>
        </p:nvSpPr>
        <p:spPr>
          <a:xfrm>
            <a:off x="3415802"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7" name="Illustrative delivered road transport cost class 2; reference terminal Lesedi"/>
          <p:cNvSpPr/>
          <p:nvPr/>
        </p:nvSpPr>
        <p:spPr>
          <a:xfrm>
            <a:off x="3415802"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8" name="Illustrative delivered road transport cost class 2; reference terminal Lesedi"/>
          <p:cNvSpPr/>
          <p:nvPr/>
        </p:nvSpPr>
        <p:spPr>
          <a:xfrm>
            <a:off x="3415802"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9" name="Illustrative delivered road transport cost class 2; reference terminal Lesedi"/>
          <p:cNvSpPr/>
          <p:nvPr/>
        </p:nvSpPr>
        <p:spPr>
          <a:xfrm>
            <a:off x="3415802"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0" name="Illustrative delivered road transport cost class 2; reference terminal Lesedi"/>
          <p:cNvSpPr/>
          <p:nvPr/>
        </p:nvSpPr>
        <p:spPr>
          <a:xfrm>
            <a:off x="3415802"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1" name="Illustrative delivered road transport cost class 2; reference terminal Lesedi"/>
          <p:cNvSpPr/>
          <p:nvPr/>
        </p:nvSpPr>
        <p:spPr>
          <a:xfrm>
            <a:off x="3415802"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2" name="Illustrative delivered road transport cost class 2; reference terminal Lesedi"/>
          <p:cNvSpPr/>
          <p:nvPr/>
        </p:nvSpPr>
        <p:spPr>
          <a:xfrm>
            <a:off x="3415802"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3" name="Illustrative delivered road transport cost class 2; reference terminal Lesedi"/>
          <p:cNvSpPr/>
          <p:nvPr/>
        </p:nvSpPr>
        <p:spPr>
          <a:xfrm>
            <a:off x="3415802"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4" name="Illustrative delivered road transport cost class 2; reference terminal Lesedi"/>
          <p:cNvSpPr/>
          <p:nvPr/>
        </p:nvSpPr>
        <p:spPr>
          <a:xfrm>
            <a:off x="3415802"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5" name="Illustrative delivered road transport cost class 2; reference terminal Lesedi"/>
          <p:cNvSpPr/>
          <p:nvPr/>
        </p:nvSpPr>
        <p:spPr>
          <a:xfrm>
            <a:off x="3415802"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6" name="Illustrative delivered road transport cost class 2; reference terminal Lesedi"/>
          <p:cNvSpPr/>
          <p:nvPr/>
        </p:nvSpPr>
        <p:spPr>
          <a:xfrm>
            <a:off x="3415802"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7" name="Illustrative delivered road transport cost class 2; reference terminal Lesedi"/>
          <p:cNvSpPr/>
          <p:nvPr/>
        </p:nvSpPr>
        <p:spPr>
          <a:xfrm>
            <a:off x="3415802"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8" name="Illustrative delivered road transport cost class 2; reference terminal Lesedi"/>
          <p:cNvSpPr/>
          <p:nvPr/>
        </p:nvSpPr>
        <p:spPr>
          <a:xfrm>
            <a:off x="3415802"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9" name="Illustrative delivered road transport cost class 2; reference terminal Lesedi"/>
          <p:cNvSpPr/>
          <p:nvPr/>
        </p:nvSpPr>
        <p:spPr>
          <a:xfrm>
            <a:off x="3415802"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0" name="Illustrative delivered road transport cost class 2; reference terminal Lesedi"/>
          <p:cNvSpPr/>
          <p:nvPr/>
        </p:nvSpPr>
        <p:spPr>
          <a:xfrm>
            <a:off x="3415802"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1" name="Illustrative delivered road transport cost class 2; reference terminal Lesedi"/>
          <p:cNvSpPr/>
          <p:nvPr/>
        </p:nvSpPr>
        <p:spPr>
          <a:xfrm>
            <a:off x="3415802"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2" name="Illustrative delivered road transport cost class 2; reference terminal Lesedi"/>
          <p:cNvSpPr/>
          <p:nvPr/>
        </p:nvSpPr>
        <p:spPr>
          <a:xfrm>
            <a:off x="3415802"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3" name="Illustrative delivered road transport cost class 3; reference terminal Lesedi"/>
          <p:cNvSpPr/>
          <p:nvPr/>
        </p:nvSpPr>
        <p:spPr>
          <a:xfrm>
            <a:off x="3415802"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4" name="Illustrative delivered road transport cost class None; reference terminal None"/>
          <p:cNvSpPr/>
          <p:nvPr/>
        </p:nvSpPr>
        <p:spPr>
          <a:xfrm>
            <a:off x="3415802"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5" name="Illustrative delivered road transport cost class None; reference terminal None"/>
          <p:cNvSpPr/>
          <p:nvPr/>
        </p:nvSpPr>
        <p:spPr>
          <a:xfrm>
            <a:off x="3415802"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6" name="Illustrative delivered road transport cost class None; reference terminal None"/>
          <p:cNvSpPr/>
          <p:nvPr/>
        </p:nvSpPr>
        <p:spPr>
          <a:xfrm>
            <a:off x="3415802" y="3190770"/>
            <a:ext cx="57686" cy="57686"/>
          </a:xfrm>
          <a:custGeom>
            <a:avLst/>
            <a:gdLst/>
            <a:ahLst/>
            <a:cxnLst/>
            <a:rect l="l" t="t" r="r" b="b"/>
            <a:pathLst>
              <a:path w="57686" h="57686">
                <a:moveTo>
                  <a:pt x="57686" y="57686"/>
                </a:moveTo>
                <a:lnTo>
                  <a:pt x="0" y="57686"/>
                </a:lnTo>
                <a:lnTo>
                  <a:pt x="0" y="0"/>
                </a:lnTo>
                <a:lnTo>
                  <a:pt x="39057" y="0"/>
                </a:lnTo>
                <a:lnTo>
                  <a:pt x="49542" y="3739"/>
                </a:lnTo>
                <a:lnTo>
                  <a:pt x="57686" y="4259"/>
                </a:lnTo>
                <a:lnTo>
                  <a:pt x="57686"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7" name="Illustrative delivered road transport cost class None; reference terminal None"/>
          <p:cNvSpPr/>
          <p:nvPr/>
        </p:nvSpPr>
        <p:spPr>
          <a:xfrm>
            <a:off x="3415802" y="3161905"/>
            <a:ext cx="39057" cy="28865"/>
          </a:xfrm>
          <a:custGeom>
            <a:avLst/>
            <a:gdLst/>
            <a:ahLst/>
            <a:cxnLst/>
            <a:rect l="l" t="t" r="r" b="b"/>
            <a:pathLst>
              <a:path w="39057" h="28865">
                <a:moveTo>
                  <a:pt x="0" y="28865"/>
                </a:moveTo>
                <a:lnTo>
                  <a:pt x="0" y="0"/>
                </a:lnTo>
                <a:lnTo>
                  <a:pt x="15486" y="12099"/>
                </a:lnTo>
                <a:lnTo>
                  <a:pt x="31920" y="26320"/>
                </a:lnTo>
                <a:lnTo>
                  <a:pt x="39057" y="28865"/>
                </a:lnTo>
                <a:lnTo>
                  <a:pt x="0" y="28865"/>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8" name="Illustrative delivered road transport cost class 3; reference terminal Durban"/>
          <p:cNvSpPr/>
          <p:nvPr/>
        </p:nvSpPr>
        <p:spPr>
          <a:xfrm>
            <a:off x="3473488" y="5325173"/>
            <a:ext cx="57687" cy="26403"/>
          </a:xfrm>
          <a:custGeom>
            <a:avLst/>
            <a:gdLst/>
            <a:ahLst/>
            <a:cxnLst/>
            <a:rect l="l" t="t" r="r" b="b"/>
            <a:pathLst>
              <a:path w="57687" h="26403">
                <a:moveTo>
                  <a:pt x="0" y="0"/>
                </a:moveTo>
                <a:lnTo>
                  <a:pt x="57687" y="0"/>
                </a:lnTo>
                <a:lnTo>
                  <a:pt x="57687" y="26403"/>
                </a:lnTo>
                <a:lnTo>
                  <a:pt x="56529" y="26029"/>
                </a:lnTo>
                <a:lnTo>
                  <a:pt x="0" y="16967"/>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9" name="Illustrative delivered road transport cost class 3; reference terminal Durban"/>
          <p:cNvSpPr/>
          <p:nvPr/>
        </p:nvSpPr>
        <p:spPr>
          <a:xfrm>
            <a:off x="3473488"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0" name="Illustrative delivered road transport cost class 3; reference terminal Durban"/>
          <p:cNvSpPr/>
          <p:nvPr/>
        </p:nvSpPr>
        <p:spPr>
          <a:xfrm>
            <a:off x="3473488"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1" name="Illustrative delivered road transport cost class 3; reference terminal Durban"/>
          <p:cNvSpPr/>
          <p:nvPr/>
        </p:nvSpPr>
        <p:spPr>
          <a:xfrm>
            <a:off x="3473488"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2" name="Illustrative delivered road transport cost class 3; reference terminal Durban"/>
          <p:cNvSpPr/>
          <p:nvPr/>
        </p:nvSpPr>
        <p:spPr>
          <a:xfrm>
            <a:off x="3473488"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3" name="Illustrative delivered road transport cost class None; reference terminal None"/>
          <p:cNvSpPr/>
          <p:nvPr/>
        </p:nvSpPr>
        <p:spPr>
          <a:xfrm>
            <a:off x="3473488"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4" name="Illustrative delivered road transport cost class None; reference terminal None"/>
          <p:cNvSpPr/>
          <p:nvPr/>
        </p:nvSpPr>
        <p:spPr>
          <a:xfrm>
            <a:off x="3473488"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5" name="Illustrative delivered road transport cost class 3; reference terminal Lesedi"/>
          <p:cNvSpPr/>
          <p:nvPr/>
        </p:nvSpPr>
        <p:spPr>
          <a:xfrm>
            <a:off x="3473488"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6" name="Illustrative delivered road transport cost class 3; reference terminal Lesedi"/>
          <p:cNvSpPr/>
          <p:nvPr/>
        </p:nvSpPr>
        <p:spPr>
          <a:xfrm>
            <a:off x="3473488"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7" name="Illustrative delivered road transport cost class 3; reference terminal Lesedi"/>
          <p:cNvSpPr/>
          <p:nvPr/>
        </p:nvSpPr>
        <p:spPr>
          <a:xfrm>
            <a:off x="3473488"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8" name="Illustrative delivered road transport cost class 3; reference terminal Lesedi"/>
          <p:cNvSpPr/>
          <p:nvPr/>
        </p:nvSpPr>
        <p:spPr>
          <a:xfrm>
            <a:off x="3473488"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9" name="Illustrative delivered road transport cost class 2; reference terminal Lesedi"/>
          <p:cNvSpPr/>
          <p:nvPr/>
        </p:nvSpPr>
        <p:spPr>
          <a:xfrm>
            <a:off x="3473488"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0" name="Illustrative delivered road transport cost class 2; reference terminal Lesedi"/>
          <p:cNvSpPr/>
          <p:nvPr/>
        </p:nvSpPr>
        <p:spPr>
          <a:xfrm>
            <a:off x="3473488"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1" name="Illustrative delivered road transport cost class 2; reference terminal Lesedi"/>
          <p:cNvSpPr/>
          <p:nvPr/>
        </p:nvSpPr>
        <p:spPr>
          <a:xfrm>
            <a:off x="3473488"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2" name="Illustrative delivered road transport cost class 2; reference terminal Lesedi"/>
          <p:cNvSpPr/>
          <p:nvPr/>
        </p:nvSpPr>
        <p:spPr>
          <a:xfrm>
            <a:off x="3473488"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3" name="Illustrative delivered road transport cost class 2; reference terminal Lesedi"/>
          <p:cNvSpPr/>
          <p:nvPr/>
        </p:nvSpPr>
        <p:spPr>
          <a:xfrm>
            <a:off x="3473488"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4" name="Illustrative delivered road transport cost class 2; reference terminal Lesedi"/>
          <p:cNvSpPr/>
          <p:nvPr/>
        </p:nvSpPr>
        <p:spPr>
          <a:xfrm>
            <a:off x="3473488"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5" name="Illustrative delivered road transport cost class 2; reference terminal Lesedi"/>
          <p:cNvSpPr/>
          <p:nvPr/>
        </p:nvSpPr>
        <p:spPr>
          <a:xfrm>
            <a:off x="3473488"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6" name="Illustrative delivered road transport cost class 2; reference terminal Lesedi"/>
          <p:cNvSpPr/>
          <p:nvPr/>
        </p:nvSpPr>
        <p:spPr>
          <a:xfrm>
            <a:off x="3473488"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7" name="Illustrative delivered road transport cost class 2; reference terminal Lesedi"/>
          <p:cNvSpPr/>
          <p:nvPr/>
        </p:nvSpPr>
        <p:spPr>
          <a:xfrm>
            <a:off x="3473488"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8" name="Illustrative delivered road transport cost class 2; reference terminal Lesedi"/>
          <p:cNvSpPr/>
          <p:nvPr/>
        </p:nvSpPr>
        <p:spPr>
          <a:xfrm>
            <a:off x="3473488"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9" name="Illustrative delivered road transport cost class 2; reference terminal Lesedi"/>
          <p:cNvSpPr/>
          <p:nvPr/>
        </p:nvSpPr>
        <p:spPr>
          <a:xfrm>
            <a:off x="3473488"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0" name="Illustrative delivered road transport cost class 2; reference terminal Lesedi"/>
          <p:cNvSpPr/>
          <p:nvPr/>
        </p:nvSpPr>
        <p:spPr>
          <a:xfrm>
            <a:off x="3473488"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1" name="Illustrative delivered road transport cost class 2; reference terminal Lesedi"/>
          <p:cNvSpPr/>
          <p:nvPr/>
        </p:nvSpPr>
        <p:spPr>
          <a:xfrm>
            <a:off x="3473488"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2" name="Illustrative delivered road transport cost class 2; reference terminal Lesedi"/>
          <p:cNvSpPr/>
          <p:nvPr/>
        </p:nvSpPr>
        <p:spPr>
          <a:xfrm>
            <a:off x="3473488"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3" name="Illustrative delivered road transport cost class 2; reference terminal Lesedi"/>
          <p:cNvSpPr/>
          <p:nvPr/>
        </p:nvSpPr>
        <p:spPr>
          <a:xfrm>
            <a:off x="3473488"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4" name="Illustrative delivered road transport cost class 2; reference terminal Lesedi"/>
          <p:cNvSpPr/>
          <p:nvPr/>
        </p:nvSpPr>
        <p:spPr>
          <a:xfrm>
            <a:off x="3473488"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5" name="Illustrative delivered road transport cost class 2; reference terminal Lesedi"/>
          <p:cNvSpPr/>
          <p:nvPr/>
        </p:nvSpPr>
        <p:spPr>
          <a:xfrm>
            <a:off x="3473488"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6" name="Illustrative delivered road transport cost class 2; reference terminal Lesedi"/>
          <p:cNvSpPr/>
          <p:nvPr/>
        </p:nvSpPr>
        <p:spPr>
          <a:xfrm>
            <a:off x="3473488"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7" name="Illustrative delivered road transport cost class 2; reference terminal Lesedi"/>
          <p:cNvSpPr/>
          <p:nvPr/>
        </p:nvSpPr>
        <p:spPr>
          <a:xfrm>
            <a:off x="3473488"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8" name="Illustrative delivered road transport cost class 2; reference terminal Lesedi"/>
          <p:cNvSpPr/>
          <p:nvPr/>
        </p:nvSpPr>
        <p:spPr>
          <a:xfrm>
            <a:off x="3473488"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9" name="Illustrative delivered road transport cost class 2; reference terminal Lesedi"/>
          <p:cNvSpPr/>
          <p:nvPr/>
        </p:nvSpPr>
        <p:spPr>
          <a:xfrm>
            <a:off x="3473488"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0" name="Illustrative delivered road transport cost class 2; reference terminal Lesedi"/>
          <p:cNvSpPr/>
          <p:nvPr/>
        </p:nvSpPr>
        <p:spPr>
          <a:xfrm>
            <a:off x="3473488"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1" name="Illustrative delivered road transport cost class 2; reference terminal Lesedi"/>
          <p:cNvSpPr/>
          <p:nvPr/>
        </p:nvSpPr>
        <p:spPr>
          <a:xfrm>
            <a:off x="3473488"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2" name="Illustrative delivered road transport cost class 2; reference terminal Lesedi"/>
          <p:cNvSpPr/>
          <p:nvPr/>
        </p:nvSpPr>
        <p:spPr>
          <a:xfrm>
            <a:off x="3473488"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3" name="Illustrative delivered road transport cost class None; reference terminal None"/>
          <p:cNvSpPr/>
          <p:nvPr/>
        </p:nvSpPr>
        <p:spPr>
          <a:xfrm>
            <a:off x="3473488"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4" name="Illustrative delivered road transport cost class None; reference terminal None"/>
          <p:cNvSpPr/>
          <p:nvPr/>
        </p:nvSpPr>
        <p:spPr>
          <a:xfrm>
            <a:off x="3473488"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5" name="Illustrative delivered road transport cost class None; reference terminal None"/>
          <p:cNvSpPr/>
          <p:nvPr/>
        </p:nvSpPr>
        <p:spPr>
          <a:xfrm>
            <a:off x="3473488" y="3195029"/>
            <a:ext cx="57687" cy="53427"/>
          </a:xfrm>
          <a:custGeom>
            <a:avLst/>
            <a:gdLst/>
            <a:ahLst/>
            <a:cxnLst/>
            <a:rect l="l" t="t" r="r" b="b"/>
            <a:pathLst>
              <a:path w="57687" h="53427">
                <a:moveTo>
                  <a:pt x="57687" y="53427"/>
                </a:moveTo>
                <a:lnTo>
                  <a:pt x="0" y="53427"/>
                </a:lnTo>
                <a:lnTo>
                  <a:pt x="0" y="0"/>
                </a:lnTo>
                <a:lnTo>
                  <a:pt x="23158" y="1479"/>
                </a:lnTo>
                <a:lnTo>
                  <a:pt x="43665" y="837"/>
                </a:lnTo>
                <a:lnTo>
                  <a:pt x="57687" y="13049"/>
                </a:lnTo>
                <a:lnTo>
                  <a:pt x="57687" y="5342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6" name="Illustrative delivered road transport cost class 3; reference terminal Durban"/>
          <p:cNvSpPr/>
          <p:nvPr/>
        </p:nvSpPr>
        <p:spPr>
          <a:xfrm>
            <a:off x="3531175" y="5325173"/>
            <a:ext cx="57686" cy="45016"/>
          </a:xfrm>
          <a:custGeom>
            <a:avLst/>
            <a:gdLst/>
            <a:ahLst/>
            <a:cxnLst/>
            <a:rect l="l" t="t" r="r" b="b"/>
            <a:pathLst>
              <a:path w="57686" h="45016">
                <a:moveTo>
                  <a:pt x="0" y="0"/>
                </a:moveTo>
                <a:lnTo>
                  <a:pt x="57686" y="0"/>
                </a:lnTo>
                <a:lnTo>
                  <a:pt x="57686" y="45016"/>
                </a:lnTo>
                <a:lnTo>
                  <a:pt x="0" y="26403"/>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7" name="Illustrative delivered road transport cost class 3; reference terminal Durban"/>
          <p:cNvSpPr/>
          <p:nvPr/>
        </p:nvSpPr>
        <p:spPr>
          <a:xfrm>
            <a:off x="3531175"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8" name="Illustrative delivered road transport cost class 3; reference terminal Durban"/>
          <p:cNvSpPr/>
          <p:nvPr/>
        </p:nvSpPr>
        <p:spPr>
          <a:xfrm>
            <a:off x="3531175"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9" name="Illustrative delivered road transport cost class 3; reference terminal Durban"/>
          <p:cNvSpPr/>
          <p:nvPr/>
        </p:nvSpPr>
        <p:spPr>
          <a:xfrm>
            <a:off x="3531175"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0" name="Illustrative delivered road transport cost class 3; reference terminal Durban"/>
          <p:cNvSpPr/>
          <p:nvPr/>
        </p:nvSpPr>
        <p:spPr>
          <a:xfrm>
            <a:off x="3531175"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1" name="Illustrative delivered road transport cost class None; reference terminal None"/>
          <p:cNvSpPr/>
          <p:nvPr/>
        </p:nvSpPr>
        <p:spPr>
          <a:xfrm>
            <a:off x="3531175"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2" name="Illustrative delivered road transport cost class None; reference terminal None"/>
          <p:cNvSpPr/>
          <p:nvPr/>
        </p:nvSpPr>
        <p:spPr>
          <a:xfrm>
            <a:off x="3531175"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3" name="Illustrative delivered road transport cost class None; reference terminal None"/>
          <p:cNvSpPr/>
          <p:nvPr/>
        </p:nvSpPr>
        <p:spPr>
          <a:xfrm>
            <a:off x="3531175"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4" name="Illustrative delivered road transport cost class 3; reference terminal Lesedi"/>
          <p:cNvSpPr/>
          <p:nvPr/>
        </p:nvSpPr>
        <p:spPr>
          <a:xfrm>
            <a:off x="3531175"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5" name="Illustrative delivered road transport cost class 3; reference terminal Lesedi"/>
          <p:cNvSpPr/>
          <p:nvPr/>
        </p:nvSpPr>
        <p:spPr>
          <a:xfrm>
            <a:off x="3531175"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6" name="Illustrative delivered road transport cost class 3; reference terminal Lesedi"/>
          <p:cNvSpPr/>
          <p:nvPr/>
        </p:nvSpPr>
        <p:spPr>
          <a:xfrm>
            <a:off x="3531175"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7" name="Illustrative delivered road transport cost class 2; reference terminal Lesedi"/>
          <p:cNvSpPr/>
          <p:nvPr/>
        </p:nvSpPr>
        <p:spPr>
          <a:xfrm>
            <a:off x="3531175"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8" name="Illustrative delivered road transport cost class 2; reference terminal Lesedi"/>
          <p:cNvSpPr/>
          <p:nvPr/>
        </p:nvSpPr>
        <p:spPr>
          <a:xfrm>
            <a:off x="3531175"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9" name="Illustrative delivered road transport cost class 2; reference terminal Lesedi"/>
          <p:cNvSpPr/>
          <p:nvPr/>
        </p:nvSpPr>
        <p:spPr>
          <a:xfrm>
            <a:off x="3531175"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0" name="Illustrative delivered road transport cost class 2; reference terminal Lesedi"/>
          <p:cNvSpPr/>
          <p:nvPr/>
        </p:nvSpPr>
        <p:spPr>
          <a:xfrm>
            <a:off x="3531175"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1" name="Illustrative delivered road transport cost class 2; reference terminal Lesedi"/>
          <p:cNvSpPr/>
          <p:nvPr/>
        </p:nvSpPr>
        <p:spPr>
          <a:xfrm>
            <a:off x="3531175"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2" name="Illustrative delivered road transport cost class 2; reference terminal Lesedi"/>
          <p:cNvSpPr/>
          <p:nvPr/>
        </p:nvSpPr>
        <p:spPr>
          <a:xfrm>
            <a:off x="3531175"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3" name="Illustrative delivered road transport cost class 2; reference terminal Lesedi"/>
          <p:cNvSpPr/>
          <p:nvPr/>
        </p:nvSpPr>
        <p:spPr>
          <a:xfrm>
            <a:off x="3531175"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4" name="Illustrative delivered road transport cost class 2; reference terminal Lesedi"/>
          <p:cNvSpPr/>
          <p:nvPr/>
        </p:nvSpPr>
        <p:spPr>
          <a:xfrm>
            <a:off x="3531175"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5" name="Illustrative delivered road transport cost class 2; reference terminal Lesedi"/>
          <p:cNvSpPr/>
          <p:nvPr/>
        </p:nvSpPr>
        <p:spPr>
          <a:xfrm>
            <a:off x="3531175"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6" name="Illustrative delivered road transport cost class 2; reference terminal Lesedi"/>
          <p:cNvSpPr/>
          <p:nvPr/>
        </p:nvSpPr>
        <p:spPr>
          <a:xfrm>
            <a:off x="3531175"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7" name="Illustrative delivered road transport cost class 2; reference terminal Lesedi"/>
          <p:cNvSpPr/>
          <p:nvPr/>
        </p:nvSpPr>
        <p:spPr>
          <a:xfrm>
            <a:off x="3531175"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8" name="Illustrative delivered road transport cost class 1; reference terminal Lesedi"/>
          <p:cNvSpPr/>
          <p:nvPr/>
        </p:nvSpPr>
        <p:spPr>
          <a:xfrm>
            <a:off x="3531175"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9" name="Illustrative delivered road transport cost class 1; reference terminal Lesedi"/>
          <p:cNvSpPr/>
          <p:nvPr/>
        </p:nvSpPr>
        <p:spPr>
          <a:xfrm>
            <a:off x="3531175"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0" name="Illustrative delivered road transport cost class 1; reference terminal Lesedi"/>
          <p:cNvSpPr/>
          <p:nvPr/>
        </p:nvSpPr>
        <p:spPr>
          <a:xfrm>
            <a:off x="3531175"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1" name="Illustrative delivered road transport cost class 1; reference terminal Lesedi"/>
          <p:cNvSpPr/>
          <p:nvPr/>
        </p:nvSpPr>
        <p:spPr>
          <a:xfrm>
            <a:off x="3531175"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2" name="Illustrative delivered road transport cost class 1; reference terminal Lesedi"/>
          <p:cNvSpPr/>
          <p:nvPr/>
        </p:nvSpPr>
        <p:spPr>
          <a:xfrm>
            <a:off x="3531175"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3" name="Illustrative delivered road transport cost class 1; reference terminal Lesedi"/>
          <p:cNvSpPr/>
          <p:nvPr/>
        </p:nvSpPr>
        <p:spPr>
          <a:xfrm>
            <a:off x="3531175"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4" name="Illustrative delivered road transport cost class 1; reference terminal Lesedi"/>
          <p:cNvSpPr/>
          <p:nvPr/>
        </p:nvSpPr>
        <p:spPr>
          <a:xfrm>
            <a:off x="3531175"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5" name="Illustrative delivered road transport cost class 2; reference terminal Lesedi"/>
          <p:cNvSpPr/>
          <p:nvPr/>
        </p:nvSpPr>
        <p:spPr>
          <a:xfrm>
            <a:off x="3531175"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6" name="Illustrative delivered road transport cost class 2; reference terminal Lesedi"/>
          <p:cNvSpPr/>
          <p:nvPr/>
        </p:nvSpPr>
        <p:spPr>
          <a:xfrm>
            <a:off x="3531175"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7" name="Illustrative delivered road transport cost class 2; reference terminal Lesedi"/>
          <p:cNvSpPr/>
          <p:nvPr/>
        </p:nvSpPr>
        <p:spPr>
          <a:xfrm>
            <a:off x="3531175"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8" name="Illustrative delivered road transport cost class 2; reference terminal Lesedi"/>
          <p:cNvSpPr/>
          <p:nvPr/>
        </p:nvSpPr>
        <p:spPr>
          <a:xfrm>
            <a:off x="3531175"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9" name="Illustrative delivered road transport cost class 2; reference terminal Lesedi"/>
          <p:cNvSpPr/>
          <p:nvPr/>
        </p:nvSpPr>
        <p:spPr>
          <a:xfrm>
            <a:off x="3531175"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0" name="Illustrative delivered road transport cost class 2; reference terminal Lesedi"/>
          <p:cNvSpPr/>
          <p:nvPr/>
        </p:nvSpPr>
        <p:spPr>
          <a:xfrm>
            <a:off x="3531175"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1" name="Illustrative delivered road transport cost class 2; reference terminal Lesedi"/>
          <p:cNvSpPr/>
          <p:nvPr/>
        </p:nvSpPr>
        <p:spPr>
          <a:xfrm>
            <a:off x="3531175"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2" name="Illustrative delivered road transport cost class 3; reference terminal Lesedi"/>
          <p:cNvSpPr/>
          <p:nvPr/>
        </p:nvSpPr>
        <p:spPr>
          <a:xfrm>
            <a:off x="3531175"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3" name="Illustrative delivered road transport cost class None; reference terminal None"/>
          <p:cNvSpPr/>
          <p:nvPr/>
        </p:nvSpPr>
        <p:spPr>
          <a:xfrm>
            <a:off x="3531175" y="3208078"/>
            <a:ext cx="57686" cy="40378"/>
          </a:xfrm>
          <a:custGeom>
            <a:avLst/>
            <a:gdLst/>
            <a:ahLst/>
            <a:cxnLst/>
            <a:rect l="l" t="t" r="r" b="b"/>
            <a:pathLst>
              <a:path w="57686" h="40378">
                <a:moveTo>
                  <a:pt x="57686" y="40378"/>
                </a:moveTo>
                <a:lnTo>
                  <a:pt x="0" y="40378"/>
                </a:lnTo>
                <a:lnTo>
                  <a:pt x="0" y="0"/>
                </a:lnTo>
                <a:lnTo>
                  <a:pt x="18020" y="15694"/>
                </a:lnTo>
                <a:lnTo>
                  <a:pt x="34154" y="17382"/>
                </a:lnTo>
                <a:lnTo>
                  <a:pt x="57686" y="22831"/>
                </a:lnTo>
                <a:lnTo>
                  <a:pt x="57686" y="4037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4" name="Illustrative delivered road transport cost class 3; reference terminal Durban"/>
          <p:cNvSpPr/>
          <p:nvPr/>
        </p:nvSpPr>
        <p:spPr>
          <a:xfrm>
            <a:off x="3588861" y="5325173"/>
            <a:ext cx="57687" cy="54447"/>
          </a:xfrm>
          <a:custGeom>
            <a:avLst/>
            <a:gdLst/>
            <a:ahLst/>
            <a:cxnLst/>
            <a:rect l="l" t="t" r="r" b="b"/>
            <a:pathLst>
              <a:path w="57687" h="54447">
                <a:moveTo>
                  <a:pt x="0" y="0"/>
                </a:moveTo>
                <a:lnTo>
                  <a:pt x="57687" y="0"/>
                </a:lnTo>
                <a:lnTo>
                  <a:pt x="57687" y="53554"/>
                </a:lnTo>
                <a:lnTo>
                  <a:pt x="29228" y="54447"/>
                </a:lnTo>
                <a:lnTo>
                  <a:pt x="0" y="45016"/>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5" name="Illustrative delivered road transport cost class 3; reference terminal Durban"/>
          <p:cNvSpPr/>
          <p:nvPr/>
        </p:nvSpPr>
        <p:spPr>
          <a:xfrm>
            <a:off x="3588861"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6" name="Illustrative delivered road transport cost class 3; reference terminal Durban"/>
          <p:cNvSpPr/>
          <p:nvPr/>
        </p:nvSpPr>
        <p:spPr>
          <a:xfrm>
            <a:off x="3588861"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7" name="Illustrative delivered road transport cost class 3; reference terminal Durban"/>
          <p:cNvSpPr/>
          <p:nvPr/>
        </p:nvSpPr>
        <p:spPr>
          <a:xfrm>
            <a:off x="3588861"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8" name="Illustrative delivered road transport cost class 3; reference terminal Durban"/>
          <p:cNvSpPr/>
          <p:nvPr/>
        </p:nvSpPr>
        <p:spPr>
          <a:xfrm>
            <a:off x="3588861"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9" name="Illustrative delivered road transport cost class 4; reference terminal Lesedi"/>
          <p:cNvSpPr/>
          <p:nvPr/>
        </p:nvSpPr>
        <p:spPr>
          <a:xfrm>
            <a:off x="3588861"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0" name="Illustrative delivered road transport cost class 3; reference terminal Lesedi"/>
          <p:cNvSpPr/>
          <p:nvPr/>
        </p:nvSpPr>
        <p:spPr>
          <a:xfrm>
            <a:off x="3588861"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1" name="Illustrative delivered road transport cost class 3; reference terminal Lesedi"/>
          <p:cNvSpPr/>
          <p:nvPr/>
        </p:nvSpPr>
        <p:spPr>
          <a:xfrm>
            <a:off x="3588861"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2" name="Illustrative delivered road transport cost class 3; reference terminal Lesedi"/>
          <p:cNvSpPr/>
          <p:nvPr/>
        </p:nvSpPr>
        <p:spPr>
          <a:xfrm>
            <a:off x="3588861"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3" name="Illustrative delivered road transport cost class 3; reference terminal Lesedi"/>
          <p:cNvSpPr/>
          <p:nvPr/>
        </p:nvSpPr>
        <p:spPr>
          <a:xfrm>
            <a:off x="3588861"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4" name="Illustrative delivered road transport cost class 3; reference terminal Lesedi"/>
          <p:cNvSpPr/>
          <p:nvPr/>
        </p:nvSpPr>
        <p:spPr>
          <a:xfrm>
            <a:off x="3588861"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5" name="Illustrative delivered road transport cost class 2; reference terminal Lesedi"/>
          <p:cNvSpPr/>
          <p:nvPr/>
        </p:nvSpPr>
        <p:spPr>
          <a:xfrm>
            <a:off x="3588861"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6" name="Illustrative delivered road transport cost class 2; reference terminal Lesedi"/>
          <p:cNvSpPr/>
          <p:nvPr/>
        </p:nvSpPr>
        <p:spPr>
          <a:xfrm>
            <a:off x="3588861"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7" name="Illustrative delivered road transport cost class 2; reference terminal Lesedi"/>
          <p:cNvSpPr/>
          <p:nvPr/>
        </p:nvSpPr>
        <p:spPr>
          <a:xfrm>
            <a:off x="3588861"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8" name="Illustrative delivered road transport cost class 2; reference terminal Lesedi"/>
          <p:cNvSpPr/>
          <p:nvPr/>
        </p:nvSpPr>
        <p:spPr>
          <a:xfrm>
            <a:off x="3588861"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9" name="Illustrative delivered road transport cost class 2; reference terminal Lesedi"/>
          <p:cNvSpPr/>
          <p:nvPr/>
        </p:nvSpPr>
        <p:spPr>
          <a:xfrm>
            <a:off x="3588861"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0" name="Illustrative delivered road transport cost class 2; reference terminal Lesedi"/>
          <p:cNvSpPr/>
          <p:nvPr/>
        </p:nvSpPr>
        <p:spPr>
          <a:xfrm>
            <a:off x="3588861"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1" name="Illustrative delivered road transport cost class 2; reference terminal Lesedi"/>
          <p:cNvSpPr/>
          <p:nvPr/>
        </p:nvSpPr>
        <p:spPr>
          <a:xfrm>
            <a:off x="3588861"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2" name="Illustrative delivered road transport cost class 2; reference terminal Lesedi"/>
          <p:cNvSpPr/>
          <p:nvPr/>
        </p:nvSpPr>
        <p:spPr>
          <a:xfrm>
            <a:off x="3588861"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3" name="Illustrative delivered road transport cost class 2; reference terminal Lesedi"/>
          <p:cNvSpPr/>
          <p:nvPr/>
        </p:nvSpPr>
        <p:spPr>
          <a:xfrm>
            <a:off x="3588861"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4" name="Illustrative delivered road transport cost class 2; reference terminal Lesedi"/>
          <p:cNvSpPr/>
          <p:nvPr/>
        </p:nvSpPr>
        <p:spPr>
          <a:xfrm>
            <a:off x="3588861"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5" name="Illustrative delivered road transport cost class 2; reference terminal Lesedi"/>
          <p:cNvSpPr/>
          <p:nvPr/>
        </p:nvSpPr>
        <p:spPr>
          <a:xfrm>
            <a:off x="3588861"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6" name="Illustrative delivered road transport cost class 1; reference terminal Lesedi"/>
          <p:cNvSpPr/>
          <p:nvPr/>
        </p:nvSpPr>
        <p:spPr>
          <a:xfrm>
            <a:off x="3588861"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7" name="Illustrative delivered road transport cost class 1; reference terminal Lesedi"/>
          <p:cNvSpPr/>
          <p:nvPr/>
        </p:nvSpPr>
        <p:spPr>
          <a:xfrm>
            <a:off x="3588861"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8" name="Illustrative delivered road transport cost class 1; reference terminal Lesedi"/>
          <p:cNvSpPr/>
          <p:nvPr/>
        </p:nvSpPr>
        <p:spPr>
          <a:xfrm>
            <a:off x="3588861"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9" name="Illustrative delivered road transport cost class 1; reference terminal Lesedi"/>
          <p:cNvSpPr/>
          <p:nvPr/>
        </p:nvSpPr>
        <p:spPr>
          <a:xfrm>
            <a:off x="3588861"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0" name="Illustrative delivered road transport cost class 1; reference terminal Lesedi"/>
          <p:cNvSpPr/>
          <p:nvPr/>
        </p:nvSpPr>
        <p:spPr>
          <a:xfrm>
            <a:off x="3588861"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1" name="Illustrative delivered road transport cost class 1; reference terminal Lesedi"/>
          <p:cNvSpPr/>
          <p:nvPr/>
        </p:nvSpPr>
        <p:spPr>
          <a:xfrm>
            <a:off x="3588861"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2" name="Illustrative delivered road transport cost class 1; reference terminal Lesedi"/>
          <p:cNvSpPr/>
          <p:nvPr/>
        </p:nvSpPr>
        <p:spPr>
          <a:xfrm>
            <a:off x="3588861"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3" name="Illustrative delivered road transport cost class 1; reference terminal Lesedi"/>
          <p:cNvSpPr/>
          <p:nvPr/>
        </p:nvSpPr>
        <p:spPr>
          <a:xfrm>
            <a:off x="3588861"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4" name="Illustrative delivered road transport cost class 2; reference terminal Lesedi"/>
          <p:cNvSpPr/>
          <p:nvPr/>
        </p:nvSpPr>
        <p:spPr>
          <a:xfrm>
            <a:off x="3588861"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5" name="Illustrative delivered road transport cost class 2; reference terminal Lesedi"/>
          <p:cNvSpPr/>
          <p:nvPr/>
        </p:nvSpPr>
        <p:spPr>
          <a:xfrm>
            <a:off x="3588861"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6" name="Illustrative delivered road transport cost class 2; reference terminal Lesedi"/>
          <p:cNvSpPr/>
          <p:nvPr/>
        </p:nvSpPr>
        <p:spPr>
          <a:xfrm>
            <a:off x="3588861"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7" name="Illustrative delivered road transport cost class 2; reference terminal Lesedi"/>
          <p:cNvSpPr/>
          <p:nvPr/>
        </p:nvSpPr>
        <p:spPr>
          <a:xfrm>
            <a:off x="3588861"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8" name="Illustrative delivered road transport cost class 2; reference terminal Lesedi"/>
          <p:cNvSpPr/>
          <p:nvPr/>
        </p:nvSpPr>
        <p:spPr>
          <a:xfrm>
            <a:off x="3588861"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9" name="Illustrative delivered road transport cost class 2; reference terminal Lesedi"/>
          <p:cNvSpPr/>
          <p:nvPr/>
        </p:nvSpPr>
        <p:spPr>
          <a:xfrm>
            <a:off x="3588861"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0" name="Illustrative delivered road transport cost class 3; reference terminal Lesedi"/>
          <p:cNvSpPr/>
          <p:nvPr/>
        </p:nvSpPr>
        <p:spPr>
          <a:xfrm>
            <a:off x="3588861"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1" name="Illustrative delivered road transport cost class 3; reference terminal Lesedi"/>
          <p:cNvSpPr/>
          <p:nvPr/>
        </p:nvSpPr>
        <p:spPr>
          <a:xfrm>
            <a:off x="3588861" y="3230909"/>
            <a:ext cx="57687" cy="17547"/>
          </a:xfrm>
          <a:custGeom>
            <a:avLst/>
            <a:gdLst/>
            <a:ahLst/>
            <a:cxnLst/>
            <a:rect l="l" t="t" r="r" b="b"/>
            <a:pathLst>
              <a:path w="57687" h="17547">
                <a:moveTo>
                  <a:pt x="57687" y="17547"/>
                </a:moveTo>
                <a:lnTo>
                  <a:pt x="0" y="17547"/>
                </a:lnTo>
                <a:lnTo>
                  <a:pt x="0" y="0"/>
                </a:lnTo>
                <a:lnTo>
                  <a:pt x="12547" y="2906"/>
                </a:lnTo>
                <a:lnTo>
                  <a:pt x="57082" y="11538"/>
                </a:lnTo>
                <a:lnTo>
                  <a:pt x="57687" y="11516"/>
                </a:lnTo>
                <a:lnTo>
                  <a:pt x="57687" y="1754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2" name="Illustrative delivered road transport cost class 3; reference terminal Durban"/>
          <p:cNvSpPr/>
          <p:nvPr/>
        </p:nvSpPr>
        <p:spPr>
          <a:xfrm>
            <a:off x="3646548" y="5325173"/>
            <a:ext cx="57687" cy="53554"/>
          </a:xfrm>
          <a:custGeom>
            <a:avLst/>
            <a:gdLst/>
            <a:ahLst/>
            <a:cxnLst/>
            <a:rect l="l" t="t" r="r" b="b"/>
            <a:pathLst>
              <a:path w="57687" h="53554">
                <a:moveTo>
                  <a:pt x="0" y="0"/>
                </a:moveTo>
                <a:lnTo>
                  <a:pt x="57687" y="0"/>
                </a:lnTo>
                <a:lnTo>
                  <a:pt x="57687" y="3597"/>
                </a:lnTo>
                <a:lnTo>
                  <a:pt x="37549" y="24965"/>
                </a:lnTo>
                <a:lnTo>
                  <a:pt x="20872" y="52899"/>
                </a:lnTo>
                <a:lnTo>
                  <a:pt x="0" y="53554"/>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3" name="Illustrative delivered road transport cost class 3; reference terminal Durban"/>
          <p:cNvSpPr/>
          <p:nvPr/>
        </p:nvSpPr>
        <p:spPr>
          <a:xfrm>
            <a:off x="3646548"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4" name="Illustrative delivered road transport cost class 3; reference terminal Durban"/>
          <p:cNvSpPr/>
          <p:nvPr/>
        </p:nvSpPr>
        <p:spPr>
          <a:xfrm>
            <a:off x="3646548"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5" name="Illustrative delivered road transport cost class 3; reference terminal Durban"/>
          <p:cNvSpPr/>
          <p:nvPr/>
        </p:nvSpPr>
        <p:spPr>
          <a:xfrm>
            <a:off x="3646548"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6" name="Illustrative delivered road transport cost class 3; reference terminal Durban"/>
          <p:cNvSpPr/>
          <p:nvPr/>
        </p:nvSpPr>
        <p:spPr>
          <a:xfrm>
            <a:off x="3646548"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7" name="Illustrative delivered road transport cost class 3; reference terminal Lesedi"/>
          <p:cNvSpPr/>
          <p:nvPr/>
        </p:nvSpPr>
        <p:spPr>
          <a:xfrm>
            <a:off x="3646548"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8" name="Illustrative delivered road transport cost class 3; reference terminal Lesedi"/>
          <p:cNvSpPr/>
          <p:nvPr/>
        </p:nvSpPr>
        <p:spPr>
          <a:xfrm>
            <a:off x="3646548"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9" name="Illustrative delivered road transport cost class 3; reference terminal Lesedi"/>
          <p:cNvSpPr/>
          <p:nvPr/>
        </p:nvSpPr>
        <p:spPr>
          <a:xfrm>
            <a:off x="3646548"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0" name="Illustrative delivered road transport cost class 3; reference terminal Lesedi"/>
          <p:cNvSpPr/>
          <p:nvPr/>
        </p:nvSpPr>
        <p:spPr>
          <a:xfrm>
            <a:off x="3646548"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1" name="Illustrative delivered road transport cost class 3; reference terminal Lesedi"/>
          <p:cNvSpPr/>
          <p:nvPr/>
        </p:nvSpPr>
        <p:spPr>
          <a:xfrm>
            <a:off x="3646548"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2" name="Illustrative delivered road transport cost class 3; reference terminal Lesedi"/>
          <p:cNvSpPr/>
          <p:nvPr/>
        </p:nvSpPr>
        <p:spPr>
          <a:xfrm>
            <a:off x="3646548"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3" name="Illustrative delivered road transport cost class 2; reference terminal Lesedi"/>
          <p:cNvSpPr/>
          <p:nvPr/>
        </p:nvSpPr>
        <p:spPr>
          <a:xfrm>
            <a:off x="3646548"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4" name="Illustrative delivered road transport cost class 2; reference terminal Lesedi"/>
          <p:cNvSpPr/>
          <p:nvPr/>
        </p:nvSpPr>
        <p:spPr>
          <a:xfrm>
            <a:off x="3646548"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5" name="Illustrative delivered road transport cost class 2; reference terminal Lesedi"/>
          <p:cNvSpPr/>
          <p:nvPr/>
        </p:nvSpPr>
        <p:spPr>
          <a:xfrm>
            <a:off x="3646548"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6" name="Illustrative delivered road transport cost class 2; reference terminal Lesedi"/>
          <p:cNvSpPr/>
          <p:nvPr/>
        </p:nvSpPr>
        <p:spPr>
          <a:xfrm>
            <a:off x="3646548"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7" name="Illustrative delivered road transport cost class 2; reference terminal Lesedi"/>
          <p:cNvSpPr/>
          <p:nvPr/>
        </p:nvSpPr>
        <p:spPr>
          <a:xfrm>
            <a:off x="3646548"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8" name="Illustrative delivered road transport cost class 2; reference terminal Lesedi"/>
          <p:cNvSpPr/>
          <p:nvPr/>
        </p:nvSpPr>
        <p:spPr>
          <a:xfrm>
            <a:off x="3646548"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9" name="Illustrative delivered road transport cost class 2; reference terminal Lesedi"/>
          <p:cNvSpPr/>
          <p:nvPr/>
        </p:nvSpPr>
        <p:spPr>
          <a:xfrm>
            <a:off x="3646548"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0" name="Illustrative delivered road transport cost class 2; reference terminal Lesedi"/>
          <p:cNvSpPr/>
          <p:nvPr/>
        </p:nvSpPr>
        <p:spPr>
          <a:xfrm>
            <a:off x="3646548"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1" name="Illustrative delivered road transport cost class 2; reference terminal Lesedi"/>
          <p:cNvSpPr/>
          <p:nvPr/>
        </p:nvSpPr>
        <p:spPr>
          <a:xfrm>
            <a:off x="3646548"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2" name="Illustrative delivered road transport cost class 2; reference terminal Lesedi"/>
          <p:cNvSpPr/>
          <p:nvPr/>
        </p:nvSpPr>
        <p:spPr>
          <a:xfrm>
            <a:off x="3646548"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3" name="Illustrative delivered road transport cost class 2; reference terminal Lesedi"/>
          <p:cNvSpPr/>
          <p:nvPr/>
        </p:nvSpPr>
        <p:spPr>
          <a:xfrm>
            <a:off x="3646548"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4" name="Illustrative delivered road transport cost class 1; reference terminal Lesedi"/>
          <p:cNvSpPr/>
          <p:nvPr/>
        </p:nvSpPr>
        <p:spPr>
          <a:xfrm>
            <a:off x="3646548"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5" name="Illustrative delivered road transport cost class 1; reference terminal Lesedi"/>
          <p:cNvSpPr/>
          <p:nvPr/>
        </p:nvSpPr>
        <p:spPr>
          <a:xfrm>
            <a:off x="3646548"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6" name="Illustrative delivered road transport cost class 1; reference terminal Lesedi"/>
          <p:cNvSpPr/>
          <p:nvPr/>
        </p:nvSpPr>
        <p:spPr>
          <a:xfrm>
            <a:off x="3646548"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7" name="Illustrative delivered road transport cost class 1; reference terminal Lesedi"/>
          <p:cNvSpPr/>
          <p:nvPr/>
        </p:nvSpPr>
        <p:spPr>
          <a:xfrm>
            <a:off x="3646548"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8" name="Illustrative delivered road transport cost class 1; reference terminal Lesedi"/>
          <p:cNvSpPr/>
          <p:nvPr/>
        </p:nvSpPr>
        <p:spPr>
          <a:xfrm>
            <a:off x="3646548"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9" name="Illustrative delivered road transport cost class 1; reference terminal Lesedi"/>
          <p:cNvSpPr/>
          <p:nvPr/>
        </p:nvSpPr>
        <p:spPr>
          <a:xfrm>
            <a:off x="3646548"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0" name="Illustrative delivered road transport cost class 1; reference terminal Lesedi"/>
          <p:cNvSpPr/>
          <p:nvPr/>
        </p:nvSpPr>
        <p:spPr>
          <a:xfrm>
            <a:off x="3646548"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1" name="Illustrative delivered road transport cost class 1; reference terminal Lesedi"/>
          <p:cNvSpPr/>
          <p:nvPr/>
        </p:nvSpPr>
        <p:spPr>
          <a:xfrm>
            <a:off x="3646548"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2" name="Illustrative delivered road transport cost class 1; reference terminal Lesedi"/>
          <p:cNvSpPr/>
          <p:nvPr/>
        </p:nvSpPr>
        <p:spPr>
          <a:xfrm>
            <a:off x="3646548"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3" name="Illustrative delivered road transport cost class 1; reference terminal Lesedi"/>
          <p:cNvSpPr/>
          <p:nvPr/>
        </p:nvSpPr>
        <p:spPr>
          <a:xfrm>
            <a:off x="3646548"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4" name="Illustrative delivered road transport cost class 2; reference terminal Lesedi"/>
          <p:cNvSpPr/>
          <p:nvPr/>
        </p:nvSpPr>
        <p:spPr>
          <a:xfrm>
            <a:off x="3646548"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5" name="Illustrative delivered road transport cost class 2; reference terminal Lesedi"/>
          <p:cNvSpPr/>
          <p:nvPr/>
        </p:nvSpPr>
        <p:spPr>
          <a:xfrm>
            <a:off x="3646548"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6" name="Illustrative delivered road transport cost class 2; reference terminal Lesedi"/>
          <p:cNvSpPr/>
          <p:nvPr/>
        </p:nvSpPr>
        <p:spPr>
          <a:xfrm>
            <a:off x="3646548"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7" name="Illustrative delivered road transport cost class 2; reference terminal Lesedi"/>
          <p:cNvSpPr/>
          <p:nvPr/>
        </p:nvSpPr>
        <p:spPr>
          <a:xfrm>
            <a:off x="3646548"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8" name="Illustrative delivered road transport cost class 3; reference terminal Lesedi"/>
          <p:cNvSpPr/>
          <p:nvPr/>
        </p:nvSpPr>
        <p:spPr>
          <a:xfrm>
            <a:off x="3646548"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9" name="Illustrative delivered road transport cost class 1; reference terminal Lesedi"/>
          <p:cNvSpPr/>
          <p:nvPr/>
        </p:nvSpPr>
        <p:spPr>
          <a:xfrm>
            <a:off x="3646548" y="3226184"/>
            <a:ext cx="57687" cy="22272"/>
          </a:xfrm>
          <a:custGeom>
            <a:avLst/>
            <a:gdLst/>
            <a:ahLst/>
            <a:cxnLst/>
            <a:rect l="l" t="t" r="r" b="b"/>
            <a:pathLst>
              <a:path w="57687" h="22272">
                <a:moveTo>
                  <a:pt x="57687" y="22272"/>
                </a:moveTo>
                <a:lnTo>
                  <a:pt x="0" y="22272"/>
                </a:lnTo>
                <a:lnTo>
                  <a:pt x="0" y="16241"/>
                </a:lnTo>
                <a:lnTo>
                  <a:pt x="27421" y="15221"/>
                </a:lnTo>
                <a:lnTo>
                  <a:pt x="57438" y="7"/>
                </a:lnTo>
                <a:lnTo>
                  <a:pt x="57687" y="0"/>
                </a:lnTo>
                <a:lnTo>
                  <a:pt x="57687" y="22272"/>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0" name="Illustrative delivered road transport cost class 3; reference terminal Durban"/>
          <p:cNvSpPr/>
          <p:nvPr/>
        </p:nvSpPr>
        <p:spPr>
          <a:xfrm>
            <a:off x="3741731" y="5325173"/>
            <a:ext cx="20190" cy="5362"/>
          </a:xfrm>
          <a:custGeom>
            <a:avLst/>
            <a:gdLst/>
            <a:ahLst/>
            <a:cxnLst/>
            <a:rect l="l" t="t" r="r" b="b"/>
            <a:pathLst>
              <a:path w="20190" h="5362">
                <a:moveTo>
                  <a:pt x="20190" y="0"/>
                </a:moveTo>
                <a:lnTo>
                  <a:pt x="20190" y="5362"/>
                </a:lnTo>
                <a:lnTo>
                  <a:pt x="0" y="0"/>
                </a:lnTo>
                <a:lnTo>
                  <a:pt x="2019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1" name="Illustrative delivered road transport cost class 3; reference terminal Durban"/>
          <p:cNvSpPr/>
          <p:nvPr/>
        </p:nvSpPr>
        <p:spPr>
          <a:xfrm>
            <a:off x="3704235" y="5325173"/>
            <a:ext cx="32586" cy="3597"/>
          </a:xfrm>
          <a:custGeom>
            <a:avLst/>
            <a:gdLst/>
            <a:ahLst/>
            <a:cxnLst/>
            <a:rect l="l" t="t" r="r" b="b"/>
            <a:pathLst>
              <a:path w="32586" h="3597">
                <a:moveTo>
                  <a:pt x="0" y="0"/>
                </a:moveTo>
                <a:lnTo>
                  <a:pt x="32586" y="0"/>
                </a:lnTo>
                <a:lnTo>
                  <a:pt x="625" y="2934"/>
                </a:lnTo>
                <a:lnTo>
                  <a:pt x="0" y="3597"/>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2" name="Illustrative delivered road transport cost class 3; reference terminal Durban"/>
          <p:cNvSpPr/>
          <p:nvPr/>
        </p:nvSpPr>
        <p:spPr>
          <a:xfrm>
            <a:off x="3704235" y="5267486"/>
            <a:ext cx="57686" cy="57687"/>
          </a:xfrm>
          <a:custGeom>
            <a:avLst/>
            <a:gdLst/>
            <a:ahLst/>
            <a:cxnLst/>
            <a:rect l="l" t="t" r="r" b="b"/>
            <a:pathLst>
              <a:path w="57686" h="57687">
                <a:moveTo>
                  <a:pt x="0" y="57687"/>
                </a:moveTo>
                <a:lnTo>
                  <a:pt x="0" y="0"/>
                </a:lnTo>
                <a:lnTo>
                  <a:pt x="57686" y="0"/>
                </a:lnTo>
                <a:lnTo>
                  <a:pt x="57686" y="57687"/>
                </a:lnTo>
                <a:lnTo>
                  <a:pt x="37496" y="57687"/>
                </a:lnTo>
                <a:lnTo>
                  <a:pt x="36235" y="57352"/>
                </a:lnTo>
                <a:lnTo>
                  <a:pt x="325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3" name="Illustrative delivered road transport cost class 3; reference terminal Durban"/>
          <p:cNvSpPr/>
          <p:nvPr/>
        </p:nvSpPr>
        <p:spPr>
          <a:xfrm>
            <a:off x="3704235"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4" name="Illustrative delivered road transport cost class 3; reference terminal Durban"/>
          <p:cNvSpPr/>
          <p:nvPr/>
        </p:nvSpPr>
        <p:spPr>
          <a:xfrm>
            <a:off x="3704235"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5" name="Illustrative delivered road transport cost class 3; reference terminal Durban"/>
          <p:cNvSpPr/>
          <p:nvPr/>
        </p:nvSpPr>
        <p:spPr>
          <a:xfrm>
            <a:off x="3704235"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6" name="Illustrative delivered road transport cost class 3; reference terminal Lesedi"/>
          <p:cNvSpPr/>
          <p:nvPr/>
        </p:nvSpPr>
        <p:spPr>
          <a:xfrm>
            <a:off x="3704235"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7" name="Illustrative delivered road transport cost class 3; reference terminal Lesedi"/>
          <p:cNvSpPr/>
          <p:nvPr/>
        </p:nvSpPr>
        <p:spPr>
          <a:xfrm>
            <a:off x="3704235"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8" name="Illustrative delivered road transport cost class 3; reference terminal Lesedi"/>
          <p:cNvSpPr/>
          <p:nvPr/>
        </p:nvSpPr>
        <p:spPr>
          <a:xfrm>
            <a:off x="3704235"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9" name="Illustrative delivered road transport cost class 3; reference terminal Lesedi"/>
          <p:cNvSpPr/>
          <p:nvPr/>
        </p:nvSpPr>
        <p:spPr>
          <a:xfrm>
            <a:off x="3704235"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0" name="Illustrative delivered road transport cost class 3; reference terminal Lesedi"/>
          <p:cNvSpPr/>
          <p:nvPr/>
        </p:nvSpPr>
        <p:spPr>
          <a:xfrm>
            <a:off x="3704235"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1" name="Illustrative delivered road transport cost class 2; reference terminal Lesedi"/>
          <p:cNvSpPr/>
          <p:nvPr/>
        </p:nvSpPr>
        <p:spPr>
          <a:xfrm>
            <a:off x="3704235"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2" name="Illustrative delivered road transport cost class 2; reference terminal Lesedi"/>
          <p:cNvSpPr/>
          <p:nvPr/>
        </p:nvSpPr>
        <p:spPr>
          <a:xfrm>
            <a:off x="3704235"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3" name="Illustrative delivered road transport cost class 2; reference terminal Lesedi"/>
          <p:cNvSpPr/>
          <p:nvPr/>
        </p:nvSpPr>
        <p:spPr>
          <a:xfrm>
            <a:off x="3704235"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4" name="Illustrative delivered road transport cost class 2; reference terminal Lesedi"/>
          <p:cNvSpPr/>
          <p:nvPr/>
        </p:nvSpPr>
        <p:spPr>
          <a:xfrm>
            <a:off x="3704235"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5" name="Illustrative delivered road transport cost class 2; reference terminal Lesedi"/>
          <p:cNvSpPr/>
          <p:nvPr/>
        </p:nvSpPr>
        <p:spPr>
          <a:xfrm>
            <a:off x="3704235"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6" name="Illustrative delivered road transport cost class 2; reference terminal Lesedi"/>
          <p:cNvSpPr/>
          <p:nvPr/>
        </p:nvSpPr>
        <p:spPr>
          <a:xfrm>
            <a:off x="3704235"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7" name="Illustrative delivered road transport cost class 2; reference terminal Lesedi"/>
          <p:cNvSpPr/>
          <p:nvPr/>
        </p:nvSpPr>
        <p:spPr>
          <a:xfrm>
            <a:off x="3704235"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8" name="Illustrative delivered road transport cost class 2; reference terminal Lesedi"/>
          <p:cNvSpPr/>
          <p:nvPr/>
        </p:nvSpPr>
        <p:spPr>
          <a:xfrm>
            <a:off x="3704235"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9" name="Illustrative delivered road transport cost class 2; reference terminal Lesedi"/>
          <p:cNvSpPr/>
          <p:nvPr/>
        </p:nvSpPr>
        <p:spPr>
          <a:xfrm>
            <a:off x="3704235"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0" name="Illustrative delivered road transport cost class 2; reference terminal Lesedi"/>
          <p:cNvSpPr/>
          <p:nvPr/>
        </p:nvSpPr>
        <p:spPr>
          <a:xfrm>
            <a:off x="3704235"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1" name="Illustrative delivered road transport cost class 2; reference terminal Lesedi"/>
          <p:cNvSpPr/>
          <p:nvPr/>
        </p:nvSpPr>
        <p:spPr>
          <a:xfrm>
            <a:off x="3704235"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2" name="Illustrative delivered road transport cost class 2; reference terminal Lesedi"/>
          <p:cNvSpPr/>
          <p:nvPr/>
        </p:nvSpPr>
        <p:spPr>
          <a:xfrm>
            <a:off x="3704235"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3" name="Illustrative delivered road transport cost class 1; reference terminal Lesedi"/>
          <p:cNvSpPr/>
          <p:nvPr/>
        </p:nvSpPr>
        <p:spPr>
          <a:xfrm>
            <a:off x="3704235"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4" name="Illustrative delivered road transport cost class 1; reference terminal Lesedi"/>
          <p:cNvSpPr/>
          <p:nvPr/>
        </p:nvSpPr>
        <p:spPr>
          <a:xfrm>
            <a:off x="3704235"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5" name="Illustrative delivered road transport cost class 1; reference terminal Lesedi"/>
          <p:cNvSpPr/>
          <p:nvPr/>
        </p:nvSpPr>
        <p:spPr>
          <a:xfrm>
            <a:off x="3704235"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6" name="Illustrative delivered road transport cost class 1; reference terminal Lesedi"/>
          <p:cNvSpPr/>
          <p:nvPr/>
        </p:nvSpPr>
        <p:spPr>
          <a:xfrm>
            <a:off x="3704235"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7" name="Illustrative delivered road transport cost class 1; reference terminal Lesedi"/>
          <p:cNvSpPr/>
          <p:nvPr/>
        </p:nvSpPr>
        <p:spPr>
          <a:xfrm>
            <a:off x="3704235"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8" name="Illustrative delivered road transport cost class 1; reference terminal Lesedi"/>
          <p:cNvSpPr/>
          <p:nvPr/>
        </p:nvSpPr>
        <p:spPr>
          <a:xfrm>
            <a:off x="3704235"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9" name="Illustrative delivered road transport cost class 1; reference terminal Lesedi"/>
          <p:cNvSpPr/>
          <p:nvPr/>
        </p:nvSpPr>
        <p:spPr>
          <a:xfrm>
            <a:off x="3704235"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0" name="Illustrative delivered road transport cost class 1; reference terminal Lesedi"/>
          <p:cNvSpPr/>
          <p:nvPr/>
        </p:nvSpPr>
        <p:spPr>
          <a:xfrm>
            <a:off x="3704235"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1" name="Illustrative delivered road transport cost class 1; reference terminal Lesedi"/>
          <p:cNvSpPr/>
          <p:nvPr/>
        </p:nvSpPr>
        <p:spPr>
          <a:xfrm>
            <a:off x="3704235"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2" name="Illustrative delivered road transport cost class 1; reference terminal Lesedi"/>
          <p:cNvSpPr/>
          <p:nvPr/>
        </p:nvSpPr>
        <p:spPr>
          <a:xfrm>
            <a:off x="3704235"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3" name="Illustrative delivered road transport cost class 1; reference terminal Lesedi"/>
          <p:cNvSpPr/>
          <p:nvPr/>
        </p:nvSpPr>
        <p:spPr>
          <a:xfrm>
            <a:off x="3704235"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4" name="Illustrative delivered road transport cost class 2; reference terminal Lesedi"/>
          <p:cNvSpPr/>
          <p:nvPr/>
        </p:nvSpPr>
        <p:spPr>
          <a:xfrm>
            <a:off x="3704235"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5" name="Illustrative delivered road transport cost class 2; reference terminal Lesedi"/>
          <p:cNvSpPr/>
          <p:nvPr/>
        </p:nvSpPr>
        <p:spPr>
          <a:xfrm>
            <a:off x="3704235"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6" name="Illustrative delivered road transport cost class 2; reference terminal Lesedi"/>
          <p:cNvSpPr/>
          <p:nvPr/>
        </p:nvSpPr>
        <p:spPr>
          <a:xfrm>
            <a:off x="3704235"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7" name="Illustrative delivered road transport cost class 1; reference terminal Lesedi"/>
          <p:cNvSpPr/>
          <p:nvPr/>
        </p:nvSpPr>
        <p:spPr>
          <a:xfrm>
            <a:off x="3704235"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8" name="Illustrative delivered road transport cost class 1; reference terminal Lesedi"/>
          <p:cNvSpPr/>
          <p:nvPr/>
        </p:nvSpPr>
        <p:spPr>
          <a:xfrm>
            <a:off x="3704235" y="3225550"/>
            <a:ext cx="57686" cy="22906"/>
          </a:xfrm>
          <a:custGeom>
            <a:avLst/>
            <a:gdLst/>
            <a:ahLst/>
            <a:cxnLst/>
            <a:rect l="l" t="t" r="r" b="b"/>
            <a:pathLst>
              <a:path w="57686" h="22906">
                <a:moveTo>
                  <a:pt x="57686" y="22906"/>
                </a:moveTo>
                <a:lnTo>
                  <a:pt x="0" y="22906"/>
                </a:lnTo>
                <a:lnTo>
                  <a:pt x="0" y="634"/>
                </a:lnTo>
                <a:lnTo>
                  <a:pt x="21416" y="0"/>
                </a:lnTo>
                <a:lnTo>
                  <a:pt x="49412" y="1258"/>
                </a:lnTo>
                <a:lnTo>
                  <a:pt x="57686" y="156"/>
                </a:lnTo>
                <a:lnTo>
                  <a:pt x="57686" y="2290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9" name="Illustrative delivered road transport cost class 2; reference terminal Durban"/>
          <p:cNvSpPr/>
          <p:nvPr/>
        </p:nvSpPr>
        <p:spPr>
          <a:xfrm>
            <a:off x="3761921" y="5325173"/>
            <a:ext cx="57687" cy="18354"/>
          </a:xfrm>
          <a:custGeom>
            <a:avLst/>
            <a:gdLst/>
            <a:ahLst/>
            <a:cxnLst/>
            <a:rect l="l" t="t" r="r" b="b"/>
            <a:pathLst>
              <a:path w="57687" h="18354">
                <a:moveTo>
                  <a:pt x="0" y="0"/>
                </a:moveTo>
                <a:lnTo>
                  <a:pt x="57687" y="0"/>
                </a:lnTo>
                <a:lnTo>
                  <a:pt x="57687" y="18354"/>
                </a:lnTo>
                <a:lnTo>
                  <a:pt x="44123" y="17079"/>
                </a:lnTo>
                <a:lnTo>
                  <a:pt x="0" y="5362"/>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0" name="Illustrative delivered road transport cost class 2; reference terminal Durban"/>
          <p:cNvSpPr/>
          <p:nvPr/>
        </p:nvSpPr>
        <p:spPr>
          <a:xfrm>
            <a:off x="3761921"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1" name="Illustrative delivered road transport cost class 3; reference terminal Durban"/>
          <p:cNvSpPr/>
          <p:nvPr/>
        </p:nvSpPr>
        <p:spPr>
          <a:xfrm>
            <a:off x="3761921"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2" name="Illustrative delivered road transport cost class 3; reference terminal Durban"/>
          <p:cNvSpPr/>
          <p:nvPr/>
        </p:nvSpPr>
        <p:spPr>
          <a:xfrm>
            <a:off x="3761921"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3" name="Illustrative delivered road transport cost class 3; reference terminal Durban"/>
          <p:cNvSpPr/>
          <p:nvPr/>
        </p:nvSpPr>
        <p:spPr>
          <a:xfrm>
            <a:off x="3761921"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4" name="Illustrative delivered road transport cost class 3; reference terminal Lesedi"/>
          <p:cNvSpPr/>
          <p:nvPr/>
        </p:nvSpPr>
        <p:spPr>
          <a:xfrm>
            <a:off x="3761921"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5" name="Illustrative delivered road transport cost class 3; reference terminal Lesedi"/>
          <p:cNvSpPr/>
          <p:nvPr/>
        </p:nvSpPr>
        <p:spPr>
          <a:xfrm>
            <a:off x="3761921"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6" name="Illustrative delivered road transport cost class 3; reference terminal Lesedi"/>
          <p:cNvSpPr/>
          <p:nvPr/>
        </p:nvSpPr>
        <p:spPr>
          <a:xfrm>
            <a:off x="3761921"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7" name="Illustrative delivered road transport cost class 3; reference terminal Lesedi"/>
          <p:cNvSpPr/>
          <p:nvPr/>
        </p:nvSpPr>
        <p:spPr>
          <a:xfrm>
            <a:off x="3761921"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8" name="Illustrative delivered road transport cost class 3; reference terminal Lesedi"/>
          <p:cNvSpPr/>
          <p:nvPr/>
        </p:nvSpPr>
        <p:spPr>
          <a:xfrm>
            <a:off x="3761921"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9" name="Illustrative delivered road transport cost class 3; reference terminal Lesedi"/>
          <p:cNvSpPr/>
          <p:nvPr/>
        </p:nvSpPr>
        <p:spPr>
          <a:xfrm>
            <a:off x="3761921"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0" name="Illustrative delivered road transport cost class 2; reference terminal Lesedi"/>
          <p:cNvSpPr/>
          <p:nvPr/>
        </p:nvSpPr>
        <p:spPr>
          <a:xfrm>
            <a:off x="3761921"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1" name="Illustrative delivered road transport cost class 2; reference terminal Lesedi"/>
          <p:cNvSpPr/>
          <p:nvPr/>
        </p:nvSpPr>
        <p:spPr>
          <a:xfrm>
            <a:off x="3761921"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2" name="Illustrative delivered road transport cost class 2; reference terminal Lesedi"/>
          <p:cNvSpPr/>
          <p:nvPr/>
        </p:nvSpPr>
        <p:spPr>
          <a:xfrm>
            <a:off x="3761921"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3" name="Illustrative delivered road transport cost class 2; reference terminal Lesedi"/>
          <p:cNvSpPr/>
          <p:nvPr/>
        </p:nvSpPr>
        <p:spPr>
          <a:xfrm>
            <a:off x="3761921"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4" name="Illustrative delivered road transport cost class 2; reference terminal Lesedi"/>
          <p:cNvSpPr/>
          <p:nvPr/>
        </p:nvSpPr>
        <p:spPr>
          <a:xfrm>
            <a:off x="3761921"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5" name="Illustrative delivered road transport cost class 2; reference terminal Lesedi"/>
          <p:cNvSpPr/>
          <p:nvPr/>
        </p:nvSpPr>
        <p:spPr>
          <a:xfrm>
            <a:off x="3761921"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6" name="Illustrative delivered road transport cost class 2; reference terminal Lesedi"/>
          <p:cNvSpPr/>
          <p:nvPr/>
        </p:nvSpPr>
        <p:spPr>
          <a:xfrm>
            <a:off x="3761921"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7" name="Illustrative delivered road transport cost class 2; reference terminal Lesedi"/>
          <p:cNvSpPr/>
          <p:nvPr/>
        </p:nvSpPr>
        <p:spPr>
          <a:xfrm>
            <a:off x="3761921"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8" name="Illustrative delivered road transport cost class 2; reference terminal Lesedi"/>
          <p:cNvSpPr/>
          <p:nvPr/>
        </p:nvSpPr>
        <p:spPr>
          <a:xfrm>
            <a:off x="3761921"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9" name="Illustrative delivered road transport cost class 1; reference terminal Lesedi"/>
          <p:cNvSpPr/>
          <p:nvPr/>
        </p:nvSpPr>
        <p:spPr>
          <a:xfrm>
            <a:off x="3761921"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0" name="Illustrative delivered road transport cost class 1; reference terminal Lesedi"/>
          <p:cNvSpPr/>
          <p:nvPr/>
        </p:nvSpPr>
        <p:spPr>
          <a:xfrm>
            <a:off x="3761921"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1" name="Illustrative delivered road transport cost class 1; reference terminal Lesedi"/>
          <p:cNvSpPr/>
          <p:nvPr/>
        </p:nvSpPr>
        <p:spPr>
          <a:xfrm>
            <a:off x="3761921"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2" name="Illustrative delivered road transport cost class 1; reference terminal Lesedi"/>
          <p:cNvSpPr/>
          <p:nvPr/>
        </p:nvSpPr>
        <p:spPr>
          <a:xfrm>
            <a:off x="3761921"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3" name="Illustrative delivered road transport cost class 1; reference terminal Lesedi"/>
          <p:cNvSpPr/>
          <p:nvPr/>
        </p:nvSpPr>
        <p:spPr>
          <a:xfrm>
            <a:off x="3761921"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4" name="Illustrative delivered road transport cost class 1; reference terminal Lesedi"/>
          <p:cNvSpPr/>
          <p:nvPr/>
        </p:nvSpPr>
        <p:spPr>
          <a:xfrm>
            <a:off x="3761921"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5" name="Illustrative delivered road transport cost class 1; reference terminal Lesedi"/>
          <p:cNvSpPr/>
          <p:nvPr/>
        </p:nvSpPr>
        <p:spPr>
          <a:xfrm>
            <a:off x="3761921"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6" name="Illustrative delivered road transport cost class 1; reference terminal Lesedi"/>
          <p:cNvSpPr/>
          <p:nvPr/>
        </p:nvSpPr>
        <p:spPr>
          <a:xfrm>
            <a:off x="3761921"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7" name="Illustrative delivered road transport cost class 1; reference terminal Lesedi"/>
          <p:cNvSpPr/>
          <p:nvPr/>
        </p:nvSpPr>
        <p:spPr>
          <a:xfrm>
            <a:off x="3761921"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8" name="Illustrative delivered road transport cost class 1; reference terminal Lesedi"/>
          <p:cNvSpPr/>
          <p:nvPr/>
        </p:nvSpPr>
        <p:spPr>
          <a:xfrm>
            <a:off x="3761921"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9" name="Illustrative delivered road transport cost class 1; reference terminal Lesedi"/>
          <p:cNvSpPr/>
          <p:nvPr/>
        </p:nvSpPr>
        <p:spPr>
          <a:xfrm>
            <a:off x="3761921"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0" name="Illustrative delivered road transport cost class 1; reference terminal Lesedi"/>
          <p:cNvSpPr/>
          <p:nvPr/>
        </p:nvSpPr>
        <p:spPr>
          <a:xfrm>
            <a:off x="3761921"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1" name="Illustrative delivered road transport cost class 1; reference terminal Lesedi"/>
          <p:cNvSpPr/>
          <p:nvPr/>
        </p:nvSpPr>
        <p:spPr>
          <a:xfrm>
            <a:off x="3761921"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2" name="Illustrative delivered road transport cost class 2; reference terminal Lesedi"/>
          <p:cNvSpPr/>
          <p:nvPr/>
        </p:nvSpPr>
        <p:spPr>
          <a:xfrm>
            <a:off x="3761921"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3" name="Illustrative delivered road transport cost class 2; reference terminal Lesedi"/>
          <p:cNvSpPr/>
          <p:nvPr/>
        </p:nvSpPr>
        <p:spPr>
          <a:xfrm>
            <a:off x="3761921"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4" name="Illustrative delivered road transport cost class 2; reference terminal Lesedi"/>
          <p:cNvSpPr/>
          <p:nvPr/>
        </p:nvSpPr>
        <p:spPr>
          <a:xfrm>
            <a:off x="3761921"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5" name="Illustrative delivered road transport cost class 1; reference terminal Lesedi"/>
          <p:cNvSpPr/>
          <p:nvPr/>
        </p:nvSpPr>
        <p:spPr>
          <a:xfrm>
            <a:off x="3761921"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6" name="Illustrative delivered road transport cost class 1; reference terminal Lesedi"/>
          <p:cNvSpPr/>
          <p:nvPr/>
        </p:nvSpPr>
        <p:spPr>
          <a:xfrm>
            <a:off x="3761921" y="3206715"/>
            <a:ext cx="57687" cy="41741"/>
          </a:xfrm>
          <a:custGeom>
            <a:avLst/>
            <a:gdLst/>
            <a:ahLst/>
            <a:cxnLst/>
            <a:rect l="l" t="t" r="r" b="b"/>
            <a:pathLst>
              <a:path w="57687" h="41741">
                <a:moveTo>
                  <a:pt x="57687" y="41741"/>
                </a:moveTo>
                <a:lnTo>
                  <a:pt x="0" y="41741"/>
                </a:lnTo>
                <a:lnTo>
                  <a:pt x="0" y="18991"/>
                </a:lnTo>
                <a:lnTo>
                  <a:pt x="22493" y="15996"/>
                </a:lnTo>
                <a:lnTo>
                  <a:pt x="45088" y="9556"/>
                </a:lnTo>
                <a:lnTo>
                  <a:pt x="57687" y="0"/>
                </a:lnTo>
                <a:lnTo>
                  <a:pt x="57687" y="41741"/>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7" name="Illustrative delivered road transport cost class 2; reference terminal Durban"/>
          <p:cNvSpPr/>
          <p:nvPr/>
        </p:nvSpPr>
        <p:spPr>
          <a:xfrm>
            <a:off x="3819608" y="5325173"/>
            <a:ext cx="21824" cy="19022"/>
          </a:xfrm>
          <a:custGeom>
            <a:avLst/>
            <a:gdLst/>
            <a:ahLst/>
            <a:cxnLst/>
            <a:rect l="l" t="t" r="r" b="b"/>
            <a:pathLst>
              <a:path w="21824" h="19022">
                <a:moveTo>
                  <a:pt x="0" y="0"/>
                </a:moveTo>
                <a:lnTo>
                  <a:pt x="21824" y="0"/>
                </a:lnTo>
                <a:lnTo>
                  <a:pt x="20794" y="12902"/>
                </a:lnTo>
                <a:lnTo>
                  <a:pt x="7112" y="19022"/>
                </a:lnTo>
                <a:lnTo>
                  <a:pt x="0" y="18354"/>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8" name="Illustrative delivered road transport cost class 2; reference terminal Durban"/>
          <p:cNvSpPr/>
          <p:nvPr/>
        </p:nvSpPr>
        <p:spPr>
          <a:xfrm>
            <a:off x="3819608" y="5267486"/>
            <a:ext cx="57686" cy="57687"/>
          </a:xfrm>
          <a:custGeom>
            <a:avLst/>
            <a:gdLst/>
            <a:ahLst/>
            <a:cxnLst/>
            <a:rect l="l" t="t" r="r" b="b"/>
            <a:pathLst>
              <a:path w="57686" h="57687">
                <a:moveTo>
                  <a:pt x="0" y="57687"/>
                </a:moveTo>
                <a:lnTo>
                  <a:pt x="0" y="0"/>
                </a:lnTo>
                <a:lnTo>
                  <a:pt x="57686" y="0"/>
                </a:lnTo>
                <a:lnTo>
                  <a:pt x="57686" y="657"/>
                </a:lnTo>
                <a:lnTo>
                  <a:pt x="57101" y="750"/>
                </a:lnTo>
                <a:lnTo>
                  <a:pt x="24090" y="29307"/>
                </a:lnTo>
                <a:lnTo>
                  <a:pt x="21824"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9" name="Illustrative delivered road transport cost class 2; reference terminal Durban"/>
          <p:cNvSpPr/>
          <p:nvPr/>
        </p:nvSpPr>
        <p:spPr>
          <a:xfrm>
            <a:off x="3819608"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0" name="Illustrative delivered road transport cost class 2; reference terminal Durban"/>
          <p:cNvSpPr/>
          <p:nvPr/>
        </p:nvSpPr>
        <p:spPr>
          <a:xfrm>
            <a:off x="3819608"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1" name="Illustrative delivered road transport cost class 3; reference terminal Durban"/>
          <p:cNvSpPr/>
          <p:nvPr/>
        </p:nvSpPr>
        <p:spPr>
          <a:xfrm>
            <a:off x="3819608"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2" name="Illustrative delivered road transport cost class 3; reference terminal Lesedi"/>
          <p:cNvSpPr/>
          <p:nvPr/>
        </p:nvSpPr>
        <p:spPr>
          <a:xfrm>
            <a:off x="3819608"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3" name="Illustrative delivered road transport cost class 3; reference terminal Lesedi"/>
          <p:cNvSpPr/>
          <p:nvPr/>
        </p:nvSpPr>
        <p:spPr>
          <a:xfrm>
            <a:off x="3819608"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4" name="Illustrative delivered road transport cost class 3; reference terminal Lesedi"/>
          <p:cNvSpPr/>
          <p:nvPr/>
        </p:nvSpPr>
        <p:spPr>
          <a:xfrm>
            <a:off x="3819608"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5" name="Illustrative delivered road transport cost class 3; reference terminal Lesedi"/>
          <p:cNvSpPr/>
          <p:nvPr/>
        </p:nvSpPr>
        <p:spPr>
          <a:xfrm>
            <a:off x="3819608"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6" name="Illustrative delivered road transport cost class 3; reference terminal Lesedi"/>
          <p:cNvSpPr/>
          <p:nvPr/>
        </p:nvSpPr>
        <p:spPr>
          <a:xfrm>
            <a:off x="3819608"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7" name="Illustrative delivered road transport cost class 3; reference terminal Lesedi"/>
          <p:cNvSpPr/>
          <p:nvPr/>
        </p:nvSpPr>
        <p:spPr>
          <a:xfrm>
            <a:off x="3819608"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8" name="Illustrative delivered road transport cost class 3; reference terminal Lesedi"/>
          <p:cNvSpPr/>
          <p:nvPr/>
        </p:nvSpPr>
        <p:spPr>
          <a:xfrm>
            <a:off x="3819608"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9" name="Illustrative delivered road transport cost class 2; reference terminal Lesedi"/>
          <p:cNvSpPr/>
          <p:nvPr/>
        </p:nvSpPr>
        <p:spPr>
          <a:xfrm>
            <a:off x="3819608"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0" name="Illustrative delivered road transport cost class 2; reference terminal Lesedi"/>
          <p:cNvSpPr/>
          <p:nvPr/>
        </p:nvSpPr>
        <p:spPr>
          <a:xfrm>
            <a:off x="3819608"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1" name="Illustrative delivered road transport cost class 2; reference terminal Lesedi"/>
          <p:cNvSpPr/>
          <p:nvPr/>
        </p:nvSpPr>
        <p:spPr>
          <a:xfrm>
            <a:off x="3819608"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2" name="Illustrative delivered road transport cost class 2; reference terminal Lesedi"/>
          <p:cNvSpPr/>
          <p:nvPr/>
        </p:nvSpPr>
        <p:spPr>
          <a:xfrm>
            <a:off x="3819608"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3" name="Illustrative delivered road transport cost class 2; reference terminal Lesedi"/>
          <p:cNvSpPr/>
          <p:nvPr/>
        </p:nvSpPr>
        <p:spPr>
          <a:xfrm>
            <a:off x="3819608"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4" name="Illustrative delivered road transport cost class 2; reference terminal Lesedi"/>
          <p:cNvSpPr/>
          <p:nvPr/>
        </p:nvSpPr>
        <p:spPr>
          <a:xfrm>
            <a:off x="3819608"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5" name="Illustrative delivered road transport cost class 1; reference terminal Lesedi"/>
          <p:cNvSpPr/>
          <p:nvPr/>
        </p:nvSpPr>
        <p:spPr>
          <a:xfrm>
            <a:off x="3819608"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6" name="Illustrative delivered road transport cost class 1; reference terminal Lesedi"/>
          <p:cNvSpPr/>
          <p:nvPr/>
        </p:nvSpPr>
        <p:spPr>
          <a:xfrm>
            <a:off x="3819608"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7" name="Illustrative delivered road transport cost class 1; reference terminal Lesedi"/>
          <p:cNvSpPr/>
          <p:nvPr/>
        </p:nvSpPr>
        <p:spPr>
          <a:xfrm>
            <a:off x="3819608"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8" name="Illustrative delivered road transport cost class 1; reference terminal Lesedi"/>
          <p:cNvSpPr/>
          <p:nvPr/>
        </p:nvSpPr>
        <p:spPr>
          <a:xfrm>
            <a:off x="3819608"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9" name="Illustrative delivered road transport cost class 1; reference terminal Lesedi"/>
          <p:cNvSpPr/>
          <p:nvPr/>
        </p:nvSpPr>
        <p:spPr>
          <a:xfrm>
            <a:off x="3819608"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0" name="Illustrative delivered road transport cost class 1; reference terminal Lesedi"/>
          <p:cNvSpPr/>
          <p:nvPr/>
        </p:nvSpPr>
        <p:spPr>
          <a:xfrm>
            <a:off x="3819608"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1" name="Illustrative delivered road transport cost class 1; reference terminal Lesedi"/>
          <p:cNvSpPr/>
          <p:nvPr/>
        </p:nvSpPr>
        <p:spPr>
          <a:xfrm>
            <a:off x="3819608"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2" name="Illustrative delivered road transport cost class 1; reference terminal Lesedi"/>
          <p:cNvSpPr/>
          <p:nvPr/>
        </p:nvSpPr>
        <p:spPr>
          <a:xfrm>
            <a:off x="3819608"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3" name="Illustrative delivered road transport cost class 1; reference terminal Lesedi"/>
          <p:cNvSpPr/>
          <p:nvPr/>
        </p:nvSpPr>
        <p:spPr>
          <a:xfrm>
            <a:off x="3819608"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4" name="Illustrative delivered road transport cost class 1; reference terminal Lesedi"/>
          <p:cNvSpPr/>
          <p:nvPr/>
        </p:nvSpPr>
        <p:spPr>
          <a:xfrm>
            <a:off x="3819608"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5" name="Illustrative delivered road transport cost class 1; reference terminal Lesedi"/>
          <p:cNvSpPr/>
          <p:nvPr/>
        </p:nvSpPr>
        <p:spPr>
          <a:xfrm>
            <a:off x="3819608"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6" name="Illustrative delivered road transport cost class 1; reference terminal Lesedi"/>
          <p:cNvSpPr/>
          <p:nvPr/>
        </p:nvSpPr>
        <p:spPr>
          <a:xfrm>
            <a:off x="3819608"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7" name="Illustrative delivered road transport cost class 1; reference terminal Lesedi"/>
          <p:cNvSpPr/>
          <p:nvPr/>
        </p:nvSpPr>
        <p:spPr>
          <a:xfrm>
            <a:off x="3819608"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8" name="Illustrative delivered road transport cost class 1; reference terminal Lesedi"/>
          <p:cNvSpPr/>
          <p:nvPr/>
        </p:nvSpPr>
        <p:spPr>
          <a:xfrm>
            <a:off x="3819608"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9" name="Illustrative delivered road transport cost class 1; reference terminal Lesedi"/>
          <p:cNvSpPr/>
          <p:nvPr/>
        </p:nvSpPr>
        <p:spPr>
          <a:xfrm>
            <a:off x="3819608"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0" name="Illustrative delivered road transport cost class 1; reference terminal Lesedi"/>
          <p:cNvSpPr/>
          <p:nvPr/>
        </p:nvSpPr>
        <p:spPr>
          <a:xfrm>
            <a:off x="3819608"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1" name="Illustrative delivered road transport cost class 3; reference terminal Lesedi"/>
          <p:cNvSpPr/>
          <p:nvPr/>
        </p:nvSpPr>
        <p:spPr>
          <a:xfrm>
            <a:off x="3819608"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2" name="Illustrative delivered road transport cost class 1; reference terminal Lesedi"/>
          <p:cNvSpPr/>
          <p:nvPr/>
        </p:nvSpPr>
        <p:spPr>
          <a:xfrm>
            <a:off x="3819608"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3" name="Illustrative delivered road transport cost class 1; reference terminal Lesedi"/>
          <p:cNvSpPr/>
          <p:nvPr/>
        </p:nvSpPr>
        <p:spPr>
          <a:xfrm>
            <a:off x="3819608"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4" name="Illustrative delivered road transport cost class 1; reference terminal Lesedi"/>
          <p:cNvSpPr/>
          <p:nvPr/>
        </p:nvSpPr>
        <p:spPr>
          <a:xfrm>
            <a:off x="3819608" y="3190770"/>
            <a:ext cx="57686" cy="57686"/>
          </a:xfrm>
          <a:custGeom>
            <a:avLst/>
            <a:gdLst/>
            <a:ahLst/>
            <a:cxnLst/>
            <a:rect l="l" t="t" r="r" b="b"/>
            <a:pathLst>
              <a:path w="57686" h="57686">
                <a:moveTo>
                  <a:pt x="57686" y="0"/>
                </a:moveTo>
                <a:lnTo>
                  <a:pt x="57686" y="57686"/>
                </a:lnTo>
                <a:lnTo>
                  <a:pt x="0" y="57686"/>
                </a:lnTo>
                <a:lnTo>
                  <a:pt x="0" y="15945"/>
                </a:lnTo>
                <a:lnTo>
                  <a:pt x="4715" y="12368"/>
                </a:lnTo>
                <a:lnTo>
                  <a:pt x="17853" y="0"/>
                </a:lnTo>
                <a:lnTo>
                  <a:pt x="57686"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5" name="Illustrative delivered road transport cost class 1; reference terminal Lesedi"/>
          <p:cNvSpPr/>
          <p:nvPr/>
        </p:nvSpPr>
        <p:spPr>
          <a:xfrm>
            <a:off x="3837461" y="3133083"/>
            <a:ext cx="39833" cy="57687"/>
          </a:xfrm>
          <a:custGeom>
            <a:avLst/>
            <a:gdLst/>
            <a:ahLst/>
            <a:cxnLst/>
            <a:rect l="l" t="t" r="r" b="b"/>
            <a:pathLst>
              <a:path w="39833" h="57687">
                <a:moveTo>
                  <a:pt x="39833" y="0"/>
                </a:moveTo>
                <a:lnTo>
                  <a:pt x="39833" y="57687"/>
                </a:lnTo>
                <a:lnTo>
                  <a:pt x="0" y="57687"/>
                </a:lnTo>
                <a:lnTo>
                  <a:pt x="2137" y="55675"/>
                </a:lnTo>
                <a:lnTo>
                  <a:pt x="19837" y="12745"/>
                </a:lnTo>
                <a:lnTo>
                  <a:pt x="23626" y="0"/>
                </a:lnTo>
                <a:lnTo>
                  <a:pt x="39833"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6" name="Illustrative delivered road transport cost class 1; reference terminal Lesedi"/>
          <p:cNvSpPr/>
          <p:nvPr/>
        </p:nvSpPr>
        <p:spPr>
          <a:xfrm>
            <a:off x="3861087" y="3086937"/>
            <a:ext cx="16207" cy="46146"/>
          </a:xfrm>
          <a:custGeom>
            <a:avLst/>
            <a:gdLst/>
            <a:ahLst/>
            <a:cxnLst/>
            <a:rect l="l" t="t" r="r" b="b"/>
            <a:pathLst>
              <a:path w="16207" h="46146">
                <a:moveTo>
                  <a:pt x="16207" y="46146"/>
                </a:moveTo>
                <a:lnTo>
                  <a:pt x="0" y="46146"/>
                </a:lnTo>
                <a:lnTo>
                  <a:pt x="6489" y="24315"/>
                </a:lnTo>
                <a:lnTo>
                  <a:pt x="16207" y="0"/>
                </a:lnTo>
                <a:lnTo>
                  <a:pt x="16207" y="4614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7" name="Illustrative delivered road transport cost class 2; reference terminal Durban"/>
          <p:cNvSpPr/>
          <p:nvPr/>
        </p:nvSpPr>
        <p:spPr>
          <a:xfrm>
            <a:off x="3877294" y="5209799"/>
            <a:ext cx="57687" cy="57687"/>
          </a:xfrm>
          <a:custGeom>
            <a:avLst/>
            <a:gdLst/>
            <a:ahLst/>
            <a:cxnLst/>
            <a:rect l="l" t="t" r="r" b="b"/>
            <a:pathLst>
              <a:path w="57687" h="57687">
                <a:moveTo>
                  <a:pt x="0" y="57687"/>
                </a:moveTo>
                <a:lnTo>
                  <a:pt x="0" y="0"/>
                </a:lnTo>
                <a:lnTo>
                  <a:pt x="57687" y="0"/>
                </a:lnTo>
                <a:lnTo>
                  <a:pt x="57687" y="54833"/>
                </a:lnTo>
                <a:lnTo>
                  <a:pt x="38789" y="52153"/>
                </a:lnTo>
                <a:lnTo>
                  <a:pt x="4115"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8" name="Illustrative delivered road transport cost class 2; reference terminal Durban"/>
          <p:cNvSpPr/>
          <p:nvPr/>
        </p:nvSpPr>
        <p:spPr>
          <a:xfrm>
            <a:off x="3877294"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9" name="Illustrative delivered road transport cost class 2; reference terminal Durban"/>
          <p:cNvSpPr/>
          <p:nvPr/>
        </p:nvSpPr>
        <p:spPr>
          <a:xfrm>
            <a:off x="3877294"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0" name="Illustrative delivered road transport cost class 2; reference terminal Durban"/>
          <p:cNvSpPr/>
          <p:nvPr/>
        </p:nvSpPr>
        <p:spPr>
          <a:xfrm>
            <a:off x="3877294"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1" name="Illustrative delivered road transport cost class 3; reference terminal Lesedi"/>
          <p:cNvSpPr/>
          <p:nvPr/>
        </p:nvSpPr>
        <p:spPr>
          <a:xfrm>
            <a:off x="3877294"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2" name="Illustrative delivered road transport cost class 3; reference terminal Lesedi"/>
          <p:cNvSpPr/>
          <p:nvPr/>
        </p:nvSpPr>
        <p:spPr>
          <a:xfrm>
            <a:off x="3877294"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3" name="Illustrative delivered road transport cost class 2; reference terminal Durban"/>
          <p:cNvSpPr/>
          <p:nvPr/>
        </p:nvSpPr>
        <p:spPr>
          <a:xfrm>
            <a:off x="3877294"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4" name="Illustrative delivered road transport cost class 2; reference terminal Durban"/>
          <p:cNvSpPr/>
          <p:nvPr/>
        </p:nvSpPr>
        <p:spPr>
          <a:xfrm>
            <a:off x="3877294"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5" name="Illustrative delivered road transport cost class 2; reference terminal Durban"/>
          <p:cNvSpPr/>
          <p:nvPr/>
        </p:nvSpPr>
        <p:spPr>
          <a:xfrm>
            <a:off x="3877294"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6" name="Illustrative delivered road transport cost class 2; reference terminal Durban"/>
          <p:cNvSpPr/>
          <p:nvPr/>
        </p:nvSpPr>
        <p:spPr>
          <a:xfrm>
            <a:off x="3877294"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7" name="Illustrative delivered road transport cost class 2; reference terminal Lesedi"/>
          <p:cNvSpPr/>
          <p:nvPr/>
        </p:nvSpPr>
        <p:spPr>
          <a:xfrm>
            <a:off x="3877294"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8" name="Illustrative delivered road transport cost class 2; reference terminal Lesedi"/>
          <p:cNvSpPr/>
          <p:nvPr/>
        </p:nvSpPr>
        <p:spPr>
          <a:xfrm>
            <a:off x="3877294"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9" name="Illustrative delivered road transport cost class 2; reference terminal Lesedi"/>
          <p:cNvSpPr/>
          <p:nvPr/>
        </p:nvSpPr>
        <p:spPr>
          <a:xfrm>
            <a:off x="3877294"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0" name="Illustrative delivered road transport cost class 2; reference terminal Lesedi"/>
          <p:cNvSpPr/>
          <p:nvPr/>
        </p:nvSpPr>
        <p:spPr>
          <a:xfrm>
            <a:off x="3877294"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1" name="Illustrative delivered road transport cost class 2; reference terminal Lesedi"/>
          <p:cNvSpPr/>
          <p:nvPr/>
        </p:nvSpPr>
        <p:spPr>
          <a:xfrm>
            <a:off x="3877294"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2" name="Illustrative delivered road transport cost class 2; reference terminal Lesedi"/>
          <p:cNvSpPr/>
          <p:nvPr/>
        </p:nvSpPr>
        <p:spPr>
          <a:xfrm>
            <a:off x="3877294"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3" name="Illustrative delivered road transport cost class 1; reference terminal Lesedi"/>
          <p:cNvSpPr/>
          <p:nvPr/>
        </p:nvSpPr>
        <p:spPr>
          <a:xfrm>
            <a:off x="3877294"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4" name="Illustrative delivered road transport cost class 1; reference terminal Lesedi"/>
          <p:cNvSpPr/>
          <p:nvPr/>
        </p:nvSpPr>
        <p:spPr>
          <a:xfrm>
            <a:off x="3877294"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5" name="Illustrative delivered road transport cost class 1; reference terminal Lesedi"/>
          <p:cNvSpPr/>
          <p:nvPr/>
        </p:nvSpPr>
        <p:spPr>
          <a:xfrm>
            <a:off x="3877294"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6" name="Illustrative delivered road transport cost class 1; reference terminal Lesedi"/>
          <p:cNvSpPr/>
          <p:nvPr/>
        </p:nvSpPr>
        <p:spPr>
          <a:xfrm>
            <a:off x="3877294"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7" name="Illustrative delivered road transport cost class 1; reference terminal Lesedi"/>
          <p:cNvSpPr/>
          <p:nvPr/>
        </p:nvSpPr>
        <p:spPr>
          <a:xfrm>
            <a:off x="3877294"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8" name="Illustrative delivered road transport cost class 1; reference terminal Lesedi"/>
          <p:cNvSpPr/>
          <p:nvPr/>
        </p:nvSpPr>
        <p:spPr>
          <a:xfrm>
            <a:off x="3877294"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9" name="Illustrative delivered road transport cost class 1; reference terminal Lesedi"/>
          <p:cNvSpPr/>
          <p:nvPr/>
        </p:nvSpPr>
        <p:spPr>
          <a:xfrm>
            <a:off x="3877294"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0" name="Illustrative delivered road transport cost class 1; reference terminal Lesedi"/>
          <p:cNvSpPr/>
          <p:nvPr/>
        </p:nvSpPr>
        <p:spPr>
          <a:xfrm>
            <a:off x="3877294"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1" name="Illustrative delivered road transport cost class 1; reference terminal Lesedi"/>
          <p:cNvSpPr/>
          <p:nvPr/>
        </p:nvSpPr>
        <p:spPr>
          <a:xfrm>
            <a:off x="3877294"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2" name="Illustrative delivered road transport cost class 1; reference terminal Lesedi"/>
          <p:cNvSpPr/>
          <p:nvPr/>
        </p:nvSpPr>
        <p:spPr>
          <a:xfrm>
            <a:off x="3877294"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3" name="Illustrative delivered road transport cost class 1; reference terminal Lesedi"/>
          <p:cNvSpPr/>
          <p:nvPr/>
        </p:nvSpPr>
        <p:spPr>
          <a:xfrm>
            <a:off x="3877294"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4" name="Illustrative delivered road transport cost class 1; reference terminal Lesedi"/>
          <p:cNvSpPr/>
          <p:nvPr/>
        </p:nvSpPr>
        <p:spPr>
          <a:xfrm>
            <a:off x="3877294"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5" name="Illustrative delivered road transport cost class 0; reference terminal Lesedi"/>
          <p:cNvSpPr/>
          <p:nvPr/>
        </p:nvSpPr>
        <p:spPr>
          <a:xfrm>
            <a:off x="3877294"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6" name="Illustrative delivered road transport cost class 0; reference terminal Lesedi"/>
          <p:cNvSpPr/>
          <p:nvPr/>
        </p:nvSpPr>
        <p:spPr>
          <a:xfrm>
            <a:off x="3877294"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7" name="Illustrative delivered road transport cost class 0; reference terminal Lesedi"/>
          <p:cNvSpPr/>
          <p:nvPr/>
        </p:nvSpPr>
        <p:spPr>
          <a:xfrm>
            <a:off x="3877294"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8" name="Illustrative delivered road transport cost class 0; reference terminal Lesedi"/>
          <p:cNvSpPr/>
          <p:nvPr/>
        </p:nvSpPr>
        <p:spPr>
          <a:xfrm>
            <a:off x="3877294"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9" name="Illustrative delivered road transport cost class 0; reference terminal Lesedi"/>
          <p:cNvSpPr/>
          <p:nvPr/>
        </p:nvSpPr>
        <p:spPr>
          <a:xfrm>
            <a:off x="3877294"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0" name="Illustrative delivered road transport cost class 1; reference terminal Lesedi"/>
          <p:cNvSpPr/>
          <p:nvPr/>
        </p:nvSpPr>
        <p:spPr>
          <a:xfrm>
            <a:off x="3877294"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1" name="Illustrative delivered road transport cost class 1; reference terminal Lesedi"/>
          <p:cNvSpPr/>
          <p:nvPr/>
        </p:nvSpPr>
        <p:spPr>
          <a:xfrm>
            <a:off x="3877294"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2" name="Illustrative delivered road transport cost class 1; reference terminal Lesedi"/>
          <p:cNvSpPr/>
          <p:nvPr/>
        </p:nvSpPr>
        <p:spPr>
          <a:xfrm>
            <a:off x="3877294"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3" name="Illustrative delivered road transport cost class 1; reference terminal Lesedi"/>
          <p:cNvSpPr/>
          <p:nvPr/>
        </p:nvSpPr>
        <p:spPr>
          <a:xfrm>
            <a:off x="3877294"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4" name="Illustrative delivered road transport cost class 1; reference terminal Lesedi"/>
          <p:cNvSpPr/>
          <p:nvPr/>
        </p:nvSpPr>
        <p:spPr>
          <a:xfrm>
            <a:off x="3877294" y="3075396"/>
            <a:ext cx="57687" cy="57687"/>
          </a:xfrm>
          <a:custGeom>
            <a:avLst/>
            <a:gdLst/>
            <a:ahLst/>
            <a:cxnLst/>
            <a:rect l="l" t="t" r="r" b="b"/>
            <a:pathLst>
              <a:path w="57687" h="57687">
                <a:moveTo>
                  <a:pt x="57687" y="0"/>
                </a:moveTo>
                <a:lnTo>
                  <a:pt x="57687" y="57687"/>
                </a:lnTo>
                <a:lnTo>
                  <a:pt x="0" y="57687"/>
                </a:lnTo>
                <a:lnTo>
                  <a:pt x="0" y="11541"/>
                </a:lnTo>
                <a:lnTo>
                  <a:pt x="4613" y="0"/>
                </a:lnTo>
                <a:lnTo>
                  <a:pt x="57687"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5" name="Illustrative delivered road transport cost class 1; reference terminal Lesedi"/>
          <p:cNvSpPr/>
          <p:nvPr/>
        </p:nvSpPr>
        <p:spPr>
          <a:xfrm>
            <a:off x="3881907" y="3017710"/>
            <a:ext cx="53074" cy="57686"/>
          </a:xfrm>
          <a:custGeom>
            <a:avLst/>
            <a:gdLst/>
            <a:ahLst/>
            <a:cxnLst/>
            <a:rect l="l" t="t" r="r" b="b"/>
            <a:pathLst>
              <a:path w="53074" h="57686">
                <a:moveTo>
                  <a:pt x="53074" y="0"/>
                </a:moveTo>
                <a:lnTo>
                  <a:pt x="53074" y="57686"/>
                </a:lnTo>
                <a:lnTo>
                  <a:pt x="0" y="57686"/>
                </a:lnTo>
                <a:lnTo>
                  <a:pt x="1547" y="53815"/>
                </a:lnTo>
                <a:lnTo>
                  <a:pt x="21099" y="0"/>
                </a:lnTo>
                <a:lnTo>
                  <a:pt x="53074"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6" name="Illustrative delivered road transport cost class 1; reference terminal Lesedi"/>
          <p:cNvSpPr/>
          <p:nvPr/>
        </p:nvSpPr>
        <p:spPr>
          <a:xfrm>
            <a:off x="3903006" y="2962694"/>
            <a:ext cx="31975" cy="55016"/>
          </a:xfrm>
          <a:custGeom>
            <a:avLst/>
            <a:gdLst/>
            <a:ahLst/>
            <a:cxnLst/>
            <a:rect l="l" t="t" r="r" b="b"/>
            <a:pathLst>
              <a:path w="31975" h="55016">
                <a:moveTo>
                  <a:pt x="31975" y="55016"/>
                </a:moveTo>
                <a:lnTo>
                  <a:pt x="0" y="55016"/>
                </a:lnTo>
                <a:lnTo>
                  <a:pt x="8" y="54996"/>
                </a:lnTo>
                <a:lnTo>
                  <a:pt x="7115" y="17425"/>
                </a:lnTo>
                <a:lnTo>
                  <a:pt x="14254" y="7124"/>
                </a:lnTo>
                <a:lnTo>
                  <a:pt x="31975" y="0"/>
                </a:lnTo>
                <a:lnTo>
                  <a:pt x="31975" y="5501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7" name="Illustrative delivered road transport cost class 2; reference terminal Durban"/>
          <p:cNvSpPr/>
          <p:nvPr/>
        </p:nvSpPr>
        <p:spPr>
          <a:xfrm>
            <a:off x="3955112" y="5267486"/>
            <a:ext cx="37555" cy="5325"/>
          </a:xfrm>
          <a:custGeom>
            <a:avLst/>
            <a:gdLst/>
            <a:ahLst/>
            <a:cxnLst/>
            <a:rect l="l" t="t" r="r" b="b"/>
            <a:pathLst>
              <a:path w="37555" h="5325">
                <a:moveTo>
                  <a:pt x="37555" y="0"/>
                </a:moveTo>
                <a:lnTo>
                  <a:pt x="37555" y="5325"/>
                </a:lnTo>
                <a:lnTo>
                  <a:pt x="0" y="0"/>
                </a:lnTo>
                <a:lnTo>
                  <a:pt x="37555"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8" name="Illustrative delivered road transport cost class 2; reference terminal Durban"/>
          <p:cNvSpPr/>
          <p:nvPr/>
        </p:nvSpPr>
        <p:spPr>
          <a:xfrm>
            <a:off x="3934981" y="5209799"/>
            <a:ext cx="57686" cy="57687"/>
          </a:xfrm>
          <a:custGeom>
            <a:avLst/>
            <a:gdLst/>
            <a:ahLst/>
            <a:cxnLst/>
            <a:rect l="l" t="t" r="r" b="b"/>
            <a:pathLst>
              <a:path w="57686" h="57687">
                <a:moveTo>
                  <a:pt x="0" y="0"/>
                </a:moveTo>
                <a:lnTo>
                  <a:pt x="57686" y="0"/>
                </a:lnTo>
                <a:lnTo>
                  <a:pt x="57686" y="57687"/>
                </a:lnTo>
                <a:lnTo>
                  <a:pt x="20131" y="57687"/>
                </a:lnTo>
                <a:lnTo>
                  <a:pt x="0" y="54833"/>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9" name="Illustrative delivered road transport cost class 2; reference terminal Durban"/>
          <p:cNvSpPr/>
          <p:nvPr/>
        </p:nvSpPr>
        <p:spPr>
          <a:xfrm>
            <a:off x="3934981"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0" name="Illustrative delivered road transport cost class 2; reference terminal Durban"/>
          <p:cNvSpPr/>
          <p:nvPr/>
        </p:nvSpPr>
        <p:spPr>
          <a:xfrm>
            <a:off x="3934981"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1" name="Illustrative delivered road transport cost class 2; reference terminal Durban"/>
          <p:cNvSpPr/>
          <p:nvPr/>
        </p:nvSpPr>
        <p:spPr>
          <a:xfrm>
            <a:off x="3934981"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2" name="Illustrative delivered road transport cost class 3; reference terminal Lesedi"/>
          <p:cNvSpPr/>
          <p:nvPr/>
        </p:nvSpPr>
        <p:spPr>
          <a:xfrm>
            <a:off x="3934981"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3" name="Illustrative delivered road transport cost class 2; reference terminal Durban"/>
          <p:cNvSpPr/>
          <p:nvPr/>
        </p:nvSpPr>
        <p:spPr>
          <a:xfrm>
            <a:off x="3934981"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4" name="Illustrative delivered road transport cost class 2; reference terminal Durban"/>
          <p:cNvSpPr/>
          <p:nvPr/>
        </p:nvSpPr>
        <p:spPr>
          <a:xfrm>
            <a:off x="3934981"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5" name="Illustrative delivered road transport cost class 2; reference terminal Durban"/>
          <p:cNvSpPr/>
          <p:nvPr/>
        </p:nvSpPr>
        <p:spPr>
          <a:xfrm>
            <a:off x="3934981"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6" name="Illustrative delivered road transport cost class 2; reference terminal Durban"/>
          <p:cNvSpPr/>
          <p:nvPr/>
        </p:nvSpPr>
        <p:spPr>
          <a:xfrm>
            <a:off x="3934981"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7" name="Illustrative delivered road transport cost class 2; reference terminal Durban"/>
          <p:cNvSpPr/>
          <p:nvPr/>
        </p:nvSpPr>
        <p:spPr>
          <a:xfrm>
            <a:off x="3934981"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8" name="Illustrative delivered road transport cost class 2; reference terminal Lesedi"/>
          <p:cNvSpPr/>
          <p:nvPr/>
        </p:nvSpPr>
        <p:spPr>
          <a:xfrm>
            <a:off x="3934981"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9" name="Illustrative delivered road transport cost class 2; reference terminal Lesedi"/>
          <p:cNvSpPr/>
          <p:nvPr/>
        </p:nvSpPr>
        <p:spPr>
          <a:xfrm>
            <a:off x="3934981"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0" name="Illustrative delivered road transport cost class 2; reference terminal Lesedi"/>
          <p:cNvSpPr/>
          <p:nvPr/>
        </p:nvSpPr>
        <p:spPr>
          <a:xfrm>
            <a:off x="3934981"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1" name="Illustrative delivered road transport cost class 2; reference terminal Lesedi"/>
          <p:cNvSpPr/>
          <p:nvPr/>
        </p:nvSpPr>
        <p:spPr>
          <a:xfrm>
            <a:off x="3934981"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2" name="Illustrative delivered road transport cost class 2; reference terminal Lesedi"/>
          <p:cNvSpPr/>
          <p:nvPr/>
        </p:nvSpPr>
        <p:spPr>
          <a:xfrm>
            <a:off x="3934981"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3" name="Illustrative delivered road transport cost class 2; reference terminal Lesedi"/>
          <p:cNvSpPr/>
          <p:nvPr/>
        </p:nvSpPr>
        <p:spPr>
          <a:xfrm>
            <a:off x="3934981"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4" name="Illustrative delivered road transport cost class 1; reference terminal Lesedi"/>
          <p:cNvSpPr/>
          <p:nvPr/>
        </p:nvSpPr>
        <p:spPr>
          <a:xfrm>
            <a:off x="3934981"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5" name="Illustrative delivered road transport cost class 1; reference terminal Lesedi"/>
          <p:cNvSpPr/>
          <p:nvPr/>
        </p:nvSpPr>
        <p:spPr>
          <a:xfrm>
            <a:off x="3934981"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6" name="Illustrative delivered road transport cost class 1; reference terminal Lesedi"/>
          <p:cNvSpPr/>
          <p:nvPr/>
        </p:nvSpPr>
        <p:spPr>
          <a:xfrm>
            <a:off x="3934981"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7" name="Illustrative delivered road transport cost class 1; reference terminal Lesedi"/>
          <p:cNvSpPr/>
          <p:nvPr/>
        </p:nvSpPr>
        <p:spPr>
          <a:xfrm>
            <a:off x="3934981"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8" name="Illustrative delivered road transport cost class 1; reference terminal Lesedi"/>
          <p:cNvSpPr/>
          <p:nvPr/>
        </p:nvSpPr>
        <p:spPr>
          <a:xfrm>
            <a:off x="3934981"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9" name="Illustrative delivered road transport cost class 1; reference terminal Lesedi"/>
          <p:cNvSpPr/>
          <p:nvPr/>
        </p:nvSpPr>
        <p:spPr>
          <a:xfrm>
            <a:off x="3934981"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0" name="Illustrative delivered road transport cost class 1; reference terminal Lesedi"/>
          <p:cNvSpPr/>
          <p:nvPr/>
        </p:nvSpPr>
        <p:spPr>
          <a:xfrm>
            <a:off x="3934981"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1" name="Illustrative delivered road transport cost class 1; reference terminal Lesedi"/>
          <p:cNvSpPr/>
          <p:nvPr/>
        </p:nvSpPr>
        <p:spPr>
          <a:xfrm>
            <a:off x="3934981"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2" name="Illustrative delivered road transport cost class 1; reference terminal Lesedi"/>
          <p:cNvSpPr/>
          <p:nvPr/>
        </p:nvSpPr>
        <p:spPr>
          <a:xfrm>
            <a:off x="3934981"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3" name="Illustrative delivered road transport cost class 1; reference terminal Lesedi"/>
          <p:cNvSpPr/>
          <p:nvPr/>
        </p:nvSpPr>
        <p:spPr>
          <a:xfrm>
            <a:off x="3934981"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4" name="Illustrative delivered road transport cost class 1; reference terminal Lesedi"/>
          <p:cNvSpPr/>
          <p:nvPr/>
        </p:nvSpPr>
        <p:spPr>
          <a:xfrm>
            <a:off x="3934981"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5" name="Illustrative delivered road transport cost class 0; reference terminal Lesedi"/>
          <p:cNvSpPr/>
          <p:nvPr/>
        </p:nvSpPr>
        <p:spPr>
          <a:xfrm>
            <a:off x="3934981"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6" name="Illustrative delivered road transport cost class 0; reference terminal Lesedi"/>
          <p:cNvSpPr/>
          <p:nvPr/>
        </p:nvSpPr>
        <p:spPr>
          <a:xfrm>
            <a:off x="3934981"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7" name="Illustrative delivered road transport cost class 0; reference terminal Lesedi"/>
          <p:cNvSpPr/>
          <p:nvPr/>
        </p:nvSpPr>
        <p:spPr>
          <a:xfrm>
            <a:off x="3934981"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8" name="Illustrative delivered road transport cost class 0; reference terminal Lesedi"/>
          <p:cNvSpPr/>
          <p:nvPr/>
        </p:nvSpPr>
        <p:spPr>
          <a:xfrm>
            <a:off x="3934981"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9" name="Illustrative delivered road transport cost class 0; reference terminal Lesedi"/>
          <p:cNvSpPr/>
          <p:nvPr/>
        </p:nvSpPr>
        <p:spPr>
          <a:xfrm>
            <a:off x="3934981"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0" name="Illustrative delivered road transport cost class 0; reference terminal Lesedi"/>
          <p:cNvSpPr/>
          <p:nvPr/>
        </p:nvSpPr>
        <p:spPr>
          <a:xfrm>
            <a:off x="3934981"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1" name="Illustrative delivered road transport cost class 0; reference terminal Lesedi"/>
          <p:cNvSpPr/>
          <p:nvPr/>
        </p:nvSpPr>
        <p:spPr>
          <a:xfrm>
            <a:off x="3934981"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2" name="Illustrative delivered road transport cost class 1; reference terminal Lesedi"/>
          <p:cNvSpPr/>
          <p:nvPr/>
        </p:nvSpPr>
        <p:spPr>
          <a:xfrm>
            <a:off x="3934981"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3" name="Illustrative delivered road transport cost class 1; reference terminal Lesedi"/>
          <p:cNvSpPr/>
          <p:nvPr/>
        </p:nvSpPr>
        <p:spPr>
          <a:xfrm>
            <a:off x="3934981"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4" name="Illustrative delivered road transport cost class 1; reference terminal Lesedi"/>
          <p:cNvSpPr/>
          <p:nvPr/>
        </p:nvSpPr>
        <p:spPr>
          <a:xfrm>
            <a:off x="3934981"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5" name="Illustrative delivered road transport cost class 1; reference terminal Lesedi"/>
          <p:cNvSpPr/>
          <p:nvPr/>
        </p:nvSpPr>
        <p:spPr>
          <a:xfrm>
            <a:off x="3934981"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6" name="Illustrative delivered road transport cost class 1; reference terminal Lesedi"/>
          <p:cNvSpPr/>
          <p:nvPr/>
        </p:nvSpPr>
        <p:spPr>
          <a:xfrm>
            <a:off x="3934981"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7" name="Illustrative delivered road transport cost class 1; reference terminal Lesedi"/>
          <p:cNvSpPr/>
          <p:nvPr/>
        </p:nvSpPr>
        <p:spPr>
          <a:xfrm>
            <a:off x="3934981" y="2960023"/>
            <a:ext cx="57686" cy="57687"/>
          </a:xfrm>
          <a:custGeom>
            <a:avLst/>
            <a:gdLst/>
            <a:ahLst/>
            <a:cxnLst/>
            <a:rect l="l" t="t" r="r" b="b"/>
            <a:pathLst>
              <a:path w="57686" h="57687">
                <a:moveTo>
                  <a:pt x="57686" y="0"/>
                </a:moveTo>
                <a:lnTo>
                  <a:pt x="57686" y="57687"/>
                </a:lnTo>
                <a:lnTo>
                  <a:pt x="0" y="57687"/>
                </a:lnTo>
                <a:lnTo>
                  <a:pt x="0" y="2671"/>
                </a:lnTo>
                <a:lnTo>
                  <a:pt x="6641" y="0"/>
                </a:lnTo>
                <a:lnTo>
                  <a:pt x="57686"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8" name="Illustrative delivered road transport cost class 1; reference terminal Lesedi"/>
          <p:cNvSpPr/>
          <p:nvPr/>
        </p:nvSpPr>
        <p:spPr>
          <a:xfrm>
            <a:off x="3941622" y="2945357"/>
            <a:ext cx="51045" cy="14666"/>
          </a:xfrm>
          <a:custGeom>
            <a:avLst/>
            <a:gdLst/>
            <a:ahLst/>
            <a:cxnLst/>
            <a:rect l="l" t="t" r="r" b="b"/>
            <a:pathLst>
              <a:path w="51045" h="14666">
                <a:moveTo>
                  <a:pt x="51045" y="14666"/>
                </a:moveTo>
                <a:lnTo>
                  <a:pt x="0" y="14666"/>
                </a:lnTo>
                <a:lnTo>
                  <a:pt x="3690" y="13183"/>
                </a:lnTo>
                <a:lnTo>
                  <a:pt x="26892" y="5479"/>
                </a:lnTo>
                <a:lnTo>
                  <a:pt x="51045" y="0"/>
                </a:lnTo>
                <a:lnTo>
                  <a:pt x="51045" y="1466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9" name="Illustrative delivered road transport cost class 2; reference terminal Durban"/>
          <p:cNvSpPr/>
          <p:nvPr/>
        </p:nvSpPr>
        <p:spPr>
          <a:xfrm>
            <a:off x="3992667" y="5267486"/>
            <a:ext cx="41532" cy="7796"/>
          </a:xfrm>
          <a:custGeom>
            <a:avLst/>
            <a:gdLst/>
            <a:ahLst/>
            <a:cxnLst/>
            <a:rect l="l" t="t" r="r" b="b"/>
            <a:pathLst>
              <a:path w="41532" h="7796">
                <a:moveTo>
                  <a:pt x="0" y="0"/>
                </a:moveTo>
                <a:lnTo>
                  <a:pt x="41532" y="0"/>
                </a:lnTo>
                <a:lnTo>
                  <a:pt x="17428" y="7796"/>
                </a:lnTo>
                <a:lnTo>
                  <a:pt x="0" y="5325"/>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0" name="Illustrative delivered road transport cost class 2; reference terminal Durban"/>
          <p:cNvSpPr/>
          <p:nvPr/>
        </p:nvSpPr>
        <p:spPr>
          <a:xfrm>
            <a:off x="3992667" y="5209799"/>
            <a:ext cx="57687" cy="57687"/>
          </a:xfrm>
          <a:custGeom>
            <a:avLst/>
            <a:gdLst/>
            <a:ahLst/>
            <a:cxnLst/>
            <a:rect l="l" t="t" r="r" b="b"/>
            <a:pathLst>
              <a:path w="57687" h="57687">
                <a:moveTo>
                  <a:pt x="0" y="57687"/>
                </a:moveTo>
                <a:lnTo>
                  <a:pt x="0" y="0"/>
                </a:lnTo>
                <a:lnTo>
                  <a:pt x="57687" y="0"/>
                </a:lnTo>
                <a:lnTo>
                  <a:pt x="57687" y="52373"/>
                </a:lnTo>
                <a:lnTo>
                  <a:pt x="57034" y="52673"/>
                </a:lnTo>
                <a:lnTo>
                  <a:pt x="41532"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1" name="Illustrative delivered road transport cost class 2; reference terminal Durban"/>
          <p:cNvSpPr/>
          <p:nvPr/>
        </p:nvSpPr>
        <p:spPr>
          <a:xfrm>
            <a:off x="3992667"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2" name="Illustrative delivered road transport cost class 2; reference terminal Durban"/>
          <p:cNvSpPr/>
          <p:nvPr/>
        </p:nvSpPr>
        <p:spPr>
          <a:xfrm>
            <a:off x="3992667"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3" name="Illustrative delivered road transport cost class 2; reference terminal Durban"/>
          <p:cNvSpPr/>
          <p:nvPr/>
        </p:nvSpPr>
        <p:spPr>
          <a:xfrm>
            <a:off x="3992667"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4" name="Illustrative delivered road transport cost class 2; reference terminal Durban"/>
          <p:cNvSpPr/>
          <p:nvPr/>
        </p:nvSpPr>
        <p:spPr>
          <a:xfrm>
            <a:off x="3992667"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5" name="Illustrative delivered road transport cost class 2; reference terminal Durban"/>
          <p:cNvSpPr/>
          <p:nvPr/>
        </p:nvSpPr>
        <p:spPr>
          <a:xfrm>
            <a:off x="3992667"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6" name="Illustrative delivered road transport cost class 2; reference terminal Durban"/>
          <p:cNvSpPr/>
          <p:nvPr/>
        </p:nvSpPr>
        <p:spPr>
          <a:xfrm>
            <a:off x="3992667"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7" name="Illustrative delivered road transport cost class 2; reference terminal Durban"/>
          <p:cNvSpPr/>
          <p:nvPr/>
        </p:nvSpPr>
        <p:spPr>
          <a:xfrm>
            <a:off x="3992667"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8" name="Illustrative delivered road transport cost class 2; reference terminal Durban"/>
          <p:cNvSpPr/>
          <p:nvPr/>
        </p:nvSpPr>
        <p:spPr>
          <a:xfrm>
            <a:off x="3992667"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9" name="Illustrative delivered road transport cost class 2; reference terminal Lesedi"/>
          <p:cNvSpPr/>
          <p:nvPr/>
        </p:nvSpPr>
        <p:spPr>
          <a:xfrm>
            <a:off x="3992667"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0" name="Illustrative delivered road transport cost class 2; reference terminal Lesedi"/>
          <p:cNvSpPr/>
          <p:nvPr/>
        </p:nvSpPr>
        <p:spPr>
          <a:xfrm>
            <a:off x="3992667"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1" name="Illustrative delivered road transport cost class 2; reference terminal Lesedi"/>
          <p:cNvSpPr/>
          <p:nvPr/>
        </p:nvSpPr>
        <p:spPr>
          <a:xfrm>
            <a:off x="3992667"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2" name="Illustrative delivered road transport cost class 2; reference terminal Lesedi"/>
          <p:cNvSpPr/>
          <p:nvPr/>
        </p:nvSpPr>
        <p:spPr>
          <a:xfrm>
            <a:off x="3992667"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3" name="Illustrative delivered road transport cost class 2; reference terminal Lesedi"/>
          <p:cNvSpPr/>
          <p:nvPr/>
        </p:nvSpPr>
        <p:spPr>
          <a:xfrm>
            <a:off x="3992667"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4" name="Illustrative delivered road transport cost class 2; reference terminal Lesedi"/>
          <p:cNvSpPr/>
          <p:nvPr/>
        </p:nvSpPr>
        <p:spPr>
          <a:xfrm>
            <a:off x="3992667"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5" name="Illustrative delivered road transport cost class 2; reference terminal Lesedi"/>
          <p:cNvSpPr/>
          <p:nvPr/>
        </p:nvSpPr>
        <p:spPr>
          <a:xfrm>
            <a:off x="3992667"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6" name="Illustrative delivered road transport cost class 1; reference terminal Lesedi"/>
          <p:cNvSpPr/>
          <p:nvPr/>
        </p:nvSpPr>
        <p:spPr>
          <a:xfrm>
            <a:off x="3992667"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7" name="Illustrative delivered road transport cost class 1; reference terminal Lesedi"/>
          <p:cNvSpPr/>
          <p:nvPr/>
        </p:nvSpPr>
        <p:spPr>
          <a:xfrm>
            <a:off x="3992667"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8" name="Illustrative delivered road transport cost class 1; reference terminal Lesedi"/>
          <p:cNvSpPr/>
          <p:nvPr/>
        </p:nvSpPr>
        <p:spPr>
          <a:xfrm>
            <a:off x="3992667"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9" name="Illustrative delivered road transport cost class 1; reference terminal Lesedi"/>
          <p:cNvSpPr/>
          <p:nvPr/>
        </p:nvSpPr>
        <p:spPr>
          <a:xfrm>
            <a:off x="3992667"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0" name="Illustrative delivered road transport cost class 1; reference terminal Lesedi"/>
          <p:cNvSpPr/>
          <p:nvPr/>
        </p:nvSpPr>
        <p:spPr>
          <a:xfrm>
            <a:off x="3992667"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1" name="Illustrative delivered road transport cost class 1; reference terminal Lesedi"/>
          <p:cNvSpPr/>
          <p:nvPr/>
        </p:nvSpPr>
        <p:spPr>
          <a:xfrm>
            <a:off x="3992667"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2" name="Illustrative delivered road transport cost class 1; reference terminal Lesedi"/>
          <p:cNvSpPr/>
          <p:nvPr/>
        </p:nvSpPr>
        <p:spPr>
          <a:xfrm>
            <a:off x="3992667"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3" name="Illustrative delivered road transport cost class 1; reference terminal Lesedi"/>
          <p:cNvSpPr/>
          <p:nvPr/>
        </p:nvSpPr>
        <p:spPr>
          <a:xfrm>
            <a:off x="3992667"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4" name="Illustrative delivered road transport cost class 1; reference terminal Lesedi"/>
          <p:cNvSpPr/>
          <p:nvPr/>
        </p:nvSpPr>
        <p:spPr>
          <a:xfrm>
            <a:off x="3992667"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5" name="Illustrative delivered road transport cost class 1; reference terminal Lesedi"/>
          <p:cNvSpPr/>
          <p:nvPr/>
        </p:nvSpPr>
        <p:spPr>
          <a:xfrm>
            <a:off x="3992667"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6" name="Illustrative delivered road transport cost class 1; reference terminal Lesedi"/>
          <p:cNvSpPr/>
          <p:nvPr/>
        </p:nvSpPr>
        <p:spPr>
          <a:xfrm>
            <a:off x="3992667"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7" name="Illustrative delivered road transport cost class 0; reference terminal Lesedi"/>
          <p:cNvSpPr/>
          <p:nvPr/>
        </p:nvSpPr>
        <p:spPr>
          <a:xfrm>
            <a:off x="3992667"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8" name="Illustrative delivered road transport cost class 0; reference terminal Lesedi"/>
          <p:cNvSpPr/>
          <p:nvPr/>
        </p:nvSpPr>
        <p:spPr>
          <a:xfrm>
            <a:off x="3992667"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9" name="Illustrative delivered road transport cost class 0; reference terminal Lesedi"/>
          <p:cNvSpPr/>
          <p:nvPr/>
        </p:nvSpPr>
        <p:spPr>
          <a:xfrm>
            <a:off x="3992667"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0" name="Illustrative delivered road transport cost class 0; reference terminal Lesedi"/>
          <p:cNvSpPr/>
          <p:nvPr/>
        </p:nvSpPr>
        <p:spPr>
          <a:xfrm>
            <a:off x="3992667"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1" name="Illustrative delivered road transport cost class 0; reference terminal Lesedi"/>
          <p:cNvSpPr/>
          <p:nvPr/>
        </p:nvSpPr>
        <p:spPr>
          <a:xfrm>
            <a:off x="3992667"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2" name="Illustrative delivered road transport cost class 0; reference terminal Lesedi"/>
          <p:cNvSpPr/>
          <p:nvPr/>
        </p:nvSpPr>
        <p:spPr>
          <a:xfrm>
            <a:off x="3992667"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3" name="Illustrative delivered road transport cost class 0; reference terminal Lesedi"/>
          <p:cNvSpPr/>
          <p:nvPr/>
        </p:nvSpPr>
        <p:spPr>
          <a:xfrm>
            <a:off x="3992667"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4" name="Illustrative delivered road transport cost class 0; reference terminal Lesedi"/>
          <p:cNvSpPr/>
          <p:nvPr/>
        </p:nvSpPr>
        <p:spPr>
          <a:xfrm>
            <a:off x="3992667"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5" name="Illustrative delivered road transport cost class 0; reference terminal Lesedi"/>
          <p:cNvSpPr/>
          <p:nvPr/>
        </p:nvSpPr>
        <p:spPr>
          <a:xfrm>
            <a:off x="3992667"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6" name="Illustrative delivered road transport cost class 0; reference terminal Lesedi"/>
          <p:cNvSpPr/>
          <p:nvPr/>
        </p:nvSpPr>
        <p:spPr>
          <a:xfrm>
            <a:off x="3992667"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7" name="Illustrative delivered road transport cost class 0; reference terminal Lesedi"/>
          <p:cNvSpPr/>
          <p:nvPr/>
        </p:nvSpPr>
        <p:spPr>
          <a:xfrm>
            <a:off x="3992667"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8" name="Illustrative delivered road transport cost class 1; reference terminal Lesedi"/>
          <p:cNvSpPr/>
          <p:nvPr/>
        </p:nvSpPr>
        <p:spPr>
          <a:xfrm>
            <a:off x="3992667"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9" name="Illustrative delivered road transport cost class 1; reference terminal Lesedi"/>
          <p:cNvSpPr/>
          <p:nvPr/>
        </p:nvSpPr>
        <p:spPr>
          <a:xfrm>
            <a:off x="3992667"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0" name="Illustrative delivered road transport cost class 1; reference terminal Lesedi"/>
          <p:cNvSpPr/>
          <p:nvPr/>
        </p:nvSpPr>
        <p:spPr>
          <a:xfrm>
            <a:off x="3992667" y="2919144"/>
            <a:ext cx="57687" cy="40879"/>
          </a:xfrm>
          <a:custGeom>
            <a:avLst/>
            <a:gdLst/>
            <a:ahLst/>
            <a:cxnLst/>
            <a:rect l="l" t="t" r="r" b="b"/>
            <a:pathLst>
              <a:path w="57687" h="40879">
                <a:moveTo>
                  <a:pt x="57687" y="40879"/>
                </a:moveTo>
                <a:lnTo>
                  <a:pt x="0" y="40879"/>
                </a:lnTo>
                <a:lnTo>
                  <a:pt x="0" y="26213"/>
                </a:lnTo>
                <a:lnTo>
                  <a:pt x="38235" y="17540"/>
                </a:lnTo>
                <a:lnTo>
                  <a:pt x="51084" y="9806"/>
                </a:lnTo>
                <a:lnTo>
                  <a:pt x="57687" y="0"/>
                </a:lnTo>
                <a:lnTo>
                  <a:pt x="57687" y="40879"/>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1" name="Illustrative delivered road transport cost class 2; reference terminal Durban"/>
          <p:cNvSpPr/>
          <p:nvPr/>
        </p:nvSpPr>
        <p:spPr>
          <a:xfrm>
            <a:off x="4050354" y="5209799"/>
            <a:ext cx="57687" cy="52373"/>
          </a:xfrm>
          <a:custGeom>
            <a:avLst/>
            <a:gdLst/>
            <a:ahLst/>
            <a:cxnLst/>
            <a:rect l="l" t="t" r="r" b="b"/>
            <a:pathLst>
              <a:path w="57687" h="52373">
                <a:moveTo>
                  <a:pt x="0" y="0"/>
                </a:moveTo>
                <a:lnTo>
                  <a:pt x="57687" y="0"/>
                </a:lnTo>
                <a:lnTo>
                  <a:pt x="57687" y="25879"/>
                </a:lnTo>
                <a:lnTo>
                  <a:pt x="0" y="52373"/>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2" name="Illustrative delivered road transport cost class 2; reference terminal Durban"/>
          <p:cNvSpPr/>
          <p:nvPr/>
        </p:nvSpPr>
        <p:spPr>
          <a:xfrm>
            <a:off x="4050354"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3" name="Illustrative delivered road transport cost class 2; reference terminal Durban"/>
          <p:cNvSpPr/>
          <p:nvPr/>
        </p:nvSpPr>
        <p:spPr>
          <a:xfrm>
            <a:off x="4050354"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4" name="Illustrative delivered road transport cost class 2; reference terminal Durban"/>
          <p:cNvSpPr/>
          <p:nvPr/>
        </p:nvSpPr>
        <p:spPr>
          <a:xfrm>
            <a:off x="4050354"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5" name="Illustrative delivered road transport cost class 2; reference terminal Durban"/>
          <p:cNvSpPr/>
          <p:nvPr/>
        </p:nvSpPr>
        <p:spPr>
          <a:xfrm>
            <a:off x="4050354"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6" name="Illustrative delivered road transport cost class 2; reference terminal Durban"/>
          <p:cNvSpPr/>
          <p:nvPr/>
        </p:nvSpPr>
        <p:spPr>
          <a:xfrm>
            <a:off x="4050354"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7" name="Illustrative delivered road transport cost class 2; reference terminal Durban"/>
          <p:cNvSpPr/>
          <p:nvPr/>
        </p:nvSpPr>
        <p:spPr>
          <a:xfrm>
            <a:off x="4050354"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8" name="Illustrative delivered road transport cost class 2; reference terminal Durban"/>
          <p:cNvSpPr/>
          <p:nvPr/>
        </p:nvSpPr>
        <p:spPr>
          <a:xfrm>
            <a:off x="4050354"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9" name="Illustrative delivered road transport cost class 2; reference terminal Durban"/>
          <p:cNvSpPr/>
          <p:nvPr/>
        </p:nvSpPr>
        <p:spPr>
          <a:xfrm>
            <a:off x="4050354"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0" name="Illustrative delivered road transport cost class 2; reference terminal Lesedi"/>
          <p:cNvSpPr/>
          <p:nvPr/>
        </p:nvSpPr>
        <p:spPr>
          <a:xfrm>
            <a:off x="4050354"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1" name="Illustrative delivered road transport cost class 2; reference terminal Lesedi"/>
          <p:cNvSpPr/>
          <p:nvPr/>
        </p:nvSpPr>
        <p:spPr>
          <a:xfrm>
            <a:off x="4050354"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2" name="Illustrative delivered road transport cost class 2; reference terminal Lesedi"/>
          <p:cNvSpPr/>
          <p:nvPr/>
        </p:nvSpPr>
        <p:spPr>
          <a:xfrm>
            <a:off x="4050354"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3" name="Illustrative delivered road transport cost class 2; reference terminal Lesedi"/>
          <p:cNvSpPr/>
          <p:nvPr/>
        </p:nvSpPr>
        <p:spPr>
          <a:xfrm>
            <a:off x="4050354"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4" name="Illustrative delivered road transport cost class 2; reference terminal Lesedi"/>
          <p:cNvSpPr/>
          <p:nvPr/>
        </p:nvSpPr>
        <p:spPr>
          <a:xfrm>
            <a:off x="4050354"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5" name="Illustrative delivered road transport cost class 2; reference terminal Lesedi"/>
          <p:cNvSpPr/>
          <p:nvPr/>
        </p:nvSpPr>
        <p:spPr>
          <a:xfrm>
            <a:off x="4050354"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6" name="Illustrative delivered road transport cost class 2; reference terminal Lesedi"/>
          <p:cNvSpPr/>
          <p:nvPr/>
        </p:nvSpPr>
        <p:spPr>
          <a:xfrm>
            <a:off x="4050354"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7" name="Illustrative delivered road transport cost class 1; reference terminal Lesedi"/>
          <p:cNvSpPr/>
          <p:nvPr/>
        </p:nvSpPr>
        <p:spPr>
          <a:xfrm>
            <a:off x="4050354"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8" name="Illustrative delivered road transport cost class 1; reference terminal Lesedi"/>
          <p:cNvSpPr/>
          <p:nvPr/>
        </p:nvSpPr>
        <p:spPr>
          <a:xfrm>
            <a:off x="4050354"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9" name="Illustrative delivered road transport cost class 1; reference terminal Lesedi"/>
          <p:cNvSpPr/>
          <p:nvPr/>
        </p:nvSpPr>
        <p:spPr>
          <a:xfrm>
            <a:off x="4050354"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0" name="Illustrative delivered road transport cost class 1; reference terminal Lesedi"/>
          <p:cNvSpPr/>
          <p:nvPr/>
        </p:nvSpPr>
        <p:spPr>
          <a:xfrm>
            <a:off x="4050354"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1" name="Illustrative delivered road transport cost class 1; reference terminal Lesedi"/>
          <p:cNvSpPr/>
          <p:nvPr/>
        </p:nvSpPr>
        <p:spPr>
          <a:xfrm>
            <a:off x="4050354"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2" name="Illustrative delivered road transport cost class 1; reference terminal Lesedi"/>
          <p:cNvSpPr/>
          <p:nvPr/>
        </p:nvSpPr>
        <p:spPr>
          <a:xfrm>
            <a:off x="4050354"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3" name="Illustrative delivered road transport cost class 1; reference terminal Lesedi"/>
          <p:cNvSpPr/>
          <p:nvPr/>
        </p:nvSpPr>
        <p:spPr>
          <a:xfrm>
            <a:off x="4050354"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4" name="Illustrative delivered road transport cost class 1; reference terminal Lesedi"/>
          <p:cNvSpPr/>
          <p:nvPr/>
        </p:nvSpPr>
        <p:spPr>
          <a:xfrm>
            <a:off x="4050354"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5" name="Illustrative delivered road transport cost class 1; reference terminal Lesedi"/>
          <p:cNvSpPr/>
          <p:nvPr/>
        </p:nvSpPr>
        <p:spPr>
          <a:xfrm>
            <a:off x="4050354"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6" name="Illustrative delivered road transport cost class 0; reference terminal Lesedi"/>
          <p:cNvSpPr/>
          <p:nvPr/>
        </p:nvSpPr>
        <p:spPr>
          <a:xfrm>
            <a:off x="4050354"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7" name="Illustrative delivered road transport cost class 0; reference terminal Lesedi"/>
          <p:cNvSpPr/>
          <p:nvPr/>
        </p:nvSpPr>
        <p:spPr>
          <a:xfrm>
            <a:off x="4050354"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8" name="Illustrative delivered road transport cost class 0; reference terminal Lesedi"/>
          <p:cNvSpPr/>
          <p:nvPr/>
        </p:nvSpPr>
        <p:spPr>
          <a:xfrm>
            <a:off x="4050354"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9" name="Illustrative delivered road transport cost class 0; reference terminal Lesedi"/>
          <p:cNvSpPr/>
          <p:nvPr/>
        </p:nvSpPr>
        <p:spPr>
          <a:xfrm>
            <a:off x="4050354"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0" name="Illustrative delivered road transport cost class 0; reference terminal Lesedi"/>
          <p:cNvSpPr/>
          <p:nvPr/>
        </p:nvSpPr>
        <p:spPr>
          <a:xfrm>
            <a:off x="4050354"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1" name="Illustrative delivered road transport cost class 0; reference terminal Lesedi"/>
          <p:cNvSpPr/>
          <p:nvPr/>
        </p:nvSpPr>
        <p:spPr>
          <a:xfrm>
            <a:off x="4050354"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2" name="Illustrative delivered road transport cost class 0; reference terminal Lesedi"/>
          <p:cNvSpPr/>
          <p:nvPr/>
        </p:nvSpPr>
        <p:spPr>
          <a:xfrm>
            <a:off x="4050354"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3" name="Illustrative delivered road transport cost class 0; reference terminal Lesedi"/>
          <p:cNvSpPr/>
          <p:nvPr/>
        </p:nvSpPr>
        <p:spPr>
          <a:xfrm>
            <a:off x="4050354"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4" name="Illustrative delivered road transport cost class 0; reference terminal Lesedi"/>
          <p:cNvSpPr/>
          <p:nvPr/>
        </p:nvSpPr>
        <p:spPr>
          <a:xfrm>
            <a:off x="4050354"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5" name="Illustrative delivered road transport cost class 0; reference terminal Lesedi"/>
          <p:cNvSpPr/>
          <p:nvPr/>
        </p:nvSpPr>
        <p:spPr>
          <a:xfrm>
            <a:off x="4050354"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6" name="Illustrative delivered road transport cost class 0; reference terminal Lesedi"/>
          <p:cNvSpPr/>
          <p:nvPr/>
        </p:nvSpPr>
        <p:spPr>
          <a:xfrm>
            <a:off x="4050354"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7" name="Illustrative delivered road transport cost class 0; reference terminal Lesedi"/>
          <p:cNvSpPr/>
          <p:nvPr/>
        </p:nvSpPr>
        <p:spPr>
          <a:xfrm>
            <a:off x="4050354"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8" name="Illustrative delivered road transport cost class 0; reference terminal Lesedi"/>
          <p:cNvSpPr/>
          <p:nvPr/>
        </p:nvSpPr>
        <p:spPr>
          <a:xfrm>
            <a:off x="4050354"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9" name="Illustrative delivered road transport cost class 0; reference terminal Lesedi"/>
          <p:cNvSpPr/>
          <p:nvPr/>
        </p:nvSpPr>
        <p:spPr>
          <a:xfrm>
            <a:off x="4050354"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0" name="Illustrative delivered road transport cost class 1; reference terminal Lesedi"/>
          <p:cNvSpPr/>
          <p:nvPr/>
        </p:nvSpPr>
        <p:spPr>
          <a:xfrm>
            <a:off x="4050354"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1" name="Illustrative delivered road transport cost class 1; reference terminal Lesedi"/>
          <p:cNvSpPr/>
          <p:nvPr/>
        </p:nvSpPr>
        <p:spPr>
          <a:xfrm>
            <a:off x="4050354" y="2902337"/>
            <a:ext cx="57687" cy="57686"/>
          </a:xfrm>
          <a:custGeom>
            <a:avLst/>
            <a:gdLst/>
            <a:ahLst/>
            <a:cxnLst/>
            <a:rect l="l" t="t" r="r" b="b"/>
            <a:pathLst>
              <a:path w="57687" h="57686">
                <a:moveTo>
                  <a:pt x="57687" y="0"/>
                </a:moveTo>
                <a:lnTo>
                  <a:pt x="57687" y="57686"/>
                </a:lnTo>
                <a:lnTo>
                  <a:pt x="0" y="57686"/>
                </a:lnTo>
                <a:lnTo>
                  <a:pt x="0" y="16807"/>
                </a:lnTo>
                <a:lnTo>
                  <a:pt x="5245" y="9018"/>
                </a:lnTo>
                <a:lnTo>
                  <a:pt x="13603" y="0"/>
                </a:lnTo>
                <a:lnTo>
                  <a:pt x="57687"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2" name="Illustrative delivered road transport cost class None; reference terminal None"/>
          <p:cNvSpPr/>
          <p:nvPr/>
        </p:nvSpPr>
        <p:spPr>
          <a:xfrm>
            <a:off x="4063957" y="2863525"/>
            <a:ext cx="44084" cy="38812"/>
          </a:xfrm>
          <a:custGeom>
            <a:avLst/>
            <a:gdLst/>
            <a:ahLst/>
            <a:cxnLst/>
            <a:rect l="l" t="t" r="r" b="b"/>
            <a:pathLst>
              <a:path w="44084" h="38812">
                <a:moveTo>
                  <a:pt x="44084" y="38812"/>
                </a:moveTo>
                <a:lnTo>
                  <a:pt x="0" y="38812"/>
                </a:lnTo>
                <a:lnTo>
                  <a:pt x="19199" y="18095"/>
                </a:lnTo>
                <a:lnTo>
                  <a:pt x="44084" y="0"/>
                </a:lnTo>
                <a:lnTo>
                  <a:pt x="44084" y="3881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3" name="Illustrative delivered road transport cost class 2; reference terminal Durban"/>
          <p:cNvSpPr/>
          <p:nvPr/>
        </p:nvSpPr>
        <p:spPr>
          <a:xfrm>
            <a:off x="4108041" y="5209799"/>
            <a:ext cx="52253" cy="25879"/>
          </a:xfrm>
          <a:custGeom>
            <a:avLst/>
            <a:gdLst/>
            <a:ahLst/>
            <a:cxnLst/>
            <a:rect l="l" t="t" r="r" b="b"/>
            <a:pathLst>
              <a:path w="52253" h="25879">
                <a:moveTo>
                  <a:pt x="0" y="0"/>
                </a:moveTo>
                <a:lnTo>
                  <a:pt x="52253" y="0"/>
                </a:lnTo>
                <a:lnTo>
                  <a:pt x="41856" y="6655"/>
                </a:lnTo>
                <a:lnTo>
                  <a:pt x="0" y="25879"/>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4" name="Illustrative delivered road transport cost class 2; reference terminal Durban"/>
          <p:cNvSpPr/>
          <p:nvPr/>
        </p:nvSpPr>
        <p:spPr>
          <a:xfrm>
            <a:off x="4108041" y="5152113"/>
            <a:ext cx="57686" cy="57686"/>
          </a:xfrm>
          <a:custGeom>
            <a:avLst/>
            <a:gdLst/>
            <a:ahLst/>
            <a:cxnLst/>
            <a:rect l="l" t="t" r="r" b="b"/>
            <a:pathLst>
              <a:path w="57686" h="57686">
                <a:moveTo>
                  <a:pt x="0" y="57686"/>
                </a:moveTo>
                <a:lnTo>
                  <a:pt x="0" y="0"/>
                </a:lnTo>
                <a:lnTo>
                  <a:pt x="57686" y="0"/>
                </a:lnTo>
                <a:lnTo>
                  <a:pt x="57686" y="54209"/>
                </a:lnTo>
                <a:lnTo>
                  <a:pt x="52253"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5" name="Illustrative delivered road transport cost class 2; reference terminal Durban"/>
          <p:cNvSpPr/>
          <p:nvPr/>
        </p:nvSpPr>
        <p:spPr>
          <a:xfrm>
            <a:off x="4108041"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6" name="Illustrative delivered road transport cost class 2; reference terminal Durban"/>
          <p:cNvSpPr/>
          <p:nvPr/>
        </p:nvSpPr>
        <p:spPr>
          <a:xfrm>
            <a:off x="4108041"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7" name="Illustrative delivered road transport cost class 2; reference terminal Durban"/>
          <p:cNvSpPr/>
          <p:nvPr/>
        </p:nvSpPr>
        <p:spPr>
          <a:xfrm>
            <a:off x="4108041"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8" name="Illustrative delivered road transport cost class 2; reference terminal Durban"/>
          <p:cNvSpPr/>
          <p:nvPr/>
        </p:nvSpPr>
        <p:spPr>
          <a:xfrm>
            <a:off x="4108041"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9" name="Illustrative delivered road transport cost class 2; reference terminal Durban"/>
          <p:cNvSpPr/>
          <p:nvPr/>
        </p:nvSpPr>
        <p:spPr>
          <a:xfrm>
            <a:off x="4108041"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0" name="Illustrative delivered road transport cost class 2; reference terminal Durban"/>
          <p:cNvSpPr/>
          <p:nvPr/>
        </p:nvSpPr>
        <p:spPr>
          <a:xfrm>
            <a:off x="4108041"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1" name="Illustrative delivered road transport cost class 2; reference terminal Durban"/>
          <p:cNvSpPr/>
          <p:nvPr/>
        </p:nvSpPr>
        <p:spPr>
          <a:xfrm>
            <a:off x="4108041"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2" name="Illustrative delivered road transport cost class 2; reference terminal Lesedi"/>
          <p:cNvSpPr/>
          <p:nvPr/>
        </p:nvSpPr>
        <p:spPr>
          <a:xfrm>
            <a:off x="4108041"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3" name="Illustrative delivered road transport cost class 2; reference terminal Lesedi"/>
          <p:cNvSpPr/>
          <p:nvPr/>
        </p:nvSpPr>
        <p:spPr>
          <a:xfrm>
            <a:off x="4108041"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4" name="Illustrative delivered road transport cost class 2; reference terminal Lesedi"/>
          <p:cNvSpPr/>
          <p:nvPr/>
        </p:nvSpPr>
        <p:spPr>
          <a:xfrm>
            <a:off x="4108041"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5" name="Illustrative delivered road transport cost class 2; reference terminal Lesedi"/>
          <p:cNvSpPr/>
          <p:nvPr/>
        </p:nvSpPr>
        <p:spPr>
          <a:xfrm>
            <a:off x="4108041"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6" name="Illustrative delivered road transport cost class 2; reference terminal Lesedi"/>
          <p:cNvSpPr/>
          <p:nvPr/>
        </p:nvSpPr>
        <p:spPr>
          <a:xfrm>
            <a:off x="4108041"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7" name="Illustrative delivered road transport cost class 2; reference terminal Lesedi"/>
          <p:cNvSpPr/>
          <p:nvPr/>
        </p:nvSpPr>
        <p:spPr>
          <a:xfrm>
            <a:off x="4108041"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8" name="Illustrative delivered road transport cost class 2; reference terminal Lesedi"/>
          <p:cNvSpPr/>
          <p:nvPr/>
        </p:nvSpPr>
        <p:spPr>
          <a:xfrm>
            <a:off x="4108041"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9" name="Illustrative delivered road transport cost class 2; reference terminal Lesedi"/>
          <p:cNvSpPr/>
          <p:nvPr/>
        </p:nvSpPr>
        <p:spPr>
          <a:xfrm>
            <a:off x="4108041"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0" name="Illustrative delivered road transport cost class 1; reference terminal Lesedi"/>
          <p:cNvSpPr/>
          <p:nvPr/>
        </p:nvSpPr>
        <p:spPr>
          <a:xfrm>
            <a:off x="4108041" y="4229128"/>
            <a:ext cx="57686" cy="57686"/>
          </a:xfrm>
          <a:custGeom>
            <a:avLst/>
            <a:gdLst/>
            <a:ahLst/>
            <a:cxnLst/>
            <a:rect l="l" t="t" r="r" b="b"/>
            <a:pathLst>
              <a:path w="57686" h="57686">
                <a:moveTo>
                  <a:pt x="57686" y="57686"/>
                </a:moveTo>
                <a:lnTo>
                  <a:pt x="0" y="57686"/>
                </a:lnTo>
                <a:lnTo>
                  <a:pt x="0" y="0"/>
                </a:lnTo>
                <a:lnTo>
                  <a:pt x="54598" y="0"/>
                </a:lnTo>
                <a:lnTo>
                  <a:pt x="54495" y="759"/>
                </a:lnTo>
                <a:lnTo>
                  <a:pt x="57686" y="9395"/>
                </a:lnTo>
                <a:lnTo>
                  <a:pt x="57686"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1" name="Illustrative delivered road transport cost class 1; reference terminal Lesedi"/>
          <p:cNvSpPr/>
          <p:nvPr/>
        </p:nvSpPr>
        <p:spPr>
          <a:xfrm>
            <a:off x="4108041" y="4171441"/>
            <a:ext cx="57686" cy="57687"/>
          </a:xfrm>
          <a:custGeom>
            <a:avLst/>
            <a:gdLst/>
            <a:ahLst/>
            <a:cxnLst/>
            <a:rect l="l" t="t" r="r" b="b"/>
            <a:pathLst>
              <a:path w="57686" h="57687">
                <a:moveTo>
                  <a:pt x="0" y="57687"/>
                </a:moveTo>
                <a:lnTo>
                  <a:pt x="0" y="0"/>
                </a:lnTo>
                <a:lnTo>
                  <a:pt x="57686" y="0"/>
                </a:lnTo>
                <a:lnTo>
                  <a:pt x="57686" y="47216"/>
                </a:lnTo>
                <a:lnTo>
                  <a:pt x="55825" y="48626"/>
                </a:lnTo>
                <a:lnTo>
                  <a:pt x="54598"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2" name="Illustrative delivered road transport cost class 1; reference terminal Lesedi"/>
          <p:cNvSpPr/>
          <p:nvPr/>
        </p:nvSpPr>
        <p:spPr>
          <a:xfrm>
            <a:off x="4108041"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3" name="Illustrative delivered road transport cost class 1; reference terminal Lesedi"/>
          <p:cNvSpPr/>
          <p:nvPr/>
        </p:nvSpPr>
        <p:spPr>
          <a:xfrm>
            <a:off x="4108041"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4" name="Illustrative delivered road transport cost class 1; reference terminal Lesedi"/>
          <p:cNvSpPr/>
          <p:nvPr/>
        </p:nvSpPr>
        <p:spPr>
          <a:xfrm>
            <a:off x="4108041"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5" name="Illustrative delivered road transport cost class 1; reference terminal Lesedi"/>
          <p:cNvSpPr/>
          <p:nvPr/>
        </p:nvSpPr>
        <p:spPr>
          <a:xfrm>
            <a:off x="4108041"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6" name="Illustrative delivered road transport cost class 1; reference terminal Lesedi"/>
          <p:cNvSpPr/>
          <p:nvPr/>
        </p:nvSpPr>
        <p:spPr>
          <a:xfrm>
            <a:off x="4108041"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7" name="Illustrative delivered road transport cost class 0; reference terminal Lesedi"/>
          <p:cNvSpPr/>
          <p:nvPr/>
        </p:nvSpPr>
        <p:spPr>
          <a:xfrm>
            <a:off x="4108041"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8" name="Illustrative delivered road transport cost class 0; reference terminal Lesedi"/>
          <p:cNvSpPr/>
          <p:nvPr/>
        </p:nvSpPr>
        <p:spPr>
          <a:xfrm>
            <a:off x="4108041"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9" name="Illustrative delivered road transport cost class 0; reference terminal Lesedi"/>
          <p:cNvSpPr/>
          <p:nvPr/>
        </p:nvSpPr>
        <p:spPr>
          <a:xfrm>
            <a:off x="4108041"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0" name="Illustrative delivered road transport cost class 0; reference terminal Lesedi"/>
          <p:cNvSpPr/>
          <p:nvPr/>
        </p:nvSpPr>
        <p:spPr>
          <a:xfrm>
            <a:off x="4108041"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1" name="Illustrative delivered road transport cost class 0; reference terminal Lesedi"/>
          <p:cNvSpPr/>
          <p:nvPr/>
        </p:nvSpPr>
        <p:spPr>
          <a:xfrm>
            <a:off x="4108041"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2" name="Illustrative delivered road transport cost class 0; reference terminal Lesedi"/>
          <p:cNvSpPr/>
          <p:nvPr/>
        </p:nvSpPr>
        <p:spPr>
          <a:xfrm>
            <a:off x="4108041"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3" name="Illustrative delivered road transport cost class 0; reference terminal Lesedi"/>
          <p:cNvSpPr/>
          <p:nvPr/>
        </p:nvSpPr>
        <p:spPr>
          <a:xfrm>
            <a:off x="4108041"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4" name="Illustrative delivered road transport cost class 0; reference terminal Lesedi"/>
          <p:cNvSpPr/>
          <p:nvPr/>
        </p:nvSpPr>
        <p:spPr>
          <a:xfrm>
            <a:off x="4108041"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5" name="Illustrative delivered road transport cost class 0; reference terminal Lesedi"/>
          <p:cNvSpPr/>
          <p:nvPr/>
        </p:nvSpPr>
        <p:spPr>
          <a:xfrm>
            <a:off x="4108041"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6" name="Illustrative delivered road transport cost class 0; reference terminal Lesedi"/>
          <p:cNvSpPr/>
          <p:nvPr/>
        </p:nvSpPr>
        <p:spPr>
          <a:xfrm>
            <a:off x="4108041"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7" name="Illustrative delivered road transport cost class 0; reference terminal Lesedi"/>
          <p:cNvSpPr/>
          <p:nvPr/>
        </p:nvSpPr>
        <p:spPr>
          <a:xfrm>
            <a:off x="4108041"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8" name="Illustrative delivered road transport cost class 0; reference terminal Lesedi"/>
          <p:cNvSpPr/>
          <p:nvPr/>
        </p:nvSpPr>
        <p:spPr>
          <a:xfrm>
            <a:off x="4108041"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9" name="Illustrative delivered road transport cost class 0; reference terminal Lesedi"/>
          <p:cNvSpPr/>
          <p:nvPr/>
        </p:nvSpPr>
        <p:spPr>
          <a:xfrm>
            <a:off x="4108041"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0" name="Illustrative delivered road transport cost class 0; reference terminal Lesedi"/>
          <p:cNvSpPr/>
          <p:nvPr/>
        </p:nvSpPr>
        <p:spPr>
          <a:xfrm>
            <a:off x="4108041"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1" name="Illustrative delivered road transport cost class 0; reference terminal Lesedi"/>
          <p:cNvSpPr/>
          <p:nvPr/>
        </p:nvSpPr>
        <p:spPr>
          <a:xfrm>
            <a:off x="4108041"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2" name="Illustrative delivered road transport cost class 1; reference terminal Lesedi"/>
          <p:cNvSpPr/>
          <p:nvPr/>
        </p:nvSpPr>
        <p:spPr>
          <a:xfrm>
            <a:off x="4108041"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3" name="Illustrative delivered road transport cost class None; reference terminal None"/>
          <p:cNvSpPr/>
          <p:nvPr/>
        </p:nvSpPr>
        <p:spPr>
          <a:xfrm>
            <a:off x="4108041"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4" name="Illustrative delivered road transport cost class None; reference terminal None"/>
          <p:cNvSpPr/>
          <p:nvPr/>
        </p:nvSpPr>
        <p:spPr>
          <a:xfrm>
            <a:off x="4108041" y="2844650"/>
            <a:ext cx="57686" cy="57687"/>
          </a:xfrm>
          <a:custGeom>
            <a:avLst/>
            <a:gdLst/>
            <a:ahLst/>
            <a:cxnLst/>
            <a:rect l="l" t="t" r="r" b="b"/>
            <a:pathLst>
              <a:path w="57686" h="57687">
                <a:moveTo>
                  <a:pt x="57686" y="0"/>
                </a:moveTo>
                <a:lnTo>
                  <a:pt x="57686" y="57687"/>
                </a:lnTo>
                <a:lnTo>
                  <a:pt x="0" y="57687"/>
                </a:lnTo>
                <a:lnTo>
                  <a:pt x="0" y="18875"/>
                </a:lnTo>
                <a:lnTo>
                  <a:pt x="9022" y="12315"/>
                </a:lnTo>
                <a:lnTo>
                  <a:pt x="24287" y="0"/>
                </a:lnTo>
                <a:lnTo>
                  <a:pt x="576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5" name="Illustrative delivered road transport cost class None; reference terminal None"/>
          <p:cNvSpPr/>
          <p:nvPr/>
        </p:nvSpPr>
        <p:spPr>
          <a:xfrm>
            <a:off x="4132328" y="2786964"/>
            <a:ext cx="33399" cy="57686"/>
          </a:xfrm>
          <a:custGeom>
            <a:avLst/>
            <a:gdLst/>
            <a:ahLst/>
            <a:cxnLst/>
            <a:rect l="l" t="t" r="r" b="b"/>
            <a:pathLst>
              <a:path w="33399" h="57686">
                <a:moveTo>
                  <a:pt x="33399" y="0"/>
                </a:moveTo>
                <a:lnTo>
                  <a:pt x="33399" y="57686"/>
                </a:lnTo>
                <a:lnTo>
                  <a:pt x="0" y="57686"/>
                </a:lnTo>
                <a:lnTo>
                  <a:pt x="2260" y="55863"/>
                </a:lnTo>
                <a:lnTo>
                  <a:pt x="17708" y="0"/>
                </a:lnTo>
                <a:lnTo>
                  <a:pt x="33399"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6" name="Illustrative delivered road transport cost class None; reference terminal None"/>
          <p:cNvSpPr/>
          <p:nvPr/>
        </p:nvSpPr>
        <p:spPr>
          <a:xfrm>
            <a:off x="4150036" y="2730223"/>
            <a:ext cx="15691" cy="56741"/>
          </a:xfrm>
          <a:custGeom>
            <a:avLst/>
            <a:gdLst/>
            <a:ahLst/>
            <a:cxnLst/>
            <a:rect l="l" t="t" r="r" b="b"/>
            <a:pathLst>
              <a:path w="15691" h="56741">
                <a:moveTo>
                  <a:pt x="15691" y="56741"/>
                </a:moveTo>
                <a:lnTo>
                  <a:pt x="0" y="56741"/>
                </a:lnTo>
                <a:lnTo>
                  <a:pt x="15691" y="0"/>
                </a:lnTo>
                <a:lnTo>
                  <a:pt x="15691" y="56741"/>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7" name="Illustrative delivered road transport cost class 2; reference terminal Durban"/>
          <p:cNvSpPr/>
          <p:nvPr/>
        </p:nvSpPr>
        <p:spPr>
          <a:xfrm>
            <a:off x="4165727" y="5152113"/>
            <a:ext cx="57687" cy="54209"/>
          </a:xfrm>
          <a:custGeom>
            <a:avLst/>
            <a:gdLst/>
            <a:ahLst/>
            <a:cxnLst/>
            <a:rect l="l" t="t" r="r" b="b"/>
            <a:pathLst>
              <a:path w="57687" h="54209">
                <a:moveTo>
                  <a:pt x="0" y="0"/>
                </a:moveTo>
                <a:lnTo>
                  <a:pt x="57687" y="0"/>
                </a:lnTo>
                <a:lnTo>
                  <a:pt x="57687" y="16022"/>
                </a:lnTo>
                <a:lnTo>
                  <a:pt x="46487" y="24455"/>
                </a:lnTo>
                <a:lnTo>
                  <a:pt x="0" y="54209"/>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8" name="Illustrative delivered road transport cost class 2; reference terminal Durban"/>
          <p:cNvSpPr/>
          <p:nvPr/>
        </p:nvSpPr>
        <p:spPr>
          <a:xfrm>
            <a:off x="4165727"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9" name="Illustrative delivered road transport cost class 2; reference terminal Durban"/>
          <p:cNvSpPr/>
          <p:nvPr/>
        </p:nvSpPr>
        <p:spPr>
          <a:xfrm>
            <a:off x="4165727"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0" name="Illustrative delivered road transport cost class 2; reference terminal Durban"/>
          <p:cNvSpPr/>
          <p:nvPr/>
        </p:nvSpPr>
        <p:spPr>
          <a:xfrm>
            <a:off x="4165727"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1" name="Illustrative delivered road transport cost class 2; reference terminal Durban"/>
          <p:cNvSpPr/>
          <p:nvPr/>
        </p:nvSpPr>
        <p:spPr>
          <a:xfrm>
            <a:off x="4165727"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2" name="Illustrative delivered road transport cost class 2; reference terminal Durban"/>
          <p:cNvSpPr/>
          <p:nvPr/>
        </p:nvSpPr>
        <p:spPr>
          <a:xfrm>
            <a:off x="4165727"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3" name="Illustrative delivered road transport cost class 2; reference terminal Durban"/>
          <p:cNvSpPr/>
          <p:nvPr/>
        </p:nvSpPr>
        <p:spPr>
          <a:xfrm>
            <a:off x="4165727"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4" name="Illustrative delivered road transport cost class 2; reference terminal Durban"/>
          <p:cNvSpPr/>
          <p:nvPr/>
        </p:nvSpPr>
        <p:spPr>
          <a:xfrm>
            <a:off x="4165727"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5" name="Illustrative delivered road transport cost class 2; reference terminal Durban"/>
          <p:cNvSpPr/>
          <p:nvPr/>
        </p:nvSpPr>
        <p:spPr>
          <a:xfrm>
            <a:off x="4165727"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6" name="Illustrative delivered road transport cost class 2; reference terminal Lesedi"/>
          <p:cNvSpPr/>
          <p:nvPr/>
        </p:nvSpPr>
        <p:spPr>
          <a:xfrm>
            <a:off x="4165727"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7" name="Illustrative delivered road transport cost class 2; reference terminal Lesedi"/>
          <p:cNvSpPr/>
          <p:nvPr/>
        </p:nvSpPr>
        <p:spPr>
          <a:xfrm>
            <a:off x="4165727"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8" name="Illustrative delivered road transport cost class 2; reference terminal Lesedi"/>
          <p:cNvSpPr/>
          <p:nvPr/>
        </p:nvSpPr>
        <p:spPr>
          <a:xfrm>
            <a:off x="4165727"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9" name="Illustrative delivered road transport cost class 2; reference terminal Lesedi"/>
          <p:cNvSpPr/>
          <p:nvPr/>
        </p:nvSpPr>
        <p:spPr>
          <a:xfrm>
            <a:off x="4165727"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0" name="Illustrative delivered road transport cost class 2; reference terminal Lesedi"/>
          <p:cNvSpPr/>
          <p:nvPr/>
        </p:nvSpPr>
        <p:spPr>
          <a:xfrm>
            <a:off x="4165727"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1" name="Illustrative delivered road transport cost class 2; reference terminal Lesedi"/>
          <p:cNvSpPr/>
          <p:nvPr/>
        </p:nvSpPr>
        <p:spPr>
          <a:xfrm>
            <a:off x="4165727" y="4344501"/>
            <a:ext cx="57687" cy="57687"/>
          </a:xfrm>
          <a:custGeom>
            <a:avLst/>
            <a:gdLst/>
            <a:ahLst/>
            <a:cxnLst/>
            <a:rect l="l" t="t" r="r" b="b"/>
            <a:pathLst>
              <a:path w="57687" h="57687">
                <a:moveTo>
                  <a:pt x="57687" y="57687"/>
                </a:moveTo>
                <a:lnTo>
                  <a:pt x="0" y="57687"/>
                </a:lnTo>
                <a:lnTo>
                  <a:pt x="0" y="0"/>
                </a:lnTo>
                <a:lnTo>
                  <a:pt x="53227" y="0"/>
                </a:lnTo>
                <a:lnTo>
                  <a:pt x="57687" y="6645"/>
                </a:lnTo>
                <a:lnTo>
                  <a:pt x="57687"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2" name="Illustrative delivered road transport cost class 2; reference terminal Lesedi"/>
          <p:cNvSpPr/>
          <p:nvPr/>
        </p:nvSpPr>
        <p:spPr>
          <a:xfrm>
            <a:off x="4165727" y="4286814"/>
            <a:ext cx="53227" cy="57687"/>
          </a:xfrm>
          <a:custGeom>
            <a:avLst/>
            <a:gdLst/>
            <a:ahLst/>
            <a:cxnLst/>
            <a:rect l="l" t="t" r="r" b="b"/>
            <a:pathLst>
              <a:path w="53227" h="57687">
                <a:moveTo>
                  <a:pt x="0" y="57687"/>
                </a:moveTo>
                <a:lnTo>
                  <a:pt x="0" y="0"/>
                </a:lnTo>
                <a:lnTo>
                  <a:pt x="19572" y="0"/>
                </a:lnTo>
                <a:lnTo>
                  <a:pt x="27137" y="14551"/>
                </a:lnTo>
                <a:lnTo>
                  <a:pt x="37058" y="33677"/>
                </a:lnTo>
                <a:lnTo>
                  <a:pt x="52829" y="57094"/>
                </a:lnTo>
                <a:lnTo>
                  <a:pt x="5322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3" name="Illustrative delivered road transport cost class 2; reference terminal Lesedi"/>
          <p:cNvSpPr/>
          <p:nvPr/>
        </p:nvSpPr>
        <p:spPr>
          <a:xfrm>
            <a:off x="4165727" y="4238523"/>
            <a:ext cx="19572" cy="48291"/>
          </a:xfrm>
          <a:custGeom>
            <a:avLst/>
            <a:gdLst/>
            <a:ahLst/>
            <a:cxnLst/>
            <a:rect l="l" t="t" r="r" b="b"/>
            <a:pathLst>
              <a:path w="19572" h="48291">
                <a:moveTo>
                  <a:pt x="0" y="48291"/>
                </a:moveTo>
                <a:lnTo>
                  <a:pt x="0" y="0"/>
                </a:lnTo>
                <a:lnTo>
                  <a:pt x="5339" y="14450"/>
                </a:lnTo>
                <a:lnTo>
                  <a:pt x="13562" y="36733"/>
                </a:lnTo>
                <a:lnTo>
                  <a:pt x="19572" y="48291"/>
                </a:lnTo>
                <a:lnTo>
                  <a:pt x="0" y="48291"/>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4" name="Illustrative delivered road transport cost class 2; reference terminal Lesedi"/>
          <p:cNvSpPr/>
          <p:nvPr/>
        </p:nvSpPr>
        <p:spPr>
          <a:xfrm>
            <a:off x="4165727" y="4171441"/>
            <a:ext cx="57687" cy="47216"/>
          </a:xfrm>
          <a:custGeom>
            <a:avLst/>
            <a:gdLst/>
            <a:ahLst/>
            <a:cxnLst/>
            <a:rect l="l" t="t" r="r" b="b"/>
            <a:pathLst>
              <a:path w="57687" h="47216">
                <a:moveTo>
                  <a:pt x="0" y="0"/>
                </a:moveTo>
                <a:lnTo>
                  <a:pt x="57687" y="0"/>
                </a:lnTo>
                <a:lnTo>
                  <a:pt x="57687" y="15727"/>
                </a:lnTo>
                <a:lnTo>
                  <a:pt x="51753" y="22429"/>
                </a:lnTo>
                <a:lnTo>
                  <a:pt x="32104" y="30975"/>
                </a:lnTo>
                <a:lnTo>
                  <a:pt x="6812" y="42057"/>
                </a:lnTo>
                <a:lnTo>
                  <a:pt x="0" y="47216"/>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5" name="Illustrative delivered road transport cost class 1; reference terminal Lesedi"/>
          <p:cNvSpPr/>
          <p:nvPr/>
        </p:nvSpPr>
        <p:spPr>
          <a:xfrm>
            <a:off x="4165727"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6" name="Illustrative delivered road transport cost class 1; reference terminal Lesedi"/>
          <p:cNvSpPr/>
          <p:nvPr/>
        </p:nvSpPr>
        <p:spPr>
          <a:xfrm>
            <a:off x="4165727"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7" name="Illustrative delivered road transport cost class 1; reference terminal Lesedi"/>
          <p:cNvSpPr/>
          <p:nvPr/>
        </p:nvSpPr>
        <p:spPr>
          <a:xfrm>
            <a:off x="4165727"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8" name="Illustrative delivered road transport cost class 1; reference terminal Lesedi"/>
          <p:cNvSpPr/>
          <p:nvPr/>
        </p:nvSpPr>
        <p:spPr>
          <a:xfrm>
            <a:off x="4165727"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9" name="Illustrative delivered road transport cost class 1; reference terminal Lesedi"/>
          <p:cNvSpPr/>
          <p:nvPr/>
        </p:nvSpPr>
        <p:spPr>
          <a:xfrm>
            <a:off x="4165727"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0" name="Illustrative delivered road transport cost class 0; reference terminal Lesedi"/>
          <p:cNvSpPr/>
          <p:nvPr/>
        </p:nvSpPr>
        <p:spPr>
          <a:xfrm>
            <a:off x="4165727"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1" name="Illustrative delivered road transport cost class 0; reference terminal Lesedi"/>
          <p:cNvSpPr/>
          <p:nvPr/>
        </p:nvSpPr>
        <p:spPr>
          <a:xfrm>
            <a:off x="4165727"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2" name="Illustrative delivered road transport cost class 0; reference terminal Lesedi"/>
          <p:cNvSpPr/>
          <p:nvPr/>
        </p:nvSpPr>
        <p:spPr>
          <a:xfrm>
            <a:off x="4165727"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3" name="Illustrative delivered road transport cost class 0; reference terminal Lesedi"/>
          <p:cNvSpPr/>
          <p:nvPr/>
        </p:nvSpPr>
        <p:spPr>
          <a:xfrm>
            <a:off x="4165727"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4" name="Illustrative delivered road transport cost class 0; reference terminal Lesedi"/>
          <p:cNvSpPr/>
          <p:nvPr/>
        </p:nvSpPr>
        <p:spPr>
          <a:xfrm>
            <a:off x="4165727"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5" name="Illustrative delivered road transport cost class 0; reference terminal Lesedi"/>
          <p:cNvSpPr/>
          <p:nvPr/>
        </p:nvSpPr>
        <p:spPr>
          <a:xfrm>
            <a:off x="4165727"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6" name="Illustrative delivered road transport cost class 0; reference terminal Lesedi"/>
          <p:cNvSpPr/>
          <p:nvPr/>
        </p:nvSpPr>
        <p:spPr>
          <a:xfrm>
            <a:off x="4165727"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7" name="Illustrative delivered road transport cost class 0; reference terminal Lesedi"/>
          <p:cNvSpPr/>
          <p:nvPr/>
        </p:nvSpPr>
        <p:spPr>
          <a:xfrm>
            <a:off x="4165727"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8" name="Illustrative delivered road transport cost class 0; reference terminal Lesedi"/>
          <p:cNvSpPr/>
          <p:nvPr/>
        </p:nvSpPr>
        <p:spPr>
          <a:xfrm>
            <a:off x="4165727"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9" name="Illustrative delivered road transport cost class 0; reference terminal Lesedi"/>
          <p:cNvSpPr/>
          <p:nvPr/>
        </p:nvSpPr>
        <p:spPr>
          <a:xfrm>
            <a:off x="4165727"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0" name="Illustrative delivered road transport cost class 0; reference terminal Lesedi"/>
          <p:cNvSpPr/>
          <p:nvPr/>
        </p:nvSpPr>
        <p:spPr>
          <a:xfrm>
            <a:off x="4165727"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1" name="Illustrative delivered road transport cost class 0; reference terminal Lesedi"/>
          <p:cNvSpPr/>
          <p:nvPr/>
        </p:nvSpPr>
        <p:spPr>
          <a:xfrm>
            <a:off x="4165727"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2" name="Illustrative delivered road transport cost class 0; reference terminal Lesedi"/>
          <p:cNvSpPr/>
          <p:nvPr/>
        </p:nvSpPr>
        <p:spPr>
          <a:xfrm>
            <a:off x="4165727"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3" name="Illustrative delivered road transport cost class 0; reference terminal Lesedi"/>
          <p:cNvSpPr/>
          <p:nvPr/>
        </p:nvSpPr>
        <p:spPr>
          <a:xfrm>
            <a:off x="4165727"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4" name="Illustrative delivered road transport cost class 0; reference terminal Lesedi"/>
          <p:cNvSpPr/>
          <p:nvPr/>
        </p:nvSpPr>
        <p:spPr>
          <a:xfrm>
            <a:off x="4165727"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5" name="Illustrative delivered road transport cost class 0; reference terminal Lesedi"/>
          <p:cNvSpPr/>
          <p:nvPr/>
        </p:nvSpPr>
        <p:spPr>
          <a:xfrm>
            <a:off x="4165727"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6" name="Illustrative delivered road transport cost class None; reference terminal None"/>
          <p:cNvSpPr/>
          <p:nvPr/>
        </p:nvSpPr>
        <p:spPr>
          <a:xfrm>
            <a:off x="4165727"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7" name="Illustrative delivered road transport cost class None; reference terminal None"/>
          <p:cNvSpPr/>
          <p:nvPr/>
        </p:nvSpPr>
        <p:spPr>
          <a:xfrm>
            <a:off x="4165727"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8" name="Illustrative delivered road transport cost class None; reference terminal None"/>
          <p:cNvSpPr/>
          <p:nvPr/>
        </p:nvSpPr>
        <p:spPr>
          <a:xfrm>
            <a:off x="4165727"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9" name="Illustrative delivered road transport cost class None; reference terminal None"/>
          <p:cNvSpPr/>
          <p:nvPr/>
        </p:nvSpPr>
        <p:spPr>
          <a:xfrm>
            <a:off x="4165727" y="2729277"/>
            <a:ext cx="57687" cy="57687"/>
          </a:xfrm>
          <a:custGeom>
            <a:avLst/>
            <a:gdLst/>
            <a:ahLst/>
            <a:cxnLst/>
            <a:rect l="l" t="t" r="r" b="b"/>
            <a:pathLst>
              <a:path w="57687" h="57687">
                <a:moveTo>
                  <a:pt x="57687" y="0"/>
                </a:moveTo>
                <a:lnTo>
                  <a:pt x="57687" y="57687"/>
                </a:lnTo>
                <a:lnTo>
                  <a:pt x="0" y="57687"/>
                </a:lnTo>
                <a:lnTo>
                  <a:pt x="0" y="946"/>
                </a:lnTo>
                <a:lnTo>
                  <a:pt x="262"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0" name="Illustrative delivered road transport cost class None; reference terminal None"/>
          <p:cNvSpPr/>
          <p:nvPr/>
        </p:nvSpPr>
        <p:spPr>
          <a:xfrm>
            <a:off x="4165989" y="2671590"/>
            <a:ext cx="57425" cy="57687"/>
          </a:xfrm>
          <a:custGeom>
            <a:avLst/>
            <a:gdLst/>
            <a:ahLst/>
            <a:cxnLst/>
            <a:rect l="l" t="t" r="r" b="b"/>
            <a:pathLst>
              <a:path w="57425" h="57687">
                <a:moveTo>
                  <a:pt x="57425" y="0"/>
                </a:moveTo>
                <a:lnTo>
                  <a:pt x="57425" y="57687"/>
                </a:lnTo>
                <a:lnTo>
                  <a:pt x="0" y="57687"/>
                </a:lnTo>
                <a:lnTo>
                  <a:pt x="2170" y="49838"/>
                </a:lnTo>
                <a:lnTo>
                  <a:pt x="6253" y="34865"/>
                </a:lnTo>
                <a:lnTo>
                  <a:pt x="29955" y="2910"/>
                </a:lnTo>
                <a:lnTo>
                  <a:pt x="33111" y="0"/>
                </a:lnTo>
                <a:lnTo>
                  <a:pt x="57425"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1" name="Illustrative delivered road transport cost class None; reference terminal None"/>
          <p:cNvSpPr/>
          <p:nvPr/>
        </p:nvSpPr>
        <p:spPr>
          <a:xfrm>
            <a:off x="4199100" y="2658698"/>
            <a:ext cx="24314" cy="12892"/>
          </a:xfrm>
          <a:custGeom>
            <a:avLst/>
            <a:gdLst/>
            <a:ahLst/>
            <a:cxnLst/>
            <a:rect l="l" t="t" r="r" b="b"/>
            <a:pathLst>
              <a:path w="24314" h="12892">
                <a:moveTo>
                  <a:pt x="24314" y="12892"/>
                </a:moveTo>
                <a:lnTo>
                  <a:pt x="0" y="12892"/>
                </a:lnTo>
                <a:lnTo>
                  <a:pt x="11401" y="2384"/>
                </a:lnTo>
                <a:lnTo>
                  <a:pt x="20640" y="2296"/>
                </a:lnTo>
                <a:lnTo>
                  <a:pt x="24314" y="0"/>
                </a:lnTo>
                <a:lnTo>
                  <a:pt x="24314" y="1289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2" name="Illustrative delivered road transport cost class 2; reference terminal Durban"/>
          <p:cNvSpPr/>
          <p:nvPr/>
        </p:nvSpPr>
        <p:spPr>
          <a:xfrm>
            <a:off x="4223414" y="5152113"/>
            <a:ext cx="21282" cy="16022"/>
          </a:xfrm>
          <a:custGeom>
            <a:avLst/>
            <a:gdLst/>
            <a:ahLst/>
            <a:cxnLst/>
            <a:rect l="l" t="t" r="r" b="b"/>
            <a:pathLst>
              <a:path w="21282" h="16022">
                <a:moveTo>
                  <a:pt x="0" y="0"/>
                </a:moveTo>
                <a:lnTo>
                  <a:pt x="21282" y="0"/>
                </a:lnTo>
                <a:lnTo>
                  <a:pt x="0" y="16022"/>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3" name="Illustrative delivered road transport cost class 2; reference terminal Durban"/>
          <p:cNvSpPr/>
          <p:nvPr/>
        </p:nvSpPr>
        <p:spPr>
          <a:xfrm>
            <a:off x="4223414" y="5094426"/>
            <a:ext cx="57686" cy="57687"/>
          </a:xfrm>
          <a:custGeom>
            <a:avLst/>
            <a:gdLst/>
            <a:ahLst/>
            <a:cxnLst/>
            <a:rect l="l" t="t" r="r" b="b"/>
            <a:pathLst>
              <a:path w="57686" h="57687">
                <a:moveTo>
                  <a:pt x="0" y="57687"/>
                </a:moveTo>
                <a:lnTo>
                  <a:pt x="0" y="0"/>
                </a:lnTo>
                <a:lnTo>
                  <a:pt x="57686" y="0"/>
                </a:lnTo>
                <a:lnTo>
                  <a:pt x="57686" y="30279"/>
                </a:lnTo>
                <a:lnTo>
                  <a:pt x="21282"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4" name="Illustrative delivered road transport cost class 2; reference terminal Durban"/>
          <p:cNvSpPr/>
          <p:nvPr/>
        </p:nvSpPr>
        <p:spPr>
          <a:xfrm>
            <a:off x="4223414"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5" name="Illustrative delivered road transport cost class 2; reference terminal Durban"/>
          <p:cNvSpPr/>
          <p:nvPr/>
        </p:nvSpPr>
        <p:spPr>
          <a:xfrm>
            <a:off x="4223414"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6" name="Illustrative delivered road transport cost class 1; reference terminal Durban"/>
          <p:cNvSpPr/>
          <p:nvPr/>
        </p:nvSpPr>
        <p:spPr>
          <a:xfrm>
            <a:off x="4223414"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7" name="Illustrative delivered road transport cost class 1; reference terminal Durban"/>
          <p:cNvSpPr/>
          <p:nvPr/>
        </p:nvSpPr>
        <p:spPr>
          <a:xfrm>
            <a:off x="4223414"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8" name="Illustrative delivered road transport cost class 1; reference terminal Durban"/>
          <p:cNvSpPr/>
          <p:nvPr/>
        </p:nvSpPr>
        <p:spPr>
          <a:xfrm>
            <a:off x="4223414"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9" name="Illustrative delivered road transport cost class 1; reference terminal Durban"/>
          <p:cNvSpPr/>
          <p:nvPr/>
        </p:nvSpPr>
        <p:spPr>
          <a:xfrm>
            <a:off x="4223414"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0" name="Illustrative delivered road transport cost class 2; reference terminal Durban"/>
          <p:cNvSpPr/>
          <p:nvPr/>
        </p:nvSpPr>
        <p:spPr>
          <a:xfrm>
            <a:off x="4223414"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1" name="Illustrative delivered road transport cost class 2; reference terminal Lesedi"/>
          <p:cNvSpPr/>
          <p:nvPr/>
        </p:nvSpPr>
        <p:spPr>
          <a:xfrm>
            <a:off x="4223414"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2" name="Illustrative delivered road transport cost class 2; reference terminal Lesedi"/>
          <p:cNvSpPr/>
          <p:nvPr/>
        </p:nvSpPr>
        <p:spPr>
          <a:xfrm>
            <a:off x="4223414"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3" name="Illustrative delivered road transport cost class 2; reference terminal Lesedi"/>
          <p:cNvSpPr/>
          <p:nvPr/>
        </p:nvSpPr>
        <p:spPr>
          <a:xfrm>
            <a:off x="4223414"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4" name="Illustrative delivered road transport cost class 2; reference terminal Lesedi"/>
          <p:cNvSpPr/>
          <p:nvPr/>
        </p:nvSpPr>
        <p:spPr>
          <a:xfrm>
            <a:off x="4223414"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5" name="Illustrative delivered road transport cost class 2; reference terminal Lesedi"/>
          <p:cNvSpPr/>
          <p:nvPr/>
        </p:nvSpPr>
        <p:spPr>
          <a:xfrm>
            <a:off x="4223414" y="4402188"/>
            <a:ext cx="57686" cy="57686"/>
          </a:xfrm>
          <a:custGeom>
            <a:avLst/>
            <a:gdLst/>
            <a:ahLst/>
            <a:cxnLst/>
            <a:rect l="l" t="t" r="r" b="b"/>
            <a:pathLst>
              <a:path w="57686" h="57686">
                <a:moveTo>
                  <a:pt x="57686" y="57686"/>
                </a:moveTo>
                <a:lnTo>
                  <a:pt x="0" y="57686"/>
                </a:lnTo>
                <a:lnTo>
                  <a:pt x="0" y="0"/>
                </a:lnTo>
                <a:lnTo>
                  <a:pt x="17701" y="0"/>
                </a:lnTo>
                <a:lnTo>
                  <a:pt x="20286" y="1798"/>
                </a:lnTo>
                <a:lnTo>
                  <a:pt x="33574" y="8598"/>
                </a:lnTo>
                <a:lnTo>
                  <a:pt x="36706" y="13013"/>
                </a:lnTo>
                <a:lnTo>
                  <a:pt x="45952" y="20958"/>
                </a:lnTo>
                <a:lnTo>
                  <a:pt x="54637" y="35267"/>
                </a:lnTo>
                <a:lnTo>
                  <a:pt x="57686" y="38904"/>
                </a:lnTo>
                <a:lnTo>
                  <a:pt x="57686"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6" name="Illustrative delivered road transport cost class 2; reference terminal Lesedi"/>
          <p:cNvSpPr/>
          <p:nvPr/>
        </p:nvSpPr>
        <p:spPr>
          <a:xfrm>
            <a:off x="4223414" y="4351146"/>
            <a:ext cx="17701" cy="51042"/>
          </a:xfrm>
          <a:custGeom>
            <a:avLst/>
            <a:gdLst/>
            <a:ahLst/>
            <a:cxnLst/>
            <a:rect l="l" t="t" r="r" b="b"/>
            <a:pathLst>
              <a:path w="17701" h="51042">
                <a:moveTo>
                  <a:pt x="0" y="51042"/>
                </a:moveTo>
                <a:lnTo>
                  <a:pt x="0" y="0"/>
                </a:lnTo>
                <a:lnTo>
                  <a:pt x="4354" y="6488"/>
                </a:lnTo>
                <a:lnTo>
                  <a:pt x="2632" y="29167"/>
                </a:lnTo>
                <a:lnTo>
                  <a:pt x="5652" y="37373"/>
                </a:lnTo>
                <a:lnTo>
                  <a:pt x="10875" y="46874"/>
                </a:lnTo>
                <a:lnTo>
                  <a:pt x="15288" y="49363"/>
                </a:lnTo>
                <a:lnTo>
                  <a:pt x="17701" y="51042"/>
                </a:lnTo>
                <a:lnTo>
                  <a:pt x="0" y="51042"/>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7" name="Illustrative delivered road transport cost class None; reference terminal None"/>
          <p:cNvSpPr/>
          <p:nvPr/>
        </p:nvSpPr>
        <p:spPr>
          <a:xfrm>
            <a:off x="4223414" y="4171441"/>
            <a:ext cx="12464" cy="15727"/>
          </a:xfrm>
          <a:custGeom>
            <a:avLst/>
            <a:gdLst/>
            <a:ahLst/>
            <a:cxnLst/>
            <a:rect l="l" t="t" r="r" b="b"/>
            <a:pathLst>
              <a:path w="12464" h="15727">
                <a:moveTo>
                  <a:pt x="0" y="0"/>
                </a:moveTo>
                <a:lnTo>
                  <a:pt x="12464" y="0"/>
                </a:lnTo>
                <a:lnTo>
                  <a:pt x="8330" y="6319"/>
                </a:lnTo>
                <a:lnTo>
                  <a:pt x="0" y="15727"/>
                </a:lnTo>
                <a:lnTo>
                  <a:pt x="0"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8" name="Illustrative delivered road transport cost class None; reference terminal None"/>
          <p:cNvSpPr/>
          <p:nvPr/>
        </p:nvSpPr>
        <p:spPr>
          <a:xfrm>
            <a:off x="4223414" y="4113755"/>
            <a:ext cx="53309" cy="57686"/>
          </a:xfrm>
          <a:custGeom>
            <a:avLst/>
            <a:gdLst/>
            <a:ahLst/>
            <a:cxnLst/>
            <a:rect l="l" t="t" r="r" b="b"/>
            <a:pathLst>
              <a:path w="53309" h="57686">
                <a:moveTo>
                  <a:pt x="0" y="57686"/>
                </a:moveTo>
                <a:lnTo>
                  <a:pt x="0" y="0"/>
                </a:lnTo>
                <a:lnTo>
                  <a:pt x="53309" y="0"/>
                </a:lnTo>
                <a:lnTo>
                  <a:pt x="47645" y="8746"/>
                </a:lnTo>
                <a:lnTo>
                  <a:pt x="39324" y="18915"/>
                </a:lnTo>
                <a:lnTo>
                  <a:pt x="31785" y="25453"/>
                </a:lnTo>
                <a:lnTo>
                  <a:pt x="24064" y="39961"/>
                </a:lnTo>
                <a:lnTo>
                  <a:pt x="12464"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9" name="Illustrative delivered road transport cost class None; reference terminal None"/>
          <p:cNvSpPr/>
          <p:nvPr/>
        </p:nvSpPr>
        <p:spPr>
          <a:xfrm>
            <a:off x="4223414" y="4056068"/>
            <a:ext cx="57686" cy="57687"/>
          </a:xfrm>
          <a:custGeom>
            <a:avLst/>
            <a:gdLst/>
            <a:ahLst/>
            <a:cxnLst/>
            <a:rect l="l" t="t" r="r" b="b"/>
            <a:pathLst>
              <a:path w="57686" h="57687">
                <a:moveTo>
                  <a:pt x="0" y="57687"/>
                </a:moveTo>
                <a:lnTo>
                  <a:pt x="0" y="0"/>
                </a:lnTo>
                <a:lnTo>
                  <a:pt x="57686" y="0"/>
                </a:lnTo>
                <a:lnTo>
                  <a:pt x="57686" y="50928"/>
                </a:lnTo>
                <a:lnTo>
                  <a:pt x="53309"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0" name="Illustrative delivered road transport cost class 1; reference terminal Lesedi"/>
          <p:cNvSpPr/>
          <p:nvPr/>
        </p:nvSpPr>
        <p:spPr>
          <a:xfrm>
            <a:off x="4223414"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1" name="Illustrative delivered road transport cost class 1; reference terminal Lesedi"/>
          <p:cNvSpPr/>
          <p:nvPr/>
        </p:nvSpPr>
        <p:spPr>
          <a:xfrm>
            <a:off x="4223414"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2" name="Illustrative delivered road transport cost class 1; reference terminal Lesedi"/>
          <p:cNvSpPr/>
          <p:nvPr/>
        </p:nvSpPr>
        <p:spPr>
          <a:xfrm>
            <a:off x="4223414"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3" name="Illustrative delivered road transport cost class 0; reference terminal Lesedi"/>
          <p:cNvSpPr/>
          <p:nvPr/>
        </p:nvSpPr>
        <p:spPr>
          <a:xfrm>
            <a:off x="4223414"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4" name="Illustrative delivered road transport cost class 0; reference terminal Lesedi"/>
          <p:cNvSpPr/>
          <p:nvPr/>
        </p:nvSpPr>
        <p:spPr>
          <a:xfrm>
            <a:off x="4223414"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5" name="Illustrative delivered road transport cost class 0; reference terminal Lesedi"/>
          <p:cNvSpPr/>
          <p:nvPr/>
        </p:nvSpPr>
        <p:spPr>
          <a:xfrm>
            <a:off x="4223414"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6" name="Illustrative delivered road transport cost class 0; reference terminal Lesedi"/>
          <p:cNvSpPr/>
          <p:nvPr/>
        </p:nvSpPr>
        <p:spPr>
          <a:xfrm>
            <a:off x="4223414"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7" name="Illustrative delivered road transport cost class 0; reference terminal Lesedi"/>
          <p:cNvSpPr/>
          <p:nvPr/>
        </p:nvSpPr>
        <p:spPr>
          <a:xfrm>
            <a:off x="4223414"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8" name="Illustrative delivered road transport cost class 0; reference terminal Lesedi"/>
          <p:cNvSpPr/>
          <p:nvPr/>
        </p:nvSpPr>
        <p:spPr>
          <a:xfrm>
            <a:off x="4223414"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9" name="Illustrative delivered road transport cost class 0; reference terminal Lesedi"/>
          <p:cNvSpPr/>
          <p:nvPr/>
        </p:nvSpPr>
        <p:spPr>
          <a:xfrm>
            <a:off x="4223414"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0" name="Illustrative delivered road transport cost class 0; reference terminal Lesedi"/>
          <p:cNvSpPr/>
          <p:nvPr/>
        </p:nvSpPr>
        <p:spPr>
          <a:xfrm>
            <a:off x="4223414"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1" name="Illustrative delivered road transport cost class 0; reference terminal Lesedi"/>
          <p:cNvSpPr/>
          <p:nvPr/>
        </p:nvSpPr>
        <p:spPr>
          <a:xfrm>
            <a:off x="4223414"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2" name="Illustrative delivered road transport cost class 0; reference terminal Lesedi"/>
          <p:cNvSpPr/>
          <p:nvPr/>
        </p:nvSpPr>
        <p:spPr>
          <a:xfrm>
            <a:off x="4223414"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3" name="Illustrative delivered road transport cost class 0; reference terminal Lesedi"/>
          <p:cNvSpPr/>
          <p:nvPr/>
        </p:nvSpPr>
        <p:spPr>
          <a:xfrm>
            <a:off x="4223414"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4" name="Illustrative delivered road transport cost class 0; reference terminal Lesedi"/>
          <p:cNvSpPr/>
          <p:nvPr/>
        </p:nvSpPr>
        <p:spPr>
          <a:xfrm>
            <a:off x="4223414"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5" name="Illustrative delivered road transport cost class 0; reference terminal Lesedi"/>
          <p:cNvSpPr/>
          <p:nvPr/>
        </p:nvSpPr>
        <p:spPr>
          <a:xfrm>
            <a:off x="4223414"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6" name="Illustrative delivered road transport cost class 0; reference terminal Lesedi"/>
          <p:cNvSpPr/>
          <p:nvPr/>
        </p:nvSpPr>
        <p:spPr>
          <a:xfrm>
            <a:off x="4223414"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7" name="Illustrative delivered road transport cost class 0; reference terminal Lesedi"/>
          <p:cNvSpPr/>
          <p:nvPr/>
        </p:nvSpPr>
        <p:spPr>
          <a:xfrm>
            <a:off x="4223414"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8" name="Illustrative delivered road transport cost class 0; reference terminal Lesedi"/>
          <p:cNvSpPr/>
          <p:nvPr/>
        </p:nvSpPr>
        <p:spPr>
          <a:xfrm>
            <a:off x="4223414"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9" name="Illustrative delivered road transport cost class None; reference terminal None"/>
          <p:cNvSpPr/>
          <p:nvPr/>
        </p:nvSpPr>
        <p:spPr>
          <a:xfrm>
            <a:off x="4223414"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0" name="Illustrative delivered road transport cost class None; reference terminal None"/>
          <p:cNvSpPr/>
          <p:nvPr/>
        </p:nvSpPr>
        <p:spPr>
          <a:xfrm>
            <a:off x="4223414"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1" name="Illustrative delivered road transport cost class None; reference terminal None"/>
          <p:cNvSpPr/>
          <p:nvPr/>
        </p:nvSpPr>
        <p:spPr>
          <a:xfrm>
            <a:off x="4223414"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2" name="Illustrative delivered road transport cost class None; reference terminal None"/>
          <p:cNvSpPr/>
          <p:nvPr/>
        </p:nvSpPr>
        <p:spPr>
          <a:xfrm>
            <a:off x="4223414"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3" name="Illustrative delivered road transport cost class None; reference terminal None"/>
          <p:cNvSpPr/>
          <p:nvPr/>
        </p:nvSpPr>
        <p:spPr>
          <a:xfrm>
            <a:off x="4223414"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4" name="Illustrative delivered road transport cost class None; reference terminal None"/>
          <p:cNvSpPr/>
          <p:nvPr/>
        </p:nvSpPr>
        <p:spPr>
          <a:xfrm>
            <a:off x="4223414" y="2624722"/>
            <a:ext cx="57686" cy="46868"/>
          </a:xfrm>
          <a:custGeom>
            <a:avLst/>
            <a:gdLst/>
            <a:ahLst/>
            <a:cxnLst/>
            <a:rect l="l" t="t" r="r" b="b"/>
            <a:pathLst>
              <a:path w="57686" h="46868">
                <a:moveTo>
                  <a:pt x="57686" y="46868"/>
                </a:moveTo>
                <a:lnTo>
                  <a:pt x="0" y="46868"/>
                </a:lnTo>
                <a:lnTo>
                  <a:pt x="0" y="33976"/>
                </a:lnTo>
                <a:lnTo>
                  <a:pt x="9593" y="27980"/>
                </a:lnTo>
                <a:lnTo>
                  <a:pt x="26902" y="11490"/>
                </a:lnTo>
                <a:lnTo>
                  <a:pt x="47342" y="1504"/>
                </a:lnTo>
                <a:lnTo>
                  <a:pt x="57686" y="0"/>
                </a:lnTo>
                <a:lnTo>
                  <a:pt x="57686" y="4686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5" name="Illustrative delivered road transport cost class 1; reference terminal Durban"/>
          <p:cNvSpPr/>
          <p:nvPr/>
        </p:nvSpPr>
        <p:spPr>
          <a:xfrm>
            <a:off x="4281100" y="5094426"/>
            <a:ext cx="46760" cy="30279"/>
          </a:xfrm>
          <a:custGeom>
            <a:avLst/>
            <a:gdLst/>
            <a:ahLst/>
            <a:cxnLst/>
            <a:rect l="l" t="t" r="r" b="b"/>
            <a:pathLst>
              <a:path w="46760" h="30279">
                <a:moveTo>
                  <a:pt x="0" y="0"/>
                </a:moveTo>
                <a:lnTo>
                  <a:pt x="46760" y="0"/>
                </a:lnTo>
                <a:lnTo>
                  <a:pt x="39941" y="6163"/>
                </a:lnTo>
                <a:lnTo>
                  <a:pt x="18427" y="16406"/>
                </a:lnTo>
                <a:lnTo>
                  <a:pt x="0" y="30279"/>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6" name="Illustrative delivered road transport cost class 1; reference terminal Durban"/>
          <p:cNvSpPr/>
          <p:nvPr/>
        </p:nvSpPr>
        <p:spPr>
          <a:xfrm>
            <a:off x="4281100" y="5036740"/>
            <a:ext cx="57687" cy="57686"/>
          </a:xfrm>
          <a:custGeom>
            <a:avLst/>
            <a:gdLst/>
            <a:ahLst/>
            <a:cxnLst/>
            <a:rect l="l" t="t" r="r" b="b"/>
            <a:pathLst>
              <a:path w="57687" h="57686">
                <a:moveTo>
                  <a:pt x="0" y="57686"/>
                </a:moveTo>
                <a:lnTo>
                  <a:pt x="0" y="0"/>
                </a:lnTo>
                <a:lnTo>
                  <a:pt x="57687" y="0"/>
                </a:lnTo>
                <a:lnTo>
                  <a:pt x="57687" y="47813"/>
                </a:lnTo>
                <a:lnTo>
                  <a:pt x="46760"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7" name="Illustrative delivered road transport cost class 1; reference terminal Durban"/>
          <p:cNvSpPr/>
          <p:nvPr/>
        </p:nvSpPr>
        <p:spPr>
          <a:xfrm>
            <a:off x="4281100"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8" name="Illustrative delivered road transport cost class 1; reference terminal Durban"/>
          <p:cNvSpPr/>
          <p:nvPr/>
        </p:nvSpPr>
        <p:spPr>
          <a:xfrm>
            <a:off x="4281100"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9" name="Illustrative delivered road transport cost class 1; reference terminal Durban"/>
          <p:cNvSpPr/>
          <p:nvPr/>
        </p:nvSpPr>
        <p:spPr>
          <a:xfrm>
            <a:off x="4281100"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0" name="Illustrative delivered road transport cost class 1; reference terminal Durban"/>
          <p:cNvSpPr/>
          <p:nvPr/>
        </p:nvSpPr>
        <p:spPr>
          <a:xfrm>
            <a:off x="4281100"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1" name="Illustrative delivered road transport cost class 1; reference terminal Durban"/>
          <p:cNvSpPr/>
          <p:nvPr/>
        </p:nvSpPr>
        <p:spPr>
          <a:xfrm>
            <a:off x="4281100"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2" name="Illustrative delivered road transport cost class 1; reference terminal Durban"/>
          <p:cNvSpPr/>
          <p:nvPr/>
        </p:nvSpPr>
        <p:spPr>
          <a:xfrm>
            <a:off x="4281100"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3" name="Illustrative delivered road transport cost class 1; reference terminal Durban"/>
          <p:cNvSpPr/>
          <p:nvPr/>
        </p:nvSpPr>
        <p:spPr>
          <a:xfrm>
            <a:off x="4281100"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4" name="Illustrative delivered road transport cost class 2; reference terminal Lesedi"/>
          <p:cNvSpPr/>
          <p:nvPr/>
        </p:nvSpPr>
        <p:spPr>
          <a:xfrm>
            <a:off x="4281100"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5" name="Illustrative delivered road transport cost class 2; reference terminal Lesedi"/>
          <p:cNvSpPr/>
          <p:nvPr/>
        </p:nvSpPr>
        <p:spPr>
          <a:xfrm>
            <a:off x="4281100"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6" name="Illustrative delivered road transport cost class 2; reference terminal Lesedi"/>
          <p:cNvSpPr/>
          <p:nvPr/>
        </p:nvSpPr>
        <p:spPr>
          <a:xfrm>
            <a:off x="4281100" y="4459874"/>
            <a:ext cx="57687" cy="57687"/>
          </a:xfrm>
          <a:custGeom>
            <a:avLst/>
            <a:gdLst/>
            <a:ahLst/>
            <a:cxnLst/>
            <a:rect l="l" t="t" r="r" b="b"/>
            <a:pathLst>
              <a:path w="57687" h="57687">
                <a:moveTo>
                  <a:pt x="57687" y="57687"/>
                </a:moveTo>
                <a:lnTo>
                  <a:pt x="0" y="57687"/>
                </a:lnTo>
                <a:lnTo>
                  <a:pt x="0" y="0"/>
                </a:lnTo>
                <a:lnTo>
                  <a:pt x="16796" y="0"/>
                </a:lnTo>
                <a:lnTo>
                  <a:pt x="32339" y="12574"/>
                </a:lnTo>
                <a:lnTo>
                  <a:pt x="57687" y="17906"/>
                </a:lnTo>
                <a:lnTo>
                  <a:pt x="57687"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7" name="Illustrative delivered road transport cost class None; reference terminal None"/>
          <p:cNvSpPr/>
          <p:nvPr/>
        </p:nvSpPr>
        <p:spPr>
          <a:xfrm>
            <a:off x="4281100" y="4441092"/>
            <a:ext cx="16796" cy="18782"/>
          </a:xfrm>
          <a:custGeom>
            <a:avLst/>
            <a:gdLst/>
            <a:ahLst/>
            <a:cxnLst/>
            <a:rect l="l" t="t" r="r" b="b"/>
            <a:pathLst>
              <a:path w="16796" h="18782">
                <a:moveTo>
                  <a:pt x="0" y="18782"/>
                </a:moveTo>
                <a:lnTo>
                  <a:pt x="0" y="0"/>
                </a:lnTo>
                <a:lnTo>
                  <a:pt x="13545" y="16152"/>
                </a:lnTo>
                <a:lnTo>
                  <a:pt x="16796" y="18782"/>
                </a:lnTo>
                <a:lnTo>
                  <a:pt x="0" y="1878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8" name="Illustrative delivered road transport cost class None; reference terminal None"/>
          <p:cNvSpPr/>
          <p:nvPr/>
        </p:nvSpPr>
        <p:spPr>
          <a:xfrm>
            <a:off x="4281100" y="4056068"/>
            <a:ext cx="33084" cy="50928"/>
          </a:xfrm>
          <a:custGeom>
            <a:avLst/>
            <a:gdLst/>
            <a:ahLst/>
            <a:cxnLst/>
            <a:rect l="l" t="t" r="r" b="b"/>
            <a:pathLst>
              <a:path w="33084" h="50928">
                <a:moveTo>
                  <a:pt x="0" y="0"/>
                </a:moveTo>
                <a:lnTo>
                  <a:pt x="33084" y="0"/>
                </a:lnTo>
                <a:lnTo>
                  <a:pt x="20940" y="18711"/>
                </a:lnTo>
                <a:lnTo>
                  <a:pt x="4609" y="43812"/>
                </a:lnTo>
                <a:lnTo>
                  <a:pt x="0" y="50928"/>
                </a:lnTo>
                <a:lnTo>
                  <a:pt x="0"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9" name="Illustrative delivered road transport cost class None; reference terminal None"/>
          <p:cNvSpPr/>
          <p:nvPr/>
        </p:nvSpPr>
        <p:spPr>
          <a:xfrm>
            <a:off x="4281100" y="3998382"/>
            <a:ext cx="57687" cy="57686"/>
          </a:xfrm>
          <a:custGeom>
            <a:avLst/>
            <a:gdLst/>
            <a:ahLst/>
            <a:cxnLst/>
            <a:rect l="l" t="t" r="r" b="b"/>
            <a:pathLst>
              <a:path w="57687" h="57686">
                <a:moveTo>
                  <a:pt x="0" y="57686"/>
                </a:moveTo>
                <a:lnTo>
                  <a:pt x="0" y="0"/>
                </a:lnTo>
                <a:lnTo>
                  <a:pt x="57687" y="0"/>
                </a:lnTo>
                <a:lnTo>
                  <a:pt x="57687" y="42797"/>
                </a:lnTo>
                <a:lnTo>
                  <a:pt x="38441" y="49434"/>
                </a:lnTo>
                <a:lnTo>
                  <a:pt x="33084"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0" name="Illustrative delivered road transport cost class 1; reference terminal Lesedi"/>
          <p:cNvSpPr/>
          <p:nvPr/>
        </p:nvSpPr>
        <p:spPr>
          <a:xfrm>
            <a:off x="4281100"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1" name="Illustrative delivered road transport cost class 1; reference terminal Lesedi"/>
          <p:cNvSpPr/>
          <p:nvPr/>
        </p:nvSpPr>
        <p:spPr>
          <a:xfrm>
            <a:off x="4281100"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2" name="Illustrative delivered road transport cost class 1; reference terminal Lesedi"/>
          <p:cNvSpPr/>
          <p:nvPr/>
        </p:nvSpPr>
        <p:spPr>
          <a:xfrm>
            <a:off x="4281100"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3" name="Illustrative delivered road transport cost class 0; reference terminal Lesedi"/>
          <p:cNvSpPr/>
          <p:nvPr/>
        </p:nvSpPr>
        <p:spPr>
          <a:xfrm>
            <a:off x="4281100"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4" name="Illustrative delivered road transport cost class 0; reference terminal Lesedi"/>
          <p:cNvSpPr/>
          <p:nvPr/>
        </p:nvSpPr>
        <p:spPr>
          <a:xfrm>
            <a:off x="4281100"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5" name="Illustrative delivered road transport cost class 0; reference terminal Lesedi"/>
          <p:cNvSpPr/>
          <p:nvPr/>
        </p:nvSpPr>
        <p:spPr>
          <a:xfrm>
            <a:off x="4281100"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6" name="Illustrative delivered road transport cost class 0; reference terminal Lesedi"/>
          <p:cNvSpPr/>
          <p:nvPr/>
        </p:nvSpPr>
        <p:spPr>
          <a:xfrm>
            <a:off x="4281100"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7" name="Illustrative delivered road transport cost class 0; reference terminal Lesedi"/>
          <p:cNvSpPr/>
          <p:nvPr/>
        </p:nvSpPr>
        <p:spPr>
          <a:xfrm>
            <a:off x="4281100"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8" name="Illustrative delivered road transport cost class 0; reference terminal Lesedi"/>
          <p:cNvSpPr/>
          <p:nvPr/>
        </p:nvSpPr>
        <p:spPr>
          <a:xfrm>
            <a:off x="4281100"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9" name="Illustrative delivered road transport cost class 0; reference terminal Lesedi"/>
          <p:cNvSpPr/>
          <p:nvPr/>
        </p:nvSpPr>
        <p:spPr>
          <a:xfrm>
            <a:off x="4281100"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0" name="Illustrative delivered road transport cost class 0; reference terminal Lesedi"/>
          <p:cNvSpPr/>
          <p:nvPr/>
        </p:nvSpPr>
        <p:spPr>
          <a:xfrm>
            <a:off x="4281100"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1" name="Illustrative delivered road transport cost class 0; reference terminal Lesedi"/>
          <p:cNvSpPr/>
          <p:nvPr/>
        </p:nvSpPr>
        <p:spPr>
          <a:xfrm>
            <a:off x="4281100"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2" name="Illustrative delivered road transport cost class 0; reference terminal Lesedi"/>
          <p:cNvSpPr/>
          <p:nvPr/>
        </p:nvSpPr>
        <p:spPr>
          <a:xfrm>
            <a:off x="4281100"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3" name="Illustrative delivered road transport cost class 0; reference terminal Lesedi"/>
          <p:cNvSpPr/>
          <p:nvPr/>
        </p:nvSpPr>
        <p:spPr>
          <a:xfrm>
            <a:off x="4281100"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4" name="Illustrative delivered road transport cost class 0; reference terminal Lesedi"/>
          <p:cNvSpPr/>
          <p:nvPr/>
        </p:nvSpPr>
        <p:spPr>
          <a:xfrm>
            <a:off x="4281100"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5" name="Illustrative delivered road transport cost class 0; reference terminal Lesedi"/>
          <p:cNvSpPr/>
          <p:nvPr/>
        </p:nvSpPr>
        <p:spPr>
          <a:xfrm>
            <a:off x="4281100"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6" name="Illustrative delivered road transport cost class 0; reference terminal Lesedi"/>
          <p:cNvSpPr/>
          <p:nvPr/>
        </p:nvSpPr>
        <p:spPr>
          <a:xfrm>
            <a:off x="4281100"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7" name="Illustrative delivered road transport cost class 0; reference terminal Lesedi"/>
          <p:cNvSpPr/>
          <p:nvPr/>
        </p:nvSpPr>
        <p:spPr>
          <a:xfrm>
            <a:off x="4281100"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8" name="Illustrative delivered road transport cost class None; reference terminal None"/>
          <p:cNvSpPr/>
          <p:nvPr/>
        </p:nvSpPr>
        <p:spPr>
          <a:xfrm>
            <a:off x="4281100"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9" name="Illustrative delivered road transport cost class None; reference terminal None"/>
          <p:cNvSpPr/>
          <p:nvPr/>
        </p:nvSpPr>
        <p:spPr>
          <a:xfrm>
            <a:off x="4281100"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0" name="Illustrative delivered road transport cost class None; reference terminal None"/>
          <p:cNvSpPr/>
          <p:nvPr/>
        </p:nvSpPr>
        <p:spPr>
          <a:xfrm>
            <a:off x="4281100"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1" name="Illustrative delivered road transport cost class None; reference terminal None"/>
          <p:cNvSpPr/>
          <p:nvPr/>
        </p:nvSpPr>
        <p:spPr>
          <a:xfrm>
            <a:off x="4281100"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2" name="Illustrative delivered road transport cost class None; reference terminal None"/>
          <p:cNvSpPr/>
          <p:nvPr/>
        </p:nvSpPr>
        <p:spPr>
          <a:xfrm>
            <a:off x="4281100"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3" name="Illustrative delivered road transport cost class None; reference terminal None"/>
          <p:cNvSpPr/>
          <p:nvPr/>
        </p:nvSpPr>
        <p:spPr>
          <a:xfrm>
            <a:off x="4281100" y="2613904"/>
            <a:ext cx="57687" cy="57686"/>
          </a:xfrm>
          <a:custGeom>
            <a:avLst/>
            <a:gdLst/>
            <a:ahLst/>
            <a:cxnLst/>
            <a:rect l="l" t="t" r="r" b="b"/>
            <a:pathLst>
              <a:path w="57687" h="57686">
                <a:moveTo>
                  <a:pt x="57687" y="0"/>
                </a:moveTo>
                <a:lnTo>
                  <a:pt x="57687" y="57686"/>
                </a:lnTo>
                <a:lnTo>
                  <a:pt x="0" y="57686"/>
                </a:lnTo>
                <a:lnTo>
                  <a:pt x="0" y="10818"/>
                </a:lnTo>
                <a:lnTo>
                  <a:pt x="13219" y="8896"/>
                </a:lnTo>
                <a:lnTo>
                  <a:pt x="25858"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4" name="Illustrative delivered road transport cost class None; reference terminal None"/>
          <p:cNvSpPr/>
          <p:nvPr/>
        </p:nvSpPr>
        <p:spPr>
          <a:xfrm>
            <a:off x="4306958" y="2585046"/>
            <a:ext cx="31829" cy="28858"/>
          </a:xfrm>
          <a:custGeom>
            <a:avLst/>
            <a:gdLst/>
            <a:ahLst/>
            <a:cxnLst/>
            <a:rect l="l" t="t" r="r" b="b"/>
            <a:pathLst>
              <a:path w="31829" h="28858">
                <a:moveTo>
                  <a:pt x="31829" y="28858"/>
                </a:moveTo>
                <a:lnTo>
                  <a:pt x="0" y="28858"/>
                </a:lnTo>
                <a:lnTo>
                  <a:pt x="2787" y="26896"/>
                </a:lnTo>
                <a:lnTo>
                  <a:pt x="10101" y="8669"/>
                </a:lnTo>
                <a:lnTo>
                  <a:pt x="22365" y="0"/>
                </a:lnTo>
                <a:lnTo>
                  <a:pt x="31829" y="478"/>
                </a:lnTo>
                <a:lnTo>
                  <a:pt x="31829" y="2885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5" name="Illustrative delivered road transport cost class 1; reference terminal Durban"/>
          <p:cNvSpPr/>
          <p:nvPr/>
        </p:nvSpPr>
        <p:spPr>
          <a:xfrm>
            <a:off x="4338787" y="5036740"/>
            <a:ext cx="52912" cy="47813"/>
          </a:xfrm>
          <a:custGeom>
            <a:avLst/>
            <a:gdLst/>
            <a:ahLst/>
            <a:cxnLst/>
            <a:rect l="l" t="t" r="r" b="b"/>
            <a:pathLst>
              <a:path w="52912" h="47813">
                <a:moveTo>
                  <a:pt x="0" y="0"/>
                </a:moveTo>
                <a:lnTo>
                  <a:pt x="52912" y="0"/>
                </a:lnTo>
                <a:lnTo>
                  <a:pt x="0" y="47813"/>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6" name="Illustrative delivered road transport cost class 1; reference terminal Durban"/>
          <p:cNvSpPr/>
          <p:nvPr/>
        </p:nvSpPr>
        <p:spPr>
          <a:xfrm>
            <a:off x="4338787" y="4979053"/>
            <a:ext cx="57686" cy="57687"/>
          </a:xfrm>
          <a:custGeom>
            <a:avLst/>
            <a:gdLst/>
            <a:ahLst/>
            <a:cxnLst/>
            <a:rect l="l" t="t" r="r" b="b"/>
            <a:pathLst>
              <a:path w="57686" h="57687">
                <a:moveTo>
                  <a:pt x="0" y="57687"/>
                </a:moveTo>
                <a:lnTo>
                  <a:pt x="0" y="0"/>
                </a:lnTo>
                <a:lnTo>
                  <a:pt x="57686" y="0"/>
                </a:lnTo>
                <a:lnTo>
                  <a:pt x="57686" y="53373"/>
                </a:lnTo>
                <a:lnTo>
                  <a:pt x="52912"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7" name="Illustrative delivered road transport cost class 1; reference terminal Durban"/>
          <p:cNvSpPr/>
          <p:nvPr/>
        </p:nvSpPr>
        <p:spPr>
          <a:xfrm>
            <a:off x="4338787"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8" name="Illustrative delivered road transport cost class 1; reference terminal Durban"/>
          <p:cNvSpPr/>
          <p:nvPr/>
        </p:nvSpPr>
        <p:spPr>
          <a:xfrm>
            <a:off x="4338787"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9" name="Illustrative delivered road transport cost class 1; reference terminal Durban"/>
          <p:cNvSpPr/>
          <p:nvPr/>
        </p:nvSpPr>
        <p:spPr>
          <a:xfrm>
            <a:off x="4338787"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0" name="Illustrative delivered road transport cost class 1; reference terminal Durban"/>
          <p:cNvSpPr/>
          <p:nvPr/>
        </p:nvSpPr>
        <p:spPr>
          <a:xfrm>
            <a:off x="4338787"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1" name="Illustrative delivered road transport cost class 1; reference terminal Durban"/>
          <p:cNvSpPr/>
          <p:nvPr/>
        </p:nvSpPr>
        <p:spPr>
          <a:xfrm>
            <a:off x="4338787"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2" name="Illustrative delivered road transport cost class 1; reference terminal Durban"/>
          <p:cNvSpPr/>
          <p:nvPr/>
        </p:nvSpPr>
        <p:spPr>
          <a:xfrm>
            <a:off x="4338787"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3" name="Illustrative delivered road transport cost class 1; reference terminal Durban"/>
          <p:cNvSpPr/>
          <p:nvPr/>
        </p:nvSpPr>
        <p:spPr>
          <a:xfrm>
            <a:off x="4338787"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4" name="Illustrative delivered road transport cost class None; reference terminal None"/>
          <p:cNvSpPr/>
          <p:nvPr/>
        </p:nvSpPr>
        <p:spPr>
          <a:xfrm>
            <a:off x="4338787"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5" name="Illustrative delivered road transport cost class None; reference terminal None"/>
          <p:cNvSpPr/>
          <p:nvPr/>
        </p:nvSpPr>
        <p:spPr>
          <a:xfrm>
            <a:off x="4338787" y="4459874"/>
            <a:ext cx="57686" cy="57687"/>
          </a:xfrm>
          <a:custGeom>
            <a:avLst/>
            <a:gdLst/>
            <a:ahLst/>
            <a:cxnLst/>
            <a:rect l="l" t="t" r="r" b="b"/>
            <a:pathLst>
              <a:path w="57686" h="57687">
                <a:moveTo>
                  <a:pt x="57686" y="0"/>
                </a:moveTo>
                <a:lnTo>
                  <a:pt x="57686" y="57687"/>
                </a:lnTo>
                <a:lnTo>
                  <a:pt x="0" y="57687"/>
                </a:lnTo>
                <a:lnTo>
                  <a:pt x="0" y="17906"/>
                </a:lnTo>
                <a:lnTo>
                  <a:pt x="7396" y="19461"/>
                </a:lnTo>
                <a:lnTo>
                  <a:pt x="32990" y="24831"/>
                </a:lnTo>
                <a:lnTo>
                  <a:pt x="41617" y="22181"/>
                </a:lnTo>
                <a:lnTo>
                  <a:pt x="50685" y="10522"/>
                </a:lnTo>
                <a:lnTo>
                  <a:pt x="55986" y="0"/>
                </a:lnTo>
                <a:lnTo>
                  <a:pt x="576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6" name="Illustrative delivered road transport cost class None; reference terminal None"/>
          <p:cNvSpPr/>
          <p:nvPr/>
        </p:nvSpPr>
        <p:spPr>
          <a:xfrm>
            <a:off x="4338787" y="3998382"/>
            <a:ext cx="57686" cy="42797"/>
          </a:xfrm>
          <a:custGeom>
            <a:avLst/>
            <a:gdLst/>
            <a:ahLst/>
            <a:cxnLst/>
            <a:rect l="l" t="t" r="r" b="b"/>
            <a:pathLst>
              <a:path w="57686" h="42797">
                <a:moveTo>
                  <a:pt x="0" y="0"/>
                </a:moveTo>
                <a:lnTo>
                  <a:pt x="57686" y="0"/>
                </a:lnTo>
                <a:lnTo>
                  <a:pt x="57686" y="12496"/>
                </a:lnTo>
                <a:lnTo>
                  <a:pt x="31616" y="33586"/>
                </a:lnTo>
                <a:lnTo>
                  <a:pt x="2264" y="42017"/>
                </a:lnTo>
                <a:lnTo>
                  <a:pt x="0" y="42797"/>
                </a:lnTo>
                <a:lnTo>
                  <a:pt x="0"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7" name="Illustrative delivered road transport cost class None; reference terminal None"/>
          <p:cNvSpPr/>
          <p:nvPr/>
        </p:nvSpPr>
        <p:spPr>
          <a:xfrm>
            <a:off x="4338787"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8" name="Illustrative delivered road transport cost class None; reference terminal None"/>
          <p:cNvSpPr/>
          <p:nvPr/>
        </p:nvSpPr>
        <p:spPr>
          <a:xfrm>
            <a:off x="4338787"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9" name="Illustrative delivered road transport cost class 1; reference terminal Lesedi"/>
          <p:cNvSpPr/>
          <p:nvPr/>
        </p:nvSpPr>
        <p:spPr>
          <a:xfrm>
            <a:off x="4338787"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0" name="Illustrative delivered road transport cost class 1; reference terminal Lesedi"/>
          <p:cNvSpPr/>
          <p:nvPr/>
        </p:nvSpPr>
        <p:spPr>
          <a:xfrm>
            <a:off x="4338787"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1" name="Illustrative delivered road transport cost class 0; reference terminal Lesedi"/>
          <p:cNvSpPr/>
          <p:nvPr/>
        </p:nvSpPr>
        <p:spPr>
          <a:xfrm>
            <a:off x="4338787"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2" name="Illustrative delivered road transport cost class 0; reference terminal Lesedi"/>
          <p:cNvSpPr/>
          <p:nvPr/>
        </p:nvSpPr>
        <p:spPr>
          <a:xfrm>
            <a:off x="4338787"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3" name="Illustrative delivered road transport cost class 0; reference terminal Lesedi"/>
          <p:cNvSpPr/>
          <p:nvPr/>
        </p:nvSpPr>
        <p:spPr>
          <a:xfrm>
            <a:off x="4338787"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4" name="Illustrative delivered road transport cost class 0; reference terminal Lesedi"/>
          <p:cNvSpPr/>
          <p:nvPr/>
        </p:nvSpPr>
        <p:spPr>
          <a:xfrm>
            <a:off x="4338787"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5" name="Illustrative delivered road transport cost class 0; reference terminal Lesedi"/>
          <p:cNvSpPr/>
          <p:nvPr/>
        </p:nvSpPr>
        <p:spPr>
          <a:xfrm>
            <a:off x="4338787"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6" name="Illustrative delivered road transport cost class 0; reference terminal Lesedi"/>
          <p:cNvSpPr/>
          <p:nvPr/>
        </p:nvSpPr>
        <p:spPr>
          <a:xfrm>
            <a:off x="4338787"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7" name="Illustrative delivered road transport cost class 0; reference terminal Lesedi"/>
          <p:cNvSpPr/>
          <p:nvPr/>
        </p:nvSpPr>
        <p:spPr>
          <a:xfrm>
            <a:off x="4338787"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8" name="Illustrative delivered road transport cost class 0; reference terminal Lesedi"/>
          <p:cNvSpPr/>
          <p:nvPr/>
        </p:nvSpPr>
        <p:spPr>
          <a:xfrm>
            <a:off x="4338787"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9" name="Illustrative delivered road transport cost class 0; reference terminal Lesedi"/>
          <p:cNvSpPr/>
          <p:nvPr/>
        </p:nvSpPr>
        <p:spPr>
          <a:xfrm>
            <a:off x="4338787"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0" name="Illustrative delivered road transport cost class 0; reference terminal Lesedi"/>
          <p:cNvSpPr/>
          <p:nvPr/>
        </p:nvSpPr>
        <p:spPr>
          <a:xfrm>
            <a:off x="4338787"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1" name="Illustrative delivered road transport cost class 0; reference terminal Lesedi"/>
          <p:cNvSpPr/>
          <p:nvPr/>
        </p:nvSpPr>
        <p:spPr>
          <a:xfrm>
            <a:off x="4338787"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2" name="Illustrative delivered road transport cost class 0; reference terminal Lesedi"/>
          <p:cNvSpPr/>
          <p:nvPr/>
        </p:nvSpPr>
        <p:spPr>
          <a:xfrm>
            <a:off x="4338787"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3" name="Illustrative delivered road transport cost class 0; reference terminal Lesedi"/>
          <p:cNvSpPr/>
          <p:nvPr/>
        </p:nvSpPr>
        <p:spPr>
          <a:xfrm>
            <a:off x="4338787"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4" name="Illustrative delivered road transport cost class 0; reference terminal Lesedi"/>
          <p:cNvSpPr/>
          <p:nvPr/>
        </p:nvSpPr>
        <p:spPr>
          <a:xfrm>
            <a:off x="4338787"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5" name="Illustrative delivered road transport cost class 0; reference terminal Lesedi"/>
          <p:cNvSpPr/>
          <p:nvPr/>
        </p:nvSpPr>
        <p:spPr>
          <a:xfrm>
            <a:off x="4338787"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6" name="Illustrative delivered road transport cost class None; reference terminal None"/>
          <p:cNvSpPr/>
          <p:nvPr/>
        </p:nvSpPr>
        <p:spPr>
          <a:xfrm>
            <a:off x="4338787"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7" name="Illustrative delivered road transport cost class None; reference terminal None"/>
          <p:cNvSpPr/>
          <p:nvPr/>
        </p:nvSpPr>
        <p:spPr>
          <a:xfrm>
            <a:off x="4338787"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8" name="Illustrative delivered road transport cost class None; reference terminal None"/>
          <p:cNvSpPr/>
          <p:nvPr/>
        </p:nvSpPr>
        <p:spPr>
          <a:xfrm>
            <a:off x="4338787"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9" name="Illustrative delivered road transport cost class None; reference terminal None"/>
          <p:cNvSpPr/>
          <p:nvPr/>
        </p:nvSpPr>
        <p:spPr>
          <a:xfrm>
            <a:off x="4338787"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0" name="Illustrative delivered road transport cost class None; reference terminal None"/>
          <p:cNvSpPr/>
          <p:nvPr/>
        </p:nvSpPr>
        <p:spPr>
          <a:xfrm>
            <a:off x="4338787"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1" name="Illustrative delivered road transport cost class None; reference terminal None"/>
          <p:cNvSpPr/>
          <p:nvPr/>
        </p:nvSpPr>
        <p:spPr>
          <a:xfrm>
            <a:off x="4338787" y="2556217"/>
            <a:ext cx="57686" cy="57687"/>
          </a:xfrm>
          <a:custGeom>
            <a:avLst/>
            <a:gdLst/>
            <a:ahLst/>
            <a:cxnLst/>
            <a:rect l="l" t="t" r="r" b="b"/>
            <a:pathLst>
              <a:path w="57686" h="57687">
                <a:moveTo>
                  <a:pt x="57686" y="0"/>
                </a:moveTo>
                <a:lnTo>
                  <a:pt x="57686" y="57687"/>
                </a:lnTo>
                <a:lnTo>
                  <a:pt x="0" y="57687"/>
                </a:lnTo>
                <a:lnTo>
                  <a:pt x="0" y="29307"/>
                </a:lnTo>
                <a:lnTo>
                  <a:pt x="7768" y="29699"/>
                </a:lnTo>
                <a:lnTo>
                  <a:pt x="17695" y="24082"/>
                </a:lnTo>
                <a:lnTo>
                  <a:pt x="20365" y="11922"/>
                </a:lnTo>
                <a:lnTo>
                  <a:pt x="30994" y="1712"/>
                </a:lnTo>
                <a:lnTo>
                  <a:pt x="34844" y="0"/>
                </a:lnTo>
                <a:lnTo>
                  <a:pt x="576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2" name="Illustrative delivered road transport cost class None; reference terminal None"/>
          <p:cNvSpPr/>
          <p:nvPr/>
        </p:nvSpPr>
        <p:spPr>
          <a:xfrm>
            <a:off x="4373631" y="2541422"/>
            <a:ext cx="22842" cy="14795"/>
          </a:xfrm>
          <a:custGeom>
            <a:avLst/>
            <a:gdLst/>
            <a:ahLst/>
            <a:cxnLst/>
            <a:rect l="l" t="t" r="r" b="b"/>
            <a:pathLst>
              <a:path w="22842" h="14795">
                <a:moveTo>
                  <a:pt x="22842" y="14795"/>
                </a:moveTo>
                <a:lnTo>
                  <a:pt x="0" y="14795"/>
                </a:lnTo>
                <a:lnTo>
                  <a:pt x="14767" y="8230"/>
                </a:lnTo>
                <a:lnTo>
                  <a:pt x="22842" y="0"/>
                </a:lnTo>
                <a:lnTo>
                  <a:pt x="22842" y="14795"/>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3" name="Illustrative delivered road transport cost class 1; reference terminal Durban"/>
          <p:cNvSpPr/>
          <p:nvPr/>
        </p:nvSpPr>
        <p:spPr>
          <a:xfrm>
            <a:off x="4396473" y="4979053"/>
            <a:ext cx="57687" cy="53373"/>
          </a:xfrm>
          <a:custGeom>
            <a:avLst/>
            <a:gdLst/>
            <a:ahLst/>
            <a:cxnLst/>
            <a:rect l="l" t="t" r="r" b="b"/>
            <a:pathLst>
              <a:path w="57687" h="53373">
                <a:moveTo>
                  <a:pt x="0" y="0"/>
                </a:moveTo>
                <a:lnTo>
                  <a:pt x="57687" y="0"/>
                </a:lnTo>
                <a:lnTo>
                  <a:pt x="57687" y="12780"/>
                </a:lnTo>
                <a:lnTo>
                  <a:pt x="54944" y="15243"/>
                </a:lnTo>
                <a:lnTo>
                  <a:pt x="2897" y="50755"/>
                </a:lnTo>
                <a:lnTo>
                  <a:pt x="0" y="53373"/>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4" name="Illustrative delivered road transport cost class 1; reference terminal Durban"/>
          <p:cNvSpPr/>
          <p:nvPr/>
        </p:nvSpPr>
        <p:spPr>
          <a:xfrm>
            <a:off x="4396473"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5" name="Illustrative delivered road transport cost class 1; reference terminal Durban"/>
          <p:cNvSpPr/>
          <p:nvPr/>
        </p:nvSpPr>
        <p:spPr>
          <a:xfrm>
            <a:off x="4396473"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6" name="Illustrative delivered road transport cost class 1; reference terminal Durban"/>
          <p:cNvSpPr/>
          <p:nvPr/>
        </p:nvSpPr>
        <p:spPr>
          <a:xfrm>
            <a:off x="4396473"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7" name="Illustrative delivered road transport cost class 1; reference terminal Durban"/>
          <p:cNvSpPr/>
          <p:nvPr/>
        </p:nvSpPr>
        <p:spPr>
          <a:xfrm>
            <a:off x="4396473"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8" name="Illustrative delivered road transport cost class 1; reference terminal Durban"/>
          <p:cNvSpPr/>
          <p:nvPr/>
        </p:nvSpPr>
        <p:spPr>
          <a:xfrm>
            <a:off x="4396473"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9" name="Illustrative delivered road transport cost class 1; reference terminal Durban"/>
          <p:cNvSpPr/>
          <p:nvPr/>
        </p:nvSpPr>
        <p:spPr>
          <a:xfrm>
            <a:off x="4396473"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0" name="Illustrative delivered road transport cost class 1; reference terminal Durban"/>
          <p:cNvSpPr/>
          <p:nvPr/>
        </p:nvSpPr>
        <p:spPr>
          <a:xfrm>
            <a:off x="4396473"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1" name="Illustrative delivered road transport cost class 1; reference terminal Durban"/>
          <p:cNvSpPr/>
          <p:nvPr/>
        </p:nvSpPr>
        <p:spPr>
          <a:xfrm>
            <a:off x="4396473"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2" name="Illustrative delivered road transport cost class 1; reference terminal Durban"/>
          <p:cNvSpPr/>
          <p:nvPr/>
        </p:nvSpPr>
        <p:spPr>
          <a:xfrm>
            <a:off x="4396473"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3" name="Illustrative delivered road transport cost class None; reference terminal None"/>
          <p:cNvSpPr/>
          <p:nvPr/>
        </p:nvSpPr>
        <p:spPr>
          <a:xfrm>
            <a:off x="4396473" y="4402188"/>
            <a:ext cx="57687" cy="57686"/>
          </a:xfrm>
          <a:custGeom>
            <a:avLst/>
            <a:gdLst/>
            <a:ahLst/>
            <a:cxnLst/>
            <a:rect l="l" t="t" r="r" b="b"/>
            <a:pathLst>
              <a:path w="57687" h="57686">
                <a:moveTo>
                  <a:pt x="57687" y="0"/>
                </a:moveTo>
                <a:lnTo>
                  <a:pt x="57687" y="57686"/>
                </a:lnTo>
                <a:lnTo>
                  <a:pt x="0" y="57686"/>
                </a:lnTo>
                <a:lnTo>
                  <a:pt x="0" y="54310"/>
                </a:lnTo>
                <a:lnTo>
                  <a:pt x="566" y="53187"/>
                </a:lnTo>
                <a:lnTo>
                  <a:pt x="3386" y="34016"/>
                </a:lnTo>
                <a:lnTo>
                  <a:pt x="11889" y="23997"/>
                </a:lnTo>
                <a:lnTo>
                  <a:pt x="27990"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4" name="Illustrative delivered road transport cost class None; reference terminal None"/>
          <p:cNvSpPr/>
          <p:nvPr/>
        </p:nvSpPr>
        <p:spPr>
          <a:xfrm>
            <a:off x="4424463" y="4364487"/>
            <a:ext cx="29697" cy="37701"/>
          </a:xfrm>
          <a:custGeom>
            <a:avLst/>
            <a:gdLst/>
            <a:ahLst/>
            <a:cxnLst/>
            <a:rect l="l" t="t" r="r" b="b"/>
            <a:pathLst>
              <a:path w="29697" h="37701">
                <a:moveTo>
                  <a:pt x="29697" y="37701"/>
                </a:moveTo>
                <a:lnTo>
                  <a:pt x="0" y="37701"/>
                </a:lnTo>
                <a:lnTo>
                  <a:pt x="16171" y="13598"/>
                </a:lnTo>
                <a:lnTo>
                  <a:pt x="29697" y="0"/>
                </a:lnTo>
                <a:lnTo>
                  <a:pt x="29697" y="37701"/>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5" name="Illustrative delivered road transport cost class None; reference terminal None"/>
          <p:cNvSpPr/>
          <p:nvPr/>
        </p:nvSpPr>
        <p:spPr>
          <a:xfrm>
            <a:off x="4396473" y="3998382"/>
            <a:ext cx="20941" cy="12496"/>
          </a:xfrm>
          <a:custGeom>
            <a:avLst/>
            <a:gdLst/>
            <a:ahLst/>
            <a:cxnLst/>
            <a:rect l="l" t="t" r="r" b="b"/>
            <a:pathLst>
              <a:path w="20941" h="12496">
                <a:moveTo>
                  <a:pt x="0" y="0"/>
                </a:moveTo>
                <a:lnTo>
                  <a:pt x="20941" y="0"/>
                </a:lnTo>
                <a:lnTo>
                  <a:pt x="2562" y="10424"/>
                </a:lnTo>
                <a:lnTo>
                  <a:pt x="0" y="12496"/>
                </a:lnTo>
                <a:lnTo>
                  <a:pt x="0"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6" name="Illustrative delivered road transport cost class 1; reference terminal Lesedi"/>
          <p:cNvSpPr/>
          <p:nvPr/>
        </p:nvSpPr>
        <p:spPr>
          <a:xfrm>
            <a:off x="4396473" y="3940695"/>
            <a:ext cx="57687" cy="57687"/>
          </a:xfrm>
          <a:custGeom>
            <a:avLst/>
            <a:gdLst/>
            <a:ahLst/>
            <a:cxnLst/>
            <a:rect l="l" t="t" r="r" b="b"/>
            <a:pathLst>
              <a:path w="57687" h="57687">
                <a:moveTo>
                  <a:pt x="0" y="57687"/>
                </a:moveTo>
                <a:lnTo>
                  <a:pt x="0" y="0"/>
                </a:lnTo>
                <a:lnTo>
                  <a:pt x="57687" y="0"/>
                </a:lnTo>
                <a:lnTo>
                  <a:pt x="57687" y="40967"/>
                </a:lnTo>
                <a:lnTo>
                  <a:pt x="36487" y="48869"/>
                </a:lnTo>
                <a:lnTo>
                  <a:pt x="20941"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7" name="Illustrative delivered road transport cost class 1; reference terminal Lesedi"/>
          <p:cNvSpPr/>
          <p:nvPr/>
        </p:nvSpPr>
        <p:spPr>
          <a:xfrm>
            <a:off x="4396473"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8" name="Illustrative delivered road transport cost class 1; reference terminal Lesedi"/>
          <p:cNvSpPr/>
          <p:nvPr/>
        </p:nvSpPr>
        <p:spPr>
          <a:xfrm>
            <a:off x="4396473"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9" name="Illustrative delivered road transport cost class 0; reference terminal Lesedi"/>
          <p:cNvSpPr/>
          <p:nvPr/>
        </p:nvSpPr>
        <p:spPr>
          <a:xfrm>
            <a:off x="4396473"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0" name="Illustrative delivered road transport cost class 0; reference terminal Lesedi"/>
          <p:cNvSpPr/>
          <p:nvPr/>
        </p:nvSpPr>
        <p:spPr>
          <a:xfrm>
            <a:off x="4396473"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1" name="Illustrative delivered road transport cost class 0; reference terminal Lesedi"/>
          <p:cNvSpPr/>
          <p:nvPr/>
        </p:nvSpPr>
        <p:spPr>
          <a:xfrm>
            <a:off x="4396473"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2" name="Illustrative delivered road transport cost class 0; reference terminal Lesedi"/>
          <p:cNvSpPr/>
          <p:nvPr/>
        </p:nvSpPr>
        <p:spPr>
          <a:xfrm>
            <a:off x="4396473"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3" name="Illustrative delivered road transport cost class 0; reference terminal Lesedi"/>
          <p:cNvSpPr/>
          <p:nvPr/>
        </p:nvSpPr>
        <p:spPr>
          <a:xfrm>
            <a:off x="4396473"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4" name="Illustrative delivered road transport cost class 0; reference terminal Lesedi"/>
          <p:cNvSpPr/>
          <p:nvPr/>
        </p:nvSpPr>
        <p:spPr>
          <a:xfrm>
            <a:off x="4396473"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5" name="Illustrative delivered road transport cost class 0; reference terminal Lesedi"/>
          <p:cNvSpPr/>
          <p:nvPr/>
        </p:nvSpPr>
        <p:spPr>
          <a:xfrm>
            <a:off x="4396473"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6" name="Illustrative delivered road transport cost class 0; reference terminal Lesedi"/>
          <p:cNvSpPr/>
          <p:nvPr/>
        </p:nvSpPr>
        <p:spPr>
          <a:xfrm>
            <a:off x="4396473"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7" name="Illustrative delivered road transport cost class 0; reference terminal Lesedi"/>
          <p:cNvSpPr/>
          <p:nvPr/>
        </p:nvSpPr>
        <p:spPr>
          <a:xfrm>
            <a:off x="4396473"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8" name="Illustrative delivered road transport cost class 0; reference terminal Lesedi"/>
          <p:cNvSpPr/>
          <p:nvPr/>
        </p:nvSpPr>
        <p:spPr>
          <a:xfrm>
            <a:off x="4396473"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9" name="Illustrative delivered road transport cost class 0; reference terminal Lesedi"/>
          <p:cNvSpPr/>
          <p:nvPr/>
        </p:nvSpPr>
        <p:spPr>
          <a:xfrm>
            <a:off x="4396473"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0" name="Illustrative delivered road transport cost class 0; reference terminal Lesedi"/>
          <p:cNvSpPr/>
          <p:nvPr/>
        </p:nvSpPr>
        <p:spPr>
          <a:xfrm>
            <a:off x="4396473"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1" name="Illustrative delivered road transport cost class 0; reference terminal Lesedi"/>
          <p:cNvSpPr/>
          <p:nvPr/>
        </p:nvSpPr>
        <p:spPr>
          <a:xfrm>
            <a:off x="4396473"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2" name="Illustrative delivered road transport cost class 0; reference terminal Lesedi"/>
          <p:cNvSpPr/>
          <p:nvPr/>
        </p:nvSpPr>
        <p:spPr>
          <a:xfrm>
            <a:off x="4396473"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3" name="Illustrative delivered road transport cost class 0; reference terminal Lesedi"/>
          <p:cNvSpPr/>
          <p:nvPr/>
        </p:nvSpPr>
        <p:spPr>
          <a:xfrm>
            <a:off x="4396473"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4" name="Illustrative delivered road transport cost class 0; reference terminal Lesedi"/>
          <p:cNvSpPr/>
          <p:nvPr/>
        </p:nvSpPr>
        <p:spPr>
          <a:xfrm>
            <a:off x="4396473"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5" name="Illustrative delivered road transport cost class 1; reference terminal Lesedi"/>
          <p:cNvSpPr/>
          <p:nvPr/>
        </p:nvSpPr>
        <p:spPr>
          <a:xfrm>
            <a:off x="4396473"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6" name="Illustrative delivered road transport cost class None; reference terminal None"/>
          <p:cNvSpPr/>
          <p:nvPr/>
        </p:nvSpPr>
        <p:spPr>
          <a:xfrm>
            <a:off x="4396473"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7" name="Illustrative delivered road transport cost class None; reference terminal None"/>
          <p:cNvSpPr/>
          <p:nvPr/>
        </p:nvSpPr>
        <p:spPr>
          <a:xfrm>
            <a:off x="4396473"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8" name="Illustrative delivered road transport cost class None; reference terminal None"/>
          <p:cNvSpPr/>
          <p:nvPr/>
        </p:nvSpPr>
        <p:spPr>
          <a:xfrm>
            <a:off x="4396473"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9" name="Illustrative delivered road transport cost class None; reference terminal None"/>
          <p:cNvSpPr/>
          <p:nvPr/>
        </p:nvSpPr>
        <p:spPr>
          <a:xfrm>
            <a:off x="4396473"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0" name="Illustrative delivered road transport cost class None; reference terminal None"/>
          <p:cNvSpPr/>
          <p:nvPr/>
        </p:nvSpPr>
        <p:spPr>
          <a:xfrm>
            <a:off x="4396473"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1" name="Illustrative delivered road transport cost class None; reference terminal None"/>
          <p:cNvSpPr/>
          <p:nvPr/>
        </p:nvSpPr>
        <p:spPr>
          <a:xfrm>
            <a:off x="4396473" y="2498531"/>
            <a:ext cx="57687" cy="57686"/>
          </a:xfrm>
          <a:custGeom>
            <a:avLst/>
            <a:gdLst/>
            <a:ahLst/>
            <a:cxnLst/>
            <a:rect l="l" t="t" r="r" b="b"/>
            <a:pathLst>
              <a:path w="57687" h="57686">
                <a:moveTo>
                  <a:pt x="57687" y="0"/>
                </a:moveTo>
                <a:lnTo>
                  <a:pt x="57687" y="57686"/>
                </a:lnTo>
                <a:lnTo>
                  <a:pt x="0" y="57686"/>
                </a:lnTo>
                <a:lnTo>
                  <a:pt x="0" y="42891"/>
                </a:lnTo>
                <a:lnTo>
                  <a:pt x="1803" y="41053"/>
                </a:lnTo>
                <a:lnTo>
                  <a:pt x="2934" y="29185"/>
                </a:lnTo>
                <a:lnTo>
                  <a:pt x="25556" y="801"/>
                </a:lnTo>
                <a:lnTo>
                  <a:pt x="26346"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2" name="Illustrative delivered road transport cost class None; reference terminal None"/>
          <p:cNvSpPr/>
          <p:nvPr/>
        </p:nvSpPr>
        <p:spPr>
          <a:xfrm>
            <a:off x="4422819" y="2466743"/>
            <a:ext cx="31341" cy="31788"/>
          </a:xfrm>
          <a:custGeom>
            <a:avLst/>
            <a:gdLst/>
            <a:ahLst/>
            <a:cxnLst/>
            <a:rect l="l" t="t" r="r" b="b"/>
            <a:pathLst>
              <a:path w="31341" h="31788">
                <a:moveTo>
                  <a:pt x="31341" y="31788"/>
                </a:moveTo>
                <a:lnTo>
                  <a:pt x="0" y="31788"/>
                </a:lnTo>
                <a:lnTo>
                  <a:pt x="31341" y="0"/>
                </a:lnTo>
                <a:lnTo>
                  <a:pt x="31341" y="3178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3" name="Illustrative delivered road transport cost class 1; reference terminal Durban"/>
          <p:cNvSpPr/>
          <p:nvPr/>
        </p:nvSpPr>
        <p:spPr>
          <a:xfrm>
            <a:off x="4454160" y="4979053"/>
            <a:ext cx="14233" cy="12780"/>
          </a:xfrm>
          <a:custGeom>
            <a:avLst/>
            <a:gdLst/>
            <a:ahLst/>
            <a:cxnLst/>
            <a:rect l="l" t="t" r="r" b="b"/>
            <a:pathLst>
              <a:path w="14233" h="12780">
                <a:moveTo>
                  <a:pt x="0" y="0"/>
                </a:moveTo>
                <a:lnTo>
                  <a:pt x="14233" y="0"/>
                </a:lnTo>
                <a:lnTo>
                  <a:pt x="0" y="12780"/>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4" name="Illustrative delivered road transport cost class 1; reference terminal Durban"/>
          <p:cNvSpPr/>
          <p:nvPr/>
        </p:nvSpPr>
        <p:spPr>
          <a:xfrm>
            <a:off x="4454160" y="4921367"/>
            <a:ext cx="57687" cy="57686"/>
          </a:xfrm>
          <a:custGeom>
            <a:avLst/>
            <a:gdLst/>
            <a:ahLst/>
            <a:cxnLst/>
            <a:rect l="l" t="t" r="r" b="b"/>
            <a:pathLst>
              <a:path w="57687" h="57686">
                <a:moveTo>
                  <a:pt x="0" y="57686"/>
                </a:moveTo>
                <a:lnTo>
                  <a:pt x="0" y="0"/>
                </a:lnTo>
                <a:lnTo>
                  <a:pt x="57687" y="0"/>
                </a:lnTo>
                <a:lnTo>
                  <a:pt x="57687" y="18669"/>
                </a:lnTo>
                <a:lnTo>
                  <a:pt x="14233"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5" name="Illustrative delivered road transport cost class 1; reference terminal Durban"/>
          <p:cNvSpPr/>
          <p:nvPr/>
        </p:nvSpPr>
        <p:spPr>
          <a:xfrm>
            <a:off x="4454160"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6" name="Illustrative delivered road transport cost class 1; reference terminal Durban"/>
          <p:cNvSpPr/>
          <p:nvPr/>
        </p:nvSpPr>
        <p:spPr>
          <a:xfrm>
            <a:off x="4454160"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7" name="Illustrative delivered road transport cost class 1; reference terminal Durban"/>
          <p:cNvSpPr/>
          <p:nvPr/>
        </p:nvSpPr>
        <p:spPr>
          <a:xfrm>
            <a:off x="4454160"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8" name="Illustrative delivered road transport cost class 1; reference terminal Durban"/>
          <p:cNvSpPr/>
          <p:nvPr/>
        </p:nvSpPr>
        <p:spPr>
          <a:xfrm>
            <a:off x="4454160"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9" name="Illustrative delivered road transport cost class 1; reference terminal Durban"/>
          <p:cNvSpPr/>
          <p:nvPr/>
        </p:nvSpPr>
        <p:spPr>
          <a:xfrm>
            <a:off x="4454160"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0" name="Illustrative delivered road transport cost class 1; reference terminal Durban"/>
          <p:cNvSpPr/>
          <p:nvPr/>
        </p:nvSpPr>
        <p:spPr>
          <a:xfrm>
            <a:off x="4454160"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1" name="Illustrative delivered road transport cost class 1; reference terminal Durban"/>
          <p:cNvSpPr/>
          <p:nvPr/>
        </p:nvSpPr>
        <p:spPr>
          <a:xfrm>
            <a:off x="4454160"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2" name="Illustrative delivered road transport cost class 0; reference terminal Durban"/>
          <p:cNvSpPr/>
          <p:nvPr/>
        </p:nvSpPr>
        <p:spPr>
          <a:xfrm>
            <a:off x="4454160"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3" name="Illustrative delivered road transport cost class 0; reference terminal Durban"/>
          <p:cNvSpPr/>
          <p:nvPr/>
        </p:nvSpPr>
        <p:spPr>
          <a:xfrm>
            <a:off x="4454160"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4" name="Illustrative delivered road transport cost class 1; reference terminal Durban"/>
          <p:cNvSpPr/>
          <p:nvPr/>
        </p:nvSpPr>
        <p:spPr>
          <a:xfrm>
            <a:off x="4454160" y="4355384"/>
            <a:ext cx="57687" cy="46804"/>
          </a:xfrm>
          <a:custGeom>
            <a:avLst/>
            <a:gdLst/>
            <a:ahLst/>
            <a:cxnLst/>
            <a:rect l="l" t="t" r="r" b="b"/>
            <a:pathLst>
              <a:path w="57687" h="46804">
                <a:moveTo>
                  <a:pt x="57687" y="46804"/>
                </a:moveTo>
                <a:lnTo>
                  <a:pt x="0" y="46804"/>
                </a:lnTo>
                <a:lnTo>
                  <a:pt x="0" y="9103"/>
                </a:lnTo>
                <a:lnTo>
                  <a:pt x="4027" y="5054"/>
                </a:lnTo>
                <a:lnTo>
                  <a:pt x="14501" y="4058"/>
                </a:lnTo>
                <a:lnTo>
                  <a:pt x="28057" y="984"/>
                </a:lnTo>
                <a:lnTo>
                  <a:pt x="45223" y="0"/>
                </a:lnTo>
                <a:lnTo>
                  <a:pt x="57687" y="1796"/>
                </a:lnTo>
                <a:lnTo>
                  <a:pt x="57687" y="46804"/>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5" name="Illustrative delivered road transport cost class 1; reference terminal Lesedi"/>
          <p:cNvSpPr/>
          <p:nvPr/>
        </p:nvSpPr>
        <p:spPr>
          <a:xfrm>
            <a:off x="4454160" y="3940695"/>
            <a:ext cx="57687" cy="40967"/>
          </a:xfrm>
          <a:custGeom>
            <a:avLst/>
            <a:gdLst/>
            <a:ahLst/>
            <a:cxnLst/>
            <a:rect l="l" t="t" r="r" b="b"/>
            <a:pathLst>
              <a:path w="57687" h="40967">
                <a:moveTo>
                  <a:pt x="0" y="0"/>
                </a:moveTo>
                <a:lnTo>
                  <a:pt x="57687" y="0"/>
                </a:lnTo>
                <a:lnTo>
                  <a:pt x="57687" y="23923"/>
                </a:lnTo>
                <a:lnTo>
                  <a:pt x="33345" y="28537"/>
                </a:lnTo>
                <a:lnTo>
                  <a:pt x="0" y="40967"/>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6" name="Illustrative delivered road transport cost class 1; reference terminal Lesedi"/>
          <p:cNvSpPr/>
          <p:nvPr/>
        </p:nvSpPr>
        <p:spPr>
          <a:xfrm>
            <a:off x="4454160"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7" name="Illustrative delivered road transport cost class 0; reference terminal Lesedi"/>
          <p:cNvSpPr/>
          <p:nvPr/>
        </p:nvSpPr>
        <p:spPr>
          <a:xfrm>
            <a:off x="4454160"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8" name="Illustrative delivered road transport cost class 0; reference terminal Lesedi"/>
          <p:cNvSpPr/>
          <p:nvPr/>
        </p:nvSpPr>
        <p:spPr>
          <a:xfrm>
            <a:off x="4454160"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9" name="Illustrative delivered road transport cost class 0; reference terminal Lesedi"/>
          <p:cNvSpPr/>
          <p:nvPr/>
        </p:nvSpPr>
        <p:spPr>
          <a:xfrm>
            <a:off x="4454160"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0" name="Illustrative delivered road transport cost class 0; reference terminal Lesedi"/>
          <p:cNvSpPr/>
          <p:nvPr/>
        </p:nvSpPr>
        <p:spPr>
          <a:xfrm>
            <a:off x="4454160"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1" name="Illustrative delivered road transport cost class 0; reference terminal Lesedi"/>
          <p:cNvSpPr/>
          <p:nvPr/>
        </p:nvSpPr>
        <p:spPr>
          <a:xfrm>
            <a:off x="4454160"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2" name="Illustrative delivered road transport cost class 0; reference terminal Lesedi"/>
          <p:cNvSpPr/>
          <p:nvPr/>
        </p:nvSpPr>
        <p:spPr>
          <a:xfrm>
            <a:off x="4454160"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3" name="Illustrative delivered road transport cost class 0; reference terminal Lesedi"/>
          <p:cNvSpPr/>
          <p:nvPr/>
        </p:nvSpPr>
        <p:spPr>
          <a:xfrm>
            <a:off x="4454160"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4" name="Illustrative delivered road transport cost class 0; reference terminal Lesedi"/>
          <p:cNvSpPr/>
          <p:nvPr/>
        </p:nvSpPr>
        <p:spPr>
          <a:xfrm>
            <a:off x="4454160"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5" name="Illustrative delivered road transport cost class 0; reference terminal Lesedi"/>
          <p:cNvSpPr/>
          <p:nvPr/>
        </p:nvSpPr>
        <p:spPr>
          <a:xfrm>
            <a:off x="4454160"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6" name="Illustrative delivered road transport cost class 0; reference terminal Lesedi"/>
          <p:cNvSpPr/>
          <p:nvPr/>
        </p:nvSpPr>
        <p:spPr>
          <a:xfrm>
            <a:off x="4454160"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7" name="Illustrative delivered road transport cost class 0; reference terminal Lesedi"/>
          <p:cNvSpPr/>
          <p:nvPr/>
        </p:nvSpPr>
        <p:spPr>
          <a:xfrm>
            <a:off x="4454160"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8" name="Illustrative delivered road transport cost class 0; reference terminal Lesedi"/>
          <p:cNvSpPr/>
          <p:nvPr/>
        </p:nvSpPr>
        <p:spPr>
          <a:xfrm>
            <a:off x="4454160"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9" name="Illustrative delivered road transport cost class 0; reference terminal Lesedi"/>
          <p:cNvSpPr/>
          <p:nvPr/>
        </p:nvSpPr>
        <p:spPr>
          <a:xfrm>
            <a:off x="4454160"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0" name="Illustrative delivered road transport cost class 0; reference terminal Lesedi"/>
          <p:cNvSpPr/>
          <p:nvPr/>
        </p:nvSpPr>
        <p:spPr>
          <a:xfrm>
            <a:off x="4454160"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1" name="Illustrative delivered road transport cost class 0; reference terminal Lesedi"/>
          <p:cNvSpPr/>
          <p:nvPr/>
        </p:nvSpPr>
        <p:spPr>
          <a:xfrm>
            <a:off x="4454160"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2" name="Illustrative delivered road transport cost class 0; reference terminal Lesedi"/>
          <p:cNvSpPr/>
          <p:nvPr/>
        </p:nvSpPr>
        <p:spPr>
          <a:xfrm>
            <a:off x="4454160"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3" name="Illustrative delivered road transport cost class 0; reference terminal Lesedi"/>
          <p:cNvSpPr/>
          <p:nvPr/>
        </p:nvSpPr>
        <p:spPr>
          <a:xfrm>
            <a:off x="4454160"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4" name="Illustrative delivered road transport cost class 1; reference terminal Lesedi"/>
          <p:cNvSpPr/>
          <p:nvPr/>
        </p:nvSpPr>
        <p:spPr>
          <a:xfrm>
            <a:off x="4454160"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5" name="Illustrative delivered road transport cost class 1; reference terminal Lesedi"/>
          <p:cNvSpPr/>
          <p:nvPr/>
        </p:nvSpPr>
        <p:spPr>
          <a:xfrm>
            <a:off x="4454160"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6" name="Illustrative delivered road transport cost class 1; reference terminal Lesedi"/>
          <p:cNvSpPr/>
          <p:nvPr/>
        </p:nvSpPr>
        <p:spPr>
          <a:xfrm>
            <a:off x="4454160"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7" name="Illustrative delivered road transport cost class None; reference terminal None"/>
          <p:cNvSpPr/>
          <p:nvPr/>
        </p:nvSpPr>
        <p:spPr>
          <a:xfrm>
            <a:off x="4454160"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8" name="Illustrative delivered road transport cost class None; reference terminal None"/>
          <p:cNvSpPr/>
          <p:nvPr/>
        </p:nvSpPr>
        <p:spPr>
          <a:xfrm>
            <a:off x="4454160"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9" name="Illustrative delivered road transport cost class None; reference terminal None"/>
          <p:cNvSpPr/>
          <p:nvPr/>
        </p:nvSpPr>
        <p:spPr>
          <a:xfrm>
            <a:off x="4454160"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0" name="Illustrative delivered road transport cost class None; reference terminal None"/>
          <p:cNvSpPr/>
          <p:nvPr/>
        </p:nvSpPr>
        <p:spPr>
          <a:xfrm>
            <a:off x="4454160"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1" name="Illustrative delivered road transport cost class None; reference terminal None"/>
          <p:cNvSpPr/>
          <p:nvPr/>
        </p:nvSpPr>
        <p:spPr>
          <a:xfrm>
            <a:off x="4454160" y="2440844"/>
            <a:ext cx="57687" cy="57687"/>
          </a:xfrm>
          <a:custGeom>
            <a:avLst/>
            <a:gdLst/>
            <a:ahLst/>
            <a:cxnLst/>
            <a:rect l="l" t="t" r="r" b="b"/>
            <a:pathLst>
              <a:path w="57687" h="57687">
                <a:moveTo>
                  <a:pt x="57687" y="0"/>
                </a:moveTo>
                <a:lnTo>
                  <a:pt x="57687" y="57687"/>
                </a:lnTo>
                <a:lnTo>
                  <a:pt x="0" y="57687"/>
                </a:lnTo>
                <a:lnTo>
                  <a:pt x="0" y="25899"/>
                </a:lnTo>
                <a:lnTo>
                  <a:pt x="12112" y="13614"/>
                </a:lnTo>
                <a:lnTo>
                  <a:pt x="35064"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2" name="Illustrative delivered road transport cost class None; reference terminal None"/>
          <p:cNvSpPr/>
          <p:nvPr/>
        </p:nvSpPr>
        <p:spPr>
          <a:xfrm>
            <a:off x="4489224" y="2429483"/>
            <a:ext cx="22623" cy="11361"/>
          </a:xfrm>
          <a:custGeom>
            <a:avLst/>
            <a:gdLst/>
            <a:ahLst/>
            <a:cxnLst/>
            <a:rect l="l" t="t" r="r" b="b"/>
            <a:pathLst>
              <a:path w="22623" h="11361">
                <a:moveTo>
                  <a:pt x="22623" y="11361"/>
                </a:moveTo>
                <a:lnTo>
                  <a:pt x="0" y="11361"/>
                </a:lnTo>
                <a:lnTo>
                  <a:pt x="18382" y="458"/>
                </a:lnTo>
                <a:lnTo>
                  <a:pt x="22623" y="0"/>
                </a:lnTo>
                <a:lnTo>
                  <a:pt x="22623" y="11361"/>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3" name="Illustrative delivered road transport cost class 1; reference terminal Durban"/>
          <p:cNvSpPr/>
          <p:nvPr/>
        </p:nvSpPr>
        <p:spPr>
          <a:xfrm>
            <a:off x="4511847" y="4921367"/>
            <a:ext cx="20792" cy="18669"/>
          </a:xfrm>
          <a:custGeom>
            <a:avLst/>
            <a:gdLst/>
            <a:ahLst/>
            <a:cxnLst/>
            <a:rect l="l" t="t" r="r" b="b"/>
            <a:pathLst>
              <a:path w="20792" h="18669">
                <a:moveTo>
                  <a:pt x="0" y="0"/>
                </a:moveTo>
                <a:lnTo>
                  <a:pt x="20792" y="0"/>
                </a:lnTo>
                <a:lnTo>
                  <a:pt x="0" y="18669"/>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4" name="Illustrative delivered road transport cost class 1; reference terminal Durban"/>
          <p:cNvSpPr/>
          <p:nvPr/>
        </p:nvSpPr>
        <p:spPr>
          <a:xfrm>
            <a:off x="4511847" y="4863680"/>
            <a:ext cx="57686" cy="57687"/>
          </a:xfrm>
          <a:custGeom>
            <a:avLst/>
            <a:gdLst/>
            <a:ahLst/>
            <a:cxnLst/>
            <a:rect l="l" t="t" r="r" b="b"/>
            <a:pathLst>
              <a:path w="57686" h="57687">
                <a:moveTo>
                  <a:pt x="0" y="57687"/>
                </a:moveTo>
                <a:lnTo>
                  <a:pt x="0" y="0"/>
                </a:lnTo>
                <a:lnTo>
                  <a:pt x="57686" y="0"/>
                </a:lnTo>
                <a:lnTo>
                  <a:pt x="57686" y="17156"/>
                </a:lnTo>
                <a:lnTo>
                  <a:pt x="30553" y="48922"/>
                </a:lnTo>
                <a:lnTo>
                  <a:pt x="20792"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5" name="Illustrative delivered road transport cost class 1; reference terminal Durban"/>
          <p:cNvSpPr/>
          <p:nvPr/>
        </p:nvSpPr>
        <p:spPr>
          <a:xfrm>
            <a:off x="4511847"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6" name="Illustrative delivered road transport cost class 1; reference terminal Durban"/>
          <p:cNvSpPr/>
          <p:nvPr/>
        </p:nvSpPr>
        <p:spPr>
          <a:xfrm>
            <a:off x="4511847"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7" name="Illustrative delivered road transport cost class 1; reference terminal Durban"/>
          <p:cNvSpPr/>
          <p:nvPr/>
        </p:nvSpPr>
        <p:spPr>
          <a:xfrm>
            <a:off x="4511847"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8" name="Illustrative delivered road transport cost class 1; reference terminal Durban"/>
          <p:cNvSpPr/>
          <p:nvPr/>
        </p:nvSpPr>
        <p:spPr>
          <a:xfrm>
            <a:off x="4511847"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9" name="Illustrative delivered road transport cost class 0; reference terminal Durban"/>
          <p:cNvSpPr/>
          <p:nvPr/>
        </p:nvSpPr>
        <p:spPr>
          <a:xfrm>
            <a:off x="4511847"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0" name="Illustrative delivered road transport cost class 0; reference terminal Durban"/>
          <p:cNvSpPr/>
          <p:nvPr/>
        </p:nvSpPr>
        <p:spPr>
          <a:xfrm>
            <a:off x="4511847"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1" name="Illustrative delivered road transport cost class 0; reference terminal Durban"/>
          <p:cNvSpPr/>
          <p:nvPr/>
        </p:nvSpPr>
        <p:spPr>
          <a:xfrm>
            <a:off x="4511847"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2" name="Illustrative delivered road transport cost class 0; reference terminal Durban"/>
          <p:cNvSpPr/>
          <p:nvPr/>
        </p:nvSpPr>
        <p:spPr>
          <a:xfrm>
            <a:off x="4511847"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3" name="Illustrative delivered road transport cost class 0; reference terminal Durban"/>
          <p:cNvSpPr/>
          <p:nvPr/>
        </p:nvSpPr>
        <p:spPr>
          <a:xfrm>
            <a:off x="4511847" y="4344501"/>
            <a:ext cx="57686" cy="57687"/>
          </a:xfrm>
          <a:custGeom>
            <a:avLst/>
            <a:gdLst/>
            <a:ahLst/>
            <a:cxnLst/>
            <a:rect l="l" t="t" r="r" b="b"/>
            <a:pathLst>
              <a:path w="57686" h="57687">
                <a:moveTo>
                  <a:pt x="57686" y="0"/>
                </a:moveTo>
                <a:lnTo>
                  <a:pt x="57686" y="57687"/>
                </a:lnTo>
                <a:lnTo>
                  <a:pt x="0" y="57687"/>
                </a:lnTo>
                <a:lnTo>
                  <a:pt x="0" y="12679"/>
                </a:lnTo>
                <a:lnTo>
                  <a:pt x="314" y="12725"/>
                </a:lnTo>
                <a:lnTo>
                  <a:pt x="3108" y="12261"/>
                </a:lnTo>
                <a:lnTo>
                  <a:pt x="23316" y="6595"/>
                </a:lnTo>
                <a:lnTo>
                  <a:pt x="39543" y="0"/>
                </a:lnTo>
                <a:lnTo>
                  <a:pt x="57686"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4" name="Illustrative delivered road transport cost class 1; reference terminal Durban"/>
          <p:cNvSpPr/>
          <p:nvPr/>
        </p:nvSpPr>
        <p:spPr>
          <a:xfrm>
            <a:off x="4551390" y="4337127"/>
            <a:ext cx="18143" cy="7374"/>
          </a:xfrm>
          <a:custGeom>
            <a:avLst/>
            <a:gdLst/>
            <a:ahLst/>
            <a:cxnLst/>
            <a:rect l="l" t="t" r="r" b="b"/>
            <a:pathLst>
              <a:path w="18143" h="7374">
                <a:moveTo>
                  <a:pt x="18143" y="7374"/>
                </a:moveTo>
                <a:lnTo>
                  <a:pt x="0" y="7374"/>
                </a:lnTo>
                <a:lnTo>
                  <a:pt x="18143" y="0"/>
                </a:lnTo>
                <a:lnTo>
                  <a:pt x="18143" y="7374"/>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5" name="Illustrative delivered road transport cost class 0; reference terminal Durban"/>
          <p:cNvSpPr/>
          <p:nvPr/>
        </p:nvSpPr>
        <p:spPr>
          <a:xfrm>
            <a:off x="4553217" y="3998382"/>
            <a:ext cx="16316" cy="12749"/>
          </a:xfrm>
          <a:custGeom>
            <a:avLst/>
            <a:gdLst/>
            <a:ahLst/>
            <a:cxnLst/>
            <a:rect l="l" t="t" r="r" b="b"/>
            <a:pathLst>
              <a:path w="16316" h="12749">
                <a:moveTo>
                  <a:pt x="16316" y="0"/>
                </a:moveTo>
                <a:lnTo>
                  <a:pt x="16316" y="12749"/>
                </a:lnTo>
                <a:lnTo>
                  <a:pt x="10754" y="9811"/>
                </a:lnTo>
                <a:lnTo>
                  <a:pt x="0" y="0"/>
                </a:lnTo>
                <a:lnTo>
                  <a:pt x="16316"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6" name="Illustrative delivered road transport cost class 0; reference terminal Lesedi"/>
          <p:cNvSpPr/>
          <p:nvPr/>
        </p:nvSpPr>
        <p:spPr>
          <a:xfrm>
            <a:off x="4511847" y="3940695"/>
            <a:ext cx="57686" cy="57687"/>
          </a:xfrm>
          <a:custGeom>
            <a:avLst/>
            <a:gdLst/>
            <a:ahLst/>
            <a:cxnLst/>
            <a:rect l="l" t="t" r="r" b="b"/>
            <a:pathLst>
              <a:path w="57686" h="57687">
                <a:moveTo>
                  <a:pt x="0" y="0"/>
                </a:moveTo>
                <a:lnTo>
                  <a:pt x="57686" y="0"/>
                </a:lnTo>
                <a:lnTo>
                  <a:pt x="57686" y="57687"/>
                </a:lnTo>
                <a:lnTo>
                  <a:pt x="41370" y="57687"/>
                </a:lnTo>
                <a:lnTo>
                  <a:pt x="31431" y="48619"/>
                </a:lnTo>
                <a:lnTo>
                  <a:pt x="22601" y="37871"/>
                </a:lnTo>
                <a:lnTo>
                  <a:pt x="16556" y="25162"/>
                </a:lnTo>
                <a:lnTo>
                  <a:pt x="10625" y="20856"/>
                </a:lnTo>
                <a:lnTo>
                  <a:pt x="971" y="23738"/>
                </a:lnTo>
                <a:lnTo>
                  <a:pt x="0" y="23923"/>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7" name="Illustrative delivered road transport cost class 0; reference terminal Lesedi"/>
          <p:cNvSpPr/>
          <p:nvPr/>
        </p:nvSpPr>
        <p:spPr>
          <a:xfrm>
            <a:off x="4511847"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8" name="Illustrative delivered road transport cost class 0; reference terminal Lesedi"/>
          <p:cNvSpPr/>
          <p:nvPr/>
        </p:nvSpPr>
        <p:spPr>
          <a:xfrm>
            <a:off x="4511847"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9" name="Illustrative delivered road transport cost class 0; reference terminal Lesedi"/>
          <p:cNvSpPr/>
          <p:nvPr/>
        </p:nvSpPr>
        <p:spPr>
          <a:xfrm>
            <a:off x="4511847"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0" name="Illustrative delivered road transport cost class 0; reference terminal Lesedi"/>
          <p:cNvSpPr/>
          <p:nvPr/>
        </p:nvSpPr>
        <p:spPr>
          <a:xfrm>
            <a:off x="4511847"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1" name="Illustrative delivered road transport cost class 0; reference terminal Lesedi"/>
          <p:cNvSpPr/>
          <p:nvPr/>
        </p:nvSpPr>
        <p:spPr>
          <a:xfrm>
            <a:off x="4511847"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2" name="Illustrative delivered road transport cost class 0; reference terminal Lesedi"/>
          <p:cNvSpPr/>
          <p:nvPr/>
        </p:nvSpPr>
        <p:spPr>
          <a:xfrm>
            <a:off x="4511847"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3" name="Illustrative delivered road transport cost class 0; reference terminal Lesedi"/>
          <p:cNvSpPr/>
          <p:nvPr/>
        </p:nvSpPr>
        <p:spPr>
          <a:xfrm>
            <a:off x="4511847"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4" name="Illustrative delivered road transport cost class 0; reference terminal Lesedi"/>
          <p:cNvSpPr/>
          <p:nvPr/>
        </p:nvSpPr>
        <p:spPr>
          <a:xfrm>
            <a:off x="4511847"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5" name="Illustrative delivered road transport cost class 0; reference terminal Lesedi"/>
          <p:cNvSpPr/>
          <p:nvPr/>
        </p:nvSpPr>
        <p:spPr>
          <a:xfrm>
            <a:off x="4511847"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6" name="Illustrative delivered road transport cost class 0; reference terminal Lesedi"/>
          <p:cNvSpPr/>
          <p:nvPr/>
        </p:nvSpPr>
        <p:spPr>
          <a:xfrm>
            <a:off x="4511847"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7" name="Illustrative delivered road transport cost class 0; reference terminal Lesedi"/>
          <p:cNvSpPr/>
          <p:nvPr/>
        </p:nvSpPr>
        <p:spPr>
          <a:xfrm>
            <a:off x="4511847"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8" name="Illustrative delivered road transport cost class 0; reference terminal Lesedi"/>
          <p:cNvSpPr/>
          <p:nvPr/>
        </p:nvSpPr>
        <p:spPr>
          <a:xfrm>
            <a:off x="4511847"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9" name="Illustrative delivered road transport cost class 0; reference terminal Lesedi"/>
          <p:cNvSpPr/>
          <p:nvPr/>
        </p:nvSpPr>
        <p:spPr>
          <a:xfrm>
            <a:off x="4511847"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0" name="Illustrative delivered road transport cost class 0; reference terminal Lesedi"/>
          <p:cNvSpPr/>
          <p:nvPr/>
        </p:nvSpPr>
        <p:spPr>
          <a:xfrm>
            <a:off x="4511847"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1" name="Illustrative delivered road transport cost class 0; reference terminal Lesedi"/>
          <p:cNvSpPr/>
          <p:nvPr/>
        </p:nvSpPr>
        <p:spPr>
          <a:xfrm>
            <a:off x="4511847"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2" name="Illustrative delivered road transport cost class 0; reference terminal Lesedi"/>
          <p:cNvSpPr/>
          <p:nvPr/>
        </p:nvSpPr>
        <p:spPr>
          <a:xfrm>
            <a:off x="4511847"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3" name="Illustrative delivered road transport cost class 0; reference terminal Lesedi"/>
          <p:cNvSpPr/>
          <p:nvPr/>
        </p:nvSpPr>
        <p:spPr>
          <a:xfrm>
            <a:off x="4511847"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4" name="Illustrative delivered road transport cost class 0; reference terminal Lesedi"/>
          <p:cNvSpPr/>
          <p:nvPr/>
        </p:nvSpPr>
        <p:spPr>
          <a:xfrm>
            <a:off x="4511847"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5" name="Illustrative delivered road transport cost class 1; reference terminal Lesedi"/>
          <p:cNvSpPr/>
          <p:nvPr/>
        </p:nvSpPr>
        <p:spPr>
          <a:xfrm>
            <a:off x="4511847"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6" name="Illustrative delivered road transport cost class 1; reference terminal Lesedi"/>
          <p:cNvSpPr/>
          <p:nvPr/>
        </p:nvSpPr>
        <p:spPr>
          <a:xfrm>
            <a:off x="4511847"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7" name="Illustrative delivered road transport cost class 1; reference terminal Lesedi"/>
          <p:cNvSpPr/>
          <p:nvPr/>
        </p:nvSpPr>
        <p:spPr>
          <a:xfrm>
            <a:off x="4511847"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8" name="Illustrative delivered road transport cost class 1; reference terminal Lesedi"/>
          <p:cNvSpPr/>
          <p:nvPr/>
        </p:nvSpPr>
        <p:spPr>
          <a:xfrm>
            <a:off x="4511847"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9" name="Illustrative delivered road transport cost class None; reference terminal None"/>
          <p:cNvSpPr/>
          <p:nvPr/>
        </p:nvSpPr>
        <p:spPr>
          <a:xfrm>
            <a:off x="4511847"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0" name="Illustrative delivered road transport cost class None; reference terminal None"/>
          <p:cNvSpPr/>
          <p:nvPr/>
        </p:nvSpPr>
        <p:spPr>
          <a:xfrm>
            <a:off x="4511847"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1" name="Illustrative delivered road transport cost class None; reference terminal None"/>
          <p:cNvSpPr/>
          <p:nvPr/>
        </p:nvSpPr>
        <p:spPr>
          <a:xfrm>
            <a:off x="4511847"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2" name="Illustrative delivered road transport cost class None; reference terminal None"/>
          <p:cNvSpPr/>
          <p:nvPr/>
        </p:nvSpPr>
        <p:spPr>
          <a:xfrm>
            <a:off x="4511847"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3" name="Illustrative delivered road transport cost class None; reference terminal None"/>
          <p:cNvSpPr/>
          <p:nvPr/>
        </p:nvSpPr>
        <p:spPr>
          <a:xfrm>
            <a:off x="4511847" y="2420300"/>
            <a:ext cx="57686" cy="20544"/>
          </a:xfrm>
          <a:custGeom>
            <a:avLst/>
            <a:gdLst/>
            <a:ahLst/>
            <a:cxnLst/>
            <a:rect l="l" t="t" r="r" b="b"/>
            <a:pathLst>
              <a:path w="57686" h="20544">
                <a:moveTo>
                  <a:pt x="57686" y="20544"/>
                </a:moveTo>
                <a:lnTo>
                  <a:pt x="0" y="20544"/>
                </a:lnTo>
                <a:lnTo>
                  <a:pt x="0" y="9183"/>
                </a:lnTo>
                <a:lnTo>
                  <a:pt x="34152" y="5493"/>
                </a:lnTo>
                <a:lnTo>
                  <a:pt x="57686" y="0"/>
                </a:lnTo>
                <a:lnTo>
                  <a:pt x="57686" y="20544"/>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4" name="Illustrative delivered road transport cost class 1; reference terminal Durban"/>
          <p:cNvSpPr/>
          <p:nvPr/>
        </p:nvSpPr>
        <p:spPr>
          <a:xfrm>
            <a:off x="4569533" y="4863680"/>
            <a:ext cx="14654" cy="17156"/>
          </a:xfrm>
          <a:custGeom>
            <a:avLst/>
            <a:gdLst/>
            <a:ahLst/>
            <a:cxnLst/>
            <a:rect l="l" t="t" r="r" b="b"/>
            <a:pathLst>
              <a:path w="14654" h="17156">
                <a:moveTo>
                  <a:pt x="0" y="0"/>
                </a:moveTo>
                <a:lnTo>
                  <a:pt x="14654" y="0"/>
                </a:lnTo>
                <a:lnTo>
                  <a:pt x="0" y="17156"/>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5" name="Illustrative delivered road transport cost class 1; reference terminal Durban"/>
          <p:cNvSpPr/>
          <p:nvPr/>
        </p:nvSpPr>
        <p:spPr>
          <a:xfrm>
            <a:off x="4569533" y="4805994"/>
            <a:ext cx="57687" cy="57686"/>
          </a:xfrm>
          <a:custGeom>
            <a:avLst/>
            <a:gdLst/>
            <a:ahLst/>
            <a:cxnLst/>
            <a:rect l="l" t="t" r="r" b="b"/>
            <a:pathLst>
              <a:path w="57687" h="57686">
                <a:moveTo>
                  <a:pt x="0" y="57686"/>
                </a:moveTo>
                <a:lnTo>
                  <a:pt x="0" y="0"/>
                </a:lnTo>
                <a:lnTo>
                  <a:pt x="57687" y="0"/>
                </a:lnTo>
                <a:lnTo>
                  <a:pt x="57687" y="11126"/>
                </a:lnTo>
                <a:lnTo>
                  <a:pt x="34711" y="34204"/>
                </a:lnTo>
                <a:lnTo>
                  <a:pt x="14654"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6" name="Illustrative delivered road transport cost class 1; reference terminal Durban"/>
          <p:cNvSpPr/>
          <p:nvPr/>
        </p:nvSpPr>
        <p:spPr>
          <a:xfrm>
            <a:off x="4569533"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7" name="Illustrative delivered road transport cost class 1; reference terminal Durban"/>
          <p:cNvSpPr/>
          <p:nvPr/>
        </p:nvSpPr>
        <p:spPr>
          <a:xfrm>
            <a:off x="4569533"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8" name="Illustrative delivered road transport cost class 1; reference terminal Durban"/>
          <p:cNvSpPr/>
          <p:nvPr/>
        </p:nvSpPr>
        <p:spPr>
          <a:xfrm>
            <a:off x="4569533"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9" name="Illustrative delivered road transport cost class 0; reference terminal Durban"/>
          <p:cNvSpPr/>
          <p:nvPr/>
        </p:nvSpPr>
        <p:spPr>
          <a:xfrm>
            <a:off x="4569533"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0" name="Illustrative delivered road transport cost class 0; reference terminal Durban"/>
          <p:cNvSpPr/>
          <p:nvPr/>
        </p:nvSpPr>
        <p:spPr>
          <a:xfrm>
            <a:off x="4569533"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1" name="Illustrative delivered road transport cost class 0; reference terminal Durban"/>
          <p:cNvSpPr/>
          <p:nvPr/>
        </p:nvSpPr>
        <p:spPr>
          <a:xfrm>
            <a:off x="4569533"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2" name="Illustrative delivered road transport cost class 0; reference terminal Durban"/>
          <p:cNvSpPr/>
          <p:nvPr/>
        </p:nvSpPr>
        <p:spPr>
          <a:xfrm>
            <a:off x="4569533"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3" name="Illustrative delivered road transport cost class 0; reference terminal Durban"/>
          <p:cNvSpPr/>
          <p:nvPr/>
        </p:nvSpPr>
        <p:spPr>
          <a:xfrm>
            <a:off x="4569533"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4" name="Illustrative delivered road transport cost class 0; reference terminal Durban"/>
          <p:cNvSpPr/>
          <p:nvPr/>
        </p:nvSpPr>
        <p:spPr>
          <a:xfrm>
            <a:off x="4569533" y="4286814"/>
            <a:ext cx="57687" cy="57687"/>
          </a:xfrm>
          <a:custGeom>
            <a:avLst/>
            <a:gdLst/>
            <a:ahLst/>
            <a:cxnLst/>
            <a:rect l="l" t="t" r="r" b="b"/>
            <a:pathLst>
              <a:path w="57687" h="57687">
                <a:moveTo>
                  <a:pt x="57687" y="0"/>
                </a:moveTo>
                <a:lnTo>
                  <a:pt x="57687" y="57687"/>
                </a:lnTo>
                <a:lnTo>
                  <a:pt x="0" y="57687"/>
                </a:lnTo>
                <a:lnTo>
                  <a:pt x="0" y="50313"/>
                </a:lnTo>
                <a:lnTo>
                  <a:pt x="2657" y="49233"/>
                </a:lnTo>
                <a:lnTo>
                  <a:pt x="19503" y="39795"/>
                </a:lnTo>
                <a:lnTo>
                  <a:pt x="31732" y="32059"/>
                </a:lnTo>
                <a:lnTo>
                  <a:pt x="47533" y="20177"/>
                </a:lnTo>
                <a:lnTo>
                  <a:pt x="51841" y="0"/>
                </a:lnTo>
                <a:lnTo>
                  <a:pt x="57687"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5" name="Illustrative delivered road transport cost class 0; reference terminal Durban"/>
          <p:cNvSpPr/>
          <p:nvPr/>
        </p:nvSpPr>
        <p:spPr>
          <a:xfrm>
            <a:off x="4621374" y="4259370"/>
            <a:ext cx="5846" cy="27444"/>
          </a:xfrm>
          <a:custGeom>
            <a:avLst/>
            <a:gdLst/>
            <a:ahLst/>
            <a:cxnLst/>
            <a:rect l="l" t="t" r="r" b="b"/>
            <a:pathLst>
              <a:path w="5846" h="27444">
                <a:moveTo>
                  <a:pt x="5846" y="27444"/>
                </a:moveTo>
                <a:lnTo>
                  <a:pt x="0" y="27444"/>
                </a:lnTo>
                <a:lnTo>
                  <a:pt x="2088" y="17663"/>
                </a:lnTo>
                <a:lnTo>
                  <a:pt x="5846" y="0"/>
                </a:lnTo>
                <a:lnTo>
                  <a:pt x="5846" y="27444"/>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6" name="Illustrative delivered road transport cost class 0; reference terminal Durban"/>
          <p:cNvSpPr/>
          <p:nvPr/>
        </p:nvSpPr>
        <p:spPr>
          <a:xfrm>
            <a:off x="4612267" y="4056068"/>
            <a:ext cx="14953" cy="12657"/>
          </a:xfrm>
          <a:custGeom>
            <a:avLst/>
            <a:gdLst/>
            <a:ahLst/>
            <a:cxnLst/>
            <a:rect l="l" t="t" r="r" b="b"/>
            <a:pathLst>
              <a:path w="14953" h="12657">
                <a:moveTo>
                  <a:pt x="14953" y="0"/>
                </a:moveTo>
                <a:lnTo>
                  <a:pt x="14953" y="12657"/>
                </a:lnTo>
                <a:lnTo>
                  <a:pt x="4438" y="3748"/>
                </a:lnTo>
                <a:lnTo>
                  <a:pt x="0" y="0"/>
                </a:lnTo>
                <a:lnTo>
                  <a:pt x="14953"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7" name="Illustrative delivered road transport cost class 0; reference terminal Durban"/>
          <p:cNvSpPr/>
          <p:nvPr/>
        </p:nvSpPr>
        <p:spPr>
          <a:xfrm>
            <a:off x="4569533" y="3998382"/>
            <a:ext cx="57687" cy="57686"/>
          </a:xfrm>
          <a:custGeom>
            <a:avLst/>
            <a:gdLst/>
            <a:ahLst/>
            <a:cxnLst/>
            <a:rect l="l" t="t" r="r" b="b"/>
            <a:pathLst>
              <a:path w="57687" h="57686">
                <a:moveTo>
                  <a:pt x="0" y="0"/>
                </a:moveTo>
                <a:lnTo>
                  <a:pt x="57687" y="0"/>
                </a:lnTo>
                <a:lnTo>
                  <a:pt x="57687" y="57686"/>
                </a:lnTo>
                <a:lnTo>
                  <a:pt x="42734" y="57686"/>
                </a:lnTo>
                <a:lnTo>
                  <a:pt x="24352" y="42163"/>
                </a:lnTo>
                <a:lnTo>
                  <a:pt x="3310" y="14497"/>
                </a:lnTo>
                <a:lnTo>
                  <a:pt x="0" y="12749"/>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8" name="Illustrative delivered road transport cost class 0; reference terminal Lesedi"/>
          <p:cNvSpPr/>
          <p:nvPr/>
        </p:nvSpPr>
        <p:spPr>
          <a:xfrm>
            <a:off x="4569533"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9" name="Illustrative delivered road transport cost class 0; reference terminal Lesedi"/>
          <p:cNvSpPr/>
          <p:nvPr/>
        </p:nvSpPr>
        <p:spPr>
          <a:xfrm>
            <a:off x="4569533"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0" name="Illustrative delivered road transport cost class 0; reference terminal Lesedi"/>
          <p:cNvSpPr/>
          <p:nvPr/>
        </p:nvSpPr>
        <p:spPr>
          <a:xfrm>
            <a:off x="4569533"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1" name="Illustrative delivered road transport cost class 0; reference terminal Lesedi"/>
          <p:cNvSpPr/>
          <p:nvPr/>
        </p:nvSpPr>
        <p:spPr>
          <a:xfrm>
            <a:off x="4569533"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2" name="Illustrative delivered road transport cost class 0; reference terminal Lesedi"/>
          <p:cNvSpPr/>
          <p:nvPr/>
        </p:nvSpPr>
        <p:spPr>
          <a:xfrm>
            <a:off x="4569533"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3" name="Illustrative delivered road transport cost class 0; reference terminal Lesedi"/>
          <p:cNvSpPr/>
          <p:nvPr/>
        </p:nvSpPr>
        <p:spPr>
          <a:xfrm>
            <a:off x="4569533"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4" name="Illustrative delivered road transport cost class 0; reference terminal Lesedi"/>
          <p:cNvSpPr/>
          <p:nvPr/>
        </p:nvSpPr>
        <p:spPr>
          <a:xfrm>
            <a:off x="4569533"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5" name="Illustrative delivered road transport cost class 0; reference terminal Lesedi"/>
          <p:cNvSpPr/>
          <p:nvPr/>
        </p:nvSpPr>
        <p:spPr>
          <a:xfrm>
            <a:off x="4569533"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6" name="Illustrative delivered road transport cost class 0; reference terminal Lesedi"/>
          <p:cNvSpPr/>
          <p:nvPr/>
        </p:nvSpPr>
        <p:spPr>
          <a:xfrm>
            <a:off x="4569533"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7" name="Illustrative delivered road transport cost class 0; reference terminal Lesedi"/>
          <p:cNvSpPr/>
          <p:nvPr/>
        </p:nvSpPr>
        <p:spPr>
          <a:xfrm>
            <a:off x="4569533"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8" name="Illustrative delivered road transport cost class 0; reference terminal Lesedi"/>
          <p:cNvSpPr/>
          <p:nvPr/>
        </p:nvSpPr>
        <p:spPr>
          <a:xfrm>
            <a:off x="4569533"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9" name="Illustrative delivered road transport cost class 0; reference terminal Lesedi"/>
          <p:cNvSpPr/>
          <p:nvPr/>
        </p:nvSpPr>
        <p:spPr>
          <a:xfrm>
            <a:off x="4569533"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0" name="Illustrative delivered road transport cost class 0; reference terminal Lesedi"/>
          <p:cNvSpPr/>
          <p:nvPr/>
        </p:nvSpPr>
        <p:spPr>
          <a:xfrm>
            <a:off x="4569533"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1" name="Illustrative delivered road transport cost class 0; reference terminal Lesedi"/>
          <p:cNvSpPr/>
          <p:nvPr/>
        </p:nvSpPr>
        <p:spPr>
          <a:xfrm>
            <a:off x="4569533"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2" name="Illustrative delivered road transport cost class 0; reference terminal Lesedi"/>
          <p:cNvSpPr/>
          <p:nvPr/>
        </p:nvSpPr>
        <p:spPr>
          <a:xfrm>
            <a:off x="4569533"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3" name="Illustrative delivered road transport cost class 0; reference terminal Lesedi"/>
          <p:cNvSpPr/>
          <p:nvPr/>
        </p:nvSpPr>
        <p:spPr>
          <a:xfrm>
            <a:off x="4569533"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4" name="Illustrative delivered road transport cost class 0; reference terminal Lesedi"/>
          <p:cNvSpPr/>
          <p:nvPr/>
        </p:nvSpPr>
        <p:spPr>
          <a:xfrm>
            <a:off x="4569533"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5" name="Illustrative delivered road transport cost class 0; reference terminal Lesedi"/>
          <p:cNvSpPr/>
          <p:nvPr/>
        </p:nvSpPr>
        <p:spPr>
          <a:xfrm>
            <a:off x="4569533"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6" name="Illustrative delivered road transport cost class 0; reference terminal Lesedi"/>
          <p:cNvSpPr/>
          <p:nvPr/>
        </p:nvSpPr>
        <p:spPr>
          <a:xfrm>
            <a:off x="4569533"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7" name="Illustrative delivered road transport cost class 0; reference terminal Lesedi"/>
          <p:cNvSpPr/>
          <p:nvPr/>
        </p:nvSpPr>
        <p:spPr>
          <a:xfrm>
            <a:off x="4569533"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8" name="Illustrative delivered road transport cost class 1; reference terminal Lesedi"/>
          <p:cNvSpPr/>
          <p:nvPr/>
        </p:nvSpPr>
        <p:spPr>
          <a:xfrm>
            <a:off x="4569533"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9" name="Illustrative delivered road transport cost class 1; reference terminal Lesedi"/>
          <p:cNvSpPr/>
          <p:nvPr/>
        </p:nvSpPr>
        <p:spPr>
          <a:xfrm>
            <a:off x="4569533"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0" name="Illustrative delivered road transport cost class 1; reference terminal Lesedi"/>
          <p:cNvSpPr/>
          <p:nvPr/>
        </p:nvSpPr>
        <p:spPr>
          <a:xfrm>
            <a:off x="4569533"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1" name="Illustrative delivered road transport cost class 1; reference terminal Lesedi"/>
          <p:cNvSpPr/>
          <p:nvPr/>
        </p:nvSpPr>
        <p:spPr>
          <a:xfrm>
            <a:off x="4569533"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2" name="Illustrative delivered road transport cost class 1; reference terminal Lesedi"/>
          <p:cNvSpPr/>
          <p:nvPr/>
        </p:nvSpPr>
        <p:spPr>
          <a:xfrm>
            <a:off x="4569533"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3" name="Illustrative delivered road transport cost class 1; reference terminal Lesedi"/>
          <p:cNvSpPr/>
          <p:nvPr/>
        </p:nvSpPr>
        <p:spPr>
          <a:xfrm>
            <a:off x="4569533"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4" name="Illustrative delivered road transport cost class None; reference terminal None"/>
          <p:cNvSpPr/>
          <p:nvPr/>
        </p:nvSpPr>
        <p:spPr>
          <a:xfrm>
            <a:off x="4569533"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5" name="Illustrative delivered road transport cost class None; reference terminal None"/>
          <p:cNvSpPr/>
          <p:nvPr/>
        </p:nvSpPr>
        <p:spPr>
          <a:xfrm>
            <a:off x="4569533" y="2396154"/>
            <a:ext cx="57687" cy="44690"/>
          </a:xfrm>
          <a:custGeom>
            <a:avLst/>
            <a:gdLst/>
            <a:ahLst/>
            <a:cxnLst/>
            <a:rect l="l" t="t" r="r" b="b"/>
            <a:pathLst>
              <a:path w="57687" h="44690">
                <a:moveTo>
                  <a:pt x="57687" y="44690"/>
                </a:moveTo>
                <a:lnTo>
                  <a:pt x="0" y="44690"/>
                </a:lnTo>
                <a:lnTo>
                  <a:pt x="0" y="24146"/>
                </a:lnTo>
                <a:lnTo>
                  <a:pt x="12965" y="21120"/>
                </a:lnTo>
                <a:lnTo>
                  <a:pt x="47630" y="8224"/>
                </a:lnTo>
                <a:lnTo>
                  <a:pt x="57687" y="0"/>
                </a:lnTo>
                <a:lnTo>
                  <a:pt x="57687" y="4469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6" name="Illustrative delivered road transport cost class 1; reference terminal Durban"/>
          <p:cNvSpPr/>
          <p:nvPr/>
        </p:nvSpPr>
        <p:spPr>
          <a:xfrm>
            <a:off x="4627220" y="4805994"/>
            <a:ext cx="11076" cy="11126"/>
          </a:xfrm>
          <a:custGeom>
            <a:avLst/>
            <a:gdLst/>
            <a:ahLst/>
            <a:cxnLst/>
            <a:rect l="l" t="t" r="r" b="b"/>
            <a:pathLst>
              <a:path w="11076" h="11126">
                <a:moveTo>
                  <a:pt x="0" y="0"/>
                </a:moveTo>
                <a:lnTo>
                  <a:pt x="11076" y="0"/>
                </a:lnTo>
                <a:lnTo>
                  <a:pt x="0" y="11126"/>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7" name="Illustrative delivered road transport cost class 1; reference terminal Durban"/>
          <p:cNvSpPr/>
          <p:nvPr/>
        </p:nvSpPr>
        <p:spPr>
          <a:xfrm>
            <a:off x="4627220" y="4748307"/>
            <a:ext cx="57686" cy="57687"/>
          </a:xfrm>
          <a:custGeom>
            <a:avLst/>
            <a:gdLst/>
            <a:ahLst/>
            <a:cxnLst/>
            <a:rect l="l" t="t" r="r" b="b"/>
            <a:pathLst>
              <a:path w="57686" h="57687">
                <a:moveTo>
                  <a:pt x="0" y="57687"/>
                </a:moveTo>
                <a:lnTo>
                  <a:pt x="0" y="0"/>
                </a:lnTo>
                <a:lnTo>
                  <a:pt x="57686" y="0"/>
                </a:lnTo>
                <a:lnTo>
                  <a:pt x="57686" y="10868"/>
                </a:lnTo>
                <a:lnTo>
                  <a:pt x="1107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8" name="Illustrative delivered road transport cost class 1; reference terminal Durban"/>
          <p:cNvSpPr/>
          <p:nvPr/>
        </p:nvSpPr>
        <p:spPr>
          <a:xfrm>
            <a:off x="4627220"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9" name="Illustrative delivered road transport cost class 0; reference terminal Durban"/>
          <p:cNvSpPr/>
          <p:nvPr/>
        </p:nvSpPr>
        <p:spPr>
          <a:xfrm>
            <a:off x="4627220"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0" name="Illustrative delivered road transport cost class 0; reference terminal Durban"/>
          <p:cNvSpPr/>
          <p:nvPr/>
        </p:nvSpPr>
        <p:spPr>
          <a:xfrm>
            <a:off x="4627220"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1" name="Illustrative delivered road transport cost class 0; reference terminal Durban"/>
          <p:cNvSpPr/>
          <p:nvPr/>
        </p:nvSpPr>
        <p:spPr>
          <a:xfrm>
            <a:off x="4627220"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2" name="Illustrative delivered road transport cost class 0; reference terminal Durban"/>
          <p:cNvSpPr/>
          <p:nvPr/>
        </p:nvSpPr>
        <p:spPr>
          <a:xfrm>
            <a:off x="4627220"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3" name="Illustrative delivered road transport cost class 0; reference terminal Durban"/>
          <p:cNvSpPr/>
          <p:nvPr/>
        </p:nvSpPr>
        <p:spPr>
          <a:xfrm>
            <a:off x="4627220"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4" name="Illustrative delivered road transport cost class 0; reference terminal Durban"/>
          <p:cNvSpPr/>
          <p:nvPr/>
        </p:nvSpPr>
        <p:spPr>
          <a:xfrm>
            <a:off x="4627220"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5" name="Illustrative delivered road transport cost class 0; reference terminal Durban"/>
          <p:cNvSpPr/>
          <p:nvPr/>
        </p:nvSpPr>
        <p:spPr>
          <a:xfrm>
            <a:off x="4627220"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6" name="Illustrative delivered road transport cost class 0; reference terminal Durban"/>
          <p:cNvSpPr/>
          <p:nvPr/>
        </p:nvSpPr>
        <p:spPr>
          <a:xfrm>
            <a:off x="4627220" y="4229128"/>
            <a:ext cx="57686" cy="57686"/>
          </a:xfrm>
          <a:custGeom>
            <a:avLst/>
            <a:gdLst/>
            <a:ahLst/>
            <a:cxnLst/>
            <a:rect l="l" t="t" r="r" b="b"/>
            <a:pathLst>
              <a:path w="57686" h="57686">
                <a:moveTo>
                  <a:pt x="57686" y="0"/>
                </a:moveTo>
                <a:lnTo>
                  <a:pt x="57686" y="57686"/>
                </a:lnTo>
                <a:lnTo>
                  <a:pt x="0" y="57686"/>
                </a:lnTo>
                <a:lnTo>
                  <a:pt x="0" y="30242"/>
                </a:lnTo>
                <a:lnTo>
                  <a:pt x="1660" y="22439"/>
                </a:lnTo>
                <a:lnTo>
                  <a:pt x="13920" y="10244"/>
                </a:lnTo>
                <a:lnTo>
                  <a:pt x="26299" y="2285"/>
                </a:lnTo>
                <a:lnTo>
                  <a:pt x="28135" y="0"/>
                </a:lnTo>
                <a:lnTo>
                  <a:pt x="57686"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7" name="Illustrative delivered road transport cost class 0; reference terminal Durban"/>
          <p:cNvSpPr/>
          <p:nvPr/>
        </p:nvSpPr>
        <p:spPr>
          <a:xfrm>
            <a:off x="4655355" y="4171441"/>
            <a:ext cx="29551" cy="57687"/>
          </a:xfrm>
          <a:custGeom>
            <a:avLst/>
            <a:gdLst/>
            <a:ahLst/>
            <a:cxnLst/>
            <a:rect l="l" t="t" r="r" b="b"/>
            <a:pathLst>
              <a:path w="29551" h="57687">
                <a:moveTo>
                  <a:pt x="29551" y="0"/>
                </a:moveTo>
                <a:lnTo>
                  <a:pt x="29551" y="57687"/>
                </a:lnTo>
                <a:lnTo>
                  <a:pt x="0" y="57687"/>
                </a:lnTo>
                <a:lnTo>
                  <a:pt x="8550" y="47044"/>
                </a:lnTo>
                <a:lnTo>
                  <a:pt x="22082" y="15554"/>
                </a:lnTo>
                <a:lnTo>
                  <a:pt x="26926" y="0"/>
                </a:lnTo>
                <a:lnTo>
                  <a:pt x="29551"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8" name="Illustrative delivered road transport cost class 0; reference terminal Durban"/>
          <p:cNvSpPr/>
          <p:nvPr/>
        </p:nvSpPr>
        <p:spPr>
          <a:xfrm>
            <a:off x="4682281" y="4163014"/>
            <a:ext cx="2625" cy="8427"/>
          </a:xfrm>
          <a:custGeom>
            <a:avLst/>
            <a:gdLst/>
            <a:ahLst/>
            <a:cxnLst/>
            <a:rect l="l" t="t" r="r" b="b"/>
            <a:pathLst>
              <a:path w="2625" h="8427">
                <a:moveTo>
                  <a:pt x="2625" y="8427"/>
                </a:moveTo>
                <a:lnTo>
                  <a:pt x="0" y="8427"/>
                </a:lnTo>
                <a:lnTo>
                  <a:pt x="2625" y="0"/>
                </a:lnTo>
                <a:lnTo>
                  <a:pt x="2625" y="842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9" name="Illustrative delivered road transport cost class 0; reference terminal Durban"/>
          <p:cNvSpPr/>
          <p:nvPr/>
        </p:nvSpPr>
        <p:spPr>
          <a:xfrm>
            <a:off x="4676458" y="4113755"/>
            <a:ext cx="8448" cy="17626"/>
          </a:xfrm>
          <a:custGeom>
            <a:avLst/>
            <a:gdLst/>
            <a:ahLst/>
            <a:cxnLst/>
            <a:rect l="l" t="t" r="r" b="b"/>
            <a:pathLst>
              <a:path w="8448" h="17626">
                <a:moveTo>
                  <a:pt x="8448" y="0"/>
                </a:moveTo>
                <a:lnTo>
                  <a:pt x="8448" y="17626"/>
                </a:lnTo>
                <a:lnTo>
                  <a:pt x="8041" y="16258"/>
                </a:lnTo>
                <a:lnTo>
                  <a:pt x="722" y="1960"/>
                </a:lnTo>
                <a:lnTo>
                  <a:pt x="0" y="0"/>
                </a:lnTo>
                <a:lnTo>
                  <a:pt x="8448"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0" name="Illustrative delivered road transport cost class 0; reference terminal Durban"/>
          <p:cNvSpPr/>
          <p:nvPr/>
        </p:nvSpPr>
        <p:spPr>
          <a:xfrm>
            <a:off x="4627220" y="4056068"/>
            <a:ext cx="57686" cy="57687"/>
          </a:xfrm>
          <a:custGeom>
            <a:avLst/>
            <a:gdLst/>
            <a:ahLst/>
            <a:cxnLst/>
            <a:rect l="l" t="t" r="r" b="b"/>
            <a:pathLst>
              <a:path w="57686" h="57687">
                <a:moveTo>
                  <a:pt x="0" y="0"/>
                </a:moveTo>
                <a:lnTo>
                  <a:pt x="57686" y="0"/>
                </a:lnTo>
                <a:lnTo>
                  <a:pt x="57686" y="57687"/>
                </a:lnTo>
                <a:lnTo>
                  <a:pt x="49238" y="57687"/>
                </a:lnTo>
                <a:lnTo>
                  <a:pt x="42897" y="40485"/>
                </a:lnTo>
                <a:lnTo>
                  <a:pt x="33670" y="37201"/>
                </a:lnTo>
                <a:lnTo>
                  <a:pt x="15701" y="25960"/>
                </a:lnTo>
                <a:lnTo>
                  <a:pt x="0" y="12657"/>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1" name="Illustrative delivered road transport cost class 0; reference terminal Durban"/>
          <p:cNvSpPr/>
          <p:nvPr/>
        </p:nvSpPr>
        <p:spPr>
          <a:xfrm>
            <a:off x="4627220"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2" name="Illustrative delivered road transport cost class 0; reference terminal Durban"/>
          <p:cNvSpPr/>
          <p:nvPr/>
        </p:nvSpPr>
        <p:spPr>
          <a:xfrm>
            <a:off x="4627220"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3" name="Illustrative delivered road transport cost class 0; reference terminal Lesedi"/>
          <p:cNvSpPr/>
          <p:nvPr/>
        </p:nvSpPr>
        <p:spPr>
          <a:xfrm>
            <a:off x="4627220"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4" name="Illustrative delivered road transport cost class 0; reference terminal Lesedi"/>
          <p:cNvSpPr/>
          <p:nvPr/>
        </p:nvSpPr>
        <p:spPr>
          <a:xfrm>
            <a:off x="4627220"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5" name="Illustrative delivered road transport cost class 0; reference terminal Lesedi"/>
          <p:cNvSpPr/>
          <p:nvPr/>
        </p:nvSpPr>
        <p:spPr>
          <a:xfrm>
            <a:off x="4627220"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6" name="Illustrative delivered road transport cost class 0; reference terminal Lesedi"/>
          <p:cNvSpPr/>
          <p:nvPr/>
        </p:nvSpPr>
        <p:spPr>
          <a:xfrm>
            <a:off x="4627220"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7" name="Illustrative delivered road transport cost class 0; reference terminal Lesedi"/>
          <p:cNvSpPr/>
          <p:nvPr/>
        </p:nvSpPr>
        <p:spPr>
          <a:xfrm>
            <a:off x="4627220"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8" name="Illustrative delivered road transport cost class 0; reference terminal Lesedi"/>
          <p:cNvSpPr/>
          <p:nvPr/>
        </p:nvSpPr>
        <p:spPr>
          <a:xfrm>
            <a:off x="4627220"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9" name="Illustrative delivered road transport cost class 0; reference terminal Lesedi"/>
          <p:cNvSpPr/>
          <p:nvPr/>
        </p:nvSpPr>
        <p:spPr>
          <a:xfrm>
            <a:off x="4627220"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0" name="Illustrative delivered road transport cost class 0; reference terminal Lesedi"/>
          <p:cNvSpPr/>
          <p:nvPr/>
        </p:nvSpPr>
        <p:spPr>
          <a:xfrm>
            <a:off x="4627220"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1" name="Illustrative delivered road transport cost class 0; reference terminal Lesedi"/>
          <p:cNvSpPr/>
          <p:nvPr/>
        </p:nvSpPr>
        <p:spPr>
          <a:xfrm>
            <a:off x="4627220"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2" name="Illustrative delivered road transport cost class 0; reference terminal Lesedi"/>
          <p:cNvSpPr/>
          <p:nvPr/>
        </p:nvSpPr>
        <p:spPr>
          <a:xfrm>
            <a:off x="4627220"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3" name="Illustrative delivered road transport cost class 0; reference terminal Lesedi"/>
          <p:cNvSpPr/>
          <p:nvPr/>
        </p:nvSpPr>
        <p:spPr>
          <a:xfrm>
            <a:off x="4627220"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4" name="Illustrative delivered road transport cost class 0; reference terminal Lesedi"/>
          <p:cNvSpPr/>
          <p:nvPr/>
        </p:nvSpPr>
        <p:spPr>
          <a:xfrm>
            <a:off x="4627220"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5" name="Illustrative delivered road transport cost class 0; reference terminal Lesedi"/>
          <p:cNvSpPr/>
          <p:nvPr/>
        </p:nvSpPr>
        <p:spPr>
          <a:xfrm>
            <a:off x="4627220"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6" name="Illustrative delivered road transport cost class 0; reference terminal Lesedi"/>
          <p:cNvSpPr/>
          <p:nvPr/>
        </p:nvSpPr>
        <p:spPr>
          <a:xfrm>
            <a:off x="4627220"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7" name="Illustrative delivered road transport cost class 0; reference terminal Lesedi"/>
          <p:cNvSpPr/>
          <p:nvPr/>
        </p:nvSpPr>
        <p:spPr>
          <a:xfrm>
            <a:off x="4627220"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8" name="Illustrative delivered road transport cost class 0; reference terminal Lesedi"/>
          <p:cNvSpPr/>
          <p:nvPr/>
        </p:nvSpPr>
        <p:spPr>
          <a:xfrm>
            <a:off x="4627220"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9" name="Illustrative delivered road transport cost class 0; reference terminal Lesedi"/>
          <p:cNvSpPr/>
          <p:nvPr/>
        </p:nvSpPr>
        <p:spPr>
          <a:xfrm>
            <a:off x="4627220"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0" name="Illustrative delivered road transport cost class 0; reference terminal Lesedi"/>
          <p:cNvSpPr/>
          <p:nvPr/>
        </p:nvSpPr>
        <p:spPr>
          <a:xfrm>
            <a:off x="4627220"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1" name="Illustrative delivered road transport cost class 0; reference terminal Lesedi"/>
          <p:cNvSpPr/>
          <p:nvPr/>
        </p:nvSpPr>
        <p:spPr>
          <a:xfrm>
            <a:off x="4627220"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2" name="Illustrative delivered road transport cost class 1; reference terminal Lesedi"/>
          <p:cNvSpPr/>
          <p:nvPr/>
        </p:nvSpPr>
        <p:spPr>
          <a:xfrm>
            <a:off x="4627220"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3" name="Illustrative delivered road transport cost class 1; reference terminal Lesedi"/>
          <p:cNvSpPr/>
          <p:nvPr/>
        </p:nvSpPr>
        <p:spPr>
          <a:xfrm>
            <a:off x="4627220"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4" name="Illustrative delivered road transport cost class 1; reference terminal Lesedi"/>
          <p:cNvSpPr/>
          <p:nvPr/>
        </p:nvSpPr>
        <p:spPr>
          <a:xfrm>
            <a:off x="4627220"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5" name="Illustrative delivered road transport cost class 1; reference terminal Lesedi"/>
          <p:cNvSpPr/>
          <p:nvPr/>
        </p:nvSpPr>
        <p:spPr>
          <a:xfrm>
            <a:off x="4627220"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6" name="Illustrative delivered road transport cost class 1; reference terminal Lesedi"/>
          <p:cNvSpPr/>
          <p:nvPr/>
        </p:nvSpPr>
        <p:spPr>
          <a:xfrm>
            <a:off x="4627220"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7" name="Illustrative delivered road transport cost class 1; reference terminal Lesedi"/>
          <p:cNvSpPr/>
          <p:nvPr/>
        </p:nvSpPr>
        <p:spPr>
          <a:xfrm>
            <a:off x="4627220"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8" name="Illustrative delivered road transport cost class 1; reference terminal Lesedi"/>
          <p:cNvSpPr/>
          <p:nvPr/>
        </p:nvSpPr>
        <p:spPr>
          <a:xfrm>
            <a:off x="4627220"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9" name="Illustrative delivered road transport cost class 2; reference terminal Lesedi"/>
          <p:cNvSpPr/>
          <p:nvPr/>
        </p:nvSpPr>
        <p:spPr>
          <a:xfrm>
            <a:off x="4627220" y="2383158"/>
            <a:ext cx="57686" cy="57686"/>
          </a:xfrm>
          <a:custGeom>
            <a:avLst/>
            <a:gdLst/>
            <a:ahLst/>
            <a:cxnLst/>
            <a:rect l="l" t="t" r="r" b="b"/>
            <a:pathLst>
              <a:path w="57686" h="57686">
                <a:moveTo>
                  <a:pt x="57686" y="0"/>
                </a:moveTo>
                <a:lnTo>
                  <a:pt x="57686" y="57686"/>
                </a:lnTo>
                <a:lnTo>
                  <a:pt x="0" y="57686"/>
                </a:lnTo>
                <a:lnTo>
                  <a:pt x="0" y="12996"/>
                </a:lnTo>
                <a:lnTo>
                  <a:pt x="15735" y="127"/>
                </a:lnTo>
                <a:lnTo>
                  <a:pt x="15809" y="0"/>
                </a:lnTo>
                <a:lnTo>
                  <a:pt x="57686"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0" name="Illustrative delivered road transport cost class 2; reference terminal Lesedi"/>
          <p:cNvSpPr/>
          <p:nvPr/>
        </p:nvSpPr>
        <p:spPr>
          <a:xfrm>
            <a:off x="4643029" y="2340078"/>
            <a:ext cx="41877" cy="43080"/>
          </a:xfrm>
          <a:custGeom>
            <a:avLst/>
            <a:gdLst/>
            <a:ahLst/>
            <a:cxnLst/>
            <a:rect l="l" t="t" r="r" b="b"/>
            <a:pathLst>
              <a:path w="41877" h="43080">
                <a:moveTo>
                  <a:pt x="41877" y="43080"/>
                </a:moveTo>
                <a:lnTo>
                  <a:pt x="0" y="43080"/>
                </a:lnTo>
                <a:lnTo>
                  <a:pt x="16866" y="13946"/>
                </a:lnTo>
                <a:lnTo>
                  <a:pt x="41877" y="0"/>
                </a:lnTo>
                <a:lnTo>
                  <a:pt x="41877" y="4308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1" name="Illustrative delivered road transport cost class 1; reference terminal Durban"/>
          <p:cNvSpPr/>
          <p:nvPr/>
        </p:nvSpPr>
        <p:spPr>
          <a:xfrm>
            <a:off x="4684906" y="4748307"/>
            <a:ext cx="12440" cy="10868"/>
          </a:xfrm>
          <a:custGeom>
            <a:avLst/>
            <a:gdLst/>
            <a:ahLst/>
            <a:cxnLst/>
            <a:rect l="l" t="t" r="r" b="b"/>
            <a:pathLst>
              <a:path w="12440" h="10868">
                <a:moveTo>
                  <a:pt x="0" y="0"/>
                </a:moveTo>
                <a:lnTo>
                  <a:pt x="12440" y="0"/>
                </a:lnTo>
                <a:lnTo>
                  <a:pt x="85" y="10783"/>
                </a:lnTo>
                <a:lnTo>
                  <a:pt x="0" y="10868"/>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2" name="Illustrative delivered road transport cost class 1; reference terminal Durban"/>
          <p:cNvSpPr/>
          <p:nvPr/>
        </p:nvSpPr>
        <p:spPr>
          <a:xfrm>
            <a:off x="4684906" y="4690620"/>
            <a:ext cx="57687" cy="57687"/>
          </a:xfrm>
          <a:custGeom>
            <a:avLst/>
            <a:gdLst/>
            <a:ahLst/>
            <a:cxnLst/>
            <a:rect l="l" t="t" r="r" b="b"/>
            <a:pathLst>
              <a:path w="57687" h="57687">
                <a:moveTo>
                  <a:pt x="0" y="57687"/>
                </a:moveTo>
                <a:lnTo>
                  <a:pt x="0" y="0"/>
                </a:lnTo>
                <a:lnTo>
                  <a:pt x="57687" y="0"/>
                </a:lnTo>
                <a:lnTo>
                  <a:pt x="57687" y="18285"/>
                </a:lnTo>
                <a:lnTo>
                  <a:pt x="57434" y="18416"/>
                </a:lnTo>
                <a:lnTo>
                  <a:pt x="12440"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3" name="Illustrative delivered road transport cost class 0; reference terminal Durban"/>
          <p:cNvSpPr/>
          <p:nvPr/>
        </p:nvSpPr>
        <p:spPr>
          <a:xfrm>
            <a:off x="4684906"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4" name="Illustrative delivered road transport cost class 0; reference terminal Durban"/>
          <p:cNvSpPr/>
          <p:nvPr/>
        </p:nvSpPr>
        <p:spPr>
          <a:xfrm>
            <a:off x="4684906"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5" name="Illustrative delivered road transport cost class 0; reference terminal Durban"/>
          <p:cNvSpPr/>
          <p:nvPr/>
        </p:nvSpPr>
        <p:spPr>
          <a:xfrm>
            <a:off x="4684906"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6" name="Illustrative delivered road transport cost class 0; reference terminal Durban"/>
          <p:cNvSpPr/>
          <p:nvPr/>
        </p:nvSpPr>
        <p:spPr>
          <a:xfrm>
            <a:off x="4684906"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7" name="Illustrative delivered road transport cost class 0; reference terminal Durban"/>
          <p:cNvSpPr/>
          <p:nvPr/>
        </p:nvSpPr>
        <p:spPr>
          <a:xfrm>
            <a:off x="4684906"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8" name="Illustrative delivered road transport cost class 0; reference terminal Durban"/>
          <p:cNvSpPr/>
          <p:nvPr/>
        </p:nvSpPr>
        <p:spPr>
          <a:xfrm>
            <a:off x="4684906"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9" name="Illustrative delivered road transport cost class 0; reference terminal Durban"/>
          <p:cNvSpPr/>
          <p:nvPr/>
        </p:nvSpPr>
        <p:spPr>
          <a:xfrm>
            <a:off x="4684906"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0" name="Illustrative delivered road transport cost class 0; reference terminal Durban"/>
          <p:cNvSpPr/>
          <p:nvPr/>
        </p:nvSpPr>
        <p:spPr>
          <a:xfrm>
            <a:off x="4684906"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1" name="Illustrative delivered road transport cost class 0; reference terminal Durban"/>
          <p:cNvSpPr/>
          <p:nvPr/>
        </p:nvSpPr>
        <p:spPr>
          <a:xfrm>
            <a:off x="4684906"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2" name="Illustrative delivered road transport cost class 0; reference terminal Durban"/>
          <p:cNvSpPr/>
          <p:nvPr/>
        </p:nvSpPr>
        <p:spPr>
          <a:xfrm>
            <a:off x="4684906" y="4113755"/>
            <a:ext cx="57687" cy="57686"/>
          </a:xfrm>
          <a:custGeom>
            <a:avLst/>
            <a:gdLst/>
            <a:ahLst/>
            <a:cxnLst/>
            <a:rect l="l" t="t" r="r" b="b"/>
            <a:pathLst>
              <a:path w="57687" h="57686">
                <a:moveTo>
                  <a:pt x="0" y="0"/>
                </a:moveTo>
                <a:lnTo>
                  <a:pt x="57687" y="0"/>
                </a:lnTo>
                <a:lnTo>
                  <a:pt x="57687" y="57686"/>
                </a:lnTo>
                <a:lnTo>
                  <a:pt x="0" y="57686"/>
                </a:lnTo>
                <a:lnTo>
                  <a:pt x="0" y="49259"/>
                </a:lnTo>
                <a:lnTo>
                  <a:pt x="2172" y="42287"/>
                </a:lnTo>
                <a:lnTo>
                  <a:pt x="3546" y="29534"/>
                </a:lnTo>
                <a:lnTo>
                  <a:pt x="0" y="17626"/>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3" name="Illustrative delivered road transport cost class 0; reference terminal Durban"/>
          <p:cNvSpPr/>
          <p:nvPr/>
        </p:nvSpPr>
        <p:spPr>
          <a:xfrm>
            <a:off x="4684906"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4" name="Illustrative delivered road transport cost class 0; reference terminal Durban"/>
          <p:cNvSpPr/>
          <p:nvPr/>
        </p:nvSpPr>
        <p:spPr>
          <a:xfrm>
            <a:off x="4684906"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5" name="Illustrative delivered road transport cost class 0; reference terminal Durban"/>
          <p:cNvSpPr/>
          <p:nvPr/>
        </p:nvSpPr>
        <p:spPr>
          <a:xfrm>
            <a:off x="4684906"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6" name="Illustrative delivered road transport cost class 0; reference terminal Durban"/>
          <p:cNvSpPr/>
          <p:nvPr/>
        </p:nvSpPr>
        <p:spPr>
          <a:xfrm>
            <a:off x="4684906"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7" name="Illustrative delivered road transport cost class 0; reference terminal Lesedi"/>
          <p:cNvSpPr/>
          <p:nvPr/>
        </p:nvSpPr>
        <p:spPr>
          <a:xfrm>
            <a:off x="4684906"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8" name="Illustrative delivered road transport cost class 0; reference terminal Lesedi"/>
          <p:cNvSpPr/>
          <p:nvPr/>
        </p:nvSpPr>
        <p:spPr>
          <a:xfrm>
            <a:off x="4684906"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9" name="Illustrative delivered road transport cost class 0; reference terminal Lesedi"/>
          <p:cNvSpPr/>
          <p:nvPr/>
        </p:nvSpPr>
        <p:spPr>
          <a:xfrm>
            <a:off x="4684906"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0" name="Illustrative delivered road transport cost class 0; reference terminal Lesedi"/>
          <p:cNvSpPr/>
          <p:nvPr/>
        </p:nvSpPr>
        <p:spPr>
          <a:xfrm>
            <a:off x="4684906"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1" name="Illustrative delivered road transport cost class 0; reference terminal Lesedi"/>
          <p:cNvSpPr/>
          <p:nvPr/>
        </p:nvSpPr>
        <p:spPr>
          <a:xfrm>
            <a:off x="4684906"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2" name="Illustrative delivered road transport cost class 0; reference terminal Lesedi"/>
          <p:cNvSpPr/>
          <p:nvPr/>
        </p:nvSpPr>
        <p:spPr>
          <a:xfrm>
            <a:off x="4684906"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3" name="Illustrative delivered road transport cost class 0; reference terminal Lesedi"/>
          <p:cNvSpPr/>
          <p:nvPr/>
        </p:nvSpPr>
        <p:spPr>
          <a:xfrm>
            <a:off x="4684906"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4" name="Illustrative delivered road transport cost class 0; reference terminal Lesedi"/>
          <p:cNvSpPr/>
          <p:nvPr/>
        </p:nvSpPr>
        <p:spPr>
          <a:xfrm>
            <a:off x="4684906"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5" name="Illustrative delivered road transport cost class 0; reference terminal Lesedi"/>
          <p:cNvSpPr/>
          <p:nvPr/>
        </p:nvSpPr>
        <p:spPr>
          <a:xfrm>
            <a:off x="4684906"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6" name="Illustrative delivered road transport cost class 0; reference terminal Lesedi"/>
          <p:cNvSpPr/>
          <p:nvPr/>
        </p:nvSpPr>
        <p:spPr>
          <a:xfrm>
            <a:off x="4684906"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7" name="Illustrative delivered road transport cost class 0; reference terminal Lesedi"/>
          <p:cNvSpPr/>
          <p:nvPr/>
        </p:nvSpPr>
        <p:spPr>
          <a:xfrm>
            <a:off x="4684906"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8" name="Illustrative delivered road transport cost class 0; reference terminal Lesedi"/>
          <p:cNvSpPr/>
          <p:nvPr/>
        </p:nvSpPr>
        <p:spPr>
          <a:xfrm>
            <a:off x="4684906"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9" name="Illustrative delivered road transport cost class 0; reference terminal Lesedi"/>
          <p:cNvSpPr/>
          <p:nvPr/>
        </p:nvSpPr>
        <p:spPr>
          <a:xfrm>
            <a:off x="4684906"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0" name="Illustrative delivered road transport cost class 0; reference terminal Lesedi"/>
          <p:cNvSpPr/>
          <p:nvPr/>
        </p:nvSpPr>
        <p:spPr>
          <a:xfrm>
            <a:off x="4684906"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1" name="Illustrative delivered road transport cost class 0; reference terminal Lesedi"/>
          <p:cNvSpPr/>
          <p:nvPr/>
        </p:nvSpPr>
        <p:spPr>
          <a:xfrm>
            <a:off x="4684906"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2" name="Illustrative delivered road transport cost class 0; reference terminal Lesedi"/>
          <p:cNvSpPr/>
          <p:nvPr/>
        </p:nvSpPr>
        <p:spPr>
          <a:xfrm>
            <a:off x="4684906"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3" name="Illustrative delivered road transport cost class 1; reference terminal Lesedi"/>
          <p:cNvSpPr/>
          <p:nvPr/>
        </p:nvSpPr>
        <p:spPr>
          <a:xfrm>
            <a:off x="4684906"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4" name="Illustrative delivered road transport cost class 1; reference terminal Lesedi"/>
          <p:cNvSpPr/>
          <p:nvPr/>
        </p:nvSpPr>
        <p:spPr>
          <a:xfrm>
            <a:off x="4684906"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5" name="Illustrative delivered road transport cost class 1; reference terminal Lesedi"/>
          <p:cNvSpPr/>
          <p:nvPr/>
        </p:nvSpPr>
        <p:spPr>
          <a:xfrm>
            <a:off x="4684906"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6" name="Illustrative delivered road transport cost class 1; reference terminal Lesedi"/>
          <p:cNvSpPr/>
          <p:nvPr/>
        </p:nvSpPr>
        <p:spPr>
          <a:xfrm>
            <a:off x="4684906"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7" name="Illustrative delivered road transport cost class 1; reference terminal Lesedi"/>
          <p:cNvSpPr/>
          <p:nvPr/>
        </p:nvSpPr>
        <p:spPr>
          <a:xfrm>
            <a:off x="4684906"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8" name="Illustrative delivered road transport cost class 1; reference terminal Lesedi"/>
          <p:cNvSpPr/>
          <p:nvPr/>
        </p:nvSpPr>
        <p:spPr>
          <a:xfrm>
            <a:off x="4684906"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9" name="Illustrative delivered road transport cost class 1; reference terminal Lesedi"/>
          <p:cNvSpPr/>
          <p:nvPr/>
        </p:nvSpPr>
        <p:spPr>
          <a:xfrm>
            <a:off x="4684906"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0" name="Illustrative delivered road transport cost class 1; reference terminal Lesedi"/>
          <p:cNvSpPr/>
          <p:nvPr/>
        </p:nvSpPr>
        <p:spPr>
          <a:xfrm>
            <a:off x="4684906"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1" name="Illustrative delivered road transport cost class 1; reference terminal Lesedi"/>
          <p:cNvSpPr/>
          <p:nvPr/>
        </p:nvSpPr>
        <p:spPr>
          <a:xfrm>
            <a:off x="4684906"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2" name="Illustrative delivered road transport cost class 1; reference terminal Lesedi"/>
          <p:cNvSpPr/>
          <p:nvPr/>
        </p:nvSpPr>
        <p:spPr>
          <a:xfrm>
            <a:off x="4684906" y="238315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3" name="Illustrative delivered road transport cost class 2; reference terminal Lesedi"/>
          <p:cNvSpPr/>
          <p:nvPr/>
        </p:nvSpPr>
        <p:spPr>
          <a:xfrm>
            <a:off x="4684906" y="2335355"/>
            <a:ext cx="57687" cy="47803"/>
          </a:xfrm>
          <a:custGeom>
            <a:avLst/>
            <a:gdLst/>
            <a:ahLst/>
            <a:cxnLst/>
            <a:rect l="l" t="t" r="r" b="b"/>
            <a:pathLst>
              <a:path w="57687" h="47803">
                <a:moveTo>
                  <a:pt x="57687" y="47803"/>
                </a:moveTo>
                <a:lnTo>
                  <a:pt x="0" y="47803"/>
                </a:lnTo>
                <a:lnTo>
                  <a:pt x="0" y="4723"/>
                </a:lnTo>
                <a:lnTo>
                  <a:pt x="3175" y="2952"/>
                </a:lnTo>
                <a:lnTo>
                  <a:pt x="57687" y="0"/>
                </a:lnTo>
                <a:lnTo>
                  <a:pt x="57687" y="47803"/>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4" name="Illustrative delivered road transport cost class 0; reference terminal Durban"/>
          <p:cNvSpPr/>
          <p:nvPr/>
        </p:nvSpPr>
        <p:spPr>
          <a:xfrm>
            <a:off x="4742593" y="4690620"/>
            <a:ext cx="30629" cy="18285"/>
          </a:xfrm>
          <a:custGeom>
            <a:avLst/>
            <a:gdLst/>
            <a:ahLst/>
            <a:cxnLst/>
            <a:rect l="l" t="t" r="r" b="b"/>
            <a:pathLst>
              <a:path w="30629" h="18285">
                <a:moveTo>
                  <a:pt x="0" y="0"/>
                </a:moveTo>
                <a:lnTo>
                  <a:pt x="30629" y="0"/>
                </a:lnTo>
                <a:lnTo>
                  <a:pt x="21093" y="7360"/>
                </a:lnTo>
                <a:lnTo>
                  <a:pt x="0" y="18285"/>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5" name="Illustrative delivered road transport cost class 0; reference terminal Durban"/>
          <p:cNvSpPr/>
          <p:nvPr/>
        </p:nvSpPr>
        <p:spPr>
          <a:xfrm>
            <a:off x="4742593" y="4632934"/>
            <a:ext cx="57686" cy="57686"/>
          </a:xfrm>
          <a:custGeom>
            <a:avLst/>
            <a:gdLst/>
            <a:ahLst/>
            <a:cxnLst/>
            <a:rect l="l" t="t" r="r" b="b"/>
            <a:pathLst>
              <a:path w="57686" h="57686">
                <a:moveTo>
                  <a:pt x="0" y="57686"/>
                </a:moveTo>
                <a:lnTo>
                  <a:pt x="0" y="0"/>
                </a:lnTo>
                <a:lnTo>
                  <a:pt x="57686" y="0"/>
                </a:lnTo>
                <a:lnTo>
                  <a:pt x="57686" y="34953"/>
                </a:lnTo>
                <a:lnTo>
                  <a:pt x="53122" y="40326"/>
                </a:lnTo>
                <a:lnTo>
                  <a:pt x="30629"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6" name="Illustrative delivered road transport cost class 0; reference terminal Durban"/>
          <p:cNvSpPr/>
          <p:nvPr/>
        </p:nvSpPr>
        <p:spPr>
          <a:xfrm>
            <a:off x="4742593"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7" name="Illustrative delivered road transport cost class 0; reference terminal Durban"/>
          <p:cNvSpPr/>
          <p:nvPr/>
        </p:nvSpPr>
        <p:spPr>
          <a:xfrm>
            <a:off x="4742593"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8" name="Illustrative delivered road transport cost class 0; reference terminal Durban"/>
          <p:cNvSpPr/>
          <p:nvPr/>
        </p:nvSpPr>
        <p:spPr>
          <a:xfrm>
            <a:off x="4742593"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9" name="Illustrative delivered road transport cost class 0; reference terminal Durban"/>
          <p:cNvSpPr/>
          <p:nvPr/>
        </p:nvSpPr>
        <p:spPr>
          <a:xfrm>
            <a:off x="4742593"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0" name="Illustrative delivered road transport cost class 0; reference terminal Durban"/>
          <p:cNvSpPr/>
          <p:nvPr/>
        </p:nvSpPr>
        <p:spPr>
          <a:xfrm>
            <a:off x="4742593"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1" name="Illustrative delivered road transport cost class 0; reference terminal Durban"/>
          <p:cNvSpPr/>
          <p:nvPr/>
        </p:nvSpPr>
        <p:spPr>
          <a:xfrm>
            <a:off x="4742593"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2" name="Illustrative delivered road transport cost class 0; reference terminal Durban"/>
          <p:cNvSpPr/>
          <p:nvPr/>
        </p:nvSpPr>
        <p:spPr>
          <a:xfrm>
            <a:off x="4742593"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3" name="Illustrative delivered road transport cost class 0; reference terminal Durban"/>
          <p:cNvSpPr/>
          <p:nvPr/>
        </p:nvSpPr>
        <p:spPr>
          <a:xfrm>
            <a:off x="4742593"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4" name="Illustrative delivered road transport cost class 0; reference terminal Durban"/>
          <p:cNvSpPr/>
          <p:nvPr/>
        </p:nvSpPr>
        <p:spPr>
          <a:xfrm>
            <a:off x="4742593"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5" name="Illustrative delivered road transport cost class 0; reference terminal Durban"/>
          <p:cNvSpPr/>
          <p:nvPr/>
        </p:nvSpPr>
        <p:spPr>
          <a:xfrm>
            <a:off x="4742593"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6" name="Illustrative delivered road transport cost class 0; reference terminal Durban"/>
          <p:cNvSpPr/>
          <p:nvPr/>
        </p:nvSpPr>
        <p:spPr>
          <a:xfrm>
            <a:off x="4742593"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7" name="Illustrative delivered road transport cost class 0; reference terminal Durban"/>
          <p:cNvSpPr/>
          <p:nvPr/>
        </p:nvSpPr>
        <p:spPr>
          <a:xfrm>
            <a:off x="4742593"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8" name="Illustrative delivered road transport cost class 0; reference terminal Durban"/>
          <p:cNvSpPr/>
          <p:nvPr/>
        </p:nvSpPr>
        <p:spPr>
          <a:xfrm>
            <a:off x="4742593"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9" name="Illustrative delivered road transport cost class 0; reference terminal Lesedi"/>
          <p:cNvSpPr/>
          <p:nvPr/>
        </p:nvSpPr>
        <p:spPr>
          <a:xfrm>
            <a:off x="4742593"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0" name="Illustrative delivered road transport cost class 0; reference terminal Lesedi"/>
          <p:cNvSpPr/>
          <p:nvPr/>
        </p:nvSpPr>
        <p:spPr>
          <a:xfrm>
            <a:off x="4742593"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1" name="Illustrative delivered road transport cost class 0; reference terminal Lesedi"/>
          <p:cNvSpPr/>
          <p:nvPr/>
        </p:nvSpPr>
        <p:spPr>
          <a:xfrm>
            <a:off x="4742593"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2" name="Illustrative delivered road transport cost class 0; reference terminal Lesedi"/>
          <p:cNvSpPr/>
          <p:nvPr/>
        </p:nvSpPr>
        <p:spPr>
          <a:xfrm>
            <a:off x="4742593"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3" name="Illustrative delivered road transport cost class 0; reference terminal Lesedi"/>
          <p:cNvSpPr/>
          <p:nvPr/>
        </p:nvSpPr>
        <p:spPr>
          <a:xfrm>
            <a:off x="4742593"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4" name="Illustrative delivered road transport cost class 0; reference terminal Lesedi"/>
          <p:cNvSpPr/>
          <p:nvPr/>
        </p:nvSpPr>
        <p:spPr>
          <a:xfrm>
            <a:off x="4742593"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5" name="Illustrative delivered road transport cost class 0; reference terminal Lesedi"/>
          <p:cNvSpPr/>
          <p:nvPr/>
        </p:nvSpPr>
        <p:spPr>
          <a:xfrm>
            <a:off x="4742593"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6" name="Illustrative delivered road transport cost class 0; reference terminal Lesedi"/>
          <p:cNvSpPr/>
          <p:nvPr/>
        </p:nvSpPr>
        <p:spPr>
          <a:xfrm>
            <a:off x="4742593"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7" name="Illustrative delivered road transport cost class 0; reference terminal Lesedi"/>
          <p:cNvSpPr/>
          <p:nvPr/>
        </p:nvSpPr>
        <p:spPr>
          <a:xfrm>
            <a:off x="4742593"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8" name="Illustrative delivered road transport cost class 0; reference terminal Lesedi"/>
          <p:cNvSpPr/>
          <p:nvPr/>
        </p:nvSpPr>
        <p:spPr>
          <a:xfrm>
            <a:off x="4742593"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9" name="Illustrative delivered road transport cost class 0; reference terminal Lesedi"/>
          <p:cNvSpPr/>
          <p:nvPr/>
        </p:nvSpPr>
        <p:spPr>
          <a:xfrm>
            <a:off x="4742593"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0" name="Illustrative delivered road transport cost class 0; reference terminal Lesedi"/>
          <p:cNvSpPr/>
          <p:nvPr/>
        </p:nvSpPr>
        <p:spPr>
          <a:xfrm>
            <a:off x="4742593"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1" name="Illustrative delivered road transport cost class 0; reference terminal Lesedi"/>
          <p:cNvSpPr/>
          <p:nvPr/>
        </p:nvSpPr>
        <p:spPr>
          <a:xfrm>
            <a:off x="4742593"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2" name="Illustrative delivered road transport cost class 0; reference terminal Lesedi"/>
          <p:cNvSpPr/>
          <p:nvPr/>
        </p:nvSpPr>
        <p:spPr>
          <a:xfrm>
            <a:off x="4742593"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3" name="Illustrative delivered road transport cost class 1; reference terminal Lesedi"/>
          <p:cNvSpPr/>
          <p:nvPr/>
        </p:nvSpPr>
        <p:spPr>
          <a:xfrm>
            <a:off x="4742593"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4" name="Illustrative delivered road transport cost class 1; reference terminal Lesedi"/>
          <p:cNvSpPr/>
          <p:nvPr/>
        </p:nvSpPr>
        <p:spPr>
          <a:xfrm>
            <a:off x="4742593"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5" name="Illustrative delivered road transport cost class 1; reference terminal Lesedi"/>
          <p:cNvSpPr/>
          <p:nvPr/>
        </p:nvSpPr>
        <p:spPr>
          <a:xfrm>
            <a:off x="4742593"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6" name="Illustrative delivered road transport cost class 1; reference terminal Lesedi"/>
          <p:cNvSpPr/>
          <p:nvPr/>
        </p:nvSpPr>
        <p:spPr>
          <a:xfrm>
            <a:off x="4742593"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7" name="Illustrative delivered road transport cost class 1; reference terminal Lesedi"/>
          <p:cNvSpPr/>
          <p:nvPr/>
        </p:nvSpPr>
        <p:spPr>
          <a:xfrm>
            <a:off x="4742593"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8" name="Illustrative delivered road transport cost class 1; reference terminal Lesedi"/>
          <p:cNvSpPr/>
          <p:nvPr/>
        </p:nvSpPr>
        <p:spPr>
          <a:xfrm>
            <a:off x="4742593"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9" name="Illustrative delivered road transport cost class 1; reference terminal Lesedi"/>
          <p:cNvSpPr/>
          <p:nvPr/>
        </p:nvSpPr>
        <p:spPr>
          <a:xfrm>
            <a:off x="4742593"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0" name="Illustrative delivered road transport cost class 1; reference terminal Lesedi"/>
          <p:cNvSpPr/>
          <p:nvPr/>
        </p:nvSpPr>
        <p:spPr>
          <a:xfrm>
            <a:off x="4742593"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1" name="Illustrative delivered road transport cost class 1; reference terminal Lesedi"/>
          <p:cNvSpPr/>
          <p:nvPr/>
        </p:nvSpPr>
        <p:spPr>
          <a:xfrm>
            <a:off x="4742593"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2" name="Illustrative delivered road transport cost class 1; reference terminal Lesedi"/>
          <p:cNvSpPr/>
          <p:nvPr/>
        </p:nvSpPr>
        <p:spPr>
          <a:xfrm>
            <a:off x="4742593"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3" name="Illustrative delivered road transport cost class 1; reference terminal Lesedi"/>
          <p:cNvSpPr/>
          <p:nvPr/>
        </p:nvSpPr>
        <p:spPr>
          <a:xfrm>
            <a:off x="4742593"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4" name="Illustrative delivered road transport cost class 1; reference terminal Lesedi"/>
          <p:cNvSpPr/>
          <p:nvPr/>
        </p:nvSpPr>
        <p:spPr>
          <a:xfrm>
            <a:off x="4742593" y="238315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5" name="Illustrative delivered road transport cost class 2; reference terminal Lesedi"/>
          <p:cNvSpPr/>
          <p:nvPr/>
        </p:nvSpPr>
        <p:spPr>
          <a:xfrm>
            <a:off x="4742593" y="2327771"/>
            <a:ext cx="57686" cy="55387"/>
          </a:xfrm>
          <a:custGeom>
            <a:avLst/>
            <a:gdLst/>
            <a:ahLst/>
            <a:cxnLst/>
            <a:rect l="l" t="t" r="r" b="b"/>
            <a:pathLst>
              <a:path w="57686" h="55387">
                <a:moveTo>
                  <a:pt x="57686" y="55387"/>
                </a:moveTo>
                <a:lnTo>
                  <a:pt x="0" y="55387"/>
                </a:lnTo>
                <a:lnTo>
                  <a:pt x="0" y="7584"/>
                </a:lnTo>
                <a:lnTo>
                  <a:pt x="1574" y="7498"/>
                </a:lnTo>
                <a:lnTo>
                  <a:pt x="4582" y="7304"/>
                </a:lnTo>
                <a:lnTo>
                  <a:pt x="57686" y="0"/>
                </a:lnTo>
                <a:lnTo>
                  <a:pt x="57686" y="553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6" name="Illustrative delivered road transport cost class 0; reference terminal Durban"/>
          <p:cNvSpPr/>
          <p:nvPr/>
        </p:nvSpPr>
        <p:spPr>
          <a:xfrm>
            <a:off x="4800279" y="4632934"/>
            <a:ext cx="29693" cy="34953"/>
          </a:xfrm>
          <a:custGeom>
            <a:avLst/>
            <a:gdLst/>
            <a:ahLst/>
            <a:cxnLst/>
            <a:rect l="l" t="t" r="r" b="b"/>
            <a:pathLst>
              <a:path w="29693" h="34953">
                <a:moveTo>
                  <a:pt x="0" y="0"/>
                </a:moveTo>
                <a:lnTo>
                  <a:pt x="29693" y="0"/>
                </a:lnTo>
                <a:lnTo>
                  <a:pt x="0" y="34953"/>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7" name="Illustrative delivered road transport cost class 0; reference terminal Durban"/>
          <p:cNvSpPr/>
          <p:nvPr/>
        </p:nvSpPr>
        <p:spPr>
          <a:xfrm>
            <a:off x="4800279" y="4575247"/>
            <a:ext cx="57687" cy="57687"/>
          </a:xfrm>
          <a:custGeom>
            <a:avLst/>
            <a:gdLst/>
            <a:ahLst/>
            <a:cxnLst/>
            <a:rect l="l" t="t" r="r" b="b"/>
            <a:pathLst>
              <a:path w="57687" h="57687">
                <a:moveTo>
                  <a:pt x="0" y="57687"/>
                </a:moveTo>
                <a:lnTo>
                  <a:pt x="0" y="0"/>
                </a:lnTo>
                <a:lnTo>
                  <a:pt x="57687" y="0"/>
                </a:lnTo>
                <a:lnTo>
                  <a:pt x="57687" y="24734"/>
                </a:lnTo>
                <a:lnTo>
                  <a:pt x="29693"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8" name="Illustrative delivered road transport cost class 0; reference terminal Durban"/>
          <p:cNvSpPr/>
          <p:nvPr/>
        </p:nvSpPr>
        <p:spPr>
          <a:xfrm>
            <a:off x="4800279"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9" name="Illustrative delivered road transport cost class 0; reference terminal Durban"/>
          <p:cNvSpPr/>
          <p:nvPr/>
        </p:nvSpPr>
        <p:spPr>
          <a:xfrm>
            <a:off x="4800279"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0" name="Illustrative delivered road transport cost class 0; reference terminal Durban"/>
          <p:cNvSpPr/>
          <p:nvPr/>
        </p:nvSpPr>
        <p:spPr>
          <a:xfrm>
            <a:off x="4800279"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1" name="Illustrative delivered road transport cost class 0; reference terminal Durban"/>
          <p:cNvSpPr/>
          <p:nvPr/>
        </p:nvSpPr>
        <p:spPr>
          <a:xfrm>
            <a:off x="4800279"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2" name="Illustrative delivered road transport cost class 0; reference terminal Durban"/>
          <p:cNvSpPr/>
          <p:nvPr/>
        </p:nvSpPr>
        <p:spPr>
          <a:xfrm>
            <a:off x="4800279"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3" name="Illustrative delivered road transport cost class 0; reference terminal Durban"/>
          <p:cNvSpPr/>
          <p:nvPr/>
        </p:nvSpPr>
        <p:spPr>
          <a:xfrm>
            <a:off x="4800279"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4" name="Illustrative delivered road transport cost class 0; reference terminal Durban"/>
          <p:cNvSpPr/>
          <p:nvPr/>
        </p:nvSpPr>
        <p:spPr>
          <a:xfrm>
            <a:off x="4800279"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5" name="Illustrative delivered road transport cost class 0; reference terminal Durban"/>
          <p:cNvSpPr/>
          <p:nvPr/>
        </p:nvSpPr>
        <p:spPr>
          <a:xfrm>
            <a:off x="4800279"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6" name="Illustrative delivered road transport cost class 0; reference terminal Durban"/>
          <p:cNvSpPr/>
          <p:nvPr/>
        </p:nvSpPr>
        <p:spPr>
          <a:xfrm>
            <a:off x="4800279"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7" name="Illustrative delivered road transport cost class 0; reference terminal Durban"/>
          <p:cNvSpPr/>
          <p:nvPr/>
        </p:nvSpPr>
        <p:spPr>
          <a:xfrm>
            <a:off x="4800279"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8" name="Illustrative delivered road transport cost class 0; reference terminal Durban"/>
          <p:cNvSpPr/>
          <p:nvPr/>
        </p:nvSpPr>
        <p:spPr>
          <a:xfrm>
            <a:off x="4800279"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9" name="Illustrative delivered road transport cost class 0; reference terminal Durban"/>
          <p:cNvSpPr/>
          <p:nvPr/>
        </p:nvSpPr>
        <p:spPr>
          <a:xfrm>
            <a:off x="4800279"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0" name="Illustrative delivered road transport cost class 0; reference terminal Lesedi"/>
          <p:cNvSpPr/>
          <p:nvPr/>
        </p:nvSpPr>
        <p:spPr>
          <a:xfrm>
            <a:off x="4800279"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1" name="Illustrative delivered road transport cost class 0; reference terminal Lesedi"/>
          <p:cNvSpPr/>
          <p:nvPr/>
        </p:nvSpPr>
        <p:spPr>
          <a:xfrm>
            <a:off x="4800279"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2" name="Illustrative delivered road transport cost class 0; reference terminal Lesedi"/>
          <p:cNvSpPr/>
          <p:nvPr/>
        </p:nvSpPr>
        <p:spPr>
          <a:xfrm>
            <a:off x="4800279"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3" name="Illustrative delivered road transport cost class 0; reference terminal Lesedi"/>
          <p:cNvSpPr/>
          <p:nvPr/>
        </p:nvSpPr>
        <p:spPr>
          <a:xfrm>
            <a:off x="4800279"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4" name="Illustrative delivered road transport cost class 0; reference terminal Lesedi"/>
          <p:cNvSpPr/>
          <p:nvPr/>
        </p:nvSpPr>
        <p:spPr>
          <a:xfrm>
            <a:off x="4800279"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5" name="Illustrative delivered road transport cost class 0; reference terminal Lesedi"/>
          <p:cNvSpPr/>
          <p:nvPr/>
        </p:nvSpPr>
        <p:spPr>
          <a:xfrm>
            <a:off x="4800279"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6" name="Illustrative delivered road transport cost class 0; reference terminal Lesedi"/>
          <p:cNvSpPr/>
          <p:nvPr/>
        </p:nvSpPr>
        <p:spPr>
          <a:xfrm>
            <a:off x="4800279"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7" name="Illustrative delivered road transport cost class 0; reference terminal Lesedi"/>
          <p:cNvSpPr/>
          <p:nvPr/>
        </p:nvSpPr>
        <p:spPr>
          <a:xfrm>
            <a:off x="4800279"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8" name="Illustrative delivered road transport cost class 0; reference terminal Lesedi"/>
          <p:cNvSpPr/>
          <p:nvPr/>
        </p:nvSpPr>
        <p:spPr>
          <a:xfrm>
            <a:off x="4800279"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9" name="Illustrative delivered road transport cost class 0; reference terminal Lesedi"/>
          <p:cNvSpPr/>
          <p:nvPr/>
        </p:nvSpPr>
        <p:spPr>
          <a:xfrm>
            <a:off x="4800279"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0" name="Illustrative delivered road transport cost class 0; reference terminal Lesedi"/>
          <p:cNvSpPr/>
          <p:nvPr/>
        </p:nvSpPr>
        <p:spPr>
          <a:xfrm>
            <a:off x="4800279"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1" name="Illustrative delivered road transport cost class 0; reference terminal Lesedi"/>
          <p:cNvSpPr/>
          <p:nvPr/>
        </p:nvSpPr>
        <p:spPr>
          <a:xfrm>
            <a:off x="4800279"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2" name="Illustrative delivered road transport cost class 0; reference terminal Lesedi"/>
          <p:cNvSpPr/>
          <p:nvPr/>
        </p:nvSpPr>
        <p:spPr>
          <a:xfrm>
            <a:off x="4800279"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3" name="Illustrative delivered road transport cost class 0; reference terminal Lesedi"/>
          <p:cNvSpPr/>
          <p:nvPr/>
        </p:nvSpPr>
        <p:spPr>
          <a:xfrm>
            <a:off x="4800279"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4" name="Illustrative delivered road transport cost class 1; reference terminal Lesedi"/>
          <p:cNvSpPr/>
          <p:nvPr/>
        </p:nvSpPr>
        <p:spPr>
          <a:xfrm>
            <a:off x="4800279"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5" name="Illustrative delivered road transport cost class 1; reference terminal Lesedi"/>
          <p:cNvSpPr/>
          <p:nvPr/>
        </p:nvSpPr>
        <p:spPr>
          <a:xfrm>
            <a:off x="4800279"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6" name="Illustrative delivered road transport cost class 1; reference terminal Lesedi"/>
          <p:cNvSpPr/>
          <p:nvPr/>
        </p:nvSpPr>
        <p:spPr>
          <a:xfrm>
            <a:off x="4800279"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7" name="Illustrative delivered road transport cost class 1; reference terminal Lesedi"/>
          <p:cNvSpPr/>
          <p:nvPr/>
        </p:nvSpPr>
        <p:spPr>
          <a:xfrm>
            <a:off x="4800279"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8" name="Illustrative delivered road transport cost class 1; reference terminal Lesedi"/>
          <p:cNvSpPr/>
          <p:nvPr/>
        </p:nvSpPr>
        <p:spPr>
          <a:xfrm>
            <a:off x="4800279"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9" name="Illustrative delivered road transport cost class 1; reference terminal Lesedi"/>
          <p:cNvSpPr/>
          <p:nvPr/>
        </p:nvSpPr>
        <p:spPr>
          <a:xfrm>
            <a:off x="4800279"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0" name="Illustrative delivered road transport cost class 1; reference terminal Lesedi"/>
          <p:cNvSpPr/>
          <p:nvPr/>
        </p:nvSpPr>
        <p:spPr>
          <a:xfrm>
            <a:off x="4800279"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1" name="Illustrative delivered road transport cost class 1; reference terminal Lesedi"/>
          <p:cNvSpPr/>
          <p:nvPr/>
        </p:nvSpPr>
        <p:spPr>
          <a:xfrm>
            <a:off x="4800279"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2" name="Illustrative delivered road transport cost class 1; reference terminal Lesedi"/>
          <p:cNvSpPr/>
          <p:nvPr/>
        </p:nvSpPr>
        <p:spPr>
          <a:xfrm>
            <a:off x="4800279"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3" name="Illustrative delivered road transport cost class 1; reference terminal Lesedi"/>
          <p:cNvSpPr/>
          <p:nvPr/>
        </p:nvSpPr>
        <p:spPr>
          <a:xfrm>
            <a:off x="4800279"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4" name="Illustrative delivered road transport cost class 1; reference terminal Lesedi"/>
          <p:cNvSpPr/>
          <p:nvPr/>
        </p:nvSpPr>
        <p:spPr>
          <a:xfrm>
            <a:off x="4800279"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5" name="Illustrative delivered road transport cost class 1; reference terminal Lesedi"/>
          <p:cNvSpPr/>
          <p:nvPr/>
        </p:nvSpPr>
        <p:spPr>
          <a:xfrm>
            <a:off x="4800279" y="238315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6" name="Illustrative delivered road transport cost class 1; reference terminal Lesedi"/>
          <p:cNvSpPr/>
          <p:nvPr/>
        </p:nvSpPr>
        <p:spPr>
          <a:xfrm>
            <a:off x="4800279" y="2325669"/>
            <a:ext cx="57687" cy="57489"/>
          </a:xfrm>
          <a:custGeom>
            <a:avLst/>
            <a:gdLst/>
            <a:ahLst/>
            <a:cxnLst/>
            <a:rect l="l" t="t" r="r" b="b"/>
            <a:pathLst>
              <a:path w="57687" h="57489">
                <a:moveTo>
                  <a:pt x="57687" y="57489"/>
                </a:moveTo>
                <a:lnTo>
                  <a:pt x="0" y="57489"/>
                </a:lnTo>
                <a:lnTo>
                  <a:pt x="0" y="2102"/>
                </a:lnTo>
                <a:lnTo>
                  <a:pt x="15287" y="0"/>
                </a:lnTo>
                <a:lnTo>
                  <a:pt x="57687" y="8864"/>
                </a:lnTo>
                <a:lnTo>
                  <a:pt x="57687" y="57489"/>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7" name="Illustrative delivered road transport cost class 0; reference terminal Durban"/>
          <p:cNvSpPr/>
          <p:nvPr/>
        </p:nvSpPr>
        <p:spPr>
          <a:xfrm>
            <a:off x="4857966" y="4575247"/>
            <a:ext cx="19200" cy="24734"/>
          </a:xfrm>
          <a:custGeom>
            <a:avLst/>
            <a:gdLst/>
            <a:ahLst/>
            <a:cxnLst/>
            <a:rect l="l" t="t" r="r" b="b"/>
            <a:pathLst>
              <a:path w="19200" h="24734">
                <a:moveTo>
                  <a:pt x="0" y="0"/>
                </a:moveTo>
                <a:lnTo>
                  <a:pt x="19200" y="0"/>
                </a:lnTo>
                <a:lnTo>
                  <a:pt x="11598" y="11082"/>
                </a:lnTo>
                <a:lnTo>
                  <a:pt x="0" y="24734"/>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8" name="Illustrative delivered road transport cost class 0; reference terminal Durban"/>
          <p:cNvSpPr/>
          <p:nvPr/>
        </p:nvSpPr>
        <p:spPr>
          <a:xfrm>
            <a:off x="4857966" y="4517561"/>
            <a:ext cx="57687" cy="57686"/>
          </a:xfrm>
          <a:custGeom>
            <a:avLst/>
            <a:gdLst/>
            <a:ahLst/>
            <a:cxnLst/>
            <a:rect l="l" t="t" r="r" b="b"/>
            <a:pathLst>
              <a:path w="57687" h="57686">
                <a:moveTo>
                  <a:pt x="0" y="57686"/>
                </a:moveTo>
                <a:lnTo>
                  <a:pt x="0" y="0"/>
                </a:lnTo>
                <a:lnTo>
                  <a:pt x="57687" y="0"/>
                </a:lnTo>
                <a:lnTo>
                  <a:pt x="57687" y="1421"/>
                </a:lnTo>
                <a:lnTo>
                  <a:pt x="55153" y="5279"/>
                </a:lnTo>
                <a:lnTo>
                  <a:pt x="19200"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9" name="Illustrative delivered road transport cost class 0; reference terminal Durban"/>
          <p:cNvSpPr/>
          <p:nvPr/>
        </p:nvSpPr>
        <p:spPr>
          <a:xfrm>
            <a:off x="4857966"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0" name="Illustrative delivered road transport cost class 0; reference terminal Durban"/>
          <p:cNvSpPr/>
          <p:nvPr/>
        </p:nvSpPr>
        <p:spPr>
          <a:xfrm>
            <a:off x="4857966"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1" name="Illustrative delivered road transport cost class 0; reference terminal Durban"/>
          <p:cNvSpPr/>
          <p:nvPr/>
        </p:nvSpPr>
        <p:spPr>
          <a:xfrm>
            <a:off x="4857966"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2" name="Illustrative delivered road transport cost class 0; reference terminal Durban"/>
          <p:cNvSpPr/>
          <p:nvPr/>
        </p:nvSpPr>
        <p:spPr>
          <a:xfrm>
            <a:off x="4857966"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3" name="Illustrative delivered road transport cost class 0; reference terminal Durban"/>
          <p:cNvSpPr/>
          <p:nvPr/>
        </p:nvSpPr>
        <p:spPr>
          <a:xfrm>
            <a:off x="4857966"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4" name="Illustrative delivered road transport cost class 0; reference terminal Durban"/>
          <p:cNvSpPr/>
          <p:nvPr/>
        </p:nvSpPr>
        <p:spPr>
          <a:xfrm>
            <a:off x="4857966"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5" name="Illustrative delivered road transport cost class 0; reference terminal Durban"/>
          <p:cNvSpPr/>
          <p:nvPr/>
        </p:nvSpPr>
        <p:spPr>
          <a:xfrm>
            <a:off x="4857966"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6" name="Illustrative delivered road transport cost class 0; reference terminal Durban"/>
          <p:cNvSpPr/>
          <p:nvPr/>
        </p:nvSpPr>
        <p:spPr>
          <a:xfrm>
            <a:off x="4857966"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7" name="Illustrative delivered road transport cost class 0; reference terminal Durban"/>
          <p:cNvSpPr/>
          <p:nvPr/>
        </p:nvSpPr>
        <p:spPr>
          <a:xfrm>
            <a:off x="4857966"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8" name="Illustrative delivered road transport cost class 0; reference terminal Durban"/>
          <p:cNvSpPr/>
          <p:nvPr/>
        </p:nvSpPr>
        <p:spPr>
          <a:xfrm>
            <a:off x="4857966"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9" name="Illustrative delivered road transport cost class 0; reference terminal Durban"/>
          <p:cNvSpPr/>
          <p:nvPr/>
        </p:nvSpPr>
        <p:spPr>
          <a:xfrm>
            <a:off x="4857966"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0" name="Illustrative delivered road transport cost class None; reference terminal None"/>
          <p:cNvSpPr/>
          <p:nvPr/>
        </p:nvSpPr>
        <p:spPr>
          <a:xfrm>
            <a:off x="4857966"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1" name="Illustrative delivered road transport cost class None; reference terminal None"/>
          <p:cNvSpPr/>
          <p:nvPr/>
        </p:nvSpPr>
        <p:spPr>
          <a:xfrm>
            <a:off x="4857966"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2" name="Illustrative delivered road transport cost class None; reference terminal None"/>
          <p:cNvSpPr/>
          <p:nvPr/>
        </p:nvSpPr>
        <p:spPr>
          <a:xfrm>
            <a:off x="4857966"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3" name="Illustrative delivered road transport cost class 1; reference terminal Lesedi"/>
          <p:cNvSpPr/>
          <p:nvPr/>
        </p:nvSpPr>
        <p:spPr>
          <a:xfrm>
            <a:off x="4857966"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4" name="Illustrative delivered road transport cost class 1; reference terminal Lesedi"/>
          <p:cNvSpPr/>
          <p:nvPr/>
        </p:nvSpPr>
        <p:spPr>
          <a:xfrm>
            <a:off x="4857966"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5" name="Illustrative delivered road transport cost class 1; reference terminal Lesedi"/>
          <p:cNvSpPr/>
          <p:nvPr/>
        </p:nvSpPr>
        <p:spPr>
          <a:xfrm>
            <a:off x="4857966"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6" name="Illustrative delivered road transport cost class 0; reference terminal Lesedi"/>
          <p:cNvSpPr/>
          <p:nvPr/>
        </p:nvSpPr>
        <p:spPr>
          <a:xfrm>
            <a:off x="4857966"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7" name="Illustrative delivered road transport cost class 0; reference terminal Lesedi"/>
          <p:cNvSpPr/>
          <p:nvPr/>
        </p:nvSpPr>
        <p:spPr>
          <a:xfrm>
            <a:off x="4857966"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8" name="Illustrative delivered road transport cost class 0; reference terminal Lesedi"/>
          <p:cNvSpPr/>
          <p:nvPr/>
        </p:nvSpPr>
        <p:spPr>
          <a:xfrm>
            <a:off x="4857966"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9" name="Illustrative delivered road transport cost class 0; reference terminal Lesedi"/>
          <p:cNvSpPr/>
          <p:nvPr/>
        </p:nvSpPr>
        <p:spPr>
          <a:xfrm>
            <a:off x="4857966"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0" name="Illustrative delivered road transport cost class 0; reference terminal Lesedi"/>
          <p:cNvSpPr/>
          <p:nvPr/>
        </p:nvSpPr>
        <p:spPr>
          <a:xfrm>
            <a:off x="4857966"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1" name="Illustrative delivered road transport cost class 0; reference terminal Lesedi"/>
          <p:cNvSpPr/>
          <p:nvPr/>
        </p:nvSpPr>
        <p:spPr>
          <a:xfrm>
            <a:off x="4857966"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2" name="Illustrative delivered road transport cost class 0; reference terminal Lesedi"/>
          <p:cNvSpPr/>
          <p:nvPr/>
        </p:nvSpPr>
        <p:spPr>
          <a:xfrm>
            <a:off x="4857966"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3" name="Illustrative delivered road transport cost class 1; reference terminal Lesedi"/>
          <p:cNvSpPr/>
          <p:nvPr/>
        </p:nvSpPr>
        <p:spPr>
          <a:xfrm>
            <a:off x="4857966"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4" name="Illustrative delivered road transport cost class 1; reference terminal Lesedi"/>
          <p:cNvSpPr/>
          <p:nvPr/>
        </p:nvSpPr>
        <p:spPr>
          <a:xfrm>
            <a:off x="4857966"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5" name="Illustrative delivered road transport cost class None; reference terminal None"/>
          <p:cNvSpPr/>
          <p:nvPr/>
        </p:nvSpPr>
        <p:spPr>
          <a:xfrm>
            <a:off x="4857966"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6" name="Illustrative delivered road transport cost class 1; reference terminal Lesedi"/>
          <p:cNvSpPr/>
          <p:nvPr/>
        </p:nvSpPr>
        <p:spPr>
          <a:xfrm>
            <a:off x="4857966"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7" name="Illustrative delivered road transport cost class 1; reference terminal Lesedi"/>
          <p:cNvSpPr/>
          <p:nvPr/>
        </p:nvSpPr>
        <p:spPr>
          <a:xfrm>
            <a:off x="4857966"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8" name="Illustrative delivered road transport cost class 1; reference terminal Lesedi"/>
          <p:cNvSpPr/>
          <p:nvPr/>
        </p:nvSpPr>
        <p:spPr>
          <a:xfrm>
            <a:off x="4857966"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9" name="Illustrative delivered road transport cost class 1; reference terminal Lesedi"/>
          <p:cNvSpPr/>
          <p:nvPr/>
        </p:nvSpPr>
        <p:spPr>
          <a:xfrm>
            <a:off x="4857966"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0" name="Illustrative delivered road transport cost class 1; reference terminal Lesedi"/>
          <p:cNvSpPr/>
          <p:nvPr/>
        </p:nvSpPr>
        <p:spPr>
          <a:xfrm>
            <a:off x="4857966"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1" name="Illustrative delivered road transport cost class 1; reference terminal Lesedi"/>
          <p:cNvSpPr/>
          <p:nvPr/>
        </p:nvSpPr>
        <p:spPr>
          <a:xfrm>
            <a:off x="4857966"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2" name="Illustrative delivered road transport cost class 1; reference terminal Lesedi"/>
          <p:cNvSpPr/>
          <p:nvPr/>
        </p:nvSpPr>
        <p:spPr>
          <a:xfrm>
            <a:off x="4857966"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3" name="Illustrative delivered road transport cost class 1; reference terminal Lesedi"/>
          <p:cNvSpPr/>
          <p:nvPr/>
        </p:nvSpPr>
        <p:spPr>
          <a:xfrm>
            <a:off x="4857966"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4" name="Illustrative delivered road transport cost class 1; reference terminal Lesedi"/>
          <p:cNvSpPr/>
          <p:nvPr/>
        </p:nvSpPr>
        <p:spPr>
          <a:xfrm>
            <a:off x="4857966"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5" name="Illustrative delivered road transport cost class 1; reference terminal Lesedi"/>
          <p:cNvSpPr/>
          <p:nvPr/>
        </p:nvSpPr>
        <p:spPr>
          <a:xfrm>
            <a:off x="4857966" y="238315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6" name="Illustrative delivered road transport cost class 1; reference terminal Lesedi"/>
          <p:cNvSpPr/>
          <p:nvPr/>
        </p:nvSpPr>
        <p:spPr>
          <a:xfrm>
            <a:off x="4857966" y="2334533"/>
            <a:ext cx="57687" cy="48625"/>
          </a:xfrm>
          <a:custGeom>
            <a:avLst/>
            <a:gdLst/>
            <a:ahLst/>
            <a:cxnLst/>
            <a:rect l="l" t="t" r="r" b="b"/>
            <a:pathLst>
              <a:path w="57687" h="48625">
                <a:moveTo>
                  <a:pt x="57687" y="48625"/>
                </a:moveTo>
                <a:lnTo>
                  <a:pt x="0" y="48625"/>
                </a:lnTo>
                <a:lnTo>
                  <a:pt x="0" y="0"/>
                </a:lnTo>
                <a:lnTo>
                  <a:pt x="14232" y="2975"/>
                </a:lnTo>
                <a:lnTo>
                  <a:pt x="57687" y="22297"/>
                </a:lnTo>
                <a:lnTo>
                  <a:pt x="57687" y="48625"/>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7" name="Illustrative delivered road transport cost class 0; reference terminal Durban"/>
          <p:cNvSpPr/>
          <p:nvPr/>
        </p:nvSpPr>
        <p:spPr>
          <a:xfrm>
            <a:off x="4915653" y="4459874"/>
            <a:ext cx="38817" cy="57687"/>
          </a:xfrm>
          <a:custGeom>
            <a:avLst/>
            <a:gdLst/>
            <a:ahLst/>
            <a:cxnLst/>
            <a:rect l="l" t="t" r="r" b="b"/>
            <a:pathLst>
              <a:path w="38817" h="57687">
                <a:moveTo>
                  <a:pt x="0" y="57687"/>
                </a:moveTo>
                <a:lnTo>
                  <a:pt x="0" y="0"/>
                </a:lnTo>
                <a:lnTo>
                  <a:pt x="38817" y="0"/>
                </a:lnTo>
                <a:lnTo>
                  <a:pt x="933"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8" name="Illustrative delivered road transport cost class 0; reference terminal Durban"/>
          <p:cNvSpPr/>
          <p:nvPr/>
        </p:nvSpPr>
        <p:spPr>
          <a:xfrm>
            <a:off x="4915653" y="4402188"/>
            <a:ext cx="57686" cy="57686"/>
          </a:xfrm>
          <a:custGeom>
            <a:avLst/>
            <a:gdLst/>
            <a:ahLst/>
            <a:cxnLst/>
            <a:rect l="l" t="t" r="r" b="b"/>
            <a:pathLst>
              <a:path w="57686" h="57686">
                <a:moveTo>
                  <a:pt x="0" y="57686"/>
                </a:moveTo>
                <a:lnTo>
                  <a:pt x="0" y="0"/>
                </a:lnTo>
                <a:lnTo>
                  <a:pt x="57686" y="0"/>
                </a:lnTo>
                <a:lnTo>
                  <a:pt x="57686" y="25851"/>
                </a:lnTo>
                <a:lnTo>
                  <a:pt x="43228" y="50968"/>
                </a:lnTo>
                <a:lnTo>
                  <a:pt x="3881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9" name="Illustrative delivered road transport cost class 0; reference terminal Durban"/>
          <p:cNvSpPr/>
          <p:nvPr/>
        </p:nvSpPr>
        <p:spPr>
          <a:xfrm>
            <a:off x="4915653"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0" name="Illustrative delivered road transport cost class 0; reference terminal Durban"/>
          <p:cNvSpPr/>
          <p:nvPr/>
        </p:nvSpPr>
        <p:spPr>
          <a:xfrm>
            <a:off x="4915653"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1" name="Illustrative delivered road transport cost class 0; reference terminal Durban"/>
          <p:cNvSpPr/>
          <p:nvPr/>
        </p:nvSpPr>
        <p:spPr>
          <a:xfrm>
            <a:off x="4915653"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2" name="Illustrative delivered road transport cost class 0; reference terminal Durban"/>
          <p:cNvSpPr/>
          <p:nvPr/>
        </p:nvSpPr>
        <p:spPr>
          <a:xfrm>
            <a:off x="4915653"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3" name="Illustrative delivered road transport cost class 0; reference terminal Durban"/>
          <p:cNvSpPr/>
          <p:nvPr/>
        </p:nvSpPr>
        <p:spPr>
          <a:xfrm>
            <a:off x="4915653"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4" name="Illustrative delivered road transport cost class 0; reference terminal Durban"/>
          <p:cNvSpPr/>
          <p:nvPr/>
        </p:nvSpPr>
        <p:spPr>
          <a:xfrm>
            <a:off x="4915653"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5" name="Illustrative delivered road transport cost class 0; reference terminal Durban"/>
          <p:cNvSpPr/>
          <p:nvPr/>
        </p:nvSpPr>
        <p:spPr>
          <a:xfrm>
            <a:off x="4915653"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6" name="Illustrative delivered road transport cost class 0; reference terminal Durban"/>
          <p:cNvSpPr/>
          <p:nvPr/>
        </p:nvSpPr>
        <p:spPr>
          <a:xfrm>
            <a:off x="4915653"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7" name="Illustrative delivered road transport cost class None; reference terminal None"/>
          <p:cNvSpPr/>
          <p:nvPr/>
        </p:nvSpPr>
        <p:spPr>
          <a:xfrm>
            <a:off x="4915653"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8" name="Illustrative delivered road transport cost class None; reference terminal None"/>
          <p:cNvSpPr/>
          <p:nvPr/>
        </p:nvSpPr>
        <p:spPr>
          <a:xfrm>
            <a:off x="4915653"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9" name="Illustrative delivered road transport cost class None; reference terminal None"/>
          <p:cNvSpPr/>
          <p:nvPr/>
        </p:nvSpPr>
        <p:spPr>
          <a:xfrm>
            <a:off x="4915653"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0" name="Illustrative delivered road transport cost class 1; reference terminal Lesedi"/>
          <p:cNvSpPr/>
          <p:nvPr/>
        </p:nvSpPr>
        <p:spPr>
          <a:xfrm>
            <a:off x="4915653"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1" name="Illustrative delivered road transport cost class 1; reference terminal Lesedi"/>
          <p:cNvSpPr/>
          <p:nvPr/>
        </p:nvSpPr>
        <p:spPr>
          <a:xfrm>
            <a:off x="4915653"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2" name="Illustrative delivered road transport cost class 1; reference terminal Lesedi"/>
          <p:cNvSpPr/>
          <p:nvPr/>
        </p:nvSpPr>
        <p:spPr>
          <a:xfrm>
            <a:off x="4915653"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3" name="Illustrative delivered road transport cost class 1; reference terminal Lesedi"/>
          <p:cNvSpPr/>
          <p:nvPr/>
        </p:nvSpPr>
        <p:spPr>
          <a:xfrm>
            <a:off x="4915653"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4" name="Illustrative delivered road transport cost class 0; reference terminal Lesedi"/>
          <p:cNvSpPr/>
          <p:nvPr/>
        </p:nvSpPr>
        <p:spPr>
          <a:xfrm>
            <a:off x="4915653"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5" name="Illustrative delivered road transport cost class 0; reference terminal Lesedi"/>
          <p:cNvSpPr/>
          <p:nvPr/>
        </p:nvSpPr>
        <p:spPr>
          <a:xfrm>
            <a:off x="4915653"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6" name="Illustrative delivered road transport cost class 0; reference terminal Lesedi"/>
          <p:cNvSpPr/>
          <p:nvPr/>
        </p:nvSpPr>
        <p:spPr>
          <a:xfrm>
            <a:off x="4915653"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7" name="Illustrative delivered road transport cost class 1; reference terminal Lesedi"/>
          <p:cNvSpPr/>
          <p:nvPr/>
        </p:nvSpPr>
        <p:spPr>
          <a:xfrm>
            <a:off x="4915653"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8" name="Illustrative delivered road transport cost class 1; reference terminal Lesedi"/>
          <p:cNvSpPr/>
          <p:nvPr/>
        </p:nvSpPr>
        <p:spPr>
          <a:xfrm>
            <a:off x="4915653"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9" name="Illustrative delivered road transport cost class 0; reference terminal Lesedi"/>
          <p:cNvSpPr/>
          <p:nvPr/>
        </p:nvSpPr>
        <p:spPr>
          <a:xfrm>
            <a:off x="4915653"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0" name="Illustrative delivered road transport cost class 1; reference terminal Lesedi"/>
          <p:cNvSpPr/>
          <p:nvPr/>
        </p:nvSpPr>
        <p:spPr>
          <a:xfrm>
            <a:off x="4915653"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1" name="Illustrative delivered road transport cost class 1; reference terminal Lesedi"/>
          <p:cNvSpPr/>
          <p:nvPr/>
        </p:nvSpPr>
        <p:spPr>
          <a:xfrm>
            <a:off x="4915653"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2" name="Illustrative delivered road transport cost class 1; reference terminal Lesedi"/>
          <p:cNvSpPr/>
          <p:nvPr/>
        </p:nvSpPr>
        <p:spPr>
          <a:xfrm>
            <a:off x="4915653"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3" name="Illustrative delivered road transport cost class 1; reference terminal Lesedi"/>
          <p:cNvSpPr/>
          <p:nvPr/>
        </p:nvSpPr>
        <p:spPr>
          <a:xfrm>
            <a:off x="4915653"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4" name="Illustrative delivered road transport cost class None; reference terminal None"/>
          <p:cNvSpPr/>
          <p:nvPr/>
        </p:nvSpPr>
        <p:spPr>
          <a:xfrm>
            <a:off x="4915653"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5" name="Illustrative delivered road transport cost class 1; reference terminal Lesedi"/>
          <p:cNvSpPr/>
          <p:nvPr/>
        </p:nvSpPr>
        <p:spPr>
          <a:xfrm>
            <a:off x="4915653"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6" name="Illustrative delivered road transport cost class 1; reference terminal Lesedi"/>
          <p:cNvSpPr/>
          <p:nvPr/>
        </p:nvSpPr>
        <p:spPr>
          <a:xfrm>
            <a:off x="4915653"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7" name="Illustrative delivered road transport cost class 1; reference terminal Lesedi"/>
          <p:cNvSpPr/>
          <p:nvPr/>
        </p:nvSpPr>
        <p:spPr>
          <a:xfrm>
            <a:off x="4915653"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8" name="Illustrative delivered road transport cost class 1; reference terminal Lesedi"/>
          <p:cNvSpPr/>
          <p:nvPr/>
        </p:nvSpPr>
        <p:spPr>
          <a:xfrm>
            <a:off x="4915653"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9" name="Illustrative delivered road transport cost class 1; reference terminal Lesedi"/>
          <p:cNvSpPr/>
          <p:nvPr/>
        </p:nvSpPr>
        <p:spPr>
          <a:xfrm>
            <a:off x="4915653"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0" name="Illustrative delivered road transport cost class 1; reference terminal Lesedi"/>
          <p:cNvSpPr/>
          <p:nvPr/>
        </p:nvSpPr>
        <p:spPr>
          <a:xfrm>
            <a:off x="4915653"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1" name="Illustrative delivered road transport cost class 1; reference terminal Lesedi"/>
          <p:cNvSpPr/>
          <p:nvPr/>
        </p:nvSpPr>
        <p:spPr>
          <a:xfrm>
            <a:off x="4915653"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2" name="Illustrative delivered road transport cost class 1; reference terminal Lesedi"/>
          <p:cNvSpPr/>
          <p:nvPr/>
        </p:nvSpPr>
        <p:spPr>
          <a:xfrm>
            <a:off x="4915653"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3" name="Illustrative delivered road transport cost class 1; reference terminal Lesedi"/>
          <p:cNvSpPr/>
          <p:nvPr/>
        </p:nvSpPr>
        <p:spPr>
          <a:xfrm>
            <a:off x="4915653" y="238315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4" name="Illustrative delivered road transport cost class 2; reference terminal Lesedi"/>
          <p:cNvSpPr/>
          <p:nvPr/>
        </p:nvSpPr>
        <p:spPr>
          <a:xfrm>
            <a:off x="4915653" y="2356830"/>
            <a:ext cx="57686" cy="26328"/>
          </a:xfrm>
          <a:custGeom>
            <a:avLst/>
            <a:gdLst/>
            <a:ahLst/>
            <a:cxnLst/>
            <a:rect l="l" t="t" r="r" b="b"/>
            <a:pathLst>
              <a:path w="57686" h="26328">
                <a:moveTo>
                  <a:pt x="57686" y="26328"/>
                </a:moveTo>
                <a:lnTo>
                  <a:pt x="0" y="26328"/>
                </a:lnTo>
                <a:lnTo>
                  <a:pt x="0" y="0"/>
                </a:lnTo>
                <a:lnTo>
                  <a:pt x="24105" y="10719"/>
                </a:lnTo>
                <a:lnTo>
                  <a:pt x="57686" y="17248"/>
                </a:lnTo>
                <a:lnTo>
                  <a:pt x="57686" y="26328"/>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5" name="Illustrative delivered road transport cost class 0; reference terminal Durban"/>
          <p:cNvSpPr/>
          <p:nvPr/>
        </p:nvSpPr>
        <p:spPr>
          <a:xfrm>
            <a:off x="4973339" y="4402188"/>
            <a:ext cx="14881" cy="25851"/>
          </a:xfrm>
          <a:custGeom>
            <a:avLst/>
            <a:gdLst/>
            <a:ahLst/>
            <a:cxnLst/>
            <a:rect l="l" t="t" r="r" b="b"/>
            <a:pathLst>
              <a:path w="14881" h="25851">
                <a:moveTo>
                  <a:pt x="0" y="0"/>
                </a:moveTo>
                <a:lnTo>
                  <a:pt x="14881" y="0"/>
                </a:lnTo>
                <a:lnTo>
                  <a:pt x="0" y="25851"/>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6" name="Illustrative delivered road transport cost class 0; reference terminal Durban"/>
          <p:cNvSpPr/>
          <p:nvPr/>
        </p:nvSpPr>
        <p:spPr>
          <a:xfrm>
            <a:off x="4973339" y="4344501"/>
            <a:ext cx="52634" cy="57687"/>
          </a:xfrm>
          <a:custGeom>
            <a:avLst/>
            <a:gdLst/>
            <a:ahLst/>
            <a:cxnLst/>
            <a:rect l="l" t="t" r="r" b="b"/>
            <a:pathLst>
              <a:path w="52634" h="57687">
                <a:moveTo>
                  <a:pt x="0" y="57687"/>
                </a:moveTo>
                <a:lnTo>
                  <a:pt x="0" y="0"/>
                </a:lnTo>
                <a:lnTo>
                  <a:pt x="52634" y="0"/>
                </a:lnTo>
                <a:lnTo>
                  <a:pt x="37641" y="18144"/>
                </a:lnTo>
                <a:lnTo>
                  <a:pt x="14881"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7" name="Illustrative delivered road transport cost class 0; reference terminal Durban"/>
          <p:cNvSpPr/>
          <p:nvPr/>
        </p:nvSpPr>
        <p:spPr>
          <a:xfrm>
            <a:off x="4973339" y="4286814"/>
            <a:ext cx="57687" cy="57687"/>
          </a:xfrm>
          <a:custGeom>
            <a:avLst/>
            <a:gdLst/>
            <a:ahLst/>
            <a:cxnLst/>
            <a:rect l="l" t="t" r="r" b="b"/>
            <a:pathLst>
              <a:path w="57687" h="57687">
                <a:moveTo>
                  <a:pt x="0" y="57687"/>
                </a:moveTo>
                <a:lnTo>
                  <a:pt x="0" y="0"/>
                </a:lnTo>
                <a:lnTo>
                  <a:pt x="57687" y="0"/>
                </a:lnTo>
                <a:lnTo>
                  <a:pt x="57687" y="51572"/>
                </a:lnTo>
                <a:lnTo>
                  <a:pt x="52634"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8" name="Illustrative delivered road transport cost class 0; reference terminal Durban"/>
          <p:cNvSpPr/>
          <p:nvPr/>
        </p:nvSpPr>
        <p:spPr>
          <a:xfrm>
            <a:off x="4973339"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9" name="Illustrative delivered road transport cost class 0; reference terminal Durban"/>
          <p:cNvSpPr/>
          <p:nvPr/>
        </p:nvSpPr>
        <p:spPr>
          <a:xfrm>
            <a:off x="4973339"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0" name="Illustrative delivered road transport cost class 0; reference terminal Durban"/>
          <p:cNvSpPr/>
          <p:nvPr/>
        </p:nvSpPr>
        <p:spPr>
          <a:xfrm>
            <a:off x="4973339"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1" name="Illustrative delivered road transport cost class 0; reference terminal Durban"/>
          <p:cNvSpPr/>
          <p:nvPr/>
        </p:nvSpPr>
        <p:spPr>
          <a:xfrm>
            <a:off x="4973339"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2" name="Illustrative delivered road transport cost class 0; reference terminal Durban"/>
          <p:cNvSpPr/>
          <p:nvPr/>
        </p:nvSpPr>
        <p:spPr>
          <a:xfrm>
            <a:off x="4973339"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3" name="Illustrative delivered road transport cost class None; reference terminal None"/>
          <p:cNvSpPr/>
          <p:nvPr/>
        </p:nvSpPr>
        <p:spPr>
          <a:xfrm>
            <a:off x="4973339"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4" name="Illustrative delivered road transport cost class None; reference terminal None"/>
          <p:cNvSpPr/>
          <p:nvPr/>
        </p:nvSpPr>
        <p:spPr>
          <a:xfrm>
            <a:off x="4973339"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5" name="Illustrative delivered road transport cost class None; reference terminal None"/>
          <p:cNvSpPr/>
          <p:nvPr/>
        </p:nvSpPr>
        <p:spPr>
          <a:xfrm>
            <a:off x="4973339"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6" name="Illustrative delivered road transport cost class 1; reference terminal Lesedi"/>
          <p:cNvSpPr/>
          <p:nvPr/>
        </p:nvSpPr>
        <p:spPr>
          <a:xfrm>
            <a:off x="4973339"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7" name="Illustrative delivered road transport cost class 1; reference terminal Lesedi"/>
          <p:cNvSpPr/>
          <p:nvPr/>
        </p:nvSpPr>
        <p:spPr>
          <a:xfrm>
            <a:off x="4973339"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8" name="Illustrative delivered road transport cost class 1; reference terminal Lesedi"/>
          <p:cNvSpPr/>
          <p:nvPr/>
        </p:nvSpPr>
        <p:spPr>
          <a:xfrm>
            <a:off x="4973339"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9" name="Illustrative delivered road transport cost class 1; reference terminal Lesedi"/>
          <p:cNvSpPr/>
          <p:nvPr/>
        </p:nvSpPr>
        <p:spPr>
          <a:xfrm>
            <a:off x="4973339"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0" name="Illustrative delivered road transport cost class 1; reference terminal Lesedi"/>
          <p:cNvSpPr/>
          <p:nvPr/>
        </p:nvSpPr>
        <p:spPr>
          <a:xfrm>
            <a:off x="4973339"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1" name="Illustrative delivered road transport cost class 1; reference terminal Lesedi"/>
          <p:cNvSpPr/>
          <p:nvPr/>
        </p:nvSpPr>
        <p:spPr>
          <a:xfrm>
            <a:off x="4973339"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2" name="Illustrative delivered road transport cost class 1; reference terminal Lesedi"/>
          <p:cNvSpPr/>
          <p:nvPr/>
        </p:nvSpPr>
        <p:spPr>
          <a:xfrm>
            <a:off x="4973339"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3" name="Illustrative delivered road transport cost class 1; reference terminal Lesedi"/>
          <p:cNvSpPr/>
          <p:nvPr/>
        </p:nvSpPr>
        <p:spPr>
          <a:xfrm>
            <a:off x="4973339"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4" name="Illustrative delivered road transport cost class 1; reference terminal Lesedi"/>
          <p:cNvSpPr/>
          <p:nvPr/>
        </p:nvSpPr>
        <p:spPr>
          <a:xfrm>
            <a:off x="4973339"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5" name="Illustrative delivered road transport cost class 1; reference terminal Lesedi"/>
          <p:cNvSpPr/>
          <p:nvPr/>
        </p:nvSpPr>
        <p:spPr>
          <a:xfrm>
            <a:off x="4973339"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6" name="Illustrative delivered road transport cost class 1; reference terminal Lesedi"/>
          <p:cNvSpPr/>
          <p:nvPr/>
        </p:nvSpPr>
        <p:spPr>
          <a:xfrm>
            <a:off x="4973339"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7" name="Illustrative delivered road transport cost class 1; reference terminal Lesedi"/>
          <p:cNvSpPr/>
          <p:nvPr/>
        </p:nvSpPr>
        <p:spPr>
          <a:xfrm>
            <a:off x="4973339"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8" name="Illustrative delivered road transport cost class 1; reference terminal Lesedi"/>
          <p:cNvSpPr/>
          <p:nvPr/>
        </p:nvSpPr>
        <p:spPr>
          <a:xfrm>
            <a:off x="4973339"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9" name="Illustrative delivered road transport cost class 1; reference terminal Lesedi"/>
          <p:cNvSpPr/>
          <p:nvPr/>
        </p:nvSpPr>
        <p:spPr>
          <a:xfrm>
            <a:off x="4973339"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0" name="Illustrative delivered road transport cost class 1; reference terminal Lesedi"/>
          <p:cNvSpPr/>
          <p:nvPr/>
        </p:nvSpPr>
        <p:spPr>
          <a:xfrm>
            <a:off x="4973339"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1" name="Illustrative delivered road transport cost class None; reference terminal None"/>
          <p:cNvSpPr/>
          <p:nvPr/>
        </p:nvSpPr>
        <p:spPr>
          <a:xfrm>
            <a:off x="4973339"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2" name="Illustrative delivered road transport cost class None; reference terminal None"/>
          <p:cNvSpPr/>
          <p:nvPr/>
        </p:nvSpPr>
        <p:spPr>
          <a:xfrm>
            <a:off x="4973339"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3" name="Illustrative delivered road transport cost class None; reference terminal None"/>
          <p:cNvSpPr/>
          <p:nvPr/>
        </p:nvSpPr>
        <p:spPr>
          <a:xfrm>
            <a:off x="4973339"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4" name="Illustrative delivered road transport cost class None; reference terminal None"/>
          <p:cNvSpPr/>
          <p:nvPr/>
        </p:nvSpPr>
        <p:spPr>
          <a:xfrm>
            <a:off x="4973339"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5" name="Illustrative delivered road transport cost class 1; reference terminal Lesedi"/>
          <p:cNvSpPr/>
          <p:nvPr/>
        </p:nvSpPr>
        <p:spPr>
          <a:xfrm>
            <a:off x="4973339"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6" name="Illustrative delivered road transport cost class 1; reference terminal Lesedi"/>
          <p:cNvSpPr/>
          <p:nvPr/>
        </p:nvSpPr>
        <p:spPr>
          <a:xfrm>
            <a:off x="4973339"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7" name="Illustrative delivered road transport cost class 1; reference terminal Lesedi"/>
          <p:cNvSpPr/>
          <p:nvPr/>
        </p:nvSpPr>
        <p:spPr>
          <a:xfrm>
            <a:off x="4973339"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8" name="Illustrative delivered road transport cost class 1; reference terminal Lesedi"/>
          <p:cNvSpPr/>
          <p:nvPr/>
        </p:nvSpPr>
        <p:spPr>
          <a:xfrm>
            <a:off x="4973339"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9" name="Illustrative delivered road transport cost class 2; reference terminal Lesedi"/>
          <p:cNvSpPr/>
          <p:nvPr/>
        </p:nvSpPr>
        <p:spPr>
          <a:xfrm>
            <a:off x="4973339"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0" name="Illustrative delivered road transport cost class 2; reference terminal Lesedi"/>
          <p:cNvSpPr/>
          <p:nvPr/>
        </p:nvSpPr>
        <p:spPr>
          <a:xfrm>
            <a:off x="4973339" y="238315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1" name="Illustrative delivered road transport cost class 2; reference terminal Lesedi"/>
          <p:cNvSpPr/>
          <p:nvPr/>
        </p:nvSpPr>
        <p:spPr>
          <a:xfrm>
            <a:off x="4973339" y="2374078"/>
            <a:ext cx="57687" cy="9080"/>
          </a:xfrm>
          <a:custGeom>
            <a:avLst/>
            <a:gdLst/>
            <a:ahLst/>
            <a:cxnLst/>
            <a:rect l="l" t="t" r="r" b="b"/>
            <a:pathLst>
              <a:path w="57687" h="9080">
                <a:moveTo>
                  <a:pt x="57687" y="9080"/>
                </a:moveTo>
                <a:lnTo>
                  <a:pt x="0" y="9080"/>
                </a:lnTo>
                <a:lnTo>
                  <a:pt x="0" y="0"/>
                </a:lnTo>
                <a:lnTo>
                  <a:pt x="30175" y="5866"/>
                </a:lnTo>
                <a:lnTo>
                  <a:pt x="57687" y="3449"/>
                </a:lnTo>
                <a:lnTo>
                  <a:pt x="57687" y="908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2" name="Illustrative delivered road transport cost class 0; reference terminal Durban"/>
          <p:cNvSpPr/>
          <p:nvPr/>
        </p:nvSpPr>
        <p:spPr>
          <a:xfrm>
            <a:off x="5031026" y="4286814"/>
            <a:ext cx="30662" cy="51572"/>
          </a:xfrm>
          <a:custGeom>
            <a:avLst/>
            <a:gdLst/>
            <a:ahLst/>
            <a:cxnLst/>
            <a:rect l="l" t="t" r="r" b="b"/>
            <a:pathLst>
              <a:path w="30662" h="51572">
                <a:moveTo>
                  <a:pt x="0" y="0"/>
                </a:moveTo>
                <a:lnTo>
                  <a:pt x="30662" y="0"/>
                </a:lnTo>
                <a:lnTo>
                  <a:pt x="14564" y="33945"/>
                </a:lnTo>
                <a:lnTo>
                  <a:pt x="0" y="51572"/>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3" name="Illustrative delivered road transport cost class 0; reference terminal Durban"/>
          <p:cNvSpPr/>
          <p:nvPr/>
        </p:nvSpPr>
        <p:spPr>
          <a:xfrm>
            <a:off x="5031026" y="4229128"/>
            <a:ext cx="57686" cy="57686"/>
          </a:xfrm>
          <a:custGeom>
            <a:avLst/>
            <a:gdLst/>
            <a:ahLst/>
            <a:cxnLst/>
            <a:rect l="l" t="t" r="r" b="b"/>
            <a:pathLst>
              <a:path w="57686" h="57686">
                <a:moveTo>
                  <a:pt x="0" y="57686"/>
                </a:moveTo>
                <a:lnTo>
                  <a:pt x="0" y="0"/>
                </a:lnTo>
                <a:lnTo>
                  <a:pt x="57686" y="0"/>
                </a:lnTo>
                <a:lnTo>
                  <a:pt x="57686" y="5704"/>
                </a:lnTo>
                <a:lnTo>
                  <a:pt x="51361" y="14039"/>
                </a:lnTo>
                <a:lnTo>
                  <a:pt x="30662"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4" name="Illustrative delivered road transport cost class 0; reference terminal Durban"/>
          <p:cNvSpPr/>
          <p:nvPr/>
        </p:nvSpPr>
        <p:spPr>
          <a:xfrm>
            <a:off x="5031026"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5" name="Illustrative delivered road transport cost class 0; reference terminal Durban"/>
          <p:cNvSpPr/>
          <p:nvPr/>
        </p:nvSpPr>
        <p:spPr>
          <a:xfrm>
            <a:off x="5031026"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6" name="Illustrative delivered road transport cost class 0; reference terminal Durban"/>
          <p:cNvSpPr/>
          <p:nvPr/>
        </p:nvSpPr>
        <p:spPr>
          <a:xfrm>
            <a:off x="5031026"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7" name="Illustrative delivered road transport cost class 0; reference terminal Durban"/>
          <p:cNvSpPr/>
          <p:nvPr/>
        </p:nvSpPr>
        <p:spPr>
          <a:xfrm>
            <a:off x="5031026"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8" name="Illustrative delivered road transport cost class 0; reference terminal Durban"/>
          <p:cNvSpPr/>
          <p:nvPr/>
        </p:nvSpPr>
        <p:spPr>
          <a:xfrm>
            <a:off x="5031026"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9" name="Illustrative delivered road transport cost class 0; reference terminal Durban"/>
          <p:cNvSpPr/>
          <p:nvPr/>
        </p:nvSpPr>
        <p:spPr>
          <a:xfrm>
            <a:off x="5031026"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0" name="Illustrative delivered road transport cost class 1; reference terminal Durban"/>
          <p:cNvSpPr/>
          <p:nvPr/>
        </p:nvSpPr>
        <p:spPr>
          <a:xfrm>
            <a:off x="5031026"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1" name="Illustrative delivered road transport cost class 1; reference terminal Lesedi"/>
          <p:cNvSpPr/>
          <p:nvPr/>
        </p:nvSpPr>
        <p:spPr>
          <a:xfrm>
            <a:off x="5031026"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2" name="Illustrative delivered road transport cost class 1; reference terminal Lesedi"/>
          <p:cNvSpPr/>
          <p:nvPr/>
        </p:nvSpPr>
        <p:spPr>
          <a:xfrm>
            <a:off x="5031026"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3" name="Illustrative delivered road transport cost class 1; reference terminal Lesedi"/>
          <p:cNvSpPr/>
          <p:nvPr/>
        </p:nvSpPr>
        <p:spPr>
          <a:xfrm>
            <a:off x="5031026"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4" name="Illustrative delivered road transport cost class 1; reference terminal Lesedi"/>
          <p:cNvSpPr/>
          <p:nvPr/>
        </p:nvSpPr>
        <p:spPr>
          <a:xfrm>
            <a:off x="5031026" y="3594576"/>
            <a:ext cx="57686" cy="57686"/>
          </a:xfrm>
          <a:custGeom>
            <a:avLst/>
            <a:gdLst/>
            <a:ahLst/>
            <a:cxnLst/>
            <a:rect l="l" t="t" r="r" b="b"/>
            <a:pathLst>
              <a:path w="57686" h="57686">
                <a:moveTo>
                  <a:pt x="57686" y="57686"/>
                </a:moveTo>
                <a:lnTo>
                  <a:pt x="0" y="57686"/>
                </a:lnTo>
                <a:lnTo>
                  <a:pt x="0" y="0"/>
                </a:lnTo>
                <a:lnTo>
                  <a:pt x="52632" y="0"/>
                </a:lnTo>
                <a:lnTo>
                  <a:pt x="57686" y="9962"/>
                </a:lnTo>
                <a:lnTo>
                  <a:pt x="57686"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5" name="Illustrative delivered road transport cost class 1; reference terminal Lesedi"/>
          <p:cNvSpPr/>
          <p:nvPr/>
        </p:nvSpPr>
        <p:spPr>
          <a:xfrm>
            <a:off x="5031026" y="3536889"/>
            <a:ext cx="52632" cy="57687"/>
          </a:xfrm>
          <a:custGeom>
            <a:avLst/>
            <a:gdLst/>
            <a:ahLst/>
            <a:cxnLst/>
            <a:rect l="l" t="t" r="r" b="b"/>
            <a:pathLst>
              <a:path w="52632" h="57687">
                <a:moveTo>
                  <a:pt x="0" y="57687"/>
                </a:moveTo>
                <a:lnTo>
                  <a:pt x="0" y="0"/>
                </a:lnTo>
                <a:lnTo>
                  <a:pt x="26602" y="0"/>
                </a:lnTo>
                <a:lnTo>
                  <a:pt x="33371" y="19719"/>
                </a:lnTo>
                <a:lnTo>
                  <a:pt x="52632"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6" name="Illustrative delivered road transport cost class 1; reference terminal Lesedi"/>
          <p:cNvSpPr/>
          <p:nvPr/>
        </p:nvSpPr>
        <p:spPr>
          <a:xfrm>
            <a:off x="5031026" y="3479202"/>
            <a:ext cx="26602" cy="57687"/>
          </a:xfrm>
          <a:custGeom>
            <a:avLst/>
            <a:gdLst/>
            <a:ahLst/>
            <a:cxnLst/>
            <a:rect l="l" t="t" r="r" b="b"/>
            <a:pathLst>
              <a:path w="26602" h="57687">
                <a:moveTo>
                  <a:pt x="0" y="57687"/>
                </a:moveTo>
                <a:lnTo>
                  <a:pt x="0" y="0"/>
                </a:lnTo>
                <a:lnTo>
                  <a:pt x="2497" y="0"/>
                </a:lnTo>
                <a:lnTo>
                  <a:pt x="2291" y="37066"/>
                </a:lnTo>
                <a:lnTo>
                  <a:pt x="4883" y="42569"/>
                </a:lnTo>
                <a:lnTo>
                  <a:pt x="22330" y="45241"/>
                </a:lnTo>
                <a:lnTo>
                  <a:pt x="26602"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7" name="Illustrative delivered road transport cost class 1; reference terminal Lesedi"/>
          <p:cNvSpPr/>
          <p:nvPr/>
        </p:nvSpPr>
        <p:spPr>
          <a:xfrm>
            <a:off x="5031026" y="3421516"/>
            <a:ext cx="12263" cy="57686"/>
          </a:xfrm>
          <a:custGeom>
            <a:avLst/>
            <a:gdLst/>
            <a:ahLst/>
            <a:cxnLst/>
            <a:rect l="l" t="t" r="r" b="b"/>
            <a:pathLst>
              <a:path w="12263" h="57686">
                <a:moveTo>
                  <a:pt x="0" y="57686"/>
                </a:moveTo>
                <a:lnTo>
                  <a:pt x="0" y="0"/>
                </a:lnTo>
                <a:lnTo>
                  <a:pt x="12263" y="0"/>
                </a:lnTo>
                <a:lnTo>
                  <a:pt x="8495" y="5195"/>
                </a:lnTo>
                <a:lnTo>
                  <a:pt x="4726" y="15770"/>
                </a:lnTo>
                <a:lnTo>
                  <a:pt x="2505" y="56187"/>
                </a:lnTo>
                <a:lnTo>
                  <a:pt x="249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8" name="Illustrative delivered road transport cost class 1; reference terminal Lesedi"/>
          <p:cNvSpPr/>
          <p:nvPr/>
        </p:nvSpPr>
        <p:spPr>
          <a:xfrm>
            <a:off x="5031026" y="3363829"/>
            <a:ext cx="54119" cy="57687"/>
          </a:xfrm>
          <a:custGeom>
            <a:avLst/>
            <a:gdLst/>
            <a:ahLst/>
            <a:cxnLst/>
            <a:rect l="l" t="t" r="r" b="b"/>
            <a:pathLst>
              <a:path w="54119" h="57687">
                <a:moveTo>
                  <a:pt x="0" y="57687"/>
                </a:moveTo>
                <a:lnTo>
                  <a:pt x="0" y="0"/>
                </a:lnTo>
                <a:lnTo>
                  <a:pt x="54119" y="0"/>
                </a:lnTo>
                <a:lnTo>
                  <a:pt x="43438" y="14699"/>
                </a:lnTo>
                <a:lnTo>
                  <a:pt x="12263"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9" name="Illustrative delivered road transport cost class 1; reference terminal Lesedi"/>
          <p:cNvSpPr/>
          <p:nvPr/>
        </p:nvSpPr>
        <p:spPr>
          <a:xfrm>
            <a:off x="5031026" y="3306143"/>
            <a:ext cx="57686" cy="57686"/>
          </a:xfrm>
          <a:custGeom>
            <a:avLst/>
            <a:gdLst/>
            <a:ahLst/>
            <a:cxnLst/>
            <a:rect l="l" t="t" r="r" b="b"/>
            <a:pathLst>
              <a:path w="57686" h="57686">
                <a:moveTo>
                  <a:pt x="0" y="57686"/>
                </a:moveTo>
                <a:lnTo>
                  <a:pt x="0" y="0"/>
                </a:lnTo>
                <a:lnTo>
                  <a:pt x="57686" y="0"/>
                </a:lnTo>
                <a:lnTo>
                  <a:pt x="57686" y="52778"/>
                </a:lnTo>
                <a:lnTo>
                  <a:pt x="54119"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0" name="Illustrative delivered road transport cost class 1; reference terminal Lesedi"/>
          <p:cNvSpPr/>
          <p:nvPr/>
        </p:nvSpPr>
        <p:spPr>
          <a:xfrm>
            <a:off x="5031026"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1" name="Illustrative delivered road transport cost class 1; reference terminal Lesedi"/>
          <p:cNvSpPr/>
          <p:nvPr/>
        </p:nvSpPr>
        <p:spPr>
          <a:xfrm>
            <a:off x="5031026"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2" name="Illustrative delivered road transport cost class 1; reference terminal Lesedi"/>
          <p:cNvSpPr/>
          <p:nvPr/>
        </p:nvSpPr>
        <p:spPr>
          <a:xfrm>
            <a:off x="5031026"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3" name="Illustrative delivered road transport cost class 1; reference terminal Lesedi"/>
          <p:cNvSpPr/>
          <p:nvPr/>
        </p:nvSpPr>
        <p:spPr>
          <a:xfrm>
            <a:off x="5031026"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4" name="Illustrative delivered road transport cost class 1; reference terminal Lesedi"/>
          <p:cNvSpPr/>
          <p:nvPr/>
        </p:nvSpPr>
        <p:spPr>
          <a:xfrm>
            <a:off x="5031026"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5" name="Illustrative delivered road transport cost class 1; reference terminal Lesedi"/>
          <p:cNvSpPr/>
          <p:nvPr/>
        </p:nvSpPr>
        <p:spPr>
          <a:xfrm>
            <a:off x="5031026"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6" name="Illustrative delivered road transport cost class None; reference terminal None"/>
          <p:cNvSpPr/>
          <p:nvPr/>
        </p:nvSpPr>
        <p:spPr>
          <a:xfrm>
            <a:off x="5031026"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7" name="Illustrative delivered road transport cost class None; reference terminal None"/>
          <p:cNvSpPr/>
          <p:nvPr/>
        </p:nvSpPr>
        <p:spPr>
          <a:xfrm>
            <a:off x="5031026"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8" name="Illustrative delivered road transport cost class None; reference terminal None"/>
          <p:cNvSpPr/>
          <p:nvPr/>
        </p:nvSpPr>
        <p:spPr>
          <a:xfrm>
            <a:off x="5031026"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9" name="Illustrative delivered road transport cost class None; reference terminal None"/>
          <p:cNvSpPr/>
          <p:nvPr/>
        </p:nvSpPr>
        <p:spPr>
          <a:xfrm>
            <a:off x="5031026"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0" name="Illustrative delivered road transport cost class None; reference terminal None"/>
          <p:cNvSpPr/>
          <p:nvPr/>
        </p:nvSpPr>
        <p:spPr>
          <a:xfrm>
            <a:off x="5031026"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1" name="Illustrative delivered road transport cost class None; reference terminal None"/>
          <p:cNvSpPr/>
          <p:nvPr/>
        </p:nvSpPr>
        <p:spPr>
          <a:xfrm>
            <a:off x="5031026"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2" name="Illustrative delivered road transport cost class None; reference terminal None"/>
          <p:cNvSpPr/>
          <p:nvPr/>
        </p:nvSpPr>
        <p:spPr>
          <a:xfrm>
            <a:off x="5031026"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3" name="Illustrative delivered road transport cost class 2; reference terminal Lesedi"/>
          <p:cNvSpPr/>
          <p:nvPr/>
        </p:nvSpPr>
        <p:spPr>
          <a:xfrm>
            <a:off x="5031026"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4" name="Illustrative delivered road transport cost class 2; reference terminal Lesedi"/>
          <p:cNvSpPr/>
          <p:nvPr/>
        </p:nvSpPr>
        <p:spPr>
          <a:xfrm>
            <a:off x="5031026"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5" name="Illustrative delivered road transport cost class 2; reference terminal Lesedi"/>
          <p:cNvSpPr/>
          <p:nvPr/>
        </p:nvSpPr>
        <p:spPr>
          <a:xfrm>
            <a:off x="5031026" y="238315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6" name="Illustrative delivered road transport cost class 2; reference terminal Lesedi"/>
          <p:cNvSpPr/>
          <p:nvPr/>
        </p:nvSpPr>
        <p:spPr>
          <a:xfrm>
            <a:off x="5031026" y="2374664"/>
            <a:ext cx="57686" cy="8494"/>
          </a:xfrm>
          <a:custGeom>
            <a:avLst/>
            <a:gdLst/>
            <a:ahLst/>
            <a:cxnLst/>
            <a:rect l="l" t="t" r="r" b="b"/>
            <a:pathLst>
              <a:path w="57686" h="8494">
                <a:moveTo>
                  <a:pt x="57686" y="8494"/>
                </a:moveTo>
                <a:lnTo>
                  <a:pt x="0" y="8494"/>
                </a:lnTo>
                <a:lnTo>
                  <a:pt x="0" y="2863"/>
                </a:lnTo>
                <a:lnTo>
                  <a:pt x="32573" y="0"/>
                </a:lnTo>
                <a:lnTo>
                  <a:pt x="57686" y="227"/>
                </a:lnTo>
                <a:lnTo>
                  <a:pt x="57686" y="8494"/>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7" name="Illustrative delivered road transport cost class 0; reference terminal Durban"/>
          <p:cNvSpPr/>
          <p:nvPr/>
        </p:nvSpPr>
        <p:spPr>
          <a:xfrm>
            <a:off x="5088712" y="4229128"/>
            <a:ext cx="4329" cy="5704"/>
          </a:xfrm>
          <a:custGeom>
            <a:avLst/>
            <a:gdLst/>
            <a:ahLst/>
            <a:cxnLst/>
            <a:rect l="l" t="t" r="r" b="b"/>
            <a:pathLst>
              <a:path w="4329" h="5704">
                <a:moveTo>
                  <a:pt x="0" y="0"/>
                </a:moveTo>
                <a:lnTo>
                  <a:pt x="4329" y="0"/>
                </a:lnTo>
                <a:lnTo>
                  <a:pt x="0" y="5704"/>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8" name="Illustrative delivered road transport cost class 0; reference terminal Durban"/>
          <p:cNvSpPr/>
          <p:nvPr/>
        </p:nvSpPr>
        <p:spPr>
          <a:xfrm>
            <a:off x="5088712" y="4171441"/>
            <a:ext cx="52435" cy="57687"/>
          </a:xfrm>
          <a:custGeom>
            <a:avLst/>
            <a:gdLst/>
            <a:ahLst/>
            <a:cxnLst/>
            <a:rect l="l" t="t" r="r" b="b"/>
            <a:pathLst>
              <a:path w="52435" h="57687">
                <a:moveTo>
                  <a:pt x="0" y="57687"/>
                </a:moveTo>
                <a:lnTo>
                  <a:pt x="0" y="0"/>
                </a:lnTo>
                <a:lnTo>
                  <a:pt x="52435" y="0"/>
                </a:lnTo>
                <a:lnTo>
                  <a:pt x="33464" y="19296"/>
                </a:lnTo>
                <a:lnTo>
                  <a:pt x="4329"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9" name="Illustrative delivered road transport cost class 0; reference terminal Durban"/>
          <p:cNvSpPr/>
          <p:nvPr/>
        </p:nvSpPr>
        <p:spPr>
          <a:xfrm>
            <a:off x="5088712" y="4113755"/>
            <a:ext cx="57687" cy="57686"/>
          </a:xfrm>
          <a:custGeom>
            <a:avLst/>
            <a:gdLst/>
            <a:ahLst/>
            <a:cxnLst/>
            <a:rect l="l" t="t" r="r" b="b"/>
            <a:pathLst>
              <a:path w="57687" h="57686">
                <a:moveTo>
                  <a:pt x="0" y="57686"/>
                </a:moveTo>
                <a:lnTo>
                  <a:pt x="0" y="0"/>
                </a:lnTo>
                <a:lnTo>
                  <a:pt x="57687" y="0"/>
                </a:lnTo>
                <a:lnTo>
                  <a:pt x="57687" y="52345"/>
                </a:lnTo>
                <a:lnTo>
                  <a:pt x="52435"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0" name="Illustrative delivered road transport cost class 0; reference terminal Durban"/>
          <p:cNvSpPr/>
          <p:nvPr/>
        </p:nvSpPr>
        <p:spPr>
          <a:xfrm>
            <a:off x="5088712"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1" name="Illustrative delivered road transport cost class 0; reference terminal Durban"/>
          <p:cNvSpPr/>
          <p:nvPr/>
        </p:nvSpPr>
        <p:spPr>
          <a:xfrm>
            <a:off x="5088712"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2" name="Illustrative delivered road transport cost class 0; reference terminal Durban"/>
          <p:cNvSpPr/>
          <p:nvPr/>
        </p:nvSpPr>
        <p:spPr>
          <a:xfrm>
            <a:off x="5088712"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3" name="Illustrative delivered road transport cost class 0; reference terminal Durban"/>
          <p:cNvSpPr/>
          <p:nvPr/>
        </p:nvSpPr>
        <p:spPr>
          <a:xfrm>
            <a:off x="5088712"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4" name="Illustrative delivered road transport cost class 0; reference terminal Durban"/>
          <p:cNvSpPr/>
          <p:nvPr/>
        </p:nvSpPr>
        <p:spPr>
          <a:xfrm>
            <a:off x="5088712"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5" name="Illustrative delivered road transport cost class 1; reference terminal Durban"/>
          <p:cNvSpPr/>
          <p:nvPr/>
        </p:nvSpPr>
        <p:spPr>
          <a:xfrm>
            <a:off x="5088712"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6" name="Illustrative delivered road transport cost class 1; reference terminal Durban"/>
          <p:cNvSpPr/>
          <p:nvPr/>
        </p:nvSpPr>
        <p:spPr>
          <a:xfrm>
            <a:off x="5088712"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7" name="Illustrative delivered road transport cost class 1; reference terminal Durban"/>
          <p:cNvSpPr/>
          <p:nvPr/>
        </p:nvSpPr>
        <p:spPr>
          <a:xfrm>
            <a:off x="5088712"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8" name="Illustrative delivered road transport cost class 1; reference terminal Lesedi"/>
          <p:cNvSpPr/>
          <p:nvPr/>
        </p:nvSpPr>
        <p:spPr>
          <a:xfrm>
            <a:off x="5088712" y="3604538"/>
            <a:ext cx="57687" cy="47724"/>
          </a:xfrm>
          <a:custGeom>
            <a:avLst/>
            <a:gdLst/>
            <a:ahLst/>
            <a:cxnLst/>
            <a:rect l="l" t="t" r="r" b="b"/>
            <a:pathLst>
              <a:path w="57687" h="47724">
                <a:moveTo>
                  <a:pt x="57687" y="47724"/>
                </a:moveTo>
                <a:lnTo>
                  <a:pt x="0" y="47724"/>
                </a:lnTo>
                <a:lnTo>
                  <a:pt x="0" y="0"/>
                </a:lnTo>
                <a:lnTo>
                  <a:pt x="1888" y="3721"/>
                </a:lnTo>
                <a:lnTo>
                  <a:pt x="48337" y="38415"/>
                </a:lnTo>
                <a:lnTo>
                  <a:pt x="57687" y="42036"/>
                </a:lnTo>
                <a:lnTo>
                  <a:pt x="57687" y="47724"/>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9" name="Illustrative delivered road transport cost class 1; reference terminal Lesedi"/>
          <p:cNvSpPr/>
          <p:nvPr/>
        </p:nvSpPr>
        <p:spPr>
          <a:xfrm>
            <a:off x="5088712" y="3306143"/>
            <a:ext cx="32964" cy="52778"/>
          </a:xfrm>
          <a:custGeom>
            <a:avLst/>
            <a:gdLst/>
            <a:ahLst/>
            <a:cxnLst/>
            <a:rect l="l" t="t" r="r" b="b"/>
            <a:pathLst>
              <a:path w="32964" h="52778">
                <a:moveTo>
                  <a:pt x="0" y="0"/>
                </a:moveTo>
                <a:lnTo>
                  <a:pt x="32964" y="0"/>
                </a:lnTo>
                <a:lnTo>
                  <a:pt x="21545" y="13175"/>
                </a:lnTo>
                <a:lnTo>
                  <a:pt x="7493" y="42466"/>
                </a:lnTo>
                <a:lnTo>
                  <a:pt x="0" y="52778"/>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0" name="Illustrative delivered road transport cost class 1; reference terminal Lesedi"/>
          <p:cNvSpPr/>
          <p:nvPr/>
        </p:nvSpPr>
        <p:spPr>
          <a:xfrm>
            <a:off x="5088712" y="3248456"/>
            <a:ext cx="57687" cy="57687"/>
          </a:xfrm>
          <a:custGeom>
            <a:avLst/>
            <a:gdLst/>
            <a:ahLst/>
            <a:cxnLst/>
            <a:rect l="l" t="t" r="r" b="b"/>
            <a:pathLst>
              <a:path w="57687" h="57687">
                <a:moveTo>
                  <a:pt x="0" y="57687"/>
                </a:moveTo>
                <a:lnTo>
                  <a:pt x="0" y="0"/>
                </a:lnTo>
                <a:lnTo>
                  <a:pt x="57687" y="0"/>
                </a:lnTo>
                <a:lnTo>
                  <a:pt x="57687" y="32428"/>
                </a:lnTo>
                <a:lnTo>
                  <a:pt x="50745" y="37169"/>
                </a:lnTo>
                <a:lnTo>
                  <a:pt x="32964"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1" name="Illustrative delivered road transport cost class 1; reference terminal Lesedi"/>
          <p:cNvSpPr/>
          <p:nvPr/>
        </p:nvSpPr>
        <p:spPr>
          <a:xfrm>
            <a:off x="5088712"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2" name="Illustrative delivered road transport cost class 1; reference terminal Lesedi"/>
          <p:cNvSpPr/>
          <p:nvPr/>
        </p:nvSpPr>
        <p:spPr>
          <a:xfrm>
            <a:off x="5088712"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3" name="Illustrative delivered road transport cost class 1; reference terminal Lesedi"/>
          <p:cNvSpPr/>
          <p:nvPr/>
        </p:nvSpPr>
        <p:spPr>
          <a:xfrm>
            <a:off x="5088712"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4" name="Illustrative delivered road transport cost class 1; reference terminal Lesedi"/>
          <p:cNvSpPr/>
          <p:nvPr/>
        </p:nvSpPr>
        <p:spPr>
          <a:xfrm>
            <a:off x="5088712"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5" name="Illustrative delivered road transport cost class 1; reference terminal Lesedi"/>
          <p:cNvSpPr/>
          <p:nvPr/>
        </p:nvSpPr>
        <p:spPr>
          <a:xfrm>
            <a:off x="5088712"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6" name="Illustrative delivered road transport cost class None; reference terminal None"/>
          <p:cNvSpPr/>
          <p:nvPr/>
        </p:nvSpPr>
        <p:spPr>
          <a:xfrm>
            <a:off x="5088712"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7" name="Illustrative delivered road transport cost class None; reference terminal None"/>
          <p:cNvSpPr/>
          <p:nvPr/>
        </p:nvSpPr>
        <p:spPr>
          <a:xfrm>
            <a:off x="5088712"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8" name="Illustrative delivered road transport cost class None; reference terminal None"/>
          <p:cNvSpPr/>
          <p:nvPr/>
        </p:nvSpPr>
        <p:spPr>
          <a:xfrm>
            <a:off x="5088712"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9" name="Illustrative delivered road transport cost class None; reference terminal None"/>
          <p:cNvSpPr/>
          <p:nvPr/>
        </p:nvSpPr>
        <p:spPr>
          <a:xfrm>
            <a:off x="5088712"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0" name="Illustrative delivered road transport cost class None; reference terminal None"/>
          <p:cNvSpPr/>
          <p:nvPr/>
        </p:nvSpPr>
        <p:spPr>
          <a:xfrm>
            <a:off x="5088712"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1" name="Illustrative delivered road transport cost class None; reference terminal None"/>
          <p:cNvSpPr/>
          <p:nvPr/>
        </p:nvSpPr>
        <p:spPr>
          <a:xfrm>
            <a:off x="5088712"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2" name="Illustrative delivered road transport cost class None; reference terminal None"/>
          <p:cNvSpPr/>
          <p:nvPr/>
        </p:nvSpPr>
        <p:spPr>
          <a:xfrm>
            <a:off x="5088712"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3" name="Illustrative delivered road transport cost class None; reference terminal None"/>
          <p:cNvSpPr/>
          <p:nvPr/>
        </p:nvSpPr>
        <p:spPr>
          <a:xfrm>
            <a:off x="5088712"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4" name="Illustrative delivered road transport cost class None; reference terminal None"/>
          <p:cNvSpPr/>
          <p:nvPr/>
        </p:nvSpPr>
        <p:spPr>
          <a:xfrm>
            <a:off x="5088712"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5" name="Illustrative delivered road transport cost class None; reference terminal None"/>
          <p:cNvSpPr/>
          <p:nvPr/>
        </p:nvSpPr>
        <p:spPr>
          <a:xfrm>
            <a:off x="5088712" y="238315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6" name="Illustrative delivered road transport cost class 2; reference terminal Lesedi"/>
          <p:cNvSpPr/>
          <p:nvPr/>
        </p:nvSpPr>
        <p:spPr>
          <a:xfrm>
            <a:off x="5088712" y="2374891"/>
            <a:ext cx="57687" cy="8267"/>
          </a:xfrm>
          <a:custGeom>
            <a:avLst/>
            <a:gdLst/>
            <a:ahLst/>
            <a:cxnLst/>
            <a:rect l="l" t="t" r="r" b="b"/>
            <a:pathLst>
              <a:path w="57687" h="8267">
                <a:moveTo>
                  <a:pt x="57687" y="8267"/>
                </a:moveTo>
                <a:lnTo>
                  <a:pt x="0" y="8267"/>
                </a:lnTo>
                <a:lnTo>
                  <a:pt x="0" y="0"/>
                </a:lnTo>
                <a:lnTo>
                  <a:pt x="23566" y="212"/>
                </a:lnTo>
                <a:lnTo>
                  <a:pt x="57687" y="5855"/>
                </a:lnTo>
                <a:lnTo>
                  <a:pt x="57687" y="826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7" name="Illustrative delivered road transport cost class 0; reference terminal Durban"/>
          <p:cNvSpPr/>
          <p:nvPr/>
        </p:nvSpPr>
        <p:spPr>
          <a:xfrm>
            <a:off x="5146399" y="4113755"/>
            <a:ext cx="51467" cy="52345"/>
          </a:xfrm>
          <a:custGeom>
            <a:avLst/>
            <a:gdLst/>
            <a:ahLst/>
            <a:cxnLst/>
            <a:rect l="l" t="t" r="r" b="b"/>
            <a:pathLst>
              <a:path w="51467" h="52345">
                <a:moveTo>
                  <a:pt x="0" y="0"/>
                </a:moveTo>
                <a:lnTo>
                  <a:pt x="51467" y="0"/>
                </a:lnTo>
                <a:lnTo>
                  <a:pt x="0" y="52345"/>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8" name="Illustrative delivered road transport cost class 0; reference terminal Durban"/>
          <p:cNvSpPr/>
          <p:nvPr/>
        </p:nvSpPr>
        <p:spPr>
          <a:xfrm>
            <a:off x="5146399" y="4056068"/>
            <a:ext cx="57686" cy="57687"/>
          </a:xfrm>
          <a:custGeom>
            <a:avLst/>
            <a:gdLst/>
            <a:ahLst/>
            <a:cxnLst/>
            <a:rect l="l" t="t" r="r" b="b"/>
            <a:pathLst>
              <a:path w="57686" h="57687">
                <a:moveTo>
                  <a:pt x="0" y="57687"/>
                </a:moveTo>
                <a:lnTo>
                  <a:pt x="0" y="0"/>
                </a:lnTo>
                <a:lnTo>
                  <a:pt x="57686" y="0"/>
                </a:lnTo>
                <a:lnTo>
                  <a:pt x="57686" y="51361"/>
                </a:lnTo>
                <a:lnTo>
                  <a:pt x="5146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9" name="Illustrative delivered road transport cost class 0; reference terminal Durban"/>
          <p:cNvSpPr/>
          <p:nvPr/>
        </p:nvSpPr>
        <p:spPr>
          <a:xfrm>
            <a:off x="5146399"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0" name="Illustrative delivered road transport cost class 0; reference terminal Durban"/>
          <p:cNvSpPr/>
          <p:nvPr/>
        </p:nvSpPr>
        <p:spPr>
          <a:xfrm>
            <a:off x="5146399"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1" name="Illustrative delivered road transport cost class 0; reference terminal Durban"/>
          <p:cNvSpPr/>
          <p:nvPr/>
        </p:nvSpPr>
        <p:spPr>
          <a:xfrm>
            <a:off x="5146399"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2" name="Illustrative delivered road transport cost class 0; reference terminal Durban"/>
          <p:cNvSpPr/>
          <p:nvPr/>
        </p:nvSpPr>
        <p:spPr>
          <a:xfrm>
            <a:off x="5146399"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3" name="Illustrative delivered road transport cost class 1; reference terminal Durban"/>
          <p:cNvSpPr/>
          <p:nvPr/>
        </p:nvSpPr>
        <p:spPr>
          <a:xfrm>
            <a:off x="5146399"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4" name="Illustrative delivered road transport cost class 1; reference terminal Durban"/>
          <p:cNvSpPr/>
          <p:nvPr/>
        </p:nvSpPr>
        <p:spPr>
          <a:xfrm>
            <a:off x="5146399"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5" name="Illustrative delivered road transport cost class 1; reference terminal Durban"/>
          <p:cNvSpPr/>
          <p:nvPr/>
        </p:nvSpPr>
        <p:spPr>
          <a:xfrm>
            <a:off x="5146399" y="3652262"/>
            <a:ext cx="57686" cy="57687"/>
          </a:xfrm>
          <a:custGeom>
            <a:avLst/>
            <a:gdLst/>
            <a:ahLst/>
            <a:cxnLst/>
            <a:rect l="l" t="t" r="r" b="b"/>
            <a:pathLst>
              <a:path w="57686" h="57687">
                <a:moveTo>
                  <a:pt x="57686" y="57687"/>
                </a:moveTo>
                <a:lnTo>
                  <a:pt x="0" y="57687"/>
                </a:lnTo>
                <a:lnTo>
                  <a:pt x="0" y="0"/>
                </a:lnTo>
                <a:lnTo>
                  <a:pt x="14684" y="0"/>
                </a:lnTo>
                <a:lnTo>
                  <a:pt x="34456" y="7658"/>
                </a:lnTo>
                <a:lnTo>
                  <a:pt x="57686" y="10325"/>
                </a:lnTo>
                <a:lnTo>
                  <a:pt x="57686"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6" name="Illustrative delivered road transport cost class 1; reference terminal Durban"/>
          <p:cNvSpPr/>
          <p:nvPr/>
        </p:nvSpPr>
        <p:spPr>
          <a:xfrm>
            <a:off x="5146399" y="3646574"/>
            <a:ext cx="14684" cy="5688"/>
          </a:xfrm>
          <a:custGeom>
            <a:avLst/>
            <a:gdLst/>
            <a:ahLst/>
            <a:cxnLst/>
            <a:rect l="l" t="t" r="r" b="b"/>
            <a:pathLst>
              <a:path w="14684" h="5688">
                <a:moveTo>
                  <a:pt x="0" y="5688"/>
                </a:moveTo>
                <a:lnTo>
                  <a:pt x="0" y="0"/>
                </a:lnTo>
                <a:lnTo>
                  <a:pt x="14684" y="5688"/>
                </a:lnTo>
                <a:lnTo>
                  <a:pt x="0" y="5688"/>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7" name="Illustrative delivered road transport cost class 1; reference terminal Lesedi"/>
          <p:cNvSpPr/>
          <p:nvPr/>
        </p:nvSpPr>
        <p:spPr>
          <a:xfrm>
            <a:off x="5146399" y="3248456"/>
            <a:ext cx="57686" cy="32428"/>
          </a:xfrm>
          <a:custGeom>
            <a:avLst/>
            <a:gdLst/>
            <a:ahLst/>
            <a:cxnLst/>
            <a:rect l="l" t="t" r="r" b="b"/>
            <a:pathLst>
              <a:path w="57686" h="32428">
                <a:moveTo>
                  <a:pt x="0" y="0"/>
                </a:moveTo>
                <a:lnTo>
                  <a:pt x="57686" y="0"/>
                </a:lnTo>
                <a:lnTo>
                  <a:pt x="57686" y="25216"/>
                </a:lnTo>
                <a:lnTo>
                  <a:pt x="42266" y="14932"/>
                </a:lnTo>
                <a:lnTo>
                  <a:pt x="34799" y="13613"/>
                </a:lnTo>
                <a:lnTo>
                  <a:pt x="23676" y="16259"/>
                </a:lnTo>
                <a:lnTo>
                  <a:pt x="0" y="32428"/>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8" name="Illustrative delivered road transport cost class 1; reference terminal Lesedi"/>
          <p:cNvSpPr/>
          <p:nvPr/>
        </p:nvSpPr>
        <p:spPr>
          <a:xfrm>
            <a:off x="5146399"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9" name="Illustrative delivered road transport cost class 1; reference terminal Lesedi"/>
          <p:cNvSpPr/>
          <p:nvPr/>
        </p:nvSpPr>
        <p:spPr>
          <a:xfrm>
            <a:off x="5146399"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0" name="Illustrative delivered road transport cost class 1; reference terminal Lesedi"/>
          <p:cNvSpPr/>
          <p:nvPr/>
        </p:nvSpPr>
        <p:spPr>
          <a:xfrm>
            <a:off x="5146399"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1" name="Illustrative delivered road transport cost class 1; reference terminal Lesedi"/>
          <p:cNvSpPr/>
          <p:nvPr/>
        </p:nvSpPr>
        <p:spPr>
          <a:xfrm>
            <a:off x="5146399"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2" name="Illustrative delivered road transport cost class 1; reference terminal Lesedi"/>
          <p:cNvSpPr/>
          <p:nvPr/>
        </p:nvSpPr>
        <p:spPr>
          <a:xfrm>
            <a:off x="5146399"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3" name="Illustrative delivered road transport cost class None; reference terminal None"/>
          <p:cNvSpPr/>
          <p:nvPr/>
        </p:nvSpPr>
        <p:spPr>
          <a:xfrm>
            <a:off x="5146399"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4" name="Illustrative delivered road transport cost class None; reference terminal None"/>
          <p:cNvSpPr/>
          <p:nvPr/>
        </p:nvSpPr>
        <p:spPr>
          <a:xfrm>
            <a:off x="5146399"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5" name="Illustrative delivered road transport cost class None; reference terminal None"/>
          <p:cNvSpPr/>
          <p:nvPr/>
        </p:nvSpPr>
        <p:spPr>
          <a:xfrm>
            <a:off x="5146399"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6" name="Illustrative delivered road transport cost class None; reference terminal None"/>
          <p:cNvSpPr/>
          <p:nvPr/>
        </p:nvSpPr>
        <p:spPr>
          <a:xfrm>
            <a:off x="5146399"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7" name="Illustrative delivered road transport cost class None; reference terminal None"/>
          <p:cNvSpPr/>
          <p:nvPr/>
        </p:nvSpPr>
        <p:spPr>
          <a:xfrm>
            <a:off x="5146399"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8" name="Illustrative delivered road transport cost class None; reference terminal None"/>
          <p:cNvSpPr/>
          <p:nvPr/>
        </p:nvSpPr>
        <p:spPr>
          <a:xfrm>
            <a:off x="5146399"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9" name="Illustrative delivered road transport cost class None; reference terminal None"/>
          <p:cNvSpPr/>
          <p:nvPr/>
        </p:nvSpPr>
        <p:spPr>
          <a:xfrm>
            <a:off x="5146399"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0" name="Illustrative delivered road transport cost class None; reference terminal None"/>
          <p:cNvSpPr/>
          <p:nvPr/>
        </p:nvSpPr>
        <p:spPr>
          <a:xfrm>
            <a:off x="5146399"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1" name="Illustrative delivered road transport cost class None; reference terminal None"/>
          <p:cNvSpPr/>
          <p:nvPr/>
        </p:nvSpPr>
        <p:spPr>
          <a:xfrm>
            <a:off x="5146399"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2" name="Illustrative delivered road transport cost class None; reference terminal None"/>
          <p:cNvSpPr/>
          <p:nvPr/>
        </p:nvSpPr>
        <p:spPr>
          <a:xfrm>
            <a:off x="5146399" y="2383158"/>
            <a:ext cx="57686" cy="57686"/>
          </a:xfrm>
          <a:custGeom>
            <a:avLst/>
            <a:gdLst/>
            <a:ahLst/>
            <a:cxnLst/>
            <a:rect l="l" t="t" r="r" b="b"/>
            <a:pathLst>
              <a:path w="57686" h="57686">
                <a:moveTo>
                  <a:pt x="57686" y="57686"/>
                </a:moveTo>
                <a:lnTo>
                  <a:pt x="0" y="57686"/>
                </a:lnTo>
                <a:lnTo>
                  <a:pt x="0" y="0"/>
                </a:lnTo>
                <a:lnTo>
                  <a:pt x="8138" y="0"/>
                </a:lnTo>
                <a:lnTo>
                  <a:pt x="32085" y="9008"/>
                </a:lnTo>
                <a:lnTo>
                  <a:pt x="52957" y="24659"/>
                </a:lnTo>
                <a:lnTo>
                  <a:pt x="53606" y="38152"/>
                </a:lnTo>
                <a:lnTo>
                  <a:pt x="55000" y="44341"/>
                </a:lnTo>
                <a:lnTo>
                  <a:pt x="57686" y="54279"/>
                </a:lnTo>
                <a:lnTo>
                  <a:pt x="57686"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3" name="Illustrative delivered road transport cost class None; reference terminal None"/>
          <p:cNvSpPr/>
          <p:nvPr/>
        </p:nvSpPr>
        <p:spPr>
          <a:xfrm>
            <a:off x="5146399" y="2380746"/>
            <a:ext cx="8138" cy="2412"/>
          </a:xfrm>
          <a:custGeom>
            <a:avLst/>
            <a:gdLst/>
            <a:ahLst/>
            <a:cxnLst/>
            <a:rect l="l" t="t" r="r" b="b"/>
            <a:pathLst>
              <a:path w="8138" h="2412">
                <a:moveTo>
                  <a:pt x="0" y="2412"/>
                </a:moveTo>
                <a:lnTo>
                  <a:pt x="0" y="0"/>
                </a:lnTo>
                <a:lnTo>
                  <a:pt x="3080" y="509"/>
                </a:lnTo>
                <a:lnTo>
                  <a:pt x="8138" y="2412"/>
                </a:lnTo>
                <a:lnTo>
                  <a:pt x="0" y="241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4" name="Illustrative delivered road transport cost class 0; reference terminal Durban"/>
          <p:cNvSpPr/>
          <p:nvPr/>
        </p:nvSpPr>
        <p:spPr>
          <a:xfrm>
            <a:off x="5204085" y="4056068"/>
            <a:ext cx="57687" cy="51361"/>
          </a:xfrm>
          <a:custGeom>
            <a:avLst/>
            <a:gdLst/>
            <a:ahLst/>
            <a:cxnLst/>
            <a:rect l="l" t="t" r="r" b="b"/>
            <a:pathLst>
              <a:path w="57687" h="51361">
                <a:moveTo>
                  <a:pt x="0" y="0"/>
                </a:moveTo>
                <a:lnTo>
                  <a:pt x="57687" y="0"/>
                </a:lnTo>
                <a:lnTo>
                  <a:pt x="57687" y="18855"/>
                </a:lnTo>
                <a:lnTo>
                  <a:pt x="49331" y="22482"/>
                </a:lnTo>
                <a:lnTo>
                  <a:pt x="23552" y="27408"/>
                </a:lnTo>
                <a:lnTo>
                  <a:pt x="0" y="51361"/>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5" name="Illustrative delivered road transport cost class 0; reference terminal Durban"/>
          <p:cNvSpPr/>
          <p:nvPr/>
        </p:nvSpPr>
        <p:spPr>
          <a:xfrm>
            <a:off x="5204085"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6" name="Illustrative delivered road transport cost class 0; reference terminal Durban"/>
          <p:cNvSpPr/>
          <p:nvPr/>
        </p:nvSpPr>
        <p:spPr>
          <a:xfrm>
            <a:off x="5204085"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7" name="Illustrative delivered road transport cost class 0; reference terminal Durban"/>
          <p:cNvSpPr/>
          <p:nvPr/>
        </p:nvSpPr>
        <p:spPr>
          <a:xfrm>
            <a:off x="5204085"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8" name="Illustrative delivered road transport cost class 0; reference terminal Durban"/>
          <p:cNvSpPr/>
          <p:nvPr/>
        </p:nvSpPr>
        <p:spPr>
          <a:xfrm>
            <a:off x="5204085"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9" name="Illustrative delivered road transport cost class 0; reference terminal Durban"/>
          <p:cNvSpPr/>
          <p:nvPr/>
        </p:nvSpPr>
        <p:spPr>
          <a:xfrm>
            <a:off x="5204085"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0" name="Illustrative delivered road transport cost class 1; reference terminal Durban"/>
          <p:cNvSpPr/>
          <p:nvPr/>
        </p:nvSpPr>
        <p:spPr>
          <a:xfrm>
            <a:off x="5204085"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1" name="Illustrative delivered road transport cost class 1; reference terminal Durban"/>
          <p:cNvSpPr/>
          <p:nvPr/>
        </p:nvSpPr>
        <p:spPr>
          <a:xfrm>
            <a:off x="5204085" y="3662587"/>
            <a:ext cx="57687" cy="47362"/>
          </a:xfrm>
          <a:custGeom>
            <a:avLst/>
            <a:gdLst/>
            <a:ahLst/>
            <a:cxnLst/>
            <a:rect l="l" t="t" r="r" b="b"/>
            <a:pathLst>
              <a:path w="57687" h="47362">
                <a:moveTo>
                  <a:pt x="57687" y="47362"/>
                </a:moveTo>
                <a:lnTo>
                  <a:pt x="0" y="47362"/>
                </a:lnTo>
                <a:lnTo>
                  <a:pt x="0" y="0"/>
                </a:lnTo>
                <a:lnTo>
                  <a:pt x="38771" y="4451"/>
                </a:lnTo>
                <a:lnTo>
                  <a:pt x="57687" y="5127"/>
                </a:lnTo>
                <a:lnTo>
                  <a:pt x="57687" y="47362"/>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2" name="Illustrative delivered road transport cost class 1; reference terminal Lesedi"/>
          <p:cNvSpPr/>
          <p:nvPr/>
        </p:nvSpPr>
        <p:spPr>
          <a:xfrm>
            <a:off x="5253756" y="3306143"/>
            <a:ext cx="8016" cy="4988"/>
          </a:xfrm>
          <a:custGeom>
            <a:avLst/>
            <a:gdLst/>
            <a:ahLst/>
            <a:cxnLst/>
            <a:rect l="l" t="t" r="r" b="b"/>
            <a:pathLst>
              <a:path w="8016" h="4988">
                <a:moveTo>
                  <a:pt x="8016" y="0"/>
                </a:moveTo>
                <a:lnTo>
                  <a:pt x="8016" y="4988"/>
                </a:lnTo>
                <a:lnTo>
                  <a:pt x="0" y="0"/>
                </a:lnTo>
                <a:lnTo>
                  <a:pt x="8016"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3" name="Illustrative delivered road transport cost class 1; reference terminal Lesedi"/>
          <p:cNvSpPr/>
          <p:nvPr/>
        </p:nvSpPr>
        <p:spPr>
          <a:xfrm>
            <a:off x="5204085" y="3248456"/>
            <a:ext cx="57687" cy="57687"/>
          </a:xfrm>
          <a:custGeom>
            <a:avLst/>
            <a:gdLst/>
            <a:ahLst/>
            <a:cxnLst/>
            <a:rect l="l" t="t" r="r" b="b"/>
            <a:pathLst>
              <a:path w="57687" h="57687">
                <a:moveTo>
                  <a:pt x="0" y="0"/>
                </a:moveTo>
                <a:lnTo>
                  <a:pt x="57687" y="0"/>
                </a:lnTo>
                <a:lnTo>
                  <a:pt x="57687" y="57687"/>
                </a:lnTo>
                <a:lnTo>
                  <a:pt x="49671" y="57687"/>
                </a:lnTo>
                <a:lnTo>
                  <a:pt x="35018" y="48569"/>
                </a:lnTo>
                <a:lnTo>
                  <a:pt x="0" y="25216"/>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4" name="Illustrative delivered road transport cost class 1; reference terminal Lesedi"/>
          <p:cNvSpPr/>
          <p:nvPr/>
        </p:nvSpPr>
        <p:spPr>
          <a:xfrm>
            <a:off x="5204085"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5" name="Illustrative delivered road transport cost class 1; reference terminal Lesedi"/>
          <p:cNvSpPr/>
          <p:nvPr/>
        </p:nvSpPr>
        <p:spPr>
          <a:xfrm>
            <a:off x="5204085"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6" name="Illustrative delivered road transport cost class 1; reference terminal Lesedi"/>
          <p:cNvSpPr/>
          <p:nvPr/>
        </p:nvSpPr>
        <p:spPr>
          <a:xfrm>
            <a:off x="5204085"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7" name="Illustrative delivered road transport cost class 1; reference terminal Lesedi"/>
          <p:cNvSpPr/>
          <p:nvPr/>
        </p:nvSpPr>
        <p:spPr>
          <a:xfrm>
            <a:off x="5204085"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8" name="Illustrative delivered road transport cost class 1; reference terminal Lesedi"/>
          <p:cNvSpPr/>
          <p:nvPr/>
        </p:nvSpPr>
        <p:spPr>
          <a:xfrm>
            <a:off x="5204085"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9" name="Illustrative delivered road transport cost class None; reference terminal None"/>
          <p:cNvSpPr/>
          <p:nvPr/>
        </p:nvSpPr>
        <p:spPr>
          <a:xfrm>
            <a:off x="5204085"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0" name="Illustrative delivered road transport cost class None; reference terminal None"/>
          <p:cNvSpPr/>
          <p:nvPr/>
        </p:nvSpPr>
        <p:spPr>
          <a:xfrm>
            <a:off x="5204085"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1" name="Illustrative delivered road transport cost class None; reference terminal None"/>
          <p:cNvSpPr/>
          <p:nvPr/>
        </p:nvSpPr>
        <p:spPr>
          <a:xfrm>
            <a:off x="5204085"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2" name="Illustrative delivered road transport cost class None; reference terminal None"/>
          <p:cNvSpPr/>
          <p:nvPr/>
        </p:nvSpPr>
        <p:spPr>
          <a:xfrm>
            <a:off x="5204085"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3" name="Illustrative delivered road transport cost class None; reference terminal None"/>
          <p:cNvSpPr/>
          <p:nvPr/>
        </p:nvSpPr>
        <p:spPr>
          <a:xfrm>
            <a:off x="5204085" y="2671590"/>
            <a:ext cx="57687" cy="57687"/>
          </a:xfrm>
          <a:custGeom>
            <a:avLst/>
            <a:gdLst/>
            <a:ahLst/>
            <a:cxnLst/>
            <a:rect l="l" t="t" r="r" b="b"/>
            <a:pathLst>
              <a:path w="57687" h="57687">
                <a:moveTo>
                  <a:pt x="57687" y="57687"/>
                </a:moveTo>
                <a:lnTo>
                  <a:pt x="0" y="57687"/>
                </a:lnTo>
                <a:lnTo>
                  <a:pt x="0" y="0"/>
                </a:lnTo>
                <a:lnTo>
                  <a:pt x="40358" y="0"/>
                </a:lnTo>
                <a:lnTo>
                  <a:pt x="40331" y="447"/>
                </a:lnTo>
                <a:lnTo>
                  <a:pt x="43386" y="15080"/>
                </a:lnTo>
                <a:lnTo>
                  <a:pt x="56278" y="33836"/>
                </a:lnTo>
                <a:lnTo>
                  <a:pt x="57687" y="36774"/>
                </a:lnTo>
                <a:lnTo>
                  <a:pt x="57687"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4" name="Illustrative delivered road transport cost class None; reference terminal None"/>
          <p:cNvSpPr/>
          <p:nvPr/>
        </p:nvSpPr>
        <p:spPr>
          <a:xfrm>
            <a:off x="5204085" y="2613904"/>
            <a:ext cx="42599" cy="57686"/>
          </a:xfrm>
          <a:custGeom>
            <a:avLst/>
            <a:gdLst/>
            <a:ahLst/>
            <a:cxnLst/>
            <a:rect l="l" t="t" r="r" b="b"/>
            <a:pathLst>
              <a:path w="42599" h="57686">
                <a:moveTo>
                  <a:pt x="0" y="57686"/>
                </a:moveTo>
                <a:lnTo>
                  <a:pt x="0" y="0"/>
                </a:lnTo>
                <a:lnTo>
                  <a:pt x="38866" y="0"/>
                </a:lnTo>
                <a:lnTo>
                  <a:pt x="42599" y="20814"/>
                </a:lnTo>
                <a:lnTo>
                  <a:pt x="40358"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5" name="Illustrative delivered road transport cost class None; reference terminal None"/>
          <p:cNvSpPr/>
          <p:nvPr/>
        </p:nvSpPr>
        <p:spPr>
          <a:xfrm>
            <a:off x="5204085" y="2556217"/>
            <a:ext cx="38866" cy="57687"/>
          </a:xfrm>
          <a:custGeom>
            <a:avLst/>
            <a:gdLst/>
            <a:ahLst/>
            <a:cxnLst/>
            <a:rect l="l" t="t" r="r" b="b"/>
            <a:pathLst>
              <a:path w="38866" h="57687">
                <a:moveTo>
                  <a:pt x="0" y="57687"/>
                </a:moveTo>
                <a:lnTo>
                  <a:pt x="0" y="0"/>
                </a:lnTo>
                <a:lnTo>
                  <a:pt x="28510" y="0"/>
                </a:lnTo>
                <a:lnTo>
                  <a:pt x="30424" y="10620"/>
                </a:lnTo>
                <a:lnTo>
                  <a:pt x="3886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6" name="Illustrative delivered road transport cost class None; reference terminal None"/>
          <p:cNvSpPr/>
          <p:nvPr/>
        </p:nvSpPr>
        <p:spPr>
          <a:xfrm>
            <a:off x="5204085" y="2498531"/>
            <a:ext cx="28510" cy="57686"/>
          </a:xfrm>
          <a:custGeom>
            <a:avLst/>
            <a:gdLst/>
            <a:ahLst/>
            <a:cxnLst/>
            <a:rect l="l" t="t" r="r" b="b"/>
            <a:pathLst>
              <a:path w="28510" h="57686">
                <a:moveTo>
                  <a:pt x="0" y="57686"/>
                </a:moveTo>
                <a:lnTo>
                  <a:pt x="0" y="0"/>
                </a:lnTo>
                <a:lnTo>
                  <a:pt x="16451" y="0"/>
                </a:lnTo>
                <a:lnTo>
                  <a:pt x="21505" y="18825"/>
                </a:lnTo>
                <a:lnTo>
                  <a:pt x="28510"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7" name="Illustrative delivered road transport cost class None; reference terminal None"/>
          <p:cNvSpPr/>
          <p:nvPr/>
        </p:nvSpPr>
        <p:spPr>
          <a:xfrm>
            <a:off x="5204085" y="2440844"/>
            <a:ext cx="16451" cy="57687"/>
          </a:xfrm>
          <a:custGeom>
            <a:avLst/>
            <a:gdLst/>
            <a:ahLst/>
            <a:cxnLst/>
            <a:rect l="l" t="t" r="r" b="b"/>
            <a:pathLst>
              <a:path w="16451" h="57687">
                <a:moveTo>
                  <a:pt x="0" y="57687"/>
                </a:moveTo>
                <a:lnTo>
                  <a:pt x="0" y="0"/>
                </a:lnTo>
                <a:lnTo>
                  <a:pt x="921" y="0"/>
                </a:lnTo>
                <a:lnTo>
                  <a:pt x="7056" y="22690"/>
                </a:lnTo>
                <a:lnTo>
                  <a:pt x="16451"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8" name="Illustrative delivered road transport cost class 0; reference terminal Durban"/>
          <p:cNvSpPr/>
          <p:nvPr/>
        </p:nvSpPr>
        <p:spPr>
          <a:xfrm>
            <a:off x="5261772" y="4056068"/>
            <a:ext cx="29918" cy="18855"/>
          </a:xfrm>
          <a:custGeom>
            <a:avLst/>
            <a:gdLst/>
            <a:ahLst/>
            <a:cxnLst/>
            <a:rect l="l" t="t" r="r" b="b"/>
            <a:pathLst>
              <a:path w="29918" h="18855">
                <a:moveTo>
                  <a:pt x="0" y="0"/>
                </a:moveTo>
                <a:lnTo>
                  <a:pt x="29918" y="0"/>
                </a:lnTo>
                <a:lnTo>
                  <a:pt x="23193" y="5720"/>
                </a:lnTo>
                <a:lnTo>
                  <a:pt x="6396" y="16079"/>
                </a:lnTo>
                <a:lnTo>
                  <a:pt x="0" y="18855"/>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9" name="Illustrative delivered road transport cost class 0; reference terminal Durban"/>
          <p:cNvSpPr/>
          <p:nvPr/>
        </p:nvSpPr>
        <p:spPr>
          <a:xfrm>
            <a:off x="5261772" y="3998382"/>
            <a:ext cx="57687" cy="57686"/>
          </a:xfrm>
          <a:custGeom>
            <a:avLst/>
            <a:gdLst/>
            <a:ahLst/>
            <a:cxnLst/>
            <a:rect l="l" t="t" r="r" b="b"/>
            <a:pathLst>
              <a:path w="57687" h="57686">
                <a:moveTo>
                  <a:pt x="0" y="57686"/>
                </a:moveTo>
                <a:lnTo>
                  <a:pt x="0" y="0"/>
                </a:lnTo>
                <a:lnTo>
                  <a:pt x="57687" y="0"/>
                </a:lnTo>
                <a:lnTo>
                  <a:pt x="57687" y="34068"/>
                </a:lnTo>
                <a:lnTo>
                  <a:pt x="29918"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0" name="Illustrative delivered road transport cost class 0; reference terminal Durban"/>
          <p:cNvSpPr/>
          <p:nvPr/>
        </p:nvSpPr>
        <p:spPr>
          <a:xfrm>
            <a:off x="5261772"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1" name="Illustrative delivered road transport cost class 0; reference terminal Durban"/>
          <p:cNvSpPr/>
          <p:nvPr/>
        </p:nvSpPr>
        <p:spPr>
          <a:xfrm>
            <a:off x="5261772"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2" name="Illustrative delivered road transport cost class 0; reference terminal Durban"/>
          <p:cNvSpPr/>
          <p:nvPr/>
        </p:nvSpPr>
        <p:spPr>
          <a:xfrm>
            <a:off x="5261772"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3" name="Illustrative delivered road transport cost class 0; reference terminal Durban"/>
          <p:cNvSpPr/>
          <p:nvPr/>
        </p:nvSpPr>
        <p:spPr>
          <a:xfrm>
            <a:off x="5261772"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4" name="Illustrative delivered road transport cost class 0; reference terminal Durban"/>
          <p:cNvSpPr/>
          <p:nvPr/>
        </p:nvSpPr>
        <p:spPr>
          <a:xfrm>
            <a:off x="5261772"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5" name="Illustrative delivered road transport cost class 1; reference terminal Durban"/>
          <p:cNvSpPr/>
          <p:nvPr/>
        </p:nvSpPr>
        <p:spPr>
          <a:xfrm>
            <a:off x="5261772" y="3652262"/>
            <a:ext cx="57687" cy="57687"/>
          </a:xfrm>
          <a:custGeom>
            <a:avLst/>
            <a:gdLst/>
            <a:ahLst/>
            <a:cxnLst/>
            <a:rect l="l" t="t" r="r" b="b"/>
            <a:pathLst>
              <a:path w="57687" h="57687">
                <a:moveTo>
                  <a:pt x="57687" y="0"/>
                </a:moveTo>
                <a:lnTo>
                  <a:pt x="57687" y="57687"/>
                </a:lnTo>
                <a:lnTo>
                  <a:pt x="0" y="57687"/>
                </a:lnTo>
                <a:lnTo>
                  <a:pt x="0" y="15452"/>
                </a:lnTo>
                <a:lnTo>
                  <a:pt x="30293" y="16534"/>
                </a:lnTo>
                <a:lnTo>
                  <a:pt x="29855" y="0"/>
                </a:lnTo>
                <a:lnTo>
                  <a:pt x="57687"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6" name="Illustrative delivered road transport cost class 1; reference terminal Durban"/>
          <p:cNvSpPr/>
          <p:nvPr/>
        </p:nvSpPr>
        <p:spPr>
          <a:xfrm>
            <a:off x="5291165" y="3594576"/>
            <a:ext cx="28294" cy="57686"/>
          </a:xfrm>
          <a:custGeom>
            <a:avLst/>
            <a:gdLst/>
            <a:ahLst/>
            <a:cxnLst/>
            <a:rect l="l" t="t" r="r" b="b"/>
            <a:pathLst>
              <a:path w="28294" h="57686">
                <a:moveTo>
                  <a:pt x="28294" y="0"/>
                </a:moveTo>
                <a:lnTo>
                  <a:pt x="28294" y="57686"/>
                </a:lnTo>
                <a:lnTo>
                  <a:pt x="462" y="57686"/>
                </a:lnTo>
                <a:lnTo>
                  <a:pt x="0" y="40259"/>
                </a:lnTo>
                <a:lnTo>
                  <a:pt x="5849" y="0"/>
                </a:lnTo>
                <a:lnTo>
                  <a:pt x="28294"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7" name="Illustrative delivered road transport cost class 1; reference terminal Durban"/>
          <p:cNvSpPr/>
          <p:nvPr/>
        </p:nvSpPr>
        <p:spPr>
          <a:xfrm>
            <a:off x="5297014" y="3543224"/>
            <a:ext cx="22445" cy="51352"/>
          </a:xfrm>
          <a:custGeom>
            <a:avLst/>
            <a:gdLst/>
            <a:ahLst/>
            <a:cxnLst/>
            <a:rect l="l" t="t" r="r" b="b"/>
            <a:pathLst>
              <a:path w="22445" h="51352">
                <a:moveTo>
                  <a:pt x="22445" y="51352"/>
                </a:moveTo>
                <a:lnTo>
                  <a:pt x="0" y="51352"/>
                </a:lnTo>
                <a:lnTo>
                  <a:pt x="2019" y="37449"/>
                </a:lnTo>
                <a:lnTo>
                  <a:pt x="10365" y="1222"/>
                </a:lnTo>
                <a:lnTo>
                  <a:pt x="17336" y="0"/>
                </a:lnTo>
                <a:lnTo>
                  <a:pt x="22445" y="1698"/>
                </a:lnTo>
                <a:lnTo>
                  <a:pt x="22445" y="51352"/>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8" name="Illustrative delivered road transport cost class 1; reference terminal Lesedi"/>
          <p:cNvSpPr/>
          <p:nvPr/>
        </p:nvSpPr>
        <p:spPr>
          <a:xfrm>
            <a:off x="5261772" y="3306143"/>
            <a:ext cx="47082" cy="23070"/>
          </a:xfrm>
          <a:custGeom>
            <a:avLst/>
            <a:gdLst/>
            <a:ahLst/>
            <a:cxnLst/>
            <a:rect l="l" t="t" r="r" b="b"/>
            <a:pathLst>
              <a:path w="47082" h="23070">
                <a:moveTo>
                  <a:pt x="0" y="0"/>
                </a:moveTo>
                <a:lnTo>
                  <a:pt x="43645" y="0"/>
                </a:lnTo>
                <a:lnTo>
                  <a:pt x="47082" y="17939"/>
                </a:lnTo>
                <a:lnTo>
                  <a:pt x="40806" y="20433"/>
                </a:lnTo>
                <a:lnTo>
                  <a:pt x="29060" y="23070"/>
                </a:lnTo>
                <a:lnTo>
                  <a:pt x="0" y="4988"/>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9" name="Illustrative delivered road transport cost class 1; reference terminal Lesedi"/>
          <p:cNvSpPr/>
          <p:nvPr/>
        </p:nvSpPr>
        <p:spPr>
          <a:xfrm>
            <a:off x="5261772" y="3248456"/>
            <a:ext cx="56621" cy="57687"/>
          </a:xfrm>
          <a:custGeom>
            <a:avLst/>
            <a:gdLst/>
            <a:ahLst/>
            <a:cxnLst/>
            <a:rect l="l" t="t" r="r" b="b"/>
            <a:pathLst>
              <a:path w="56621" h="57687">
                <a:moveTo>
                  <a:pt x="0" y="57687"/>
                </a:moveTo>
                <a:lnTo>
                  <a:pt x="0" y="0"/>
                </a:lnTo>
                <a:lnTo>
                  <a:pt x="56621" y="0"/>
                </a:lnTo>
                <a:lnTo>
                  <a:pt x="43187" y="28320"/>
                </a:lnTo>
                <a:lnTo>
                  <a:pt x="43493" y="56897"/>
                </a:lnTo>
                <a:lnTo>
                  <a:pt x="43645"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0" name="Illustrative delivered road transport cost class 1; reference terminal Lesedi"/>
          <p:cNvSpPr/>
          <p:nvPr/>
        </p:nvSpPr>
        <p:spPr>
          <a:xfrm>
            <a:off x="5261772" y="3190770"/>
            <a:ext cx="57687" cy="57686"/>
          </a:xfrm>
          <a:custGeom>
            <a:avLst/>
            <a:gdLst/>
            <a:ahLst/>
            <a:cxnLst/>
            <a:rect l="l" t="t" r="r" b="b"/>
            <a:pathLst>
              <a:path w="57687" h="57686">
                <a:moveTo>
                  <a:pt x="0" y="57686"/>
                </a:moveTo>
                <a:lnTo>
                  <a:pt x="0" y="0"/>
                </a:lnTo>
                <a:lnTo>
                  <a:pt x="57687" y="0"/>
                </a:lnTo>
                <a:lnTo>
                  <a:pt x="57687" y="55440"/>
                </a:lnTo>
                <a:lnTo>
                  <a:pt x="56621"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1" name="Illustrative delivered road transport cost class 1; reference terminal Lesedi"/>
          <p:cNvSpPr/>
          <p:nvPr/>
        </p:nvSpPr>
        <p:spPr>
          <a:xfrm>
            <a:off x="5261772"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2" name="Illustrative delivered road transport cost class 1; reference terminal Lesedi"/>
          <p:cNvSpPr/>
          <p:nvPr/>
        </p:nvSpPr>
        <p:spPr>
          <a:xfrm>
            <a:off x="5261772"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3" name="Illustrative delivered road transport cost class 1; reference terminal Lesedi"/>
          <p:cNvSpPr/>
          <p:nvPr/>
        </p:nvSpPr>
        <p:spPr>
          <a:xfrm>
            <a:off x="5261772"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4" name="Illustrative delivered road transport cost class 1; reference terminal Lesedi"/>
          <p:cNvSpPr/>
          <p:nvPr/>
        </p:nvSpPr>
        <p:spPr>
          <a:xfrm>
            <a:off x="5261772"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5" name="Illustrative delivered road transport cost class None; reference terminal None"/>
          <p:cNvSpPr/>
          <p:nvPr/>
        </p:nvSpPr>
        <p:spPr>
          <a:xfrm>
            <a:off x="5261772"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6" name="Illustrative delivered road transport cost class None; reference terminal None"/>
          <p:cNvSpPr/>
          <p:nvPr/>
        </p:nvSpPr>
        <p:spPr>
          <a:xfrm>
            <a:off x="5261772" y="2844650"/>
            <a:ext cx="57687" cy="57687"/>
          </a:xfrm>
          <a:custGeom>
            <a:avLst/>
            <a:gdLst/>
            <a:ahLst/>
            <a:cxnLst/>
            <a:rect l="l" t="t" r="r" b="b"/>
            <a:pathLst>
              <a:path w="57687" h="57687">
                <a:moveTo>
                  <a:pt x="57687" y="57687"/>
                </a:moveTo>
                <a:lnTo>
                  <a:pt x="0" y="57687"/>
                </a:lnTo>
                <a:lnTo>
                  <a:pt x="0" y="0"/>
                </a:lnTo>
                <a:lnTo>
                  <a:pt x="54116" y="0"/>
                </a:lnTo>
                <a:lnTo>
                  <a:pt x="57687" y="19985"/>
                </a:lnTo>
                <a:lnTo>
                  <a:pt x="57687"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7" name="Illustrative delivered road transport cost class None; reference terminal None"/>
          <p:cNvSpPr/>
          <p:nvPr/>
        </p:nvSpPr>
        <p:spPr>
          <a:xfrm>
            <a:off x="5261772" y="2786964"/>
            <a:ext cx="54116" cy="57686"/>
          </a:xfrm>
          <a:custGeom>
            <a:avLst/>
            <a:gdLst/>
            <a:ahLst/>
            <a:cxnLst/>
            <a:rect l="l" t="t" r="r" b="b"/>
            <a:pathLst>
              <a:path w="54116" h="57686">
                <a:moveTo>
                  <a:pt x="0" y="57686"/>
                </a:moveTo>
                <a:lnTo>
                  <a:pt x="0" y="0"/>
                </a:lnTo>
                <a:lnTo>
                  <a:pt x="35399" y="0"/>
                </a:lnTo>
                <a:lnTo>
                  <a:pt x="40218" y="7573"/>
                </a:lnTo>
                <a:lnTo>
                  <a:pt x="52053" y="46139"/>
                </a:lnTo>
                <a:lnTo>
                  <a:pt x="5411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8" name="Illustrative delivered road transport cost class None; reference terminal None"/>
          <p:cNvSpPr/>
          <p:nvPr/>
        </p:nvSpPr>
        <p:spPr>
          <a:xfrm>
            <a:off x="5261772" y="2729277"/>
            <a:ext cx="35399" cy="57687"/>
          </a:xfrm>
          <a:custGeom>
            <a:avLst/>
            <a:gdLst/>
            <a:ahLst/>
            <a:cxnLst/>
            <a:rect l="l" t="t" r="r" b="b"/>
            <a:pathLst>
              <a:path w="35399" h="57687">
                <a:moveTo>
                  <a:pt x="0" y="57687"/>
                </a:moveTo>
                <a:lnTo>
                  <a:pt x="0" y="0"/>
                </a:lnTo>
                <a:lnTo>
                  <a:pt x="10034" y="0"/>
                </a:lnTo>
                <a:lnTo>
                  <a:pt x="13880" y="8018"/>
                </a:lnTo>
                <a:lnTo>
                  <a:pt x="18746" y="25906"/>
                </a:lnTo>
                <a:lnTo>
                  <a:pt x="23734" y="39353"/>
                </a:lnTo>
                <a:lnTo>
                  <a:pt x="35399"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9" name="Illustrative delivered road transport cost class None; reference terminal None"/>
          <p:cNvSpPr/>
          <p:nvPr/>
        </p:nvSpPr>
        <p:spPr>
          <a:xfrm>
            <a:off x="5261772" y="2708364"/>
            <a:ext cx="10034" cy="20913"/>
          </a:xfrm>
          <a:custGeom>
            <a:avLst/>
            <a:gdLst/>
            <a:ahLst/>
            <a:cxnLst/>
            <a:rect l="l" t="t" r="r" b="b"/>
            <a:pathLst>
              <a:path w="10034" h="20913">
                <a:moveTo>
                  <a:pt x="0" y="20913"/>
                </a:moveTo>
                <a:lnTo>
                  <a:pt x="0" y="0"/>
                </a:lnTo>
                <a:lnTo>
                  <a:pt x="10034" y="20913"/>
                </a:lnTo>
                <a:lnTo>
                  <a:pt x="0" y="20913"/>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0" name="Illustrative delivered road transport cost class 0; reference terminal Durban"/>
          <p:cNvSpPr/>
          <p:nvPr/>
        </p:nvSpPr>
        <p:spPr>
          <a:xfrm>
            <a:off x="5319459" y="3998382"/>
            <a:ext cx="35067" cy="34068"/>
          </a:xfrm>
          <a:custGeom>
            <a:avLst/>
            <a:gdLst/>
            <a:ahLst/>
            <a:cxnLst/>
            <a:rect l="l" t="t" r="r" b="b"/>
            <a:pathLst>
              <a:path w="35067" h="34068">
                <a:moveTo>
                  <a:pt x="0" y="0"/>
                </a:moveTo>
                <a:lnTo>
                  <a:pt x="35067" y="0"/>
                </a:lnTo>
                <a:lnTo>
                  <a:pt x="26933" y="11159"/>
                </a:lnTo>
                <a:lnTo>
                  <a:pt x="0" y="34068"/>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1" name="Illustrative delivered road transport cost class 0; reference terminal Durban"/>
          <p:cNvSpPr/>
          <p:nvPr/>
        </p:nvSpPr>
        <p:spPr>
          <a:xfrm>
            <a:off x="5319459" y="3940695"/>
            <a:ext cx="57686" cy="57687"/>
          </a:xfrm>
          <a:custGeom>
            <a:avLst/>
            <a:gdLst/>
            <a:ahLst/>
            <a:cxnLst/>
            <a:rect l="l" t="t" r="r" b="b"/>
            <a:pathLst>
              <a:path w="57686" h="57687">
                <a:moveTo>
                  <a:pt x="0" y="57687"/>
                </a:moveTo>
                <a:lnTo>
                  <a:pt x="0" y="0"/>
                </a:lnTo>
                <a:lnTo>
                  <a:pt x="57686" y="0"/>
                </a:lnTo>
                <a:lnTo>
                  <a:pt x="57686" y="22764"/>
                </a:lnTo>
                <a:lnTo>
                  <a:pt x="48992" y="38582"/>
                </a:lnTo>
                <a:lnTo>
                  <a:pt x="3506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2" name="Illustrative delivered road transport cost class 0; reference terminal Durban"/>
          <p:cNvSpPr/>
          <p:nvPr/>
        </p:nvSpPr>
        <p:spPr>
          <a:xfrm>
            <a:off x="5319459"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3" name="Illustrative delivered road transport cost class 0; reference terminal Durban"/>
          <p:cNvSpPr/>
          <p:nvPr/>
        </p:nvSpPr>
        <p:spPr>
          <a:xfrm>
            <a:off x="5319459"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4" name="Illustrative delivered road transport cost class 0; reference terminal Durban"/>
          <p:cNvSpPr/>
          <p:nvPr/>
        </p:nvSpPr>
        <p:spPr>
          <a:xfrm>
            <a:off x="5319459"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5" name="Illustrative delivered road transport cost class 1; reference terminal Durban"/>
          <p:cNvSpPr/>
          <p:nvPr/>
        </p:nvSpPr>
        <p:spPr>
          <a:xfrm>
            <a:off x="5319459"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6" name="Illustrative delivered road transport cost class 1; reference terminal Durban"/>
          <p:cNvSpPr/>
          <p:nvPr/>
        </p:nvSpPr>
        <p:spPr>
          <a:xfrm>
            <a:off x="5319459"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7" name="Illustrative delivered road transport cost class 1; reference terminal Durban"/>
          <p:cNvSpPr/>
          <p:nvPr/>
        </p:nvSpPr>
        <p:spPr>
          <a:xfrm>
            <a:off x="5319459"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8" name="Illustrative delivered road transport cost class 1; reference terminal Durban"/>
          <p:cNvSpPr/>
          <p:nvPr/>
        </p:nvSpPr>
        <p:spPr>
          <a:xfrm>
            <a:off x="5319459" y="3544922"/>
            <a:ext cx="57686" cy="49654"/>
          </a:xfrm>
          <a:custGeom>
            <a:avLst/>
            <a:gdLst/>
            <a:ahLst/>
            <a:cxnLst/>
            <a:rect l="l" t="t" r="r" b="b"/>
            <a:pathLst>
              <a:path w="57686" h="49654">
                <a:moveTo>
                  <a:pt x="57686" y="49654"/>
                </a:moveTo>
                <a:lnTo>
                  <a:pt x="0" y="49654"/>
                </a:lnTo>
                <a:lnTo>
                  <a:pt x="0" y="0"/>
                </a:lnTo>
                <a:lnTo>
                  <a:pt x="7692" y="2558"/>
                </a:lnTo>
                <a:lnTo>
                  <a:pt x="14625" y="6723"/>
                </a:lnTo>
                <a:lnTo>
                  <a:pt x="34541" y="6379"/>
                </a:lnTo>
                <a:lnTo>
                  <a:pt x="57686" y="12580"/>
                </a:lnTo>
                <a:lnTo>
                  <a:pt x="57686" y="49654"/>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9" name="Illustrative delivered road transport cost class 1; reference terminal Lesedi"/>
          <p:cNvSpPr/>
          <p:nvPr/>
        </p:nvSpPr>
        <p:spPr>
          <a:xfrm>
            <a:off x="5319459" y="3190770"/>
            <a:ext cx="4173" cy="55440"/>
          </a:xfrm>
          <a:custGeom>
            <a:avLst/>
            <a:gdLst/>
            <a:ahLst/>
            <a:cxnLst/>
            <a:rect l="l" t="t" r="r" b="b"/>
            <a:pathLst>
              <a:path w="4173" h="55440">
                <a:moveTo>
                  <a:pt x="0" y="0"/>
                </a:moveTo>
                <a:lnTo>
                  <a:pt x="4173" y="0"/>
                </a:lnTo>
                <a:lnTo>
                  <a:pt x="2308" y="50574"/>
                </a:lnTo>
                <a:lnTo>
                  <a:pt x="0" y="55440"/>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0" name="Illustrative delivered road transport cost class 1; reference terminal Lesedi"/>
          <p:cNvSpPr/>
          <p:nvPr/>
        </p:nvSpPr>
        <p:spPr>
          <a:xfrm>
            <a:off x="5319459" y="3133083"/>
            <a:ext cx="8638" cy="57687"/>
          </a:xfrm>
          <a:custGeom>
            <a:avLst/>
            <a:gdLst/>
            <a:ahLst/>
            <a:cxnLst/>
            <a:rect l="l" t="t" r="r" b="b"/>
            <a:pathLst>
              <a:path w="8638" h="57687">
                <a:moveTo>
                  <a:pt x="0" y="57687"/>
                </a:moveTo>
                <a:lnTo>
                  <a:pt x="0" y="0"/>
                </a:lnTo>
                <a:lnTo>
                  <a:pt x="8638" y="0"/>
                </a:lnTo>
                <a:lnTo>
                  <a:pt x="7964" y="14155"/>
                </a:lnTo>
                <a:lnTo>
                  <a:pt x="4878" y="38579"/>
                </a:lnTo>
                <a:lnTo>
                  <a:pt x="4173"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1" name="Illustrative delivered road transport cost class 1; reference terminal Lesedi"/>
          <p:cNvSpPr/>
          <p:nvPr/>
        </p:nvSpPr>
        <p:spPr>
          <a:xfrm>
            <a:off x="5319459" y="3075396"/>
            <a:ext cx="11392" cy="57687"/>
          </a:xfrm>
          <a:custGeom>
            <a:avLst/>
            <a:gdLst/>
            <a:ahLst/>
            <a:cxnLst/>
            <a:rect l="l" t="t" r="r" b="b"/>
            <a:pathLst>
              <a:path w="11392" h="57687">
                <a:moveTo>
                  <a:pt x="0" y="57687"/>
                </a:moveTo>
                <a:lnTo>
                  <a:pt x="0" y="0"/>
                </a:lnTo>
                <a:lnTo>
                  <a:pt x="11392" y="0"/>
                </a:lnTo>
                <a:lnTo>
                  <a:pt x="10271" y="23375"/>
                </a:lnTo>
                <a:lnTo>
                  <a:pt x="8638"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2" name="Illustrative delivered road transport cost class 1; reference terminal Lesedi"/>
          <p:cNvSpPr/>
          <p:nvPr/>
        </p:nvSpPr>
        <p:spPr>
          <a:xfrm>
            <a:off x="5319459" y="3017710"/>
            <a:ext cx="14156" cy="57686"/>
          </a:xfrm>
          <a:custGeom>
            <a:avLst/>
            <a:gdLst/>
            <a:ahLst/>
            <a:cxnLst/>
            <a:rect l="l" t="t" r="r" b="b"/>
            <a:pathLst>
              <a:path w="14156" h="57686">
                <a:moveTo>
                  <a:pt x="0" y="57686"/>
                </a:moveTo>
                <a:lnTo>
                  <a:pt x="0" y="0"/>
                </a:lnTo>
                <a:lnTo>
                  <a:pt x="14156" y="0"/>
                </a:lnTo>
                <a:lnTo>
                  <a:pt x="13087" y="22344"/>
                </a:lnTo>
                <a:lnTo>
                  <a:pt x="11392"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3" name="Illustrative delivered road transport cost class 1; reference terminal Lesedi"/>
          <p:cNvSpPr/>
          <p:nvPr/>
        </p:nvSpPr>
        <p:spPr>
          <a:xfrm>
            <a:off x="5319459" y="2960023"/>
            <a:ext cx="17427" cy="57687"/>
          </a:xfrm>
          <a:custGeom>
            <a:avLst/>
            <a:gdLst/>
            <a:ahLst/>
            <a:cxnLst/>
            <a:rect l="l" t="t" r="r" b="b"/>
            <a:pathLst>
              <a:path w="17427" h="57687">
                <a:moveTo>
                  <a:pt x="0" y="57687"/>
                </a:moveTo>
                <a:lnTo>
                  <a:pt x="0" y="0"/>
                </a:lnTo>
                <a:lnTo>
                  <a:pt x="17427" y="0"/>
                </a:lnTo>
                <a:lnTo>
                  <a:pt x="15603" y="27458"/>
                </a:lnTo>
                <a:lnTo>
                  <a:pt x="1415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4" name="Illustrative delivered road transport cost class None; reference terminal None"/>
          <p:cNvSpPr/>
          <p:nvPr/>
        </p:nvSpPr>
        <p:spPr>
          <a:xfrm>
            <a:off x="5319459" y="2902337"/>
            <a:ext cx="18614" cy="57686"/>
          </a:xfrm>
          <a:custGeom>
            <a:avLst/>
            <a:gdLst/>
            <a:ahLst/>
            <a:cxnLst/>
            <a:rect l="l" t="t" r="r" b="b"/>
            <a:pathLst>
              <a:path w="18614" h="57686">
                <a:moveTo>
                  <a:pt x="0" y="57686"/>
                </a:moveTo>
                <a:lnTo>
                  <a:pt x="0" y="0"/>
                </a:lnTo>
                <a:lnTo>
                  <a:pt x="9987" y="0"/>
                </a:lnTo>
                <a:lnTo>
                  <a:pt x="12128" y="6045"/>
                </a:lnTo>
                <a:lnTo>
                  <a:pt x="15252" y="18054"/>
                </a:lnTo>
                <a:lnTo>
                  <a:pt x="18614" y="39809"/>
                </a:lnTo>
                <a:lnTo>
                  <a:pt x="1742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5" name="Illustrative delivered road transport cost class None; reference terminal None"/>
          <p:cNvSpPr/>
          <p:nvPr/>
        </p:nvSpPr>
        <p:spPr>
          <a:xfrm>
            <a:off x="5319459" y="2864635"/>
            <a:ext cx="9987" cy="37702"/>
          </a:xfrm>
          <a:custGeom>
            <a:avLst/>
            <a:gdLst/>
            <a:ahLst/>
            <a:cxnLst/>
            <a:rect l="l" t="t" r="r" b="b"/>
            <a:pathLst>
              <a:path w="9987" h="37702">
                <a:moveTo>
                  <a:pt x="0" y="37702"/>
                </a:moveTo>
                <a:lnTo>
                  <a:pt x="0" y="0"/>
                </a:lnTo>
                <a:lnTo>
                  <a:pt x="3424" y="19169"/>
                </a:lnTo>
                <a:lnTo>
                  <a:pt x="9987" y="37702"/>
                </a:lnTo>
                <a:lnTo>
                  <a:pt x="0" y="3770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6" name="Illustrative delivered road transport cost class 0; reference terminal Durban"/>
          <p:cNvSpPr/>
          <p:nvPr/>
        </p:nvSpPr>
        <p:spPr>
          <a:xfrm>
            <a:off x="5377145" y="3940695"/>
            <a:ext cx="12511" cy="22764"/>
          </a:xfrm>
          <a:custGeom>
            <a:avLst/>
            <a:gdLst/>
            <a:ahLst/>
            <a:cxnLst/>
            <a:rect l="l" t="t" r="r" b="b"/>
            <a:pathLst>
              <a:path w="12511" h="22764">
                <a:moveTo>
                  <a:pt x="0" y="0"/>
                </a:moveTo>
                <a:lnTo>
                  <a:pt x="12511" y="0"/>
                </a:lnTo>
                <a:lnTo>
                  <a:pt x="0" y="22764"/>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7" name="Illustrative delivered road transport cost class 0; reference terminal Durban"/>
          <p:cNvSpPr/>
          <p:nvPr/>
        </p:nvSpPr>
        <p:spPr>
          <a:xfrm>
            <a:off x="5377145" y="3883008"/>
            <a:ext cx="37524" cy="57687"/>
          </a:xfrm>
          <a:custGeom>
            <a:avLst/>
            <a:gdLst/>
            <a:ahLst/>
            <a:cxnLst/>
            <a:rect l="l" t="t" r="r" b="b"/>
            <a:pathLst>
              <a:path w="37524" h="57687">
                <a:moveTo>
                  <a:pt x="0" y="57687"/>
                </a:moveTo>
                <a:lnTo>
                  <a:pt x="0" y="0"/>
                </a:lnTo>
                <a:lnTo>
                  <a:pt x="37524" y="0"/>
                </a:lnTo>
                <a:lnTo>
                  <a:pt x="32013" y="22204"/>
                </a:lnTo>
                <a:lnTo>
                  <a:pt x="12511"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8" name="Illustrative delivered road transport cost class 0; reference terminal Durban"/>
          <p:cNvSpPr/>
          <p:nvPr/>
        </p:nvSpPr>
        <p:spPr>
          <a:xfrm>
            <a:off x="5377145" y="3825322"/>
            <a:ext cx="51840" cy="57686"/>
          </a:xfrm>
          <a:custGeom>
            <a:avLst/>
            <a:gdLst/>
            <a:ahLst/>
            <a:cxnLst/>
            <a:rect l="l" t="t" r="r" b="b"/>
            <a:pathLst>
              <a:path w="51840" h="57686">
                <a:moveTo>
                  <a:pt x="0" y="57686"/>
                </a:moveTo>
                <a:lnTo>
                  <a:pt x="0" y="0"/>
                </a:lnTo>
                <a:lnTo>
                  <a:pt x="51840" y="0"/>
                </a:lnTo>
                <a:lnTo>
                  <a:pt x="37524"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9" name="Illustrative delivered road transport cost class 1; reference terminal Durban"/>
          <p:cNvSpPr/>
          <p:nvPr/>
        </p:nvSpPr>
        <p:spPr>
          <a:xfrm>
            <a:off x="5377145" y="3767635"/>
            <a:ext cx="57687" cy="57687"/>
          </a:xfrm>
          <a:custGeom>
            <a:avLst/>
            <a:gdLst/>
            <a:ahLst/>
            <a:cxnLst/>
            <a:rect l="l" t="t" r="r" b="b"/>
            <a:pathLst>
              <a:path w="57687" h="57687">
                <a:moveTo>
                  <a:pt x="0" y="57687"/>
                </a:moveTo>
                <a:lnTo>
                  <a:pt x="0" y="0"/>
                </a:lnTo>
                <a:lnTo>
                  <a:pt x="57687" y="0"/>
                </a:lnTo>
                <a:lnTo>
                  <a:pt x="57687" y="34128"/>
                </a:lnTo>
                <a:lnTo>
                  <a:pt x="51840"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0" name="Illustrative delivered road transport cost class 1; reference terminal Durban"/>
          <p:cNvSpPr/>
          <p:nvPr/>
        </p:nvSpPr>
        <p:spPr>
          <a:xfrm>
            <a:off x="5377145"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1" name="Illustrative delivered road transport cost class 1; reference terminal Durban"/>
          <p:cNvSpPr/>
          <p:nvPr/>
        </p:nvSpPr>
        <p:spPr>
          <a:xfrm>
            <a:off x="5377145"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2" name="Illustrative delivered road transport cost class 1; reference terminal Durban"/>
          <p:cNvSpPr/>
          <p:nvPr/>
        </p:nvSpPr>
        <p:spPr>
          <a:xfrm>
            <a:off x="5377145"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3" name="Illustrative delivered road transport cost class 1; reference terminal Durban"/>
          <p:cNvSpPr/>
          <p:nvPr/>
        </p:nvSpPr>
        <p:spPr>
          <a:xfrm>
            <a:off x="5377145" y="3557502"/>
            <a:ext cx="57687" cy="37074"/>
          </a:xfrm>
          <a:custGeom>
            <a:avLst/>
            <a:gdLst/>
            <a:ahLst/>
            <a:cxnLst/>
            <a:rect l="l" t="t" r="r" b="b"/>
            <a:pathLst>
              <a:path w="57687" h="37074">
                <a:moveTo>
                  <a:pt x="57687" y="37074"/>
                </a:moveTo>
                <a:lnTo>
                  <a:pt x="0" y="37074"/>
                </a:lnTo>
                <a:lnTo>
                  <a:pt x="0" y="0"/>
                </a:lnTo>
                <a:lnTo>
                  <a:pt x="11619" y="3113"/>
                </a:lnTo>
                <a:lnTo>
                  <a:pt x="40056" y="4064"/>
                </a:lnTo>
                <a:lnTo>
                  <a:pt x="57687" y="4681"/>
                </a:lnTo>
                <a:lnTo>
                  <a:pt x="57687" y="37074"/>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4" name="Illustrative delivered road transport cost class 1; reference terminal Durban"/>
          <p:cNvSpPr/>
          <p:nvPr/>
        </p:nvSpPr>
        <p:spPr>
          <a:xfrm>
            <a:off x="5434832" y="3767635"/>
            <a:ext cx="8469" cy="34128"/>
          </a:xfrm>
          <a:custGeom>
            <a:avLst/>
            <a:gdLst/>
            <a:ahLst/>
            <a:cxnLst/>
            <a:rect l="l" t="t" r="r" b="b"/>
            <a:pathLst>
              <a:path w="8469" h="34128">
                <a:moveTo>
                  <a:pt x="0" y="0"/>
                </a:moveTo>
                <a:lnTo>
                  <a:pt x="8469" y="0"/>
                </a:lnTo>
                <a:lnTo>
                  <a:pt x="0" y="34128"/>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5" name="Illustrative delivered road transport cost class 1; reference terminal Durban"/>
          <p:cNvSpPr/>
          <p:nvPr/>
        </p:nvSpPr>
        <p:spPr>
          <a:xfrm>
            <a:off x="5434832" y="3709949"/>
            <a:ext cx="26895" cy="57686"/>
          </a:xfrm>
          <a:custGeom>
            <a:avLst/>
            <a:gdLst/>
            <a:ahLst/>
            <a:cxnLst/>
            <a:rect l="l" t="t" r="r" b="b"/>
            <a:pathLst>
              <a:path w="26895" h="57686">
                <a:moveTo>
                  <a:pt x="0" y="57686"/>
                </a:moveTo>
                <a:lnTo>
                  <a:pt x="0" y="0"/>
                </a:lnTo>
                <a:lnTo>
                  <a:pt x="26895" y="0"/>
                </a:lnTo>
                <a:lnTo>
                  <a:pt x="25214" y="3946"/>
                </a:lnTo>
                <a:lnTo>
                  <a:pt x="11470" y="45595"/>
                </a:lnTo>
                <a:lnTo>
                  <a:pt x="8469"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6" name="Illustrative delivered road transport cost class 1; reference terminal Durban"/>
          <p:cNvSpPr/>
          <p:nvPr/>
        </p:nvSpPr>
        <p:spPr>
          <a:xfrm>
            <a:off x="5434832" y="3652262"/>
            <a:ext cx="51458" cy="57687"/>
          </a:xfrm>
          <a:custGeom>
            <a:avLst/>
            <a:gdLst/>
            <a:ahLst/>
            <a:cxnLst/>
            <a:rect l="l" t="t" r="r" b="b"/>
            <a:pathLst>
              <a:path w="51458" h="57687">
                <a:moveTo>
                  <a:pt x="0" y="57687"/>
                </a:moveTo>
                <a:lnTo>
                  <a:pt x="0" y="0"/>
                </a:lnTo>
                <a:lnTo>
                  <a:pt x="51458" y="0"/>
                </a:lnTo>
                <a:lnTo>
                  <a:pt x="26895"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7" name="Illustrative delivered road transport cost class 1; reference terminal Durban"/>
          <p:cNvSpPr/>
          <p:nvPr/>
        </p:nvSpPr>
        <p:spPr>
          <a:xfrm>
            <a:off x="5434832" y="3594576"/>
            <a:ext cx="57686" cy="57686"/>
          </a:xfrm>
          <a:custGeom>
            <a:avLst/>
            <a:gdLst/>
            <a:ahLst/>
            <a:cxnLst/>
            <a:rect l="l" t="t" r="r" b="b"/>
            <a:pathLst>
              <a:path w="57686" h="57686">
                <a:moveTo>
                  <a:pt x="0" y="57686"/>
                </a:moveTo>
                <a:lnTo>
                  <a:pt x="0" y="0"/>
                </a:lnTo>
                <a:lnTo>
                  <a:pt x="57686" y="0"/>
                </a:lnTo>
                <a:lnTo>
                  <a:pt x="57686" y="43059"/>
                </a:lnTo>
                <a:lnTo>
                  <a:pt x="51458"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8" name="Illustrative delivered road transport cost class 1; reference terminal Durban"/>
          <p:cNvSpPr/>
          <p:nvPr/>
        </p:nvSpPr>
        <p:spPr>
          <a:xfrm>
            <a:off x="5434832" y="3562183"/>
            <a:ext cx="57686" cy="32393"/>
          </a:xfrm>
          <a:custGeom>
            <a:avLst/>
            <a:gdLst/>
            <a:ahLst/>
            <a:cxnLst/>
            <a:rect l="l" t="t" r="r" b="b"/>
            <a:pathLst>
              <a:path w="57686" h="32393">
                <a:moveTo>
                  <a:pt x="57686" y="32393"/>
                </a:moveTo>
                <a:lnTo>
                  <a:pt x="0" y="32393"/>
                </a:lnTo>
                <a:lnTo>
                  <a:pt x="0" y="0"/>
                </a:lnTo>
                <a:lnTo>
                  <a:pt x="7786" y="273"/>
                </a:lnTo>
                <a:lnTo>
                  <a:pt x="50772" y="1789"/>
                </a:lnTo>
                <a:lnTo>
                  <a:pt x="57686" y="2122"/>
                </a:lnTo>
                <a:lnTo>
                  <a:pt x="57686" y="32393"/>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9" name="Illustrative delivered road transport cost class 1; reference terminal Durban"/>
          <p:cNvSpPr/>
          <p:nvPr/>
        </p:nvSpPr>
        <p:spPr>
          <a:xfrm>
            <a:off x="5492518" y="3594576"/>
            <a:ext cx="12020" cy="43059"/>
          </a:xfrm>
          <a:custGeom>
            <a:avLst/>
            <a:gdLst/>
            <a:ahLst/>
            <a:cxnLst/>
            <a:rect l="l" t="t" r="r" b="b"/>
            <a:pathLst>
              <a:path w="12020" h="43059">
                <a:moveTo>
                  <a:pt x="0" y="0"/>
                </a:moveTo>
                <a:lnTo>
                  <a:pt x="12020" y="0"/>
                </a:lnTo>
                <a:lnTo>
                  <a:pt x="5964" y="29053"/>
                </a:lnTo>
                <a:lnTo>
                  <a:pt x="0" y="43059"/>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20" name="Illustrative delivered road transport cost class None; reference terminal None"/>
          <p:cNvSpPr/>
          <p:nvPr/>
        </p:nvSpPr>
        <p:spPr>
          <a:xfrm>
            <a:off x="5492518" y="3564305"/>
            <a:ext cx="18147" cy="30271"/>
          </a:xfrm>
          <a:custGeom>
            <a:avLst/>
            <a:gdLst/>
            <a:ahLst/>
            <a:cxnLst/>
            <a:rect l="l" t="t" r="r" b="b"/>
            <a:pathLst>
              <a:path w="18147" h="30271">
                <a:moveTo>
                  <a:pt x="0" y="30271"/>
                </a:moveTo>
                <a:lnTo>
                  <a:pt x="0" y="0"/>
                </a:lnTo>
                <a:lnTo>
                  <a:pt x="18147" y="872"/>
                </a:lnTo>
                <a:lnTo>
                  <a:pt x="12020" y="30271"/>
                </a:lnTo>
                <a:lnTo>
                  <a:pt x="0" y="30271"/>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02" name="Connector 401"/>
          <p:cNvCxnSpPr/>
          <p:nvPr/>
        </p:nvCxnSpPr>
        <p:spPr>
          <a:xfrm flipV="1">
            <a:off x="2302196" y="5274153"/>
            <a:ext cx="213860" cy="7800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3" name="Connector 402"/>
          <p:cNvCxnSpPr/>
          <p:nvPr/>
        </p:nvCxnSpPr>
        <p:spPr>
          <a:xfrm flipV="1">
            <a:off x="2516056" y="4918400"/>
            <a:ext cx="662353" cy="35575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4" name="Connector 403"/>
          <p:cNvCxnSpPr/>
          <p:nvPr/>
        </p:nvCxnSpPr>
        <p:spPr>
          <a:xfrm flipV="1">
            <a:off x="3178409" y="4496001"/>
            <a:ext cx="547930" cy="42239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5" name="Connector 404"/>
          <p:cNvCxnSpPr/>
          <p:nvPr/>
        </p:nvCxnSpPr>
        <p:spPr>
          <a:xfrm flipV="1">
            <a:off x="3726339" y="4088144"/>
            <a:ext cx="249625" cy="40785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6" name="Connector 405"/>
          <p:cNvCxnSpPr/>
          <p:nvPr/>
        </p:nvCxnSpPr>
        <p:spPr>
          <a:xfrm flipV="1">
            <a:off x="3975964" y="3715560"/>
            <a:ext cx="236002" cy="37258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7" name="Connector 406"/>
          <p:cNvCxnSpPr/>
          <p:nvPr/>
        </p:nvCxnSpPr>
        <p:spPr>
          <a:xfrm flipV="1">
            <a:off x="4211966" y="3349004"/>
            <a:ext cx="195717" cy="36655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8" name="Connector 407"/>
          <p:cNvCxnSpPr/>
          <p:nvPr/>
        </p:nvCxnSpPr>
        <p:spPr>
          <a:xfrm flipV="1">
            <a:off x="4407683" y="3234833"/>
            <a:ext cx="35153" cy="11417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9" name="Connector 408"/>
          <p:cNvCxnSpPr/>
          <p:nvPr/>
        </p:nvCxnSpPr>
        <p:spPr>
          <a:xfrm flipV="1">
            <a:off x="4442836" y="2771412"/>
            <a:ext cx="307542" cy="46342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0" name="Connector 409"/>
          <p:cNvCxnSpPr/>
          <p:nvPr/>
        </p:nvCxnSpPr>
        <p:spPr>
          <a:xfrm flipV="1">
            <a:off x="4750378" y="2350020"/>
            <a:ext cx="142270" cy="42139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1" name="Connector 410"/>
          <p:cNvCxnSpPr/>
          <p:nvPr/>
        </p:nvCxnSpPr>
        <p:spPr>
          <a:xfrm>
            <a:off x="2302196" y="5352156"/>
            <a:ext cx="427623" cy="986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2" name="Connector 411"/>
          <p:cNvCxnSpPr/>
          <p:nvPr/>
        </p:nvCxnSpPr>
        <p:spPr>
          <a:xfrm>
            <a:off x="2729819" y="5362017"/>
            <a:ext cx="365466" cy="2648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3" name="Connector 412"/>
          <p:cNvCxnSpPr/>
          <p:nvPr/>
        </p:nvCxnSpPr>
        <p:spPr>
          <a:xfrm flipV="1">
            <a:off x="3095285" y="5330646"/>
            <a:ext cx="66761" cy="5785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4" name="Connector 413"/>
          <p:cNvCxnSpPr/>
          <p:nvPr/>
        </p:nvCxnSpPr>
        <p:spPr>
          <a:xfrm>
            <a:off x="3162046" y="5330646"/>
            <a:ext cx="194573" cy="1946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5" name="Connector 414"/>
          <p:cNvCxnSpPr/>
          <p:nvPr/>
        </p:nvCxnSpPr>
        <p:spPr>
          <a:xfrm flipV="1">
            <a:off x="3356619" y="5324992"/>
            <a:ext cx="482114" cy="2512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6" name="Connector 415"/>
          <p:cNvCxnSpPr/>
          <p:nvPr/>
        </p:nvCxnSpPr>
        <p:spPr>
          <a:xfrm flipV="1">
            <a:off x="3838733" y="5233353"/>
            <a:ext cx="270649" cy="9163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7" name="Connector 416"/>
          <p:cNvCxnSpPr/>
          <p:nvPr/>
        </p:nvCxnSpPr>
        <p:spPr>
          <a:xfrm flipV="1">
            <a:off x="4109382" y="5094743"/>
            <a:ext cx="222461" cy="13861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8" name="Connector 417"/>
          <p:cNvCxnSpPr/>
          <p:nvPr/>
        </p:nvCxnSpPr>
        <p:spPr>
          <a:xfrm flipV="1">
            <a:off x="4331843" y="4731963"/>
            <a:ext cx="200210" cy="36278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9" name="Connector 418"/>
          <p:cNvCxnSpPr/>
          <p:nvPr/>
        </p:nvCxnSpPr>
        <p:spPr>
          <a:xfrm flipV="1">
            <a:off x="4532053" y="4470941"/>
            <a:ext cx="150466" cy="2610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0" name="Connector 419"/>
          <p:cNvCxnSpPr/>
          <p:nvPr/>
        </p:nvCxnSpPr>
        <p:spPr>
          <a:xfrm>
            <a:off x="4682519" y="4470941"/>
            <a:ext cx="225376" cy="5817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1" name="Connector 420"/>
          <p:cNvCxnSpPr/>
          <p:nvPr/>
        </p:nvCxnSpPr>
        <p:spPr>
          <a:xfrm flipV="1">
            <a:off x="4907895" y="4315496"/>
            <a:ext cx="139454" cy="2136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2" name="Connector 421"/>
          <p:cNvCxnSpPr/>
          <p:nvPr/>
        </p:nvCxnSpPr>
        <p:spPr>
          <a:xfrm flipV="1">
            <a:off x="5047349" y="4037215"/>
            <a:ext cx="210381" cy="27828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3" name="Connector 422"/>
          <p:cNvCxnSpPr/>
          <p:nvPr/>
        </p:nvCxnSpPr>
        <p:spPr>
          <a:xfrm flipV="1">
            <a:off x="5257730" y="3712239"/>
            <a:ext cx="57336" cy="32497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4" name="Connector 423"/>
          <p:cNvCxnSpPr/>
          <p:nvPr/>
        </p:nvCxnSpPr>
        <p:spPr>
          <a:xfrm flipH="1" flipV="1">
            <a:off x="5072949" y="3578600"/>
            <a:ext cx="242117" cy="13363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5" name="Connector 424"/>
          <p:cNvCxnSpPr/>
          <p:nvPr/>
        </p:nvCxnSpPr>
        <p:spPr>
          <a:xfrm flipH="1" flipV="1">
            <a:off x="4849118" y="3448062"/>
            <a:ext cx="223831" cy="13053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6" name="Connector 425"/>
          <p:cNvCxnSpPr/>
          <p:nvPr/>
        </p:nvCxnSpPr>
        <p:spPr>
          <a:xfrm>
            <a:off x="4407683" y="3349004"/>
            <a:ext cx="69426" cy="7856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7" name="Connector 426"/>
          <p:cNvCxnSpPr/>
          <p:nvPr/>
        </p:nvCxnSpPr>
        <p:spPr>
          <a:xfrm>
            <a:off x="4477109" y="3427567"/>
            <a:ext cx="162780" cy="22763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8" name="Connector 427"/>
          <p:cNvCxnSpPr/>
          <p:nvPr/>
        </p:nvCxnSpPr>
        <p:spPr>
          <a:xfrm flipH="1">
            <a:off x="4638838" y="3655201"/>
            <a:ext cx="1051" cy="23289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9" name="Connector 428"/>
          <p:cNvCxnSpPr/>
          <p:nvPr/>
        </p:nvCxnSpPr>
        <p:spPr>
          <a:xfrm>
            <a:off x="4638838" y="3888100"/>
            <a:ext cx="137515" cy="24073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0" name="Connector 429"/>
          <p:cNvCxnSpPr/>
          <p:nvPr/>
        </p:nvCxnSpPr>
        <p:spPr>
          <a:xfrm>
            <a:off x="4776353" y="4128835"/>
            <a:ext cx="131953" cy="10815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1" name="Connector 430"/>
          <p:cNvCxnSpPr/>
          <p:nvPr/>
        </p:nvCxnSpPr>
        <p:spPr>
          <a:xfrm>
            <a:off x="4908306" y="4236989"/>
            <a:ext cx="139043" cy="7850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2" name="Connector 431"/>
          <p:cNvCxnSpPr/>
          <p:nvPr/>
        </p:nvCxnSpPr>
        <p:spPr>
          <a:xfrm>
            <a:off x="3869319" y="3105553"/>
            <a:ext cx="353970" cy="10393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3" name="Connector 432"/>
          <p:cNvCxnSpPr/>
          <p:nvPr/>
        </p:nvCxnSpPr>
        <p:spPr>
          <a:xfrm>
            <a:off x="4223289" y="3209491"/>
            <a:ext cx="219547" cy="2534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4" name="Connector 433"/>
          <p:cNvCxnSpPr/>
          <p:nvPr/>
        </p:nvCxnSpPr>
        <p:spPr>
          <a:xfrm>
            <a:off x="4442836" y="3234833"/>
            <a:ext cx="239629" cy="3799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5" name="Connector 434"/>
          <p:cNvCxnSpPr/>
          <p:nvPr/>
        </p:nvCxnSpPr>
        <p:spPr>
          <a:xfrm flipV="1">
            <a:off x="4682465" y="3187480"/>
            <a:ext cx="406634" cy="8534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6" name="Connector 435"/>
          <p:cNvCxnSpPr/>
          <p:nvPr/>
        </p:nvCxnSpPr>
        <p:spPr>
          <a:xfrm>
            <a:off x="5089099" y="3187480"/>
            <a:ext cx="234267" cy="476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7" name="Connector 436"/>
          <p:cNvCxnSpPr/>
          <p:nvPr/>
        </p:nvCxnSpPr>
        <p:spPr>
          <a:xfrm>
            <a:off x="3975964" y="4088144"/>
            <a:ext cx="106233" cy="41060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8" name="Connector 437"/>
          <p:cNvCxnSpPr/>
          <p:nvPr/>
        </p:nvCxnSpPr>
        <p:spPr>
          <a:xfrm>
            <a:off x="4082197" y="4498749"/>
            <a:ext cx="32515" cy="30238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9" name="Connector 438"/>
          <p:cNvCxnSpPr/>
          <p:nvPr/>
        </p:nvCxnSpPr>
        <p:spPr>
          <a:xfrm>
            <a:off x="4114712" y="4801131"/>
            <a:ext cx="114104" cy="17353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0" name="Connector 439"/>
          <p:cNvCxnSpPr/>
          <p:nvPr/>
        </p:nvCxnSpPr>
        <p:spPr>
          <a:xfrm>
            <a:off x="4228816" y="4974662"/>
            <a:ext cx="103027" cy="12008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1" name="Connector 440"/>
          <p:cNvCxnSpPr/>
          <p:nvPr/>
        </p:nvCxnSpPr>
        <p:spPr>
          <a:xfrm flipV="1">
            <a:off x="2302196" y="5233904"/>
            <a:ext cx="50706" cy="11825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2" name="Connector 441"/>
          <p:cNvCxnSpPr/>
          <p:nvPr/>
        </p:nvCxnSpPr>
        <p:spPr>
          <a:xfrm flipV="1">
            <a:off x="2352902" y="5008399"/>
            <a:ext cx="45400" cy="22550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3" name="Connector 442"/>
          <p:cNvCxnSpPr/>
          <p:nvPr/>
        </p:nvCxnSpPr>
        <p:spPr>
          <a:xfrm flipH="1" flipV="1">
            <a:off x="2334347" y="4760509"/>
            <a:ext cx="63955" cy="24789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4" name="Connector 443"/>
          <p:cNvCxnSpPr/>
          <p:nvPr/>
        </p:nvCxnSpPr>
        <p:spPr>
          <a:xfrm flipH="1" flipV="1">
            <a:off x="2115541" y="4275351"/>
            <a:ext cx="218806" cy="48515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5" name="Connector 444"/>
          <p:cNvCxnSpPr/>
          <p:nvPr/>
        </p:nvCxnSpPr>
        <p:spPr>
          <a:xfrm flipH="1" flipV="1">
            <a:off x="2043233" y="4048820"/>
            <a:ext cx="72308" cy="22653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6" name="Connector 445"/>
          <p:cNvCxnSpPr/>
          <p:nvPr/>
        </p:nvCxnSpPr>
        <p:spPr>
          <a:xfrm flipH="1" flipV="1">
            <a:off x="3829963" y="4972041"/>
            <a:ext cx="6994" cy="29157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7" name="Connector 446"/>
          <p:cNvCxnSpPr/>
          <p:nvPr/>
        </p:nvCxnSpPr>
        <p:spPr>
          <a:xfrm flipH="1" flipV="1">
            <a:off x="3706428" y="4692941"/>
            <a:ext cx="123535" cy="27910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8" name="Connector 447"/>
          <p:cNvCxnSpPr/>
          <p:nvPr/>
        </p:nvCxnSpPr>
        <p:spPr>
          <a:xfrm flipH="1" flipV="1">
            <a:off x="3499481" y="4322862"/>
            <a:ext cx="206947" cy="37007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9" name="Connector 448"/>
          <p:cNvCxnSpPr/>
          <p:nvPr/>
        </p:nvCxnSpPr>
        <p:spPr>
          <a:xfrm flipH="1" flipV="1">
            <a:off x="3201641" y="4229654"/>
            <a:ext cx="297840" cy="9320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0" name="Connector 449"/>
          <p:cNvCxnSpPr/>
          <p:nvPr/>
        </p:nvCxnSpPr>
        <p:spPr>
          <a:xfrm flipH="1" flipV="1">
            <a:off x="2629017" y="3939432"/>
            <a:ext cx="572624" cy="2902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1" name="Connector 450"/>
          <p:cNvCxnSpPr/>
          <p:nvPr/>
        </p:nvCxnSpPr>
        <p:spPr>
          <a:xfrm flipH="1" flipV="1">
            <a:off x="2542382" y="3251660"/>
            <a:ext cx="86635" cy="68777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2" name="Connector 451"/>
          <p:cNvCxnSpPr/>
          <p:nvPr/>
        </p:nvCxnSpPr>
        <p:spPr>
          <a:xfrm flipH="1" flipV="1">
            <a:off x="3104075" y="5237344"/>
            <a:ext cx="57971" cy="9330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3" name="Connector 452"/>
          <p:cNvCxnSpPr/>
          <p:nvPr/>
        </p:nvCxnSpPr>
        <p:spPr>
          <a:xfrm flipV="1">
            <a:off x="3104075" y="4918400"/>
            <a:ext cx="74334" cy="31894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4" name="Connector 453"/>
          <p:cNvCxnSpPr/>
          <p:nvPr/>
        </p:nvCxnSpPr>
        <p:spPr>
          <a:xfrm flipV="1">
            <a:off x="3178409" y="4806141"/>
            <a:ext cx="121983" cy="11225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5" name="Connector 454"/>
          <p:cNvCxnSpPr/>
          <p:nvPr/>
        </p:nvCxnSpPr>
        <p:spPr>
          <a:xfrm flipV="1">
            <a:off x="3300392" y="4322862"/>
            <a:ext cx="199089" cy="48327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6" name="Connector 455"/>
          <p:cNvCxnSpPr/>
          <p:nvPr/>
        </p:nvCxnSpPr>
        <p:spPr>
          <a:xfrm flipV="1">
            <a:off x="3499481" y="3987067"/>
            <a:ext cx="152908" cy="33579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7" name="Connector 456"/>
          <p:cNvCxnSpPr/>
          <p:nvPr/>
        </p:nvCxnSpPr>
        <p:spPr>
          <a:xfrm flipV="1">
            <a:off x="3652389" y="3711186"/>
            <a:ext cx="188468" cy="27588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8" name="Connector 457"/>
          <p:cNvCxnSpPr/>
          <p:nvPr/>
        </p:nvCxnSpPr>
        <p:spPr>
          <a:xfrm flipV="1">
            <a:off x="3840857" y="3511519"/>
            <a:ext cx="246356" cy="19966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9" name="Connector 458"/>
          <p:cNvCxnSpPr/>
          <p:nvPr/>
        </p:nvCxnSpPr>
        <p:spPr>
          <a:xfrm flipV="1">
            <a:off x="4087213" y="3474714"/>
            <a:ext cx="99239" cy="3680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0" name="Connector 459"/>
          <p:cNvCxnSpPr/>
          <p:nvPr/>
        </p:nvCxnSpPr>
        <p:spPr>
          <a:xfrm flipV="1">
            <a:off x="4186452" y="3349004"/>
            <a:ext cx="221231" cy="12571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1" name="Connector 460"/>
          <p:cNvCxnSpPr/>
          <p:nvPr/>
        </p:nvCxnSpPr>
        <p:spPr>
          <a:xfrm flipV="1">
            <a:off x="4407683" y="3272828"/>
            <a:ext cx="274782" cy="7617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2" name="Connector 461"/>
          <p:cNvCxnSpPr/>
          <p:nvPr/>
        </p:nvCxnSpPr>
        <p:spPr>
          <a:xfrm flipV="1">
            <a:off x="2115541" y="4119096"/>
            <a:ext cx="329795" cy="15625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3" name="Connector 462"/>
          <p:cNvCxnSpPr/>
          <p:nvPr/>
        </p:nvCxnSpPr>
        <p:spPr>
          <a:xfrm flipV="1">
            <a:off x="2445336" y="3939432"/>
            <a:ext cx="183681" cy="17966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4" name="Connector 463"/>
          <p:cNvCxnSpPr/>
          <p:nvPr/>
        </p:nvCxnSpPr>
        <p:spPr>
          <a:xfrm flipV="1">
            <a:off x="2629017" y="3664603"/>
            <a:ext cx="717115" cy="27482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5" name="Connector 464"/>
          <p:cNvCxnSpPr/>
          <p:nvPr/>
        </p:nvCxnSpPr>
        <p:spPr>
          <a:xfrm flipV="1">
            <a:off x="3346132" y="3534505"/>
            <a:ext cx="296236" cy="13009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6" name="Connector 465"/>
          <p:cNvCxnSpPr/>
          <p:nvPr/>
        </p:nvCxnSpPr>
        <p:spPr>
          <a:xfrm flipV="1">
            <a:off x="3642368" y="3376077"/>
            <a:ext cx="448951" cy="15842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7" name="Connector 466"/>
          <p:cNvCxnSpPr/>
          <p:nvPr/>
        </p:nvCxnSpPr>
        <p:spPr>
          <a:xfrm flipV="1">
            <a:off x="4091319" y="3321952"/>
            <a:ext cx="254672" cy="5412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8" name="Connector 467"/>
          <p:cNvCxnSpPr/>
          <p:nvPr/>
        </p:nvCxnSpPr>
        <p:spPr>
          <a:xfrm flipV="1">
            <a:off x="4345991" y="3262943"/>
            <a:ext cx="96145" cy="5900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9" name="Connector 468"/>
          <p:cNvCxnSpPr/>
          <p:nvPr/>
        </p:nvCxnSpPr>
        <p:spPr>
          <a:xfrm>
            <a:off x="4407683" y="3349004"/>
            <a:ext cx="89560" cy="1518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0" name="Connector 469"/>
          <p:cNvCxnSpPr/>
          <p:nvPr/>
        </p:nvCxnSpPr>
        <p:spPr>
          <a:xfrm>
            <a:off x="4497243" y="3364186"/>
            <a:ext cx="150223" cy="6095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1" name="Connector 470"/>
          <p:cNvCxnSpPr/>
          <p:nvPr/>
        </p:nvCxnSpPr>
        <p:spPr>
          <a:xfrm>
            <a:off x="4647466" y="3425140"/>
            <a:ext cx="201652" cy="229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2" name="Connector 471"/>
          <p:cNvCxnSpPr/>
          <p:nvPr/>
        </p:nvCxnSpPr>
        <p:spPr>
          <a:xfrm>
            <a:off x="4849118" y="3448062"/>
            <a:ext cx="188669" cy="4939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3" name="Connector 472"/>
          <p:cNvCxnSpPr/>
          <p:nvPr/>
        </p:nvCxnSpPr>
        <p:spPr>
          <a:xfrm flipV="1">
            <a:off x="3652389" y="3828488"/>
            <a:ext cx="17835" cy="15857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4" name="Connector 473"/>
          <p:cNvCxnSpPr/>
          <p:nvPr/>
        </p:nvCxnSpPr>
        <p:spPr>
          <a:xfrm flipH="1" flipV="1">
            <a:off x="3642368" y="3534505"/>
            <a:ext cx="27856" cy="29398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5" name="Connector 474"/>
          <p:cNvCxnSpPr/>
          <p:nvPr/>
        </p:nvCxnSpPr>
        <p:spPr>
          <a:xfrm flipV="1">
            <a:off x="3642368" y="3251111"/>
            <a:ext cx="209952" cy="28339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6" name="Connector 475"/>
          <p:cNvCxnSpPr/>
          <p:nvPr/>
        </p:nvCxnSpPr>
        <p:spPr>
          <a:xfrm flipH="1" flipV="1">
            <a:off x="3836768" y="3105383"/>
            <a:ext cx="15552" cy="14572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7" name="Connector 476"/>
          <p:cNvCxnSpPr/>
          <p:nvPr/>
        </p:nvCxnSpPr>
        <p:spPr>
          <a:xfrm flipH="1" flipV="1">
            <a:off x="4484419" y="3412423"/>
            <a:ext cx="562930" cy="903073"/>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78" name="Connector 477"/>
          <p:cNvCxnSpPr/>
          <p:nvPr/>
        </p:nvCxnSpPr>
        <p:spPr>
          <a:xfrm flipH="1">
            <a:off x="4358039" y="3412423"/>
            <a:ext cx="126380" cy="91377"/>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79" name="Connector 478"/>
          <p:cNvCxnSpPr/>
          <p:nvPr/>
        </p:nvCxnSpPr>
        <p:spPr>
          <a:xfrm flipH="1">
            <a:off x="4084954" y="3503800"/>
            <a:ext cx="273085" cy="5131"/>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0" name="Connector 479"/>
          <p:cNvCxnSpPr/>
          <p:nvPr/>
        </p:nvCxnSpPr>
        <p:spPr>
          <a:xfrm>
            <a:off x="4484419" y="3412423"/>
            <a:ext cx="178462" cy="33714"/>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1" name="Connector 480"/>
          <p:cNvCxnSpPr/>
          <p:nvPr/>
        </p:nvCxnSpPr>
        <p:spPr>
          <a:xfrm flipH="1" flipV="1">
            <a:off x="4623014" y="3324544"/>
            <a:ext cx="39867" cy="121593"/>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2" name="Connector 481"/>
          <p:cNvCxnSpPr/>
          <p:nvPr/>
        </p:nvCxnSpPr>
        <p:spPr>
          <a:xfrm flipH="1" flipV="1">
            <a:off x="4473187" y="3225416"/>
            <a:ext cx="149827" cy="99128"/>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3" name="Connector 482"/>
          <p:cNvCxnSpPr/>
          <p:nvPr/>
        </p:nvCxnSpPr>
        <p:spPr>
          <a:xfrm flipH="1" flipV="1">
            <a:off x="4425368" y="3380143"/>
            <a:ext cx="59051" cy="32280"/>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4" name="Connector 483"/>
          <p:cNvCxnSpPr/>
          <p:nvPr/>
        </p:nvCxnSpPr>
        <p:spPr>
          <a:xfrm flipH="1" flipV="1">
            <a:off x="4396155" y="3348716"/>
            <a:ext cx="29213" cy="31427"/>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5" name="Connector 484"/>
          <p:cNvCxnSpPr/>
          <p:nvPr/>
        </p:nvCxnSpPr>
        <p:spPr>
          <a:xfrm>
            <a:off x="4407683" y="3349004"/>
            <a:ext cx="639666" cy="966492"/>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6" name="Connector 485"/>
          <p:cNvCxnSpPr/>
          <p:nvPr/>
        </p:nvCxnSpPr>
        <p:spPr>
          <a:xfrm flipH="1">
            <a:off x="3652389" y="3349004"/>
            <a:ext cx="755294" cy="638063"/>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7" name="Connector 486"/>
          <p:cNvCxnSpPr/>
          <p:nvPr/>
        </p:nvCxnSpPr>
        <p:spPr>
          <a:xfrm flipH="1">
            <a:off x="3485249" y="3987067"/>
            <a:ext cx="167140" cy="491944"/>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8" name="Connector 487"/>
          <p:cNvCxnSpPr/>
          <p:nvPr/>
        </p:nvCxnSpPr>
        <p:spPr>
          <a:xfrm flipH="1">
            <a:off x="2302196" y="4479011"/>
            <a:ext cx="1183053" cy="873145"/>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9" name="Connector 488"/>
          <p:cNvCxnSpPr/>
          <p:nvPr/>
        </p:nvCxnSpPr>
        <p:spPr>
          <a:xfrm flipH="1">
            <a:off x="3975964" y="3349004"/>
            <a:ext cx="431719" cy="739140"/>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0" name="Connector 489"/>
          <p:cNvCxnSpPr/>
          <p:nvPr/>
        </p:nvCxnSpPr>
        <p:spPr>
          <a:xfrm>
            <a:off x="3975964" y="4088144"/>
            <a:ext cx="355879" cy="1006599"/>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1" name="Connector 490"/>
          <p:cNvCxnSpPr/>
          <p:nvPr/>
        </p:nvCxnSpPr>
        <p:spPr>
          <a:xfrm flipH="1">
            <a:off x="3485249" y="4088144"/>
            <a:ext cx="490715" cy="390867"/>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2" name="Connector 491"/>
          <p:cNvCxnSpPr/>
          <p:nvPr/>
        </p:nvCxnSpPr>
        <p:spPr>
          <a:xfrm>
            <a:off x="3485249" y="4479011"/>
            <a:ext cx="353484" cy="845981"/>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3" name="Connector 492"/>
          <p:cNvCxnSpPr/>
          <p:nvPr/>
        </p:nvCxnSpPr>
        <p:spPr>
          <a:xfrm>
            <a:off x="3485249" y="4479011"/>
            <a:ext cx="366559" cy="805144"/>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4" name="Connector 493"/>
          <p:cNvCxnSpPr/>
          <p:nvPr/>
        </p:nvCxnSpPr>
        <p:spPr>
          <a:xfrm flipH="1">
            <a:off x="2185167" y="3747877"/>
            <a:ext cx="1064238" cy="1385502"/>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5" name="Connector 494"/>
          <p:cNvCxnSpPr/>
          <p:nvPr/>
        </p:nvCxnSpPr>
        <p:spPr>
          <a:xfrm>
            <a:off x="3249405" y="3747877"/>
            <a:ext cx="402984" cy="239190"/>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6" name="Connector 495"/>
          <p:cNvCxnSpPr/>
          <p:nvPr/>
        </p:nvCxnSpPr>
        <p:spPr>
          <a:xfrm flipH="1">
            <a:off x="3485249" y="3987067"/>
            <a:ext cx="167140" cy="491944"/>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7" name="Connector 496"/>
          <p:cNvCxnSpPr/>
          <p:nvPr/>
        </p:nvCxnSpPr>
        <p:spPr>
          <a:xfrm>
            <a:off x="4407683" y="3349004"/>
            <a:ext cx="441435" cy="99058"/>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8" name="Connector 497"/>
          <p:cNvCxnSpPr/>
          <p:nvPr/>
        </p:nvCxnSpPr>
        <p:spPr>
          <a:xfrm>
            <a:off x="4849118" y="3448062"/>
            <a:ext cx="443800" cy="604051"/>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sp>
        <p:nvSpPr>
          <p:cNvPr id="499" name="Oval 498"/>
          <p:cNvSpPr/>
          <p:nvPr/>
        </p:nvSpPr>
        <p:spPr>
          <a:xfrm>
            <a:off x="5006201" y="4274348"/>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0" name="Oval 499"/>
          <p:cNvSpPr/>
          <p:nvPr/>
        </p:nvSpPr>
        <p:spPr>
          <a:xfrm>
            <a:off x="4316891" y="3462652"/>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1" name="Oval 500"/>
          <p:cNvSpPr/>
          <p:nvPr/>
        </p:nvSpPr>
        <p:spPr>
          <a:xfrm>
            <a:off x="4621733" y="3404989"/>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2" name="Oval 501"/>
          <p:cNvSpPr/>
          <p:nvPr/>
        </p:nvSpPr>
        <p:spPr>
          <a:xfrm>
            <a:off x="2279591" y="5299689"/>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3" name="Oval 502"/>
          <p:cNvSpPr/>
          <p:nvPr/>
        </p:nvSpPr>
        <p:spPr>
          <a:xfrm>
            <a:off x="3011349" y="5340790"/>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4" name="Rectangle 503"/>
          <p:cNvSpPr/>
          <p:nvPr/>
        </p:nvSpPr>
        <p:spPr>
          <a:xfrm>
            <a:off x="2144019" y="5092231"/>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5" name="Rectangle 504"/>
          <p:cNvSpPr/>
          <p:nvPr/>
        </p:nvSpPr>
        <p:spPr>
          <a:xfrm>
            <a:off x="2261048" y="5311008"/>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6" name="Rectangle 505"/>
          <p:cNvSpPr/>
          <p:nvPr/>
        </p:nvSpPr>
        <p:spPr>
          <a:xfrm>
            <a:off x="3054137" y="5347355"/>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7" name="Rectangle 506"/>
          <p:cNvSpPr/>
          <p:nvPr/>
        </p:nvSpPr>
        <p:spPr>
          <a:xfrm>
            <a:off x="3797585" y="5283844"/>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8" name="Rectangle 507"/>
          <p:cNvSpPr/>
          <p:nvPr/>
        </p:nvSpPr>
        <p:spPr>
          <a:xfrm>
            <a:off x="3810660" y="5243007"/>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9" name="Rectangle 508"/>
          <p:cNvSpPr/>
          <p:nvPr/>
        </p:nvSpPr>
        <p:spPr>
          <a:xfrm>
            <a:off x="4290695" y="5053595"/>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0" name="Rectangle 509"/>
          <p:cNvSpPr/>
          <p:nvPr/>
        </p:nvSpPr>
        <p:spPr>
          <a:xfrm>
            <a:off x="5006201" y="4274348"/>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1" name="Rectangle 510"/>
          <p:cNvSpPr/>
          <p:nvPr/>
        </p:nvSpPr>
        <p:spPr>
          <a:xfrm>
            <a:off x="5251770" y="4010965"/>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2" name="Diamond 511"/>
          <p:cNvSpPr/>
          <p:nvPr/>
        </p:nvSpPr>
        <p:spPr>
          <a:xfrm>
            <a:off x="5006201" y="4274348"/>
            <a:ext cx="82296" cy="82296"/>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3" name="TextBox 512"/>
          <p:cNvSpPr txBox="1"/>
          <p:nvPr/>
        </p:nvSpPr>
        <p:spPr>
          <a:xfrm>
            <a:off x="5166221" y="4169192"/>
            <a:ext cx="1051560" cy="265176"/>
          </a:xfrm>
          <a:prstGeom prst="rect">
            <a:avLst/>
          </a:prstGeom>
          <a:solidFill>
            <a:srgbClr val="FFFFFF"/>
          </a:solidFill>
        </p:spPr>
        <p:txBody>
          <a:bodyPr wrap="square" lIns="22860" rIns="22860" tIns="0" bIns="0">
            <a:spAutoFit/>
          </a:bodyPr>
          <a:lstStyle/>
          <a:p>
            <a:pPr>
              <a:spcAft>
                <a:spcPts val="300"/>
              </a:spcAft>
              <a:defRPr sz="1100" b="0">
                <a:solidFill>
                  <a:srgbClr val="0A2373"/>
                </a:solidFill>
                <a:latin typeface="Lato"/>
              </a:defRPr>
            </a:pPr>
            <a:r>
              <a:t>Durban</a:t>
            </a:r>
          </a:p>
        </p:txBody>
      </p:sp>
      <p:sp>
        <p:nvSpPr>
          <p:cNvPr id="514" name="Diamond 513"/>
          <p:cNvSpPr/>
          <p:nvPr/>
        </p:nvSpPr>
        <p:spPr>
          <a:xfrm>
            <a:off x="4443271" y="3371275"/>
            <a:ext cx="82296" cy="82296"/>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5" name="TextBox 514"/>
          <p:cNvSpPr txBox="1"/>
          <p:nvPr/>
        </p:nvSpPr>
        <p:spPr>
          <a:xfrm>
            <a:off x="4603291" y="3266119"/>
            <a:ext cx="1051560" cy="265176"/>
          </a:xfrm>
          <a:prstGeom prst="rect">
            <a:avLst/>
          </a:prstGeom>
          <a:solidFill>
            <a:srgbClr val="FFFFFF"/>
          </a:solidFill>
        </p:spPr>
        <p:txBody>
          <a:bodyPr wrap="square" lIns="22860" rIns="22860" tIns="0" bIns="0">
            <a:spAutoFit/>
          </a:bodyPr>
          <a:lstStyle/>
          <a:p>
            <a:pPr>
              <a:spcAft>
                <a:spcPts val="300"/>
              </a:spcAft>
              <a:defRPr sz="1100" b="0">
                <a:solidFill>
                  <a:srgbClr val="0A2373"/>
                </a:solidFill>
                <a:latin typeface="Lato"/>
              </a:defRPr>
            </a:pPr>
            <a:r>
              <a:t>Lesedi*</a:t>
            </a:r>
          </a:p>
        </p:txBody>
      </p:sp>
      <p:cxnSp>
        <p:nvCxnSpPr>
          <p:cNvPr id="516" name="Connector 515"/>
          <p:cNvCxnSpPr/>
          <p:nvPr/>
        </p:nvCxnSpPr>
        <p:spPr>
          <a:xfrm flipH="1" flipV="1">
            <a:off x="4908306" y="4236989"/>
            <a:ext cx="139043" cy="78507"/>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17" name="Connector 516"/>
          <p:cNvCxnSpPr/>
          <p:nvPr/>
        </p:nvCxnSpPr>
        <p:spPr>
          <a:xfrm flipH="1" flipV="1">
            <a:off x="4776353" y="4128835"/>
            <a:ext cx="131953" cy="108154"/>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18" name="Connector 517"/>
          <p:cNvCxnSpPr/>
          <p:nvPr/>
        </p:nvCxnSpPr>
        <p:spPr>
          <a:xfrm flipH="1" flipV="1">
            <a:off x="4638838" y="3888100"/>
            <a:ext cx="137515" cy="240735"/>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19" name="Connector 518"/>
          <p:cNvCxnSpPr/>
          <p:nvPr/>
        </p:nvCxnSpPr>
        <p:spPr>
          <a:xfrm flipV="1">
            <a:off x="4638838" y="3655201"/>
            <a:ext cx="1051" cy="232899"/>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0" name="Connector 519"/>
          <p:cNvCxnSpPr/>
          <p:nvPr/>
        </p:nvCxnSpPr>
        <p:spPr>
          <a:xfrm flipH="1" flipV="1">
            <a:off x="4477109" y="3427567"/>
            <a:ext cx="162780" cy="227634"/>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1" name="Connector 520"/>
          <p:cNvCxnSpPr/>
          <p:nvPr/>
        </p:nvCxnSpPr>
        <p:spPr>
          <a:xfrm flipH="1" flipV="1">
            <a:off x="4407683" y="3349004"/>
            <a:ext cx="69426" cy="78563"/>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2" name="Connector 521"/>
          <p:cNvCxnSpPr/>
          <p:nvPr/>
        </p:nvCxnSpPr>
        <p:spPr>
          <a:xfrm flipH="1" flipV="1">
            <a:off x="4484419" y="3412423"/>
            <a:ext cx="562930" cy="903073"/>
          </a:xfrm>
          <a:prstGeom prst="line">
            <a:avLst/>
          </a:prstGeom>
          <a:ln w="2159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523" name="Connector 522"/>
          <p:cNvCxnSpPr/>
          <p:nvPr/>
        </p:nvCxnSpPr>
        <p:spPr>
          <a:xfrm flipV="1">
            <a:off x="4532053" y="4470941"/>
            <a:ext cx="150466" cy="261022"/>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4" name="Connector 523"/>
          <p:cNvCxnSpPr/>
          <p:nvPr/>
        </p:nvCxnSpPr>
        <p:spPr>
          <a:xfrm>
            <a:off x="4682519" y="4470941"/>
            <a:ext cx="225376" cy="58177"/>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5" name="Connector 524"/>
          <p:cNvCxnSpPr/>
          <p:nvPr/>
        </p:nvCxnSpPr>
        <p:spPr>
          <a:xfrm flipV="1">
            <a:off x="4907895" y="4315496"/>
            <a:ext cx="139454" cy="213622"/>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6" name="Connector 525"/>
          <p:cNvCxnSpPr/>
          <p:nvPr/>
        </p:nvCxnSpPr>
        <p:spPr>
          <a:xfrm flipV="1">
            <a:off x="5047349" y="4037215"/>
            <a:ext cx="210381" cy="278281"/>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7" name="Connector 526"/>
          <p:cNvCxnSpPr/>
          <p:nvPr/>
        </p:nvCxnSpPr>
        <p:spPr>
          <a:xfrm flipV="1">
            <a:off x="5257730" y="3712239"/>
            <a:ext cx="57336" cy="324976"/>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8" name="Connector 527"/>
          <p:cNvCxnSpPr/>
          <p:nvPr/>
        </p:nvCxnSpPr>
        <p:spPr>
          <a:xfrm flipH="1" flipV="1">
            <a:off x="5072949" y="3578600"/>
            <a:ext cx="242117" cy="133639"/>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9" name="Connector 528"/>
          <p:cNvCxnSpPr/>
          <p:nvPr/>
        </p:nvCxnSpPr>
        <p:spPr>
          <a:xfrm flipH="1" flipV="1">
            <a:off x="4849118" y="3448062"/>
            <a:ext cx="223831" cy="130538"/>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30" name="Connector 529"/>
          <p:cNvCxnSpPr/>
          <p:nvPr/>
        </p:nvCxnSpPr>
        <p:spPr>
          <a:xfrm flipH="1" flipV="1">
            <a:off x="4407683" y="3349004"/>
            <a:ext cx="639666" cy="966492"/>
          </a:xfrm>
          <a:prstGeom prst="line">
            <a:avLst/>
          </a:prstGeom>
          <a:ln w="13970">
            <a:solidFill>
              <a:srgbClr val="000000"/>
            </a:solidFill>
            <a:prstDash val="dashDot"/>
          </a:ln>
        </p:spPr>
        <p:style>
          <a:lnRef idx="2">
            <a:schemeClr val="accent1"/>
          </a:lnRef>
          <a:fillRef idx="0">
            <a:schemeClr val="accent1"/>
          </a:fillRef>
          <a:effectRef idx="1">
            <a:schemeClr val="accent1"/>
          </a:effectRef>
          <a:fontRef idx="minor">
            <a:schemeClr val="tx1"/>
          </a:fontRef>
        </p:style>
      </p:cxnSp>
      <p:sp>
        <p:nvSpPr>
          <p:cNvPr id="531" name="Diamond 530"/>
          <p:cNvSpPr/>
          <p:nvPr/>
        </p:nvSpPr>
        <p:spPr>
          <a:xfrm>
            <a:off x="4965053" y="4233200"/>
            <a:ext cx="164592" cy="164592"/>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32" name="Connector 531"/>
          <p:cNvCxnSpPr/>
          <p:nvPr/>
        </p:nvCxnSpPr>
        <p:spPr>
          <a:xfrm flipH="1" flipV="1">
            <a:off x="4484419" y="3412423"/>
            <a:ext cx="562930" cy="903073"/>
          </a:xfrm>
          <a:prstGeom prst="line">
            <a:avLst/>
          </a:prstGeom>
          <a:ln w="2159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533" name="Connector 532"/>
          <p:cNvCxnSpPr/>
          <p:nvPr/>
        </p:nvCxnSpPr>
        <p:spPr>
          <a:xfrm flipH="1" flipV="1">
            <a:off x="4407683" y="3349004"/>
            <a:ext cx="76736" cy="63419"/>
          </a:xfrm>
          <a:prstGeom prst="line">
            <a:avLst/>
          </a:prstGeom>
          <a:ln w="29209">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534" name="Connector 533"/>
          <p:cNvCxnSpPr/>
          <p:nvPr/>
        </p:nvCxnSpPr>
        <p:spPr>
          <a:xfrm flipV="1">
            <a:off x="4407683" y="3234833"/>
            <a:ext cx="35153" cy="114171"/>
          </a:xfrm>
          <a:prstGeom prst="line">
            <a:avLst/>
          </a:prstGeom>
          <a:ln w="29209">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535" name="Connector 534"/>
          <p:cNvCxnSpPr/>
          <p:nvPr/>
        </p:nvCxnSpPr>
        <p:spPr>
          <a:xfrm>
            <a:off x="3869319" y="3105553"/>
            <a:ext cx="353970" cy="103938"/>
          </a:xfrm>
          <a:prstGeom prst="line">
            <a:avLst/>
          </a:prstGeom>
          <a:ln w="25400">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536" name="Connector 535"/>
          <p:cNvCxnSpPr/>
          <p:nvPr/>
        </p:nvCxnSpPr>
        <p:spPr>
          <a:xfrm>
            <a:off x="4223289" y="3209491"/>
            <a:ext cx="219547" cy="25342"/>
          </a:xfrm>
          <a:prstGeom prst="line">
            <a:avLst/>
          </a:prstGeom>
          <a:ln w="25400">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537" name="Connector 536"/>
          <p:cNvCxnSpPr/>
          <p:nvPr/>
        </p:nvCxnSpPr>
        <p:spPr>
          <a:xfrm>
            <a:off x="4442836" y="3234833"/>
            <a:ext cx="239629" cy="37995"/>
          </a:xfrm>
          <a:prstGeom prst="line">
            <a:avLst/>
          </a:prstGeom>
          <a:ln w="25400">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538" name="Connector 537"/>
          <p:cNvCxnSpPr/>
          <p:nvPr/>
        </p:nvCxnSpPr>
        <p:spPr>
          <a:xfrm flipV="1">
            <a:off x="4682465" y="3187480"/>
            <a:ext cx="406634" cy="85348"/>
          </a:xfrm>
          <a:prstGeom prst="line">
            <a:avLst/>
          </a:prstGeom>
          <a:ln w="25400">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539" name="Connector 538"/>
          <p:cNvCxnSpPr/>
          <p:nvPr/>
        </p:nvCxnSpPr>
        <p:spPr>
          <a:xfrm>
            <a:off x="5089099" y="3187480"/>
            <a:ext cx="234267" cy="4764"/>
          </a:xfrm>
          <a:prstGeom prst="line">
            <a:avLst/>
          </a:prstGeom>
          <a:ln w="25400">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540" name="Connector 539"/>
          <p:cNvCxnSpPr/>
          <p:nvPr/>
        </p:nvCxnSpPr>
        <p:spPr>
          <a:xfrm flipV="1">
            <a:off x="4211966" y="3349004"/>
            <a:ext cx="195717" cy="366556"/>
          </a:xfrm>
          <a:prstGeom prst="line">
            <a:avLst/>
          </a:prstGeom>
          <a:ln w="13970">
            <a:solidFill>
              <a:srgbClr val="000000"/>
            </a:solidFill>
            <a:prstDash val="dashDot"/>
          </a:ln>
        </p:spPr>
        <p:style>
          <a:lnRef idx="2">
            <a:schemeClr val="accent1"/>
          </a:lnRef>
          <a:fillRef idx="0">
            <a:schemeClr val="accent1"/>
          </a:fillRef>
          <a:effectRef idx="1">
            <a:schemeClr val="accent1"/>
          </a:effectRef>
          <a:fontRef idx="minor">
            <a:schemeClr val="tx1"/>
          </a:fontRef>
        </p:style>
      </p:cxnSp>
      <p:cxnSp>
        <p:nvCxnSpPr>
          <p:cNvPr id="541" name="Connector 540"/>
          <p:cNvCxnSpPr/>
          <p:nvPr/>
        </p:nvCxnSpPr>
        <p:spPr>
          <a:xfrm flipV="1">
            <a:off x="4407683" y="3234833"/>
            <a:ext cx="35153" cy="114171"/>
          </a:xfrm>
          <a:prstGeom prst="line">
            <a:avLst/>
          </a:prstGeom>
          <a:ln w="13970">
            <a:solidFill>
              <a:srgbClr val="000000"/>
            </a:solidFill>
            <a:prstDash val="dashDot"/>
          </a:ln>
        </p:spPr>
        <p:style>
          <a:lnRef idx="2">
            <a:schemeClr val="accent1"/>
          </a:lnRef>
          <a:fillRef idx="0">
            <a:schemeClr val="accent1"/>
          </a:fillRef>
          <a:effectRef idx="1">
            <a:schemeClr val="accent1"/>
          </a:effectRef>
          <a:fontRef idx="minor">
            <a:schemeClr val="tx1"/>
          </a:fontRef>
        </p:style>
      </p:cxnSp>
      <p:cxnSp>
        <p:nvCxnSpPr>
          <p:cNvPr id="542" name="Connector 541"/>
          <p:cNvCxnSpPr/>
          <p:nvPr/>
        </p:nvCxnSpPr>
        <p:spPr>
          <a:xfrm flipV="1">
            <a:off x="4442836" y="2771412"/>
            <a:ext cx="307542" cy="463421"/>
          </a:xfrm>
          <a:prstGeom prst="line">
            <a:avLst/>
          </a:prstGeom>
          <a:ln w="13970">
            <a:solidFill>
              <a:srgbClr val="000000"/>
            </a:solidFill>
            <a:prstDash val="dashDot"/>
          </a:ln>
        </p:spPr>
        <p:style>
          <a:lnRef idx="2">
            <a:schemeClr val="accent1"/>
          </a:lnRef>
          <a:fillRef idx="0">
            <a:schemeClr val="accent1"/>
          </a:fillRef>
          <a:effectRef idx="1">
            <a:schemeClr val="accent1"/>
          </a:effectRef>
          <a:fontRef idx="minor">
            <a:schemeClr val="tx1"/>
          </a:fontRef>
        </p:style>
      </p:cxnSp>
      <p:cxnSp>
        <p:nvCxnSpPr>
          <p:cNvPr id="543" name="Connector 542"/>
          <p:cNvCxnSpPr/>
          <p:nvPr/>
        </p:nvCxnSpPr>
        <p:spPr>
          <a:xfrm flipV="1">
            <a:off x="4750378" y="2350020"/>
            <a:ext cx="142270" cy="421392"/>
          </a:xfrm>
          <a:prstGeom prst="line">
            <a:avLst/>
          </a:prstGeom>
          <a:ln w="13970">
            <a:solidFill>
              <a:srgbClr val="000000"/>
            </a:solidFill>
            <a:prstDash val="dashDot"/>
          </a:ln>
        </p:spPr>
        <p:style>
          <a:lnRef idx="2">
            <a:schemeClr val="accent1"/>
          </a:lnRef>
          <a:fillRef idx="0">
            <a:schemeClr val="accent1"/>
          </a:fillRef>
          <a:effectRef idx="1">
            <a:schemeClr val="accent1"/>
          </a:effectRef>
          <a:fontRef idx="minor">
            <a:schemeClr val="tx1"/>
          </a:fontRef>
        </p:style>
      </p:cxnSp>
      <p:sp>
        <p:nvSpPr>
          <p:cNvPr id="544" name="Diamond 543"/>
          <p:cNvSpPr/>
          <p:nvPr/>
        </p:nvSpPr>
        <p:spPr>
          <a:xfrm>
            <a:off x="4402123" y="3330127"/>
            <a:ext cx="164592" cy="164592"/>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5" name="Rectangle 544"/>
          <p:cNvSpPr/>
          <p:nvPr/>
        </p:nvSpPr>
        <p:spPr>
          <a:xfrm>
            <a:off x="507492" y="5966460"/>
            <a:ext cx="100584" cy="100584"/>
          </a:xfrm>
          <a:prstGeom prst="rect">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6" name="TextBox 545"/>
          <p:cNvSpPr txBox="1"/>
          <p:nvPr/>
        </p:nvSpPr>
        <p:spPr>
          <a:xfrm>
            <a:off x="685800" y="5888736"/>
            <a:ext cx="96012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≤0.75</a:t>
            </a:r>
          </a:p>
        </p:txBody>
      </p:sp>
      <p:sp>
        <p:nvSpPr>
          <p:cNvPr id="547" name="Rectangle 546"/>
          <p:cNvSpPr/>
          <p:nvPr/>
        </p:nvSpPr>
        <p:spPr>
          <a:xfrm>
            <a:off x="1440180" y="5966460"/>
            <a:ext cx="100584" cy="100584"/>
          </a:xfrm>
          <a:prstGeom prst="rect">
            <a:avLst/>
          </a:prstGeom>
          <a:solidFill>
            <a:srgbClr val="375798"/>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8" name="TextBox 547"/>
          <p:cNvSpPr txBox="1"/>
          <p:nvPr/>
        </p:nvSpPr>
        <p:spPr>
          <a:xfrm>
            <a:off x="1618488" y="5888736"/>
            <a:ext cx="96012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0.75–1.25</a:t>
            </a:r>
          </a:p>
        </p:txBody>
      </p:sp>
      <p:sp>
        <p:nvSpPr>
          <p:cNvPr id="549" name="Rectangle 548"/>
          <p:cNvSpPr/>
          <p:nvPr/>
        </p:nvSpPr>
        <p:spPr>
          <a:xfrm>
            <a:off x="2372868" y="5966460"/>
            <a:ext cx="100584" cy="100584"/>
          </a:xfrm>
          <a:prstGeom prst="rect">
            <a:avLst/>
          </a:prstGeom>
          <a:solidFill>
            <a:srgbClr val="728BBB"/>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0" name="TextBox 549"/>
          <p:cNvSpPr txBox="1"/>
          <p:nvPr/>
        </p:nvSpPr>
        <p:spPr>
          <a:xfrm>
            <a:off x="2551176" y="5888736"/>
            <a:ext cx="96012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1.25–1.75</a:t>
            </a:r>
          </a:p>
        </p:txBody>
      </p:sp>
      <p:sp>
        <p:nvSpPr>
          <p:cNvPr id="551" name="Rectangle 550"/>
          <p:cNvSpPr/>
          <p:nvPr/>
        </p:nvSpPr>
        <p:spPr>
          <a:xfrm>
            <a:off x="3305556" y="5966460"/>
            <a:ext cx="100584" cy="100584"/>
          </a:xfrm>
          <a:prstGeom prst="rect">
            <a:avLst/>
          </a:prstGeom>
          <a:solidFill>
            <a:srgbClr val="A9BDDC"/>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2" name="TextBox 551"/>
          <p:cNvSpPr txBox="1"/>
          <p:nvPr/>
        </p:nvSpPr>
        <p:spPr>
          <a:xfrm>
            <a:off x="3483864" y="5888736"/>
            <a:ext cx="96012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1.75–2.25</a:t>
            </a:r>
          </a:p>
        </p:txBody>
      </p:sp>
      <p:sp>
        <p:nvSpPr>
          <p:cNvPr id="553" name="Rectangle 552"/>
          <p:cNvSpPr/>
          <p:nvPr/>
        </p:nvSpPr>
        <p:spPr>
          <a:xfrm>
            <a:off x="4238244" y="5966460"/>
            <a:ext cx="100584" cy="100584"/>
          </a:xfrm>
          <a:prstGeom prst="rect">
            <a:avLst/>
          </a:prstGeom>
          <a:solidFill>
            <a:srgbClr val="DDE6F2"/>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4" name="TextBox 553"/>
          <p:cNvSpPr txBox="1"/>
          <p:nvPr/>
        </p:nvSpPr>
        <p:spPr>
          <a:xfrm>
            <a:off x="4416552" y="5888736"/>
            <a:ext cx="96012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&gt;2.25</a:t>
            </a:r>
          </a:p>
        </p:txBody>
      </p:sp>
      <p:sp>
        <p:nvSpPr>
          <p:cNvPr id="555" name="Rectangle 554"/>
          <p:cNvSpPr/>
          <p:nvPr/>
        </p:nvSpPr>
        <p:spPr>
          <a:xfrm>
            <a:off x="5253228" y="5966460"/>
            <a:ext cx="100584" cy="100584"/>
          </a:xfrm>
          <a:prstGeom prst="rect">
            <a:avLst/>
          </a:pr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6" name="TextBox 555"/>
          <p:cNvSpPr txBox="1"/>
          <p:nvPr/>
        </p:nvSpPr>
        <p:spPr>
          <a:xfrm>
            <a:off x="5431536" y="5888736"/>
            <a:ext cx="123444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Unassessed</a:t>
            </a:r>
          </a:p>
        </p:txBody>
      </p:sp>
      <p:sp>
        <p:nvSpPr>
          <p:cNvPr id="558" name="TextBox 557"/>
          <p:cNvSpPr txBox="1"/>
          <p:nvPr/>
        </p:nvSpPr>
        <p:spPr>
          <a:xfrm>
            <a:off x="457200" y="6153912"/>
            <a:ext cx="6446520" cy="192024"/>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Example rate: R0.15/L dispatch + R0.002/L/km. Grey = unassessed.</a:t>
            </a:r>
          </a:p>
        </p:txBody>
      </p:sp>
      <p:cxnSp>
        <p:nvCxnSpPr>
          <p:cNvPr id="2545" name="Connector 2544"/>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572" name="Connector 2571"/>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600" name="Connector 2599"/>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628" name="Connector 2627"/>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656" name="Connector 2655"/>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684" name="Connector 2683"/>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712" name="Connector 2711"/>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740" name="Connector 2739"/>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769" name="Connector 2768"/>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798" name="Connector 2797"/>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2801" name="TextBox 2800"/>
          <p:cNvSpPr txBox="1"/>
          <p:nvPr/>
        </p:nvSpPr>
        <p:spPr>
          <a:xfrm>
            <a:off x="457200" y="1627632"/>
            <a:ext cx="6446520" cy="384048"/>
          </a:xfrm>
          <a:prstGeom prst="rect">
            <a:avLst/>
          </a:prstGeom>
          <a:noFill/>
        </p:spPr>
        <p:txBody>
          <a:bodyPr wrap="none" lIns="22860" rIns="22860" tIns="0" bIns="0">
            <a:spAutoFit/>
          </a:bodyPr>
          <a:lstStyle/>
          <a:p>
            <a:pPr>
              <a:defRPr sz="1400" b="1">
                <a:solidFill>
                  <a:srgbClr val="000000"/>
                </a:solidFill>
                <a:latin typeface="Lato"/>
              </a:defRPr>
            </a:pPr>
            <a:r>
              <a:rPr sz="1400" b="1">
                <a:latin typeface="Lato"/>
              </a:rPr>
              <a:t>Illustrative road cost, R/litre</a:t>
            </a:r>
          </a:p>
        </p:txBody>
      </p:sp>
      <p:cxnSp>
        <p:nvCxnSpPr>
          <p:cNvPr id="2802" name="Connector 2801"/>
          <p:cNvCxnSpPr/>
          <p:nvPr/>
        </p:nvCxnSpPr>
        <p:spPr>
          <a:xfrm>
            <a:off x="457200" y="1947672"/>
            <a:ext cx="644652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827" name="Connector 2826"/>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854" name="Connector 2853"/>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862" name="Connector 2861"/>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890" name="Connector 2889"/>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898" name="Connector 2897"/>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926" name="Connector 2925"/>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934" name="Connector 2933"/>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962" name="Connector 2961"/>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970" name="Connector 2969"/>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998" name="Connector 2997"/>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3006" name="Connector 3005"/>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3013" name="SCR subtitle rule"/>
          <p:cNvCxnSpPr/>
          <p:nvPr/>
        </p:nvCxnSpPr>
        <p:spPr>
          <a:xfrm>
            <a:off x="7424927" y="1947672"/>
            <a:ext cx="3685033"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041" name="Connector 3040"/>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3049" name="Connector 3048"/>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3081" name="Connector 3080"/>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3089" name="Connector 3088"/>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3121" name="Connector 3120"/>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3129" name="Connector 3128"/>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3137" name="Transnet lease overlay: Isosceles Triangle 3136"/>
          <p:cNvSpPr/>
          <p:nvPr/>
        </p:nvSpPr>
        <p:spPr>
          <a:xfrm>
            <a:off x="4748449" y="3924272"/>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138" name="Transnet lease overlay: Connector 3137"/>
          <p:cNvCxnSpPr/>
          <p:nvPr/>
        </p:nvCxnSpPr>
        <p:spPr>
          <a:xfrm>
            <a:off x="4785025" y="3960848"/>
            <a:ext cx="137160" cy="9144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3139" name="Transnet lease overlay: TextBox 3138"/>
          <p:cNvSpPr txBox="1"/>
          <p:nvPr/>
        </p:nvSpPr>
        <p:spPr>
          <a:xfrm>
            <a:off x="4858177" y="3988280"/>
            <a:ext cx="137160" cy="155448"/>
          </a:xfrm>
          <a:prstGeom prst="rect">
            <a:avLst/>
          </a:prstGeom>
          <a:solidFill>
            <a:srgbClr val="FFFFFF"/>
          </a:solidFill>
        </p:spPr>
        <p:txBody>
          <a:bodyPr wrap="square" lIns="22860" rIns="22860" tIns="0" bIns="0">
            <a:spAutoFit/>
          </a:bodyPr>
          <a:lstStyle/>
          <a:p>
            <a:pPr>
              <a:spcAft>
                <a:spcPts val="300"/>
              </a:spcAft>
              <a:defRPr sz="800" b="1">
                <a:solidFill>
                  <a:srgbClr val="000000"/>
                </a:solidFill>
                <a:latin typeface="Lato"/>
              </a:defRPr>
            </a:pPr>
            <a:r>
              <a:t>1</a:t>
            </a:r>
          </a:p>
        </p:txBody>
      </p:sp>
      <p:sp>
        <p:nvSpPr>
          <p:cNvPr id="3140" name="Transnet lease overlay: Isosceles Triangle 3139"/>
          <p:cNvSpPr/>
          <p:nvPr/>
        </p:nvSpPr>
        <p:spPr>
          <a:xfrm>
            <a:off x="4635581" y="3512195"/>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141" name="Transnet lease overlay: Connector 3140"/>
          <p:cNvCxnSpPr/>
          <p:nvPr/>
        </p:nvCxnSpPr>
        <p:spPr>
          <a:xfrm flipV="1">
            <a:off x="4672157" y="3503051"/>
            <a:ext cx="137160" cy="4572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3142" name="Transnet lease overlay: TextBox 3141"/>
          <p:cNvSpPr txBox="1"/>
          <p:nvPr/>
        </p:nvSpPr>
        <p:spPr>
          <a:xfrm>
            <a:off x="4745309" y="3439043"/>
            <a:ext cx="137160" cy="155448"/>
          </a:xfrm>
          <a:prstGeom prst="rect">
            <a:avLst/>
          </a:prstGeom>
          <a:solidFill>
            <a:srgbClr val="FFFFFF"/>
          </a:solidFill>
        </p:spPr>
        <p:txBody>
          <a:bodyPr wrap="square" lIns="22860" rIns="22860" tIns="0" bIns="0">
            <a:spAutoFit/>
          </a:bodyPr>
          <a:lstStyle/>
          <a:p>
            <a:pPr>
              <a:spcAft>
                <a:spcPts val="300"/>
              </a:spcAft>
              <a:defRPr sz="800" b="1">
                <a:solidFill>
                  <a:srgbClr val="000000"/>
                </a:solidFill>
                <a:latin typeface="Lato"/>
              </a:defRPr>
            </a:pPr>
            <a:r>
              <a:t>2</a:t>
            </a:r>
          </a:p>
        </p:txBody>
      </p:sp>
      <p:sp>
        <p:nvSpPr>
          <p:cNvPr id="3143" name="Transnet lease overlay: Isosceles Triangle 3142"/>
          <p:cNvSpPr/>
          <p:nvPr/>
        </p:nvSpPr>
        <p:spPr>
          <a:xfrm>
            <a:off x="4174679" y="3685610"/>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144" name="Transnet lease overlay: Connector 3143"/>
          <p:cNvCxnSpPr/>
          <p:nvPr/>
        </p:nvCxnSpPr>
        <p:spPr>
          <a:xfrm flipH="1" flipV="1">
            <a:off x="3909503" y="3676466"/>
            <a:ext cx="301752" cy="4572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3145" name="Transnet lease overlay: TextBox 3144"/>
          <p:cNvSpPr txBox="1"/>
          <p:nvPr/>
        </p:nvSpPr>
        <p:spPr>
          <a:xfrm>
            <a:off x="3845495" y="3612458"/>
            <a:ext cx="137160" cy="155448"/>
          </a:xfrm>
          <a:prstGeom prst="rect">
            <a:avLst/>
          </a:prstGeom>
          <a:solidFill>
            <a:srgbClr val="FFFFFF"/>
          </a:solidFill>
        </p:spPr>
        <p:txBody>
          <a:bodyPr wrap="square" lIns="22860" rIns="22860" tIns="0" bIns="0">
            <a:spAutoFit/>
          </a:bodyPr>
          <a:lstStyle/>
          <a:p>
            <a:pPr>
              <a:spcAft>
                <a:spcPts val="300"/>
              </a:spcAft>
              <a:defRPr sz="800" b="1">
                <a:solidFill>
                  <a:srgbClr val="000000"/>
                </a:solidFill>
                <a:latin typeface="Lato"/>
              </a:defRPr>
            </a:pPr>
            <a:r>
              <a:t>3</a:t>
            </a:r>
          </a:p>
        </p:txBody>
      </p:sp>
      <p:sp>
        <p:nvSpPr>
          <p:cNvPr id="3146" name="Transnet lease overlay: Isosceles Triangle 3145"/>
          <p:cNvSpPr/>
          <p:nvPr/>
        </p:nvSpPr>
        <p:spPr>
          <a:xfrm>
            <a:off x="4414479" y="3832751"/>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147" name="Transnet lease overlay: Connector 3146"/>
          <p:cNvCxnSpPr/>
          <p:nvPr/>
        </p:nvCxnSpPr>
        <p:spPr>
          <a:xfrm flipH="1">
            <a:off x="4377903" y="3869327"/>
            <a:ext cx="73152" cy="128016"/>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3148" name="Transnet lease overlay: TextBox 3147"/>
          <p:cNvSpPr txBox="1"/>
          <p:nvPr/>
        </p:nvSpPr>
        <p:spPr>
          <a:xfrm>
            <a:off x="4313895" y="3933335"/>
            <a:ext cx="137160" cy="155448"/>
          </a:xfrm>
          <a:prstGeom prst="rect">
            <a:avLst/>
          </a:prstGeom>
          <a:solidFill>
            <a:srgbClr val="FFFFFF"/>
          </a:solidFill>
        </p:spPr>
        <p:txBody>
          <a:bodyPr wrap="square" lIns="22860" rIns="22860" tIns="0" bIns="0">
            <a:spAutoFit/>
          </a:bodyPr>
          <a:lstStyle/>
          <a:p>
            <a:pPr>
              <a:spcAft>
                <a:spcPts val="300"/>
              </a:spcAft>
              <a:defRPr sz="800" b="1">
                <a:solidFill>
                  <a:srgbClr val="000000"/>
                </a:solidFill>
                <a:latin typeface="Lato"/>
              </a:defRPr>
            </a:pPr>
            <a:r>
              <a:t>4</a:t>
            </a:r>
          </a:p>
        </p:txBody>
      </p:sp>
      <p:sp>
        <p:nvSpPr>
          <p:cNvPr id="3149" name="Transnet lease overlay: Isosceles Triangle 3148"/>
          <p:cNvSpPr/>
          <p:nvPr/>
        </p:nvSpPr>
        <p:spPr>
          <a:xfrm>
            <a:off x="4194803" y="3670658"/>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150" name="Transnet lease overlay: Connector 3149"/>
          <p:cNvCxnSpPr/>
          <p:nvPr/>
        </p:nvCxnSpPr>
        <p:spPr>
          <a:xfrm flipH="1" flipV="1">
            <a:off x="4094219" y="3624938"/>
            <a:ext cx="137160" cy="82296"/>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3151" name="Transnet lease overlay: TextBox 3150"/>
          <p:cNvSpPr txBox="1"/>
          <p:nvPr/>
        </p:nvSpPr>
        <p:spPr>
          <a:xfrm>
            <a:off x="4030211" y="3560930"/>
            <a:ext cx="137160" cy="155448"/>
          </a:xfrm>
          <a:prstGeom prst="rect">
            <a:avLst/>
          </a:prstGeom>
          <a:solidFill>
            <a:srgbClr val="FFFFFF"/>
          </a:solidFill>
        </p:spPr>
        <p:txBody>
          <a:bodyPr wrap="square" lIns="22860" rIns="22860" tIns="0" bIns="0">
            <a:spAutoFit/>
          </a:bodyPr>
          <a:lstStyle/>
          <a:p>
            <a:pPr>
              <a:spcAft>
                <a:spcPts val="300"/>
              </a:spcAft>
              <a:defRPr sz="800" b="1">
                <a:solidFill>
                  <a:srgbClr val="000000"/>
                </a:solidFill>
                <a:latin typeface="Lato"/>
              </a:defRPr>
            </a:pPr>
            <a:r>
              <a:t>5</a:t>
            </a:r>
          </a:p>
        </p:txBody>
      </p:sp>
      <p:sp>
        <p:nvSpPr>
          <p:cNvPr id="3152" name="Transnet lease overlay: TextBox 3151"/>
          <p:cNvSpPr txBox="1"/>
          <p:nvPr/>
        </p:nvSpPr>
        <p:spPr>
          <a:xfrm>
            <a:off x="594360" y="3776472"/>
            <a:ext cx="2029968" cy="932688"/>
          </a:xfrm>
          <a:prstGeom prst="rect">
            <a:avLst/>
          </a:prstGeom>
          <a:solidFill>
            <a:srgbClr val="FFFFFF"/>
          </a:solidFill>
        </p:spPr>
        <p:txBody>
          <a:bodyPr wrap="square" lIns="22860" rIns="22860" tIns="0" bIns="0">
            <a:spAutoFit/>
          </a:bodyPr>
          <a:lstStyle/>
          <a:p>
            <a:pPr>
              <a:spcAft>
                <a:spcPts val="300"/>
              </a:spcAft>
              <a:defRPr sz="1100" b="1">
                <a:solidFill>
                  <a:srgbClr val="000000"/>
                </a:solidFill>
                <a:latin typeface="Lato"/>
              </a:defRPr>
            </a:pPr>
            <a:r>
              <a:t>   Lease offers (context)
1 Ladysmith | 2 Standerton
3 Kroonstad | 4 Bethlehem
5 Magdala*</a:t>
            </a:r>
          </a:p>
        </p:txBody>
      </p:sp>
      <p:sp>
        <p:nvSpPr>
          <p:cNvPr id="3153" name="Transnet lease overlay: Isosceles Triangle 3152"/>
          <p:cNvSpPr/>
          <p:nvPr/>
        </p:nvSpPr>
        <p:spPr>
          <a:xfrm>
            <a:off x="612647" y="3808476"/>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161" name="Connector 3160"/>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3162" name="TextBox 3161"/>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What the evidence shows</a:t>
            </a:r>
          </a:p>
        </p:txBody>
      </p:sp>
      <p:sp>
        <p:nvSpPr>
          <p:cNvPr id="3163" name="TextBox 3162"/>
          <p:cNvSpPr txBox="1"/>
          <p:nvPr/>
        </p:nvSpPr>
        <p:spPr>
          <a:xfrm>
            <a:off x="7424927" y="218541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01 | Darker means lower transport cost</a:t>
            </a:r>
          </a:p>
        </p:txBody>
      </p:sp>
      <p:sp>
        <p:nvSpPr>
          <p:cNvPr id="3164" name="TextBox 3163"/>
          <p:cNvSpPr txBox="1"/>
          <p:nvPr/>
        </p:nvSpPr>
        <p:spPr>
          <a:xfrm>
            <a:off x="7424927" y="256946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Cells show example road cost from Durban or Lesedi. The rate is illustrative and excludes fuel price, storage and pipeline tariffs.</a:t>
            </a:r>
          </a:p>
        </p:txBody>
      </p:sp>
      <p:sp>
        <p:nvSpPr>
          <p:cNvPr id="3165" name="TextBox 3164"/>
          <p:cNvSpPr txBox="1"/>
          <p:nvPr/>
        </p:nvSpPr>
        <p:spPr>
          <a:xfrm>
            <a:off x="7424927" y="314553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02 | Grey means unassessed</a:t>
            </a:r>
          </a:p>
        </p:txBody>
      </p:sp>
      <p:sp>
        <p:nvSpPr>
          <p:cNvPr id="3166" name="TextBox 3165"/>
          <p:cNvSpPr txBox="1"/>
          <p:nvPr/>
        </p:nvSpPr>
        <p:spPr>
          <a:xfrm>
            <a:off x="7424927" y="3529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Grey areas have no assessed road connection under this illustration. They are not confirmed to be inaccessible.</a:t>
            </a:r>
          </a:p>
        </p:txBody>
      </p:sp>
      <p:sp>
        <p:nvSpPr>
          <p:cNvPr id="3167" name="TextBox 3166"/>
          <p:cNvSpPr txBox="1"/>
          <p:nvPr/>
        </p:nvSpPr>
        <p:spPr>
          <a:xfrm>
            <a:off x="7424927" y="410565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03 | A cost surface is a first screen</a:t>
            </a:r>
          </a:p>
        </p:txBody>
      </p:sp>
      <p:sp>
        <p:nvSpPr>
          <p:cNvPr id="3168" name="TextBox 3167"/>
          <p:cNvSpPr txBox="1"/>
          <p:nvPr/>
        </p:nvSpPr>
        <p:spPr>
          <a:xfrm>
            <a:off x="7424927" y="448970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Pipeline and rail lines are context. Route capacity, product compatibility and customer rights still determine serviceable demand.</a:t>
            </a:r>
          </a:p>
        </p:txBody>
      </p:sp>
      <p:cxnSp>
        <p:nvCxnSpPr>
          <p:cNvPr id="3169" name="Connector 3168"/>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3170" name="TextBox 3169"/>
          <p:cNvSpPr txBox="1"/>
          <p:nvPr/>
        </p:nvSpPr>
        <p:spPr>
          <a:xfrm>
            <a:off x="7424927" y="5321808"/>
            <a:ext cx="3685032"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To resolve next</a:t>
            </a:r>
          </a:p>
        </p:txBody>
      </p:sp>
      <p:sp>
        <p:nvSpPr>
          <p:cNvPr id="3171" name="TextBox 3170"/>
          <p:cNvSpPr txBox="1"/>
          <p:nvPr/>
        </p:nvSpPr>
        <p:spPr>
          <a:xfrm>
            <a:off x="7424927" y="5687568"/>
            <a:ext cx="3685032" cy="62179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Nigel: select the first customer destination and cost threshold. Manish: replace example rates with dated route costs and access evidence.</a:t>
            </a:r>
          </a:p>
        </p:txBody>
      </p:sp>
      <p:sp>
        <p:nvSpPr>
          <p:cNvPr id="3172" name="TextBox 3171"/>
          <p:cNvSpPr txBox="1"/>
          <p:nvPr/>
        </p:nvSpPr>
        <p:spPr>
          <a:xfrm>
            <a:off x="2103120" y="5632704"/>
            <a:ext cx="4617720" cy="146304"/>
          </a:xfrm>
          <a:prstGeom prst="rect">
            <a:avLst/>
          </a:prstGeom>
          <a:solidFill>
            <a:srgbClr val="FFFFFF"/>
          </a:solidFill>
        </p:spPr>
        <p:txBody>
          <a:bodyPr wrap="square" lIns="22860" rIns="22860" tIns="0" bIns="0">
            <a:spAutoFit/>
          </a:bodyPr>
          <a:lstStyle/>
          <a:p>
            <a:pPr>
              <a:spcAft>
                <a:spcPts val="300"/>
              </a:spcAft>
              <a:defRPr sz="850" b="0">
                <a:solidFill>
                  <a:srgbClr val="000000"/>
                </a:solidFill>
                <a:latin typeface="Lato"/>
              </a:defRPr>
            </a:pPr>
            <a:r>
              <a:t>Diamonds: Vopak. Triangles: lease offers (context).</a:t>
            </a:r>
          </a:p>
        </p:txBody>
      </p:sp>
      <p:sp>
        <p:nvSpPr>
          <p:cNvPr id="3173" name="SCR divider marker: circle"/>
          <p:cNvSpPr/>
          <p:nvPr/>
        </p:nvSpPr>
        <p:spPr>
          <a:xfrm>
            <a:off x="7086600" y="1828800"/>
            <a:ext cx="237744" cy="237744"/>
          </a:xfrm>
          <a:prstGeom prst="ellipse">
            <a:avLst/>
          </a:prstGeom>
          <a:solidFill>
            <a:srgbClr val="0A2373"/>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174" name="SCR divider marker: arrow"/>
          <p:cNvCxnSpPr/>
          <p:nvPr/>
        </p:nvCxnSpPr>
        <p:spPr>
          <a:xfrm>
            <a:off x="7173468" y="1888236"/>
            <a:ext cx="64008" cy="59436"/>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3175" name="SCR divider marker: arrow"/>
          <p:cNvCxnSpPr/>
          <p:nvPr/>
        </p:nvCxnSpPr>
        <p:spPr>
          <a:xfrm flipH="1">
            <a:off x="7173468" y="1947672"/>
            <a:ext cx="64008" cy="59435"/>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sp>
        <p:nvSpPr>
          <p:cNvPr id="3176"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C5. Compare Durban, Matola and Walvis Bay for the same inland customer</a:t>
            </a:r>
          </a:p>
        </p:txBody>
      </p:sp>
      <p:sp>
        <p:nvSpPr>
          <p:cNvPr id="3" name="Slide Number Placeholder"/>
          <p:cNvSpPr>
            <a:spLocks noGrp="1"/>
          </p:cNvSpPr>
          <p:nvPr>
            <p:ph type="sldNum" sz="quarter" idx="12"/>
          </p:nvPr>
        </p:nvSpPr>
        <p:spPr/>
        <p:txBody>
          <a:bodyPr/>
          <a:lstStyle/>
          <a:p>
            <a:fld id="{697864C9-5F5B-4D9B-8E56-D390DEC92D8D}" type="slidenum">
              <a:rPr lang="en-US"/>
              <a:t>‹#›</a:t>
            </a:fld>
          </a:p>
        </p:txBody>
      </p:sp>
      <p:sp>
        <p:nvSpPr>
          <p:cNvPr id="4" name="Section navigation 1">
            <a:hlinkClick action="ppaction://hlinksldjump" r:id="rId3"/>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1  Overview</a:t>
            </a:r>
          </a:p>
        </p:txBody>
      </p:sp>
      <p:sp>
        <p:nvSpPr>
          <p:cNvPr id="5" name="Section navigation 2">
            <a:hlinkClick action="ppaction://hlinksldjump" r:id="rId4"/>
          </p:cNvPr>
          <p:cNvSpPr/>
          <p:nvPr/>
        </p:nvSpPr>
        <p:spPr>
          <a:xfrm>
            <a:off x="3136392"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2  Market baseline</a:t>
            </a:r>
          </a:p>
        </p:txBody>
      </p:sp>
      <p:sp>
        <p:nvSpPr>
          <p:cNvPr id="6" name="Section navigation 3">
            <a:hlinkClick action="ppaction://hlinksldjump" r:id="rId5"/>
          </p:cNvPr>
          <p:cNvSpPr/>
          <p:nvPr/>
        </p:nvSpPr>
        <p:spPr>
          <a:xfrm>
            <a:off x="5815584"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1">
                <a:solidFill>
                  <a:srgbClr val="FFFFFF"/>
                </a:solidFill>
                <a:latin typeface="Lato"/>
              </a:defRPr>
            </a:pPr>
            <a:r>
              <a:rPr sz="1050"/>
              <a:t>3  Market changes</a:t>
            </a:r>
          </a:p>
        </p:txBody>
      </p:sp>
      <p:sp>
        <p:nvSpPr>
          <p:cNvPr id="7" name="Section navigation 4">
            <a:hlinkClick action="ppaction://hlinksldjump" r:id="rId6"/>
          </p:cNvPr>
          <p:cNvSpPr/>
          <p:nvPr/>
        </p:nvSpPr>
        <p:spPr>
          <a:xfrm>
            <a:off x="8494776"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4  Vopak outlook</a:t>
            </a:r>
          </a:p>
        </p:txBody>
      </p:sp>
      <p:sp>
        <p:nvSpPr>
          <p:cNvPr id="8"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a:latin typeface="Lato"/>
              </a:defRPr>
            </a:pPr>
            <a:r>
              <a:rPr sz="750"/>
              <a:t>Note: Routes schematic; access unverified. Colour measures provincial totals, not density or Vopak share.</a:t>
            </a:r>
          </a:p>
          <a:p>
            <a:pPr>
              <a:lnSpc>
                <a:spcPts val="900"/>
              </a:lnSpc>
              <a:spcBef>
                <a:spcPts val="0"/>
              </a:spcBef>
              <a:spcAft>
                <a:spcPts val="0"/>
              </a:spcAft>
              <a:defRPr sz="750">
                <a:latin typeface="Lato"/>
              </a:defRPr>
            </a:pPr>
            <a:r>
              <a:rPr sz="750"/>
              <a:t>Source: DMPR 2022 sales; NAMCOR NOSF; Galp GIMTL; WBCG / TRAC corridors; Natural Earth. Capacities and URLs in notes.</a:t>
            </a:r>
          </a:p>
        </p:txBody>
      </p:sp>
      <p:sp>
        <p:nvSpPr>
          <p:cNvPr id="25" name="TextBox 24"/>
          <p:cNvSpPr txBox="1"/>
          <p:nvPr/>
        </p:nvSpPr>
        <p:spPr>
          <a:xfrm>
            <a:off x="457200" y="1627632"/>
            <a:ext cx="6446520" cy="384048"/>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Durban, Matola and Walvis Bay | schematic corridor comparison</a:t>
            </a:r>
          </a:p>
        </p:txBody>
      </p:sp>
      <p:cxnSp>
        <p:nvCxnSpPr>
          <p:cNvPr id="26" name="Connector 25"/>
          <p:cNvCxnSpPr/>
          <p:nvPr/>
        </p:nvCxnSpPr>
        <p:spPr>
          <a:xfrm>
            <a:off x="457200" y="1947672"/>
            <a:ext cx="644652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7424927" y="1947672"/>
            <a:ext cx="3685033"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29" name="Rectangle 28"/>
          <p:cNvSpPr/>
          <p:nvPr/>
        </p:nvSpPr>
        <p:spPr>
          <a:xfrm>
            <a:off x="457200" y="2185416"/>
            <a:ext cx="6446520" cy="3108960"/>
          </a:xfrm>
          <a:prstGeom prst="rect">
            <a:avLst/>
          </a:prstGeom>
          <a:solidFill>
            <a:srgbClr val="FFFFFF"/>
          </a:solidFill>
          <a:ln>
            <a:solidFill>
              <a:srgbClr val="EEE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Freeform 8"/>
          <p:cNvSpPr/>
          <p:nvPr/>
        </p:nvSpPr>
        <p:spPr>
          <a:xfrm>
            <a:off x="3869261" y="2188202"/>
            <a:ext cx="1198583" cy="888164"/>
          </a:xfrm>
          <a:custGeom>
            <a:avLst/>
            <a:gdLst/>
            <a:ahLst/>
            <a:cxnLst/>
            <a:rect l="l" t="t" r="r" b="b"/>
            <a:pathLst>
              <a:path w="1198583" h="888164">
                <a:moveTo>
                  <a:pt x="887026" y="878243"/>
                </a:moveTo>
                <a:lnTo>
                  <a:pt x="868847" y="871280"/>
                </a:lnTo>
                <a:lnTo>
                  <a:pt x="845499" y="867289"/>
                </a:lnTo>
                <a:lnTo>
                  <a:pt x="814918" y="866856"/>
                </a:lnTo>
                <a:lnTo>
                  <a:pt x="777148" y="869984"/>
                </a:lnTo>
                <a:lnTo>
                  <a:pt x="737141" y="861965"/>
                </a:lnTo>
                <a:lnTo>
                  <a:pt x="694813" y="842816"/>
                </a:lnTo>
                <a:lnTo>
                  <a:pt x="659278" y="835163"/>
                </a:lnTo>
                <a:lnTo>
                  <a:pt x="616272" y="840844"/>
                </a:lnTo>
                <a:lnTo>
                  <a:pt x="614381" y="840956"/>
                </a:lnTo>
                <a:lnTo>
                  <a:pt x="607177" y="834837"/>
                </a:lnTo>
                <a:lnTo>
                  <a:pt x="595959" y="821807"/>
                </a:lnTo>
                <a:lnTo>
                  <a:pt x="576522" y="818832"/>
                </a:lnTo>
                <a:lnTo>
                  <a:pt x="571332" y="815696"/>
                </a:lnTo>
                <a:lnTo>
                  <a:pt x="567137" y="810855"/>
                </a:lnTo>
                <a:lnTo>
                  <a:pt x="564491" y="804787"/>
                </a:lnTo>
                <a:lnTo>
                  <a:pt x="563594" y="798110"/>
                </a:lnTo>
                <a:lnTo>
                  <a:pt x="567528" y="777578"/>
                </a:lnTo>
                <a:lnTo>
                  <a:pt x="565850" y="775190"/>
                </a:lnTo>
                <a:lnTo>
                  <a:pt x="560705" y="772515"/>
                </a:lnTo>
                <a:lnTo>
                  <a:pt x="550077" y="769637"/>
                </a:lnTo>
                <a:lnTo>
                  <a:pt x="524633" y="759321"/>
                </a:lnTo>
                <a:lnTo>
                  <a:pt x="492523" y="749141"/>
                </a:lnTo>
                <a:lnTo>
                  <a:pt x="440167" y="737473"/>
                </a:lnTo>
                <a:lnTo>
                  <a:pt x="419790" y="734221"/>
                </a:lnTo>
                <a:lnTo>
                  <a:pt x="415131" y="731051"/>
                </a:lnTo>
                <a:lnTo>
                  <a:pt x="409404" y="723253"/>
                </a:lnTo>
                <a:lnTo>
                  <a:pt x="399926" y="699247"/>
                </a:lnTo>
                <a:lnTo>
                  <a:pt x="390803" y="683308"/>
                </a:lnTo>
                <a:lnTo>
                  <a:pt x="368696" y="658509"/>
                </a:lnTo>
                <a:lnTo>
                  <a:pt x="365256" y="650901"/>
                </a:lnTo>
                <a:lnTo>
                  <a:pt x="366862" y="631762"/>
                </a:lnTo>
                <a:lnTo>
                  <a:pt x="368925" y="616322"/>
                </a:lnTo>
                <a:lnTo>
                  <a:pt x="371699" y="603240"/>
                </a:lnTo>
                <a:lnTo>
                  <a:pt x="370893" y="590906"/>
                </a:lnTo>
                <a:lnTo>
                  <a:pt x="370941" y="575618"/>
                </a:lnTo>
                <a:lnTo>
                  <a:pt x="371916" y="565389"/>
                </a:lnTo>
                <a:lnTo>
                  <a:pt x="368946" y="560869"/>
                </a:lnTo>
                <a:lnTo>
                  <a:pt x="360734" y="557526"/>
                </a:lnTo>
                <a:lnTo>
                  <a:pt x="337177" y="555492"/>
                </a:lnTo>
                <a:lnTo>
                  <a:pt x="308642" y="555402"/>
                </a:lnTo>
                <a:lnTo>
                  <a:pt x="308044" y="539836"/>
                </a:lnTo>
                <a:lnTo>
                  <a:pt x="305846" y="515734"/>
                </a:lnTo>
                <a:lnTo>
                  <a:pt x="300784" y="501772"/>
                </a:lnTo>
                <a:lnTo>
                  <a:pt x="294361" y="494425"/>
                </a:lnTo>
                <a:lnTo>
                  <a:pt x="281378" y="486615"/>
                </a:lnTo>
                <a:lnTo>
                  <a:pt x="254953" y="475746"/>
                </a:lnTo>
                <a:lnTo>
                  <a:pt x="218951" y="459376"/>
                </a:lnTo>
                <a:lnTo>
                  <a:pt x="188328" y="435666"/>
                </a:lnTo>
                <a:lnTo>
                  <a:pt x="153149" y="406292"/>
                </a:lnTo>
                <a:lnTo>
                  <a:pt x="142088" y="401131"/>
                </a:lnTo>
                <a:lnTo>
                  <a:pt x="129303" y="373929"/>
                </a:lnTo>
                <a:lnTo>
                  <a:pt x="109822" y="327428"/>
                </a:lnTo>
                <a:lnTo>
                  <a:pt x="111312" y="312043"/>
                </a:lnTo>
                <a:lnTo>
                  <a:pt x="108367" y="304470"/>
                </a:lnTo>
                <a:lnTo>
                  <a:pt x="89099" y="281505"/>
                </a:lnTo>
                <a:lnTo>
                  <a:pt x="84901" y="269662"/>
                </a:lnTo>
                <a:lnTo>
                  <a:pt x="81585" y="257708"/>
                </a:lnTo>
                <a:lnTo>
                  <a:pt x="50755" y="224091"/>
                </a:lnTo>
                <a:lnTo>
                  <a:pt x="40275" y="209468"/>
                </a:lnTo>
                <a:lnTo>
                  <a:pt x="32358" y="190748"/>
                </a:lnTo>
                <a:lnTo>
                  <a:pt x="24427" y="175771"/>
                </a:lnTo>
                <a:lnTo>
                  <a:pt x="17678" y="169697"/>
                </a:lnTo>
                <a:lnTo>
                  <a:pt x="8851" y="159475"/>
                </a:lnTo>
                <a:lnTo>
                  <a:pt x="2752" y="147858"/>
                </a:lnTo>
                <a:lnTo>
                  <a:pt x="0" y="139214"/>
                </a:lnTo>
                <a:lnTo>
                  <a:pt x="2407" y="127677"/>
                </a:lnTo>
                <a:lnTo>
                  <a:pt x="5511" y="119775"/>
                </a:lnTo>
                <a:lnTo>
                  <a:pt x="35224" y="128326"/>
                </a:lnTo>
                <a:lnTo>
                  <a:pt x="51476" y="129207"/>
                </a:lnTo>
                <a:lnTo>
                  <a:pt x="64248" y="125289"/>
                </a:lnTo>
                <a:lnTo>
                  <a:pt x="79924" y="130940"/>
                </a:lnTo>
                <a:lnTo>
                  <a:pt x="98527" y="146202"/>
                </a:lnTo>
                <a:lnTo>
                  <a:pt x="118940" y="149351"/>
                </a:lnTo>
                <a:lnTo>
                  <a:pt x="141206" y="140377"/>
                </a:lnTo>
                <a:lnTo>
                  <a:pt x="171060" y="143679"/>
                </a:lnTo>
                <a:lnTo>
                  <a:pt x="208470" y="159290"/>
                </a:lnTo>
                <a:lnTo>
                  <a:pt x="239597" y="162932"/>
                </a:lnTo>
                <a:lnTo>
                  <a:pt x="276956" y="150403"/>
                </a:lnTo>
                <a:lnTo>
                  <a:pt x="310805" y="114305"/>
                </a:lnTo>
                <a:lnTo>
                  <a:pt x="342718" y="80403"/>
                </a:lnTo>
                <a:lnTo>
                  <a:pt x="374308" y="41192"/>
                </a:lnTo>
                <a:lnTo>
                  <a:pt x="393568" y="9388"/>
                </a:lnTo>
                <a:lnTo>
                  <a:pt x="403793" y="0"/>
                </a:lnTo>
                <a:lnTo>
                  <a:pt x="1187111" y="35945"/>
                </a:lnTo>
                <a:lnTo>
                  <a:pt x="1187102" y="42019"/>
                </a:lnTo>
                <a:lnTo>
                  <a:pt x="1198410" y="77117"/>
                </a:lnTo>
                <a:lnTo>
                  <a:pt x="1198583" y="107026"/>
                </a:lnTo>
                <a:lnTo>
                  <a:pt x="1191747" y="159320"/>
                </a:lnTo>
                <a:lnTo>
                  <a:pt x="1189120" y="210222"/>
                </a:lnTo>
                <a:lnTo>
                  <a:pt x="1189519" y="228491"/>
                </a:lnTo>
                <a:lnTo>
                  <a:pt x="1190982" y="240687"/>
                </a:lnTo>
                <a:lnTo>
                  <a:pt x="1193356" y="247460"/>
                </a:lnTo>
                <a:lnTo>
                  <a:pt x="1192432" y="254958"/>
                </a:lnTo>
                <a:lnTo>
                  <a:pt x="1183509" y="275793"/>
                </a:lnTo>
                <a:lnTo>
                  <a:pt x="1176024" y="297873"/>
                </a:lnTo>
                <a:lnTo>
                  <a:pt x="1175317" y="306865"/>
                </a:lnTo>
                <a:lnTo>
                  <a:pt x="1172565" y="313035"/>
                </a:lnTo>
                <a:lnTo>
                  <a:pt x="1167658" y="318374"/>
                </a:lnTo>
                <a:lnTo>
                  <a:pt x="1146850" y="327448"/>
                </a:lnTo>
                <a:lnTo>
                  <a:pt x="1143026" y="333647"/>
                </a:lnTo>
                <a:lnTo>
                  <a:pt x="1142467" y="345275"/>
                </a:lnTo>
                <a:lnTo>
                  <a:pt x="1144496" y="355214"/>
                </a:lnTo>
                <a:lnTo>
                  <a:pt x="1151879" y="359306"/>
                </a:lnTo>
                <a:lnTo>
                  <a:pt x="1160716" y="365429"/>
                </a:lnTo>
                <a:lnTo>
                  <a:pt x="1163911" y="372980"/>
                </a:lnTo>
                <a:lnTo>
                  <a:pt x="1163511" y="380690"/>
                </a:lnTo>
                <a:lnTo>
                  <a:pt x="1159813" y="394773"/>
                </a:lnTo>
                <a:lnTo>
                  <a:pt x="1150377" y="417887"/>
                </a:lnTo>
                <a:lnTo>
                  <a:pt x="1156927" y="445600"/>
                </a:lnTo>
                <a:lnTo>
                  <a:pt x="1164989" y="463826"/>
                </a:lnTo>
                <a:lnTo>
                  <a:pt x="1176294" y="485090"/>
                </a:lnTo>
                <a:lnTo>
                  <a:pt x="1180732" y="498021"/>
                </a:lnTo>
                <a:lnTo>
                  <a:pt x="1179924" y="507046"/>
                </a:lnTo>
                <a:lnTo>
                  <a:pt x="1177578" y="515700"/>
                </a:lnTo>
                <a:lnTo>
                  <a:pt x="1156771" y="551750"/>
                </a:lnTo>
                <a:lnTo>
                  <a:pt x="1142012" y="574035"/>
                </a:lnTo>
                <a:lnTo>
                  <a:pt x="1124230" y="597785"/>
                </a:lnTo>
                <a:lnTo>
                  <a:pt x="1101723" y="611962"/>
                </a:lnTo>
                <a:lnTo>
                  <a:pt x="1095732" y="619101"/>
                </a:lnTo>
                <a:lnTo>
                  <a:pt x="1093028" y="627505"/>
                </a:lnTo>
                <a:lnTo>
                  <a:pt x="1092759" y="646166"/>
                </a:lnTo>
                <a:lnTo>
                  <a:pt x="1090659" y="665561"/>
                </a:lnTo>
                <a:lnTo>
                  <a:pt x="1070533" y="694331"/>
                </a:lnTo>
                <a:lnTo>
                  <a:pt x="1080522" y="720836"/>
                </a:lnTo>
                <a:lnTo>
                  <a:pt x="1077777" y="723038"/>
                </a:lnTo>
                <a:lnTo>
                  <a:pt x="1071365" y="726348"/>
                </a:lnTo>
                <a:lnTo>
                  <a:pt x="1043273" y="753694"/>
                </a:lnTo>
                <a:lnTo>
                  <a:pt x="1014913" y="781388"/>
                </a:lnTo>
                <a:lnTo>
                  <a:pt x="994226" y="801657"/>
                </a:lnTo>
                <a:lnTo>
                  <a:pt x="970741" y="824738"/>
                </a:lnTo>
                <a:lnTo>
                  <a:pt x="944460" y="850624"/>
                </a:lnTo>
                <a:lnTo>
                  <a:pt x="922049" y="872762"/>
                </a:lnTo>
                <a:lnTo>
                  <a:pt x="900079" y="888164"/>
                </a:lnTo>
                <a:lnTo>
                  <a:pt x="887026" y="878243"/>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Freeform 9"/>
          <p:cNvSpPr/>
          <p:nvPr/>
        </p:nvSpPr>
        <p:spPr>
          <a:xfrm>
            <a:off x="3469760" y="2181074"/>
            <a:ext cx="803294" cy="170060"/>
          </a:xfrm>
          <a:custGeom>
            <a:avLst/>
            <a:gdLst/>
            <a:ahLst/>
            <a:cxnLst/>
            <a:rect l="l" t="t" r="r" b="b"/>
            <a:pathLst>
              <a:path w="803294" h="170060">
                <a:moveTo>
                  <a:pt x="793069" y="16516"/>
                </a:moveTo>
                <a:lnTo>
                  <a:pt x="773809" y="48320"/>
                </a:lnTo>
                <a:lnTo>
                  <a:pt x="742219" y="87531"/>
                </a:lnTo>
                <a:lnTo>
                  <a:pt x="710306" y="121433"/>
                </a:lnTo>
                <a:lnTo>
                  <a:pt x="676457" y="157531"/>
                </a:lnTo>
                <a:lnTo>
                  <a:pt x="639098" y="170060"/>
                </a:lnTo>
                <a:lnTo>
                  <a:pt x="607971" y="166418"/>
                </a:lnTo>
                <a:lnTo>
                  <a:pt x="570561" y="150807"/>
                </a:lnTo>
                <a:lnTo>
                  <a:pt x="540707" y="147505"/>
                </a:lnTo>
                <a:lnTo>
                  <a:pt x="518441" y="156479"/>
                </a:lnTo>
                <a:lnTo>
                  <a:pt x="498028" y="153330"/>
                </a:lnTo>
                <a:lnTo>
                  <a:pt x="479425" y="138068"/>
                </a:lnTo>
                <a:lnTo>
                  <a:pt x="463749" y="132417"/>
                </a:lnTo>
                <a:lnTo>
                  <a:pt x="450977" y="136335"/>
                </a:lnTo>
                <a:lnTo>
                  <a:pt x="434725" y="135454"/>
                </a:lnTo>
                <a:lnTo>
                  <a:pt x="405012" y="126903"/>
                </a:lnTo>
                <a:lnTo>
                  <a:pt x="379463" y="101192"/>
                </a:lnTo>
                <a:lnTo>
                  <a:pt x="365554" y="90547"/>
                </a:lnTo>
                <a:lnTo>
                  <a:pt x="354858" y="86453"/>
                </a:lnTo>
                <a:lnTo>
                  <a:pt x="324031" y="82155"/>
                </a:lnTo>
                <a:lnTo>
                  <a:pt x="253218" y="76017"/>
                </a:lnTo>
                <a:lnTo>
                  <a:pt x="245830" y="77364"/>
                </a:lnTo>
                <a:lnTo>
                  <a:pt x="216408" y="82355"/>
                </a:lnTo>
                <a:lnTo>
                  <a:pt x="179660" y="88663"/>
                </a:lnTo>
                <a:lnTo>
                  <a:pt x="148093" y="95018"/>
                </a:lnTo>
                <a:lnTo>
                  <a:pt x="115003" y="101740"/>
                </a:lnTo>
                <a:lnTo>
                  <a:pt x="84121" y="75287"/>
                </a:lnTo>
                <a:lnTo>
                  <a:pt x="49013" y="45316"/>
                </a:lnTo>
                <a:lnTo>
                  <a:pt x="12543" y="11933"/>
                </a:lnTo>
                <a:lnTo>
                  <a:pt x="0" y="0"/>
                </a:lnTo>
                <a:lnTo>
                  <a:pt x="803294" y="7128"/>
                </a:lnTo>
                <a:lnTo>
                  <a:pt x="793069" y="16516"/>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Freeform 10"/>
          <p:cNvSpPr/>
          <p:nvPr/>
        </p:nvSpPr>
        <p:spPr>
          <a:xfrm>
            <a:off x="4660380" y="3614161"/>
            <a:ext cx="191199" cy="256347"/>
          </a:xfrm>
          <a:custGeom>
            <a:avLst/>
            <a:gdLst/>
            <a:ahLst/>
            <a:cxnLst/>
            <a:rect l="l" t="t" r="r" b="b"/>
            <a:pathLst>
              <a:path w="191199" h="256347">
                <a:moveTo>
                  <a:pt x="176833" y="41980"/>
                </a:moveTo>
                <a:lnTo>
                  <a:pt x="189706" y="50230"/>
                </a:lnTo>
                <a:lnTo>
                  <a:pt x="189987" y="65068"/>
                </a:lnTo>
                <a:lnTo>
                  <a:pt x="187649" y="81852"/>
                </a:lnTo>
                <a:lnTo>
                  <a:pt x="184304" y="92330"/>
                </a:lnTo>
                <a:lnTo>
                  <a:pt x="184642" y="102993"/>
                </a:lnTo>
                <a:lnTo>
                  <a:pt x="187873" y="119770"/>
                </a:lnTo>
                <a:lnTo>
                  <a:pt x="191199" y="131319"/>
                </a:lnTo>
                <a:lnTo>
                  <a:pt x="188927" y="182752"/>
                </a:lnTo>
                <a:lnTo>
                  <a:pt x="184586" y="180108"/>
                </a:lnTo>
                <a:lnTo>
                  <a:pt x="176557" y="177390"/>
                </a:lnTo>
                <a:lnTo>
                  <a:pt x="172170" y="178137"/>
                </a:lnTo>
                <a:lnTo>
                  <a:pt x="166764" y="200910"/>
                </a:lnTo>
                <a:lnTo>
                  <a:pt x="161578" y="234971"/>
                </a:lnTo>
                <a:lnTo>
                  <a:pt x="161993" y="256347"/>
                </a:lnTo>
                <a:lnTo>
                  <a:pt x="131063" y="255082"/>
                </a:lnTo>
                <a:lnTo>
                  <a:pt x="92114" y="250398"/>
                </a:lnTo>
                <a:lnTo>
                  <a:pt x="64649" y="239574"/>
                </a:lnTo>
                <a:lnTo>
                  <a:pt x="35601" y="217583"/>
                </a:lnTo>
                <a:lnTo>
                  <a:pt x="19359" y="184988"/>
                </a:lnTo>
                <a:lnTo>
                  <a:pt x="12561" y="164708"/>
                </a:lnTo>
                <a:lnTo>
                  <a:pt x="1604" y="162966"/>
                </a:lnTo>
                <a:lnTo>
                  <a:pt x="0" y="159493"/>
                </a:lnTo>
                <a:lnTo>
                  <a:pt x="306" y="135224"/>
                </a:lnTo>
                <a:lnTo>
                  <a:pt x="1882" y="109795"/>
                </a:lnTo>
                <a:lnTo>
                  <a:pt x="4298" y="103153"/>
                </a:lnTo>
                <a:lnTo>
                  <a:pt x="26476" y="72947"/>
                </a:lnTo>
                <a:lnTo>
                  <a:pt x="40274" y="54189"/>
                </a:lnTo>
                <a:lnTo>
                  <a:pt x="49235" y="35800"/>
                </a:lnTo>
                <a:lnTo>
                  <a:pt x="67736" y="14690"/>
                </a:lnTo>
                <a:lnTo>
                  <a:pt x="87071" y="1629"/>
                </a:lnTo>
                <a:lnTo>
                  <a:pt x="94075" y="0"/>
                </a:lnTo>
                <a:lnTo>
                  <a:pt x="98762" y="854"/>
                </a:lnTo>
                <a:lnTo>
                  <a:pt x="130322" y="22190"/>
                </a:lnTo>
                <a:lnTo>
                  <a:pt x="162700" y="42615"/>
                </a:lnTo>
                <a:lnTo>
                  <a:pt x="170094" y="40992"/>
                </a:lnTo>
                <a:lnTo>
                  <a:pt x="174050" y="39442"/>
                </a:lnTo>
                <a:lnTo>
                  <a:pt x="176833" y="41980"/>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Freeform 11"/>
          <p:cNvSpPr/>
          <p:nvPr/>
        </p:nvSpPr>
        <p:spPr>
          <a:xfrm>
            <a:off x="2609575" y="3023365"/>
            <a:ext cx="2350679" cy="2022693"/>
          </a:xfrm>
          <a:custGeom>
            <a:avLst/>
            <a:gdLst/>
            <a:ahLst/>
            <a:cxnLst/>
            <a:rect l="l" t="t" r="r" b="b"/>
            <a:pathLst>
              <a:path w="2350679" h="2022693">
                <a:moveTo>
                  <a:pt x="1875958" y="5681"/>
                </a:moveTo>
                <a:lnTo>
                  <a:pt x="1918964" y="0"/>
                </a:lnTo>
                <a:lnTo>
                  <a:pt x="1954499" y="7653"/>
                </a:lnTo>
                <a:lnTo>
                  <a:pt x="1996827" y="26802"/>
                </a:lnTo>
                <a:lnTo>
                  <a:pt x="2036834" y="34821"/>
                </a:lnTo>
                <a:lnTo>
                  <a:pt x="2074604" y="31693"/>
                </a:lnTo>
                <a:lnTo>
                  <a:pt x="2105185" y="32126"/>
                </a:lnTo>
                <a:lnTo>
                  <a:pt x="2128533" y="36117"/>
                </a:lnTo>
                <a:lnTo>
                  <a:pt x="2146712" y="43080"/>
                </a:lnTo>
                <a:lnTo>
                  <a:pt x="2159765" y="53001"/>
                </a:lnTo>
                <a:lnTo>
                  <a:pt x="2160121" y="61501"/>
                </a:lnTo>
                <a:lnTo>
                  <a:pt x="2160972" y="65403"/>
                </a:lnTo>
                <a:lnTo>
                  <a:pt x="2166954" y="88126"/>
                </a:lnTo>
                <a:lnTo>
                  <a:pt x="2175823" y="122066"/>
                </a:lnTo>
                <a:lnTo>
                  <a:pt x="2181233" y="153253"/>
                </a:lnTo>
                <a:lnTo>
                  <a:pt x="2188616" y="196037"/>
                </a:lnTo>
                <a:lnTo>
                  <a:pt x="2187043" y="219529"/>
                </a:lnTo>
                <a:lnTo>
                  <a:pt x="2188905" y="228753"/>
                </a:lnTo>
                <a:lnTo>
                  <a:pt x="2196931" y="240603"/>
                </a:lnTo>
                <a:lnTo>
                  <a:pt x="2206411" y="260717"/>
                </a:lnTo>
                <a:lnTo>
                  <a:pt x="2209397" y="271995"/>
                </a:lnTo>
                <a:lnTo>
                  <a:pt x="2212478" y="280478"/>
                </a:lnTo>
                <a:lnTo>
                  <a:pt x="2222732" y="296840"/>
                </a:lnTo>
                <a:lnTo>
                  <a:pt x="2230014" y="321159"/>
                </a:lnTo>
                <a:lnTo>
                  <a:pt x="2235502" y="353110"/>
                </a:lnTo>
                <a:lnTo>
                  <a:pt x="2240872" y="368611"/>
                </a:lnTo>
                <a:lnTo>
                  <a:pt x="2242787" y="376181"/>
                </a:lnTo>
                <a:lnTo>
                  <a:pt x="2244811" y="389888"/>
                </a:lnTo>
                <a:lnTo>
                  <a:pt x="2242734" y="418422"/>
                </a:lnTo>
                <a:lnTo>
                  <a:pt x="2240936" y="451513"/>
                </a:lnTo>
                <a:lnTo>
                  <a:pt x="2238924" y="488470"/>
                </a:lnTo>
                <a:lnTo>
                  <a:pt x="2237273" y="518974"/>
                </a:lnTo>
                <a:lnTo>
                  <a:pt x="2235231" y="534340"/>
                </a:lnTo>
                <a:lnTo>
                  <a:pt x="2233323" y="578197"/>
                </a:lnTo>
                <a:lnTo>
                  <a:pt x="2222608" y="600448"/>
                </a:lnTo>
                <a:lnTo>
                  <a:pt x="2222679" y="618438"/>
                </a:lnTo>
                <a:lnTo>
                  <a:pt x="2224855" y="630238"/>
                </a:lnTo>
                <a:lnTo>
                  <a:pt x="2220899" y="631788"/>
                </a:lnTo>
                <a:lnTo>
                  <a:pt x="2213505" y="633411"/>
                </a:lnTo>
                <a:lnTo>
                  <a:pt x="2181127" y="612986"/>
                </a:lnTo>
                <a:lnTo>
                  <a:pt x="2149567" y="591650"/>
                </a:lnTo>
                <a:lnTo>
                  <a:pt x="2144880" y="590796"/>
                </a:lnTo>
                <a:lnTo>
                  <a:pt x="2137876" y="592425"/>
                </a:lnTo>
                <a:lnTo>
                  <a:pt x="2118541" y="605486"/>
                </a:lnTo>
                <a:lnTo>
                  <a:pt x="2100040" y="626596"/>
                </a:lnTo>
                <a:lnTo>
                  <a:pt x="2091079" y="644985"/>
                </a:lnTo>
                <a:lnTo>
                  <a:pt x="2077281" y="663743"/>
                </a:lnTo>
                <a:lnTo>
                  <a:pt x="2055103" y="693949"/>
                </a:lnTo>
                <a:lnTo>
                  <a:pt x="2052687" y="700591"/>
                </a:lnTo>
                <a:lnTo>
                  <a:pt x="2051111" y="726020"/>
                </a:lnTo>
                <a:lnTo>
                  <a:pt x="2050805" y="750289"/>
                </a:lnTo>
                <a:lnTo>
                  <a:pt x="2052409" y="753762"/>
                </a:lnTo>
                <a:lnTo>
                  <a:pt x="2063366" y="755504"/>
                </a:lnTo>
                <a:lnTo>
                  <a:pt x="2070164" y="775784"/>
                </a:lnTo>
                <a:lnTo>
                  <a:pt x="2086406" y="808379"/>
                </a:lnTo>
                <a:lnTo>
                  <a:pt x="2115454" y="830370"/>
                </a:lnTo>
                <a:lnTo>
                  <a:pt x="2142919" y="841194"/>
                </a:lnTo>
                <a:lnTo>
                  <a:pt x="2181868" y="845878"/>
                </a:lnTo>
                <a:lnTo>
                  <a:pt x="2212798" y="847143"/>
                </a:lnTo>
                <a:lnTo>
                  <a:pt x="2212383" y="825767"/>
                </a:lnTo>
                <a:lnTo>
                  <a:pt x="2217569" y="791706"/>
                </a:lnTo>
                <a:lnTo>
                  <a:pt x="2222975" y="768933"/>
                </a:lnTo>
                <a:lnTo>
                  <a:pt x="2227362" y="768186"/>
                </a:lnTo>
                <a:lnTo>
                  <a:pt x="2235391" y="770904"/>
                </a:lnTo>
                <a:lnTo>
                  <a:pt x="2239732" y="773548"/>
                </a:lnTo>
                <a:lnTo>
                  <a:pt x="2252253" y="773393"/>
                </a:lnTo>
                <a:lnTo>
                  <a:pt x="2274067" y="779363"/>
                </a:lnTo>
                <a:lnTo>
                  <a:pt x="2291939" y="780049"/>
                </a:lnTo>
                <a:lnTo>
                  <a:pt x="2307914" y="780686"/>
                </a:lnTo>
                <a:lnTo>
                  <a:pt x="2334930" y="781769"/>
                </a:lnTo>
                <a:lnTo>
                  <a:pt x="2350679" y="782601"/>
                </a:lnTo>
                <a:lnTo>
                  <a:pt x="2342767" y="819354"/>
                </a:lnTo>
                <a:lnTo>
                  <a:pt x="2318208" y="876048"/>
                </a:lnTo>
                <a:lnTo>
                  <a:pt x="2309383" y="902217"/>
                </a:lnTo>
                <a:lnTo>
                  <a:pt x="2285359" y="996286"/>
                </a:lnTo>
                <a:lnTo>
                  <a:pt x="2259426" y="1042762"/>
                </a:lnTo>
                <a:lnTo>
                  <a:pt x="2245416" y="1061735"/>
                </a:lnTo>
                <a:lnTo>
                  <a:pt x="2206547" y="1094408"/>
                </a:lnTo>
                <a:lnTo>
                  <a:pt x="2195936" y="1100870"/>
                </a:lnTo>
                <a:lnTo>
                  <a:pt x="2186630" y="1104850"/>
                </a:lnTo>
                <a:lnTo>
                  <a:pt x="2170395" y="1107863"/>
                </a:lnTo>
                <a:lnTo>
                  <a:pt x="2103564" y="1174984"/>
                </a:lnTo>
                <a:lnTo>
                  <a:pt x="2078288" y="1207827"/>
                </a:lnTo>
                <a:lnTo>
                  <a:pt x="2054769" y="1256505"/>
                </a:lnTo>
                <a:lnTo>
                  <a:pt x="2032795" y="1282727"/>
                </a:lnTo>
                <a:lnTo>
                  <a:pt x="1999577" y="1339466"/>
                </a:lnTo>
                <a:lnTo>
                  <a:pt x="1970442" y="1383123"/>
                </a:lnTo>
                <a:lnTo>
                  <a:pt x="1942721" y="1422887"/>
                </a:lnTo>
                <a:lnTo>
                  <a:pt x="1895817" y="1477269"/>
                </a:lnTo>
                <a:lnTo>
                  <a:pt x="1875539" y="1492688"/>
                </a:lnTo>
                <a:lnTo>
                  <a:pt x="1862051" y="1499555"/>
                </a:lnTo>
                <a:lnTo>
                  <a:pt x="1825708" y="1530799"/>
                </a:lnTo>
                <a:lnTo>
                  <a:pt x="1774473" y="1581466"/>
                </a:lnTo>
                <a:lnTo>
                  <a:pt x="1735173" y="1626729"/>
                </a:lnTo>
                <a:lnTo>
                  <a:pt x="1677476" y="1677697"/>
                </a:lnTo>
                <a:lnTo>
                  <a:pt x="1644528" y="1699794"/>
                </a:lnTo>
                <a:lnTo>
                  <a:pt x="1594841" y="1743938"/>
                </a:lnTo>
                <a:lnTo>
                  <a:pt x="1581244" y="1750279"/>
                </a:lnTo>
                <a:lnTo>
                  <a:pt x="1525921" y="1791197"/>
                </a:lnTo>
                <a:lnTo>
                  <a:pt x="1486472" y="1815975"/>
                </a:lnTo>
                <a:lnTo>
                  <a:pt x="1423140" y="1844417"/>
                </a:lnTo>
                <a:lnTo>
                  <a:pt x="1398135" y="1852275"/>
                </a:lnTo>
                <a:lnTo>
                  <a:pt x="1339030" y="1843430"/>
                </a:lnTo>
                <a:lnTo>
                  <a:pt x="1314207" y="1847182"/>
                </a:lnTo>
                <a:lnTo>
                  <a:pt x="1293260" y="1864961"/>
                </a:lnTo>
                <a:lnTo>
                  <a:pt x="1290946" y="1890888"/>
                </a:lnTo>
                <a:lnTo>
                  <a:pt x="1282297" y="1894664"/>
                </a:lnTo>
                <a:lnTo>
                  <a:pt x="1269291" y="1893337"/>
                </a:lnTo>
                <a:lnTo>
                  <a:pt x="1228110" y="1882053"/>
                </a:lnTo>
                <a:lnTo>
                  <a:pt x="1205672" y="1883921"/>
                </a:lnTo>
                <a:lnTo>
                  <a:pt x="1192470" y="1897656"/>
                </a:lnTo>
                <a:lnTo>
                  <a:pt x="1181806" y="1915122"/>
                </a:lnTo>
                <a:lnTo>
                  <a:pt x="1150738" y="1915832"/>
                </a:lnTo>
                <a:lnTo>
                  <a:pt x="1095456" y="1897497"/>
                </a:lnTo>
                <a:lnTo>
                  <a:pt x="1030286" y="1886483"/>
                </a:lnTo>
                <a:lnTo>
                  <a:pt x="1015191" y="1885304"/>
                </a:lnTo>
                <a:lnTo>
                  <a:pt x="983673" y="1898908"/>
                </a:lnTo>
                <a:lnTo>
                  <a:pt x="972648" y="1900933"/>
                </a:lnTo>
                <a:lnTo>
                  <a:pt x="926635" y="1898393"/>
                </a:lnTo>
                <a:lnTo>
                  <a:pt x="901022" y="1890138"/>
                </a:lnTo>
                <a:lnTo>
                  <a:pt x="876609" y="1890383"/>
                </a:lnTo>
                <a:lnTo>
                  <a:pt x="857995" y="1897650"/>
                </a:lnTo>
                <a:lnTo>
                  <a:pt x="835355" y="1900430"/>
                </a:lnTo>
                <a:lnTo>
                  <a:pt x="775090" y="1950208"/>
                </a:lnTo>
                <a:lnTo>
                  <a:pt x="743562" y="1950886"/>
                </a:lnTo>
                <a:lnTo>
                  <a:pt x="716499" y="1957115"/>
                </a:lnTo>
                <a:lnTo>
                  <a:pt x="703009" y="1957232"/>
                </a:lnTo>
                <a:lnTo>
                  <a:pt x="677587" y="1951026"/>
                </a:lnTo>
                <a:lnTo>
                  <a:pt x="668198" y="1951716"/>
                </a:lnTo>
                <a:lnTo>
                  <a:pt x="653923" y="1955144"/>
                </a:lnTo>
                <a:lnTo>
                  <a:pt x="639797" y="1964107"/>
                </a:lnTo>
                <a:lnTo>
                  <a:pt x="607199" y="1968744"/>
                </a:lnTo>
                <a:lnTo>
                  <a:pt x="594730" y="1976430"/>
                </a:lnTo>
                <a:lnTo>
                  <a:pt x="541147" y="2022693"/>
                </a:lnTo>
                <a:lnTo>
                  <a:pt x="528530" y="2021346"/>
                </a:lnTo>
                <a:lnTo>
                  <a:pt x="518269" y="2018796"/>
                </a:lnTo>
                <a:lnTo>
                  <a:pt x="489636" y="2019288"/>
                </a:lnTo>
                <a:lnTo>
                  <a:pt x="456212" y="1996799"/>
                </a:lnTo>
                <a:lnTo>
                  <a:pt x="443852" y="1998791"/>
                </a:lnTo>
                <a:lnTo>
                  <a:pt x="446869" y="1991555"/>
                </a:lnTo>
                <a:lnTo>
                  <a:pt x="447315" y="1978921"/>
                </a:lnTo>
                <a:lnTo>
                  <a:pt x="440066" y="1970298"/>
                </a:lnTo>
                <a:lnTo>
                  <a:pt x="435247" y="1966515"/>
                </a:lnTo>
                <a:lnTo>
                  <a:pt x="422528" y="1967766"/>
                </a:lnTo>
                <a:lnTo>
                  <a:pt x="415252" y="1957316"/>
                </a:lnTo>
                <a:lnTo>
                  <a:pt x="395672" y="1957112"/>
                </a:lnTo>
                <a:lnTo>
                  <a:pt x="389044" y="1960113"/>
                </a:lnTo>
                <a:lnTo>
                  <a:pt x="379691" y="1961066"/>
                </a:lnTo>
                <a:lnTo>
                  <a:pt x="378328" y="1950249"/>
                </a:lnTo>
                <a:lnTo>
                  <a:pt x="378740" y="1943378"/>
                </a:lnTo>
                <a:lnTo>
                  <a:pt x="377655" y="1932894"/>
                </a:lnTo>
                <a:lnTo>
                  <a:pt x="374675" y="1920102"/>
                </a:lnTo>
                <a:lnTo>
                  <a:pt x="366886" y="1916324"/>
                </a:lnTo>
                <a:lnTo>
                  <a:pt x="360978" y="1914856"/>
                </a:lnTo>
                <a:lnTo>
                  <a:pt x="347152" y="1916355"/>
                </a:lnTo>
                <a:lnTo>
                  <a:pt x="337672" y="1918170"/>
                </a:lnTo>
                <a:lnTo>
                  <a:pt x="333378" y="1922125"/>
                </a:lnTo>
                <a:lnTo>
                  <a:pt x="328742" y="1931805"/>
                </a:lnTo>
                <a:lnTo>
                  <a:pt x="330171" y="1960526"/>
                </a:lnTo>
                <a:lnTo>
                  <a:pt x="322891" y="1952612"/>
                </a:lnTo>
                <a:lnTo>
                  <a:pt x="314187" y="1935774"/>
                </a:lnTo>
                <a:lnTo>
                  <a:pt x="310717" y="1917540"/>
                </a:lnTo>
                <a:lnTo>
                  <a:pt x="312385" y="1895698"/>
                </a:lnTo>
                <a:lnTo>
                  <a:pt x="326804" y="1886767"/>
                </a:lnTo>
                <a:lnTo>
                  <a:pt x="324894" y="1872153"/>
                </a:lnTo>
                <a:lnTo>
                  <a:pt x="321086" y="1859577"/>
                </a:lnTo>
                <a:lnTo>
                  <a:pt x="302753" y="1827773"/>
                </a:lnTo>
                <a:lnTo>
                  <a:pt x="295461" y="1813178"/>
                </a:lnTo>
                <a:lnTo>
                  <a:pt x="280766" y="1803757"/>
                </a:lnTo>
                <a:lnTo>
                  <a:pt x="268432" y="1779962"/>
                </a:lnTo>
                <a:lnTo>
                  <a:pt x="256827" y="1771680"/>
                </a:lnTo>
                <a:lnTo>
                  <a:pt x="251261" y="1754887"/>
                </a:lnTo>
                <a:lnTo>
                  <a:pt x="239639" y="1741800"/>
                </a:lnTo>
                <a:lnTo>
                  <a:pt x="234751" y="1720443"/>
                </a:lnTo>
                <a:lnTo>
                  <a:pt x="240070" y="1707771"/>
                </a:lnTo>
                <a:lnTo>
                  <a:pt x="249201" y="1700561"/>
                </a:lnTo>
                <a:lnTo>
                  <a:pt x="259472" y="1710766"/>
                </a:lnTo>
                <a:lnTo>
                  <a:pt x="271269" y="1706001"/>
                </a:lnTo>
                <a:lnTo>
                  <a:pt x="287563" y="1689593"/>
                </a:lnTo>
                <a:lnTo>
                  <a:pt x="296473" y="1665462"/>
                </a:lnTo>
                <a:lnTo>
                  <a:pt x="295164" y="1627591"/>
                </a:lnTo>
                <a:lnTo>
                  <a:pt x="291343" y="1604075"/>
                </a:lnTo>
                <a:lnTo>
                  <a:pt x="274520" y="1543643"/>
                </a:lnTo>
                <a:lnTo>
                  <a:pt x="267315" y="1529919"/>
                </a:lnTo>
                <a:lnTo>
                  <a:pt x="234030" y="1487711"/>
                </a:lnTo>
                <a:lnTo>
                  <a:pt x="194792" y="1430994"/>
                </a:lnTo>
                <a:lnTo>
                  <a:pt x="143771" y="1341098"/>
                </a:lnTo>
                <a:lnTo>
                  <a:pt x="118553" y="1286827"/>
                </a:lnTo>
                <a:lnTo>
                  <a:pt x="78505" y="1176725"/>
                </a:lnTo>
                <a:lnTo>
                  <a:pt x="45085" y="1115068"/>
                </a:lnTo>
                <a:lnTo>
                  <a:pt x="4936" y="1058079"/>
                </a:lnTo>
                <a:lnTo>
                  <a:pt x="0" y="1054515"/>
                </a:lnTo>
                <a:lnTo>
                  <a:pt x="5150" y="1046984"/>
                </a:lnTo>
                <a:lnTo>
                  <a:pt x="24002" y="1032146"/>
                </a:lnTo>
                <a:lnTo>
                  <a:pt x="32745" y="1027928"/>
                </a:lnTo>
                <a:lnTo>
                  <a:pt x="37606" y="1029346"/>
                </a:lnTo>
                <a:lnTo>
                  <a:pt x="42018" y="1025323"/>
                </a:lnTo>
                <a:lnTo>
                  <a:pt x="45969" y="1015828"/>
                </a:lnTo>
                <a:lnTo>
                  <a:pt x="46454" y="1007101"/>
                </a:lnTo>
                <a:lnTo>
                  <a:pt x="47950" y="994708"/>
                </a:lnTo>
                <a:lnTo>
                  <a:pt x="51930" y="987121"/>
                </a:lnTo>
                <a:lnTo>
                  <a:pt x="55920" y="972207"/>
                </a:lnTo>
                <a:lnTo>
                  <a:pt x="63627" y="962364"/>
                </a:lnTo>
                <a:lnTo>
                  <a:pt x="80766" y="955182"/>
                </a:lnTo>
                <a:lnTo>
                  <a:pt x="94483" y="962683"/>
                </a:lnTo>
                <a:lnTo>
                  <a:pt x="100488" y="970468"/>
                </a:lnTo>
                <a:lnTo>
                  <a:pt x="103370" y="981007"/>
                </a:lnTo>
                <a:lnTo>
                  <a:pt x="109510" y="985842"/>
                </a:lnTo>
                <a:lnTo>
                  <a:pt x="118897" y="984975"/>
                </a:lnTo>
                <a:lnTo>
                  <a:pt x="125885" y="991187"/>
                </a:lnTo>
                <a:lnTo>
                  <a:pt x="130457" y="1004459"/>
                </a:lnTo>
                <a:lnTo>
                  <a:pt x="130210" y="1014268"/>
                </a:lnTo>
                <a:lnTo>
                  <a:pt x="125195" y="1020615"/>
                </a:lnTo>
                <a:lnTo>
                  <a:pt x="126378" y="1028537"/>
                </a:lnTo>
                <a:lnTo>
                  <a:pt x="133725" y="1038070"/>
                </a:lnTo>
                <a:lnTo>
                  <a:pt x="137042" y="1047314"/>
                </a:lnTo>
                <a:lnTo>
                  <a:pt x="142275" y="1059465"/>
                </a:lnTo>
                <a:lnTo>
                  <a:pt x="166545" y="1065450"/>
                </a:lnTo>
                <a:lnTo>
                  <a:pt x="178428" y="1068924"/>
                </a:lnTo>
                <a:lnTo>
                  <a:pt x="198620" y="1069300"/>
                </a:lnTo>
                <a:lnTo>
                  <a:pt x="217913" y="1073899"/>
                </a:lnTo>
                <a:lnTo>
                  <a:pt x="236295" y="1082749"/>
                </a:lnTo>
                <a:lnTo>
                  <a:pt x="265816" y="1083721"/>
                </a:lnTo>
                <a:lnTo>
                  <a:pt x="306516" y="1076921"/>
                </a:lnTo>
                <a:lnTo>
                  <a:pt x="340318" y="1077723"/>
                </a:lnTo>
                <a:lnTo>
                  <a:pt x="367193" y="1086102"/>
                </a:lnTo>
                <a:lnTo>
                  <a:pt x="386434" y="1087090"/>
                </a:lnTo>
                <a:lnTo>
                  <a:pt x="398082" y="1080664"/>
                </a:lnTo>
                <a:lnTo>
                  <a:pt x="402894" y="1071830"/>
                </a:lnTo>
                <a:lnTo>
                  <a:pt x="400863" y="1060598"/>
                </a:lnTo>
                <a:lnTo>
                  <a:pt x="406488" y="1053229"/>
                </a:lnTo>
                <a:lnTo>
                  <a:pt x="419761" y="1049700"/>
                </a:lnTo>
                <a:lnTo>
                  <a:pt x="430164" y="1040811"/>
                </a:lnTo>
                <a:lnTo>
                  <a:pt x="437719" y="1026527"/>
                </a:lnTo>
                <a:lnTo>
                  <a:pt x="455987" y="1014499"/>
                </a:lnTo>
                <a:lnTo>
                  <a:pt x="484982" y="1004746"/>
                </a:lnTo>
                <a:lnTo>
                  <a:pt x="499570" y="1004570"/>
                </a:lnTo>
                <a:lnTo>
                  <a:pt x="498824" y="981906"/>
                </a:lnTo>
                <a:lnTo>
                  <a:pt x="496485" y="910362"/>
                </a:lnTo>
                <a:lnTo>
                  <a:pt x="494173" y="838821"/>
                </a:lnTo>
                <a:lnTo>
                  <a:pt x="491887" y="767297"/>
                </a:lnTo>
                <a:lnTo>
                  <a:pt x="489626" y="695761"/>
                </a:lnTo>
                <a:lnTo>
                  <a:pt x="487392" y="624230"/>
                </a:lnTo>
                <a:lnTo>
                  <a:pt x="485185" y="552719"/>
                </a:lnTo>
                <a:lnTo>
                  <a:pt x="483003" y="481199"/>
                </a:lnTo>
                <a:lnTo>
                  <a:pt x="480968" y="413675"/>
                </a:lnTo>
                <a:lnTo>
                  <a:pt x="488173" y="418323"/>
                </a:lnTo>
                <a:lnTo>
                  <a:pt x="535582" y="452779"/>
                </a:lnTo>
                <a:lnTo>
                  <a:pt x="548596" y="471268"/>
                </a:lnTo>
                <a:lnTo>
                  <a:pt x="555127" y="483030"/>
                </a:lnTo>
                <a:lnTo>
                  <a:pt x="576140" y="525893"/>
                </a:lnTo>
                <a:lnTo>
                  <a:pt x="591914" y="564417"/>
                </a:lnTo>
                <a:lnTo>
                  <a:pt x="604633" y="593446"/>
                </a:lnTo>
                <a:lnTo>
                  <a:pt x="605872" y="606833"/>
                </a:lnTo>
                <a:lnTo>
                  <a:pt x="607882" y="619903"/>
                </a:lnTo>
                <a:lnTo>
                  <a:pt x="609727" y="626300"/>
                </a:lnTo>
                <a:lnTo>
                  <a:pt x="608797" y="633457"/>
                </a:lnTo>
                <a:lnTo>
                  <a:pt x="600786" y="649623"/>
                </a:lnTo>
                <a:lnTo>
                  <a:pt x="592524" y="662061"/>
                </a:lnTo>
                <a:lnTo>
                  <a:pt x="582668" y="679008"/>
                </a:lnTo>
                <a:lnTo>
                  <a:pt x="582261" y="701068"/>
                </a:lnTo>
                <a:lnTo>
                  <a:pt x="586049" y="726930"/>
                </a:lnTo>
                <a:lnTo>
                  <a:pt x="592684" y="739674"/>
                </a:lnTo>
                <a:lnTo>
                  <a:pt x="600692" y="743710"/>
                </a:lnTo>
                <a:lnTo>
                  <a:pt x="619427" y="736795"/>
                </a:lnTo>
                <a:lnTo>
                  <a:pt x="631446" y="738483"/>
                </a:lnTo>
                <a:lnTo>
                  <a:pt x="648446" y="743018"/>
                </a:lnTo>
                <a:lnTo>
                  <a:pt x="703749" y="738777"/>
                </a:lnTo>
                <a:lnTo>
                  <a:pt x="710470" y="740231"/>
                </a:lnTo>
                <a:lnTo>
                  <a:pt x="731404" y="741685"/>
                </a:lnTo>
                <a:lnTo>
                  <a:pt x="738350" y="739421"/>
                </a:lnTo>
                <a:lnTo>
                  <a:pt x="744506" y="733827"/>
                </a:lnTo>
                <a:lnTo>
                  <a:pt x="751476" y="718136"/>
                </a:lnTo>
                <a:lnTo>
                  <a:pt x="757876" y="712920"/>
                </a:lnTo>
                <a:lnTo>
                  <a:pt x="769582" y="710085"/>
                </a:lnTo>
                <a:lnTo>
                  <a:pt x="783440" y="705669"/>
                </a:lnTo>
                <a:lnTo>
                  <a:pt x="794862" y="696540"/>
                </a:lnTo>
                <a:lnTo>
                  <a:pt x="812745" y="665510"/>
                </a:lnTo>
                <a:lnTo>
                  <a:pt x="849104" y="637724"/>
                </a:lnTo>
                <a:lnTo>
                  <a:pt x="860304" y="631060"/>
                </a:lnTo>
                <a:lnTo>
                  <a:pt x="867337" y="623631"/>
                </a:lnTo>
                <a:lnTo>
                  <a:pt x="873412" y="613671"/>
                </a:lnTo>
                <a:lnTo>
                  <a:pt x="885967" y="579149"/>
                </a:lnTo>
                <a:lnTo>
                  <a:pt x="895463" y="550399"/>
                </a:lnTo>
                <a:lnTo>
                  <a:pt x="898670" y="536864"/>
                </a:lnTo>
                <a:lnTo>
                  <a:pt x="907211" y="514725"/>
                </a:lnTo>
                <a:lnTo>
                  <a:pt x="917676" y="500552"/>
                </a:lnTo>
                <a:lnTo>
                  <a:pt x="927964" y="493044"/>
                </a:lnTo>
                <a:lnTo>
                  <a:pt x="933131" y="491106"/>
                </a:lnTo>
                <a:lnTo>
                  <a:pt x="946438" y="487213"/>
                </a:lnTo>
                <a:lnTo>
                  <a:pt x="963563" y="483559"/>
                </a:lnTo>
                <a:lnTo>
                  <a:pt x="981602" y="487453"/>
                </a:lnTo>
                <a:lnTo>
                  <a:pt x="1000962" y="495897"/>
                </a:lnTo>
                <a:lnTo>
                  <a:pt x="1022802" y="510226"/>
                </a:lnTo>
                <a:lnTo>
                  <a:pt x="1045128" y="527972"/>
                </a:lnTo>
                <a:lnTo>
                  <a:pt x="1055392" y="537005"/>
                </a:lnTo>
                <a:lnTo>
                  <a:pt x="1066443" y="541050"/>
                </a:lnTo>
                <a:lnTo>
                  <a:pt x="1086116" y="542469"/>
                </a:lnTo>
                <a:lnTo>
                  <a:pt x="1099014" y="542170"/>
                </a:lnTo>
                <a:lnTo>
                  <a:pt x="1119027" y="559891"/>
                </a:lnTo>
                <a:lnTo>
                  <a:pt x="1129164" y="561035"/>
                </a:lnTo>
                <a:lnTo>
                  <a:pt x="1151810" y="566474"/>
                </a:lnTo>
                <a:lnTo>
                  <a:pt x="1179772" y="572128"/>
                </a:lnTo>
                <a:lnTo>
                  <a:pt x="1197400" y="571611"/>
                </a:lnTo>
                <a:lnTo>
                  <a:pt x="1216348" y="562186"/>
                </a:lnTo>
                <a:lnTo>
                  <a:pt x="1229974" y="561889"/>
                </a:lnTo>
                <a:lnTo>
                  <a:pt x="1247571" y="562816"/>
                </a:lnTo>
                <a:lnTo>
                  <a:pt x="1266937" y="560387"/>
                </a:lnTo>
                <a:lnTo>
                  <a:pt x="1281174" y="556443"/>
                </a:lnTo>
                <a:lnTo>
                  <a:pt x="1292124" y="548262"/>
                </a:lnTo>
                <a:lnTo>
                  <a:pt x="1301796" y="539286"/>
                </a:lnTo>
                <a:lnTo>
                  <a:pt x="1313128" y="512356"/>
                </a:lnTo>
                <a:lnTo>
                  <a:pt x="1319753" y="490646"/>
                </a:lnTo>
                <a:lnTo>
                  <a:pt x="1329922" y="465720"/>
                </a:lnTo>
                <a:lnTo>
                  <a:pt x="1342470" y="431932"/>
                </a:lnTo>
                <a:lnTo>
                  <a:pt x="1347112" y="408320"/>
                </a:lnTo>
                <a:lnTo>
                  <a:pt x="1351648" y="401871"/>
                </a:lnTo>
                <a:lnTo>
                  <a:pt x="1369334" y="394901"/>
                </a:lnTo>
                <a:lnTo>
                  <a:pt x="1383956" y="390159"/>
                </a:lnTo>
                <a:lnTo>
                  <a:pt x="1423240" y="381535"/>
                </a:lnTo>
                <a:lnTo>
                  <a:pt x="1431352" y="376724"/>
                </a:lnTo>
                <a:lnTo>
                  <a:pt x="1438880" y="365703"/>
                </a:lnTo>
                <a:lnTo>
                  <a:pt x="1456337" y="347110"/>
                </a:lnTo>
                <a:lnTo>
                  <a:pt x="1477761" y="331741"/>
                </a:lnTo>
                <a:lnTo>
                  <a:pt x="1488841" y="322919"/>
                </a:lnTo>
                <a:lnTo>
                  <a:pt x="1510480" y="246649"/>
                </a:lnTo>
                <a:lnTo>
                  <a:pt x="1513112" y="237241"/>
                </a:lnTo>
                <a:lnTo>
                  <a:pt x="1528148" y="217226"/>
                </a:lnTo>
                <a:lnTo>
                  <a:pt x="1537356" y="208842"/>
                </a:lnTo>
                <a:lnTo>
                  <a:pt x="1543163" y="208825"/>
                </a:lnTo>
                <a:lnTo>
                  <a:pt x="1551538" y="203661"/>
                </a:lnTo>
                <a:lnTo>
                  <a:pt x="1562487" y="193353"/>
                </a:lnTo>
                <a:lnTo>
                  <a:pt x="1575377" y="187152"/>
                </a:lnTo>
                <a:lnTo>
                  <a:pt x="1590200" y="185093"/>
                </a:lnTo>
                <a:lnTo>
                  <a:pt x="1599942" y="178321"/>
                </a:lnTo>
                <a:lnTo>
                  <a:pt x="1604616" y="166877"/>
                </a:lnTo>
                <a:lnTo>
                  <a:pt x="1612360" y="161469"/>
                </a:lnTo>
                <a:lnTo>
                  <a:pt x="1623186" y="162087"/>
                </a:lnTo>
                <a:lnTo>
                  <a:pt x="1629449" y="158591"/>
                </a:lnTo>
                <a:lnTo>
                  <a:pt x="1631178" y="150947"/>
                </a:lnTo>
                <a:lnTo>
                  <a:pt x="1637901" y="144562"/>
                </a:lnTo>
                <a:lnTo>
                  <a:pt x="1649636" y="139426"/>
                </a:lnTo>
                <a:lnTo>
                  <a:pt x="1655886" y="133127"/>
                </a:lnTo>
                <a:lnTo>
                  <a:pt x="1656647" y="125660"/>
                </a:lnTo>
                <a:lnTo>
                  <a:pt x="1670982" y="107879"/>
                </a:lnTo>
                <a:lnTo>
                  <a:pt x="1698971" y="79800"/>
                </a:lnTo>
                <a:lnTo>
                  <a:pt x="1725046" y="64524"/>
                </a:lnTo>
                <a:lnTo>
                  <a:pt x="1749187" y="62060"/>
                </a:lnTo>
                <a:lnTo>
                  <a:pt x="1772157" y="56835"/>
                </a:lnTo>
                <a:lnTo>
                  <a:pt x="1793991" y="48845"/>
                </a:lnTo>
                <a:lnTo>
                  <a:pt x="1810282" y="35659"/>
                </a:lnTo>
                <a:lnTo>
                  <a:pt x="1821044" y="17296"/>
                </a:lnTo>
                <a:lnTo>
                  <a:pt x="1838817" y="7502"/>
                </a:lnTo>
                <a:lnTo>
                  <a:pt x="1874067" y="5793"/>
                </a:lnTo>
                <a:lnTo>
                  <a:pt x="1875958" y="5681"/>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Freeform 12"/>
          <p:cNvSpPr/>
          <p:nvPr/>
        </p:nvSpPr>
        <p:spPr>
          <a:xfrm>
            <a:off x="1903080" y="2243473"/>
            <a:ext cx="1971692" cy="1866982"/>
          </a:xfrm>
          <a:custGeom>
            <a:avLst/>
            <a:gdLst/>
            <a:ahLst/>
            <a:cxnLst/>
            <a:rect l="l" t="t" r="r" b="b"/>
            <a:pathLst>
              <a:path w="1971692" h="1866982">
                <a:moveTo>
                  <a:pt x="1714773" y="32619"/>
                </a:moveTo>
                <a:lnTo>
                  <a:pt x="1746340" y="26264"/>
                </a:lnTo>
                <a:lnTo>
                  <a:pt x="1783088" y="19956"/>
                </a:lnTo>
                <a:lnTo>
                  <a:pt x="1812510" y="14965"/>
                </a:lnTo>
                <a:lnTo>
                  <a:pt x="1819898" y="13618"/>
                </a:lnTo>
                <a:lnTo>
                  <a:pt x="1890711" y="19756"/>
                </a:lnTo>
                <a:lnTo>
                  <a:pt x="1921538" y="24054"/>
                </a:lnTo>
                <a:lnTo>
                  <a:pt x="1932234" y="28148"/>
                </a:lnTo>
                <a:lnTo>
                  <a:pt x="1946143" y="38793"/>
                </a:lnTo>
                <a:lnTo>
                  <a:pt x="1971692" y="64504"/>
                </a:lnTo>
                <a:lnTo>
                  <a:pt x="1965096" y="63491"/>
                </a:lnTo>
                <a:lnTo>
                  <a:pt x="1917687" y="68537"/>
                </a:lnTo>
                <a:lnTo>
                  <a:pt x="1899613" y="75354"/>
                </a:lnTo>
                <a:lnTo>
                  <a:pt x="1859149" y="105285"/>
                </a:lnTo>
                <a:lnTo>
                  <a:pt x="1850581" y="101375"/>
                </a:lnTo>
                <a:lnTo>
                  <a:pt x="1840933" y="95087"/>
                </a:lnTo>
                <a:lnTo>
                  <a:pt x="1832731" y="93265"/>
                </a:lnTo>
                <a:lnTo>
                  <a:pt x="1814983" y="100468"/>
                </a:lnTo>
                <a:lnTo>
                  <a:pt x="1797303" y="109110"/>
                </a:lnTo>
                <a:lnTo>
                  <a:pt x="1777786" y="121365"/>
                </a:lnTo>
                <a:lnTo>
                  <a:pt x="1761729" y="133402"/>
                </a:lnTo>
                <a:lnTo>
                  <a:pt x="1756488" y="139867"/>
                </a:lnTo>
                <a:lnTo>
                  <a:pt x="1731329" y="164707"/>
                </a:lnTo>
                <a:lnTo>
                  <a:pt x="1723139" y="168748"/>
                </a:lnTo>
                <a:lnTo>
                  <a:pt x="1715847" y="170458"/>
                </a:lnTo>
                <a:lnTo>
                  <a:pt x="1712902" y="169340"/>
                </a:lnTo>
                <a:lnTo>
                  <a:pt x="1709736" y="158694"/>
                </a:lnTo>
                <a:lnTo>
                  <a:pt x="1694215" y="133857"/>
                </a:lnTo>
                <a:lnTo>
                  <a:pt x="1669270" y="101336"/>
                </a:lnTo>
                <a:lnTo>
                  <a:pt x="1662001" y="98199"/>
                </a:lnTo>
                <a:lnTo>
                  <a:pt x="1657027" y="96975"/>
                </a:lnTo>
                <a:lnTo>
                  <a:pt x="1638623" y="98668"/>
                </a:lnTo>
                <a:lnTo>
                  <a:pt x="1585177" y="108315"/>
                </a:lnTo>
                <a:lnTo>
                  <a:pt x="1540153" y="116547"/>
                </a:lnTo>
                <a:lnTo>
                  <a:pt x="1471211" y="130717"/>
                </a:lnTo>
                <a:lnTo>
                  <a:pt x="1397218" y="142655"/>
                </a:lnTo>
                <a:lnTo>
                  <a:pt x="1351610" y="150131"/>
                </a:lnTo>
                <a:lnTo>
                  <a:pt x="1311905" y="152896"/>
                </a:lnTo>
                <a:lnTo>
                  <a:pt x="1312537" y="185209"/>
                </a:lnTo>
                <a:lnTo>
                  <a:pt x="1313872" y="250601"/>
                </a:lnTo>
                <a:lnTo>
                  <a:pt x="1315209" y="315995"/>
                </a:lnTo>
                <a:lnTo>
                  <a:pt x="1316562" y="381407"/>
                </a:lnTo>
                <a:lnTo>
                  <a:pt x="1317946" y="446852"/>
                </a:lnTo>
                <a:lnTo>
                  <a:pt x="1319332" y="512298"/>
                </a:lnTo>
                <a:lnTo>
                  <a:pt x="1320749" y="577758"/>
                </a:lnTo>
                <a:lnTo>
                  <a:pt x="1322167" y="643234"/>
                </a:lnTo>
                <a:lnTo>
                  <a:pt x="1323602" y="708739"/>
                </a:lnTo>
                <a:lnTo>
                  <a:pt x="1324224" y="737294"/>
                </a:lnTo>
                <a:lnTo>
                  <a:pt x="1323078" y="743471"/>
                </a:lnTo>
                <a:lnTo>
                  <a:pt x="1300852" y="743991"/>
                </a:lnTo>
                <a:lnTo>
                  <a:pt x="1250593" y="745260"/>
                </a:lnTo>
                <a:lnTo>
                  <a:pt x="1208304" y="746427"/>
                </a:lnTo>
                <a:lnTo>
                  <a:pt x="1174127" y="747436"/>
                </a:lnTo>
                <a:lnTo>
                  <a:pt x="1175254" y="786362"/>
                </a:lnTo>
                <a:lnTo>
                  <a:pt x="1176589" y="832414"/>
                </a:lnTo>
                <a:lnTo>
                  <a:pt x="1177934" y="878455"/>
                </a:lnTo>
                <a:lnTo>
                  <a:pt x="1179291" y="924503"/>
                </a:lnTo>
                <a:lnTo>
                  <a:pt x="1180672" y="970554"/>
                </a:lnTo>
                <a:lnTo>
                  <a:pt x="1182064" y="1016611"/>
                </a:lnTo>
                <a:lnTo>
                  <a:pt x="1183452" y="1062673"/>
                </a:lnTo>
                <a:lnTo>
                  <a:pt x="1184851" y="1108739"/>
                </a:lnTo>
                <a:lnTo>
                  <a:pt x="1186262" y="1154824"/>
                </a:lnTo>
                <a:lnTo>
                  <a:pt x="1187343" y="1189579"/>
                </a:lnTo>
                <a:lnTo>
                  <a:pt x="1187463" y="1193567"/>
                </a:lnTo>
                <a:lnTo>
                  <a:pt x="1189498" y="1261091"/>
                </a:lnTo>
                <a:lnTo>
                  <a:pt x="1191680" y="1332611"/>
                </a:lnTo>
                <a:lnTo>
                  <a:pt x="1193887" y="1404122"/>
                </a:lnTo>
                <a:lnTo>
                  <a:pt x="1196121" y="1475653"/>
                </a:lnTo>
                <a:lnTo>
                  <a:pt x="1198382" y="1547189"/>
                </a:lnTo>
                <a:lnTo>
                  <a:pt x="1200668" y="1618713"/>
                </a:lnTo>
                <a:lnTo>
                  <a:pt x="1202980" y="1690254"/>
                </a:lnTo>
                <a:lnTo>
                  <a:pt x="1205319" y="1761798"/>
                </a:lnTo>
                <a:lnTo>
                  <a:pt x="1206065" y="1784462"/>
                </a:lnTo>
                <a:lnTo>
                  <a:pt x="1191477" y="1784638"/>
                </a:lnTo>
                <a:lnTo>
                  <a:pt x="1162482" y="1794391"/>
                </a:lnTo>
                <a:lnTo>
                  <a:pt x="1144214" y="1806419"/>
                </a:lnTo>
                <a:lnTo>
                  <a:pt x="1136659" y="1820703"/>
                </a:lnTo>
                <a:lnTo>
                  <a:pt x="1126256" y="1829592"/>
                </a:lnTo>
                <a:lnTo>
                  <a:pt x="1112983" y="1833121"/>
                </a:lnTo>
                <a:lnTo>
                  <a:pt x="1107358" y="1840490"/>
                </a:lnTo>
                <a:lnTo>
                  <a:pt x="1109389" y="1851722"/>
                </a:lnTo>
                <a:lnTo>
                  <a:pt x="1104577" y="1860556"/>
                </a:lnTo>
                <a:lnTo>
                  <a:pt x="1092929" y="1866982"/>
                </a:lnTo>
                <a:lnTo>
                  <a:pt x="1073688" y="1865994"/>
                </a:lnTo>
                <a:lnTo>
                  <a:pt x="1046813" y="1857615"/>
                </a:lnTo>
                <a:lnTo>
                  <a:pt x="1013011" y="1856813"/>
                </a:lnTo>
                <a:lnTo>
                  <a:pt x="972311" y="1863613"/>
                </a:lnTo>
                <a:lnTo>
                  <a:pt x="942790" y="1862641"/>
                </a:lnTo>
                <a:lnTo>
                  <a:pt x="924408" y="1853791"/>
                </a:lnTo>
                <a:lnTo>
                  <a:pt x="905115" y="1849192"/>
                </a:lnTo>
                <a:lnTo>
                  <a:pt x="884923" y="1848816"/>
                </a:lnTo>
                <a:lnTo>
                  <a:pt x="873040" y="1845342"/>
                </a:lnTo>
                <a:lnTo>
                  <a:pt x="848770" y="1839357"/>
                </a:lnTo>
                <a:lnTo>
                  <a:pt x="843537" y="1827206"/>
                </a:lnTo>
                <a:lnTo>
                  <a:pt x="840220" y="1817962"/>
                </a:lnTo>
                <a:lnTo>
                  <a:pt x="832873" y="1808429"/>
                </a:lnTo>
                <a:lnTo>
                  <a:pt x="831690" y="1800507"/>
                </a:lnTo>
                <a:lnTo>
                  <a:pt x="836705" y="1794160"/>
                </a:lnTo>
                <a:lnTo>
                  <a:pt x="836952" y="1784351"/>
                </a:lnTo>
                <a:lnTo>
                  <a:pt x="832380" y="1771079"/>
                </a:lnTo>
                <a:lnTo>
                  <a:pt x="825392" y="1764867"/>
                </a:lnTo>
                <a:lnTo>
                  <a:pt x="816005" y="1765734"/>
                </a:lnTo>
                <a:lnTo>
                  <a:pt x="809865" y="1760899"/>
                </a:lnTo>
                <a:lnTo>
                  <a:pt x="806983" y="1750360"/>
                </a:lnTo>
                <a:lnTo>
                  <a:pt x="800978" y="1742575"/>
                </a:lnTo>
                <a:lnTo>
                  <a:pt x="787261" y="1735074"/>
                </a:lnTo>
                <a:lnTo>
                  <a:pt x="770122" y="1742256"/>
                </a:lnTo>
                <a:lnTo>
                  <a:pt x="762415" y="1752099"/>
                </a:lnTo>
                <a:lnTo>
                  <a:pt x="758425" y="1767013"/>
                </a:lnTo>
                <a:lnTo>
                  <a:pt x="754445" y="1774600"/>
                </a:lnTo>
                <a:lnTo>
                  <a:pt x="752949" y="1786993"/>
                </a:lnTo>
                <a:lnTo>
                  <a:pt x="752464" y="1795720"/>
                </a:lnTo>
                <a:lnTo>
                  <a:pt x="748513" y="1805215"/>
                </a:lnTo>
                <a:lnTo>
                  <a:pt x="744101" y="1809238"/>
                </a:lnTo>
                <a:lnTo>
                  <a:pt x="739240" y="1807820"/>
                </a:lnTo>
                <a:lnTo>
                  <a:pt x="730497" y="1812038"/>
                </a:lnTo>
                <a:lnTo>
                  <a:pt x="711645" y="1826876"/>
                </a:lnTo>
                <a:lnTo>
                  <a:pt x="706495" y="1834407"/>
                </a:lnTo>
                <a:lnTo>
                  <a:pt x="689760" y="1822344"/>
                </a:lnTo>
                <a:lnTo>
                  <a:pt x="640139" y="1776244"/>
                </a:lnTo>
                <a:lnTo>
                  <a:pt x="622806" y="1764570"/>
                </a:lnTo>
                <a:lnTo>
                  <a:pt x="596382" y="1736143"/>
                </a:lnTo>
                <a:lnTo>
                  <a:pt x="536207" y="1646615"/>
                </a:lnTo>
                <a:lnTo>
                  <a:pt x="527256" y="1629212"/>
                </a:lnTo>
                <a:lnTo>
                  <a:pt x="513835" y="1584918"/>
                </a:lnTo>
                <a:lnTo>
                  <a:pt x="499611" y="1552377"/>
                </a:lnTo>
                <a:lnTo>
                  <a:pt x="496964" y="1533215"/>
                </a:lnTo>
                <a:lnTo>
                  <a:pt x="501896" y="1521934"/>
                </a:lnTo>
                <a:lnTo>
                  <a:pt x="497384" y="1507353"/>
                </a:lnTo>
                <a:lnTo>
                  <a:pt x="490348" y="1494559"/>
                </a:lnTo>
                <a:lnTo>
                  <a:pt x="470571" y="1478550"/>
                </a:lnTo>
                <a:lnTo>
                  <a:pt x="461242" y="1421057"/>
                </a:lnTo>
                <a:lnTo>
                  <a:pt x="446170" y="1384559"/>
                </a:lnTo>
                <a:lnTo>
                  <a:pt x="446689" y="1353479"/>
                </a:lnTo>
                <a:lnTo>
                  <a:pt x="438759" y="1325768"/>
                </a:lnTo>
                <a:lnTo>
                  <a:pt x="436923" y="1307767"/>
                </a:lnTo>
                <a:lnTo>
                  <a:pt x="437255" y="1273296"/>
                </a:lnTo>
                <a:lnTo>
                  <a:pt x="424451" y="1234593"/>
                </a:lnTo>
                <a:lnTo>
                  <a:pt x="401310" y="1197495"/>
                </a:lnTo>
                <a:lnTo>
                  <a:pt x="378921" y="1143209"/>
                </a:lnTo>
                <a:lnTo>
                  <a:pt x="374557" y="1119040"/>
                </a:lnTo>
                <a:lnTo>
                  <a:pt x="372008" y="1053385"/>
                </a:lnTo>
                <a:lnTo>
                  <a:pt x="366574" y="1026932"/>
                </a:lnTo>
                <a:lnTo>
                  <a:pt x="364627" y="995493"/>
                </a:lnTo>
                <a:lnTo>
                  <a:pt x="355014" y="963482"/>
                </a:lnTo>
                <a:lnTo>
                  <a:pt x="350767" y="945938"/>
                </a:lnTo>
                <a:lnTo>
                  <a:pt x="355022" y="931494"/>
                </a:lnTo>
                <a:lnTo>
                  <a:pt x="358405" y="935710"/>
                </a:lnTo>
                <a:lnTo>
                  <a:pt x="363946" y="937436"/>
                </a:lnTo>
                <a:lnTo>
                  <a:pt x="366283" y="918499"/>
                </a:lnTo>
                <a:lnTo>
                  <a:pt x="366080" y="901940"/>
                </a:lnTo>
                <a:lnTo>
                  <a:pt x="353977" y="861899"/>
                </a:lnTo>
                <a:lnTo>
                  <a:pt x="330215" y="821788"/>
                </a:lnTo>
                <a:lnTo>
                  <a:pt x="273593" y="757820"/>
                </a:lnTo>
                <a:lnTo>
                  <a:pt x="259086" y="732936"/>
                </a:lnTo>
                <a:lnTo>
                  <a:pt x="250316" y="712065"/>
                </a:lnTo>
                <a:lnTo>
                  <a:pt x="185783" y="627224"/>
                </a:lnTo>
                <a:lnTo>
                  <a:pt x="156330" y="566142"/>
                </a:lnTo>
                <a:lnTo>
                  <a:pt x="134986" y="513077"/>
                </a:lnTo>
                <a:lnTo>
                  <a:pt x="114134" y="489511"/>
                </a:lnTo>
                <a:lnTo>
                  <a:pt x="20191" y="332217"/>
                </a:lnTo>
                <a:lnTo>
                  <a:pt x="0" y="44340"/>
                </a:lnTo>
                <a:lnTo>
                  <a:pt x="7424" y="44000"/>
                </a:lnTo>
                <a:lnTo>
                  <a:pt x="23539" y="34257"/>
                </a:lnTo>
                <a:lnTo>
                  <a:pt x="42778" y="24242"/>
                </a:lnTo>
                <a:lnTo>
                  <a:pt x="53711" y="16004"/>
                </a:lnTo>
                <a:lnTo>
                  <a:pt x="69226" y="7154"/>
                </a:lnTo>
                <a:lnTo>
                  <a:pt x="75936" y="4132"/>
                </a:lnTo>
                <a:lnTo>
                  <a:pt x="128524" y="0"/>
                </a:lnTo>
                <a:lnTo>
                  <a:pt x="137046" y="601"/>
                </a:lnTo>
                <a:lnTo>
                  <a:pt x="148508" y="4912"/>
                </a:lnTo>
                <a:lnTo>
                  <a:pt x="162722" y="20120"/>
                </a:lnTo>
                <a:lnTo>
                  <a:pt x="184057" y="33370"/>
                </a:lnTo>
                <a:lnTo>
                  <a:pt x="199630" y="41045"/>
                </a:lnTo>
                <a:lnTo>
                  <a:pt x="217603" y="51367"/>
                </a:lnTo>
                <a:lnTo>
                  <a:pt x="223073" y="55478"/>
                </a:lnTo>
                <a:lnTo>
                  <a:pt x="230826" y="57395"/>
                </a:lnTo>
                <a:lnTo>
                  <a:pt x="235499" y="57810"/>
                </a:lnTo>
                <a:lnTo>
                  <a:pt x="267471" y="53719"/>
                </a:lnTo>
                <a:lnTo>
                  <a:pt x="296457" y="50059"/>
                </a:lnTo>
                <a:lnTo>
                  <a:pt x="327756" y="47947"/>
                </a:lnTo>
                <a:lnTo>
                  <a:pt x="386702" y="44103"/>
                </a:lnTo>
                <a:lnTo>
                  <a:pt x="445670" y="40422"/>
                </a:lnTo>
                <a:lnTo>
                  <a:pt x="504657" y="36890"/>
                </a:lnTo>
                <a:lnTo>
                  <a:pt x="563666" y="33538"/>
                </a:lnTo>
                <a:lnTo>
                  <a:pt x="622693" y="30350"/>
                </a:lnTo>
                <a:lnTo>
                  <a:pt x="681738" y="27326"/>
                </a:lnTo>
                <a:lnTo>
                  <a:pt x="740800" y="24466"/>
                </a:lnTo>
                <a:lnTo>
                  <a:pt x="799863" y="21771"/>
                </a:lnTo>
                <a:lnTo>
                  <a:pt x="824039" y="20709"/>
                </a:lnTo>
                <a:lnTo>
                  <a:pt x="866288" y="19380"/>
                </a:lnTo>
                <a:lnTo>
                  <a:pt x="910732" y="18077"/>
                </a:lnTo>
                <a:lnTo>
                  <a:pt x="915681" y="18800"/>
                </a:lnTo>
                <a:lnTo>
                  <a:pt x="920747" y="21713"/>
                </a:lnTo>
                <a:lnTo>
                  <a:pt x="924900" y="24459"/>
                </a:lnTo>
                <a:lnTo>
                  <a:pt x="941246" y="44219"/>
                </a:lnTo>
                <a:lnTo>
                  <a:pt x="961968" y="64777"/>
                </a:lnTo>
                <a:lnTo>
                  <a:pt x="978925" y="74251"/>
                </a:lnTo>
                <a:lnTo>
                  <a:pt x="999040" y="79471"/>
                </a:lnTo>
                <a:lnTo>
                  <a:pt x="1017790" y="81062"/>
                </a:lnTo>
                <a:lnTo>
                  <a:pt x="1035163" y="78975"/>
                </a:lnTo>
                <a:lnTo>
                  <a:pt x="1064176" y="80705"/>
                </a:lnTo>
                <a:lnTo>
                  <a:pt x="1104782" y="86299"/>
                </a:lnTo>
                <a:lnTo>
                  <a:pt x="1146831" y="87043"/>
                </a:lnTo>
                <a:lnTo>
                  <a:pt x="1190317" y="82961"/>
                </a:lnTo>
                <a:lnTo>
                  <a:pt x="1221026" y="85937"/>
                </a:lnTo>
                <a:lnTo>
                  <a:pt x="1238922" y="95915"/>
                </a:lnTo>
                <a:lnTo>
                  <a:pt x="1257172" y="102534"/>
                </a:lnTo>
                <a:lnTo>
                  <a:pt x="1275798" y="105778"/>
                </a:lnTo>
                <a:lnTo>
                  <a:pt x="1300837" y="103009"/>
                </a:lnTo>
                <a:lnTo>
                  <a:pt x="1332311" y="94265"/>
                </a:lnTo>
                <a:lnTo>
                  <a:pt x="1359216" y="94875"/>
                </a:lnTo>
                <a:lnTo>
                  <a:pt x="1371773" y="100484"/>
                </a:lnTo>
                <a:lnTo>
                  <a:pt x="1379196" y="100531"/>
                </a:lnTo>
                <a:lnTo>
                  <a:pt x="1425554" y="91230"/>
                </a:lnTo>
                <a:lnTo>
                  <a:pt x="1462841" y="83823"/>
                </a:lnTo>
                <a:lnTo>
                  <a:pt x="1518776" y="72227"/>
                </a:lnTo>
                <a:lnTo>
                  <a:pt x="1564963" y="62769"/>
                </a:lnTo>
                <a:lnTo>
                  <a:pt x="1633465" y="48933"/>
                </a:lnTo>
                <a:lnTo>
                  <a:pt x="1681683" y="39341"/>
                </a:lnTo>
                <a:lnTo>
                  <a:pt x="1714773" y="32619"/>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Freeform 13"/>
          <p:cNvSpPr/>
          <p:nvPr/>
        </p:nvSpPr>
        <p:spPr>
          <a:xfrm>
            <a:off x="4769340" y="2224147"/>
            <a:ext cx="690790" cy="1581819"/>
          </a:xfrm>
          <a:custGeom>
            <a:avLst/>
            <a:gdLst/>
            <a:ahLst/>
            <a:cxnLst/>
            <a:rect l="l" t="t" r="r" b="b"/>
            <a:pathLst>
              <a:path w="690790" h="1581819">
                <a:moveTo>
                  <a:pt x="21970" y="836817"/>
                </a:moveTo>
                <a:lnTo>
                  <a:pt x="44381" y="814679"/>
                </a:lnTo>
                <a:lnTo>
                  <a:pt x="70662" y="788793"/>
                </a:lnTo>
                <a:lnTo>
                  <a:pt x="94147" y="765712"/>
                </a:lnTo>
                <a:lnTo>
                  <a:pt x="114834" y="745443"/>
                </a:lnTo>
                <a:lnTo>
                  <a:pt x="143194" y="717749"/>
                </a:lnTo>
                <a:lnTo>
                  <a:pt x="171286" y="690403"/>
                </a:lnTo>
                <a:lnTo>
                  <a:pt x="177698" y="687093"/>
                </a:lnTo>
                <a:lnTo>
                  <a:pt x="180443" y="684891"/>
                </a:lnTo>
                <a:lnTo>
                  <a:pt x="170454" y="658386"/>
                </a:lnTo>
                <a:lnTo>
                  <a:pt x="190580" y="629616"/>
                </a:lnTo>
                <a:lnTo>
                  <a:pt x="192680" y="610221"/>
                </a:lnTo>
                <a:lnTo>
                  <a:pt x="192949" y="591560"/>
                </a:lnTo>
                <a:lnTo>
                  <a:pt x="195653" y="583156"/>
                </a:lnTo>
                <a:lnTo>
                  <a:pt x="201644" y="576017"/>
                </a:lnTo>
                <a:lnTo>
                  <a:pt x="224151" y="561840"/>
                </a:lnTo>
                <a:lnTo>
                  <a:pt x="241933" y="538090"/>
                </a:lnTo>
                <a:lnTo>
                  <a:pt x="256692" y="515805"/>
                </a:lnTo>
                <a:lnTo>
                  <a:pt x="277499" y="479755"/>
                </a:lnTo>
                <a:lnTo>
                  <a:pt x="279845" y="471101"/>
                </a:lnTo>
                <a:lnTo>
                  <a:pt x="280653" y="462076"/>
                </a:lnTo>
                <a:lnTo>
                  <a:pt x="276215" y="449145"/>
                </a:lnTo>
                <a:lnTo>
                  <a:pt x="264910" y="427881"/>
                </a:lnTo>
                <a:lnTo>
                  <a:pt x="256848" y="409655"/>
                </a:lnTo>
                <a:lnTo>
                  <a:pt x="250298" y="381942"/>
                </a:lnTo>
                <a:lnTo>
                  <a:pt x="259734" y="358828"/>
                </a:lnTo>
                <a:lnTo>
                  <a:pt x="263432" y="344745"/>
                </a:lnTo>
                <a:lnTo>
                  <a:pt x="263832" y="337035"/>
                </a:lnTo>
                <a:lnTo>
                  <a:pt x="260637" y="329484"/>
                </a:lnTo>
                <a:lnTo>
                  <a:pt x="251800" y="323361"/>
                </a:lnTo>
                <a:lnTo>
                  <a:pt x="244417" y="319269"/>
                </a:lnTo>
                <a:lnTo>
                  <a:pt x="242388" y="309330"/>
                </a:lnTo>
                <a:lnTo>
                  <a:pt x="242947" y="297702"/>
                </a:lnTo>
                <a:lnTo>
                  <a:pt x="246771" y="291503"/>
                </a:lnTo>
                <a:lnTo>
                  <a:pt x="267579" y="282429"/>
                </a:lnTo>
                <a:lnTo>
                  <a:pt x="272486" y="277090"/>
                </a:lnTo>
                <a:lnTo>
                  <a:pt x="275238" y="270920"/>
                </a:lnTo>
                <a:lnTo>
                  <a:pt x="275945" y="261928"/>
                </a:lnTo>
                <a:lnTo>
                  <a:pt x="283430" y="239848"/>
                </a:lnTo>
                <a:lnTo>
                  <a:pt x="292353" y="219013"/>
                </a:lnTo>
                <a:lnTo>
                  <a:pt x="293277" y="211515"/>
                </a:lnTo>
                <a:lnTo>
                  <a:pt x="290903" y="204742"/>
                </a:lnTo>
                <a:lnTo>
                  <a:pt x="289440" y="192546"/>
                </a:lnTo>
                <a:lnTo>
                  <a:pt x="289041" y="174277"/>
                </a:lnTo>
                <a:lnTo>
                  <a:pt x="291668" y="123375"/>
                </a:lnTo>
                <a:lnTo>
                  <a:pt x="298504" y="71081"/>
                </a:lnTo>
                <a:lnTo>
                  <a:pt x="298331" y="41172"/>
                </a:lnTo>
                <a:lnTo>
                  <a:pt x="287023" y="6074"/>
                </a:lnTo>
                <a:lnTo>
                  <a:pt x="287032" y="0"/>
                </a:lnTo>
                <a:lnTo>
                  <a:pt x="623573" y="24339"/>
                </a:lnTo>
                <a:lnTo>
                  <a:pt x="620357" y="26803"/>
                </a:lnTo>
                <a:lnTo>
                  <a:pt x="622903" y="36952"/>
                </a:lnTo>
                <a:lnTo>
                  <a:pt x="626941" y="42485"/>
                </a:lnTo>
                <a:lnTo>
                  <a:pt x="631627" y="45492"/>
                </a:lnTo>
                <a:lnTo>
                  <a:pt x="643404" y="47062"/>
                </a:lnTo>
                <a:lnTo>
                  <a:pt x="654498" y="45938"/>
                </a:lnTo>
                <a:lnTo>
                  <a:pt x="657478" y="42720"/>
                </a:lnTo>
                <a:lnTo>
                  <a:pt x="658030" y="27136"/>
                </a:lnTo>
                <a:lnTo>
                  <a:pt x="690790" y="29849"/>
                </a:lnTo>
                <a:lnTo>
                  <a:pt x="664426" y="404973"/>
                </a:lnTo>
                <a:lnTo>
                  <a:pt x="642188" y="428192"/>
                </a:lnTo>
                <a:lnTo>
                  <a:pt x="575297" y="474109"/>
                </a:lnTo>
                <a:lnTo>
                  <a:pt x="566564" y="474865"/>
                </a:lnTo>
                <a:lnTo>
                  <a:pt x="560755" y="474189"/>
                </a:lnTo>
                <a:lnTo>
                  <a:pt x="542105" y="454782"/>
                </a:lnTo>
                <a:lnTo>
                  <a:pt x="531352" y="452602"/>
                </a:lnTo>
                <a:lnTo>
                  <a:pt x="540329" y="463940"/>
                </a:lnTo>
                <a:lnTo>
                  <a:pt x="546122" y="473247"/>
                </a:lnTo>
                <a:lnTo>
                  <a:pt x="543297" y="490378"/>
                </a:lnTo>
                <a:lnTo>
                  <a:pt x="542244" y="516340"/>
                </a:lnTo>
                <a:lnTo>
                  <a:pt x="530888" y="566062"/>
                </a:lnTo>
                <a:lnTo>
                  <a:pt x="531157" y="577170"/>
                </a:lnTo>
                <a:lnTo>
                  <a:pt x="539134" y="592165"/>
                </a:lnTo>
                <a:lnTo>
                  <a:pt x="554785" y="611025"/>
                </a:lnTo>
                <a:lnTo>
                  <a:pt x="569034" y="634080"/>
                </a:lnTo>
                <a:lnTo>
                  <a:pt x="584708" y="698250"/>
                </a:lnTo>
                <a:lnTo>
                  <a:pt x="583858" y="730527"/>
                </a:lnTo>
                <a:lnTo>
                  <a:pt x="601601" y="773374"/>
                </a:lnTo>
                <a:lnTo>
                  <a:pt x="601016" y="791235"/>
                </a:lnTo>
                <a:lnTo>
                  <a:pt x="605970" y="836256"/>
                </a:lnTo>
                <a:lnTo>
                  <a:pt x="602606" y="872037"/>
                </a:lnTo>
                <a:lnTo>
                  <a:pt x="599411" y="893851"/>
                </a:lnTo>
                <a:lnTo>
                  <a:pt x="608662" y="903992"/>
                </a:lnTo>
                <a:lnTo>
                  <a:pt x="613009" y="895947"/>
                </a:lnTo>
                <a:lnTo>
                  <a:pt x="613083" y="881984"/>
                </a:lnTo>
                <a:lnTo>
                  <a:pt x="617519" y="859946"/>
                </a:lnTo>
                <a:lnTo>
                  <a:pt x="623882" y="850514"/>
                </a:lnTo>
                <a:lnTo>
                  <a:pt x="629332" y="852412"/>
                </a:lnTo>
                <a:lnTo>
                  <a:pt x="629792" y="858397"/>
                </a:lnTo>
                <a:lnTo>
                  <a:pt x="624076" y="929631"/>
                </a:lnTo>
                <a:lnTo>
                  <a:pt x="621941" y="938030"/>
                </a:lnTo>
                <a:lnTo>
                  <a:pt x="622451" y="949717"/>
                </a:lnTo>
                <a:lnTo>
                  <a:pt x="616679" y="1020484"/>
                </a:lnTo>
                <a:lnTo>
                  <a:pt x="615656" y="1022865"/>
                </a:lnTo>
                <a:lnTo>
                  <a:pt x="591447" y="1105361"/>
                </a:lnTo>
                <a:lnTo>
                  <a:pt x="589286" y="1119815"/>
                </a:lnTo>
                <a:lnTo>
                  <a:pt x="592933" y="1126525"/>
                </a:lnTo>
                <a:lnTo>
                  <a:pt x="602042" y="1129498"/>
                </a:lnTo>
                <a:lnTo>
                  <a:pt x="606347" y="1119093"/>
                </a:lnTo>
                <a:lnTo>
                  <a:pt x="608495" y="1119315"/>
                </a:lnTo>
                <a:lnTo>
                  <a:pt x="605353" y="1156804"/>
                </a:lnTo>
                <a:lnTo>
                  <a:pt x="603192" y="1164335"/>
                </a:lnTo>
                <a:lnTo>
                  <a:pt x="594213" y="1180652"/>
                </a:lnTo>
                <a:lnTo>
                  <a:pt x="563937" y="1219947"/>
                </a:lnTo>
                <a:lnTo>
                  <a:pt x="548005" y="1236556"/>
                </a:lnTo>
                <a:lnTo>
                  <a:pt x="522645" y="1252048"/>
                </a:lnTo>
                <a:lnTo>
                  <a:pt x="464322" y="1274773"/>
                </a:lnTo>
                <a:lnTo>
                  <a:pt x="348913" y="1305478"/>
                </a:lnTo>
                <a:lnTo>
                  <a:pt x="302959" y="1321551"/>
                </a:lnTo>
                <a:lnTo>
                  <a:pt x="275564" y="1331181"/>
                </a:lnTo>
                <a:lnTo>
                  <a:pt x="216850" y="1364063"/>
                </a:lnTo>
                <a:lnTo>
                  <a:pt x="190651" y="1387106"/>
                </a:lnTo>
                <a:lnTo>
                  <a:pt x="178653" y="1414805"/>
                </a:lnTo>
                <a:lnTo>
                  <a:pt x="168125" y="1427149"/>
                </a:lnTo>
                <a:lnTo>
                  <a:pt x="157563" y="1442965"/>
                </a:lnTo>
                <a:lnTo>
                  <a:pt x="164870" y="1457656"/>
                </a:lnTo>
                <a:lnTo>
                  <a:pt x="172252" y="1468903"/>
                </a:lnTo>
                <a:lnTo>
                  <a:pt x="181315" y="1476721"/>
                </a:lnTo>
                <a:lnTo>
                  <a:pt x="185842" y="1483234"/>
                </a:lnTo>
                <a:lnTo>
                  <a:pt x="192031" y="1487972"/>
                </a:lnTo>
                <a:lnTo>
                  <a:pt x="200088" y="1466207"/>
                </a:lnTo>
                <a:lnTo>
                  <a:pt x="203795" y="1459524"/>
                </a:lnTo>
                <a:lnTo>
                  <a:pt x="209392" y="1459381"/>
                </a:lnTo>
                <a:lnTo>
                  <a:pt x="204438" y="1486300"/>
                </a:lnTo>
                <a:lnTo>
                  <a:pt x="191561" y="1578819"/>
                </a:lnTo>
                <a:lnTo>
                  <a:pt x="190914" y="1581819"/>
                </a:lnTo>
                <a:lnTo>
                  <a:pt x="175165" y="1580987"/>
                </a:lnTo>
                <a:lnTo>
                  <a:pt x="148149" y="1579904"/>
                </a:lnTo>
                <a:lnTo>
                  <a:pt x="132174" y="1579267"/>
                </a:lnTo>
                <a:lnTo>
                  <a:pt x="114302" y="1578581"/>
                </a:lnTo>
                <a:lnTo>
                  <a:pt x="92488" y="1572611"/>
                </a:lnTo>
                <a:lnTo>
                  <a:pt x="79967" y="1572766"/>
                </a:lnTo>
                <a:lnTo>
                  <a:pt x="82239" y="1521333"/>
                </a:lnTo>
                <a:lnTo>
                  <a:pt x="78913" y="1509784"/>
                </a:lnTo>
                <a:lnTo>
                  <a:pt x="75682" y="1493007"/>
                </a:lnTo>
                <a:lnTo>
                  <a:pt x="75344" y="1482344"/>
                </a:lnTo>
                <a:lnTo>
                  <a:pt x="78689" y="1471866"/>
                </a:lnTo>
                <a:lnTo>
                  <a:pt x="81027" y="1455082"/>
                </a:lnTo>
                <a:lnTo>
                  <a:pt x="80746" y="1440244"/>
                </a:lnTo>
                <a:lnTo>
                  <a:pt x="67873" y="1431994"/>
                </a:lnTo>
                <a:lnTo>
                  <a:pt x="65090" y="1429456"/>
                </a:lnTo>
                <a:lnTo>
                  <a:pt x="62914" y="1417656"/>
                </a:lnTo>
                <a:lnTo>
                  <a:pt x="62843" y="1399666"/>
                </a:lnTo>
                <a:lnTo>
                  <a:pt x="73558" y="1377415"/>
                </a:lnTo>
                <a:lnTo>
                  <a:pt x="75466" y="1333558"/>
                </a:lnTo>
                <a:lnTo>
                  <a:pt x="77508" y="1318192"/>
                </a:lnTo>
                <a:lnTo>
                  <a:pt x="79159" y="1287688"/>
                </a:lnTo>
                <a:lnTo>
                  <a:pt x="81171" y="1250731"/>
                </a:lnTo>
                <a:lnTo>
                  <a:pt x="82969" y="1217640"/>
                </a:lnTo>
                <a:lnTo>
                  <a:pt x="85046" y="1189106"/>
                </a:lnTo>
                <a:lnTo>
                  <a:pt x="83022" y="1175399"/>
                </a:lnTo>
                <a:lnTo>
                  <a:pt x="81107" y="1167829"/>
                </a:lnTo>
                <a:lnTo>
                  <a:pt x="75737" y="1152328"/>
                </a:lnTo>
                <a:lnTo>
                  <a:pt x="70249" y="1120377"/>
                </a:lnTo>
                <a:lnTo>
                  <a:pt x="62967" y="1096058"/>
                </a:lnTo>
                <a:lnTo>
                  <a:pt x="52713" y="1079696"/>
                </a:lnTo>
                <a:lnTo>
                  <a:pt x="49632" y="1071213"/>
                </a:lnTo>
                <a:lnTo>
                  <a:pt x="46646" y="1059935"/>
                </a:lnTo>
                <a:lnTo>
                  <a:pt x="37166" y="1039821"/>
                </a:lnTo>
                <a:lnTo>
                  <a:pt x="29140" y="1027971"/>
                </a:lnTo>
                <a:lnTo>
                  <a:pt x="27278" y="1018747"/>
                </a:lnTo>
                <a:lnTo>
                  <a:pt x="28851" y="995255"/>
                </a:lnTo>
                <a:lnTo>
                  <a:pt x="21468" y="952471"/>
                </a:lnTo>
                <a:lnTo>
                  <a:pt x="16058" y="921284"/>
                </a:lnTo>
                <a:lnTo>
                  <a:pt x="7189" y="887344"/>
                </a:lnTo>
                <a:lnTo>
                  <a:pt x="1207" y="864621"/>
                </a:lnTo>
                <a:lnTo>
                  <a:pt x="356" y="860719"/>
                </a:lnTo>
                <a:lnTo>
                  <a:pt x="0" y="852219"/>
                </a:lnTo>
                <a:lnTo>
                  <a:pt x="21970" y="836817"/>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Freeform 14"/>
          <p:cNvSpPr/>
          <p:nvPr/>
        </p:nvSpPr>
        <p:spPr>
          <a:xfrm>
            <a:off x="5389697" y="2248486"/>
            <a:ext cx="37673" cy="22723"/>
          </a:xfrm>
          <a:custGeom>
            <a:avLst/>
            <a:gdLst/>
            <a:ahLst/>
            <a:cxnLst/>
            <a:rect l="l" t="t" r="r" b="b"/>
            <a:pathLst>
              <a:path w="37673" h="22723">
                <a:moveTo>
                  <a:pt x="37121" y="18381"/>
                </a:moveTo>
                <a:lnTo>
                  <a:pt x="34141" y="21599"/>
                </a:lnTo>
                <a:lnTo>
                  <a:pt x="23047" y="22723"/>
                </a:lnTo>
                <a:lnTo>
                  <a:pt x="11270" y="21153"/>
                </a:lnTo>
                <a:lnTo>
                  <a:pt x="6584" y="18146"/>
                </a:lnTo>
                <a:lnTo>
                  <a:pt x="2546" y="12613"/>
                </a:lnTo>
                <a:lnTo>
                  <a:pt x="0" y="2464"/>
                </a:lnTo>
                <a:lnTo>
                  <a:pt x="3216" y="0"/>
                </a:lnTo>
                <a:lnTo>
                  <a:pt x="37673" y="2797"/>
                </a:lnTo>
                <a:lnTo>
                  <a:pt x="37121" y="18381"/>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Freeform 15"/>
          <p:cNvSpPr/>
          <p:nvPr/>
        </p:nvSpPr>
        <p:spPr>
          <a:xfrm>
            <a:off x="4109323" y="4051892"/>
            <a:ext cx="331255" cy="328408"/>
          </a:xfrm>
          <a:custGeom>
            <a:avLst/>
            <a:gdLst/>
            <a:ahLst/>
            <a:cxnLst/>
            <a:rect l="l" t="t" r="r" b="b"/>
            <a:pathLst>
              <a:path w="331255" h="328408">
                <a:moveTo>
                  <a:pt x="221054" y="248559"/>
                </a:moveTo>
                <a:lnTo>
                  <a:pt x="219294" y="248838"/>
                </a:lnTo>
                <a:lnTo>
                  <a:pt x="211264" y="247626"/>
                </a:lnTo>
                <a:lnTo>
                  <a:pt x="200461" y="248173"/>
                </a:lnTo>
                <a:lnTo>
                  <a:pt x="191917" y="250049"/>
                </a:lnTo>
                <a:lnTo>
                  <a:pt x="185323" y="250631"/>
                </a:lnTo>
                <a:lnTo>
                  <a:pt x="174190" y="261654"/>
                </a:lnTo>
                <a:lnTo>
                  <a:pt x="153641" y="291765"/>
                </a:lnTo>
                <a:lnTo>
                  <a:pt x="148239" y="298030"/>
                </a:lnTo>
                <a:lnTo>
                  <a:pt x="146366" y="310073"/>
                </a:lnTo>
                <a:lnTo>
                  <a:pt x="141528" y="319486"/>
                </a:lnTo>
                <a:lnTo>
                  <a:pt x="135762" y="326779"/>
                </a:lnTo>
                <a:lnTo>
                  <a:pt x="130321" y="328408"/>
                </a:lnTo>
                <a:lnTo>
                  <a:pt x="114246" y="324919"/>
                </a:lnTo>
                <a:lnTo>
                  <a:pt x="93681" y="320443"/>
                </a:lnTo>
                <a:lnTo>
                  <a:pt x="81935" y="310799"/>
                </a:lnTo>
                <a:lnTo>
                  <a:pt x="71598" y="298280"/>
                </a:lnTo>
                <a:lnTo>
                  <a:pt x="66209" y="289243"/>
                </a:lnTo>
                <a:lnTo>
                  <a:pt x="60433" y="284205"/>
                </a:lnTo>
                <a:lnTo>
                  <a:pt x="58486" y="281415"/>
                </a:lnTo>
                <a:lnTo>
                  <a:pt x="50161" y="277078"/>
                </a:lnTo>
                <a:lnTo>
                  <a:pt x="47035" y="274870"/>
                </a:lnTo>
                <a:lnTo>
                  <a:pt x="44271" y="273285"/>
                </a:lnTo>
                <a:lnTo>
                  <a:pt x="41034" y="267286"/>
                </a:lnTo>
                <a:lnTo>
                  <a:pt x="39177" y="262112"/>
                </a:lnTo>
                <a:lnTo>
                  <a:pt x="40378" y="247857"/>
                </a:lnTo>
                <a:lnTo>
                  <a:pt x="34654" y="239184"/>
                </a:lnTo>
                <a:lnTo>
                  <a:pt x="24853" y="224386"/>
                </a:lnTo>
                <a:lnTo>
                  <a:pt x="18711" y="212313"/>
                </a:lnTo>
                <a:lnTo>
                  <a:pt x="10306" y="195831"/>
                </a:lnTo>
                <a:lnTo>
                  <a:pt x="5248" y="181779"/>
                </a:lnTo>
                <a:lnTo>
                  <a:pt x="0" y="167222"/>
                </a:lnTo>
                <a:lnTo>
                  <a:pt x="887" y="161051"/>
                </a:lnTo>
                <a:lnTo>
                  <a:pt x="6377" y="156960"/>
                </a:lnTo>
                <a:lnTo>
                  <a:pt x="22345" y="150104"/>
                </a:lnTo>
                <a:lnTo>
                  <a:pt x="34749" y="144818"/>
                </a:lnTo>
                <a:lnTo>
                  <a:pt x="43804" y="134750"/>
                </a:lnTo>
                <a:lnTo>
                  <a:pt x="53824" y="119698"/>
                </a:lnTo>
                <a:lnTo>
                  <a:pt x="58755" y="110607"/>
                </a:lnTo>
                <a:lnTo>
                  <a:pt x="63530" y="106528"/>
                </a:lnTo>
                <a:lnTo>
                  <a:pt x="68816" y="100169"/>
                </a:lnTo>
                <a:lnTo>
                  <a:pt x="78145" y="86005"/>
                </a:lnTo>
                <a:lnTo>
                  <a:pt x="88543" y="70289"/>
                </a:lnTo>
                <a:lnTo>
                  <a:pt x="99687" y="53405"/>
                </a:lnTo>
                <a:lnTo>
                  <a:pt x="113254" y="48833"/>
                </a:lnTo>
                <a:lnTo>
                  <a:pt x="131758" y="43657"/>
                </a:lnTo>
                <a:lnTo>
                  <a:pt x="149882" y="29209"/>
                </a:lnTo>
                <a:lnTo>
                  <a:pt x="171315" y="17249"/>
                </a:lnTo>
                <a:lnTo>
                  <a:pt x="205720" y="4688"/>
                </a:lnTo>
                <a:lnTo>
                  <a:pt x="221664" y="1774"/>
                </a:lnTo>
                <a:lnTo>
                  <a:pt x="227750" y="0"/>
                </a:lnTo>
                <a:lnTo>
                  <a:pt x="231459" y="2733"/>
                </a:lnTo>
                <a:lnTo>
                  <a:pt x="235199" y="10753"/>
                </a:lnTo>
                <a:lnTo>
                  <a:pt x="240700" y="17551"/>
                </a:lnTo>
                <a:lnTo>
                  <a:pt x="253623" y="29512"/>
                </a:lnTo>
                <a:lnTo>
                  <a:pt x="259180" y="32496"/>
                </a:lnTo>
                <a:lnTo>
                  <a:pt x="272279" y="49985"/>
                </a:lnTo>
                <a:lnTo>
                  <a:pt x="286537" y="62199"/>
                </a:lnTo>
                <a:lnTo>
                  <a:pt x="302917" y="76277"/>
                </a:lnTo>
                <a:lnTo>
                  <a:pt x="314164" y="83420"/>
                </a:lnTo>
                <a:lnTo>
                  <a:pt x="319952" y="85523"/>
                </a:lnTo>
                <a:lnTo>
                  <a:pt x="324300" y="97605"/>
                </a:lnTo>
                <a:lnTo>
                  <a:pt x="328833" y="106628"/>
                </a:lnTo>
                <a:lnTo>
                  <a:pt x="331255" y="114994"/>
                </a:lnTo>
                <a:lnTo>
                  <a:pt x="330328" y="123011"/>
                </a:lnTo>
                <a:lnTo>
                  <a:pt x="324111" y="142443"/>
                </a:lnTo>
                <a:lnTo>
                  <a:pt x="315444" y="162197"/>
                </a:lnTo>
                <a:lnTo>
                  <a:pt x="308847" y="170287"/>
                </a:lnTo>
                <a:lnTo>
                  <a:pt x="301021" y="175243"/>
                </a:lnTo>
                <a:lnTo>
                  <a:pt x="293248" y="182864"/>
                </a:lnTo>
                <a:lnTo>
                  <a:pt x="289713" y="198860"/>
                </a:lnTo>
                <a:lnTo>
                  <a:pt x="285539" y="217677"/>
                </a:lnTo>
                <a:lnTo>
                  <a:pt x="275540" y="225086"/>
                </a:lnTo>
                <a:lnTo>
                  <a:pt x="267808" y="229901"/>
                </a:lnTo>
                <a:lnTo>
                  <a:pt x="257164" y="235768"/>
                </a:lnTo>
                <a:lnTo>
                  <a:pt x="233795" y="245080"/>
                </a:lnTo>
                <a:lnTo>
                  <a:pt x="221054" y="248559"/>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Freeform 16"/>
          <p:cNvSpPr/>
          <p:nvPr/>
        </p:nvSpPr>
        <p:spPr>
          <a:xfrm>
            <a:off x="3077207" y="2306964"/>
            <a:ext cx="1406435" cy="1460111"/>
          </a:xfrm>
          <a:custGeom>
            <a:avLst/>
            <a:gdLst/>
            <a:ahLst/>
            <a:cxnLst/>
            <a:rect l="l" t="t" r="r" b="b"/>
            <a:pathLst>
              <a:path w="1406435" h="1460111">
                <a:moveTo>
                  <a:pt x="794461" y="8915"/>
                </a:moveTo>
                <a:lnTo>
                  <a:pt x="792054" y="20452"/>
                </a:lnTo>
                <a:lnTo>
                  <a:pt x="794806" y="29096"/>
                </a:lnTo>
                <a:lnTo>
                  <a:pt x="800905" y="40713"/>
                </a:lnTo>
                <a:lnTo>
                  <a:pt x="809732" y="50935"/>
                </a:lnTo>
                <a:lnTo>
                  <a:pt x="816481" y="57009"/>
                </a:lnTo>
                <a:lnTo>
                  <a:pt x="824412" y="71986"/>
                </a:lnTo>
                <a:lnTo>
                  <a:pt x="832329" y="90706"/>
                </a:lnTo>
                <a:lnTo>
                  <a:pt x="842809" y="105329"/>
                </a:lnTo>
                <a:lnTo>
                  <a:pt x="873639" y="138946"/>
                </a:lnTo>
                <a:lnTo>
                  <a:pt x="876955" y="150900"/>
                </a:lnTo>
                <a:lnTo>
                  <a:pt x="881153" y="162743"/>
                </a:lnTo>
                <a:lnTo>
                  <a:pt x="900421" y="185708"/>
                </a:lnTo>
                <a:lnTo>
                  <a:pt x="903366" y="193281"/>
                </a:lnTo>
                <a:lnTo>
                  <a:pt x="901876" y="208666"/>
                </a:lnTo>
                <a:lnTo>
                  <a:pt x="921357" y="255167"/>
                </a:lnTo>
                <a:lnTo>
                  <a:pt x="934142" y="282369"/>
                </a:lnTo>
                <a:lnTo>
                  <a:pt x="945203" y="287530"/>
                </a:lnTo>
                <a:lnTo>
                  <a:pt x="980382" y="316904"/>
                </a:lnTo>
                <a:lnTo>
                  <a:pt x="1011005" y="340614"/>
                </a:lnTo>
                <a:lnTo>
                  <a:pt x="1047007" y="356984"/>
                </a:lnTo>
                <a:lnTo>
                  <a:pt x="1073432" y="367853"/>
                </a:lnTo>
                <a:lnTo>
                  <a:pt x="1086415" y="375663"/>
                </a:lnTo>
                <a:lnTo>
                  <a:pt x="1092838" y="383010"/>
                </a:lnTo>
                <a:lnTo>
                  <a:pt x="1097900" y="396972"/>
                </a:lnTo>
                <a:lnTo>
                  <a:pt x="1100098" y="421074"/>
                </a:lnTo>
                <a:lnTo>
                  <a:pt x="1100696" y="436640"/>
                </a:lnTo>
                <a:lnTo>
                  <a:pt x="1129231" y="436730"/>
                </a:lnTo>
                <a:lnTo>
                  <a:pt x="1152788" y="438764"/>
                </a:lnTo>
                <a:lnTo>
                  <a:pt x="1161000" y="442107"/>
                </a:lnTo>
                <a:lnTo>
                  <a:pt x="1163970" y="446627"/>
                </a:lnTo>
                <a:lnTo>
                  <a:pt x="1162995" y="456856"/>
                </a:lnTo>
                <a:lnTo>
                  <a:pt x="1162947" y="472144"/>
                </a:lnTo>
                <a:lnTo>
                  <a:pt x="1163753" y="484478"/>
                </a:lnTo>
                <a:lnTo>
                  <a:pt x="1160979" y="497560"/>
                </a:lnTo>
                <a:lnTo>
                  <a:pt x="1158916" y="513000"/>
                </a:lnTo>
                <a:lnTo>
                  <a:pt x="1157310" y="532139"/>
                </a:lnTo>
                <a:lnTo>
                  <a:pt x="1160750" y="539747"/>
                </a:lnTo>
                <a:lnTo>
                  <a:pt x="1182857" y="564546"/>
                </a:lnTo>
                <a:lnTo>
                  <a:pt x="1191980" y="580485"/>
                </a:lnTo>
                <a:lnTo>
                  <a:pt x="1201458" y="604491"/>
                </a:lnTo>
                <a:lnTo>
                  <a:pt x="1207185" y="612289"/>
                </a:lnTo>
                <a:lnTo>
                  <a:pt x="1211844" y="615459"/>
                </a:lnTo>
                <a:lnTo>
                  <a:pt x="1232221" y="618711"/>
                </a:lnTo>
                <a:lnTo>
                  <a:pt x="1284577" y="630379"/>
                </a:lnTo>
                <a:lnTo>
                  <a:pt x="1316687" y="640559"/>
                </a:lnTo>
                <a:lnTo>
                  <a:pt x="1342131" y="650875"/>
                </a:lnTo>
                <a:lnTo>
                  <a:pt x="1352759" y="653753"/>
                </a:lnTo>
                <a:lnTo>
                  <a:pt x="1357904" y="656428"/>
                </a:lnTo>
                <a:lnTo>
                  <a:pt x="1359582" y="658816"/>
                </a:lnTo>
                <a:lnTo>
                  <a:pt x="1355648" y="679348"/>
                </a:lnTo>
                <a:lnTo>
                  <a:pt x="1356545" y="686025"/>
                </a:lnTo>
                <a:lnTo>
                  <a:pt x="1359191" y="692093"/>
                </a:lnTo>
                <a:lnTo>
                  <a:pt x="1363386" y="696934"/>
                </a:lnTo>
                <a:lnTo>
                  <a:pt x="1368576" y="700070"/>
                </a:lnTo>
                <a:lnTo>
                  <a:pt x="1388013" y="703045"/>
                </a:lnTo>
                <a:lnTo>
                  <a:pt x="1399231" y="716075"/>
                </a:lnTo>
                <a:lnTo>
                  <a:pt x="1406435" y="722194"/>
                </a:lnTo>
                <a:lnTo>
                  <a:pt x="1371185" y="723903"/>
                </a:lnTo>
                <a:lnTo>
                  <a:pt x="1353412" y="733697"/>
                </a:lnTo>
                <a:lnTo>
                  <a:pt x="1342650" y="752060"/>
                </a:lnTo>
                <a:lnTo>
                  <a:pt x="1326359" y="765246"/>
                </a:lnTo>
                <a:lnTo>
                  <a:pt x="1304525" y="773236"/>
                </a:lnTo>
                <a:lnTo>
                  <a:pt x="1281555" y="778461"/>
                </a:lnTo>
                <a:lnTo>
                  <a:pt x="1257414" y="780925"/>
                </a:lnTo>
                <a:lnTo>
                  <a:pt x="1231339" y="796201"/>
                </a:lnTo>
                <a:lnTo>
                  <a:pt x="1203350" y="824280"/>
                </a:lnTo>
                <a:lnTo>
                  <a:pt x="1189015" y="842061"/>
                </a:lnTo>
                <a:lnTo>
                  <a:pt x="1188254" y="849528"/>
                </a:lnTo>
                <a:lnTo>
                  <a:pt x="1182004" y="855827"/>
                </a:lnTo>
                <a:lnTo>
                  <a:pt x="1170269" y="860963"/>
                </a:lnTo>
                <a:lnTo>
                  <a:pt x="1163546" y="867348"/>
                </a:lnTo>
                <a:lnTo>
                  <a:pt x="1161817" y="874992"/>
                </a:lnTo>
                <a:lnTo>
                  <a:pt x="1155554" y="878488"/>
                </a:lnTo>
                <a:lnTo>
                  <a:pt x="1144728" y="877870"/>
                </a:lnTo>
                <a:lnTo>
                  <a:pt x="1136984" y="883278"/>
                </a:lnTo>
                <a:lnTo>
                  <a:pt x="1132310" y="894722"/>
                </a:lnTo>
                <a:lnTo>
                  <a:pt x="1122568" y="901494"/>
                </a:lnTo>
                <a:lnTo>
                  <a:pt x="1107745" y="903553"/>
                </a:lnTo>
                <a:lnTo>
                  <a:pt x="1094855" y="909754"/>
                </a:lnTo>
                <a:lnTo>
                  <a:pt x="1083906" y="920062"/>
                </a:lnTo>
                <a:lnTo>
                  <a:pt x="1075531" y="925226"/>
                </a:lnTo>
                <a:lnTo>
                  <a:pt x="1069724" y="925243"/>
                </a:lnTo>
                <a:lnTo>
                  <a:pt x="1060516" y="933627"/>
                </a:lnTo>
                <a:lnTo>
                  <a:pt x="1045480" y="953642"/>
                </a:lnTo>
                <a:lnTo>
                  <a:pt x="1042848" y="963050"/>
                </a:lnTo>
                <a:lnTo>
                  <a:pt x="1021209" y="1039320"/>
                </a:lnTo>
                <a:lnTo>
                  <a:pt x="1010129" y="1048142"/>
                </a:lnTo>
                <a:lnTo>
                  <a:pt x="988705" y="1063511"/>
                </a:lnTo>
                <a:lnTo>
                  <a:pt x="971248" y="1082104"/>
                </a:lnTo>
                <a:lnTo>
                  <a:pt x="963720" y="1093125"/>
                </a:lnTo>
                <a:lnTo>
                  <a:pt x="955608" y="1097936"/>
                </a:lnTo>
                <a:lnTo>
                  <a:pt x="916324" y="1106560"/>
                </a:lnTo>
                <a:lnTo>
                  <a:pt x="901702" y="1111302"/>
                </a:lnTo>
                <a:lnTo>
                  <a:pt x="884016" y="1118272"/>
                </a:lnTo>
                <a:lnTo>
                  <a:pt x="879480" y="1124721"/>
                </a:lnTo>
                <a:lnTo>
                  <a:pt x="874838" y="1148333"/>
                </a:lnTo>
                <a:lnTo>
                  <a:pt x="862290" y="1182121"/>
                </a:lnTo>
                <a:lnTo>
                  <a:pt x="852121" y="1207047"/>
                </a:lnTo>
                <a:lnTo>
                  <a:pt x="845496" y="1228757"/>
                </a:lnTo>
                <a:lnTo>
                  <a:pt x="834164" y="1255687"/>
                </a:lnTo>
                <a:lnTo>
                  <a:pt x="824492" y="1264663"/>
                </a:lnTo>
                <a:lnTo>
                  <a:pt x="813542" y="1272844"/>
                </a:lnTo>
                <a:lnTo>
                  <a:pt x="799305" y="1276788"/>
                </a:lnTo>
                <a:lnTo>
                  <a:pt x="779939" y="1279217"/>
                </a:lnTo>
                <a:lnTo>
                  <a:pt x="762342" y="1278290"/>
                </a:lnTo>
                <a:lnTo>
                  <a:pt x="748716" y="1278587"/>
                </a:lnTo>
                <a:lnTo>
                  <a:pt x="729768" y="1288012"/>
                </a:lnTo>
                <a:lnTo>
                  <a:pt x="712140" y="1288529"/>
                </a:lnTo>
                <a:lnTo>
                  <a:pt x="684178" y="1282875"/>
                </a:lnTo>
                <a:lnTo>
                  <a:pt x="661532" y="1277436"/>
                </a:lnTo>
                <a:lnTo>
                  <a:pt x="651395" y="1276292"/>
                </a:lnTo>
                <a:lnTo>
                  <a:pt x="631382" y="1258571"/>
                </a:lnTo>
                <a:lnTo>
                  <a:pt x="618484" y="1258870"/>
                </a:lnTo>
                <a:lnTo>
                  <a:pt x="598811" y="1257451"/>
                </a:lnTo>
                <a:lnTo>
                  <a:pt x="587760" y="1253406"/>
                </a:lnTo>
                <a:lnTo>
                  <a:pt x="577496" y="1244373"/>
                </a:lnTo>
                <a:lnTo>
                  <a:pt x="555170" y="1226627"/>
                </a:lnTo>
                <a:lnTo>
                  <a:pt x="533330" y="1212298"/>
                </a:lnTo>
                <a:lnTo>
                  <a:pt x="513970" y="1203854"/>
                </a:lnTo>
                <a:lnTo>
                  <a:pt x="495931" y="1199960"/>
                </a:lnTo>
                <a:lnTo>
                  <a:pt x="478806" y="1203614"/>
                </a:lnTo>
                <a:lnTo>
                  <a:pt x="465499" y="1207507"/>
                </a:lnTo>
                <a:lnTo>
                  <a:pt x="460332" y="1209445"/>
                </a:lnTo>
                <a:lnTo>
                  <a:pt x="450044" y="1216953"/>
                </a:lnTo>
                <a:lnTo>
                  <a:pt x="439579" y="1231126"/>
                </a:lnTo>
                <a:lnTo>
                  <a:pt x="431038" y="1253265"/>
                </a:lnTo>
                <a:lnTo>
                  <a:pt x="427831" y="1266800"/>
                </a:lnTo>
                <a:lnTo>
                  <a:pt x="418335" y="1295550"/>
                </a:lnTo>
                <a:lnTo>
                  <a:pt x="405780" y="1330072"/>
                </a:lnTo>
                <a:lnTo>
                  <a:pt x="399705" y="1340032"/>
                </a:lnTo>
                <a:lnTo>
                  <a:pt x="392672" y="1347461"/>
                </a:lnTo>
                <a:lnTo>
                  <a:pt x="381472" y="1354125"/>
                </a:lnTo>
                <a:lnTo>
                  <a:pt x="345113" y="1381911"/>
                </a:lnTo>
                <a:lnTo>
                  <a:pt x="327230" y="1412941"/>
                </a:lnTo>
                <a:lnTo>
                  <a:pt x="315808" y="1422070"/>
                </a:lnTo>
                <a:lnTo>
                  <a:pt x="301950" y="1426486"/>
                </a:lnTo>
                <a:lnTo>
                  <a:pt x="290244" y="1429321"/>
                </a:lnTo>
                <a:lnTo>
                  <a:pt x="283844" y="1434537"/>
                </a:lnTo>
                <a:lnTo>
                  <a:pt x="276874" y="1450228"/>
                </a:lnTo>
                <a:lnTo>
                  <a:pt x="270718" y="1455822"/>
                </a:lnTo>
                <a:lnTo>
                  <a:pt x="263772" y="1458086"/>
                </a:lnTo>
                <a:lnTo>
                  <a:pt x="242838" y="1456632"/>
                </a:lnTo>
                <a:lnTo>
                  <a:pt x="236117" y="1455178"/>
                </a:lnTo>
                <a:lnTo>
                  <a:pt x="180814" y="1459419"/>
                </a:lnTo>
                <a:lnTo>
                  <a:pt x="163814" y="1454884"/>
                </a:lnTo>
                <a:lnTo>
                  <a:pt x="151795" y="1453196"/>
                </a:lnTo>
                <a:lnTo>
                  <a:pt x="133060" y="1460111"/>
                </a:lnTo>
                <a:lnTo>
                  <a:pt x="125052" y="1456075"/>
                </a:lnTo>
                <a:lnTo>
                  <a:pt x="118417" y="1443331"/>
                </a:lnTo>
                <a:lnTo>
                  <a:pt x="114629" y="1417469"/>
                </a:lnTo>
                <a:lnTo>
                  <a:pt x="115036" y="1395409"/>
                </a:lnTo>
                <a:lnTo>
                  <a:pt x="124892" y="1378462"/>
                </a:lnTo>
                <a:lnTo>
                  <a:pt x="133154" y="1366024"/>
                </a:lnTo>
                <a:lnTo>
                  <a:pt x="141165" y="1349858"/>
                </a:lnTo>
                <a:lnTo>
                  <a:pt x="142095" y="1342701"/>
                </a:lnTo>
                <a:lnTo>
                  <a:pt x="140250" y="1336304"/>
                </a:lnTo>
                <a:lnTo>
                  <a:pt x="138240" y="1323234"/>
                </a:lnTo>
                <a:lnTo>
                  <a:pt x="137001" y="1309847"/>
                </a:lnTo>
                <a:lnTo>
                  <a:pt x="124282" y="1280818"/>
                </a:lnTo>
                <a:lnTo>
                  <a:pt x="108508" y="1242294"/>
                </a:lnTo>
                <a:lnTo>
                  <a:pt x="87495" y="1199431"/>
                </a:lnTo>
                <a:lnTo>
                  <a:pt x="80964" y="1187669"/>
                </a:lnTo>
                <a:lnTo>
                  <a:pt x="67950" y="1169180"/>
                </a:lnTo>
                <a:lnTo>
                  <a:pt x="20541" y="1134724"/>
                </a:lnTo>
                <a:lnTo>
                  <a:pt x="13336" y="1130076"/>
                </a:lnTo>
                <a:lnTo>
                  <a:pt x="13216" y="1126088"/>
                </a:lnTo>
                <a:lnTo>
                  <a:pt x="12135" y="1091333"/>
                </a:lnTo>
                <a:lnTo>
                  <a:pt x="10724" y="1045248"/>
                </a:lnTo>
                <a:lnTo>
                  <a:pt x="9325" y="999182"/>
                </a:lnTo>
                <a:lnTo>
                  <a:pt x="7937" y="953120"/>
                </a:lnTo>
                <a:lnTo>
                  <a:pt x="6545" y="907063"/>
                </a:lnTo>
                <a:lnTo>
                  <a:pt x="5164" y="861012"/>
                </a:lnTo>
                <a:lnTo>
                  <a:pt x="3807" y="814964"/>
                </a:lnTo>
                <a:lnTo>
                  <a:pt x="2462" y="768923"/>
                </a:lnTo>
                <a:lnTo>
                  <a:pt x="1127" y="722871"/>
                </a:lnTo>
                <a:lnTo>
                  <a:pt x="0" y="683945"/>
                </a:lnTo>
                <a:lnTo>
                  <a:pt x="34177" y="682936"/>
                </a:lnTo>
                <a:lnTo>
                  <a:pt x="76466" y="681769"/>
                </a:lnTo>
                <a:lnTo>
                  <a:pt x="126725" y="680500"/>
                </a:lnTo>
                <a:lnTo>
                  <a:pt x="148951" y="679980"/>
                </a:lnTo>
                <a:lnTo>
                  <a:pt x="150097" y="673803"/>
                </a:lnTo>
                <a:lnTo>
                  <a:pt x="149475" y="645248"/>
                </a:lnTo>
                <a:lnTo>
                  <a:pt x="148040" y="579743"/>
                </a:lnTo>
                <a:lnTo>
                  <a:pt x="146622" y="514267"/>
                </a:lnTo>
                <a:lnTo>
                  <a:pt x="145205" y="448807"/>
                </a:lnTo>
                <a:lnTo>
                  <a:pt x="143819" y="383361"/>
                </a:lnTo>
                <a:lnTo>
                  <a:pt x="142435" y="317916"/>
                </a:lnTo>
                <a:lnTo>
                  <a:pt x="141082" y="252504"/>
                </a:lnTo>
                <a:lnTo>
                  <a:pt x="139745" y="187110"/>
                </a:lnTo>
                <a:lnTo>
                  <a:pt x="138410" y="121718"/>
                </a:lnTo>
                <a:lnTo>
                  <a:pt x="137778" y="89405"/>
                </a:lnTo>
                <a:lnTo>
                  <a:pt x="177483" y="86640"/>
                </a:lnTo>
                <a:lnTo>
                  <a:pt x="223091" y="79164"/>
                </a:lnTo>
                <a:lnTo>
                  <a:pt x="297084" y="67226"/>
                </a:lnTo>
                <a:lnTo>
                  <a:pt x="366026" y="53056"/>
                </a:lnTo>
                <a:lnTo>
                  <a:pt x="411050" y="44824"/>
                </a:lnTo>
                <a:lnTo>
                  <a:pt x="464496" y="35177"/>
                </a:lnTo>
                <a:lnTo>
                  <a:pt x="482900" y="33484"/>
                </a:lnTo>
                <a:lnTo>
                  <a:pt x="487874" y="34708"/>
                </a:lnTo>
                <a:lnTo>
                  <a:pt x="495143" y="37845"/>
                </a:lnTo>
                <a:lnTo>
                  <a:pt x="520088" y="70366"/>
                </a:lnTo>
                <a:lnTo>
                  <a:pt x="535609" y="95203"/>
                </a:lnTo>
                <a:lnTo>
                  <a:pt x="538775" y="105849"/>
                </a:lnTo>
                <a:lnTo>
                  <a:pt x="541720" y="106967"/>
                </a:lnTo>
                <a:lnTo>
                  <a:pt x="549012" y="105257"/>
                </a:lnTo>
                <a:lnTo>
                  <a:pt x="557202" y="101216"/>
                </a:lnTo>
                <a:lnTo>
                  <a:pt x="582361" y="76376"/>
                </a:lnTo>
                <a:lnTo>
                  <a:pt x="587602" y="69911"/>
                </a:lnTo>
                <a:lnTo>
                  <a:pt x="603659" y="57874"/>
                </a:lnTo>
                <a:lnTo>
                  <a:pt x="623176" y="45619"/>
                </a:lnTo>
                <a:lnTo>
                  <a:pt x="640856" y="36977"/>
                </a:lnTo>
                <a:lnTo>
                  <a:pt x="658604" y="29774"/>
                </a:lnTo>
                <a:lnTo>
                  <a:pt x="666806" y="31596"/>
                </a:lnTo>
                <a:lnTo>
                  <a:pt x="676454" y="37884"/>
                </a:lnTo>
                <a:lnTo>
                  <a:pt x="685022" y="41794"/>
                </a:lnTo>
                <a:lnTo>
                  <a:pt x="725486" y="11863"/>
                </a:lnTo>
                <a:lnTo>
                  <a:pt x="743560" y="5046"/>
                </a:lnTo>
                <a:lnTo>
                  <a:pt x="790969" y="0"/>
                </a:lnTo>
                <a:lnTo>
                  <a:pt x="797565" y="1013"/>
                </a:lnTo>
                <a:lnTo>
                  <a:pt x="794461" y="8915"/>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Freeform 17"/>
          <p:cNvSpPr/>
          <p:nvPr/>
        </p:nvSpPr>
        <p:spPr>
          <a:xfrm>
            <a:off x="2031604" y="2181074"/>
            <a:ext cx="1553159" cy="168177"/>
          </a:xfrm>
          <a:custGeom>
            <a:avLst/>
            <a:gdLst/>
            <a:ahLst/>
            <a:cxnLst/>
            <a:rect l="l" t="t" r="r" b="b"/>
            <a:pathLst>
              <a:path w="1553159" h="168177">
                <a:moveTo>
                  <a:pt x="1450699" y="11933"/>
                </a:moveTo>
                <a:lnTo>
                  <a:pt x="1487169" y="45316"/>
                </a:lnTo>
                <a:lnTo>
                  <a:pt x="1522277" y="75287"/>
                </a:lnTo>
                <a:lnTo>
                  <a:pt x="1553159" y="101740"/>
                </a:lnTo>
                <a:lnTo>
                  <a:pt x="1504941" y="111332"/>
                </a:lnTo>
                <a:lnTo>
                  <a:pt x="1436439" y="125168"/>
                </a:lnTo>
                <a:lnTo>
                  <a:pt x="1390252" y="134626"/>
                </a:lnTo>
                <a:lnTo>
                  <a:pt x="1334317" y="146222"/>
                </a:lnTo>
                <a:lnTo>
                  <a:pt x="1297030" y="153629"/>
                </a:lnTo>
                <a:lnTo>
                  <a:pt x="1250672" y="162930"/>
                </a:lnTo>
                <a:lnTo>
                  <a:pt x="1243249" y="162883"/>
                </a:lnTo>
                <a:lnTo>
                  <a:pt x="1230692" y="157274"/>
                </a:lnTo>
                <a:lnTo>
                  <a:pt x="1203787" y="156664"/>
                </a:lnTo>
                <a:lnTo>
                  <a:pt x="1172313" y="165408"/>
                </a:lnTo>
                <a:lnTo>
                  <a:pt x="1147274" y="168177"/>
                </a:lnTo>
                <a:lnTo>
                  <a:pt x="1128648" y="164933"/>
                </a:lnTo>
                <a:lnTo>
                  <a:pt x="1110398" y="158314"/>
                </a:lnTo>
                <a:lnTo>
                  <a:pt x="1092502" y="148336"/>
                </a:lnTo>
                <a:lnTo>
                  <a:pt x="1061793" y="145360"/>
                </a:lnTo>
                <a:lnTo>
                  <a:pt x="1018307" y="149442"/>
                </a:lnTo>
                <a:lnTo>
                  <a:pt x="976258" y="148698"/>
                </a:lnTo>
                <a:lnTo>
                  <a:pt x="935652" y="143104"/>
                </a:lnTo>
                <a:lnTo>
                  <a:pt x="906639" y="141374"/>
                </a:lnTo>
                <a:lnTo>
                  <a:pt x="889266" y="143461"/>
                </a:lnTo>
                <a:lnTo>
                  <a:pt x="870516" y="141870"/>
                </a:lnTo>
                <a:lnTo>
                  <a:pt x="850401" y="136650"/>
                </a:lnTo>
                <a:lnTo>
                  <a:pt x="833444" y="127176"/>
                </a:lnTo>
                <a:lnTo>
                  <a:pt x="812722" y="106618"/>
                </a:lnTo>
                <a:lnTo>
                  <a:pt x="796376" y="86858"/>
                </a:lnTo>
                <a:lnTo>
                  <a:pt x="792223" y="84112"/>
                </a:lnTo>
                <a:lnTo>
                  <a:pt x="787157" y="81199"/>
                </a:lnTo>
                <a:lnTo>
                  <a:pt x="782208" y="80476"/>
                </a:lnTo>
                <a:lnTo>
                  <a:pt x="737764" y="81779"/>
                </a:lnTo>
                <a:lnTo>
                  <a:pt x="695515" y="83108"/>
                </a:lnTo>
                <a:lnTo>
                  <a:pt x="671339" y="84170"/>
                </a:lnTo>
                <a:lnTo>
                  <a:pt x="612276" y="86865"/>
                </a:lnTo>
                <a:lnTo>
                  <a:pt x="553214" y="89725"/>
                </a:lnTo>
                <a:lnTo>
                  <a:pt x="494169" y="92749"/>
                </a:lnTo>
                <a:lnTo>
                  <a:pt x="435142" y="95937"/>
                </a:lnTo>
                <a:lnTo>
                  <a:pt x="376133" y="99289"/>
                </a:lnTo>
                <a:lnTo>
                  <a:pt x="317146" y="102821"/>
                </a:lnTo>
                <a:lnTo>
                  <a:pt x="258178" y="106502"/>
                </a:lnTo>
                <a:lnTo>
                  <a:pt x="199232" y="110346"/>
                </a:lnTo>
                <a:lnTo>
                  <a:pt x="167933" y="112458"/>
                </a:lnTo>
                <a:lnTo>
                  <a:pt x="138947" y="116118"/>
                </a:lnTo>
                <a:lnTo>
                  <a:pt x="106975" y="120209"/>
                </a:lnTo>
                <a:lnTo>
                  <a:pt x="102302" y="119794"/>
                </a:lnTo>
                <a:lnTo>
                  <a:pt x="94549" y="117877"/>
                </a:lnTo>
                <a:lnTo>
                  <a:pt x="89079" y="113766"/>
                </a:lnTo>
                <a:lnTo>
                  <a:pt x="71106" y="103444"/>
                </a:lnTo>
                <a:lnTo>
                  <a:pt x="55533" y="95769"/>
                </a:lnTo>
                <a:lnTo>
                  <a:pt x="34198" y="82519"/>
                </a:lnTo>
                <a:lnTo>
                  <a:pt x="19984" y="67311"/>
                </a:lnTo>
                <a:lnTo>
                  <a:pt x="8522" y="63000"/>
                </a:lnTo>
                <a:lnTo>
                  <a:pt x="0" y="62399"/>
                </a:lnTo>
                <a:lnTo>
                  <a:pt x="1438156" y="0"/>
                </a:lnTo>
                <a:lnTo>
                  <a:pt x="1450699" y="11933"/>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Freeform 18"/>
          <p:cNvSpPr/>
          <p:nvPr/>
        </p:nvSpPr>
        <p:spPr>
          <a:xfrm>
            <a:off x="1900789" y="2247605"/>
            <a:ext cx="78227" cy="40208"/>
          </a:xfrm>
          <a:custGeom>
            <a:avLst/>
            <a:gdLst/>
            <a:ahLst/>
            <a:cxnLst/>
            <a:rect l="l" t="t" r="r" b="b"/>
            <a:pathLst>
              <a:path w="78227" h="40208">
                <a:moveTo>
                  <a:pt x="71517" y="3022"/>
                </a:moveTo>
                <a:lnTo>
                  <a:pt x="56002" y="11872"/>
                </a:lnTo>
                <a:lnTo>
                  <a:pt x="45069" y="20110"/>
                </a:lnTo>
                <a:lnTo>
                  <a:pt x="25830" y="30125"/>
                </a:lnTo>
                <a:lnTo>
                  <a:pt x="9715" y="39868"/>
                </a:lnTo>
                <a:lnTo>
                  <a:pt x="2291" y="40208"/>
                </a:lnTo>
                <a:lnTo>
                  <a:pt x="0" y="6391"/>
                </a:lnTo>
                <a:lnTo>
                  <a:pt x="78227" y="0"/>
                </a:lnTo>
                <a:lnTo>
                  <a:pt x="71517" y="3022"/>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Freeform 19"/>
          <p:cNvSpPr/>
          <p:nvPr/>
        </p:nvSpPr>
        <p:spPr>
          <a:xfrm>
            <a:off x="3509463" y="4282400"/>
            <a:ext cx="1028744" cy="663313"/>
          </a:xfrm>
          <a:custGeom>
            <a:avLst/>
            <a:gdLst/>
            <a:ahLst/>
            <a:cxnLst/>
            <a:rect l="l" t="t" r="r" b="b"/>
            <a:pathLst>
              <a:path w="1028744" h="663313">
                <a:moveTo>
                  <a:pt x="1028744" y="181051"/>
                </a:moveTo>
                <a:lnTo>
                  <a:pt x="1028726" y="180239"/>
                </a:lnTo>
                <a:lnTo>
                  <a:pt x="1028086" y="179052"/>
                </a:lnTo>
                <a:lnTo>
                  <a:pt x="1026400" y="178399"/>
                </a:lnTo>
                <a:lnTo>
                  <a:pt x="1025609" y="177439"/>
                </a:lnTo>
                <a:lnTo>
                  <a:pt x="1024796" y="175784"/>
                </a:lnTo>
                <a:lnTo>
                  <a:pt x="1024818" y="175105"/>
                </a:lnTo>
                <a:lnTo>
                  <a:pt x="1025468" y="174063"/>
                </a:lnTo>
                <a:lnTo>
                  <a:pt x="1025934" y="171900"/>
                </a:lnTo>
                <a:lnTo>
                  <a:pt x="1024995" y="171805"/>
                </a:lnTo>
                <a:lnTo>
                  <a:pt x="1023969" y="171329"/>
                </a:lnTo>
                <a:lnTo>
                  <a:pt x="1023148" y="170190"/>
                </a:lnTo>
                <a:lnTo>
                  <a:pt x="1022229" y="171261"/>
                </a:lnTo>
                <a:lnTo>
                  <a:pt x="1021908" y="171290"/>
                </a:lnTo>
                <a:lnTo>
                  <a:pt x="1021873" y="169878"/>
                </a:lnTo>
                <a:lnTo>
                  <a:pt x="1021290" y="169026"/>
                </a:lnTo>
                <a:lnTo>
                  <a:pt x="1021404" y="168769"/>
                </a:lnTo>
                <a:lnTo>
                  <a:pt x="1022583" y="168511"/>
                </a:lnTo>
                <a:lnTo>
                  <a:pt x="1022926" y="168070"/>
                </a:lnTo>
                <a:lnTo>
                  <a:pt x="1022736" y="167383"/>
                </a:lnTo>
                <a:lnTo>
                  <a:pt x="1022157" y="167084"/>
                </a:lnTo>
                <a:lnTo>
                  <a:pt x="1022286" y="165581"/>
                </a:lnTo>
                <a:lnTo>
                  <a:pt x="1023791" y="165339"/>
                </a:lnTo>
                <a:lnTo>
                  <a:pt x="1024479" y="163850"/>
                </a:lnTo>
                <a:lnTo>
                  <a:pt x="1024322" y="163354"/>
                </a:lnTo>
                <a:lnTo>
                  <a:pt x="1023310" y="163045"/>
                </a:lnTo>
                <a:lnTo>
                  <a:pt x="1022445" y="162215"/>
                </a:lnTo>
                <a:lnTo>
                  <a:pt x="1021546" y="161751"/>
                </a:lnTo>
                <a:lnTo>
                  <a:pt x="1021646" y="160535"/>
                </a:lnTo>
                <a:lnTo>
                  <a:pt x="1022275" y="160278"/>
                </a:lnTo>
                <a:lnTo>
                  <a:pt x="1022566" y="159742"/>
                </a:lnTo>
                <a:lnTo>
                  <a:pt x="1022212" y="158054"/>
                </a:lnTo>
                <a:lnTo>
                  <a:pt x="1022711" y="157579"/>
                </a:lnTo>
                <a:lnTo>
                  <a:pt x="1023183" y="157585"/>
                </a:lnTo>
                <a:lnTo>
                  <a:pt x="1023462" y="157027"/>
                </a:lnTo>
                <a:lnTo>
                  <a:pt x="1023471" y="156573"/>
                </a:lnTo>
                <a:lnTo>
                  <a:pt x="1023018" y="155891"/>
                </a:lnTo>
                <a:lnTo>
                  <a:pt x="1023552" y="155174"/>
                </a:lnTo>
                <a:lnTo>
                  <a:pt x="1022640" y="154437"/>
                </a:lnTo>
                <a:lnTo>
                  <a:pt x="1022240" y="153350"/>
                </a:lnTo>
                <a:lnTo>
                  <a:pt x="1021720" y="152950"/>
                </a:lnTo>
                <a:lnTo>
                  <a:pt x="1020012" y="153020"/>
                </a:lnTo>
                <a:lnTo>
                  <a:pt x="1020999" y="152375"/>
                </a:lnTo>
                <a:lnTo>
                  <a:pt x="1019201" y="151429"/>
                </a:lnTo>
                <a:lnTo>
                  <a:pt x="1020320" y="149960"/>
                </a:lnTo>
                <a:lnTo>
                  <a:pt x="1020120" y="149465"/>
                </a:lnTo>
                <a:lnTo>
                  <a:pt x="1019506" y="149381"/>
                </a:lnTo>
                <a:lnTo>
                  <a:pt x="1018730" y="148828"/>
                </a:lnTo>
                <a:lnTo>
                  <a:pt x="1017233" y="148795"/>
                </a:lnTo>
                <a:lnTo>
                  <a:pt x="1016265" y="148467"/>
                </a:lnTo>
                <a:lnTo>
                  <a:pt x="1014809" y="148709"/>
                </a:lnTo>
                <a:lnTo>
                  <a:pt x="1014098" y="148233"/>
                </a:lnTo>
                <a:lnTo>
                  <a:pt x="1013966" y="147611"/>
                </a:lnTo>
                <a:lnTo>
                  <a:pt x="1013422" y="146984"/>
                </a:lnTo>
                <a:lnTo>
                  <a:pt x="1013469" y="146446"/>
                </a:lnTo>
                <a:lnTo>
                  <a:pt x="1013955" y="146377"/>
                </a:lnTo>
                <a:lnTo>
                  <a:pt x="1015900" y="147069"/>
                </a:lnTo>
                <a:lnTo>
                  <a:pt x="1016565" y="147680"/>
                </a:lnTo>
                <a:lnTo>
                  <a:pt x="1016562" y="146168"/>
                </a:lnTo>
                <a:lnTo>
                  <a:pt x="1016942" y="145582"/>
                </a:lnTo>
                <a:lnTo>
                  <a:pt x="1016916" y="145157"/>
                </a:lnTo>
                <a:lnTo>
                  <a:pt x="1015879" y="145394"/>
                </a:lnTo>
                <a:lnTo>
                  <a:pt x="1015247" y="145300"/>
                </a:lnTo>
                <a:lnTo>
                  <a:pt x="1015089" y="145648"/>
                </a:lnTo>
                <a:lnTo>
                  <a:pt x="1013896" y="145575"/>
                </a:lnTo>
                <a:lnTo>
                  <a:pt x="1014119" y="144074"/>
                </a:lnTo>
                <a:lnTo>
                  <a:pt x="1013592" y="143266"/>
                </a:lnTo>
                <a:lnTo>
                  <a:pt x="1013135" y="143269"/>
                </a:lnTo>
                <a:lnTo>
                  <a:pt x="1012522" y="142645"/>
                </a:lnTo>
                <a:lnTo>
                  <a:pt x="1011919" y="142690"/>
                </a:lnTo>
                <a:lnTo>
                  <a:pt x="1011282" y="142389"/>
                </a:lnTo>
                <a:lnTo>
                  <a:pt x="1010273" y="142518"/>
                </a:lnTo>
                <a:lnTo>
                  <a:pt x="1009335" y="141924"/>
                </a:lnTo>
                <a:lnTo>
                  <a:pt x="1008958" y="142234"/>
                </a:lnTo>
                <a:lnTo>
                  <a:pt x="1007424" y="142510"/>
                </a:lnTo>
                <a:lnTo>
                  <a:pt x="1007301" y="143766"/>
                </a:lnTo>
                <a:lnTo>
                  <a:pt x="1006888" y="143775"/>
                </a:lnTo>
                <a:lnTo>
                  <a:pt x="1006547" y="143148"/>
                </a:lnTo>
                <a:lnTo>
                  <a:pt x="1007008" y="142275"/>
                </a:lnTo>
                <a:lnTo>
                  <a:pt x="1006998" y="140948"/>
                </a:lnTo>
                <a:lnTo>
                  <a:pt x="1006216" y="140967"/>
                </a:lnTo>
                <a:lnTo>
                  <a:pt x="1005296" y="141514"/>
                </a:lnTo>
                <a:lnTo>
                  <a:pt x="1004915" y="141331"/>
                </a:lnTo>
                <a:lnTo>
                  <a:pt x="1005684" y="139737"/>
                </a:lnTo>
                <a:lnTo>
                  <a:pt x="1005626" y="139130"/>
                </a:lnTo>
                <a:lnTo>
                  <a:pt x="1005158" y="138686"/>
                </a:lnTo>
                <a:lnTo>
                  <a:pt x="1004603" y="138711"/>
                </a:lnTo>
                <a:lnTo>
                  <a:pt x="1004273" y="138997"/>
                </a:lnTo>
                <a:lnTo>
                  <a:pt x="1004032" y="140533"/>
                </a:lnTo>
                <a:lnTo>
                  <a:pt x="1003123" y="140238"/>
                </a:lnTo>
                <a:lnTo>
                  <a:pt x="1002580" y="140530"/>
                </a:lnTo>
                <a:lnTo>
                  <a:pt x="1001703" y="140002"/>
                </a:lnTo>
                <a:lnTo>
                  <a:pt x="1001207" y="140377"/>
                </a:lnTo>
                <a:lnTo>
                  <a:pt x="1000493" y="140446"/>
                </a:lnTo>
                <a:lnTo>
                  <a:pt x="999924" y="139817"/>
                </a:lnTo>
                <a:lnTo>
                  <a:pt x="999149" y="139456"/>
                </a:lnTo>
                <a:lnTo>
                  <a:pt x="998474" y="138622"/>
                </a:lnTo>
                <a:lnTo>
                  <a:pt x="998311" y="137902"/>
                </a:lnTo>
                <a:lnTo>
                  <a:pt x="998474" y="137673"/>
                </a:lnTo>
                <a:lnTo>
                  <a:pt x="999086" y="138238"/>
                </a:lnTo>
                <a:lnTo>
                  <a:pt x="999634" y="138305"/>
                </a:lnTo>
                <a:lnTo>
                  <a:pt x="1000049" y="137353"/>
                </a:lnTo>
                <a:lnTo>
                  <a:pt x="999520" y="137013"/>
                </a:lnTo>
                <a:lnTo>
                  <a:pt x="999681" y="136010"/>
                </a:lnTo>
                <a:lnTo>
                  <a:pt x="1000649" y="135382"/>
                </a:lnTo>
                <a:lnTo>
                  <a:pt x="1000463" y="134670"/>
                </a:lnTo>
                <a:lnTo>
                  <a:pt x="999902" y="134877"/>
                </a:lnTo>
                <a:lnTo>
                  <a:pt x="999887" y="135309"/>
                </a:lnTo>
                <a:lnTo>
                  <a:pt x="999490" y="135585"/>
                </a:lnTo>
                <a:lnTo>
                  <a:pt x="998216" y="135489"/>
                </a:lnTo>
                <a:lnTo>
                  <a:pt x="996601" y="135720"/>
                </a:lnTo>
                <a:lnTo>
                  <a:pt x="995569" y="135580"/>
                </a:lnTo>
                <a:lnTo>
                  <a:pt x="994852" y="135188"/>
                </a:lnTo>
                <a:lnTo>
                  <a:pt x="995031" y="134174"/>
                </a:lnTo>
                <a:lnTo>
                  <a:pt x="996134" y="132827"/>
                </a:lnTo>
                <a:lnTo>
                  <a:pt x="998180" y="132543"/>
                </a:lnTo>
                <a:lnTo>
                  <a:pt x="998172" y="132088"/>
                </a:lnTo>
                <a:lnTo>
                  <a:pt x="997557" y="131112"/>
                </a:lnTo>
                <a:lnTo>
                  <a:pt x="997759" y="130053"/>
                </a:lnTo>
                <a:lnTo>
                  <a:pt x="997509" y="129459"/>
                </a:lnTo>
                <a:lnTo>
                  <a:pt x="995438" y="128967"/>
                </a:lnTo>
                <a:lnTo>
                  <a:pt x="993796" y="128933"/>
                </a:lnTo>
                <a:lnTo>
                  <a:pt x="993668" y="129270"/>
                </a:lnTo>
                <a:lnTo>
                  <a:pt x="994332" y="129975"/>
                </a:lnTo>
                <a:lnTo>
                  <a:pt x="994688" y="130911"/>
                </a:lnTo>
                <a:lnTo>
                  <a:pt x="994572" y="132727"/>
                </a:lnTo>
                <a:lnTo>
                  <a:pt x="994304" y="133037"/>
                </a:lnTo>
                <a:lnTo>
                  <a:pt x="993984" y="132965"/>
                </a:lnTo>
                <a:lnTo>
                  <a:pt x="993557" y="132298"/>
                </a:lnTo>
                <a:lnTo>
                  <a:pt x="991563" y="133588"/>
                </a:lnTo>
                <a:lnTo>
                  <a:pt x="991372" y="132576"/>
                </a:lnTo>
                <a:lnTo>
                  <a:pt x="991909" y="131404"/>
                </a:lnTo>
                <a:lnTo>
                  <a:pt x="991955" y="130783"/>
                </a:lnTo>
                <a:lnTo>
                  <a:pt x="992861" y="129821"/>
                </a:lnTo>
                <a:lnTo>
                  <a:pt x="992717" y="129261"/>
                </a:lnTo>
                <a:lnTo>
                  <a:pt x="992236" y="129091"/>
                </a:lnTo>
                <a:lnTo>
                  <a:pt x="991205" y="129886"/>
                </a:lnTo>
                <a:lnTo>
                  <a:pt x="990226" y="129658"/>
                </a:lnTo>
                <a:lnTo>
                  <a:pt x="988718" y="131270"/>
                </a:lnTo>
                <a:lnTo>
                  <a:pt x="988726" y="129314"/>
                </a:lnTo>
                <a:lnTo>
                  <a:pt x="989074" y="128992"/>
                </a:lnTo>
                <a:lnTo>
                  <a:pt x="990156" y="128812"/>
                </a:lnTo>
                <a:lnTo>
                  <a:pt x="990239" y="128336"/>
                </a:lnTo>
                <a:lnTo>
                  <a:pt x="989744" y="127161"/>
                </a:lnTo>
                <a:lnTo>
                  <a:pt x="988874" y="127161"/>
                </a:lnTo>
                <a:lnTo>
                  <a:pt x="988258" y="127613"/>
                </a:lnTo>
                <a:lnTo>
                  <a:pt x="987536" y="126937"/>
                </a:lnTo>
                <a:lnTo>
                  <a:pt x="987085" y="127003"/>
                </a:lnTo>
                <a:lnTo>
                  <a:pt x="986819" y="126360"/>
                </a:lnTo>
                <a:lnTo>
                  <a:pt x="985762" y="126739"/>
                </a:lnTo>
                <a:lnTo>
                  <a:pt x="985166" y="126561"/>
                </a:lnTo>
                <a:lnTo>
                  <a:pt x="984082" y="127341"/>
                </a:lnTo>
                <a:lnTo>
                  <a:pt x="983532" y="126780"/>
                </a:lnTo>
                <a:lnTo>
                  <a:pt x="984106" y="125848"/>
                </a:lnTo>
                <a:lnTo>
                  <a:pt x="984172" y="125261"/>
                </a:lnTo>
                <a:lnTo>
                  <a:pt x="983700" y="123261"/>
                </a:lnTo>
                <a:lnTo>
                  <a:pt x="983297" y="123289"/>
                </a:lnTo>
                <a:lnTo>
                  <a:pt x="982870" y="124414"/>
                </a:lnTo>
                <a:lnTo>
                  <a:pt x="981664" y="124142"/>
                </a:lnTo>
                <a:lnTo>
                  <a:pt x="981177" y="124337"/>
                </a:lnTo>
                <a:lnTo>
                  <a:pt x="981162" y="123832"/>
                </a:lnTo>
                <a:lnTo>
                  <a:pt x="981745" y="123424"/>
                </a:lnTo>
                <a:lnTo>
                  <a:pt x="981400" y="122894"/>
                </a:lnTo>
                <a:lnTo>
                  <a:pt x="980509" y="122797"/>
                </a:lnTo>
                <a:lnTo>
                  <a:pt x="980514" y="121796"/>
                </a:lnTo>
                <a:lnTo>
                  <a:pt x="981010" y="120981"/>
                </a:lnTo>
                <a:lnTo>
                  <a:pt x="980699" y="120554"/>
                </a:lnTo>
                <a:lnTo>
                  <a:pt x="979788" y="120992"/>
                </a:lnTo>
                <a:lnTo>
                  <a:pt x="979100" y="122241"/>
                </a:lnTo>
                <a:lnTo>
                  <a:pt x="978246" y="121898"/>
                </a:lnTo>
                <a:lnTo>
                  <a:pt x="977809" y="120831"/>
                </a:lnTo>
                <a:lnTo>
                  <a:pt x="977816" y="119539"/>
                </a:lnTo>
                <a:lnTo>
                  <a:pt x="978177" y="119445"/>
                </a:lnTo>
                <a:lnTo>
                  <a:pt x="979349" y="118248"/>
                </a:lnTo>
                <a:lnTo>
                  <a:pt x="979501" y="117437"/>
                </a:lnTo>
                <a:lnTo>
                  <a:pt x="979181" y="117076"/>
                </a:lnTo>
                <a:lnTo>
                  <a:pt x="978639" y="116899"/>
                </a:lnTo>
                <a:lnTo>
                  <a:pt x="978048" y="117166"/>
                </a:lnTo>
                <a:lnTo>
                  <a:pt x="978150" y="117687"/>
                </a:lnTo>
                <a:lnTo>
                  <a:pt x="977354" y="118510"/>
                </a:lnTo>
                <a:lnTo>
                  <a:pt x="976831" y="117763"/>
                </a:lnTo>
                <a:lnTo>
                  <a:pt x="975398" y="116786"/>
                </a:lnTo>
                <a:lnTo>
                  <a:pt x="975404" y="116379"/>
                </a:lnTo>
                <a:lnTo>
                  <a:pt x="974720" y="116213"/>
                </a:lnTo>
                <a:lnTo>
                  <a:pt x="974302" y="116517"/>
                </a:lnTo>
                <a:lnTo>
                  <a:pt x="974450" y="117140"/>
                </a:lnTo>
                <a:lnTo>
                  <a:pt x="975366" y="118604"/>
                </a:lnTo>
                <a:lnTo>
                  <a:pt x="973476" y="117760"/>
                </a:lnTo>
                <a:lnTo>
                  <a:pt x="973374" y="118843"/>
                </a:lnTo>
                <a:lnTo>
                  <a:pt x="972898" y="118931"/>
                </a:lnTo>
                <a:lnTo>
                  <a:pt x="973303" y="119498"/>
                </a:lnTo>
                <a:lnTo>
                  <a:pt x="973167" y="119868"/>
                </a:lnTo>
                <a:lnTo>
                  <a:pt x="971553" y="119901"/>
                </a:lnTo>
                <a:lnTo>
                  <a:pt x="971216" y="119653"/>
                </a:lnTo>
                <a:lnTo>
                  <a:pt x="971093" y="118497"/>
                </a:lnTo>
                <a:lnTo>
                  <a:pt x="970732" y="117890"/>
                </a:lnTo>
                <a:lnTo>
                  <a:pt x="970254" y="118775"/>
                </a:lnTo>
                <a:lnTo>
                  <a:pt x="970404" y="119395"/>
                </a:lnTo>
                <a:lnTo>
                  <a:pt x="970244" y="119880"/>
                </a:lnTo>
                <a:lnTo>
                  <a:pt x="969491" y="120378"/>
                </a:lnTo>
                <a:lnTo>
                  <a:pt x="968952" y="120448"/>
                </a:lnTo>
                <a:lnTo>
                  <a:pt x="968728" y="120146"/>
                </a:lnTo>
                <a:lnTo>
                  <a:pt x="969034" y="119915"/>
                </a:lnTo>
                <a:lnTo>
                  <a:pt x="968989" y="119697"/>
                </a:lnTo>
                <a:lnTo>
                  <a:pt x="968759" y="119519"/>
                </a:lnTo>
                <a:lnTo>
                  <a:pt x="968109" y="119804"/>
                </a:lnTo>
                <a:lnTo>
                  <a:pt x="967484" y="119171"/>
                </a:lnTo>
                <a:lnTo>
                  <a:pt x="968286" y="118112"/>
                </a:lnTo>
                <a:lnTo>
                  <a:pt x="968101" y="117839"/>
                </a:lnTo>
                <a:lnTo>
                  <a:pt x="966257" y="117903"/>
                </a:lnTo>
                <a:lnTo>
                  <a:pt x="965581" y="117214"/>
                </a:lnTo>
                <a:lnTo>
                  <a:pt x="964558" y="117250"/>
                </a:lnTo>
                <a:lnTo>
                  <a:pt x="964138" y="116936"/>
                </a:lnTo>
                <a:lnTo>
                  <a:pt x="963561" y="117293"/>
                </a:lnTo>
                <a:lnTo>
                  <a:pt x="963035" y="115881"/>
                </a:lnTo>
                <a:lnTo>
                  <a:pt x="962730" y="115712"/>
                </a:lnTo>
                <a:lnTo>
                  <a:pt x="962713" y="114370"/>
                </a:lnTo>
                <a:lnTo>
                  <a:pt x="962459" y="114159"/>
                </a:lnTo>
                <a:lnTo>
                  <a:pt x="961833" y="114463"/>
                </a:lnTo>
                <a:lnTo>
                  <a:pt x="961313" y="113975"/>
                </a:lnTo>
                <a:lnTo>
                  <a:pt x="961276" y="113675"/>
                </a:lnTo>
                <a:lnTo>
                  <a:pt x="961768" y="113440"/>
                </a:lnTo>
                <a:lnTo>
                  <a:pt x="961820" y="113051"/>
                </a:lnTo>
                <a:lnTo>
                  <a:pt x="960411" y="112044"/>
                </a:lnTo>
                <a:lnTo>
                  <a:pt x="960468" y="111692"/>
                </a:lnTo>
                <a:lnTo>
                  <a:pt x="960088" y="111311"/>
                </a:lnTo>
                <a:lnTo>
                  <a:pt x="959755" y="111429"/>
                </a:lnTo>
                <a:lnTo>
                  <a:pt x="959822" y="111650"/>
                </a:lnTo>
                <a:lnTo>
                  <a:pt x="959115" y="112400"/>
                </a:lnTo>
                <a:lnTo>
                  <a:pt x="957704" y="113036"/>
                </a:lnTo>
                <a:lnTo>
                  <a:pt x="956876" y="113841"/>
                </a:lnTo>
                <a:lnTo>
                  <a:pt x="956576" y="113758"/>
                </a:lnTo>
                <a:lnTo>
                  <a:pt x="956502" y="113487"/>
                </a:lnTo>
                <a:lnTo>
                  <a:pt x="954883" y="113428"/>
                </a:lnTo>
                <a:lnTo>
                  <a:pt x="954795" y="113748"/>
                </a:lnTo>
                <a:lnTo>
                  <a:pt x="954581" y="113431"/>
                </a:lnTo>
                <a:lnTo>
                  <a:pt x="952506" y="114063"/>
                </a:lnTo>
                <a:lnTo>
                  <a:pt x="952061" y="114108"/>
                </a:lnTo>
                <a:lnTo>
                  <a:pt x="951698" y="113739"/>
                </a:lnTo>
                <a:lnTo>
                  <a:pt x="951537" y="113928"/>
                </a:lnTo>
                <a:lnTo>
                  <a:pt x="951141" y="113763"/>
                </a:lnTo>
                <a:lnTo>
                  <a:pt x="949624" y="114101"/>
                </a:lnTo>
                <a:lnTo>
                  <a:pt x="949134" y="113488"/>
                </a:lnTo>
                <a:lnTo>
                  <a:pt x="949058" y="110517"/>
                </a:lnTo>
                <a:lnTo>
                  <a:pt x="948212" y="109116"/>
                </a:lnTo>
                <a:lnTo>
                  <a:pt x="947232" y="108273"/>
                </a:lnTo>
                <a:lnTo>
                  <a:pt x="945951" y="108800"/>
                </a:lnTo>
                <a:lnTo>
                  <a:pt x="946099" y="108402"/>
                </a:lnTo>
                <a:lnTo>
                  <a:pt x="945964" y="108509"/>
                </a:lnTo>
                <a:lnTo>
                  <a:pt x="939551" y="105852"/>
                </a:lnTo>
                <a:lnTo>
                  <a:pt x="938069" y="102089"/>
                </a:lnTo>
                <a:lnTo>
                  <a:pt x="931941" y="102772"/>
                </a:lnTo>
                <a:lnTo>
                  <a:pt x="928270" y="105007"/>
                </a:lnTo>
                <a:lnTo>
                  <a:pt x="922480" y="104815"/>
                </a:lnTo>
                <a:lnTo>
                  <a:pt x="920203" y="106436"/>
                </a:lnTo>
                <a:lnTo>
                  <a:pt x="918443" y="106172"/>
                </a:lnTo>
                <a:lnTo>
                  <a:pt x="914500" y="109669"/>
                </a:lnTo>
                <a:lnTo>
                  <a:pt x="911487" y="105147"/>
                </a:lnTo>
                <a:lnTo>
                  <a:pt x="911114" y="105213"/>
                </a:lnTo>
                <a:lnTo>
                  <a:pt x="908888" y="104208"/>
                </a:lnTo>
                <a:lnTo>
                  <a:pt x="905262" y="103719"/>
                </a:lnTo>
                <a:lnTo>
                  <a:pt x="903158" y="101031"/>
                </a:lnTo>
                <a:lnTo>
                  <a:pt x="898590" y="100606"/>
                </a:lnTo>
                <a:lnTo>
                  <a:pt x="897438" y="100721"/>
                </a:lnTo>
                <a:lnTo>
                  <a:pt x="897153" y="100346"/>
                </a:lnTo>
                <a:lnTo>
                  <a:pt x="896178" y="100783"/>
                </a:lnTo>
                <a:lnTo>
                  <a:pt x="895274" y="100537"/>
                </a:lnTo>
                <a:lnTo>
                  <a:pt x="893942" y="101183"/>
                </a:lnTo>
                <a:lnTo>
                  <a:pt x="893952" y="101791"/>
                </a:lnTo>
                <a:lnTo>
                  <a:pt x="894369" y="102403"/>
                </a:lnTo>
                <a:lnTo>
                  <a:pt x="894243" y="102781"/>
                </a:lnTo>
                <a:lnTo>
                  <a:pt x="893409" y="102817"/>
                </a:lnTo>
                <a:lnTo>
                  <a:pt x="892118" y="103814"/>
                </a:lnTo>
                <a:lnTo>
                  <a:pt x="891841" y="103522"/>
                </a:lnTo>
                <a:lnTo>
                  <a:pt x="891490" y="101755"/>
                </a:lnTo>
                <a:lnTo>
                  <a:pt x="891951" y="100946"/>
                </a:lnTo>
                <a:lnTo>
                  <a:pt x="892600" y="100605"/>
                </a:lnTo>
                <a:lnTo>
                  <a:pt x="892606" y="100160"/>
                </a:lnTo>
                <a:lnTo>
                  <a:pt x="891965" y="100194"/>
                </a:lnTo>
                <a:lnTo>
                  <a:pt x="890857" y="101010"/>
                </a:lnTo>
                <a:lnTo>
                  <a:pt x="890215" y="99916"/>
                </a:lnTo>
                <a:lnTo>
                  <a:pt x="890257" y="99182"/>
                </a:lnTo>
                <a:lnTo>
                  <a:pt x="885747" y="97713"/>
                </a:lnTo>
                <a:lnTo>
                  <a:pt x="887318" y="96184"/>
                </a:lnTo>
                <a:lnTo>
                  <a:pt x="884288" y="94743"/>
                </a:lnTo>
                <a:lnTo>
                  <a:pt x="883150" y="93494"/>
                </a:lnTo>
                <a:lnTo>
                  <a:pt x="888321" y="90609"/>
                </a:lnTo>
                <a:lnTo>
                  <a:pt x="889795" y="90624"/>
                </a:lnTo>
                <a:lnTo>
                  <a:pt x="889934" y="90328"/>
                </a:lnTo>
                <a:lnTo>
                  <a:pt x="891496" y="89353"/>
                </a:lnTo>
                <a:lnTo>
                  <a:pt x="890382" y="87098"/>
                </a:lnTo>
                <a:lnTo>
                  <a:pt x="890086" y="87342"/>
                </a:lnTo>
                <a:lnTo>
                  <a:pt x="890525" y="87640"/>
                </a:lnTo>
                <a:lnTo>
                  <a:pt x="890367" y="87985"/>
                </a:lnTo>
                <a:lnTo>
                  <a:pt x="889797" y="87676"/>
                </a:lnTo>
                <a:lnTo>
                  <a:pt x="889595" y="88143"/>
                </a:lnTo>
                <a:lnTo>
                  <a:pt x="889309" y="88185"/>
                </a:lnTo>
                <a:lnTo>
                  <a:pt x="889303" y="88599"/>
                </a:lnTo>
                <a:lnTo>
                  <a:pt x="889804" y="88522"/>
                </a:lnTo>
                <a:lnTo>
                  <a:pt x="889243" y="89594"/>
                </a:lnTo>
                <a:lnTo>
                  <a:pt x="888940" y="89839"/>
                </a:lnTo>
                <a:lnTo>
                  <a:pt x="888545" y="89690"/>
                </a:lnTo>
                <a:lnTo>
                  <a:pt x="888446" y="88716"/>
                </a:lnTo>
                <a:lnTo>
                  <a:pt x="888648" y="88475"/>
                </a:lnTo>
                <a:lnTo>
                  <a:pt x="887918" y="87500"/>
                </a:lnTo>
                <a:lnTo>
                  <a:pt x="887687" y="86123"/>
                </a:lnTo>
                <a:lnTo>
                  <a:pt x="887847" y="85956"/>
                </a:lnTo>
                <a:lnTo>
                  <a:pt x="887609" y="85846"/>
                </a:lnTo>
                <a:lnTo>
                  <a:pt x="886941" y="86275"/>
                </a:lnTo>
                <a:lnTo>
                  <a:pt x="888526" y="82566"/>
                </a:lnTo>
                <a:lnTo>
                  <a:pt x="892238" y="83582"/>
                </a:lnTo>
                <a:lnTo>
                  <a:pt x="893931" y="78582"/>
                </a:lnTo>
                <a:lnTo>
                  <a:pt x="895552" y="75120"/>
                </a:lnTo>
                <a:lnTo>
                  <a:pt x="895531" y="70617"/>
                </a:lnTo>
                <a:lnTo>
                  <a:pt x="898649" y="68622"/>
                </a:lnTo>
                <a:lnTo>
                  <a:pt x="899844" y="69496"/>
                </a:lnTo>
                <a:lnTo>
                  <a:pt x="900003" y="66931"/>
                </a:lnTo>
                <a:lnTo>
                  <a:pt x="901514" y="66126"/>
                </a:lnTo>
                <a:lnTo>
                  <a:pt x="907744" y="64908"/>
                </a:lnTo>
                <a:lnTo>
                  <a:pt x="907141" y="61744"/>
                </a:lnTo>
                <a:lnTo>
                  <a:pt x="911005" y="62491"/>
                </a:lnTo>
                <a:lnTo>
                  <a:pt x="910333" y="58169"/>
                </a:lnTo>
                <a:lnTo>
                  <a:pt x="909423" y="56910"/>
                </a:lnTo>
                <a:lnTo>
                  <a:pt x="910458" y="55131"/>
                </a:lnTo>
                <a:lnTo>
                  <a:pt x="911003" y="52866"/>
                </a:lnTo>
                <a:lnTo>
                  <a:pt x="905778" y="45920"/>
                </a:lnTo>
                <a:lnTo>
                  <a:pt x="902324" y="43919"/>
                </a:lnTo>
                <a:lnTo>
                  <a:pt x="901558" y="44236"/>
                </a:lnTo>
                <a:lnTo>
                  <a:pt x="904543" y="50126"/>
                </a:lnTo>
                <a:lnTo>
                  <a:pt x="901554" y="50237"/>
                </a:lnTo>
                <a:lnTo>
                  <a:pt x="900805" y="48778"/>
                </a:lnTo>
                <a:lnTo>
                  <a:pt x="895370" y="47145"/>
                </a:lnTo>
                <a:lnTo>
                  <a:pt x="893241" y="46201"/>
                </a:lnTo>
                <a:lnTo>
                  <a:pt x="893676" y="46118"/>
                </a:lnTo>
                <a:lnTo>
                  <a:pt x="893483" y="45786"/>
                </a:lnTo>
                <a:lnTo>
                  <a:pt x="892535" y="45880"/>
                </a:lnTo>
                <a:lnTo>
                  <a:pt x="890946" y="45152"/>
                </a:lnTo>
                <a:lnTo>
                  <a:pt x="891242" y="45080"/>
                </a:lnTo>
                <a:lnTo>
                  <a:pt x="891099" y="44843"/>
                </a:lnTo>
                <a:lnTo>
                  <a:pt x="891258" y="44657"/>
                </a:lnTo>
                <a:lnTo>
                  <a:pt x="891714" y="44922"/>
                </a:lnTo>
                <a:lnTo>
                  <a:pt x="891998" y="44599"/>
                </a:lnTo>
                <a:lnTo>
                  <a:pt x="891821" y="44347"/>
                </a:lnTo>
                <a:lnTo>
                  <a:pt x="891451" y="44645"/>
                </a:lnTo>
                <a:lnTo>
                  <a:pt x="891712" y="44078"/>
                </a:lnTo>
                <a:lnTo>
                  <a:pt x="891036" y="43702"/>
                </a:lnTo>
                <a:lnTo>
                  <a:pt x="891299" y="43439"/>
                </a:lnTo>
                <a:lnTo>
                  <a:pt x="891909" y="43386"/>
                </a:lnTo>
                <a:lnTo>
                  <a:pt x="892005" y="42955"/>
                </a:lnTo>
                <a:lnTo>
                  <a:pt x="891217" y="42865"/>
                </a:lnTo>
                <a:lnTo>
                  <a:pt x="891022" y="42638"/>
                </a:lnTo>
                <a:lnTo>
                  <a:pt x="891125" y="43113"/>
                </a:lnTo>
                <a:lnTo>
                  <a:pt x="890472" y="43061"/>
                </a:lnTo>
                <a:lnTo>
                  <a:pt x="890779" y="42492"/>
                </a:lnTo>
                <a:lnTo>
                  <a:pt x="890528" y="41778"/>
                </a:lnTo>
                <a:lnTo>
                  <a:pt x="889006" y="42517"/>
                </a:lnTo>
                <a:lnTo>
                  <a:pt x="888472" y="42607"/>
                </a:lnTo>
                <a:lnTo>
                  <a:pt x="888295" y="42416"/>
                </a:lnTo>
                <a:lnTo>
                  <a:pt x="888262" y="41609"/>
                </a:lnTo>
                <a:lnTo>
                  <a:pt x="887798" y="40844"/>
                </a:lnTo>
                <a:lnTo>
                  <a:pt x="887955" y="40541"/>
                </a:lnTo>
                <a:lnTo>
                  <a:pt x="887397" y="40209"/>
                </a:lnTo>
                <a:lnTo>
                  <a:pt x="887499" y="38905"/>
                </a:lnTo>
                <a:lnTo>
                  <a:pt x="887065" y="38730"/>
                </a:lnTo>
                <a:lnTo>
                  <a:pt x="887611" y="37948"/>
                </a:lnTo>
                <a:lnTo>
                  <a:pt x="887737" y="36819"/>
                </a:lnTo>
                <a:lnTo>
                  <a:pt x="887474" y="36416"/>
                </a:lnTo>
                <a:lnTo>
                  <a:pt x="886682" y="36021"/>
                </a:lnTo>
                <a:lnTo>
                  <a:pt x="886949" y="35375"/>
                </a:lnTo>
                <a:lnTo>
                  <a:pt x="888033" y="35214"/>
                </a:lnTo>
                <a:lnTo>
                  <a:pt x="888106" y="34951"/>
                </a:lnTo>
                <a:lnTo>
                  <a:pt x="887415" y="34326"/>
                </a:lnTo>
                <a:lnTo>
                  <a:pt x="886637" y="34076"/>
                </a:lnTo>
                <a:lnTo>
                  <a:pt x="886669" y="33660"/>
                </a:lnTo>
                <a:lnTo>
                  <a:pt x="886417" y="33431"/>
                </a:lnTo>
                <a:lnTo>
                  <a:pt x="885372" y="33975"/>
                </a:lnTo>
                <a:lnTo>
                  <a:pt x="885231" y="31920"/>
                </a:lnTo>
                <a:lnTo>
                  <a:pt x="885712" y="31457"/>
                </a:lnTo>
                <a:lnTo>
                  <a:pt x="886645" y="31566"/>
                </a:lnTo>
                <a:lnTo>
                  <a:pt x="886848" y="31206"/>
                </a:lnTo>
                <a:lnTo>
                  <a:pt x="886204" y="30822"/>
                </a:lnTo>
                <a:lnTo>
                  <a:pt x="885619" y="30887"/>
                </a:lnTo>
                <a:lnTo>
                  <a:pt x="885199" y="29818"/>
                </a:lnTo>
                <a:lnTo>
                  <a:pt x="884358" y="29253"/>
                </a:lnTo>
                <a:lnTo>
                  <a:pt x="884223" y="28693"/>
                </a:lnTo>
                <a:lnTo>
                  <a:pt x="884457" y="28416"/>
                </a:lnTo>
                <a:lnTo>
                  <a:pt x="884827" y="28573"/>
                </a:lnTo>
                <a:lnTo>
                  <a:pt x="884843" y="27915"/>
                </a:lnTo>
                <a:lnTo>
                  <a:pt x="885371" y="27323"/>
                </a:lnTo>
                <a:lnTo>
                  <a:pt x="885758" y="27330"/>
                </a:lnTo>
                <a:lnTo>
                  <a:pt x="885914" y="26347"/>
                </a:lnTo>
                <a:lnTo>
                  <a:pt x="886358" y="26562"/>
                </a:lnTo>
                <a:lnTo>
                  <a:pt x="886830" y="26110"/>
                </a:lnTo>
                <a:lnTo>
                  <a:pt x="885880" y="25625"/>
                </a:lnTo>
                <a:lnTo>
                  <a:pt x="885488" y="24987"/>
                </a:lnTo>
                <a:lnTo>
                  <a:pt x="885991" y="24686"/>
                </a:lnTo>
                <a:lnTo>
                  <a:pt x="886556" y="24880"/>
                </a:lnTo>
                <a:lnTo>
                  <a:pt x="886927" y="24633"/>
                </a:lnTo>
                <a:lnTo>
                  <a:pt x="887112" y="23400"/>
                </a:lnTo>
                <a:lnTo>
                  <a:pt x="886383" y="23143"/>
                </a:lnTo>
                <a:lnTo>
                  <a:pt x="886759" y="22591"/>
                </a:lnTo>
                <a:lnTo>
                  <a:pt x="886430" y="22233"/>
                </a:lnTo>
                <a:lnTo>
                  <a:pt x="886322" y="21637"/>
                </a:lnTo>
                <a:lnTo>
                  <a:pt x="886694" y="20546"/>
                </a:lnTo>
                <a:lnTo>
                  <a:pt x="886445" y="20349"/>
                </a:lnTo>
                <a:lnTo>
                  <a:pt x="886962" y="19971"/>
                </a:lnTo>
                <a:lnTo>
                  <a:pt x="886448" y="18691"/>
                </a:lnTo>
                <a:lnTo>
                  <a:pt x="887131" y="18106"/>
                </a:lnTo>
                <a:lnTo>
                  <a:pt x="886935" y="17896"/>
                </a:lnTo>
                <a:lnTo>
                  <a:pt x="886404" y="18071"/>
                </a:lnTo>
                <a:lnTo>
                  <a:pt x="886471" y="17622"/>
                </a:lnTo>
                <a:lnTo>
                  <a:pt x="886087" y="17249"/>
                </a:lnTo>
                <a:lnTo>
                  <a:pt x="886423" y="16741"/>
                </a:lnTo>
                <a:lnTo>
                  <a:pt x="886802" y="17253"/>
                </a:lnTo>
                <a:lnTo>
                  <a:pt x="887112" y="17265"/>
                </a:lnTo>
                <a:lnTo>
                  <a:pt x="886993" y="16853"/>
                </a:lnTo>
                <a:lnTo>
                  <a:pt x="887377" y="16207"/>
                </a:lnTo>
                <a:lnTo>
                  <a:pt x="886815" y="16411"/>
                </a:lnTo>
                <a:lnTo>
                  <a:pt x="886349" y="15760"/>
                </a:lnTo>
                <a:lnTo>
                  <a:pt x="886093" y="15897"/>
                </a:lnTo>
                <a:lnTo>
                  <a:pt x="885584" y="12864"/>
                </a:lnTo>
                <a:lnTo>
                  <a:pt x="883331" y="9260"/>
                </a:lnTo>
                <a:lnTo>
                  <a:pt x="880302" y="7096"/>
                </a:lnTo>
                <a:lnTo>
                  <a:pt x="877318" y="1968"/>
                </a:lnTo>
                <a:lnTo>
                  <a:pt x="873170" y="0"/>
                </a:lnTo>
                <a:lnTo>
                  <a:pt x="872559" y="449"/>
                </a:lnTo>
                <a:lnTo>
                  <a:pt x="871675" y="458"/>
                </a:lnTo>
                <a:lnTo>
                  <a:pt x="870660" y="1487"/>
                </a:lnTo>
                <a:lnTo>
                  <a:pt x="869690" y="2818"/>
                </a:lnTo>
                <a:lnTo>
                  <a:pt x="869553" y="3982"/>
                </a:lnTo>
                <a:lnTo>
                  <a:pt x="868895" y="4566"/>
                </a:lnTo>
                <a:lnTo>
                  <a:pt x="867827" y="4291"/>
                </a:lnTo>
                <a:lnTo>
                  <a:pt x="867535" y="4692"/>
                </a:lnTo>
                <a:lnTo>
                  <a:pt x="866975" y="4674"/>
                </a:lnTo>
                <a:lnTo>
                  <a:pt x="866582" y="4939"/>
                </a:lnTo>
                <a:lnTo>
                  <a:pt x="865970" y="4751"/>
                </a:lnTo>
                <a:lnTo>
                  <a:pt x="864958" y="5683"/>
                </a:lnTo>
                <a:lnTo>
                  <a:pt x="864466" y="5665"/>
                </a:lnTo>
                <a:lnTo>
                  <a:pt x="864188" y="5255"/>
                </a:lnTo>
                <a:lnTo>
                  <a:pt x="862616" y="5150"/>
                </a:lnTo>
                <a:lnTo>
                  <a:pt x="861881" y="7174"/>
                </a:lnTo>
                <a:lnTo>
                  <a:pt x="860111" y="7864"/>
                </a:lnTo>
                <a:lnTo>
                  <a:pt x="859814" y="7721"/>
                </a:lnTo>
                <a:lnTo>
                  <a:pt x="859381" y="8506"/>
                </a:lnTo>
                <a:lnTo>
                  <a:pt x="858220" y="8644"/>
                </a:lnTo>
                <a:lnTo>
                  <a:pt x="857118" y="9683"/>
                </a:lnTo>
                <a:lnTo>
                  <a:pt x="856267" y="9457"/>
                </a:lnTo>
                <a:lnTo>
                  <a:pt x="855745" y="10087"/>
                </a:lnTo>
                <a:lnTo>
                  <a:pt x="855275" y="9972"/>
                </a:lnTo>
                <a:lnTo>
                  <a:pt x="854204" y="10308"/>
                </a:lnTo>
                <a:lnTo>
                  <a:pt x="853719" y="10178"/>
                </a:lnTo>
                <a:lnTo>
                  <a:pt x="853124" y="10787"/>
                </a:lnTo>
                <a:lnTo>
                  <a:pt x="852526" y="10889"/>
                </a:lnTo>
                <a:lnTo>
                  <a:pt x="852316" y="11417"/>
                </a:lnTo>
                <a:lnTo>
                  <a:pt x="850674" y="11304"/>
                </a:lnTo>
                <a:lnTo>
                  <a:pt x="850622" y="12220"/>
                </a:lnTo>
                <a:lnTo>
                  <a:pt x="850878" y="12883"/>
                </a:lnTo>
                <a:lnTo>
                  <a:pt x="850284" y="13315"/>
                </a:lnTo>
                <a:lnTo>
                  <a:pt x="848725" y="13626"/>
                </a:lnTo>
                <a:lnTo>
                  <a:pt x="847981" y="13539"/>
                </a:lnTo>
                <a:lnTo>
                  <a:pt x="846873" y="14385"/>
                </a:lnTo>
                <a:lnTo>
                  <a:pt x="846178" y="14026"/>
                </a:lnTo>
                <a:lnTo>
                  <a:pt x="845227" y="14323"/>
                </a:lnTo>
                <a:lnTo>
                  <a:pt x="843564" y="14212"/>
                </a:lnTo>
                <a:lnTo>
                  <a:pt x="842812" y="14711"/>
                </a:lnTo>
                <a:lnTo>
                  <a:pt x="841778" y="14704"/>
                </a:lnTo>
                <a:lnTo>
                  <a:pt x="841856" y="15138"/>
                </a:lnTo>
                <a:lnTo>
                  <a:pt x="841189" y="16062"/>
                </a:lnTo>
                <a:lnTo>
                  <a:pt x="838072" y="15653"/>
                </a:lnTo>
                <a:lnTo>
                  <a:pt x="837110" y="15274"/>
                </a:lnTo>
                <a:lnTo>
                  <a:pt x="835429" y="15369"/>
                </a:lnTo>
                <a:lnTo>
                  <a:pt x="834260" y="16240"/>
                </a:lnTo>
                <a:lnTo>
                  <a:pt x="834265" y="16580"/>
                </a:lnTo>
                <a:lnTo>
                  <a:pt x="833947" y="16813"/>
                </a:lnTo>
                <a:lnTo>
                  <a:pt x="833477" y="16231"/>
                </a:lnTo>
                <a:lnTo>
                  <a:pt x="832460" y="16305"/>
                </a:lnTo>
                <a:lnTo>
                  <a:pt x="831784" y="16687"/>
                </a:lnTo>
                <a:lnTo>
                  <a:pt x="831299" y="16621"/>
                </a:lnTo>
                <a:lnTo>
                  <a:pt x="831018" y="17012"/>
                </a:lnTo>
                <a:lnTo>
                  <a:pt x="829642" y="17260"/>
                </a:lnTo>
                <a:lnTo>
                  <a:pt x="828564" y="18326"/>
                </a:lnTo>
                <a:lnTo>
                  <a:pt x="828209" y="18380"/>
                </a:lnTo>
                <a:lnTo>
                  <a:pt x="827710" y="17960"/>
                </a:lnTo>
                <a:lnTo>
                  <a:pt x="826999" y="17879"/>
                </a:lnTo>
                <a:lnTo>
                  <a:pt x="826642" y="18628"/>
                </a:lnTo>
                <a:lnTo>
                  <a:pt x="826237" y="18603"/>
                </a:lnTo>
                <a:lnTo>
                  <a:pt x="825250" y="19404"/>
                </a:lnTo>
                <a:lnTo>
                  <a:pt x="824313" y="19720"/>
                </a:lnTo>
                <a:lnTo>
                  <a:pt x="823720" y="20435"/>
                </a:lnTo>
                <a:lnTo>
                  <a:pt x="822387" y="19837"/>
                </a:lnTo>
                <a:lnTo>
                  <a:pt x="821787" y="19858"/>
                </a:lnTo>
                <a:lnTo>
                  <a:pt x="821329" y="19216"/>
                </a:lnTo>
                <a:lnTo>
                  <a:pt x="820335" y="19222"/>
                </a:lnTo>
                <a:lnTo>
                  <a:pt x="819692" y="18808"/>
                </a:lnTo>
                <a:lnTo>
                  <a:pt x="818095" y="18777"/>
                </a:lnTo>
                <a:lnTo>
                  <a:pt x="816909" y="19343"/>
                </a:lnTo>
                <a:lnTo>
                  <a:pt x="815760" y="18809"/>
                </a:lnTo>
                <a:lnTo>
                  <a:pt x="813973" y="18455"/>
                </a:lnTo>
                <a:lnTo>
                  <a:pt x="813061" y="17803"/>
                </a:lnTo>
                <a:lnTo>
                  <a:pt x="812207" y="17892"/>
                </a:lnTo>
                <a:lnTo>
                  <a:pt x="811554" y="17595"/>
                </a:lnTo>
                <a:lnTo>
                  <a:pt x="810873" y="17812"/>
                </a:lnTo>
                <a:lnTo>
                  <a:pt x="809710" y="16992"/>
                </a:lnTo>
                <a:lnTo>
                  <a:pt x="809378" y="17190"/>
                </a:lnTo>
                <a:lnTo>
                  <a:pt x="807913" y="17147"/>
                </a:lnTo>
                <a:lnTo>
                  <a:pt x="807496" y="16595"/>
                </a:lnTo>
                <a:lnTo>
                  <a:pt x="806970" y="16973"/>
                </a:lnTo>
                <a:lnTo>
                  <a:pt x="805275" y="17338"/>
                </a:lnTo>
                <a:lnTo>
                  <a:pt x="804743" y="18468"/>
                </a:lnTo>
                <a:lnTo>
                  <a:pt x="802645" y="19340"/>
                </a:lnTo>
                <a:lnTo>
                  <a:pt x="801989" y="20016"/>
                </a:lnTo>
                <a:lnTo>
                  <a:pt x="801178" y="20268"/>
                </a:lnTo>
                <a:lnTo>
                  <a:pt x="800215" y="21217"/>
                </a:lnTo>
                <a:lnTo>
                  <a:pt x="797644" y="20769"/>
                </a:lnTo>
                <a:lnTo>
                  <a:pt x="796545" y="21374"/>
                </a:lnTo>
                <a:lnTo>
                  <a:pt x="796370" y="21820"/>
                </a:lnTo>
                <a:lnTo>
                  <a:pt x="794732" y="21587"/>
                </a:lnTo>
                <a:lnTo>
                  <a:pt x="794173" y="22048"/>
                </a:lnTo>
                <a:lnTo>
                  <a:pt x="793416" y="22074"/>
                </a:lnTo>
                <a:lnTo>
                  <a:pt x="790790" y="21314"/>
                </a:lnTo>
                <a:lnTo>
                  <a:pt x="789043" y="20441"/>
                </a:lnTo>
                <a:lnTo>
                  <a:pt x="786283" y="19538"/>
                </a:lnTo>
                <a:lnTo>
                  <a:pt x="785901" y="19765"/>
                </a:lnTo>
                <a:lnTo>
                  <a:pt x="785685" y="20763"/>
                </a:lnTo>
                <a:lnTo>
                  <a:pt x="785225" y="21423"/>
                </a:lnTo>
                <a:lnTo>
                  <a:pt x="785141" y="21972"/>
                </a:lnTo>
                <a:lnTo>
                  <a:pt x="784882" y="22017"/>
                </a:lnTo>
                <a:lnTo>
                  <a:pt x="784822" y="22568"/>
                </a:lnTo>
                <a:lnTo>
                  <a:pt x="783956" y="22907"/>
                </a:lnTo>
                <a:lnTo>
                  <a:pt x="783765" y="23496"/>
                </a:lnTo>
                <a:lnTo>
                  <a:pt x="782087" y="23585"/>
                </a:lnTo>
                <a:lnTo>
                  <a:pt x="781285" y="23376"/>
                </a:lnTo>
                <a:lnTo>
                  <a:pt x="780463" y="24930"/>
                </a:lnTo>
                <a:lnTo>
                  <a:pt x="779807" y="26860"/>
                </a:lnTo>
                <a:lnTo>
                  <a:pt x="779911" y="27170"/>
                </a:lnTo>
                <a:lnTo>
                  <a:pt x="779293" y="27824"/>
                </a:lnTo>
                <a:lnTo>
                  <a:pt x="778788" y="29557"/>
                </a:lnTo>
                <a:lnTo>
                  <a:pt x="778234" y="30376"/>
                </a:lnTo>
                <a:lnTo>
                  <a:pt x="778250" y="30781"/>
                </a:lnTo>
                <a:lnTo>
                  <a:pt x="778569" y="31058"/>
                </a:lnTo>
                <a:lnTo>
                  <a:pt x="778194" y="31350"/>
                </a:lnTo>
                <a:lnTo>
                  <a:pt x="777925" y="32104"/>
                </a:lnTo>
                <a:lnTo>
                  <a:pt x="778503" y="32978"/>
                </a:lnTo>
                <a:lnTo>
                  <a:pt x="778216" y="33485"/>
                </a:lnTo>
                <a:lnTo>
                  <a:pt x="777425" y="33866"/>
                </a:lnTo>
                <a:lnTo>
                  <a:pt x="776423" y="33711"/>
                </a:lnTo>
                <a:lnTo>
                  <a:pt x="776077" y="33029"/>
                </a:lnTo>
                <a:lnTo>
                  <a:pt x="775826" y="33691"/>
                </a:lnTo>
                <a:lnTo>
                  <a:pt x="775304" y="34200"/>
                </a:lnTo>
                <a:lnTo>
                  <a:pt x="774735" y="34335"/>
                </a:lnTo>
                <a:lnTo>
                  <a:pt x="774392" y="34727"/>
                </a:lnTo>
                <a:lnTo>
                  <a:pt x="773647" y="34709"/>
                </a:lnTo>
                <a:lnTo>
                  <a:pt x="773199" y="36320"/>
                </a:lnTo>
                <a:lnTo>
                  <a:pt x="772117" y="37161"/>
                </a:lnTo>
                <a:lnTo>
                  <a:pt x="771276" y="36961"/>
                </a:lnTo>
                <a:lnTo>
                  <a:pt x="769991" y="37308"/>
                </a:lnTo>
                <a:lnTo>
                  <a:pt x="769259" y="36954"/>
                </a:lnTo>
                <a:lnTo>
                  <a:pt x="768044" y="37016"/>
                </a:lnTo>
                <a:lnTo>
                  <a:pt x="767382" y="36468"/>
                </a:lnTo>
                <a:lnTo>
                  <a:pt x="766676" y="36310"/>
                </a:lnTo>
                <a:lnTo>
                  <a:pt x="766049" y="36997"/>
                </a:lnTo>
                <a:lnTo>
                  <a:pt x="764629" y="37230"/>
                </a:lnTo>
                <a:lnTo>
                  <a:pt x="763933" y="37080"/>
                </a:lnTo>
                <a:lnTo>
                  <a:pt x="762744" y="37461"/>
                </a:lnTo>
                <a:lnTo>
                  <a:pt x="762665" y="38407"/>
                </a:lnTo>
                <a:lnTo>
                  <a:pt x="761670" y="39204"/>
                </a:lnTo>
                <a:lnTo>
                  <a:pt x="760832" y="39529"/>
                </a:lnTo>
                <a:lnTo>
                  <a:pt x="760830" y="39865"/>
                </a:lnTo>
                <a:lnTo>
                  <a:pt x="759574" y="41586"/>
                </a:lnTo>
                <a:lnTo>
                  <a:pt x="758469" y="42282"/>
                </a:lnTo>
                <a:lnTo>
                  <a:pt x="759190" y="43287"/>
                </a:lnTo>
                <a:lnTo>
                  <a:pt x="759563" y="44871"/>
                </a:lnTo>
                <a:lnTo>
                  <a:pt x="760269" y="45243"/>
                </a:lnTo>
                <a:lnTo>
                  <a:pt x="761351" y="45208"/>
                </a:lnTo>
                <a:lnTo>
                  <a:pt x="761969" y="46274"/>
                </a:lnTo>
                <a:lnTo>
                  <a:pt x="763287" y="46782"/>
                </a:lnTo>
                <a:lnTo>
                  <a:pt x="764003" y="47677"/>
                </a:lnTo>
                <a:lnTo>
                  <a:pt x="765201" y="47904"/>
                </a:lnTo>
                <a:lnTo>
                  <a:pt x="764659" y="48423"/>
                </a:lnTo>
                <a:lnTo>
                  <a:pt x="765212" y="48767"/>
                </a:lnTo>
                <a:lnTo>
                  <a:pt x="764455" y="49350"/>
                </a:lnTo>
                <a:lnTo>
                  <a:pt x="764588" y="50721"/>
                </a:lnTo>
                <a:lnTo>
                  <a:pt x="765002" y="51383"/>
                </a:lnTo>
                <a:lnTo>
                  <a:pt x="765931" y="51559"/>
                </a:lnTo>
                <a:lnTo>
                  <a:pt x="766891" y="52622"/>
                </a:lnTo>
                <a:lnTo>
                  <a:pt x="767037" y="53122"/>
                </a:lnTo>
                <a:lnTo>
                  <a:pt x="766562" y="53738"/>
                </a:lnTo>
                <a:lnTo>
                  <a:pt x="766917" y="55431"/>
                </a:lnTo>
                <a:lnTo>
                  <a:pt x="766359" y="56420"/>
                </a:lnTo>
                <a:lnTo>
                  <a:pt x="766333" y="57556"/>
                </a:lnTo>
                <a:lnTo>
                  <a:pt x="765828" y="57968"/>
                </a:lnTo>
                <a:lnTo>
                  <a:pt x="765041" y="60433"/>
                </a:lnTo>
                <a:lnTo>
                  <a:pt x="764226" y="60869"/>
                </a:lnTo>
                <a:lnTo>
                  <a:pt x="764826" y="62854"/>
                </a:lnTo>
                <a:lnTo>
                  <a:pt x="764707" y="63056"/>
                </a:lnTo>
                <a:lnTo>
                  <a:pt x="763696" y="63152"/>
                </a:lnTo>
                <a:lnTo>
                  <a:pt x="763229" y="62470"/>
                </a:lnTo>
                <a:lnTo>
                  <a:pt x="762273" y="62074"/>
                </a:lnTo>
                <a:lnTo>
                  <a:pt x="761973" y="62886"/>
                </a:lnTo>
                <a:lnTo>
                  <a:pt x="761251" y="63275"/>
                </a:lnTo>
                <a:lnTo>
                  <a:pt x="760644" y="64818"/>
                </a:lnTo>
                <a:lnTo>
                  <a:pt x="758846" y="64774"/>
                </a:lnTo>
                <a:lnTo>
                  <a:pt x="757536" y="65800"/>
                </a:lnTo>
                <a:lnTo>
                  <a:pt x="756372" y="65079"/>
                </a:lnTo>
                <a:lnTo>
                  <a:pt x="754742" y="65382"/>
                </a:lnTo>
                <a:lnTo>
                  <a:pt x="753805" y="65946"/>
                </a:lnTo>
                <a:lnTo>
                  <a:pt x="753370" y="67010"/>
                </a:lnTo>
                <a:lnTo>
                  <a:pt x="752758" y="67796"/>
                </a:lnTo>
                <a:lnTo>
                  <a:pt x="751758" y="68427"/>
                </a:lnTo>
                <a:lnTo>
                  <a:pt x="751466" y="69459"/>
                </a:lnTo>
                <a:lnTo>
                  <a:pt x="750417" y="70117"/>
                </a:lnTo>
                <a:lnTo>
                  <a:pt x="750187" y="71024"/>
                </a:lnTo>
                <a:lnTo>
                  <a:pt x="751482" y="71818"/>
                </a:lnTo>
                <a:lnTo>
                  <a:pt x="751593" y="72769"/>
                </a:lnTo>
                <a:lnTo>
                  <a:pt x="753290" y="73897"/>
                </a:lnTo>
                <a:lnTo>
                  <a:pt x="753525" y="74377"/>
                </a:lnTo>
                <a:lnTo>
                  <a:pt x="753619" y="75974"/>
                </a:lnTo>
                <a:lnTo>
                  <a:pt x="752843" y="76265"/>
                </a:lnTo>
                <a:lnTo>
                  <a:pt x="752395" y="77149"/>
                </a:lnTo>
                <a:lnTo>
                  <a:pt x="753000" y="79263"/>
                </a:lnTo>
                <a:lnTo>
                  <a:pt x="752958" y="79817"/>
                </a:lnTo>
                <a:lnTo>
                  <a:pt x="752870" y="80101"/>
                </a:lnTo>
                <a:lnTo>
                  <a:pt x="751735" y="80223"/>
                </a:lnTo>
                <a:lnTo>
                  <a:pt x="751036" y="81335"/>
                </a:lnTo>
                <a:lnTo>
                  <a:pt x="750919" y="81954"/>
                </a:lnTo>
                <a:lnTo>
                  <a:pt x="750050" y="82737"/>
                </a:lnTo>
                <a:lnTo>
                  <a:pt x="750235" y="83642"/>
                </a:lnTo>
                <a:lnTo>
                  <a:pt x="750894" y="84811"/>
                </a:lnTo>
                <a:lnTo>
                  <a:pt x="750506" y="85107"/>
                </a:lnTo>
                <a:lnTo>
                  <a:pt x="750725" y="85794"/>
                </a:lnTo>
                <a:lnTo>
                  <a:pt x="750241" y="86663"/>
                </a:lnTo>
                <a:lnTo>
                  <a:pt x="750370" y="87335"/>
                </a:lnTo>
                <a:lnTo>
                  <a:pt x="749394" y="87842"/>
                </a:lnTo>
                <a:lnTo>
                  <a:pt x="749022" y="89144"/>
                </a:lnTo>
                <a:lnTo>
                  <a:pt x="748148" y="89418"/>
                </a:lnTo>
                <a:lnTo>
                  <a:pt x="747041" y="90432"/>
                </a:lnTo>
                <a:lnTo>
                  <a:pt x="745949" y="90297"/>
                </a:lnTo>
                <a:lnTo>
                  <a:pt x="744988" y="90918"/>
                </a:lnTo>
                <a:lnTo>
                  <a:pt x="744811" y="91398"/>
                </a:lnTo>
                <a:lnTo>
                  <a:pt x="743633" y="91517"/>
                </a:lnTo>
                <a:lnTo>
                  <a:pt x="743223" y="92921"/>
                </a:lnTo>
                <a:lnTo>
                  <a:pt x="743511" y="93443"/>
                </a:lnTo>
                <a:lnTo>
                  <a:pt x="743417" y="93897"/>
                </a:lnTo>
                <a:lnTo>
                  <a:pt x="744289" y="95208"/>
                </a:lnTo>
                <a:lnTo>
                  <a:pt x="743875" y="97148"/>
                </a:lnTo>
                <a:lnTo>
                  <a:pt x="744007" y="98019"/>
                </a:lnTo>
                <a:lnTo>
                  <a:pt x="744532" y="98561"/>
                </a:lnTo>
                <a:lnTo>
                  <a:pt x="744799" y="99517"/>
                </a:lnTo>
                <a:lnTo>
                  <a:pt x="744778" y="101104"/>
                </a:lnTo>
                <a:lnTo>
                  <a:pt x="744666" y="101778"/>
                </a:lnTo>
                <a:lnTo>
                  <a:pt x="743869" y="102601"/>
                </a:lnTo>
                <a:lnTo>
                  <a:pt x="743258" y="103692"/>
                </a:lnTo>
                <a:lnTo>
                  <a:pt x="739349" y="100085"/>
                </a:lnTo>
                <a:lnTo>
                  <a:pt x="734859" y="100592"/>
                </a:lnTo>
                <a:lnTo>
                  <a:pt x="728083" y="100521"/>
                </a:lnTo>
                <a:lnTo>
                  <a:pt x="726446" y="99169"/>
                </a:lnTo>
                <a:lnTo>
                  <a:pt x="724458" y="99766"/>
                </a:lnTo>
                <a:lnTo>
                  <a:pt x="719373" y="97844"/>
                </a:lnTo>
                <a:lnTo>
                  <a:pt x="719391" y="97135"/>
                </a:lnTo>
                <a:lnTo>
                  <a:pt x="718462" y="96063"/>
                </a:lnTo>
                <a:lnTo>
                  <a:pt x="718424" y="95138"/>
                </a:lnTo>
                <a:lnTo>
                  <a:pt x="717557" y="94407"/>
                </a:lnTo>
                <a:lnTo>
                  <a:pt x="716663" y="94201"/>
                </a:lnTo>
                <a:lnTo>
                  <a:pt x="717043" y="92151"/>
                </a:lnTo>
                <a:lnTo>
                  <a:pt x="716516" y="91069"/>
                </a:lnTo>
                <a:lnTo>
                  <a:pt x="716125" y="90849"/>
                </a:lnTo>
                <a:lnTo>
                  <a:pt x="714908" y="91301"/>
                </a:lnTo>
                <a:lnTo>
                  <a:pt x="714405" y="91060"/>
                </a:lnTo>
                <a:lnTo>
                  <a:pt x="713726" y="91729"/>
                </a:lnTo>
                <a:lnTo>
                  <a:pt x="712506" y="91368"/>
                </a:lnTo>
                <a:lnTo>
                  <a:pt x="711287" y="92693"/>
                </a:lnTo>
                <a:lnTo>
                  <a:pt x="708436" y="92679"/>
                </a:lnTo>
                <a:lnTo>
                  <a:pt x="707677" y="92921"/>
                </a:lnTo>
                <a:lnTo>
                  <a:pt x="704214" y="92473"/>
                </a:lnTo>
                <a:lnTo>
                  <a:pt x="703500" y="92666"/>
                </a:lnTo>
                <a:lnTo>
                  <a:pt x="702280" y="92603"/>
                </a:lnTo>
                <a:lnTo>
                  <a:pt x="701948" y="92814"/>
                </a:lnTo>
                <a:lnTo>
                  <a:pt x="700789" y="92658"/>
                </a:lnTo>
                <a:lnTo>
                  <a:pt x="699332" y="93189"/>
                </a:lnTo>
                <a:lnTo>
                  <a:pt x="698882" y="92929"/>
                </a:lnTo>
                <a:lnTo>
                  <a:pt x="698155" y="93120"/>
                </a:lnTo>
                <a:lnTo>
                  <a:pt x="697957" y="92855"/>
                </a:lnTo>
                <a:lnTo>
                  <a:pt x="697422" y="92839"/>
                </a:lnTo>
                <a:lnTo>
                  <a:pt x="696309" y="92320"/>
                </a:lnTo>
                <a:lnTo>
                  <a:pt x="695820" y="91790"/>
                </a:lnTo>
                <a:lnTo>
                  <a:pt x="695613" y="91930"/>
                </a:lnTo>
                <a:lnTo>
                  <a:pt x="695070" y="91666"/>
                </a:lnTo>
                <a:lnTo>
                  <a:pt x="694312" y="91053"/>
                </a:lnTo>
                <a:lnTo>
                  <a:pt x="693617" y="90834"/>
                </a:lnTo>
                <a:lnTo>
                  <a:pt x="692830" y="90908"/>
                </a:lnTo>
                <a:lnTo>
                  <a:pt x="691960" y="90515"/>
                </a:lnTo>
                <a:lnTo>
                  <a:pt x="691071" y="88361"/>
                </a:lnTo>
                <a:lnTo>
                  <a:pt x="690409" y="88167"/>
                </a:lnTo>
                <a:lnTo>
                  <a:pt x="689137" y="86429"/>
                </a:lnTo>
                <a:lnTo>
                  <a:pt x="688597" y="84727"/>
                </a:lnTo>
                <a:lnTo>
                  <a:pt x="686625" y="84014"/>
                </a:lnTo>
                <a:lnTo>
                  <a:pt x="686415" y="83472"/>
                </a:lnTo>
                <a:lnTo>
                  <a:pt x="685567" y="83049"/>
                </a:lnTo>
                <a:lnTo>
                  <a:pt x="685528" y="82520"/>
                </a:lnTo>
                <a:lnTo>
                  <a:pt x="686010" y="82146"/>
                </a:lnTo>
                <a:lnTo>
                  <a:pt x="685745" y="81663"/>
                </a:lnTo>
                <a:lnTo>
                  <a:pt x="685248" y="81410"/>
                </a:lnTo>
                <a:lnTo>
                  <a:pt x="685515" y="80808"/>
                </a:lnTo>
                <a:lnTo>
                  <a:pt x="685116" y="80157"/>
                </a:lnTo>
                <a:lnTo>
                  <a:pt x="684615" y="80009"/>
                </a:lnTo>
                <a:lnTo>
                  <a:pt x="683648" y="79093"/>
                </a:lnTo>
                <a:lnTo>
                  <a:pt x="682667" y="79215"/>
                </a:lnTo>
                <a:lnTo>
                  <a:pt x="681672" y="77571"/>
                </a:lnTo>
                <a:lnTo>
                  <a:pt x="680644" y="77067"/>
                </a:lnTo>
                <a:lnTo>
                  <a:pt x="680616" y="76548"/>
                </a:lnTo>
                <a:lnTo>
                  <a:pt x="680036" y="76231"/>
                </a:lnTo>
                <a:lnTo>
                  <a:pt x="679027" y="76570"/>
                </a:lnTo>
                <a:lnTo>
                  <a:pt x="678953" y="76138"/>
                </a:lnTo>
                <a:lnTo>
                  <a:pt x="678107" y="75908"/>
                </a:lnTo>
                <a:lnTo>
                  <a:pt x="677811" y="75473"/>
                </a:lnTo>
                <a:lnTo>
                  <a:pt x="676129" y="74435"/>
                </a:lnTo>
                <a:lnTo>
                  <a:pt x="675633" y="73635"/>
                </a:lnTo>
                <a:lnTo>
                  <a:pt x="675787" y="73195"/>
                </a:lnTo>
                <a:lnTo>
                  <a:pt x="675537" y="72282"/>
                </a:lnTo>
                <a:lnTo>
                  <a:pt x="674792" y="72749"/>
                </a:lnTo>
                <a:lnTo>
                  <a:pt x="674105" y="72552"/>
                </a:lnTo>
                <a:lnTo>
                  <a:pt x="673762" y="71937"/>
                </a:lnTo>
                <a:lnTo>
                  <a:pt x="674432" y="71840"/>
                </a:lnTo>
                <a:lnTo>
                  <a:pt x="674900" y="71376"/>
                </a:lnTo>
                <a:lnTo>
                  <a:pt x="674940" y="69686"/>
                </a:lnTo>
                <a:lnTo>
                  <a:pt x="674126" y="68570"/>
                </a:lnTo>
                <a:lnTo>
                  <a:pt x="673472" y="66552"/>
                </a:lnTo>
                <a:lnTo>
                  <a:pt x="672606" y="66343"/>
                </a:lnTo>
                <a:lnTo>
                  <a:pt x="673588" y="65179"/>
                </a:lnTo>
                <a:lnTo>
                  <a:pt x="673510" y="64873"/>
                </a:lnTo>
                <a:lnTo>
                  <a:pt x="673166" y="64628"/>
                </a:lnTo>
                <a:lnTo>
                  <a:pt x="672038" y="65190"/>
                </a:lnTo>
                <a:lnTo>
                  <a:pt x="671229" y="65110"/>
                </a:lnTo>
                <a:lnTo>
                  <a:pt x="670908" y="64871"/>
                </a:lnTo>
                <a:lnTo>
                  <a:pt x="669144" y="64758"/>
                </a:lnTo>
                <a:lnTo>
                  <a:pt x="668453" y="64207"/>
                </a:lnTo>
                <a:lnTo>
                  <a:pt x="668102" y="62531"/>
                </a:lnTo>
                <a:lnTo>
                  <a:pt x="669103" y="61873"/>
                </a:lnTo>
                <a:lnTo>
                  <a:pt x="669105" y="61623"/>
                </a:lnTo>
                <a:lnTo>
                  <a:pt x="667592" y="59466"/>
                </a:lnTo>
                <a:lnTo>
                  <a:pt x="666688" y="57132"/>
                </a:lnTo>
                <a:lnTo>
                  <a:pt x="664729" y="55781"/>
                </a:lnTo>
                <a:lnTo>
                  <a:pt x="664030" y="54305"/>
                </a:lnTo>
                <a:lnTo>
                  <a:pt x="662217" y="54131"/>
                </a:lnTo>
                <a:lnTo>
                  <a:pt x="661027" y="54710"/>
                </a:lnTo>
                <a:lnTo>
                  <a:pt x="660309" y="54765"/>
                </a:lnTo>
                <a:lnTo>
                  <a:pt x="659489" y="53214"/>
                </a:lnTo>
                <a:lnTo>
                  <a:pt x="659721" y="52207"/>
                </a:lnTo>
                <a:lnTo>
                  <a:pt x="658649" y="52616"/>
                </a:lnTo>
                <a:lnTo>
                  <a:pt x="657941" y="52415"/>
                </a:lnTo>
                <a:lnTo>
                  <a:pt x="658055" y="51223"/>
                </a:lnTo>
                <a:lnTo>
                  <a:pt x="657835" y="50722"/>
                </a:lnTo>
                <a:lnTo>
                  <a:pt x="656855" y="50286"/>
                </a:lnTo>
                <a:lnTo>
                  <a:pt x="655928" y="49392"/>
                </a:lnTo>
                <a:lnTo>
                  <a:pt x="656323" y="48322"/>
                </a:lnTo>
                <a:lnTo>
                  <a:pt x="656055" y="45852"/>
                </a:lnTo>
                <a:lnTo>
                  <a:pt x="656278" y="44253"/>
                </a:lnTo>
                <a:lnTo>
                  <a:pt x="656056" y="43841"/>
                </a:lnTo>
                <a:lnTo>
                  <a:pt x="654763" y="42768"/>
                </a:lnTo>
                <a:lnTo>
                  <a:pt x="653232" y="42655"/>
                </a:lnTo>
                <a:lnTo>
                  <a:pt x="651029" y="44140"/>
                </a:lnTo>
                <a:lnTo>
                  <a:pt x="648528" y="44221"/>
                </a:lnTo>
                <a:lnTo>
                  <a:pt x="647222" y="45405"/>
                </a:lnTo>
                <a:lnTo>
                  <a:pt x="644561" y="46635"/>
                </a:lnTo>
                <a:lnTo>
                  <a:pt x="643228" y="46089"/>
                </a:lnTo>
                <a:lnTo>
                  <a:pt x="642992" y="44882"/>
                </a:lnTo>
                <a:lnTo>
                  <a:pt x="642526" y="44536"/>
                </a:lnTo>
                <a:lnTo>
                  <a:pt x="640492" y="43930"/>
                </a:lnTo>
                <a:lnTo>
                  <a:pt x="638857" y="44733"/>
                </a:lnTo>
                <a:lnTo>
                  <a:pt x="638537" y="45283"/>
                </a:lnTo>
                <a:lnTo>
                  <a:pt x="639142" y="45863"/>
                </a:lnTo>
                <a:lnTo>
                  <a:pt x="639829" y="45867"/>
                </a:lnTo>
                <a:lnTo>
                  <a:pt x="640941" y="46351"/>
                </a:lnTo>
                <a:lnTo>
                  <a:pt x="641003" y="47401"/>
                </a:lnTo>
                <a:lnTo>
                  <a:pt x="640376" y="48995"/>
                </a:lnTo>
                <a:lnTo>
                  <a:pt x="641065" y="51537"/>
                </a:lnTo>
                <a:lnTo>
                  <a:pt x="641572" y="52143"/>
                </a:lnTo>
                <a:lnTo>
                  <a:pt x="642491" y="52152"/>
                </a:lnTo>
                <a:lnTo>
                  <a:pt x="642717" y="50132"/>
                </a:lnTo>
                <a:lnTo>
                  <a:pt x="643223" y="49568"/>
                </a:lnTo>
                <a:lnTo>
                  <a:pt x="644344" y="49470"/>
                </a:lnTo>
                <a:lnTo>
                  <a:pt x="645073" y="50068"/>
                </a:lnTo>
                <a:lnTo>
                  <a:pt x="644906" y="51554"/>
                </a:lnTo>
                <a:lnTo>
                  <a:pt x="645846" y="53205"/>
                </a:lnTo>
                <a:lnTo>
                  <a:pt x="645673" y="53939"/>
                </a:lnTo>
                <a:lnTo>
                  <a:pt x="645870" y="55131"/>
                </a:lnTo>
                <a:lnTo>
                  <a:pt x="642989" y="56486"/>
                </a:lnTo>
                <a:lnTo>
                  <a:pt x="642645" y="57299"/>
                </a:lnTo>
                <a:lnTo>
                  <a:pt x="642080" y="57676"/>
                </a:lnTo>
                <a:lnTo>
                  <a:pt x="641606" y="57088"/>
                </a:lnTo>
                <a:lnTo>
                  <a:pt x="640588" y="56693"/>
                </a:lnTo>
                <a:lnTo>
                  <a:pt x="638675" y="56342"/>
                </a:lnTo>
                <a:lnTo>
                  <a:pt x="637630" y="55702"/>
                </a:lnTo>
                <a:lnTo>
                  <a:pt x="636832" y="55835"/>
                </a:lnTo>
                <a:lnTo>
                  <a:pt x="636834" y="56678"/>
                </a:lnTo>
                <a:lnTo>
                  <a:pt x="636168" y="58046"/>
                </a:lnTo>
                <a:lnTo>
                  <a:pt x="635777" y="58602"/>
                </a:lnTo>
                <a:lnTo>
                  <a:pt x="634615" y="58900"/>
                </a:lnTo>
                <a:lnTo>
                  <a:pt x="634670" y="59779"/>
                </a:lnTo>
                <a:lnTo>
                  <a:pt x="635976" y="60817"/>
                </a:lnTo>
                <a:lnTo>
                  <a:pt x="636936" y="61104"/>
                </a:lnTo>
                <a:lnTo>
                  <a:pt x="639862" y="60271"/>
                </a:lnTo>
                <a:lnTo>
                  <a:pt x="640779" y="61599"/>
                </a:lnTo>
                <a:lnTo>
                  <a:pt x="640810" y="62175"/>
                </a:lnTo>
                <a:lnTo>
                  <a:pt x="638957" y="63106"/>
                </a:lnTo>
                <a:lnTo>
                  <a:pt x="637847" y="64057"/>
                </a:lnTo>
                <a:lnTo>
                  <a:pt x="636690" y="64258"/>
                </a:lnTo>
                <a:lnTo>
                  <a:pt x="634456" y="63570"/>
                </a:lnTo>
                <a:lnTo>
                  <a:pt x="632752" y="62615"/>
                </a:lnTo>
                <a:lnTo>
                  <a:pt x="631893" y="62619"/>
                </a:lnTo>
                <a:lnTo>
                  <a:pt x="631281" y="62987"/>
                </a:lnTo>
                <a:lnTo>
                  <a:pt x="630241" y="64821"/>
                </a:lnTo>
                <a:lnTo>
                  <a:pt x="630554" y="65852"/>
                </a:lnTo>
                <a:lnTo>
                  <a:pt x="630975" y="66239"/>
                </a:lnTo>
                <a:lnTo>
                  <a:pt x="633146" y="67119"/>
                </a:lnTo>
                <a:lnTo>
                  <a:pt x="633993" y="68196"/>
                </a:lnTo>
                <a:lnTo>
                  <a:pt x="634681" y="68650"/>
                </a:lnTo>
                <a:lnTo>
                  <a:pt x="634970" y="69487"/>
                </a:lnTo>
                <a:lnTo>
                  <a:pt x="634379" y="70163"/>
                </a:lnTo>
                <a:lnTo>
                  <a:pt x="631878" y="70562"/>
                </a:lnTo>
                <a:lnTo>
                  <a:pt x="630748" y="71176"/>
                </a:lnTo>
                <a:lnTo>
                  <a:pt x="631099" y="72309"/>
                </a:lnTo>
                <a:lnTo>
                  <a:pt x="630995" y="73463"/>
                </a:lnTo>
                <a:lnTo>
                  <a:pt x="630678" y="73900"/>
                </a:lnTo>
                <a:lnTo>
                  <a:pt x="630386" y="73999"/>
                </a:lnTo>
                <a:lnTo>
                  <a:pt x="629533" y="73668"/>
                </a:lnTo>
                <a:lnTo>
                  <a:pt x="628609" y="72480"/>
                </a:lnTo>
                <a:lnTo>
                  <a:pt x="627407" y="72313"/>
                </a:lnTo>
                <a:lnTo>
                  <a:pt x="626252" y="72936"/>
                </a:lnTo>
                <a:lnTo>
                  <a:pt x="625653" y="72501"/>
                </a:lnTo>
                <a:lnTo>
                  <a:pt x="624121" y="72268"/>
                </a:lnTo>
                <a:lnTo>
                  <a:pt x="623754" y="71106"/>
                </a:lnTo>
                <a:lnTo>
                  <a:pt x="623777" y="69735"/>
                </a:lnTo>
                <a:lnTo>
                  <a:pt x="623441" y="68917"/>
                </a:lnTo>
                <a:lnTo>
                  <a:pt x="623338" y="68739"/>
                </a:lnTo>
                <a:lnTo>
                  <a:pt x="622594" y="68705"/>
                </a:lnTo>
                <a:lnTo>
                  <a:pt x="621697" y="69358"/>
                </a:lnTo>
                <a:lnTo>
                  <a:pt x="621716" y="70720"/>
                </a:lnTo>
                <a:lnTo>
                  <a:pt x="621119" y="71654"/>
                </a:lnTo>
                <a:lnTo>
                  <a:pt x="621104" y="73324"/>
                </a:lnTo>
                <a:lnTo>
                  <a:pt x="620900" y="73499"/>
                </a:lnTo>
                <a:lnTo>
                  <a:pt x="619956" y="73426"/>
                </a:lnTo>
                <a:lnTo>
                  <a:pt x="619716" y="73127"/>
                </a:lnTo>
                <a:lnTo>
                  <a:pt x="619536" y="72620"/>
                </a:lnTo>
                <a:lnTo>
                  <a:pt x="619695" y="70503"/>
                </a:lnTo>
                <a:lnTo>
                  <a:pt x="619205" y="69742"/>
                </a:lnTo>
                <a:lnTo>
                  <a:pt x="618848" y="69633"/>
                </a:lnTo>
                <a:lnTo>
                  <a:pt x="618438" y="69944"/>
                </a:lnTo>
                <a:lnTo>
                  <a:pt x="618369" y="70673"/>
                </a:lnTo>
                <a:lnTo>
                  <a:pt x="617800" y="71791"/>
                </a:lnTo>
                <a:lnTo>
                  <a:pt x="617813" y="72883"/>
                </a:lnTo>
                <a:lnTo>
                  <a:pt x="615004" y="75589"/>
                </a:lnTo>
                <a:lnTo>
                  <a:pt x="613627" y="74800"/>
                </a:lnTo>
                <a:lnTo>
                  <a:pt x="612738" y="73548"/>
                </a:lnTo>
                <a:lnTo>
                  <a:pt x="611523" y="73819"/>
                </a:lnTo>
                <a:lnTo>
                  <a:pt x="608536" y="73018"/>
                </a:lnTo>
                <a:lnTo>
                  <a:pt x="607278" y="73060"/>
                </a:lnTo>
                <a:lnTo>
                  <a:pt x="606958" y="73319"/>
                </a:lnTo>
                <a:lnTo>
                  <a:pt x="606802" y="73872"/>
                </a:lnTo>
                <a:lnTo>
                  <a:pt x="607838" y="75263"/>
                </a:lnTo>
                <a:lnTo>
                  <a:pt x="608235" y="76636"/>
                </a:lnTo>
                <a:lnTo>
                  <a:pt x="607475" y="77554"/>
                </a:lnTo>
                <a:lnTo>
                  <a:pt x="605876" y="77978"/>
                </a:lnTo>
                <a:lnTo>
                  <a:pt x="604726" y="79962"/>
                </a:lnTo>
                <a:lnTo>
                  <a:pt x="603670" y="80721"/>
                </a:lnTo>
                <a:lnTo>
                  <a:pt x="602337" y="79936"/>
                </a:lnTo>
                <a:lnTo>
                  <a:pt x="601667" y="78968"/>
                </a:lnTo>
                <a:lnTo>
                  <a:pt x="601110" y="77591"/>
                </a:lnTo>
                <a:lnTo>
                  <a:pt x="601418" y="76187"/>
                </a:lnTo>
                <a:lnTo>
                  <a:pt x="600904" y="75780"/>
                </a:lnTo>
                <a:lnTo>
                  <a:pt x="598073" y="75976"/>
                </a:lnTo>
                <a:lnTo>
                  <a:pt x="594942" y="77065"/>
                </a:lnTo>
                <a:lnTo>
                  <a:pt x="593856" y="77116"/>
                </a:lnTo>
                <a:lnTo>
                  <a:pt x="592814" y="76591"/>
                </a:lnTo>
                <a:lnTo>
                  <a:pt x="592136" y="77077"/>
                </a:lnTo>
                <a:lnTo>
                  <a:pt x="590794" y="76864"/>
                </a:lnTo>
                <a:lnTo>
                  <a:pt x="589781" y="76990"/>
                </a:lnTo>
                <a:lnTo>
                  <a:pt x="589309" y="77384"/>
                </a:lnTo>
                <a:lnTo>
                  <a:pt x="588677" y="78804"/>
                </a:lnTo>
                <a:lnTo>
                  <a:pt x="588977" y="79568"/>
                </a:lnTo>
                <a:lnTo>
                  <a:pt x="589657" y="80308"/>
                </a:lnTo>
                <a:lnTo>
                  <a:pt x="591371" y="80899"/>
                </a:lnTo>
                <a:lnTo>
                  <a:pt x="592507" y="83704"/>
                </a:lnTo>
                <a:lnTo>
                  <a:pt x="594271" y="83833"/>
                </a:lnTo>
                <a:lnTo>
                  <a:pt x="594586" y="84219"/>
                </a:lnTo>
                <a:lnTo>
                  <a:pt x="594713" y="85209"/>
                </a:lnTo>
                <a:lnTo>
                  <a:pt x="593413" y="87280"/>
                </a:lnTo>
                <a:lnTo>
                  <a:pt x="592599" y="87895"/>
                </a:lnTo>
                <a:lnTo>
                  <a:pt x="590624" y="88132"/>
                </a:lnTo>
                <a:lnTo>
                  <a:pt x="590146" y="87755"/>
                </a:lnTo>
                <a:lnTo>
                  <a:pt x="589521" y="86388"/>
                </a:lnTo>
                <a:lnTo>
                  <a:pt x="588829" y="86192"/>
                </a:lnTo>
                <a:lnTo>
                  <a:pt x="585875" y="86651"/>
                </a:lnTo>
                <a:lnTo>
                  <a:pt x="581446" y="88110"/>
                </a:lnTo>
                <a:lnTo>
                  <a:pt x="580279" y="89651"/>
                </a:lnTo>
                <a:lnTo>
                  <a:pt x="579323" y="89889"/>
                </a:lnTo>
                <a:lnTo>
                  <a:pt x="578793" y="90760"/>
                </a:lnTo>
                <a:lnTo>
                  <a:pt x="578891" y="91268"/>
                </a:lnTo>
                <a:lnTo>
                  <a:pt x="581451" y="95397"/>
                </a:lnTo>
                <a:lnTo>
                  <a:pt x="581364" y="96310"/>
                </a:lnTo>
                <a:lnTo>
                  <a:pt x="579355" y="97302"/>
                </a:lnTo>
                <a:lnTo>
                  <a:pt x="578526" y="97430"/>
                </a:lnTo>
                <a:lnTo>
                  <a:pt x="577058" y="97250"/>
                </a:lnTo>
                <a:lnTo>
                  <a:pt x="574956" y="97817"/>
                </a:lnTo>
                <a:lnTo>
                  <a:pt x="574008" y="97495"/>
                </a:lnTo>
                <a:lnTo>
                  <a:pt x="572646" y="96238"/>
                </a:lnTo>
                <a:lnTo>
                  <a:pt x="571612" y="96240"/>
                </a:lnTo>
                <a:lnTo>
                  <a:pt x="571181" y="97083"/>
                </a:lnTo>
                <a:lnTo>
                  <a:pt x="571354" y="98498"/>
                </a:lnTo>
                <a:lnTo>
                  <a:pt x="571172" y="99203"/>
                </a:lnTo>
                <a:lnTo>
                  <a:pt x="570684" y="99702"/>
                </a:lnTo>
                <a:lnTo>
                  <a:pt x="569403" y="100134"/>
                </a:lnTo>
                <a:lnTo>
                  <a:pt x="568114" y="100205"/>
                </a:lnTo>
                <a:lnTo>
                  <a:pt x="566724" y="99824"/>
                </a:lnTo>
                <a:lnTo>
                  <a:pt x="566010" y="97688"/>
                </a:lnTo>
                <a:lnTo>
                  <a:pt x="564592" y="96077"/>
                </a:lnTo>
                <a:lnTo>
                  <a:pt x="562692" y="93308"/>
                </a:lnTo>
                <a:lnTo>
                  <a:pt x="561470" y="92749"/>
                </a:lnTo>
                <a:lnTo>
                  <a:pt x="557379" y="94115"/>
                </a:lnTo>
                <a:lnTo>
                  <a:pt x="556326" y="95232"/>
                </a:lnTo>
                <a:lnTo>
                  <a:pt x="555375" y="95605"/>
                </a:lnTo>
                <a:lnTo>
                  <a:pt x="553902" y="96893"/>
                </a:lnTo>
                <a:lnTo>
                  <a:pt x="551824" y="96597"/>
                </a:lnTo>
                <a:lnTo>
                  <a:pt x="550296" y="96845"/>
                </a:lnTo>
                <a:lnTo>
                  <a:pt x="547926" y="99620"/>
                </a:lnTo>
                <a:lnTo>
                  <a:pt x="547073" y="100074"/>
                </a:lnTo>
                <a:lnTo>
                  <a:pt x="545697" y="100211"/>
                </a:lnTo>
                <a:lnTo>
                  <a:pt x="544653" y="99870"/>
                </a:lnTo>
                <a:lnTo>
                  <a:pt x="543987" y="98647"/>
                </a:lnTo>
                <a:lnTo>
                  <a:pt x="543559" y="96996"/>
                </a:lnTo>
                <a:lnTo>
                  <a:pt x="543283" y="96873"/>
                </a:lnTo>
                <a:lnTo>
                  <a:pt x="542500" y="97348"/>
                </a:lnTo>
                <a:lnTo>
                  <a:pt x="541201" y="99693"/>
                </a:lnTo>
                <a:lnTo>
                  <a:pt x="540159" y="100440"/>
                </a:lnTo>
                <a:lnTo>
                  <a:pt x="538224" y="100963"/>
                </a:lnTo>
                <a:lnTo>
                  <a:pt x="536805" y="100974"/>
                </a:lnTo>
                <a:lnTo>
                  <a:pt x="536241" y="100523"/>
                </a:lnTo>
                <a:lnTo>
                  <a:pt x="536212" y="99238"/>
                </a:lnTo>
                <a:lnTo>
                  <a:pt x="536629" y="98448"/>
                </a:lnTo>
                <a:lnTo>
                  <a:pt x="537867" y="97612"/>
                </a:lnTo>
                <a:lnTo>
                  <a:pt x="536862" y="95804"/>
                </a:lnTo>
                <a:lnTo>
                  <a:pt x="533896" y="96113"/>
                </a:lnTo>
                <a:lnTo>
                  <a:pt x="531561" y="95837"/>
                </a:lnTo>
                <a:lnTo>
                  <a:pt x="529402" y="96452"/>
                </a:lnTo>
                <a:lnTo>
                  <a:pt x="526958" y="95970"/>
                </a:lnTo>
                <a:lnTo>
                  <a:pt x="526031" y="95587"/>
                </a:lnTo>
                <a:lnTo>
                  <a:pt x="522006" y="92028"/>
                </a:lnTo>
                <a:lnTo>
                  <a:pt x="520467" y="91328"/>
                </a:lnTo>
                <a:lnTo>
                  <a:pt x="519608" y="90622"/>
                </a:lnTo>
                <a:lnTo>
                  <a:pt x="516709" y="90221"/>
                </a:lnTo>
                <a:lnTo>
                  <a:pt x="516374" y="89797"/>
                </a:lnTo>
                <a:lnTo>
                  <a:pt x="516369" y="88869"/>
                </a:lnTo>
                <a:lnTo>
                  <a:pt x="517091" y="87564"/>
                </a:lnTo>
                <a:lnTo>
                  <a:pt x="517741" y="85470"/>
                </a:lnTo>
                <a:lnTo>
                  <a:pt x="517678" y="84479"/>
                </a:lnTo>
                <a:lnTo>
                  <a:pt x="517385" y="84108"/>
                </a:lnTo>
                <a:lnTo>
                  <a:pt x="516222" y="83718"/>
                </a:lnTo>
                <a:lnTo>
                  <a:pt x="513717" y="81896"/>
                </a:lnTo>
                <a:lnTo>
                  <a:pt x="512149" y="80426"/>
                </a:lnTo>
                <a:lnTo>
                  <a:pt x="509405" y="79751"/>
                </a:lnTo>
                <a:lnTo>
                  <a:pt x="507815" y="79861"/>
                </a:lnTo>
                <a:lnTo>
                  <a:pt x="505520" y="80656"/>
                </a:lnTo>
                <a:lnTo>
                  <a:pt x="504673" y="81647"/>
                </a:lnTo>
                <a:lnTo>
                  <a:pt x="503829" y="82222"/>
                </a:lnTo>
                <a:lnTo>
                  <a:pt x="501357" y="82213"/>
                </a:lnTo>
                <a:lnTo>
                  <a:pt x="499889" y="83967"/>
                </a:lnTo>
                <a:lnTo>
                  <a:pt x="499100" y="84297"/>
                </a:lnTo>
                <a:lnTo>
                  <a:pt x="497436" y="84052"/>
                </a:lnTo>
                <a:lnTo>
                  <a:pt x="493626" y="82190"/>
                </a:lnTo>
                <a:lnTo>
                  <a:pt x="492609" y="82412"/>
                </a:lnTo>
                <a:lnTo>
                  <a:pt x="490061" y="83611"/>
                </a:lnTo>
                <a:lnTo>
                  <a:pt x="488556" y="83240"/>
                </a:lnTo>
                <a:lnTo>
                  <a:pt x="488094" y="82569"/>
                </a:lnTo>
                <a:lnTo>
                  <a:pt x="488620" y="81913"/>
                </a:lnTo>
                <a:lnTo>
                  <a:pt x="488636" y="81392"/>
                </a:lnTo>
                <a:lnTo>
                  <a:pt x="487136" y="80298"/>
                </a:lnTo>
                <a:lnTo>
                  <a:pt x="486556" y="79455"/>
                </a:lnTo>
                <a:lnTo>
                  <a:pt x="486577" y="76727"/>
                </a:lnTo>
                <a:lnTo>
                  <a:pt x="486322" y="75701"/>
                </a:lnTo>
                <a:lnTo>
                  <a:pt x="485383" y="75098"/>
                </a:lnTo>
                <a:lnTo>
                  <a:pt x="481714" y="74396"/>
                </a:lnTo>
                <a:lnTo>
                  <a:pt x="480167" y="73758"/>
                </a:lnTo>
                <a:lnTo>
                  <a:pt x="478402" y="74043"/>
                </a:lnTo>
                <a:lnTo>
                  <a:pt x="477200" y="73692"/>
                </a:lnTo>
                <a:lnTo>
                  <a:pt x="476722" y="73106"/>
                </a:lnTo>
                <a:lnTo>
                  <a:pt x="477098" y="70695"/>
                </a:lnTo>
                <a:lnTo>
                  <a:pt x="476835" y="69211"/>
                </a:lnTo>
                <a:lnTo>
                  <a:pt x="474824" y="67157"/>
                </a:lnTo>
                <a:lnTo>
                  <a:pt x="472498" y="65874"/>
                </a:lnTo>
                <a:lnTo>
                  <a:pt x="471000" y="65856"/>
                </a:lnTo>
                <a:lnTo>
                  <a:pt x="470116" y="66120"/>
                </a:lnTo>
                <a:lnTo>
                  <a:pt x="468732" y="67246"/>
                </a:lnTo>
                <a:lnTo>
                  <a:pt x="467923" y="68463"/>
                </a:lnTo>
                <a:lnTo>
                  <a:pt x="467906" y="69238"/>
                </a:lnTo>
                <a:lnTo>
                  <a:pt x="468151" y="69638"/>
                </a:lnTo>
                <a:lnTo>
                  <a:pt x="468820" y="70042"/>
                </a:lnTo>
                <a:lnTo>
                  <a:pt x="469767" y="70152"/>
                </a:lnTo>
                <a:lnTo>
                  <a:pt x="470461" y="71305"/>
                </a:lnTo>
                <a:lnTo>
                  <a:pt x="470501" y="74272"/>
                </a:lnTo>
                <a:lnTo>
                  <a:pt x="470063" y="74744"/>
                </a:lnTo>
                <a:lnTo>
                  <a:pt x="469477" y="74947"/>
                </a:lnTo>
                <a:lnTo>
                  <a:pt x="468358" y="74991"/>
                </a:lnTo>
                <a:lnTo>
                  <a:pt x="466158" y="74108"/>
                </a:lnTo>
                <a:lnTo>
                  <a:pt x="464835" y="71832"/>
                </a:lnTo>
                <a:lnTo>
                  <a:pt x="463320" y="71021"/>
                </a:lnTo>
                <a:lnTo>
                  <a:pt x="459423" y="72082"/>
                </a:lnTo>
                <a:lnTo>
                  <a:pt x="456974" y="71921"/>
                </a:lnTo>
                <a:lnTo>
                  <a:pt x="453814" y="73376"/>
                </a:lnTo>
                <a:lnTo>
                  <a:pt x="449563" y="74086"/>
                </a:lnTo>
                <a:lnTo>
                  <a:pt x="446484" y="74231"/>
                </a:lnTo>
                <a:lnTo>
                  <a:pt x="443417" y="75617"/>
                </a:lnTo>
                <a:lnTo>
                  <a:pt x="441808" y="77171"/>
                </a:lnTo>
                <a:lnTo>
                  <a:pt x="441334" y="78449"/>
                </a:lnTo>
                <a:lnTo>
                  <a:pt x="441402" y="80820"/>
                </a:lnTo>
                <a:lnTo>
                  <a:pt x="440885" y="81453"/>
                </a:lnTo>
                <a:lnTo>
                  <a:pt x="439944" y="81669"/>
                </a:lnTo>
                <a:lnTo>
                  <a:pt x="439215" y="81430"/>
                </a:lnTo>
                <a:lnTo>
                  <a:pt x="438840" y="81050"/>
                </a:lnTo>
                <a:lnTo>
                  <a:pt x="438805" y="80684"/>
                </a:lnTo>
                <a:lnTo>
                  <a:pt x="439394" y="79455"/>
                </a:lnTo>
                <a:lnTo>
                  <a:pt x="439001" y="78326"/>
                </a:lnTo>
                <a:lnTo>
                  <a:pt x="436184" y="74883"/>
                </a:lnTo>
                <a:lnTo>
                  <a:pt x="435081" y="74449"/>
                </a:lnTo>
                <a:lnTo>
                  <a:pt x="433735" y="74942"/>
                </a:lnTo>
                <a:lnTo>
                  <a:pt x="432828" y="75766"/>
                </a:lnTo>
                <a:lnTo>
                  <a:pt x="431882" y="77207"/>
                </a:lnTo>
                <a:lnTo>
                  <a:pt x="431758" y="77868"/>
                </a:lnTo>
                <a:lnTo>
                  <a:pt x="432160" y="79578"/>
                </a:lnTo>
                <a:lnTo>
                  <a:pt x="434484" y="83476"/>
                </a:lnTo>
                <a:lnTo>
                  <a:pt x="434629" y="84710"/>
                </a:lnTo>
                <a:lnTo>
                  <a:pt x="434308" y="85638"/>
                </a:lnTo>
                <a:lnTo>
                  <a:pt x="433787" y="85936"/>
                </a:lnTo>
                <a:lnTo>
                  <a:pt x="431720" y="85669"/>
                </a:lnTo>
                <a:lnTo>
                  <a:pt x="430076" y="86003"/>
                </a:lnTo>
                <a:lnTo>
                  <a:pt x="429443" y="86729"/>
                </a:lnTo>
                <a:lnTo>
                  <a:pt x="428725" y="88621"/>
                </a:lnTo>
                <a:lnTo>
                  <a:pt x="428078" y="89291"/>
                </a:lnTo>
                <a:lnTo>
                  <a:pt x="426290" y="89072"/>
                </a:lnTo>
                <a:lnTo>
                  <a:pt x="424224" y="89462"/>
                </a:lnTo>
                <a:lnTo>
                  <a:pt x="421626" y="89384"/>
                </a:lnTo>
                <a:lnTo>
                  <a:pt x="420606" y="89750"/>
                </a:lnTo>
                <a:lnTo>
                  <a:pt x="419199" y="91036"/>
                </a:lnTo>
                <a:lnTo>
                  <a:pt x="418872" y="91639"/>
                </a:lnTo>
                <a:lnTo>
                  <a:pt x="418613" y="92861"/>
                </a:lnTo>
                <a:lnTo>
                  <a:pt x="418541" y="95958"/>
                </a:lnTo>
                <a:lnTo>
                  <a:pt x="418250" y="96876"/>
                </a:lnTo>
                <a:lnTo>
                  <a:pt x="417486" y="97571"/>
                </a:lnTo>
                <a:lnTo>
                  <a:pt x="416465" y="97960"/>
                </a:lnTo>
                <a:lnTo>
                  <a:pt x="415444" y="97781"/>
                </a:lnTo>
                <a:lnTo>
                  <a:pt x="414470" y="96958"/>
                </a:lnTo>
                <a:lnTo>
                  <a:pt x="409862" y="96895"/>
                </a:lnTo>
                <a:lnTo>
                  <a:pt x="407639" y="96410"/>
                </a:lnTo>
                <a:lnTo>
                  <a:pt x="406621" y="95827"/>
                </a:lnTo>
                <a:lnTo>
                  <a:pt x="404766" y="94209"/>
                </a:lnTo>
                <a:lnTo>
                  <a:pt x="404831" y="93187"/>
                </a:lnTo>
                <a:lnTo>
                  <a:pt x="405597" y="91716"/>
                </a:lnTo>
                <a:lnTo>
                  <a:pt x="405587" y="91146"/>
                </a:lnTo>
                <a:lnTo>
                  <a:pt x="404234" y="90002"/>
                </a:lnTo>
                <a:lnTo>
                  <a:pt x="403688" y="90120"/>
                </a:lnTo>
                <a:lnTo>
                  <a:pt x="401223" y="91943"/>
                </a:lnTo>
                <a:lnTo>
                  <a:pt x="399489" y="92772"/>
                </a:lnTo>
                <a:lnTo>
                  <a:pt x="397829" y="93009"/>
                </a:lnTo>
                <a:lnTo>
                  <a:pt x="396353" y="92793"/>
                </a:lnTo>
                <a:lnTo>
                  <a:pt x="395603" y="92446"/>
                </a:lnTo>
                <a:lnTo>
                  <a:pt x="395100" y="91958"/>
                </a:lnTo>
                <a:lnTo>
                  <a:pt x="395010" y="91439"/>
                </a:lnTo>
                <a:lnTo>
                  <a:pt x="396941" y="88666"/>
                </a:lnTo>
                <a:lnTo>
                  <a:pt x="397217" y="87366"/>
                </a:lnTo>
                <a:lnTo>
                  <a:pt x="396140" y="86479"/>
                </a:lnTo>
                <a:lnTo>
                  <a:pt x="395057" y="84588"/>
                </a:lnTo>
                <a:lnTo>
                  <a:pt x="394261" y="82517"/>
                </a:lnTo>
                <a:lnTo>
                  <a:pt x="393379" y="81859"/>
                </a:lnTo>
                <a:lnTo>
                  <a:pt x="392463" y="81967"/>
                </a:lnTo>
                <a:lnTo>
                  <a:pt x="390146" y="84900"/>
                </a:lnTo>
                <a:lnTo>
                  <a:pt x="388539" y="85972"/>
                </a:lnTo>
                <a:lnTo>
                  <a:pt x="387694" y="86010"/>
                </a:lnTo>
                <a:lnTo>
                  <a:pt x="384642" y="85403"/>
                </a:lnTo>
                <a:lnTo>
                  <a:pt x="383427" y="85514"/>
                </a:lnTo>
                <a:lnTo>
                  <a:pt x="382205" y="86004"/>
                </a:lnTo>
                <a:lnTo>
                  <a:pt x="380355" y="87260"/>
                </a:lnTo>
                <a:lnTo>
                  <a:pt x="378130" y="87908"/>
                </a:lnTo>
                <a:lnTo>
                  <a:pt x="377612" y="88341"/>
                </a:lnTo>
                <a:lnTo>
                  <a:pt x="376287" y="88830"/>
                </a:lnTo>
                <a:lnTo>
                  <a:pt x="375403" y="88432"/>
                </a:lnTo>
                <a:lnTo>
                  <a:pt x="375263" y="87076"/>
                </a:lnTo>
                <a:lnTo>
                  <a:pt x="374616" y="87694"/>
                </a:lnTo>
                <a:lnTo>
                  <a:pt x="373758" y="89115"/>
                </a:lnTo>
                <a:lnTo>
                  <a:pt x="373998" y="92408"/>
                </a:lnTo>
                <a:lnTo>
                  <a:pt x="374253" y="92945"/>
                </a:lnTo>
                <a:lnTo>
                  <a:pt x="375762" y="93915"/>
                </a:lnTo>
                <a:lnTo>
                  <a:pt x="375540" y="94251"/>
                </a:lnTo>
                <a:lnTo>
                  <a:pt x="375827" y="94918"/>
                </a:lnTo>
                <a:lnTo>
                  <a:pt x="374619" y="95674"/>
                </a:lnTo>
                <a:lnTo>
                  <a:pt x="374186" y="96564"/>
                </a:lnTo>
                <a:lnTo>
                  <a:pt x="374670" y="97561"/>
                </a:lnTo>
                <a:lnTo>
                  <a:pt x="375008" y="100836"/>
                </a:lnTo>
                <a:lnTo>
                  <a:pt x="374438" y="101758"/>
                </a:lnTo>
                <a:lnTo>
                  <a:pt x="374402" y="102816"/>
                </a:lnTo>
                <a:lnTo>
                  <a:pt x="376010" y="102994"/>
                </a:lnTo>
                <a:lnTo>
                  <a:pt x="376341" y="103812"/>
                </a:lnTo>
                <a:lnTo>
                  <a:pt x="376428" y="105476"/>
                </a:lnTo>
                <a:lnTo>
                  <a:pt x="375961" y="106305"/>
                </a:lnTo>
                <a:lnTo>
                  <a:pt x="376765" y="108898"/>
                </a:lnTo>
                <a:lnTo>
                  <a:pt x="376767" y="111977"/>
                </a:lnTo>
                <a:lnTo>
                  <a:pt x="377623" y="112894"/>
                </a:lnTo>
                <a:lnTo>
                  <a:pt x="380202" y="112777"/>
                </a:lnTo>
                <a:lnTo>
                  <a:pt x="380672" y="113610"/>
                </a:lnTo>
                <a:lnTo>
                  <a:pt x="382936" y="114865"/>
                </a:lnTo>
                <a:lnTo>
                  <a:pt x="386158" y="113844"/>
                </a:lnTo>
                <a:lnTo>
                  <a:pt x="386350" y="114036"/>
                </a:lnTo>
                <a:lnTo>
                  <a:pt x="382411" y="120774"/>
                </a:lnTo>
                <a:lnTo>
                  <a:pt x="377311" y="123385"/>
                </a:lnTo>
                <a:lnTo>
                  <a:pt x="375342" y="126585"/>
                </a:lnTo>
                <a:lnTo>
                  <a:pt x="379380" y="129556"/>
                </a:lnTo>
                <a:lnTo>
                  <a:pt x="380440" y="131208"/>
                </a:lnTo>
                <a:lnTo>
                  <a:pt x="381548" y="131934"/>
                </a:lnTo>
                <a:lnTo>
                  <a:pt x="381731" y="131756"/>
                </a:lnTo>
                <a:lnTo>
                  <a:pt x="381169" y="134958"/>
                </a:lnTo>
                <a:lnTo>
                  <a:pt x="380654" y="136069"/>
                </a:lnTo>
                <a:lnTo>
                  <a:pt x="379837" y="136794"/>
                </a:lnTo>
                <a:lnTo>
                  <a:pt x="380332" y="138277"/>
                </a:lnTo>
                <a:lnTo>
                  <a:pt x="380051" y="139589"/>
                </a:lnTo>
                <a:lnTo>
                  <a:pt x="380668" y="140462"/>
                </a:lnTo>
                <a:lnTo>
                  <a:pt x="378166" y="142358"/>
                </a:lnTo>
                <a:lnTo>
                  <a:pt x="375624" y="144930"/>
                </a:lnTo>
                <a:lnTo>
                  <a:pt x="375713" y="146108"/>
                </a:lnTo>
                <a:lnTo>
                  <a:pt x="376940" y="148557"/>
                </a:lnTo>
                <a:lnTo>
                  <a:pt x="379262" y="148755"/>
                </a:lnTo>
                <a:lnTo>
                  <a:pt x="377141" y="153477"/>
                </a:lnTo>
                <a:lnTo>
                  <a:pt x="373919" y="156306"/>
                </a:lnTo>
                <a:lnTo>
                  <a:pt x="372454" y="156204"/>
                </a:lnTo>
                <a:lnTo>
                  <a:pt x="370449" y="157351"/>
                </a:lnTo>
                <a:lnTo>
                  <a:pt x="372554" y="160240"/>
                </a:lnTo>
                <a:lnTo>
                  <a:pt x="371416" y="163588"/>
                </a:lnTo>
                <a:lnTo>
                  <a:pt x="367082" y="169038"/>
                </a:lnTo>
                <a:lnTo>
                  <a:pt x="364674" y="168412"/>
                </a:lnTo>
                <a:lnTo>
                  <a:pt x="362751" y="171653"/>
                </a:lnTo>
                <a:lnTo>
                  <a:pt x="361724" y="179345"/>
                </a:lnTo>
                <a:lnTo>
                  <a:pt x="362358" y="180253"/>
                </a:lnTo>
                <a:lnTo>
                  <a:pt x="362849" y="182409"/>
                </a:lnTo>
                <a:lnTo>
                  <a:pt x="360418" y="183696"/>
                </a:lnTo>
                <a:lnTo>
                  <a:pt x="358415" y="185280"/>
                </a:lnTo>
                <a:lnTo>
                  <a:pt x="349622" y="181563"/>
                </a:lnTo>
                <a:lnTo>
                  <a:pt x="348824" y="183152"/>
                </a:lnTo>
                <a:lnTo>
                  <a:pt x="346515" y="182711"/>
                </a:lnTo>
                <a:lnTo>
                  <a:pt x="346680" y="181680"/>
                </a:lnTo>
                <a:lnTo>
                  <a:pt x="340583" y="178530"/>
                </a:lnTo>
                <a:lnTo>
                  <a:pt x="340411" y="178061"/>
                </a:lnTo>
                <a:lnTo>
                  <a:pt x="339859" y="177753"/>
                </a:lnTo>
                <a:lnTo>
                  <a:pt x="338641" y="178014"/>
                </a:lnTo>
                <a:lnTo>
                  <a:pt x="337708" y="179554"/>
                </a:lnTo>
                <a:lnTo>
                  <a:pt x="338435" y="180045"/>
                </a:lnTo>
                <a:lnTo>
                  <a:pt x="337751" y="181703"/>
                </a:lnTo>
                <a:lnTo>
                  <a:pt x="336854" y="181752"/>
                </a:lnTo>
                <a:lnTo>
                  <a:pt x="336029" y="181406"/>
                </a:lnTo>
                <a:lnTo>
                  <a:pt x="334183" y="182815"/>
                </a:lnTo>
                <a:lnTo>
                  <a:pt x="333886" y="184798"/>
                </a:lnTo>
                <a:lnTo>
                  <a:pt x="332958" y="185529"/>
                </a:lnTo>
                <a:lnTo>
                  <a:pt x="330857" y="184217"/>
                </a:lnTo>
                <a:lnTo>
                  <a:pt x="330492" y="186139"/>
                </a:lnTo>
                <a:lnTo>
                  <a:pt x="327451" y="185512"/>
                </a:lnTo>
                <a:lnTo>
                  <a:pt x="325298" y="186597"/>
                </a:lnTo>
                <a:lnTo>
                  <a:pt x="323284" y="188699"/>
                </a:lnTo>
                <a:lnTo>
                  <a:pt x="321012" y="189142"/>
                </a:lnTo>
                <a:lnTo>
                  <a:pt x="319513" y="187671"/>
                </a:lnTo>
                <a:lnTo>
                  <a:pt x="317415" y="190244"/>
                </a:lnTo>
                <a:lnTo>
                  <a:pt x="315483" y="189706"/>
                </a:lnTo>
                <a:lnTo>
                  <a:pt x="310113" y="189172"/>
                </a:lnTo>
                <a:lnTo>
                  <a:pt x="303837" y="192726"/>
                </a:lnTo>
                <a:lnTo>
                  <a:pt x="302196" y="194778"/>
                </a:lnTo>
                <a:lnTo>
                  <a:pt x="301239" y="197459"/>
                </a:lnTo>
                <a:lnTo>
                  <a:pt x="300074" y="198304"/>
                </a:lnTo>
                <a:lnTo>
                  <a:pt x="298671" y="197186"/>
                </a:lnTo>
                <a:lnTo>
                  <a:pt x="295469" y="197681"/>
                </a:lnTo>
                <a:lnTo>
                  <a:pt x="295279" y="197194"/>
                </a:lnTo>
                <a:lnTo>
                  <a:pt x="288921" y="199482"/>
                </a:lnTo>
                <a:lnTo>
                  <a:pt x="290042" y="204009"/>
                </a:lnTo>
                <a:lnTo>
                  <a:pt x="290230" y="206792"/>
                </a:lnTo>
                <a:lnTo>
                  <a:pt x="289866" y="206848"/>
                </a:lnTo>
                <a:lnTo>
                  <a:pt x="287928" y="205481"/>
                </a:lnTo>
                <a:lnTo>
                  <a:pt x="285087" y="204007"/>
                </a:lnTo>
                <a:lnTo>
                  <a:pt x="279962" y="209272"/>
                </a:lnTo>
                <a:lnTo>
                  <a:pt x="271057" y="210889"/>
                </a:lnTo>
                <a:lnTo>
                  <a:pt x="269156" y="212429"/>
                </a:lnTo>
                <a:lnTo>
                  <a:pt x="268364" y="210990"/>
                </a:lnTo>
                <a:lnTo>
                  <a:pt x="262879" y="208237"/>
                </a:lnTo>
                <a:lnTo>
                  <a:pt x="253347" y="210684"/>
                </a:lnTo>
                <a:lnTo>
                  <a:pt x="249338" y="213794"/>
                </a:lnTo>
                <a:lnTo>
                  <a:pt x="249392" y="215163"/>
                </a:lnTo>
                <a:lnTo>
                  <a:pt x="248136" y="223951"/>
                </a:lnTo>
                <a:lnTo>
                  <a:pt x="245709" y="224744"/>
                </a:lnTo>
                <a:lnTo>
                  <a:pt x="242684" y="226510"/>
                </a:lnTo>
                <a:lnTo>
                  <a:pt x="244551" y="228428"/>
                </a:lnTo>
                <a:lnTo>
                  <a:pt x="243354" y="234155"/>
                </a:lnTo>
                <a:lnTo>
                  <a:pt x="240490" y="237840"/>
                </a:lnTo>
                <a:lnTo>
                  <a:pt x="243091" y="243522"/>
                </a:lnTo>
                <a:lnTo>
                  <a:pt x="242285" y="250094"/>
                </a:lnTo>
                <a:lnTo>
                  <a:pt x="241800" y="259802"/>
                </a:lnTo>
                <a:lnTo>
                  <a:pt x="240716" y="260097"/>
                </a:lnTo>
                <a:lnTo>
                  <a:pt x="235713" y="260021"/>
                </a:lnTo>
                <a:lnTo>
                  <a:pt x="231758" y="260991"/>
                </a:lnTo>
                <a:lnTo>
                  <a:pt x="227830" y="257103"/>
                </a:lnTo>
                <a:lnTo>
                  <a:pt x="229286" y="260827"/>
                </a:lnTo>
                <a:lnTo>
                  <a:pt x="217910" y="261143"/>
                </a:lnTo>
                <a:lnTo>
                  <a:pt x="215702" y="262782"/>
                </a:lnTo>
                <a:lnTo>
                  <a:pt x="215375" y="265630"/>
                </a:lnTo>
                <a:lnTo>
                  <a:pt x="214403" y="266971"/>
                </a:lnTo>
                <a:lnTo>
                  <a:pt x="212504" y="268284"/>
                </a:lnTo>
                <a:lnTo>
                  <a:pt x="210224" y="269380"/>
                </a:lnTo>
                <a:lnTo>
                  <a:pt x="207998" y="267885"/>
                </a:lnTo>
                <a:lnTo>
                  <a:pt x="207915" y="269614"/>
                </a:lnTo>
                <a:lnTo>
                  <a:pt x="205187" y="268594"/>
                </a:lnTo>
                <a:lnTo>
                  <a:pt x="204057" y="267254"/>
                </a:lnTo>
                <a:lnTo>
                  <a:pt x="202105" y="266506"/>
                </a:lnTo>
                <a:lnTo>
                  <a:pt x="193242" y="265324"/>
                </a:lnTo>
                <a:lnTo>
                  <a:pt x="191284" y="269684"/>
                </a:lnTo>
                <a:lnTo>
                  <a:pt x="191974" y="273115"/>
                </a:lnTo>
                <a:lnTo>
                  <a:pt x="192230" y="274675"/>
                </a:lnTo>
                <a:lnTo>
                  <a:pt x="196266" y="277087"/>
                </a:lnTo>
                <a:lnTo>
                  <a:pt x="195721" y="278069"/>
                </a:lnTo>
                <a:lnTo>
                  <a:pt x="192972" y="278668"/>
                </a:lnTo>
                <a:lnTo>
                  <a:pt x="192293" y="278561"/>
                </a:lnTo>
                <a:lnTo>
                  <a:pt x="192078" y="283775"/>
                </a:lnTo>
                <a:lnTo>
                  <a:pt x="187994" y="282526"/>
                </a:lnTo>
                <a:lnTo>
                  <a:pt x="185883" y="288790"/>
                </a:lnTo>
                <a:lnTo>
                  <a:pt x="185395" y="288897"/>
                </a:lnTo>
                <a:lnTo>
                  <a:pt x="185479" y="292119"/>
                </a:lnTo>
                <a:lnTo>
                  <a:pt x="190051" y="291897"/>
                </a:lnTo>
                <a:lnTo>
                  <a:pt x="191173" y="291456"/>
                </a:lnTo>
                <a:lnTo>
                  <a:pt x="191147" y="290517"/>
                </a:lnTo>
                <a:lnTo>
                  <a:pt x="193563" y="291414"/>
                </a:lnTo>
                <a:lnTo>
                  <a:pt x="198092" y="294810"/>
                </a:lnTo>
                <a:lnTo>
                  <a:pt x="197260" y="295336"/>
                </a:lnTo>
                <a:lnTo>
                  <a:pt x="196831" y="296439"/>
                </a:lnTo>
                <a:lnTo>
                  <a:pt x="198446" y="297879"/>
                </a:lnTo>
                <a:lnTo>
                  <a:pt x="199218" y="297738"/>
                </a:lnTo>
                <a:lnTo>
                  <a:pt x="201546" y="299985"/>
                </a:lnTo>
                <a:lnTo>
                  <a:pt x="196126" y="306456"/>
                </a:lnTo>
                <a:lnTo>
                  <a:pt x="197594" y="307887"/>
                </a:lnTo>
                <a:lnTo>
                  <a:pt x="196778" y="308425"/>
                </a:lnTo>
                <a:lnTo>
                  <a:pt x="196997" y="309080"/>
                </a:lnTo>
                <a:lnTo>
                  <a:pt x="194999" y="309126"/>
                </a:lnTo>
                <a:lnTo>
                  <a:pt x="194946" y="310313"/>
                </a:lnTo>
                <a:lnTo>
                  <a:pt x="190335" y="308984"/>
                </a:lnTo>
                <a:lnTo>
                  <a:pt x="188646" y="313731"/>
                </a:lnTo>
                <a:lnTo>
                  <a:pt x="190354" y="315359"/>
                </a:lnTo>
                <a:lnTo>
                  <a:pt x="189493" y="316779"/>
                </a:lnTo>
                <a:lnTo>
                  <a:pt x="187913" y="316091"/>
                </a:lnTo>
                <a:lnTo>
                  <a:pt x="186343" y="317007"/>
                </a:lnTo>
                <a:lnTo>
                  <a:pt x="186439" y="318356"/>
                </a:lnTo>
                <a:lnTo>
                  <a:pt x="185324" y="317971"/>
                </a:lnTo>
                <a:lnTo>
                  <a:pt x="185107" y="318333"/>
                </a:lnTo>
                <a:lnTo>
                  <a:pt x="184423" y="320789"/>
                </a:lnTo>
                <a:lnTo>
                  <a:pt x="184419" y="324905"/>
                </a:lnTo>
                <a:lnTo>
                  <a:pt x="186041" y="320649"/>
                </a:lnTo>
                <a:lnTo>
                  <a:pt x="189572" y="322834"/>
                </a:lnTo>
                <a:lnTo>
                  <a:pt x="189580" y="326898"/>
                </a:lnTo>
                <a:lnTo>
                  <a:pt x="188869" y="328316"/>
                </a:lnTo>
                <a:lnTo>
                  <a:pt x="187115" y="328838"/>
                </a:lnTo>
                <a:lnTo>
                  <a:pt x="185011" y="331024"/>
                </a:lnTo>
                <a:lnTo>
                  <a:pt x="186477" y="331363"/>
                </a:lnTo>
                <a:lnTo>
                  <a:pt x="184720" y="333463"/>
                </a:lnTo>
                <a:lnTo>
                  <a:pt x="183085" y="333434"/>
                </a:lnTo>
                <a:lnTo>
                  <a:pt x="180483" y="332833"/>
                </a:lnTo>
                <a:lnTo>
                  <a:pt x="176209" y="332514"/>
                </a:lnTo>
                <a:lnTo>
                  <a:pt x="177033" y="336336"/>
                </a:lnTo>
                <a:lnTo>
                  <a:pt x="175180" y="338197"/>
                </a:lnTo>
                <a:lnTo>
                  <a:pt x="169055" y="338896"/>
                </a:lnTo>
                <a:lnTo>
                  <a:pt x="168867" y="338663"/>
                </a:lnTo>
                <a:lnTo>
                  <a:pt x="168900" y="338988"/>
                </a:lnTo>
                <a:lnTo>
                  <a:pt x="165674" y="340294"/>
                </a:lnTo>
                <a:lnTo>
                  <a:pt x="164558" y="341894"/>
                </a:lnTo>
                <a:lnTo>
                  <a:pt x="162143" y="344381"/>
                </a:lnTo>
                <a:lnTo>
                  <a:pt x="160171" y="344622"/>
                </a:lnTo>
                <a:lnTo>
                  <a:pt x="156250" y="348086"/>
                </a:lnTo>
                <a:lnTo>
                  <a:pt x="152435" y="347133"/>
                </a:lnTo>
                <a:lnTo>
                  <a:pt x="150603" y="346094"/>
                </a:lnTo>
                <a:lnTo>
                  <a:pt x="143299" y="338315"/>
                </a:lnTo>
                <a:lnTo>
                  <a:pt x="138962" y="335856"/>
                </a:lnTo>
                <a:lnTo>
                  <a:pt x="136344" y="339390"/>
                </a:lnTo>
                <a:lnTo>
                  <a:pt x="133471" y="340646"/>
                </a:lnTo>
                <a:lnTo>
                  <a:pt x="131022" y="342372"/>
                </a:lnTo>
                <a:lnTo>
                  <a:pt x="128870" y="344678"/>
                </a:lnTo>
                <a:lnTo>
                  <a:pt x="125864" y="345363"/>
                </a:lnTo>
                <a:lnTo>
                  <a:pt x="122940" y="355073"/>
                </a:lnTo>
                <a:lnTo>
                  <a:pt x="124046" y="356014"/>
                </a:lnTo>
                <a:lnTo>
                  <a:pt x="126991" y="360060"/>
                </a:lnTo>
                <a:lnTo>
                  <a:pt x="125190" y="362496"/>
                </a:lnTo>
                <a:lnTo>
                  <a:pt x="115151" y="361971"/>
                </a:lnTo>
                <a:lnTo>
                  <a:pt x="110179" y="361121"/>
                </a:lnTo>
                <a:lnTo>
                  <a:pt x="105815" y="360074"/>
                </a:lnTo>
                <a:lnTo>
                  <a:pt x="95600" y="359234"/>
                </a:lnTo>
                <a:lnTo>
                  <a:pt x="92301" y="364550"/>
                </a:lnTo>
                <a:lnTo>
                  <a:pt x="90305" y="369859"/>
                </a:lnTo>
                <a:lnTo>
                  <a:pt x="81997" y="365916"/>
                </a:lnTo>
                <a:lnTo>
                  <a:pt x="79767" y="363795"/>
                </a:lnTo>
                <a:lnTo>
                  <a:pt x="76294" y="371013"/>
                </a:lnTo>
                <a:lnTo>
                  <a:pt x="73552" y="372356"/>
                </a:lnTo>
                <a:lnTo>
                  <a:pt x="71488" y="371804"/>
                </a:lnTo>
                <a:lnTo>
                  <a:pt x="64607" y="375766"/>
                </a:lnTo>
                <a:lnTo>
                  <a:pt x="68195" y="382221"/>
                </a:lnTo>
                <a:lnTo>
                  <a:pt x="67828" y="389923"/>
                </a:lnTo>
                <a:lnTo>
                  <a:pt x="73833" y="395993"/>
                </a:lnTo>
                <a:lnTo>
                  <a:pt x="76506" y="405689"/>
                </a:lnTo>
                <a:lnTo>
                  <a:pt x="75731" y="412151"/>
                </a:lnTo>
                <a:lnTo>
                  <a:pt x="71424" y="415342"/>
                </a:lnTo>
                <a:lnTo>
                  <a:pt x="80083" y="420457"/>
                </a:lnTo>
                <a:lnTo>
                  <a:pt x="82920" y="424594"/>
                </a:lnTo>
                <a:lnTo>
                  <a:pt x="82693" y="430117"/>
                </a:lnTo>
                <a:lnTo>
                  <a:pt x="88976" y="430035"/>
                </a:lnTo>
                <a:lnTo>
                  <a:pt x="86429" y="439940"/>
                </a:lnTo>
                <a:lnTo>
                  <a:pt x="76417" y="437500"/>
                </a:lnTo>
                <a:lnTo>
                  <a:pt x="68940" y="434182"/>
                </a:lnTo>
                <a:lnTo>
                  <a:pt x="62223" y="433706"/>
                </a:lnTo>
                <a:lnTo>
                  <a:pt x="60346" y="430837"/>
                </a:lnTo>
                <a:lnTo>
                  <a:pt x="55152" y="430762"/>
                </a:lnTo>
                <a:lnTo>
                  <a:pt x="47024" y="436033"/>
                </a:lnTo>
                <a:lnTo>
                  <a:pt x="50788" y="445462"/>
                </a:lnTo>
                <a:lnTo>
                  <a:pt x="48304" y="448004"/>
                </a:lnTo>
                <a:lnTo>
                  <a:pt x="35984" y="447961"/>
                </a:lnTo>
                <a:lnTo>
                  <a:pt x="35509" y="452058"/>
                </a:lnTo>
                <a:lnTo>
                  <a:pt x="28120" y="460441"/>
                </a:lnTo>
                <a:lnTo>
                  <a:pt x="30971" y="467381"/>
                </a:lnTo>
                <a:lnTo>
                  <a:pt x="26378" y="470583"/>
                </a:lnTo>
                <a:lnTo>
                  <a:pt x="26239" y="471970"/>
                </a:lnTo>
                <a:lnTo>
                  <a:pt x="29502" y="475703"/>
                </a:lnTo>
                <a:lnTo>
                  <a:pt x="29200" y="480219"/>
                </a:lnTo>
                <a:lnTo>
                  <a:pt x="20756" y="491304"/>
                </a:lnTo>
                <a:lnTo>
                  <a:pt x="18787" y="498604"/>
                </a:lnTo>
                <a:lnTo>
                  <a:pt x="13831" y="504000"/>
                </a:lnTo>
                <a:lnTo>
                  <a:pt x="7217" y="518066"/>
                </a:lnTo>
                <a:lnTo>
                  <a:pt x="5009" y="518364"/>
                </a:lnTo>
                <a:lnTo>
                  <a:pt x="4967" y="521134"/>
                </a:lnTo>
                <a:lnTo>
                  <a:pt x="345" y="520816"/>
                </a:lnTo>
                <a:lnTo>
                  <a:pt x="0" y="532198"/>
                </a:lnTo>
                <a:lnTo>
                  <a:pt x="6632" y="535466"/>
                </a:lnTo>
                <a:lnTo>
                  <a:pt x="5278" y="536156"/>
                </a:lnTo>
                <a:lnTo>
                  <a:pt x="12824" y="535975"/>
                </a:lnTo>
                <a:lnTo>
                  <a:pt x="26973" y="537461"/>
                </a:lnTo>
                <a:lnTo>
                  <a:pt x="44732" y="532670"/>
                </a:lnTo>
                <a:lnTo>
                  <a:pt x="51017" y="532712"/>
                </a:lnTo>
                <a:lnTo>
                  <a:pt x="53963" y="530571"/>
                </a:lnTo>
                <a:lnTo>
                  <a:pt x="62154" y="530277"/>
                </a:lnTo>
                <a:lnTo>
                  <a:pt x="75921" y="530591"/>
                </a:lnTo>
                <a:lnTo>
                  <a:pt x="78766" y="533445"/>
                </a:lnTo>
                <a:lnTo>
                  <a:pt x="85045" y="542291"/>
                </a:lnTo>
                <a:lnTo>
                  <a:pt x="83783" y="538990"/>
                </a:lnTo>
                <a:lnTo>
                  <a:pt x="86342" y="539656"/>
                </a:lnTo>
                <a:lnTo>
                  <a:pt x="88991" y="539689"/>
                </a:lnTo>
                <a:lnTo>
                  <a:pt x="93027" y="539072"/>
                </a:lnTo>
                <a:lnTo>
                  <a:pt x="99028" y="540035"/>
                </a:lnTo>
                <a:lnTo>
                  <a:pt x="102811" y="539264"/>
                </a:lnTo>
                <a:lnTo>
                  <a:pt x="105333" y="542355"/>
                </a:lnTo>
                <a:lnTo>
                  <a:pt x="114113" y="545848"/>
                </a:lnTo>
                <a:lnTo>
                  <a:pt x="114058" y="546009"/>
                </a:lnTo>
                <a:lnTo>
                  <a:pt x="117494" y="547720"/>
                </a:lnTo>
                <a:lnTo>
                  <a:pt x="117787" y="548836"/>
                </a:lnTo>
                <a:lnTo>
                  <a:pt x="116988" y="552720"/>
                </a:lnTo>
                <a:lnTo>
                  <a:pt x="116485" y="559957"/>
                </a:lnTo>
                <a:lnTo>
                  <a:pt x="119261" y="559475"/>
                </a:lnTo>
                <a:lnTo>
                  <a:pt x="119694" y="562994"/>
                </a:lnTo>
                <a:lnTo>
                  <a:pt x="127146" y="568498"/>
                </a:lnTo>
                <a:lnTo>
                  <a:pt x="126557" y="576003"/>
                </a:lnTo>
                <a:lnTo>
                  <a:pt x="120937" y="575500"/>
                </a:lnTo>
                <a:lnTo>
                  <a:pt x="115157" y="576069"/>
                </a:lnTo>
                <a:lnTo>
                  <a:pt x="111181" y="572674"/>
                </a:lnTo>
                <a:lnTo>
                  <a:pt x="111062" y="576117"/>
                </a:lnTo>
                <a:lnTo>
                  <a:pt x="109200" y="577739"/>
                </a:lnTo>
                <a:lnTo>
                  <a:pt x="109157" y="580396"/>
                </a:lnTo>
                <a:lnTo>
                  <a:pt x="100286" y="583344"/>
                </a:lnTo>
                <a:lnTo>
                  <a:pt x="95512" y="583322"/>
                </a:lnTo>
                <a:lnTo>
                  <a:pt x="94220" y="590458"/>
                </a:lnTo>
                <a:lnTo>
                  <a:pt x="89529" y="595444"/>
                </a:lnTo>
                <a:lnTo>
                  <a:pt x="92488" y="595754"/>
                </a:lnTo>
                <a:lnTo>
                  <a:pt x="93935" y="596454"/>
                </a:lnTo>
                <a:lnTo>
                  <a:pt x="97505" y="597106"/>
                </a:lnTo>
                <a:lnTo>
                  <a:pt x="99372" y="597782"/>
                </a:lnTo>
                <a:lnTo>
                  <a:pt x="102201" y="597777"/>
                </a:lnTo>
                <a:lnTo>
                  <a:pt x="102045" y="595201"/>
                </a:lnTo>
                <a:lnTo>
                  <a:pt x="106071" y="594241"/>
                </a:lnTo>
                <a:lnTo>
                  <a:pt x="106190" y="593678"/>
                </a:lnTo>
                <a:lnTo>
                  <a:pt x="111387" y="595472"/>
                </a:lnTo>
                <a:lnTo>
                  <a:pt x="110940" y="595947"/>
                </a:lnTo>
                <a:lnTo>
                  <a:pt x="112029" y="601179"/>
                </a:lnTo>
                <a:lnTo>
                  <a:pt x="118239" y="601799"/>
                </a:lnTo>
                <a:lnTo>
                  <a:pt x="119888" y="603450"/>
                </a:lnTo>
                <a:lnTo>
                  <a:pt x="131072" y="606764"/>
                </a:lnTo>
                <a:lnTo>
                  <a:pt x="130711" y="607298"/>
                </a:lnTo>
                <a:lnTo>
                  <a:pt x="129859" y="607395"/>
                </a:lnTo>
                <a:lnTo>
                  <a:pt x="129035" y="609162"/>
                </a:lnTo>
                <a:lnTo>
                  <a:pt x="128348" y="609977"/>
                </a:lnTo>
                <a:lnTo>
                  <a:pt x="126732" y="609894"/>
                </a:lnTo>
                <a:lnTo>
                  <a:pt x="126492" y="610212"/>
                </a:lnTo>
                <a:lnTo>
                  <a:pt x="126147" y="610087"/>
                </a:lnTo>
                <a:lnTo>
                  <a:pt x="124984" y="610581"/>
                </a:lnTo>
                <a:lnTo>
                  <a:pt x="124702" y="610443"/>
                </a:lnTo>
                <a:lnTo>
                  <a:pt x="124133" y="611390"/>
                </a:lnTo>
                <a:lnTo>
                  <a:pt x="123562" y="611399"/>
                </a:lnTo>
                <a:lnTo>
                  <a:pt x="123750" y="611675"/>
                </a:lnTo>
                <a:lnTo>
                  <a:pt x="123589" y="612032"/>
                </a:lnTo>
                <a:lnTo>
                  <a:pt x="123819" y="612085"/>
                </a:lnTo>
                <a:lnTo>
                  <a:pt x="123880" y="612390"/>
                </a:lnTo>
                <a:lnTo>
                  <a:pt x="124850" y="612914"/>
                </a:lnTo>
                <a:lnTo>
                  <a:pt x="124599" y="613154"/>
                </a:lnTo>
                <a:lnTo>
                  <a:pt x="124952" y="613335"/>
                </a:lnTo>
                <a:lnTo>
                  <a:pt x="124841" y="613669"/>
                </a:lnTo>
                <a:lnTo>
                  <a:pt x="124238" y="614100"/>
                </a:lnTo>
                <a:lnTo>
                  <a:pt x="122561" y="614124"/>
                </a:lnTo>
                <a:lnTo>
                  <a:pt x="122229" y="614651"/>
                </a:lnTo>
                <a:lnTo>
                  <a:pt x="122959" y="615748"/>
                </a:lnTo>
                <a:lnTo>
                  <a:pt x="123022" y="616149"/>
                </a:lnTo>
                <a:lnTo>
                  <a:pt x="122586" y="616453"/>
                </a:lnTo>
                <a:lnTo>
                  <a:pt x="123120" y="616981"/>
                </a:lnTo>
                <a:lnTo>
                  <a:pt x="123228" y="617489"/>
                </a:lnTo>
                <a:lnTo>
                  <a:pt x="123026" y="617681"/>
                </a:lnTo>
                <a:lnTo>
                  <a:pt x="122584" y="617547"/>
                </a:lnTo>
                <a:lnTo>
                  <a:pt x="122678" y="617900"/>
                </a:lnTo>
                <a:lnTo>
                  <a:pt x="122185" y="618131"/>
                </a:lnTo>
                <a:lnTo>
                  <a:pt x="122397" y="618539"/>
                </a:lnTo>
                <a:lnTo>
                  <a:pt x="121938" y="618993"/>
                </a:lnTo>
                <a:lnTo>
                  <a:pt x="121875" y="620928"/>
                </a:lnTo>
                <a:lnTo>
                  <a:pt x="122297" y="621436"/>
                </a:lnTo>
                <a:lnTo>
                  <a:pt x="122726" y="621361"/>
                </a:lnTo>
                <a:lnTo>
                  <a:pt x="123401" y="622595"/>
                </a:lnTo>
                <a:lnTo>
                  <a:pt x="123205" y="622816"/>
                </a:lnTo>
                <a:lnTo>
                  <a:pt x="123615" y="624238"/>
                </a:lnTo>
                <a:lnTo>
                  <a:pt x="123339" y="624739"/>
                </a:lnTo>
                <a:lnTo>
                  <a:pt x="123620" y="624964"/>
                </a:lnTo>
                <a:lnTo>
                  <a:pt x="123561" y="625504"/>
                </a:lnTo>
                <a:lnTo>
                  <a:pt x="123269" y="626953"/>
                </a:lnTo>
                <a:lnTo>
                  <a:pt x="125692" y="627206"/>
                </a:lnTo>
                <a:lnTo>
                  <a:pt x="135866" y="629488"/>
                </a:lnTo>
                <a:lnTo>
                  <a:pt x="137263" y="629667"/>
                </a:lnTo>
                <a:lnTo>
                  <a:pt x="137651" y="629428"/>
                </a:lnTo>
                <a:lnTo>
                  <a:pt x="139338" y="630521"/>
                </a:lnTo>
                <a:lnTo>
                  <a:pt x="139761" y="630343"/>
                </a:lnTo>
                <a:lnTo>
                  <a:pt x="141060" y="630959"/>
                </a:lnTo>
                <a:lnTo>
                  <a:pt x="142180" y="630910"/>
                </a:lnTo>
                <a:lnTo>
                  <a:pt x="144059" y="631552"/>
                </a:lnTo>
                <a:lnTo>
                  <a:pt x="144604" y="631236"/>
                </a:lnTo>
                <a:lnTo>
                  <a:pt x="150382" y="632924"/>
                </a:lnTo>
                <a:lnTo>
                  <a:pt x="154477" y="633141"/>
                </a:lnTo>
                <a:lnTo>
                  <a:pt x="156529" y="633852"/>
                </a:lnTo>
                <a:lnTo>
                  <a:pt x="157329" y="633599"/>
                </a:lnTo>
                <a:lnTo>
                  <a:pt x="157966" y="632882"/>
                </a:lnTo>
                <a:lnTo>
                  <a:pt x="158012" y="633242"/>
                </a:lnTo>
                <a:lnTo>
                  <a:pt x="159109" y="633515"/>
                </a:lnTo>
                <a:lnTo>
                  <a:pt x="161877" y="633863"/>
                </a:lnTo>
                <a:lnTo>
                  <a:pt x="170125" y="635662"/>
                </a:lnTo>
                <a:lnTo>
                  <a:pt x="171472" y="635581"/>
                </a:lnTo>
                <a:lnTo>
                  <a:pt x="173638" y="636019"/>
                </a:lnTo>
                <a:lnTo>
                  <a:pt x="174307" y="635916"/>
                </a:lnTo>
                <a:lnTo>
                  <a:pt x="175863" y="636387"/>
                </a:lnTo>
                <a:lnTo>
                  <a:pt x="176657" y="636243"/>
                </a:lnTo>
                <a:lnTo>
                  <a:pt x="177457" y="636613"/>
                </a:lnTo>
                <a:lnTo>
                  <a:pt x="180934" y="637310"/>
                </a:lnTo>
                <a:lnTo>
                  <a:pt x="181437" y="637042"/>
                </a:lnTo>
                <a:lnTo>
                  <a:pt x="182104" y="637452"/>
                </a:lnTo>
                <a:lnTo>
                  <a:pt x="186205" y="638069"/>
                </a:lnTo>
                <a:lnTo>
                  <a:pt x="186939" y="638337"/>
                </a:lnTo>
                <a:lnTo>
                  <a:pt x="187103" y="638604"/>
                </a:lnTo>
                <a:lnTo>
                  <a:pt x="187989" y="638327"/>
                </a:lnTo>
                <a:lnTo>
                  <a:pt x="188390" y="637890"/>
                </a:lnTo>
                <a:lnTo>
                  <a:pt x="189638" y="638237"/>
                </a:lnTo>
                <a:lnTo>
                  <a:pt x="190900" y="638127"/>
                </a:lnTo>
                <a:lnTo>
                  <a:pt x="192711" y="638838"/>
                </a:lnTo>
                <a:lnTo>
                  <a:pt x="193210" y="638621"/>
                </a:lnTo>
                <a:lnTo>
                  <a:pt x="194378" y="639141"/>
                </a:lnTo>
                <a:lnTo>
                  <a:pt x="195545" y="638949"/>
                </a:lnTo>
                <a:lnTo>
                  <a:pt x="196458" y="639352"/>
                </a:lnTo>
                <a:lnTo>
                  <a:pt x="196990" y="639189"/>
                </a:lnTo>
                <a:lnTo>
                  <a:pt x="197017" y="638217"/>
                </a:lnTo>
                <a:lnTo>
                  <a:pt x="197319" y="638294"/>
                </a:lnTo>
                <a:lnTo>
                  <a:pt x="197911" y="639036"/>
                </a:lnTo>
                <a:lnTo>
                  <a:pt x="198546" y="639133"/>
                </a:lnTo>
                <a:lnTo>
                  <a:pt x="198845" y="639724"/>
                </a:lnTo>
                <a:lnTo>
                  <a:pt x="199859" y="639984"/>
                </a:lnTo>
                <a:lnTo>
                  <a:pt x="199913" y="640330"/>
                </a:lnTo>
                <a:lnTo>
                  <a:pt x="200526" y="640257"/>
                </a:lnTo>
                <a:lnTo>
                  <a:pt x="200555" y="640442"/>
                </a:lnTo>
                <a:lnTo>
                  <a:pt x="200751" y="640122"/>
                </a:lnTo>
                <a:lnTo>
                  <a:pt x="202360" y="641088"/>
                </a:lnTo>
                <a:lnTo>
                  <a:pt x="203359" y="641064"/>
                </a:lnTo>
                <a:lnTo>
                  <a:pt x="203596" y="641440"/>
                </a:lnTo>
                <a:lnTo>
                  <a:pt x="203797" y="641153"/>
                </a:lnTo>
                <a:lnTo>
                  <a:pt x="204501" y="641928"/>
                </a:lnTo>
                <a:lnTo>
                  <a:pt x="206375" y="642216"/>
                </a:lnTo>
                <a:lnTo>
                  <a:pt x="207111" y="642658"/>
                </a:lnTo>
                <a:lnTo>
                  <a:pt x="207583" y="642540"/>
                </a:lnTo>
                <a:lnTo>
                  <a:pt x="209109" y="643406"/>
                </a:lnTo>
                <a:lnTo>
                  <a:pt x="210309" y="643511"/>
                </a:lnTo>
                <a:lnTo>
                  <a:pt x="210874" y="643865"/>
                </a:lnTo>
                <a:lnTo>
                  <a:pt x="211125" y="644345"/>
                </a:lnTo>
                <a:lnTo>
                  <a:pt x="211533" y="644304"/>
                </a:lnTo>
                <a:lnTo>
                  <a:pt x="212645" y="644977"/>
                </a:lnTo>
                <a:lnTo>
                  <a:pt x="213698" y="644875"/>
                </a:lnTo>
                <a:lnTo>
                  <a:pt x="214307" y="645198"/>
                </a:lnTo>
                <a:lnTo>
                  <a:pt x="215052" y="645231"/>
                </a:lnTo>
                <a:lnTo>
                  <a:pt x="216557" y="645002"/>
                </a:lnTo>
                <a:lnTo>
                  <a:pt x="217449" y="645233"/>
                </a:lnTo>
                <a:lnTo>
                  <a:pt x="218122" y="645005"/>
                </a:lnTo>
                <a:lnTo>
                  <a:pt x="218549" y="645339"/>
                </a:lnTo>
                <a:lnTo>
                  <a:pt x="219449" y="645260"/>
                </a:lnTo>
                <a:lnTo>
                  <a:pt x="219759" y="645463"/>
                </a:lnTo>
                <a:lnTo>
                  <a:pt x="221049" y="645105"/>
                </a:lnTo>
                <a:lnTo>
                  <a:pt x="221545" y="645295"/>
                </a:lnTo>
                <a:lnTo>
                  <a:pt x="222255" y="645202"/>
                </a:lnTo>
                <a:lnTo>
                  <a:pt x="222223" y="645443"/>
                </a:lnTo>
                <a:lnTo>
                  <a:pt x="223301" y="646159"/>
                </a:lnTo>
                <a:lnTo>
                  <a:pt x="223513" y="646090"/>
                </a:lnTo>
                <a:lnTo>
                  <a:pt x="223584" y="646401"/>
                </a:lnTo>
                <a:lnTo>
                  <a:pt x="224140" y="646507"/>
                </a:lnTo>
                <a:lnTo>
                  <a:pt x="224901" y="647478"/>
                </a:lnTo>
                <a:lnTo>
                  <a:pt x="225970" y="647652"/>
                </a:lnTo>
                <a:lnTo>
                  <a:pt x="228352" y="649118"/>
                </a:lnTo>
                <a:lnTo>
                  <a:pt x="229939" y="650568"/>
                </a:lnTo>
                <a:lnTo>
                  <a:pt x="229838" y="650846"/>
                </a:lnTo>
                <a:lnTo>
                  <a:pt x="230175" y="650882"/>
                </a:lnTo>
                <a:lnTo>
                  <a:pt x="230003" y="651145"/>
                </a:lnTo>
                <a:lnTo>
                  <a:pt x="230893" y="651958"/>
                </a:lnTo>
                <a:lnTo>
                  <a:pt x="232610" y="652938"/>
                </a:lnTo>
                <a:lnTo>
                  <a:pt x="234498" y="654567"/>
                </a:lnTo>
                <a:lnTo>
                  <a:pt x="236875" y="655629"/>
                </a:lnTo>
                <a:lnTo>
                  <a:pt x="238077" y="655499"/>
                </a:lnTo>
                <a:lnTo>
                  <a:pt x="238257" y="655824"/>
                </a:lnTo>
                <a:lnTo>
                  <a:pt x="239682" y="656415"/>
                </a:lnTo>
                <a:lnTo>
                  <a:pt x="240464" y="655908"/>
                </a:lnTo>
                <a:lnTo>
                  <a:pt x="242354" y="656568"/>
                </a:lnTo>
                <a:lnTo>
                  <a:pt x="242500" y="656431"/>
                </a:lnTo>
                <a:lnTo>
                  <a:pt x="243649" y="656760"/>
                </a:lnTo>
                <a:lnTo>
                  <a:pt x="244237" y="656610"/>
                </a:lnTo>
                <a:lnTo>
                  <a:pt x="244356" y="656841"/>
                </a:lnTo>
                <a:lnTo>
                  <a:pt x="245026" y="657040"/>
                </a:lnTo>
                <a:lnTo>
                  <a:pt x="245928" y="657018"/>
                </a:lnTo>
                <a:lnTo>
                  <a:pt x="245839" y="657161"/>
                </a:lnTo>
                <a:lnTo>
                  <a:pt x="246644" y="657478"/>
                </a:lnTo>
                <a:lnTo>
                  <a:pt x="246980" y="657870"/>
                </a:lnTo>
                <a:lnTo>
                  <a:pt x="247660" y="657934"/>
                </a:lnTo>
                <a:lnTo>
                  <a:pt x="248671" y="658543"/>
                </a:lnTo>
                <a:lnTo>
                  <a:pt x="249061" y="658405"/>
                </a:lnTo>
                <a:lnTo>
                  <a:pt x="249731" y="658685"/>
                </a:lnTo>
                <a:lnTo>
                  <a:pt x="249913" y="658522"/>
                </a:lnTo>
                <a:lnTo>
                  <a:pt x="250075" y="658863"/>
                </a:lnTo>
                <a:lnTo>
                  <a:pt x="251315" y="658955"/>
                </a:lnTo>
                <a:lnTo>
                  <a:pt x="252598" y="659516"/>
                </a:lnTo>
                <a:lnTo>
                  <a:pt x="252765" y="659438"/>
                </a:lnTo>
                <a:lnTo>
                  <a:pt x="252349" y="659048"/>
                </a:lnTo>
                <a:lnTo>
                  <a:pt x="252308" y="658288"/>
                </a:lnTo>
                <a:lnTo>
                  <a:pt x="252618" y="657750"/>
                </a:lnTo>
                <a:lnTo>
                  <a:pt x="253529" y="657011"/>
                </a:lnTo>
                <a:lnTo>
                  <a:pt x="255740" y="656460"/>
                </a:lnTo>
                <a:lnTo>
                  <a:pt x="257679" y="656588"/>
                </a:lnTo>
                <a:lnTo>
                  <a:pt x="259357" y="656905"/>
                </a:lnTo>
                <a:lnTo>
                  <a:pt x="262161" y="658418"/>
                </a:lnTo>
                <a:lnTo>
                  <a:pt x="262858" y="658356"/>
                </a:lnTo>
                <a:lnTo>
                  <a:pt x="262824" y="658716"/>
                </a:lnTo>
                <a:lnTo>
                  <a:pt x="263255" y="659014"/>
                </a:lnTo>
                <a:lnTo>
                  <a:pt x="263774" y="659017"/>
                </a:lnTo>
                <a:lnTo>
                  <a:pt x="264027" y="659395"/>
                </a:lnTo>
                <a:lnTo>
                  <a:pt x="264802" y="659470"/>
                </a:lnTo>
                <a:lnTo>
                  <a:pt x="265013" y="659209"/>
                </a:lnTo>
                <a:lnTo>
                  <a:pt x="266773" y="659968"/>
                </a:lnTo>
                <a:lnTo>
                  <a:pt x="267046" y="659511"/>
                </a:lnTo>
                <a:lnTo>
                  <a:pt x="267913" y="658997"/>
                </a:lnTo>
                <a:lnTo>
                  <a:pt x="269352" y="658771"/>
                </a:lnTo>
                <a:lnTo>
                  <a:pt x="271915" y="659737"/>
                </a:lnTo>
                <a:lnTo>
                  <a:pt x="273032" y="660410"/>
                </a:lnTo>
                <a:lnTo>
                  <a:pt x="273422" y="660304"/>
                </a:lnTo>
                <a:lnTo>
                  <a:pt x="273511" y="660608"/>
                </a:lnTo>
                <a:lnTo>
                  <a:pt x="273795" y="660518"/>
                </a:lnTo>
                <a:lnTo>
                  <a:pt x="274085" y="660779"/>
                </a:lnTo>
                <a:lnTo>
                  <a:pt x="275109" y="660567"/>
                </a:lnTo>
                <a:lnTo>
                  <a:pt x="275339" y="660938"/>
                </a:lnTo>
                <a:lnTo>
                  <a:pt x="276415" y="661094"/>
                </a:lnTo>
                <a:lnTo>
                  <a:pt x="276933" y="660661"/>
                </a:lnTo>
                <a:lnTo>
                  <a:pt x="277550" y="660631"/>
                </a:lnTo>
                <a:lnTo>
                  <a:pt x="280702" y="662338"/>
                </a:lnTo>
                <a:lnTo>
                  <a:pt x="281491" y="662451"/>
                </a:lnTo>
                <a:lnTo>
                  <a:pt x="281883" y="662868"/>
                </a:lnTo>
                <a:lnTo>
                  <a:pt x="283198" y="663313"/>
                </a:lnTo>
                <a:lnTo>
                  <a:pt x="283306" y="662547"/>
                </a:lnTo>
                <a:lnTo>
                  <a:pt x="282779" y="661899"/>
                </a:lnTo>
                <a:lnTo>
                  <a:pt x="283046" y="661207"/>
                </a:lnTo>
                <a:lnTo>
                  <a:pt x="283589" y="660656"/>
                </a:lnTo>
                <a:lnTo>
                  <a:pt x="285090" y="660124"/>
                </a:lnTo>
                <a:lnTo>
                  <a:pt x="287821" y="660592"/>
                </a:lnTo>
                <a:lnTo>
                  <a:pt x="286282" y="659358"/>
                </a:lnTo>
                <a:lnTo>
                  <a:pt x="286168" y="658968"/>
                </a:lnTo>
                <a:lnTo>
                  <a:pt x="285113" y="658418"/>
                </a:lnTo>
                <a:lnTo>
                  <a:pt x="284170" y="657587"/>
                </a:lnTo>
                <a:lnTo>
                  <a:pt x="282610" y="655919"/>
                </a:lnTo>
                <a:lnTo>
                  <a:pt x="284059" y="651719"/>
                </a:lnTo>
                <a:lnTo>
                  <a:pt x="284869" y="651288"/>
                </a:lnTo>
                <a:lnTo>
                  <a:pt x="287112" y="648762"/>
                </a:lnTo>
                <a:lnTo>
                  <a:pt x="289777" y="646830"/>
                </a:lnTo>
                <a:lnTo>
                  <a:pt x="292824" y="642982"/>
                </a:lnTo>
                <a:lnTo>
                  <a:pt x="293512" y="642831"/>
                </a:lnTo>
                <a:lnTo>
                  <a:pt x="294811" y="641857"/>
                </a:lnTo>
                <a:lnTo>
                  <a:pt x="294673" y="641516"/>
                </a:lnTo>
                <a:lnTo>
                  <a:pt x="294907" y="639916"/>
                </a:lnTo>
                <a:lnTo>
                  <a:pt x="295495" y="638747"/>
                </a:lnTo>
                <a:lnTo>
                  <a:pt x="295212" y="637630"/>
                </a:lnTo>
                <a:lnTo>
                  <a:pt x="296442" y="634437"/>
                </a:lnTo>
                <a:lnTo>
                  <a:pt x="295787" y="632934"/>
                </a:lnTo>
                <a:lnTo>
                  <a:pt x="295717" y="631418"/>
                </a:lnTo>
                <a:lnTo>
                  <a:pt x="297150" y="629683"/>
                </a:lnTo>
                <a:lnTo>
                  <a:pt x="300893" y="627265"/>
                </a:lnTo>
                <a:lnTo>
                  <a:pt x="303871" y="625927"/>
                </a:lnTo>
                <a:lnTo>
                  <a:pt x="307678" y="624808"/>
                </a:lnTo>
                <a:lnTo>
                  <a:pt x="308460" y="624858"/>
                </a:lnTo>
                <a:lnTo>
                  <a:pt x="309599" y="624394"/>
                </a:lnTo>
                <a:lnTo>
                  <a:pt x="315867" y="623546"/>
                </a:lnTo>
                <a:lnTo>
                  <a:pt x="319632" y="623251"/>
                </a:lnTo>
                <a:lnTo>
                  <a:pt x="326123" y="623330"/>
                </a:lnTo>
                <a:lnTo>
                  <a:pt x="332735" y="624149"/>
                </a:lnTo>
                <a:lnTo>
                  <a:pt x="339591" y="625915"/>
                </a:lnTo>
                <a:lnTo>
                  <a:pt x="346412" y="628393"/>
                </a:lnTo>
                <a:lnTo>
                  <a:pt x="347091" y="628998"/>
                </a:lnTo>
                <a:lnTo>
                  <a:pt x="351695" y="631447"/>
                </a:lnTo>
                <a:lnTo>
                  <a:pt x="352517" y="632085"/>
                </a:lnTo>
                <a:lnTo>
                  <a:pt x="353918" y="632710"/>
                </a:lnTo>
                <a:lnTo>
                  <a:pt x="356581" y="633314"/>
                </a:lnTo>
                <a:lnTo>
                  <a:pt x="358041" y="634228"/>
                </a:lnTo>
                <a:lnTo>
                  <a:pt x="358327" y="634682"/>
                </a:lnTo>
                <a:lnTo>
                  <a:pt x="360056" y="635419"/>
                </a:lnTo>
                <a:lnTo>
                  <a:pt x="360560" y="635107"/>
                </a:lnTo>
                <a:lnTo>
                  <a:pt x="361039" y="635282"/>
                </a:lnTo>
                <a:lnTo>
                  <a:pt x="361517" y="635053"/>
                </a:lnTo>
                <a:lnTo>
                  <a:pt x="361985" y="635245"/>
                </a:lnTo>
                <a:lnTo>
                  <a:pt x="363323" y="635126"/>
                </a:lnTo>
                <a:lnTo>
                  <a:pt x="364408" y="635415"/>
                </a:lnTo>
                <a:lnTo>
                  <a:pt x="366036" y="634711"/>
                </a:lnTo>
                <a:lnTo>
                  <a:pt x="368169" y="634487"/>
                </a:lnTo>
                <a:lnTo>
                  <a:pt x="370064" y="635209"/>
                </a:lnTo>
                <a:lnTo>
                  <a:pt x="371241" y="635242"/>
                </a:lnTo>
                <a:lnTo>
                  <a:pt x="372163" y="635597"/>
                </a:lnTo>
                <a:lnTo>
                  <a:pt x="373106" y="635410"/>
                </a:lnTo>
                <a:lnTo>
                  <a:pt x="374078" y="635984"/>
                </a:lnTo>
                <a:lnTo>
                  <a:pt x="375095" y="635692"/>
                </a:lnTo>
                <a:lnTo>
                  <a:pt x="377406" y="636718"/>
                </a:lnTo>
                <a:lnTo>
                  <a:pt x="378257" y="636618"/>
                </a:lnTo>
                <a:lnTo>
                  <a:pt x="379086" y="637024"/>
                </a:lnTo>
                <a:lnTo>
                  <a:pt x="381846" y="637275"/>
                </a:lnTo>
                <a:lnTo>
                  <a:pt x="383273" y="638117"/>
                </a:lnTo>
                <a:lnTo>
                  <a:pt x="384661" y="638097"/>
                </a:lnTo>
                <a:lnTo>
                  <a:pt x="384857" y="637714"/>
                </a:lnTo>
                <a:lnTo>
                  <a:pt x="385719" y="637749"/>
                </a:lnTo>
                <a:lnTo>
                  <a:pt x="386987" y="637258"/>
                </a:lnTo>
                <a:lnTo>
                  <a:pt x="388659" y="637527"/>
                </a:lnTo>
                <a:lnTo>
                  <a:pt x="389614" y="637982"/>
                </a:lnTo>
                <a:lnTo>
                  <a:pt x="389749" y="637489"/>
                </a:lnTo>
                <a:lnTo>
                  <a:pt x="390441" y="637535"/>
                </a:lnTo>
                <a:lnTo>
                  <a:pt x="391128" y="636839"/>
                </a:lnTo>
                <a:lnTo>
                  <a:pt x="391088" y="636480"/>
                </a:lnTo>
                <a:lnTo>
                  <a:pt x="391909" y="636224"/>
                </a:lnTo>
                <a:lnTo>
                  <a:pt x="391900" y="635805"/>
                </a:lnTo>
                <a:lnTo>
                  <a:pt x="392069" y="635473"/>
                </a:lnTo>
                <a:lnTo>
                  <a:pt x="392334" y="635488"/>
                </a:lnTo>
                <a:lnTo>
                  <a:pt x="392516" y="634933"/>
                </a:lnTo>
                <a:lnTo>
                  <a:pt x="393909" y="634367"/>
                </a:lnTo>
                <a:lnTo>
                  <a:pt x="396406" y="634439"/>
                </a:lnTo>
                <a:lnTo>
                  <a:pt x="397092" y="634746"/>
                </a:lnTo>
                <a:lnTo>
                  <a:pt x="397507" y="634687"/>
                </a:lnTo>
                <a:lnTo>
                  <a:pt x="397546" y="635102"/>
                </a:lnTo>
                <a:lnTo>
                  <a:pt x="399842" y="635317"/>
                </a:lnTo>
                <a:lnTo>
                  <a:pt x="399673" y="635036"/>
                </a:lnTo>
                <a:lnTo>
                  <a:pt x="399898" y="635010"/>
                </a:lnTo>
                <a:lnTo>
                  <a:pt x="398770" y="633392"/>
                </a:lnTo>
                <a:lnTo>
                  <a:pt x="397656" y="630204"/>
                </a:lnTo>
                <a:lnTo>
                  <a:pt x="395971" y="628245"/>
                </a:lnTo>
                <a:lnTo>
                  <a:pt x="395669" y="627499"/>
                </a:lnTo>
                <a:lnTo>
                  <a:pt x="394245" y="627106"/>
                </a:lnTo>
                <a:lnTo>
                  <a:pt x="392405" y="626113"/>
                </a:lnTo>
                <a:lnTo>
                  <a:pt x="392021" y="624170"/>
                </a:lnTo>
                <a:lnTo>
                  <a:pt x="390860" y="624968"/>
                </a:lnTo>
                <a:lnTo>
                  <a:pt x="390383" y="624586"/>
                </a:lnTo>
                <a:lnTo>
                  <a:pt x="390636" y="624409"/>
                </a:lnTo>
                <a:lnTo>
                  <a:pt x="390120" y="624402"/>
                </a:lnTo>
                <a:lnTo>
                  <a:pt x="389995" y="624240"/>
                </a:lnTo>
                <a:lnTo>
                  <a:pt x="391005" y="624122"/>
                </a:lnTo>
                <a:lnTo>
                  <a:pt x="390999" y="623898"/>
                </a:lnTo>
                <a:lnTo>
                  <a:pt x="390207" y="623955"/>
                </a:lnTo>
                <a:lnTo>
                  <a:pt x="389674" y="623665"/>
                </a:lnTo>
                <a:lnTo>
                  <a:pt x="391546" y="623414"/>
                </a:lnTo>
                <a:lnTo>
                  <a:pt x="391349" y="622851"/>
                </a:lnTo>
                <a:lnTo>
                  <a:pt x="389346" y="622977"/>
                </a:lnTo>
                <a:lnTo>
                  <a:pt x="388192" y="622297"/>
                </a:lnTo>
                <a:lnTo>
                  <a:pt x="387762" y="621706"/>
                </a:lnTo>
                <a:lnTo>
                  <a:pt x="387634" y="618896"/>
                </a:lnTo>
                <a:lnTo>
                  <a:pt x="387945" y="616990"/>
                </a:lnTo>
                <a:lnTo>
                  <a:pt x="389153" y="612895"/>
                </a:lnTo>
                <a:lnTo>
                  <a:pt x="390699" y="609078"/>
                </a:lnTo>
                <a:lnTo>
                  <a:pt x="390755" y="608539"/>
                </a:lnTo>
                <a:lnTo>
                  <a:pt x="390446" y="608239"/>
                </a:lnTo>
                <a:lnTo>
                  <a:pt x="390925" y="608186"/>
                </a:lnTo>
                <a:lnTo>
                  <a:pt x="391217" y="607819"/>
                </a:lnTo>
                <a:lnTo>
                  <a:pt x="391894" y="606234"/>
                </a:lnTo>
                <a:lnTo>
                  <a:pt x="395174" y="601497"/>
                </a:lnTo>
                <a:lnTo>
                  <a:pt x="397992" y="598560"/>
                </a:lnTo>
                <a:lnTo>
                  <a:pt x="400455" y="596519"/>
                </a:lnTo>
                <a:lnTo>
                  <a:pt x="405252" y="593373"/>
                </a:lnTo>
                <a:lnTo>
                  <a:pt x="406608" y="592821"/>
                </a:lnTo>
                <a:lnTo>
                  <a:pt x="408390" y="591696"/>
                </a:lnTo>
                <a:lnTo>
                  <a:pt x="409616" y="590561"/>
                </a:lnTo>
                <a:lnTo>
                  <a:pt x="412032" y="589135"/>
                </a:lnTo>
                <a:lnTo>
                  <a:pt x="418693" y="586267"/>
                </a:lnTo>
                <a:lnTo>
                  <a:pt x="427708" y="584520"/>
                </a:lnTo>
                <a:lnTo>
                  <a:pt x="434741" y="583862"/>
                </a:lnTo>
                <a:lnTo>
                  <a:pt x="444779" y="583487"/>
                </a:lnTo>
                <a:lnTo>
                  <a:pt x="451177" y="583864"/>
                </a:lnTo>
                <a:lnTo>
                  <a:pt x="458706" y="585169"/>
                </a:lnTo>
                <a:lnTo>
                  <a:pt x="465880" y="587250"/>
                </a:lnTo>
                <a:lnTo>
                  <a:pt x="474089" y="590519"/>
                </a:lnTo>
                <a:lnTo>
                  <a:pt x="477791" y="592340"/>
                </a:lnTo>
                <a:lnTo>
                  <a:pt x="478935" y="593207"/>
                </a:lnTo>
                <a:lnTo>
                  <a:pt x="480022" y="593509"/>
                </a:lnTo>
                <a:lnTo>
                  <a:pt x="484021" y="594295"/>
                </a:lnTo>
                <a:lnTo>
                  <a:pt x="486331" y="593875"/>
                </a:lnTo>
                <a:lnTo>
                  <a:pt x="487824" y="593302"/>
                </a:lnTo>
                <a:lnTo>
                  <a:pt x="491608" y="593079"/>
                </a:lnTo>
                <a:lnTo>
                  <a:pt x="497508" y="593916"/>
                </a:lnTo>
                <a:lnTo>
                  <a:pt x="500459" y="594964"/>
                </a:lnTo>
                <a:lnTo>
                  <a:pt x="503434" y="595566"/>
                </a:lnTo>
                <a:lnTo>
                  <a:pt x="503700" y="595258"/>
                </a:lnTo>
                <a:lnTo>
                  <a:pt x="504641" y="595033"/>
                </a:lnTo>
                <a:lnTo>
                  <a:pt x="505672" y="594364"/>
                </a:lnTo>
                <a:lnTo>
                  <a:pt x="507347" y="594410"/>
                </a:lnTo>
                <a:lnTo>
                  <a:pt x="508084" y="593878"/>
                </a:lnTo>
                <a:lnTo>
                  <a:pt x="511236" y="592748"/>
                </a:lnTo>
                <a:lnTo>
                  <a:pt x="513592" y="592442"/>
                </a:lnTo>
                <a:lnTo>
                  <a:pt x="514260" y="592011"/>
                </a:lnTo>
                <a:lnTo>
                  <a:pt x="514462" y="592128"/>
                </a:lnTo>
                <a:lnTo>
                  <a:pt x="515668" y="591784"/>
                </a:lnTo>
                <a:lnTo>
                  <a:pt x="515824" y="591456"/>
                </a:lnTo>
                <a:lnTo>
                  <a:pt x="517605" y="590402"/>
                </a:lnTo>
                <a:lnTo>
                  <a:pt x="518386" y="589424"/>
                </a:lnTo>
                <a:lnTo>
                  <a:pt x="520550" y="587804"/>
                </a:lnTo>
                <a:lnTo>
                  <a:pt x="522829" y="587290"/>
                </a:lnTo>
                <a:lnTo>
                  <a:pt x="524144" y="587144"/>
                </a:lnTo>
                <a:lnTo>
                  <a:pt x="524313" y="587411"/>
                </a:lnTo>
                <a:lnTo>
                  <a:pt x="524856" y="587291"/>
                </a:lnTo>
                <a:lnTo>
                  <a:pt x="524811" y="587068"/>
                </a:lnTo>
                <a:lnTo>
                  <a:pt x="525248" y="586859"/>
                </a:lnTo>
                <a:lnTo>
                  <a:pt x="525608" y="585932"/>
                </a:lnTo>
                <a:lnTo>
                  <a:pt x="526757" y="585563"/>
                </a:lnTo>
                <a:lnTo>
                  <a:pt x="527182" y="584836"/>
                </a:lnTo>
                <a:lnTo>
                  <a:pt x="527915" y="584256"/>
                </a:lnTo>
                <a:lnTo>
                  <a:pt x="529899" y="583459"/>
                </a:lnTo>
                <a:lnTo>
                  <a:pt x="530423" y="583803"/>
                </a:lnTo>
                <a:lnTo>
                  <a:pt x="532789" y="581705"/>
                </a:lnTo>
                <a:lnTo>
                  <a:pt x="534129" y="581389"/>
                </a:lnTo>
                <a:lnTo>
                  <a:pt x="534562" y="581531"/>
                </a:lnTo>
                <a:lnTo>
                  <a:pt x="535002" y="581203"/>
                </a:lnTo>
                <a:lnTo>
                  <a:pt x="535031" y="580692"/>
                </a:lnTo>
                <a:lnTo>
                  <a:pt x="535643" y="579944"/>
                </a:lnTo>
                <a:lnTo>
                  <a:pt x="538226" y="578985"/>
                </a:lnTo>
                <a:lnTo>
                  <a:pt x="539256" y="578352"/>
                </a:lnTo>
                <a:lnTo>
                  <a:pt x="539878" y="577474"/>
                </a:lnTo>
                <a:lnTo>
                  <a:pt x="540799" y="577013"/>
                </a:lnTo>
                <a:lnTo>
                  <a:pt x="544082" y="576024"/>
                </a:lnTo>
                <a:lnTo>
                  <a:pt x="546083" y="575847"/>
                </a:lnTo>
                <a:lnTo>
                  <a:pt x="546651" y="575483"/>
                </a:lnTo>
                <a:lnTo>
                  <a:pt x="547940" y="575340"/>
                </a:lnTo>
                <a:lnTo>
                  <a:pt x="551998" y="573965"/>
                </a:lnTo>
                <a:lnTo>
                  <a:pt x="554469" y="573813"/>
                </a:lnTo>
                <a:lnTo>
                  <a:pt x="556157" y="573252"/>
                </a:lnTo>
                <a:lnTo>
                  <a:pt x="557689" y="573131"/>
                </a:lnTo>
                <a:lnTo>
                  <a:pt x="558347" y="572563"/>
                </a:lnTo>
                <a:lnTo>
                  <a:pt x="559230" y="572256"/>
                </a:lnTo>
                <a:lnTo>
                  <a:pt x="559838" y="571487"/>
                </a:lnTo>
                <a:lnTo>
                  <a:pt x="560799" y="571279"/>
                </a:lnTo>
                <a:lnTo>
                  <a:pt x="561115" y="570444"/>
                </a:lnTo>
                <a:lnTo>
                  <a:pt x="562661" y="569669"/>
                </a:lnTo>
                <a:lnTo>
                  <a:pt x="562492" y="569324"/>
                </a:lnTo>
                <a:lnTo>
                  <a:pt x="562902" y="568902"/>
                </a:lnTo>
                <a:lnTo>
                  <a:pt x="564863" y="568343"/>
                </a:lnTo>
                <a:lnTo>
                  <a:pt x="566230" y="566830"/>
                </a:lnTo>
                <a:lnTo>
                  <a:pt x="567114" y="566491"/>
                </a:lnTo>
                <a:lnTo>
                  <a:pt x="567394" y="566155"/>
                </a:lnTo>
                <a:lnTo>
                  <a:pt x="568899" y="565655"/>
                </a:lnTo>
                <a:lnTo>
                  <a:pt x="569935" y="565636"/>
                </a:lnTo>
                <a:lnTo>
                  <a:pt x="570449" y="565280"/>
                </a:lnTo>
                <a:lnTo>
                  <a:pt x="571914" y="564922"/>
                </a:lnTo>
                <a:lnTo>
                  <a:pt x="574126" y="564641"/>
                </a:lnTo>
                <a:lnTo>
                  <a:pt x="577096" y="564617"/>
                </a:lnTo>
                <a:lnTo>
                  <a:pt x="577257" y="563904"/>
                </a:lnTo>
                <a:lnTo>
                  <a:pt x="578028" y="563269"/>
                </a:lnTo>
                <a:lnTo>
                  <a:pt x="581754" y="562147"/>
                </a:lnTo>
                <a:lnTo>
                  <a:pt x="581647" y="561098"/>
                </a:lnTo>
                <a:lnTo>
                  <a:pt x="581838" y="560802"/>
                </a:lnTo>
                <a:lnTo>
                  <a:pt x="582686" y="559989"/>
                </a:lnTo>
                <a:lnTo>
                  <a:pt x="583966" y="559299"/>
                </a:lnTo>
                <a:lnTo>
                  <a:pt x="585331" y="558770"/>
                </a:lnTo>
                <a:lnTo>
                  <a:pt x="586443" y="558724"/>
                </a:lnTo>
                <a:lnTo>
                  <a:pt x="586784" y="558460"/>
                </a:lnTo>
                <a:lnTo>
                  <a:pt x="587999" y="558303"/>
                </a:lnTo>
                <a:lnTo>
                  <a:pt x="588456" y="557993"/>
                </a:lnTo>
                <a:lnTo>
                  <a:pt x="591285" y="557633"/>
                </a:lnTo>
                <a:lnTo>
                  <a:pt x="591611" y="557312"/>
                </a:lnTo>
                <a:lnTo>
                  <a:pt x="591672" y="556786"/>
                </a:lnTo>
                <a:lnTo>
                  <a:pt x="592385" y="556243"/>
                </a:lnTo>
                <a:lnTo>
                  <a:pt x="593016" y="555091"/>
                </a:lnTo>
                <a:lnTo>
                  <a:pt x="593771" y="554506"/>
                </a:lnTo>
                <a:lnTo>
                  <a:pt x="594177" y="554581"/>
                </a:lnTo>
                <a:lnTo>
                  <a:pt x="594499" y="554359"/>
                </a:lnTo>
                <a:lnTo>
                  <a:pt x="594153" y="553805"/>
                </a:lnTo>
                <a:lnTo>
                  <a:pt x="594876" y="552844"/>
                </a:lnTo>
                <a:lnTo>
                  <a:pt x="595480" y="553011"/>
                </a:lnTo>
                <a:lnTo>
                  <a:pt x="595304" y="552505"/>
                </a:lnTo>
                <a:lnTo>
                  <a:pt x="595637" y="551706"/>
                </a:lnTo>
                <a:lnTo>
                  <a:pt x="596931" y="551036"/>
                </a:lnTo>
                <a:lnTo>
                  <a:pt x="596964" y="550698"/>
                </a:lnTo>
                <a:lnTo>
                  <a:pt x="597405" y="550355"/>
                </a:lnTo>
                <a:lnTo>
                  <a:pt x="599151" y="549340"/>
                </a:lnTo>
                <a:lnTo>
                  <a:pt x="599565" y="549230"/>
                </a:lnTo>
                <a:lnTo>
                  <a:pt x="599477" y="549408"/>
                </a:lnTo>
                <a:lnTo>
                  <a:pt x="599643" y="549430"/>
                </a:lnTo>
                <a:lnTo>
                  <a:pt x="600043" y="549002"/>
                </a:lnTo>
                <a:lnTo>
                  <a:pt x="601584" y="548375"/>
                </a:lnTo>
                <a:lnTo>
                  <a:pt x="603068" y="548004"/>
                </a:lnTo>
                <a:lnTo>
                  <a:pt x="604639" y="548024"/>
                </a:lnTo>
                <a:lnTo>
                  <a:pt x="605527" y="547576"/>
                </a:lnTo>
                <a:lnTo>
                  <a:pt x="606312" y="546459"/>
                </a:lnTo>
                <a:lnTo>
                  <a:pt x="607041" y="545888"/>
                </a:lnTo>
                <a:lnTo>
                  <a:pt x="607080" y="545265"/>
                </a:lnTo>
                <a:lnTo>
                  <a:pt x="607395" y="544765"/>
                </a:lnTo>
                <a:lnTo>
                  <a:pt x="609333" y="543179"/>
                </a:lnTo>
                <a:lnTo>
                  <a:pt x="612559" y="541631"/>
                </a:lnTo>
                <a:lnTo>
                  <a:pt x="616965" y="538217"/>
                </a:lnTo>
                <a:lnTo>
                  <a:pt x="619729" y="536569"/>
                </a:lnTo>
                <a:lnTo>
                  <a:pt x="620680" y="535611"/>
                </a:lnTo>
                <a:lnTo>
                  <a:pt x="622547" y="535026"/>
                </a:lnTo>
                <a:lnTo>
                  <a:pt x="624883" y="532666"/>
                </a:lnTo>
                <a:lnTo>
                  <a:pt x="627718" y="531594"/>
                </a:lnTo>
                <a:lnTo>
                  <a:pt x="631299" y="529488"/>
                </a:lnTo>
                <a:lnTo>
                  <a:pt x="632769" y="529010"/>
                </a:lnTo>
                <a:lnTo>
                  <a:pt x="633286" y="528402"/>
                </a:lnTo>
                <a:lnTo>
                  <a:pt x="634106" y="528065"/>
                </a:lnTo>
                <a:lnTo>
                  <a:pt x="635150" y="526298"/>
                </a:lnTo>
                <a:lnTo>
                  <a:pt x="636006" y="525449"/>
                </a:lnTo>
                <a:lnTo>
                  <a:pt x="638698" y="524190"/>
                </a:lnTo>
                <a:lnTo>
                  <a:pt x="639905" y="523942"/>
                </a:lnTo>
                <a:lnTo>
                  <a:pt x="641375" y="522908"/>
                </a:lnTo>
                <a:lnTo>
                  <a:pt x="642092" y="522673"/>
                </a:lnTo>
                <a:lnTo>
                  <a:pt x="642337" y="522297"/>
                </a:lnTo>
                <a:lnTo>
                  <a:pt x="642280" y="521456"/>
                </a:lnTo>
                <a:lnTo>
                  <a:pt x="642687" y="520872"/>
                </a:lnTo>
                <a:lnTo>
                  <a:pt x="643820" y="519972"/>
                </a:lnTo>
                <a:lnTo>
                  <a:pt x="644712" y="519791"/>
                </a:lnTo>
                <a:lnTo>
                  <a:pt x="647199" y="518055"/>
                </a:lnTo>
                <a:lnTo>
                  <a:pt x="647555" y="517564"/>
                </a:lnTo>
                <a:lnTo>
                  <a:pt x="647724" y="517625"/>
                </a:lnTo>
                <a:lnTo>
                  <a:pt x="647848" y="516853"/>
                </a:lnTo>
                <a:lnTo>
                  <a:pt x="648802" y="516040"/>
                </a:lnTo>
                <a:lnTo>
                  <a:pt x="655229" y="512947"/>
                </a:lnTo>
                <a:lnTo>
                  <a:pt x="656251" y="511795"/>
                </a:lnTo>
                <a:lnTo>
                  <a:pt x="656292" y="511300"/>
                </a:lnTo>
                <a:lnTo>
                  <a:pt x="657339" y="511147"/>
                </a:lnTo>
                <a:lnTo>
                  <a:pt x="657925" y="510823"/>
                </a:lnTo>
                <a:lnTo>
                  <a:pt x="659130" y="510840"/>
                </a:lnTo>
                <a:lnTo>
                  <a:pt x="659328" y="510389"/>
                </a:lnTo>
                <a:lnTo>
                  <a:pt x="660227" y="510003"/>
                </a:lnTo>
                <a:lnTo>
                  <a:pt x="660250" y="509398"/>
                </a:lnTo>
                <a:lnTo>
                  <a:pt x="660815" y="508587"/>
                </a:lnTo>
                <a:lnTo>
                  <a:pt x="663249" y="507711"/>
                </a:lnTo>
                <a:lnTo>
                  <a:pt x="663460" y="507515"/>
                </a:lnTo>
                <a:lnTo>
                  <a:pt x="663453" y="506932"/>
                </a:lnTo>
                <a:lnTo>
                  <a:pt x="664844" y="506308"/>
                </a:lnTo>
                <a:lnTo>
                  <a:pt x="665143" y="505587"/>
                </a:lnTo>
                <a:lnTo>
                  <a:pt x="665956" y="505306"/>
                </a:lnTo>
                <a:lnTo>
                  <a:pt x="666962" y="504376"/>
                </a:lnTo>
                <a:lnTo>
                  <a:pt x="666987" y="503952"/>
                </a:lnTo>
                <a:lnTo>
                  <a:pt x="667692" y="503113"/>
                </a:lnTo>
                <a:lnTo>
                  <a:pt x="669684" y="502278"/>
                </a:lnTo>
                <a:lnTo>
                  <a:pt x="669545" y="502010"/>
                </a:lnTo>
                <a:lnTo>
                  <a:pt x="669953" y="501387"/>
                </a:lnTo>
                <a:lnTo>
                  <a:pt x="670738" y="500936"/>
                </a:lnTo>
                <a:lnTo>
                  <a:pt x="671775" y="500709"/>
                </a:lnTo>
                <a:lnTo>
                  <a:pt x="672655" y="500137"/>
                </a:lnTo>
                <a:lnTo>
                  <a:pt x="673121" y="499380"/>
                </a:lnTo>
                <a:lnTo>
                  <a:pt x="673204" y="498661"/>
                </a:lnTo>
                <a:lnTo>
                  <a:pt x="674544" y="497992"/>
                </a:lnTo>
                <a:lnTo>
                  <a:pt x="674811" y="497388"/>
                </a:lnTo>
                <a:lnTo>
                  <a:pt x="675769" y="496635"/>
                </a:lnTo>
                <a:lnTo>
                  <a:pt x="676663" y="495121"/>
                </a:lnTo>
                <a:lnTo>
                  <a:pt x="677806" y="494547"/>
                </a:lnTo>
                <a:lnTo>
                  <a:pt x="678713" y="494391"/>
                </a:lnTo>
                <a:lnTo>
                  <a:pt x="679286" y="493726"/>
                </a:lnTo>
                <a:lnTo>
                  <a:pt x="681353" y="492731"/>
                </a:lnTo>
                <a:lnTo>
                  <a:pt x="682860" y="492333"/>
                </a:lnTo>
                <a:lnTo>
                  <a:pt x="684194" y="492335"/>
                </a:lnTo>
                <a:lnTo>
                  <a:pt x="687286" y="490331"/>
                </a:lnTo>
                <a:lnTo>
                  <a:pt x="688792" y="489955"/>
                </a:lnTo>
                <a:lnTo>
                  <a:pt x="689296" y="490105"/>
                </a:lnTo>
                <a:lnTo>
                  <a:pt x="689856" y="489959"/>
                </a:lnTo>
                <a:lnTo>
                  <a:pt x="689974" y="489064"/>
                </a:lnTo>
                <a:lnTo>
                  <a:pt x="690731" y="488114"/>
                </a:lnTo>
                <a:lnTo>
                  <a:pt x="692573" y="487513"/>
                </a:lnTo>
                <a:lnTo>
                  <a:pt x="692593" y="487306"/>
                </a:lnTo>
                <a:lnTo>
                  <a:pt x="693457" y="486949"/>
                </a:lnTo>
                <a:lnTo>
                  <a:pt x="694012" y="486382"/>
                </a:lnTo>
                <a:lnTo>
                  <a:pt x="695252" y="485899"/>
                </a:lnTo>
                <a:lnTo>
                  <a:pt x="695314" y="485452"/>
                </a:lnTo>
                <a:lnTo>
                  <a:pt x="696353" y="485220"/>
                </a:lnTo>
                <a:lnTo>
                  <a:pt x="698727" y="483617"/>
                </a:lnTo>
                <a:lnTo>
                  <a:pt x="700604" y="483409"/>
                </a:lnTo>
                <a:lnTo>
                  <a:pt x="701452" y="482820"/>
                </a:lnTo>
                <a:lnTo>
                  <a:pt x="702252" y="481744"/>
                </a:lnTo>
                <a:lnTo>
                  <a:pt x="703896" y="481085"/>
                </a:lnTo>
                <a:lnTo>
                  <a:pt x="703328" y="480682"/>
                </a:lnTo>
                <a:lnTo>
                  <a:pt x="702678" y="480767"/>
                </a:lnTo>
                <a:lnTo>
                  <a:pt x="702681" y="480344"/>
                </a:lnTo>
                <a:lnTo>
                  <a:pt x="703395" y="479495"/>
                </a:lnTo>
                <a:lnTo>
                  <a:pt x="703601" y="478375"/>
                </a:lnTo>
                <a:lnTo>
                  <a:pt x="705100" y="477381"/>
                </a:lnTo>
                <a:lnTo>
                  <a:pt x="706335" y="476986"/>
                </a:lnTo>
                <a:lnTo>
                  <a:pt x="706715" y="476544"/>
                </a:lnTo>
                <a:lnTo>
                  <a:pt x="707678" y="476293"/>
                </a:lnTo>
                <a:lnTo>
                  <a:pt x="707330" y="475134"/>
                </a:lnTo>
                <a:lnTo>
                  <a:pt x="708969" y="473272"/>
                </a:lnTo>
                <a:lnTo>
                  <a:pt x="710133" y="472483"/>
                </a:lnTo>
                <a:lnTo>
                  <a:pt x="712449" y="471940"/>
                </a:lnTo>
                <a:lnTo>
                  <a:pt x="713294" y="470782"/>
                </a:lnTo>
                <a:lnTo>
                  <a:pt x="714934" y="469694"/>
                </a:lnTo>
                <a:lnTo>
                  <a:pt x="715664" y="469692"/>
                </a:lnTo>
                <a:lnTo>
                  <a:pt x="716321" y="469244"/>
                </a:lnTo>
                <a:lnTo>
                  <a:pt x="717146" y="469075"/>
                </a:lnTo>
                <a:lnTo>
                  <a:pt x="718187" y="467952"/>
                </a:lnTo>
                <a:lnTo>
                  <a:pt x="719204" y="467809"/>
                </a:lnTo>
                <a:lnTo>
                  <a:pt x="718963" y="466489"/>
                </a:lnTo>
                <a:lnTo>
                  <a:pt x="719576" y="466402"/>
                </a:lnTo>
                <a:lnTo>
                  <a:pt x="719846" y="465904"/>
                </a:lnTo>
                <a:lnTo>
                  <a:pt x="720821" y="465436"/>
                </a:lnTo>
                <a:lnTo>
                  <a:pt x="722359" y="464120"/>
                </a:lnTo>
                <a:lnTo>
                  <a:pt x="723188" y="464026"/>
                </a:lnTo>
                <a:lnTo>
                  <a:pt x="724363" y="463409"/>
                </a:lnTo>
                <a:lnTo>
                  <a:pt x="725683" y="463091"/>
                </a:lnTo>
                <a:lnTo>
                  <a:pt x="725618" y="462766"/>
                </a:lnTo>
                <a:lnTo>
                  <a:pt x="724970" y="462322"/>
                </a:lnTo>
                <a:lnTo>
                  <a:pt x="726338" y="460804"/>
                </a:lnTo>
                <a:lnTo>
                  <a:pt x="726997" y="460611"/>
                </a:lnTo>
                <a:lnTo>
                  <a:pt x="727249" y="460019"/>
                </a:lnTo>
                <a:lnTo>
                  <a:pt x="727549" y="459799"/>
                </a:lnTo>
                <a:lnTo>
                  <a:pt x="727859" y="460109"/>
                </a:lnTo>
                <a:lnTo>
                  <a:pt x="728023" y="459543"/>
                </a:lnTo>
                <a:lnTo>
                  <a:pt x="728372" y="459293"/>
                </a:lnTo>
                <a:lnTo>
                  <a:pt x="728251" y="458901"/>
                </a:lnTo>
                <a:lnTo>
                  <a:pt x="728560" y="458741"/>
                </a:lnTo>
                <a:lnTo>
                  <a:pt x="728532" y="457913"/>
                </a:lnTo>
                <a:lnTo>
                  <a:pt x="729583" y="456927"/>
                </a:lnTo>
                <a:lnTo>
                  <a:pt x="729815" y="455343"/>
                </a:lnTo>
                <a:lnTo>
                  <a:pt x="730753" y="454680"/>
                </a:lnTo>
                <a:lnTo>
                  <a:pt x="730990" y="453880"/>
                </a:lnTo>
                <a:lnTo>
                  <a:pt x="731524" y="453591"/>
                </a:lnTo>
                <a:lnTo>
                  <a:pt x="731257" y="453231"/>
                </a:lnTo>
                <a:lnTo>
                  <a:pt x="731306" y="452385"/>
                </a:lnTo>
                <a:lnTo>
                  <a:pt x="731013" y="451589"/>
                </a:lnTo>
                <a:lnTo>
                  <a:pt x="731101" y="450157"/>
                </a:lnTo>
                <a:lnTo>
                  <a:pt x="734224" y="446517"/>
                </a:lnTo>
                <a:lnTo>
                  <a:pt x="736542" y="444803"/>
                </a:lnTo>
                <a:lnTo>
                  <a:pt x="738630" y="443750"/>
                </a:lnTo>
                <a:lnTo>
                  <a:pt x="746667" y="441588"/>
                </a:lnTo>
                <a:lnTo>
                  <a:pt x="747421" y="441066"/>
                </a:lnTo>
                <a:lnTo>
                  <a:pt x="748047" y="441075"/>
                </a:lnTo>
                <a:lnTo>
                  <a:pt x="748991" y="440247"/>
                </a:lnTo>
                <a:lnTo>
                  <a:pt x="749602" y="440370"/>
                </a:lnTo>
                <a:lnTo>
                  <a:pt x="750590" y="439405"/>
                </a:lnTo>
                <a:lnTo>
                  <a:pt x="751473" y="439541"/>
                </a:lnTo>
                <a:lnTo>
                  <a:pt x="752172" y="439361"/>
                </a:lnTo>
                <a:lnTo>
                  <a:pt x="754286" y="437487"/>
                </a:lnTo>
                <a:lnTo>
                  <a:pt x="754758" y="436424"/>
                </a:lnTo>
                <a:lnTo>
                  <a:pt x="756292" y="435881"/>
                </a:lnTo>
                <a:lnTo>
                  <a:pt x="756549" y="435197"/>
                </a:lnTo>
                <a:lnTo>
                  <a:pt x="757671" y="434186"/>
                </a:lnTo>
                <a:lnTo>
                  <a:pt x="758078" y="434411"/>
                </a:lnTo>
                <a:lnTo>
                  <a:pt x="758528" y="434039"/>
                </a:lnTo>
                <a:lnTo>
                  <a:pt x="759000" y="434079"/>
                </a:lnTo>
                <a:lnTo>
                  <a:pt x="760102" y="433011"/>
                </a:lnTo>
                <a:lnTo>
                  <a:pt x="760751" y="433139"/>
                </a:lnTo>
                <a:lnTo>
                  <a:pt x="761156" y="432537"/>
                </a:lnTo>
                <a:lnTo>
                  <a:pt x="761746" y="432601"/>
                </a:lnTo>
                <a:lnTo>
                  <a:pt x="761948" y="432090"/>
                </a:lnTo>
                <a:lnTo>
                  <a:pt x="762690" y="431520"/>
                </a:lnTo>
                <a:lnTo>
                  <a:pt x="763814" y="431707"/>
                </a:lnTo>
                <a:lnTo>
                  <a:pt x="764623" y="431574"/>
                </a:lnTo>
                <a:lnTo>
                  <a:pt x="765454" y="431882"/>
                </a:lnTo>
                <a:lnTo>
                  <a:pt x="766747" y="431185"/>
                </a:lnTo>
                <a:lnTo>
                  <a:pt x="766700" y="430108"/>
                </a:lnTo>
                <a:lnTo>
                  <a:pt x="766964" y="428869"/>
                </a:lnTo>
                <a:lnTo>
                  <a:pt x="767537" y="428589"/>
                </a:lnTo>
                <a:lnTo>
                  <a:pt x="767855" y="428061"/>
                </a:lnTo>
                <a:lnTo>
                  <a:pt x="769073" y="427080"/>
                </a:lnTo>
                <a:lnTo>
                  <a:pt x="769499" y="426287"/>
                </a:lnTo>
                <a:lnTo>
                  <a:pt x="770512" y="425342"/>
                </a:lnTo>
                <a:lnTo>
                  <a:pt x="771697" y="424724"/>
                </a:lnTo>
                <a:lnTo>
                  <a:pt x="772962" y="423643"/>
                </a:lnTo>
                <a:lnTo>
                  <a:pt x="773109" y="423016"/>
                </a:lnTo>
                <a:lnTo>
                  <a:pt x="774428" y="421754"/>
                </a:lnTo>
                <a:lnTo>
                  <a:pt x="774837" y="420992"/>
                </a:lnTo>
                <a:lnTo>
                  <a:pt x="774683" y="420608"/>
                </a:lnTo>
                <a:lnTo>
                  <a:pt x="775474" y="419631"/>
                </a:lnTo>
                <a:lnTo>
                  <a:pt x="777770" y="418564"/>
                </a:lnTo>
                <a:lnTo>
                  <a:pt x="779468" y="418204"/>
                </a:lnTo>
                <a:lnTo>
                  <a:pt x="779691" y="418323"/>
                </a:lnTo>
                <a:lnTo>
                  <a:pt x="780293" y="417891"/>
                </a:lnTo>
                <a:lnTo>
                  <a:pt x="780876" y="417993"/>
                </a:lnTo>
                <a:lnTo>
                  <a:pt x="782422" y="416359"/>
                </a:lnTo>
                <a:lnTo>
                  <a:pt x="784741" y="415690"/>
                </a:lnTo>
                <a:lnTo>
                  <a:pt x="785157" y="415859"/>
                </a:lnTo>
                <a:lnTo>
                  <a:pt x="785976" y="415681"/>
                </a:lnTo>
                <a:lnTo>
                  <a:pt x="787177" y="414765"/>
                </a:lnTo>
                <a:lnTo>
                  <a:pt x="787793" y="413995"/>
                </a:lnTo>
                <a:lnTo>
                  <a:pt x="788514" y="412145"/>
                </a:lnTo>
                <a:lnTo>
                  <a:pt x="790142" y="411166"/>
                </a:lnTo>
                <a:lnTo>
                  <a:pt x="791850" y="410824"/>
                </a:lnTo>
                <a:lnTo>
                  <a:pt x="792042" y="410497"/>
                </a:lnTo>
                <a:lnTo>
                  <a:pt x="791966" y="409979"/>
                </a:lnTo>
                <a:lnTo>
                  <a:pt x="792468" y="409000"/>
                </a:lnTo>
                <a:lnTo>
                  <a:pt x="792191" y="408276"/>
                </a:lnTo>
                <a:lnTo>
                  <a:pt x="792511" y="407533"/>
                </a:lnTo>
                <a:lnTo>
                  <a:pt x="794816" y="405985"/>
                </a:lnTo>
                <a:lnTo>
                  <a:pt x="795494" y="405157"/>
                </a:lnTo>
                <a:lnTo>
                  <a:pt x="796385" y="403019"/>
                </a:lnTo>
                <a:lnTo>
                  <a:pt x="797546" y="402369"/>
                </a:lnTo>
                <a:lnTo>
                  <a:pt x="798278" y="402458"/>
                </a:lnTo>
                <a:lnTo>
                  <a:pt x="798945" y="402015"/>
                </a:lnTo>
                <a:lnTo>
                  <a:pt x="799233" y="401456"/>
                </a:lnTo>
                <a:lnTo>
                  <a:pt x="799403" y="399874"/>
                </a:lnTo>
                <a:lnTo>
                  <a:pt x="799794" y="399372"/>
                </a:lnTo>
                <a:lnTo>
                  <a:pt x="800323" y="399231"/>
                </a:lnTo>
                <a:lnTo>
                  <a:pt x="801036" y="398352"/>
                </a:lnTo>
                <a:lnTo>
                  <a:pt x="802767" y="397858"/>
                </a:lnTo>
                <a:lnTo>
                  <a:pt x="803420" y="397302"/>
                </a:lnTo>
                <a:lnTo>
                  <a:pt x="803877" y="397377"/>
                </a:lnTo>
                <a:lnTo>
                  <a:pt x="804098" y="396938"/>
                </a:lnTo>
                <a:lnTo>
                  <a:pt x="805224" y="396561"/>
                </a:lnTo>
                <a:lnTo>
                  <a:pt x="805973" y="396973"/>
                </a:lnTo>
                <a:lnTo>
                  <a:pt x="806244" y="396125"/>
                </a:lnTo>
                <a:lnTo>
                  <a:pt x="806914" y="395531"/>
                </a:lnTo>
                <a:lnTo>
                  <a:pt x="806510" y="394347"/>
                </a:lnTo>
                <a:lnTo>
                  <a:pt x="807310" y="392964"/>
                </a:lnTo>
                <a:lnTo>
                  <a:pt x="808181" y="392199"/>
                </a:lnTo>
                <a:lnTo>
                  <a:pt x="808752" y="392180"/>
                </a:lnTo>
                <a:lnTo>
                  <a:pt x="808893" y="391518"/>
                </a:lnTo>
                <a:lnTo>
                  <a:pt x="809758" y="391458"/>
                </a:lnTo>
                <a:lnTo>
                  <a:pt x="810252" y="390850"/>
                </a:lnTo>
                <a:lnTo>
                  <a:pt x="811003" y="390430"/>
                </a:lnTo>
                <a:lnTo>
                  <a:pt x="810950" y="389631"/>
                </a:lnTo>
                <a:lnTo>
                  <a:pt x="812206" y="389000"/>
                </a:lnTo>
                <a:lnTo>
                  <a:pt x="811999" y="388605"/>
                </a:lnTo>
                <a:lnTo>
                  <a:pt x="812397" y="388602"/>
                </a:lnTo>
                <a:lnTo>
                  <a:pt x="812470" y="388804"/>
                </a:lnTo>
                <a:lnTo>
                  <a:pt x="812593" y="388390"/>
                </a:lnTo>
                <a:lnTo>
                  <a:pt x="812945" y="388370"/>
                </a:lnTo>
                <a:lnTo>
                  <a:pt x="813063" y="388067"/>
                </a:lnTo>
                <a:lnTo>
                  <a:pt x="813754" y="388105"/>
                </a:lnTo>
                <a:lnTo>
                  <a:pt x="814172" y="387165"/>
                </a:lnTo>
                <a:lnTo>
                  <a:pt x="814544" y="387104"/>
                </a:lnTo>
                <a:lnTo>
                  <a:pt x="814247" y="386824"/>
                </a:lnTo>
                <a:lnTo>
                  <a:pt x="814485" y="386424"/>
                </a:lnTo>
                <a:lnTo>
                  <a:pt x="816559" y="384790"/>
                </a:lnTo>
                <a:lnTo>
                  <a:pt x="816688" y="384164"/>
                </a:lnTo>
                <a:lnTo>
                  <a:pt x="816848" y="384330"/>
                </a:lnTo>
                <a:lnTo>
                  <a:pt x="818139" y="383952"/>
                </a:lnTo>
                <a:lnTo>
                  <a:pt x="819276" y="383320"/>
                </a:lnTo>
                <a:lnTo>
                  <a:pt x="819341" y="383517"/>
                </a:lnTo>
                <a:lnTo>
                  <a:pt x="819735" y="382861"/>
                </a:lnTo>
                <a:lnTo>
                  <a:pt x="819925" y="381756"/>
                </a:lnTo>
                <a:lnTo>
                  <a:pt x="820364" y="381358"/>
                </a:lnTo>
                <a:lnTo>
                  <a:pt x="820541" y="380579"/>
                </a:lnTo>
                <a:lnTo>
                  <a:pt x="820415" y="379990"/>
                </a:lnTo>
                <a:lnTo>
                  <a:pt x="821579" y="379461"/>
                </a:lnTo>
                <a:lnTo>
                  <a:pt x="822109" y="378646"/>
                </a:lnTo>
                <a:lnTo>
                  <a:pt x="823431" y="377906"/>
                </a:lnTo>
                <a:lnTo>
                  <a:pt x="824140" y="376809"/>
                </a:lnTo>
                <a:lnTo>
                  <a:pt x="824306" y="376139"/>
                </a:lnTo>
                <a:lnTo>
                  <a:pt x="825161" y="375509"/>
                </a:lnTo>
                <a:lnTo>
                  <a:pt x="825237" y="375099"/>
                </a:lnTo>
                <a:lnTo>
                  <a:pt x="825969" y="374538"/>
                </a:lnTo>
                <a:lnTo>
                  <a:pt x="826210" y="374868"/>
                </a:lnTo>
                <a:lnTo>
                  <a:pt x="826755" y="374767"/>
                </a:lnTo>
                <a:lnTo>
                  <a:pt x="829529" y="373089"/>
                </a:lnTo>
                <a:lnTo>
                  <a:pt x="829623" y="371669"/>
                </a:lnTo>
                <a:lnTo>
                  <a:pt x="830716" y="371328"/>
                </a:lnTo>
                <a:lnTo>
                  <a:pt x="831897" y="369368"/>
                </a:lnTo>
                <a:lnTo>
                  <a:pt x="832572" y="369286"/>
                </a:lnTo>
                <a:lnTo>
                  <a:pt x="832872" y="368741"/>
                </a:lnTo>
                <a:lnTo>
                  <a:pt x="833361" y="368530"/>
                </a:lnTo>
                <a:lnTo>
                  <a:pt x="834526" y="368673"/>
                </a:lnTo>
                <a:lnTo>
                  <a:pt x="835180" y="368363"/>
                </a:lnTo>
                <a:lnTo>
                  <a:pt x="835732" y="367298"/>
                </a:lnTo>
                <a:lnTo>
                  <a:pt x="836579" y="366672"/>
                </a:lnTo>
                <a:lnTo>
                  <a:pt x="837065" y="366941"/>
                </a:lnTo>
                <a:lnTo>
                  <a:pt x="837167" y="366546"/>
                </a:lnTo>
                <a:lnTo>
                  <a:pt x="837849" y="366003"/>
                </a:lnTo>
                <a:lnTo>
                  <a:pt x="839002" y="365526"/>
                </a:lnTo>
                <a:lnTo>
                  <a:pt x="839331" y="365630"/>
                </a:lnTo>
                <a:lnTo>
                  <a:pt x="839065" y="364444"/>
                </a:lnTo>
                <a:lnTo>
                  <a:pt x="841154" y="361953"/>
                </a:lnTo>
                <a:lnTo>
                  <a:pt x="841227" y="361698"/>
                </a:lnTo>
                <a:lnTo>
                  <a:pt x="841034" y="361578"/>
                </a:lnTo>
                <a:lnTo>
                  <a:pt x="841369" y="361063"/>
                </a:lnTo>
                <a:lnTo>
                  <a:pt x="841351" y="360035"/>
                </a:lnTo>
                <a:lnTo>
                  <a:pt x="841661" y="359991"/>
                </a:lnTo>
                <a:lnTo>
                  <a:pt x="841906" y="360293"/>
                </a:lnTo>
                <a:lnTo>
                  <a:pt x="842756" y="360223"/>
                </a:lnTo>
                <a:lnTo>
                  <a:pt x="843360" y="359973"/>
                </a:lnTo>
                <a:lnTo>
                  <a:pt x="843587" y="359620"/>
                </a:lnTo>
                <a:lnTo>
                  <a:pt x="844487" y="359463"/>
                </a:lnTo>
                <a:lnTo>
                  <a:pt x="844514" y="358664"/>
                </a:lnTo>
                <a:lnTo>
                  <a:pt x="845112" y="357911"/>
                </a:lnTo>
                <a:lnTo>
                  <a:pt x="845506" y="357766"/>
                </a:lnTo>
                <a:lnTo>
                  <a:pt x="845339" y="357237"/>
                </a:lnTo>
                <a:lnTo>
                  <a:pt x="846445" y="356847"/>
                </a:lnTo>
                <a:lnTo>
                  <a:pt x="846915" y="356565"/>
                </a:lnTo>
                <a:lnTo>
                  <a:pt x="847019" y="356230"/>
                </a:lnTo>
                <a:lnTo>
                  <a:pt x="847724" y="356036"/>
                </a:lnTo>
                <a:lnTo>
                  <a:pt x="847798" y="355279"/>
                </a:lnTo>
                <a:lnTo>
                  <a:pt x="848198" y="355238"/>
                </a:lnTo>
                <a:lnTo>
                  <a:pt x="848351" y="354787"/>
                </a:lnTo>
                <a:lnTo>
                  <a:pt x="848723" y="354797"/>
                </a:lnTo>
                <a:lnTo>
                  <a:pt x="848263" y="353754"/>
                </a:lnTo>
                <a:lnTo>
                  <a:pt x="848842" y="352910"/>
                </a:lnTo>
                <a:lnTo>
                  <a:pt x="849567" y="352075"/>
                </a:lnTo>
                <a:lnTo>
                  <a:pt x="849784" y="351956"/>
                </a:lnTo>
                <a:lnTo>
                  <a:pt x="849849" y="352247"/>
                </a:lnTo>
                <a:lnTo>
                  <a:pt x="850264" y="352031"/>
                </a:lnTo>
                <a:lnTo>
                  <a:pt x="850568" y="350919"/>
                </a:lnTo>
                <a:lnTo>
                  <a:pt x="851338" y="350717"/>
                </a:lnTo>
                <a:lnTo>
                  <a:pt x="852159" y="349954"/>
                </a:lnTo>
                <a:lnTo>
                  <a:pt x="852465" y="350063"/>
                </a:lnTo>
                <a:lnTo>
                  <a:pt x="852280" y="349330"/>
                </a:lnTo>
                <a:lnTo>
                  <a:pt x="853076" y="349244"/>
                </a:lnTo>
                <a:lnTo>
                  <a:pt x="853579" y="348621"/>
                </a:lnTo>
                <a:lnTo>
                  <a:pt x="853452" y="348372"/>
                </a:lnTo>
                <a:lnTo>
                  <a:pt x="853643" y="348647"/>
                </a:lnTo>
                <a:lnTo>
                  <a:pt x="854020" y="348571"/>
                </a:lnTo>
                <a:lnTo>
                  <a:pt x="855456" y="347176"/>
                </a:lnTo>
                <a:lnTo>
                  <a:pt x="855550" y="346817"/>
                </a:lnTo>
                <a:lnTo>
                  <a:pt x="855022" y="346371"/>
                </a:lnTo>
                <a:lnTo>
                  <a:pt x="855389" y="346411"/>
                </a:lnTo>
                <a:lnTo>
                  <a:pt x="856092" y="345539"/>
                </a:lnTo>
                <a:lnTo>
                  <a:pt x="857128" y="344882"/>
                </a:lnTo>
                <a:lnTo>
                  <a:pt x="857620" y="343835"/>
                </a:lnTo>
                <a:lnTo>
                  <a:pt x="857562" y="343654"/>
                </a:lnTo>
                <a:lnTo>
                  <a:pt x="857212" y="343759"/>
                </a:lnTo>
                <a:lnTo>
                  <a:pt x="857158" y="343468"/>
                </a:lnTo>
                <a:lnTo>
                  <a:pt x="857463" y="343358"/>
                </a:lnTo>
                <a:lnTo>
                  <a:pt x="857519" y="342729"/>
                </a:lnTo>
                <a:lnTo>
                  <a:pt x="857876" y="342200"/>
                </a:lnTo>
                <a:lnTo>
                  <a:pt x="859117" y="341045"/>
                </a:lnTo>
                <a:lnTo>
                  <a:pt x="859094" y="340738"/>
                </a:lnTo>
                <a:lnTo>
                  <a:pt x="860487" y="340485"/>
                </a:lnTo>
                <a:lnTo>
                  <a:pt x="860705" y="340202"/>
                </a:lnTo>
                <a:lnTo>
                  <a:pt x="860568" y="339456"/>
                </a:lnTo>
                <a:lnTo>
                  <a:pt x="860869" y="339942"/>
                </a:lnTo>
                <a:lnTo>
                  <a:pt x="861663" y="339814"/>
                </a:lnTo>
                <a:lnTo>
                  <a:pt x="861653" y="339617"/>
                </a:lnTo>
                <a:lnTo>
                  <a:pt x="862557" y="338899"/>
                </a:lnTo>
                <a:lnTo>
                  <a:pt x="862559" y="338540"/>
                </a:lnTo>
                <a:lnTo>
                  <a:pt x="863373" y="338067"/>
                </a:lnTo>
                <a:lnTo>
                  <a:pt x="864742" y="337937"/>
                </a:lnTo>
                <a:lnTo>
                  <a:pt x="865097" y="337095"/>
                </a:lnTo>
                <a:lnTo>
                  <a:pt x="865634" y="337367"/>
                </a:lnTo>
                <a:lnTo>
                  <a:pt x="866016" y="336742"/>
                </a:lnTo>
                <a:lnTo>
                  <a:pt x="865544" y="335827"/>
                </a:lnTo>
                <a:lnTo>
                  <a:pt x="865979" y="335732"/>
                </a:lnTo>
                <a:lnTo>
                  <a:pt x="866887" y="334957"/>
                </a:lnTo>
                <a:lnTo>
                  <a:pt x="866802" y="334694"/>
                </a:lnTo>
                <a:lnTo>
                  <a:pt x="867235" y="334463"/>
                </a:lnTo>
                <a:lnTo>
                  <a:pt x="867189" y="334176"/>
                </a:lnTo>
                <a:lnTo>
                  <a:pt x="867464" y="334608"/>
                </a:lnTo>
                <a:lnTo>
                  <a:pt x="868401" y="334429"/>
                </a:lnTo>
                <a:lnTo>
                  <a:pt x="868680" y="334609"/>
                </a:lnTo>
                <a:lnTo>
                  <a:pt x="868724" y="334081"/>
                </a:lnTo>
                <a:lnTo>
                  <a:pt x="868447" y="333764"/>
                </a:lnTo>
                <a:lnTo>
                  <a:pt x="868712" y="333379"/>
                </a:lnTo>
                <a:lnTo>
                  <a:pt x="868490" y="332455"/>
                </a:lnTo>
                <a:lnTo>
                  <a:pt x="868618" y="331982"/>
                </a:lnTo>
                <a:lnTo>
                  <a:pt x="869154" y="331932"/>
                </a:lnTo>
                <a:lnTo>
                  <a:pt x="869284" y="331427"/>
                </a:lnTo>
                <a:lnTo>
                  <a:pt x="870327" y="330621"/>
                </a:lnTo>
                <a:lnTo>
                  <a:pt x="870824" y="329237"/>
                </a:lnTo>
                <a:lnTo>
                  <a:pt x="871430" y="329071"/>
                </a:lnTo>
                <a:lnTo>
                  <a:pt x="871410" y="328307"/>
                </a:lnTo>
                <a:lnTo>
                  <a:pt x="872646" y="327758"/>
                </a:lnTo>
                <a:lnTo>
                  <a:pt x="872183" y="327734"/>
                </a:lnTo>
                <a:lnTo>
                  <a:pt x="872103" y="327072"/>
                </a:lnTo>
                <a:lnTo>
                  <a:pt x="872623" y="327061"/>
                </a:lnTo>
                <a:lnTo>
                  <a:pt x="872682" y="326726"/>
                </a:lnTo>
                <a:lnTo>
                  <a:pt x="873148" y="326352"/>
                </a:lnTo>
                <a:lnTo>
                  <a:pt x="873896" y="326357"/>
                </a:lnTo>
                <a:lnTo>
                  <a:pt x="873728" y="325832"/>
                </a:lnTo>
                <a:lnTo>
                  <a:pt x="874788" y="325012"/>
                </a:lnTo>
                <a:lnTo>
                  <a:pt x="874763" y="324174"/>
                </a:lnTo>
                <a:lnTo>
                  <a:pt x="875109" y="324003"/>
                </a:lnTo>
                <a:lnTo>
                  <a:pt x="875135" y="322808"/>
                </a:lnTo>
                <a:lnTo>
                  <a:pt x="875465" y="322507"/>
                </a:lnTo>
                <a:lnTo>
                  <a:pt x="875860" y="322497"/>
                </a:lnTo>
                <a:lnTo>
                  <a:pt x="875733" y="321317"/>
                </a:lnTo>
                <a:lnTo>
                  <a:pt x="876684" y="320683"/>
                </a:lnTo>
                <a:lnTo>
                  <a:pt x="877245" y="320584"/>
                </a:lnTo>
                <a:lnTo>
                  <a:pt x="877467" y="320020"/>
                </a:lnTo>
                <a:lnTo>
                  <a:pt x="877698" y="320204"/>
                </a:lnTo>
                <a:lnTo>
                  <a:pt x="878185" y="320017"/>
                </a:lnTo>
                <a:lnTo>
                  <a:pt x="877819" y="319591"/>
                </a:lnTo>
                <a:lnTo>
                  <a:pt x="878237" y="318917"/>
                </a:lnTo>
                <a:lnTo>
                  <a:pt x="879172" y="318604"/>
                </a:lnTo>
                <a:lnTo>
                  <a:pt x="879630" y="317673"/>
                </a:lnTo>
                <a:lnTo>
                  <a:pt x="880206" y="317630"/>
                </a:lnTo>
                <a:lnTo>
                  <a:pt x="880353" y="316683"/>
                </a:lnTo>
                <a:lnTo>
                  <a:pt x="881811" y="315711"/>
                </a:lnTo>
                <a:lnTo>
                  <a:pt x="882541" y="314821"/>
                </a:lnTo>
                <a:lnTo>
                  <a:pt x="882363" y="314504"/>
                </a:lnTo>
                <a:lnTo>
                  <a:pt x="883699" y="313949"/>
                </a:lnTo>
                <a:lnTo>
                  <a:pt x="884974" y="313965"/>
                </a:lnTo>
                <a:lnTo>
                  <a:pt x="885041" y="313720"/>
                </a:lnTo>
                <a:lnTo>
                  <a:pt x="885631" y="313763"/>
                </a:lnTo>
                <a:lnTo>
                  <a:pt x="885921" y="313516"/>
                </a:lnTo>
                <a:lnTo>
                  <a:pt x="886689" y="313589"/>
                </a:lnTo>
                <a:lnTo>
                  <a:pt x="887254" y="312726"/>
                </a:lnTo>
                <a:lnTo>
                  <a:pt x="887225" y="312314"/>
                </a:lnTo>
                <a:lnTo>
                  <a:pt x="886870" y="312215"/>
                </a:lnTo>
                <a:lnTo>
                  <a:pt x="887002" y="311360"/>
                </a:lnTo>
                <a:lnTo>
                  <a:pt x="888398" y="310544"/>
                </a:lnTo>
                <a:lnTo>
                  <a:pt x="888605" y="309548"/>
                </a:lnTo>
                <a:lnTo>
                  <a:pt x="889572" y="308837"/>
                </a:lnTo>
                <a:lnTo>
                  <a:pt x="889869" y="307782"/>
                </a:lnTo>
                <a:lnTo>
                  <a:pt x="890941" y="307194"/>
                </a:lnTo>
                <a:lnTo>
                  <a:pt x="891412" y="306411"/>
                </a:lnTo>
                <a:lnTo>
                  <a:pt x="891003" y="305848"/>
                </a:lnTo>
                <a:lnTo>
                  <a:pt x="891105" y="305600"/>
                </a:lnTo>
                <a:lnTo>
                  <a:pt x="891551" y="305434"/>
                </a:lnTo>
                <a:lnTo>
                  <a:pt x="891559" y="305075"/>
                </a:lnTo>
                <a:lnTo>
                  <a:pt x="891832" y="304861"/>
                </a:lnTo>
                <a:lnTo>
                  <a:pt x="892191" y="304664"/>
                </a:lnTo>
                <a:lnTo>
                  <a:pt x="892455" y="304777"/>
                </a:lnTo>
                <a:lnTo>
                  <a:pt x="892440" y="304562"/>
                </a:lnTo>
                <a:lnTo>
                  <a:pt x="893356" y="304276"/>
                </a:lnTo>
                <a:lnTo>
                  <a:pt x="893859" y="303623"/>
                </a:lnTo>
                <a:lnTo>
                  <a:pt x="893691" y="303189"/>
                </a:lnTo>
                <a:lnTo>
                  <a:pt x="893976" y="302589"/>
                </a:lnTo>
                <a:lnTo>
                  <a:pt x="893770" y="301772"/>
                </a:lnTo>
                <a:lnTo>
                  <a:pt x="894175" y="301424"/>
                </a:lnTo>
                <a:lnTo>
                  <a:pt x="894110" y="300831"/>
                </a:lnTo>
                <a:lnTo>
                  <a:pt x="894904" y="300136"/>
                </a:lnTo>
                <a:lnTo>
                  <a:pt x="895550" y="300079"/>
                </a:lnTo>
                <a:lnTo>
                  <a:pt x="896489" y="298918"/>
                </a:lnTo>
                <a:lnTo>
                  <a:pt x="896452" y="298478"/>
                </a:lnTo>
                <a:lnTo>
                  <a:pt x="896974" y="298406"/>
                </a:lnTo>
                <a:lnTo>
                  <a:pt x="897266" y="297761"/>
                </a:lnTo>
                <a:lnTo>
                  <a:pt x="897534" y="297755"/>
                </a:lnTo>
                <a:lnTo>
                  <a:pt x="898089" y="297196"/>
                </a:lnTo>
                <a:lnTo>
                  <a:pt x="898306" y="296407"/>
                </a:lnTo>
                <a:lnTo>
                  <a:pt x="899000" y="295814"/>
                </a:lnTo>
                <a:lnTo>
                  <a:pt x="899278" y="295916"/>
                </a:lnTo>
                <a:lnTo>
                  <a:pt x="899890" y="295319"/>
                </a:lnTo>
                <a:lnTo>
                  <a:pt x="899678" y="295030"/>
                </a:lnTo>
                <a:lnTo>
                  <a:pt x="900395" y="294885"/>
                </a:lnTo>
                <a:lnTo>
                  <a:pt x="900769" y="294278"/>
                </a:lnTo>
                <a:lnTo>
                  <a:pt x="901570" y="293741"/>
                </a:lnTo>
                <a:lnTo>
                  <a:pt x="901631" y="293345"/>
                </a:lnTo>
                <a:lnTo>
                  <a:pt x="902352" y="293028"/>
                </a:lnTo>
                <a:lnTo>
                  <a:pt x="902444" y="292599"/>
                </a:lnTo>
                <a:lnTo>
                  <a:pt x="903925" y="292092"/>
                </a:lnTo>
                <a:lnTo>
                  <a:pt x="904696" y="292311"/>
                </a:lnTo>
                <a:lnTo>
                  <a:pt x="905305" y="291866"/>
                </a:lnTo>
                <a:lnTo>
                  <a:pt x="906044" y="291864"/>
                </a:lnTo>
                <a:lnTo>
                  <a:pt x="906240" y="291676"/>
                </a:lnTo>
                <a:lnTo>
                  <a:pt x="906459" y="291018"/>
                </a:lnTo>
                <a:lnTo>
                  <a:pt x="905942" y="290135"/>
                </a:lnTo>
                <a:lnTo>
                  <a:pt x="906257" y="289751"/>
                </a:lnTo>
                <a:lnTo>
                  <a:pt x="906614" y="289923"/>
                </a:lnTo>
                <a:lnTo>
                  <a:pt x="907328" y="289197"/>
                </a:lnTo>
                <a:lnTo>
                  <a:pt x="907600" y="288527"/>
                </a:lnTo>
                <a:lnTo>
                  <a:pt x="907835" y="287228"/>
                </a:lnTo>
                <a:lnTo>
                  <a:pt x="907829" y="284465"/>
                </a:lnTo>
                <a:lnTo>
                  <a:pt x="908585" y="284287"/>
                </a:lnTo>
                <a:lnTo>
                  <a:pt x="910110" y="282929"/>
                </a:lnTo>
                <a:lnTo>
                  <a:pt x="911585" y="282777"/>
                </a:lnTo>
                <a:lnTo>
                  <a:pt x="912343" y="281794"/>
                </a:lnTo>
                <a:lnTo>
                  <a:pt x="913177" y="281223"/>
                </a:lnTo>
                <a:lnTo>
                  <a:pt x="914377" y="280808"/>
                </a:lnTo>
                <a:lnTo>
                  <a:pt x="914345" y="280106"/>
                </a:lnTo>
                <a:lnTo>
                  <a:pt x="914936" y="279634"/>
                </a:lnTo>
                <a:lnTo>
                  <a:pt x="914489" y="279329"/>
                </a:lnTo>
                <a:lnTo>
                  <a:pt x="914658" y="279051"/>
                </a:lnTo>
                <a:lnTo>
                  <a:pt x="914559" y="278411"/>
                </a:lnTo>
                <a:lnTo>
                  <a:pt x="915699" y="277653"/>
                </a:lnTo>
                <a:lnTo>
                  <a:pt x="915876" y="276483"/>
                </a:lnTo>
                <a:lnTo>
                  <a:pt x="916202" y="276211"/>
                </a:lnTo>
                <a:lnTo>
                  <a:pt x="916427" y="276283"/>
                </a:lnTo>
                <a:lnTo>
                  <a:pt x="916587" y="275458"/>
                </a:lnTo>
                <a:lnTo>
                  <a:pt x="917095" y="274796"/>
                </a:lnTo>
                <a:lnTo>
                  <a:pt x="917633" y="274836"/>
                </a:lnTo>
                <a:lnTo>
                  <a:pt x="917730" y="274508"/>
                </a:lnTo>
                <a:lnTo>
                  <a:pt x="917349" y="274121"/>
                </a:lnTo>
                <a:lnTo>
                  <a:pt x="918699" y="273333"/>
                </a:lnTo>
                <a:lnTo>
                  <a:pt x="919493" y="273087"/>
                </a:lnTo>
                <a:lnTo>
                  <a:pt x="920060" y="273188"/>
                </a:lnTo>
                <a:lnTo>
                  <a:pt x="920656" y="272541"/>
                </a:lnTo>
                <a:lnTo>
                  <a:pt x="922563" y="271870"/>
                </a:lnTo>
                <a:lnTo>
                  <a:pt x="924451" y="272169"/>
                </a:lnTo>
                <a:lnTo>
                  <a:pt x="925079" y="271759"/>
                </a:lnTo>
                <a:lnTo>
                  <a:pt x="927308" y="271163"/>
                </a:lnTo>
                <a:lnTo>
                  <a:pt x="927141" y="270800"/>
                </a:lnTo>
                <a:lnTo>
                  <a:pt x="927721" y="270321"/>
                </a:lnTo>
                <a:lnTo>
                  <a:pt x="928536" y="270254"/>
                </a:lnTo>
                <a:lnTo>
                  <a:pt x="928539" y="269862"/>
                </a:lnTo>
                <a:lnTo>
                  <a:pt x="929169" y="268863"/>
                </a:lnTo>
                <a:lnTo>
                  <a:pt x="930273" y="268911"/>
                </a:lnTo>
                <a:lnTo>
                  <a:pt x="931176" y="267763"/>
                </a:lnTo>
                <a:lnTo>
                  <a:pt x="931701" y="267727"/>
                </a:lnTo>
                <a:lnTo>
                  <a:pt x="932112" y="268115"/>
                </a:lnTo>
                <a:lnTo>
                  <a:pt x="932598" y="267684"/>
                </a:lnTo>
                <a:lnTo>
                  <a:pt x="933298" y="267684"/>
                </a:lnTo>
                <a:lnTo>
                  <a:pt x="934231" y="266916"/>
                </a:lnTo>
                <a:lnTo>
                  <a:pt x="934584" y="266983"/>
                </a:lnTo>
                <a:lnTo>
                  <a:pt x="935040" y="266284"/>
                </a:lnTo>
                <a:lnTo>
                  <a:pt x="935533" y="266242"/>
                </a:lnTo>
                <a:lnTo>
                  <a:pt x="935836" y="265821"/>
                </a:lnTo>
                <a:lnTo>
                  <a:pt x="935189" y="265248"/>
                </a:lnTo>
                <a:lnTo>
                  <a:pt x="935289" y="264674"/>
                </a:lnTo>
                <a:lnTo>
                  <a:pt x="936235" y="263931"/>
                </a:lnTo>
                <a:lnTo>
                  <a:pt x="940063" y="261796"/>
                </a:lnTo>
                <a:lnTo>
                  <a:pt x="941359" y="261564"/>
                </a:lnTo>
                <a:lnTo>
                  <a:pt x="941743" y="261082"/>
                </a:lnTo>
                <a:lnTo>
                  <a:pt x="942066" y="261098"/>
                </a:lnTo>
                <a:lnTo>
                  <a:pt x="942897" y="260497"/>
                </a:lnTo>
                <a:lnTo>
                  <a:pt x="943091" y="259990"/>
                </a:lnTo>
                <a:lnTo>
                  <a:pt x="943740" y="259849"/>
                </a:lnTo>
                <a:lnTo>
                  <a:pt x="943608" y="259432"/>
                </a:lnTo>
                <a:lnTo>
                  <a:pt x="946179" y="258230"/>
                </a:lnTo>
                <a:lnTo>
                  <a:pt x="946333" y="257973"/>
                </a:lnTo>
                <a:lnTo>
                  <a:pt x="946122" y="257720"/>
                </a:lnTo>
                <a:lnTo>
                  <a:pt x="946750" y="256982"/>
                </a:lnTo>
                <a:lnTo>
                  <a:pt x="946883" y="256319"/>
                </a:lnTo>
                <a:lnTo>
                  <a:pt x="947349" y="256028"/>
                </a:lnTo>
                <a:lnTo>
                  <a:pt x="947362" y="255526"/>
                </a:lnTo>
                <a:lnTo>
                  <a:pt x="947830" y="254905"/>
                </a:lnTo>
                <a:lnTo>
                  <a:pt x="950166" y="253792"/>
                </a:lnTo>
                <a:lnTo>
                  <a:pt x="951481" y="252575"/>
                </a:lnTo>
                <a:lnTo>
                  <a:pt x="951910" y="253168"/>
                </a:lnTo>
                <a:lnTo>
                  <a:pt x="952588" y="252765"/>
                </a:lnTo>
                <a:lnTo>
                  <a:pt x="953825" y="251243"/>
                </a:lnTo>
                <a:lnTo>
                  <a:pt x="954588" y="250750"/>
                </a:lnTo>
                <a:lnTo>
                  <a:pt x="954936" y="249387"/>
                </a:lnTo>
                <a:lnTo>
                  <a:pt x="955493" y="249537"/>
                </a:lnTo>
                <a:lnTo>
                  <a:pt x="956196" y="249272"/>
                </a:lnTo>
                <a:lnTo>
                  <a:pt x="958518" y="246393"/>
                </a:lnTo>
                <a:lnTo>
                  <a:pt x="959204" y="244909"/>
                </a:lnTo>
                <a:lnTo>
                  <a:pt x="959611" y="244529"/>
                </a:lnTo>
                <a:lnTo>
                  <a:pt x="960114" y="244491"/>
                </a:lnTo>
                <a:lnTo>
                  <a:pt x="960273" y="243912"/>
                </a:lnTo>
                <a:lnTo>
                  <a:pt x="960033" y="242484"/>
                </a:lnTo>
                <a:lnTo>
                  <a:pt x="960561" y="242317"/>
                </a:lnTo>
                <a:lnTo>
                  <a:pt x="961266" y="242524"/>
                </a:lnTo>
                <a:lnTo>
                  <a:pt x="961975" y="241908"/>
                </a:lnTo>
                <a:lnTo>
                  <a:pt x="961874" y="241315"/>
                </a:lnTo>
                <a:lnTo>
                  <a:pt x="962142" y="240042"/>
                </a:lnTo>
                <a:lnTo>
                  <a:pt x="962641" y="239574"/>
                </a:lnTo>
                <a:lnTo>
                  <a:pt x="962871" y="239976"/>
                </a:lnTo>
                <a:lnTo>
                  <a:pt x="965621" y="237779"/>
                </a:lnTo>
                <a:lnTo>
                  <a:pt x="966420" y="237877"/>
                </a:lnTo>
                <a:lnTo>
                  <a:pt x="966639" y="237623"/>
                </a:lnTo>
                <a:lnTo>
                  <a:pt x="966327" y="237339"/>
                </a:lnTo>
                <a:lnTo>
                  <a:pt x="967082" y="237316"/>
                </a:lnTo>
                <a:lnTo>
                  <a:pt x="967186" y="236670"/>
                </a:lnTo>
                <a:lnTo>
                  <a:pt x="968015" y="237224"/>
                </a:lnTo>
                <a:lnTo>
                  <a:pt x="969014" y="236510"/>
                </a:lnTo>
                <a:lnTo>
                  <a:pt x="969318" y="236702"/>
                </a:lnTo>
                <a:lnTo>
                  <a:pt x="971911" y="236447"/>
                </a:lnTo>
                <a:lnTo>
                  <a:pt x="972790" y="236787"/>
                </a:lnTo>
                <a:lnTo>
                  <a:pt x="974543" y="236625"/>
                </a:lnTo>
                <a:lnTo>
                  <a:pt x="976067" y="236803"/>
                </a:lnTo>
                <a:lnTo>
                  <a:pt x="977795" y="235438"/>
                </a:lnTo>
                <a:lnTo>
                  <a:pt x="978819" y="234856"/>
                </a:lnTo>
                <a:lnTo>
                  <a:pt x="979642" y="234688"/>
                </a:lnTo>
                <a:lnTo>
                  <a:pt x="980149" y="233884"/>
                </a:lnTo>
                <a:lnTo>
                  <a:pt x="980870" y="233675"/>
                </a:lnTo>
                <a:lnTo>
                  <a:pt x="981721" y="232396"/>
                </a:lnTo>
                <a:lnTo>
                  <a:pt x="981907" y="231280"/>
                </a:lnTo>
                <a:lnTo>
                  <a:pt x="986216" y="229270"/>
                </a:lnTo>
                <a:lnTo>
                  <a:pt x="986562" y="228602"/>
                </a:lnTo>
                <a:lnTo>
                  <a:pt x="986205" y="227910"/>
                </a:lnTo>
                <a:lnTo>
                  <a:pt x="986329" y="227340"/>
                </a:lnTo>
                <a:lnTo>
                  <a:pt x="987339" y="227228"/>
                </a:lnTo>
                <a:lnTo>
                  <a:pt x="988323" y="226368"/>
                </a:lnTo>
                <a:lnTo>
                  <a:pt x="988659" y="225745"/>
                </a:lnTo>
                <a:lnTo>
                  <a:pt x="991091" y="224524"/>
                </a:lnTo>
                <a:lnTo>
                  <a:pt x="991614" y="223313"/>
                </a:lnTo>
                <a:lnTo>
                  <a:pt x="993911" y="221829"/>
                </a:lnTo>
                <a:lnTo>
                  <a:pt x="994232" y="221039"/>
                </a:lnTo>
                <a:lnTo>
                  <a:pt x="994906" y="220313"/>
                </a:lnTo>
                <a:lnTo>
                  <a:pt x="994939" y="219343"/>
                </a:lnTo>
                <a:lnTo>
                  <a:pt x="995515" y="219134"/>
                </a:lnTo>
                <a:lnTo>
                  <a:pt x="995566" y="218769"/>
                </a:lnTo>
                <a:lnTo>
                  <a:pt x="995275" y="218611"/>
                </a:lnTo>
                <a:lnTo>
                  <a:pt x="995125" y="217985"/>
                </a:lnTo>
                <a:lnTo>
                  <a:pt x="995904" y="217680"/>
                </a:lnTo>
                <a:lnTo>
                  <a:pt x="996160" y="217886"/>
                </a:lnTo>
                <a:lnTo>
                  <a:pt x="996506" y="217814"/>
                </a:lnTo>
                <a:lnTo>
                  <a:pt x="997478" y="217344"/>
                </a:lnTo>
                <a:lnTo>
                  <a:pt x="997869" y="216869"/>
                </a:lnTo>
                <a:lnTo>
                  <a:pt x="999394" y="216234"/>
                </a:lnTo>
                <a:lnTo>
                  <a:pt x="1001790" y="213920"/>
                </a:lnTo>
                <a:lnTo>
                  <a:pt x="1002042" y="213213"/>
                </a:lnTo>
                <a:lnTo>
                  <a:pt x="1001667" y="212890"/>
                </a:lnTo>
                <a:lnTo>
                  <a:pt x="1002644" y="212416"/>
                </a:lnTo>
                <a:lnTo>
                  <a:pt x="1005592" y="209831"/>
                </a:lnTo>
                <a:lnTo>
                  <a:pt x="1005854" y="209125"/>
                </a:lnTo>
                <a:lnTo>
                  <a:pt x="1006687" y="208395"/>
                </a:lnTo>
                <a:lnTo>
                  <a:pt x="1006784" y="207463"/>
                </a:lnTo>
                <a:lnTo>
                  <a:pt x="1007221" y="206646"/>
                </a:lnTo>
                <a:lnTo>
                  <a:pt x="1008348" y="206438"/>
                </a:lnTo>
                <a:lnTo>
                  <a:pt x="1010193" y="205250"/>
                </a:lnTo>
                <a:lnTo>
                  <a:pt x="1010172" y="203791"/>
                </a:lnTo>
                <a:lnTo>
                  <a:pt x="1010492" y="202621"/>
                </a:lnTo>
                <a:lnTo>
                  <a:pt x="1012608" y="201169"/>
                </a:lnTo>
                <a:lnTo>
                  <a:pt x="1014356" y="198427"/>
                </a:lnTo>
                <a:lnTo>
                  <a:pt x="1015147" y="198228"/>
                </a:lnTo>
                <a:lnTo>
                  <a:pt x="1015130" y="197782"/>
                </a:lnTo>
                <a:lnTo>
                  <a:pt x="1014532" y="197480"/>
                </a:lnTo>
                <a:lnTo>
                  <a:pt x="1016790" y="196872"/>
                </a:lnTo>
                <a:lnTo>
                  <a:pt x="1017637" y="196083"/>
                </a:lnTo>
                <a:lnTo>
                  <a:pt x="1018739" y="194280"/>
                </a:lnTo>
                <a:lnTo>
                  <a:pt x="1018770" y="193919"/>
                </a:lnTo>
                <a:lnTo>
                  <a:pt x="1018320" y="193625"/>
                </a:lnTo>
                <a:lnTo>
                  <a:pt x="1022894" y="190110"/>
                </a:lnTo>
                <a:lnTo>
                  <a:pt x="1023451" y="188210"/>
                </a:lnTo>
                <a:lnTo>
                  <a:pt x="1023884" y="187892"/>
                </a:lnTo>
                <a:lnTo>
                  <a:pt x="1024110" y="187199"/>
                </a:lnTo>
                <a:lnTo>
                  <a:pt x="1025444" y="186530"/>
                </a:lnTo>
                <a:lnTo>
                  <a:pt x="1025775" y="185926"/>
                </a:lnTo>
                <a:lnTo>
                  <a:pt x="1025822" y="184824"/>
                </a:lnTo>
                <a:lnTo>
                  <a:pt x="1026881" y="184134"/>
                </a:lnTo>
                <a:lnTo>
                  <a:pt x="1028744" y="181051"/>
                </a:lnTo>
                <a:close/>
              </a:path>
            </a:pathLst>
          </a:custGeom>
          <a:solidFill>
            <a:srgbClr val="BACCE4"/>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Freeform 20"/>
          <p:cNvSpPr/>
          <p:nvPr/>
        </p:nvSpPr>
        <p:spPr>
          <a:xfrm>
            <a:off x="3729183" y="3741032"/>
            <a:ext cx="779703" cy="642342"/>
          </a:xfrm>
          <a:custGeom>
            <a:avLst/>
            <a:gdLst/>
            <a:ahLst/>
            <a:cxnLst/>
            <a:rect l="l" t="t" r="r" b="b"/>
            <a:pathLst>
              <a:path w="779703" h="642342">
                <a:moveTo>
                  <a:pt x="422806" y="585904"/>
                </a:moveTo>
                <a:lnTo>
                  <a:pt x="422808" y="585532"/>
                </a:lnTo>
                <a:lnTo>
                  <a:pt x="423754" y="584772"/>
                </a:lnTo>
                <a:lnTo>
                  <a:pt x="424150" y="585448"/>
                </a:lnTo>
                <a:lnTo>
                  <a:pt x="424724" y="585169"/>
                </a:lnTo>
                <a:lnTo>
                  <a:pt x="424866" y="584642"/>
                </a:lnTo>
                <a:lnTo>
                  <a:pt x="423997" y="583318"/>
                </a:lnTo>
                <a:lnTo>
                  <a:pt x="424340" y="582902"/>
                </a:lnTo>
                <a:lnTo>
                  <a:pt x="425266" y="583293"/>
                </a:lnTo>
                <a:lnTo>
                  <a:pt x="425388" y="582846"/>
                </a:lnTo>
                <a:lnTo>
                  <a:pt x="425152" y="582183"/>
                </a:lnTo>
                <a:lnTo>
                  <a:pt x="423771" y="582256"/>
                </a:lnTo>
                <a:lnTo>
                  <a:pt x="423292" y="581579"/>
                </a:lnTo>
                <a:lnTo>
                  <a:pt x="424611" y="580524"/>
                </a:lnTo>
                <a:lnTo>
                  <a:pt x="424050" y="579875"/>
                </a:lnTo>
                <a:lnTo>
                  <a:pt x="424667" y="579261"/>
                </a:lnTo>
                <a:lnTo>
                  <a:pt x="424681" y="578928"/>
                </a:lnTo>
                <a:lnTo>
                  <a:pt x="424419" y="578646"/>
                </a:lnTo>
                <a:lnTo>
                  <a:pt x="423765" y="578715"/>
                </a:lnTo>
                <a:lnTo>
                  <a:pt x="423400" y="577404"/>
                </a:lnTo>
                <a:lnTo>
                  <a:pt x="423034" y="577692"/>
                </a:lnTo>
                <a:lnTo>
                  <a:pt x="422915" y="578274"/>
                </a:lnTo>
                <a:lnTo>
                  <a:pt x="422531" y="578415"/>
                </a:lnTo>
                <a:lnTo>
                  <a:pt x="421902" y="578139"/>
                </a:lnTo>
                <a:lnTo>
                  <a:pt x="421600" y="577295"/>
                </a:lnTo>
                <a:lnTo>
                  <a:pt x="422064" y="576743"/>
                </a:lnTo>
                <a:lnTo>
                  <a:pt x="422171" y="576236"/>
                </a:lnTo>
                <a:lnTo>
                  <a:pt x="421504" y="574928"/>
                </a:lnTo>
                <a:lnTo>
                  <a:pt x="422224" y="573248"/>
                </a:lnTo>
                <a:lnTo>
                  <a:pt x="421719" y="571410"/>
                </a:lnTo>
                <a:lnTo>
                  <a:pt x="422261" y="569834"/>
                </a:lnTo>
                <a:lnTo>
                  <a:pt x="421651" y="568303"/>
                </a:lnTo>
                <a:lnTo>
                  <a:pt x="421998" y="567558"/>
                </a:lnTo>
                <a:lnTo>
                  <a:pt x="422865" y="566587"/>
                </a:lnTo>
                <a:lnTo>
                  <a:pt x="423122" y="565210"/>
                </a:lnTo>
                <a:lnTo>
                  <a:pt x="422567" y="565091"/>
                </a:lnTo>
                <a:lnTo>
                  <a:pt x="422160" y="564166"/>
                </a:lnTo>
                <a:lnTo>
                  <a:pt x="422542" y="563811"/>
                </a:lnTo>
                <a:lnTo>
                  <a:pt x="424050" y="564633"/>
                </a:lnTo>
                <a:lnTo>
                  <a:pt x="424663" y="564412"/>
                </a:lnTo>
                <a:lnTo>
                  <a:pt x="424714" y="562704"/>
                </a:lnTo>
                <a:lnTo>
                  <a:pt x="424013" y="562388"/>
                </a:lnTo>
                <a:lnTo>
                  <a:pt x="424010" y="561851"/>
                </a:lnTo>
                <a:lnTo>
                  <a:pt x="425191" y="561972"/>
                </a:lnTo>
                <a:lnTo>
                  <a:pt x="425502" y="561665"/>
                </a:lnTo>
                <a:lnTo>
                  <a:pt x="425647" y="560206"/>
                </a:lnTo>
                <a:lnTo>
                  <a:pt x="426969" y="559713"/>
                </a:lnTo>
                <a:lnTo>
                  <a:pt x="426953" y="558867"/>
                </a:lnTo>
                <a:lnTo>
                  <a:pt x="428043" y="558429"/>
                </a:lnTo>
                <a:lnTo>
                  <a:pt x="428195" y="557883"/>
                </a:lnTo>
                <a:lnTo>
                  <a:pt x="427421" y="557493"/>
                </a:lnTo>
                <a:lnTo>
                  <a:pt x="427844" y="556655"/>
                </a:lnTo>
                <a:lnTo>
                  <a:pt x="427141" y="555760"/>
                </a:lnTo>
                <a:lnTo>
                  <a:pt x="425434" y="556408"/>
                </a:lnTo>
                <a:lnTo>
                  <a:pt x="418583" y="556638"/>
                </a:lnTo>
                <a:lnTo>
                  <a:pt x="417866" y="556910"/>
                </a:lnTo>
                <a:lnTo>
                  <a:pt x="416585" y="556925"/>
                </a:lnTo>
                <a:lnTo>
                  <a:pt x="416072" y="555590"/>
                </a:lnTo>
                <a:lnTo>
                  <a:pt x="412759" y="542014"/>
                </a:lnTo>
                <a:lnTo>
                  <a:pt x="411995" y="541055"/>
                </a:lnTo>
                <a:lnTo>
                  <a:pt x="408890" y="539803"/>
                </a:lnTo>
                <a:lnTo>
                  <a:pt x="408507" y="538217"/>
                </a:lnTo>
                <a:lnTo>
                  <a:pt x="409108" y="537076"/>
                </a:lnTo>
                <a:lnTo>
                  <a:pt x="406921" y="537023"/>
                </a:lnTo>
                <a:lnTo>
                  <a:pt x="404314" y="534091"/>
                </a:lnTo>
                <a:lnTo>
                  <a:pt x="402094" y="534317"/>
                </a:lnTo>
                <a:lnTo>
                  <a:pt x="402843" y="533649"/>
                </a:lnTo>
                <a:lnTo>
                  <a:pt x="402723" y="532199"/>
                </a:lnTo>
                <a:lnTo>
                  <a:pt x="386159" y="488831"/>
                </a:lnTo>
                <a:lnTo>
                  <a:pt x="384330" y="487669"/>
                </a:lnTo>
                <a:lnTo>
                  <a:pt x="384999" y="487119"/>
                </a:lnTo>
                <a:lnTo>
                  <a:pt x="381742" y="484725"/>
                </a:lnTo>
                <a:lnTo>
                  <a:pt x="378225" y="480110"/>
                </a:lnTo>
                <a:lnTo>
                  <a:pt x="376828" y="479128"/>
                </a:lnTo>
                <a:lnTo>
                  <a:pt x="376275" y="478316"/>
                </a:lnTo>
                <a:lnTo>
                  <a:pt x="375605" y="478400"/>
                </a:lnTo>
                <a:lnTo>
                  <a:pt x="375630" y="477992"/>
                </a:lnTo>
                <a:lnTo>
                  <a:pt x="374752" y="477449"/>
                </a:lnTo>
                <a:lnTo>
                  <a:pt x="374561" y="475449"/>
                </a:lnTo>
                <a:lnTo>
                  <a:pt x="376616" y="474441"/>
                </a:lnTo>
                <a:lnTo>
                  <a:pt x="376921" y="473940"/>
                </a:lnTo>
                <a:lnTo>
                  <a:pt x="376526" y="472226"/>
                </a:lnTo>
                <a:lnTo>
                  <a:pt x="375510" y="470774"/>
                </a:lnTo>
                <a:lnTo>
                  <a:pt x="375634" y="470368"/>
                </a:lnTo>
                <a:lnTo>
                  <a:pt x="377074" y="470225"/>
                </a:lnTo>
                <a:lnTo>
                  <a:pt x="377839" y="469875"/>
                </a:lnTo>
                <a:lnTo>
                  <a:pt x="378219" y="471190"/>
                </a:lnTo>
                <a:lnTo>
                  <a:pt x="379093" y="472490"/>
                </a:lnTo>
                <a:lnTo>
                  <a:pt x="379834" y="473284"/>
                </a:lnTo>
                <a:lnTo>
                  <a:pt x="381015" y="473767"/>
                </a:lnTo>
                <a:lnTo>
                  <a:pt x="382308" y="470967"/>
                </a:lnTo>
                <a:lnTo>
                  <a:pt x="382083" y="469693"/>
                </a:lnTo>
                <a:lnTo>
                  <a:pt x="382460" y="468853"/>
                </a:lnTo>
                <a:lnTo>
                  <a:pt x="382256" y="467716"/>
                </a:lnTo>
                <a:lnTo>
                  <a:pt x="382456" y="467388"/>
                </a:lnTo>
                <a:lnTo>
                  <a:pt x="382905" y="467481"/>
                </a:lnTo>
                <a:lnTo>
                  <a:pt x="383718" y="468200"/>
                </a:lnTo>
                <a:lnTo>
                  <a:pt x="384202" y="469755"/>
                </a:lnTo>
                <a:lnTo>
                  <a:pt x="384542" y="470235"/>
                </a:lnTo>
                <a:lnTo>
                  <a:pt x="385032" y="470316"/>
                </a:lnTo>
                <a:lnTo>
                  <a:pt x="385642" y="469266"/>
                </a:lnTo>
                <a:lnTo>
                  <a:pt x="386427" y="468668"/>
                </a:lnTo>
                <a:lnTo>
                  <a:pt x="388037" y="468452"/>
                </a:lnTo>
                <a:lnTo>
                  <a:pt x="387789" y="466404"/>
                </a:lnTo>
                <a:lnTo>
                  <a:pt x="389285" y="465624"/>
                </a:lnTo>
                <a:lnTo>
                  <a:pt x="390008" y="464435"/>
                </a:lnTo>
                <a:lnTo>
                  <a:pt x="391510" y="463826"/>
                </a:lnTo>
                <a:lnTo>
                  <a:pt x="392236" y="463796"/>
                </a:lnTo>
                <a:lnTo>
                  <a:pt x="393067" y="464102"/>
                </a:lnTo>
                <a:lnTo>
                  <a:pt x="394968" y="461866"/>
                </a:lnTo>
                <a:lnTo>
                  <a:pt x="395612" y="461659"/>
                </a:lnTo>
                <a:lnTo>
                  <a:pt x="396494" y="462146"/>
                </a:lnTo>
                <a:lnTo>
                  <a:pt x="399277" y="462763"/>
                </a:lnTo>
                <a:lnTo>
                  <a:pt x="399899" y="463420"/>
                </a:lnTo>
                <a:lnTo>
                  <a:pt x="400662" y="463071"/>
                </a:lnTo>
                <a:lnTo>
                  <a:pt x="401752" y="463278"/>
                </a:lnTo>
                <a:lnTo>
                  <a:pt x="402587" y="462815"/>
                </a:lnTo>
                <a:lnTo>
                  <a:pt x="402255" y="461966"/>
                </a:lnTo>
                <a:lnTo>
                  <a:pt x="402375" y="461543"/>
                </a:lnTo>
                <a:lnTo>
                  <a:pt x="404513" y="460262"/>
                </a:lnTo>
                <a:lnTo>
                  <a:pt x="404375" y="459666"/>
                </a:lnTo>
                <a:lnTo>
                  <a:pt x="404593" y="459459"/>
                </a:lnTo>
                <a:lnTo>
                  <a:pt x="405267" y="459339"/>
                </a:lnTo>
                <a:lnTo>
                  <a:pt x="405863" y="461063"/>
                </a:lnTo>
                <a:lnTo>
                  <a:pt x="406837" y="460899"/>
                </a:lnTo>
                <a:lnTo>
                  <a:pt x="407611" y="461151"/>
                </a:lnTo>
                <a:lnTo>
                  <a:pt x="409337" y="460071"/>
                </a:lnTo>
                <a:lnTo>
                  <a:pt x="409235" y="458348"/>
                </a:lnTo>
                <a:lnTo>
                  <a:pt x="409591" y="457782"/>
                </a:lnTo>
                <a:lnTo>
                  <a:pt x="410366" y="457808"/>
                </a:lnTo>
                <a:lnTo>
                  <a:pt x="412371" y="456737"/>
                </a:lnTo>
                <a:lnTo>
                  <a:pt x="413247" y="457031"/>
                </a:lnTo>
                <a:lnTo>
                  <a:pt x="414063" y="457920"/>
                </a:lnTo>
                <a:lnTo>
                  <a:pt x="415857" y="457821"/>
                </a:lnTo>
                <a:lnTo>
                  <a:pt x="416428" y="457995"/>
                </a:lnTo>
                <a:lnTo>
                  <a:pt x="416240" y="456000"/>
                </a:lnTo>
                <a:lnTo>
                  <a:pt x="415861" y="455405"/>
                </a:lnTo>
                <a:lnTo>
                  <a:pt x="415717" y="454576"/>
                </a:lnTo>
                <a:lnTo>
                  <a:pt x="416440" y="453611"/>
                </a:lnTo>
                <a:lnTo>
                  <a:pt x="416354" y="452652"/>
                </a:lnTo>
                <a:lnTo>
                  <a:pt x="416602" y="452164"/>
                </a:lnTo>
                <a:lnTo>
                  <a:pt x="419974" y="449600"/>
                </a:lnTo>
                <a:lnTo>
                  <a:pt x="420539" y="449610"/>
                </a:lnTo>
                <a:lnTo>
                  <a:pt x="421447" y="450486"/>
                </a:lnTo>
                <a:lnTo>
                  <a:pt x="422448" y="450837"/>
                </a:lnTo>
                <a:lnTo>
                  <a:pt x="424398" y="450532"/>
                </a:lnTo>
                <a:lnTo>
                  <a:pt x="424783" y="449382"/>
                </a:lnTo>
                <a:lnTo>
                  <a:pt x="423869" y="447427"/>
                </a:lnTo>
                <a:lnTo>
                  <a:pt x="424087" y="446485"/>
                </a:lnTo>
                <a:lnTo>
                  <a:pt x="423930" y="445190"/>
                </a:lnTo>
                <a:lnTo>
                  <a:pt x="424724" y="444782"/>
                </a:lnTo>
                <a:lnTo>
                  <a:pt x="425893" y="444612"/>
                </a:lnTo>
                <a:lnTo>
                  <a:pt x="426545" y="443727"/>
                </a:lnTo>
                <a:lnTo>
                  <a:pt x="427283" y="443369"/>
                </a:lnTo>
                <a:lnTo>
                  <a:pt x="427640" y="442048"/>
                </a:lnTo>
                <a:lnTo>
                  <a:pt x="428664" y="441224"/>
                </a:lnTo>
                <a:lnTo>
                  <a:pt x="429074" y="440535"/>
                </a:lnTo>
                <a:lnTo>
                  <a:pt x="429048" y="439454"/>
                </a:lnTo>
                <a:lnTo>
                  <a:pt x="429627" y="438673"/>
                </a:lnTo>
                <a:lnTo>
                  <a:pt x="430767" y="439157"/>
                </a:lnTo>
                <a:lnTo>
                  <a:pt x="431960" y="438734"/>
                </a:lnTo>
                <a:lnTo>
                  <a:pt x="432792" y="438718"/>
                </a:lnTo>
                <a:lnTo>
                  <a:pt x="433688" y="437700"/>
                </a:lnTo>
                <a:lnTo>
                  <a:pt x="433342" y="436503"/>
                </a:lnTo>
                <a:lnTo>
                  <a:pt x="433365" y="434977"/>
                </a:lnTo>
                <a:lnTo>
                  <a:pt x="431746" y="433433"/>
                </a:lnTo>
                <a:lnTo>
                  <a:pt x="431195" y="432334"/>
                </a:lnTo>
                <a:lnTo>
                  <a:pt x="431199" y="431497"/>
                </a:lnTo>
                <a:lnTo>
                  <a:pt x="431413" y="431135"/>
                </a:lnTo>
                <a:lnTo>
                  <a:pt x="431884" y="431115"/>
                </a:lnTo>
                <a:lnTo>
                  <a:pt x="434110" y="432764"/>
                </a:lnTo>
                <a:lnTo>
                  <a:pt x="434615" y="432853"/>
                </a:lnTo>
                <a:lnTo>
                  <a:pt x="434946" y="432661"/>
                </a:lnTo>
                <a:lnTo>
                  <a:pt x="435383" y="432231"/>
                </a:lnTo>
                <a:lnTo>
                  <a:pt x="435746" y="431270"/>
                </a:lnTo>
                <a:lnTo>
                  <a:pt x="435258" y="429324"/>
                </a:lnTo>
                <a:lnTo>
                  <a:pt x="435687" y="426435"/>
                </a:lnTo>
                <a:lnTo>
                  <a:pt x="436866" y="425585"/>
                </a:lnTo>
                <a:lnTo>
                  <a:pt x="439186" y="425310"/>
                </a:lnTo>
                <a:lnTo>
                  <a:pt x="440833" y="424342"/>
                </a:lnTo>
                <a:lnTo>
                  <a:pt x="440800" y="424000"/>
                </a:lnTo>
                <a:lnTo>
                  <a:pt x="439792" y="423233"/>
                </a:lnTo>
                <a:lnTo>
                  <a:pt x="439667" y="422272"/>
                </a:lnTo>
                <a:lnTo>
                  <a:pt x="438738" y="421885"/>
                </a:lnTo>
                <a:lnTo>
                  <a:pt x="438437" y="420642"/>
                </a:lnTo>
                <a:lnTo>
                  <a:pt x="439476" y="420452"/>
                </a:lnTo>
                <a:lnTo>
                  <a:pt x="440011" y="420112"/>
                </a:lnTo>
                <a:lnTo>
                  <a:pt x="440862" y="420327"/>
                </a:lnTo>
                <a:lnTo>
                  <a:pt x="442141" y="420094"/>
                </a:lnTo>
                <a:lnTo>
                  <a:pt x="442648" y="420570"/>
                </a:lnTo>
                <a:lnTo>
                  <a:pt x="442650" y="421415"/>
                </a:lnTo>
                <a:lnTo>
                  <a:pt x="443310" y="421467"/>
                </a:lnTo>
                <a:lnTo>
                  <a:pt x="443661" y="421231"/>
                </a:lnTo>
                <a:lnTo>
                  <a:pt x="443473" y="420200"/>
                </a:lnTo>
                <a:lnTo>
                  <a:pt x="444046" y="419521"/>
                </a:lnTo>
                <a:lnTo>
                  <a:pt x="444180" y="418601"/>
                </a:lnTo>
                <a:lnTo>
                  <a:pt x="444856" y="418688"/>
                </a:lnTo>
                <a:lnTo>
                  <a:pt x="445623" y="418345"/>
                </a:lnTo>
                <a:lnTo>
                  <a:pt x="446388" y="418528"/>
                </a:lnTo>
                <a:lnTo>
                  <a:pt x="446955" y="418338"/>
                </a:lnTo>
                <a:lnTo>
                  <a:pt x="447784" y="417450"/>
                </a:lnTo>
                <a:lnTo>
                  <a:pt x="448512" y="415844"/>
                </a:lnTo>
                <a:lnTo>
                  <a:pt x="450780" y="414904"/>
                </a:lnTo>
                <a:lnTo>
                  <a:pt x="451557" y="413736"/>
                </a:lnTo>
                <a:lnTo>
                  <a:pt x="451795" y="412756"/>
                </a:lnTo>
                <a:lnTo>
                  <a:pt x="451022" y="411928"/>
                </a:lnTo>
                <a:lnTo>
                  <a:pt x="449882" y="411707"/>
                </a:lnTo>
                <a:lnTo>
                  <a:pt x="449412" y="411175"/>
                </a:lnTo>
                <a:lnTo>
                  <a:pt x="448637" y="411783"/>
                </a:lnTo>
                <a:lnTo>
                  <a:pt x="448246" y="411752"/>
                </a:lnTo>
                <a:lnTo>
                  <a:pt x="448011" y="411377"/>
                </a:lnTo>
                <a:lnTo>
                  <a:pt x="448567" y="410765"/>
                </a:lnTo>
                <a:lnTo>
                  <a:pt x="448634" y="410303"/>
                </a:lnTo>
                <a:lnTo>
                  <a:pt x="447986" y="409514"/>
                </a:lnTo>
                <a:lnTo>
                  <a:pt x="447249" y="409264"/>
                </a:lnTo>
                <a:lnTo>
                  <a:pt x="447289" y="409097"/>
                </a:lnTo>
                <a:lnTo>
                  <a:pt x="448798" y="407946"/>
                </a:lnTo>
                <a:lnTo>
                  <a:pt x="449384" y="408353"/>
                </a:lnTo>
                <a:lnTo>
                  <a:pt x="450157" y="408067"/>
                </a:lnTo>
                <a:lnTo>
                  <a:pt x="450992" y="406228"/>
                </a:lnTo>
                <a:lnTo>
                  <a:pt x="451717" y="405895"/>
                </a:lnTo>
                <a:lnTo>
                  <a:pt x="452567" y="404697"/>
                </a:lnTo>
                <a:lnTo>
                  <a:pt x="453213" y="404347"/>
                </a:lnTo>
                <a:lnTo>
                  <a:pt x="454510" y="404161"/>
                </a:lnTo>
                <a:lnTo>
                  <a:pt x="454824" y="403389"/>
                </a:lnTo>
                <a:lnTo>
                  <a:pt x="455925" y="402967"/>
                </a:lnTo>
                <a:lnTo>
                  <a:pt x="456201" y="402571"/>
                </a:lnTo>
                <a:lnTo>
                  <a:pt x="456464" y="400878"/>
                </a:lnTo>
                <a:lnTo>
                  <a:pt x="456830" y="400016"/>
                </a:lnTo>
                <a:lnTo>
                  <a:pt x="458240" y="400025"/>
                </a:lnTo>
                <a:lnTo>
                  <a:pt x="458553" y="400579"/>
                </a:lnTo>
                <a:lnTo>
                  <a:pt x="459029" y="400857"/>
                </a:lnTo>
                <a:lnTo>
                  <a:pt x="459579" y="400453"/>
                </a:lnTo>
                <a:lnTo>
                  <a:pt x="460447" y="400344"/>
                </a:lnTo>
                <a:lnTo>
                  <a:pt x="461577" y="399809"/>
                </a:lnTo>
                <a:lnTo>
                  <a:pt x="462027" y="398753"/>
                </a:lnTo>
                <a:lnTo>
                  <a:pt x="462017" y="397913"/>
                </a:lnTo>
                <a:lnTo>
                  <a:pt x="460058" y="395884"/>
                </a:lnTo>
                <a:lnTo>
                  <a:pt x="459901" y="395396"/>
                </a:lnTo>
                <a:lnTo>
                  <a:pt x="461269" y="394855"/>
                </a:lnTo>
                <a:lnTo>
                  <a:pt x="462298" y="395183"/>
                </a:lnTo>
                <a:lnTo>
                  <a:pt x="464401" y="394624"/>
                </a:lnTo>
                <a:lnTo>
                  <a:pt x="464835" y="393336"/>
                </a:lnTo>
                <a:lnTo>
                  <a:pt x="464159" y="392738"/>
                </a:lnTo>
                <a:lnTo>
                  <a:pt x="464427" y="392012"/>
                </a:lnTo>
                <a:lnTo>
                  <a:pt x="465160" y="392019"/>
                </a:lnTo>
                <a:lnTo>
                  <a:pt x="466038" y="392595"/>
                </a:lnTo>
                <a:lnTo>
                  <a:pt x="466338" y="392458"/>
                </a:lnTo>
                <a:lnTo>
                  <a:pt x="467012" y="391095"/>
                </a:lnTo>
                <a:lnTo>
                  <a:pt x="466926" y="390445"/>
                </a:lnTo>
                <a:lnTo>
                  <a:pt x="467275" y="389831"/>
                </a:lnTo>
                <a:lnTo>
                  <a:pt x="466738" y="388917"/>
                </a:lnTo>
                <a:lnTo>
                  <a:pt x="467165" y="388171"/>
                </a:lnTo>
                <a:lnTo>
                  <a:pt x="466589" y="387309"/>
                </a:lnTo>
                <a:lnTo>
                  <a:pt x="465601" y="387254"/>
                </a:lnTo>
                <a:lnTo>
                  <a:pt x="465702" y="386629"/>
                </a:lnTo>
                <a:lnTo>
                  <a:pt x="467005" y="386138"/>
                </a:lnTo>
                <a:lnTo>
                  <a:pt x="467776" y="386682"/>
                </a:lnTo>
                <a:lnTo>
                  <a:pt x="468086" y="387304"/>
                </a:lnTo>
                <a:lnTo>
                  <a:pt x="468560" y="387467"/>
                </a:lnTo>
                <a:lnTo>
                  <a:pt x="469302" y="386136"/>
                </a:lnTo>
                <a:lnTo>
                  <a:pt x="470241" y="386404"/>
                </a:lnTo>
                <a:lnTo>
                  <a:pt x="470659" y="386086"/>
                </a:lnTo>
                <a:lnTo>
                  <a:pt x="470906" y="385498"/>
                </a:lnTo>
                <a:lnTo>
                  <a:pt x="470573" y="384920"/>
                </a:lnTo>
                <a:lnTo>
                  <a:pt x="470848" y="384400"/>
                </a:lnTo>
                <a:lnTo>
                  <a:pt x="470633" y="384131"/>
                </a:lnTo>
                <a:lnTo>
                  <a:pt x="469584" y="383847"/>
                </a:lnTo>
                <a:lnTo>
                  <a:pt x="468557" y="382553"/>
                </a:lnTo>
                <a:lnTo>
                  <a:pt x="467815" y="383446"/>
                </a:lnTo>
                <a:lnTo>
                  <a:pt x="467436" y="383436"/>
                </a:lnTo>
                <a:lnTo>
                  <a:pt x="467533" y="382615"/>
                </a:lnTo>
                <a:lnTo>
                  <a:pt x="466398" y="382561"/>
                </a:lnTo>
                <a:lnTo>
                  <a:pt x="465992" y="380883"/>
                </a:lnTo>
                <a:lnTo>
                  <a:pt x="466835" y="380656"/>
                </a:lnTo>
                <a:lnTo>
                  <a:pt x="467003" y="380347"/>
                </a:lnTo>
                <a:lnTo>
                  <a:pt x="467402" y="380234"/>
                </a:lnTo>
                <a:lnTo>
                  <a:pt x="467933" y="381104"/>
                </a:lnTo>
                <a:lnTo>
                  <a:pt x="468441" y="381420"/>
                </a:lnTo>
                <a:lnTo>
                  <a:pt x="468812" y="381080"/>
                </a:lnTo>
                <a:lnTo>
                  <a:pt x="470477" y="380722"/>
                </a:lnTo>
                <a:lnTo>
                  <a:pt x="470868" y="379917"/>
                </a:lnTo>
                <a:lnTo>
                  <a:pt x="470808" y="379007"/>
                </a:lnTo>
                <a:lnTo>
                  <a:pt x="470091" y="378400"/>
                </a:lnTo>
                <a:lnTo>
                  <a:pt x="470145" y="378023"/>
                </a:lnTo>
                <a:lnTo>
                  <a:pt x="470820" y="377832"/>
                </a:lnTo>
                <a:lnTo>
                  <a:pt x="471702" y="378251"/>
                </a:lnTo>
                <a:lnTo>
                  <a:pt x="471778" y="377545"/>
                </a:lnTo>
                <a:lnTo>
                  <a:pt x="472394" y="377732"/>
                </a:lnTo>
                <a:lnTo>
                  <a:pt x="472692" y="377439"/>
                </a:lnTo>
                <a:lnTo>
                  <a:pt x="471729" y="376320"/>
                </a:lnTo>
                <a:lnTo>
                  <a:pt x="471989" y="374741"/>
                </a:lnTo>
                <a:lnTo>
                  <a:pt x="472380" y="374277"/>
                </a:lnTo>
                <a:lnTo>
                  <a:pt x="473370" y="374511"/>
                </a:lnTo>
                <a:lnTo>
                  <a:pt x="475237" y="375647"/>
                </a:lnTo>
                <a:lnTo>
                  <a:pt x="476000" y="375703"/>
                </a:lnTo>
                <a:lnTo>
                  <a:pt x="476370" y="375442"/>
                </a:lnTo>
                <a:lnTo>
                  <a:pt x="476907" y="373885"/>
                </a:lnTo>
                <a:lnTo>
                  <a:pt x="476563" y="373410"/>
                </a:lnTo>
                <a:lnTo>
                  <a:pt x="476848" y="372473"/>
                </a:lnTo>
                <a:lnTo>
                  <a:pt x="475903" y="372288"/>
                </a:lnTo>
                <a:lnTo>
                  <a:pt x="475635" y="370955"/>
                </a:lnTo>
                <a:lnTo>
                  <a:pt x="475788" y="370792"/>
                </a:lnTo>
                <a:lnTo>
                  <a:pt x="476965" y="371002"/>
                </a:lnTo>
                <a:lnTo>
                  <a:pt x="477856" y="369936"/>
                </a:lnTo>
                <a:lnTo>
                  <a:pt x="478202" y="368618"/>
                </a:lnTo>
                <a:lnTo>
                  <a:pt x="477531" y="367898"/>
                </a:lnTo>
                <a:lnTo>
                  <a:pt x="477688" y="367032"/>
                </a:lnTo>
                <a:lnTo>
                  <a:pt x="478330" y="366851"/>
                </a:lnTo>
                <a:lnTo>
                  <a:pt x="478370" y="366295"/>
                </a:lnTo>
                <a:lnTo>
                  <a:pt x="478008" y="366077"/>
                </a:lnTo>
                <a:lnTo>
                  <a:pt x="478016" y="365712"/>
                </a:lnTo>
                <a:lnTo>
                  <a:pt x="478739" y="365939"/>
                </a:lnTo>
                <a:lnTo>
                  <a:pt x="478949" y="365298"/>
                </a:lnTo>
                <a:lnTo>
                  <a:pt x="479740" y="364976"/>
                </a:lnTo>
                <a:lnTo>
                  <a:pt x="480365" y="363906"/>
                </a:lnTo>
                <a:lnTo>
                  <a:pt x="480813" y="364643"/>
                </a:lnTo>
                <a:lnTo>
                  <a:pt x="481284" y="364607"/>
                </a:lnTo>
                <a:lnTo>
                  <a:pt x="480865" y="363889"/>
                </a:lnTo>
                <a:lnTo>
                  <a:pt x="480976" y="363596"/>
                </a:lnTo>
                <a:lnTo>
                  <a:pt x="481497" y="364089"/>
                </a:lnTo>
                <a:lnTo>
                  <a:pt x="481615" y="364580"/>
                </a:lnTo>
                <a:lnTo>
                  <a:pt x="483272" y="364590"/>
                </a:lnTo>
                <a:lnTo>
                  <a:pt x="483570" y="364054"/>
                </a:lnTo>
                <a:lnTo>
                  <a:pt x="482873" y="363418"/>
                </a:lnTo>
                <a:lnTo>
                  <a:pt x="483558" y="362810"/>
                </a:lnTo>
                <a:lnTo>
                  <a:pt x="484154" y="361831"/>
                </a:lnTo>
                <a:lnTo>
                  <a:pt x="484352" y="360696"/>
                </a:lnTo>
                <a:lnTo>
                  <a:pt x="483756" y="359958"/>
                </a:lnTo>
                <a:lnTo>
                  <a:pt x="482989" y="359924"/>
                </a:lnTo>
                <a:lnTo>
                  <a:pt x="482718" y="359262"/>
                </a:lnTo>
                <a:lnTo>
                  <a:pt x="482655" y="357475"/>
                </a:lnTo>
                <a:lnTo>
                  <a:pt x="483889" y="357539"/>
                </a:lnTo>
                <a:lnTo>
                  <a:pt x="485902" y="359117"/>
                </a:lnTo>
                <a:lnTo>
                  <a:pt x="487226" y="359577"/>
                </a:lnTo>
                <a:lnTo>
                  <a:pt x="488171" y="359556"/>
                </a:lnTo>
                <a:lnTo>
                  <a:pt x="487913" y="360409"/>
                </a:lnTo>
                <a:lnTo>
                  <a:pt x="488805" y="361054"/>
                </a:lnTo>
                <a:lnTo>
                  <a:pt x="490160" y="360866"/>
                </a:lnTo>
                <a:lnTo>
                  <a:pt x="491341" y="361565"/>
                </a:lnTo>
                <a:lnTo>
                  <a:pt x="492875" y="360258"/>
                </a:lnTo>
                <a:lnTo>
                  <a:pt x="493529" y="360285"/>
                </a:lnTo>
                <a:lnTo>
                  <a:pt x="493261" y="359624"/>
                </a:lnTo>
                <a:lnTo>
                  <a:pt x="493354" y="358800"/>
                </a:lnTo>
                <a:lnTo>
                  <a:pt x="494692" y="360728"/>
                </a:lnTo>
                <a:lnTo>
                  <a:pt x="495892" y="359847"/>
                </a:lnTo>
                <a:lnTo>
                  <a:pt x="495860" y="358927"/>
                </a:lnTo>
                <a:lnTo>
                  <a:pt x="496419" y="358809"/>
                </a:lnTo>
                <a:lnTo>
                  <a:pt x="496746" y="359894"/>
                </a:lnTo>
                <a:lnTo>
                  <a:pt x="497367" y="360033"/>
                </a:lnTo>
                <a:lnTo>
                  <a:pt x="497474" y="360614"/>
                </a:lnTo>
                <a:lnTo>
                  <a:pt x="498123" y="360560"/>
                </a:lnTo>
                <a:lnTo>
                  <a:pt x="498781" y="361580"/>
                </a:lnTo>
                <a:lnTo>
                  <a:pt x="500293" y="361226"/>
                </a:lnTo>
                <a:lnTo>
                  <a:pt x="500873" y="360853"/>
                </a:lnTo>
                <a:lnTo>
                  <a:pt x="501562" y="361177"/>
                </a:lnTo>
                <a:lnTo>
                  <a:pt x="501920" y="360815"/>
                </a:lnTo>
                <a:lnTo>
                  <a:pt x="501984" y="360197"/>
                </a:lnTo>
                <a:lnTo>
                  <a:pt x="502720" y="359896"/>
                </a:lnTo>
                <a:lnTo>
                  <a:pt x="503018" y="358916"/>
                </a:lnTo>
                <a:lnTo>
                  <a:pt x="502988" y="358143"/>
                </a:lnTo>
                <a:lnTo>
                  <a:pt x="503337" y="357591"/>
                </a:lnTo>
                <a:lnTo>
                  <a:pt x="503032" y="356970"/>
                </a:lnTo>
                <a:lnTo>
                  <a:pt x="502352" y="357045"/>
                </a:lnTo>
                <a:lnTo>
                  <a:pt x="501631" y="356620"/>
                </a:lnTo>
                <a:lnTo>
                  <a:pt x="502420" y="355168"/>
                </a:lnTo>
                <a:lnTo>
                  <a:pt x="503404" y="355088"/>
                </a:lnTo>
                <a:lnTo>
                  <a:pt x="504599" y="355615"/>
                </a:lnTo>
                <a:lnTo>
                  <a:pt x="506236" y="355001"/>
                </a:lnTo>
                <a:lnTo>
                  <a:pt x="506278" y="354112"/>
                </a:lnTo>
                <a:lnTo>
                  <a:pt x="505700" y="353173"/>
                </a:lnTo>
                <a:lnTo>
                  <a:pt x="506145" y="352232"/>
                </a:lnTo>
                <a:lnTo>
                  <a:pt x="506486" y="352040"/>
                </a:lnTo>
                <a:lnTo>
                  <a:pt x="507370" y="352533"/>
                </a:lnTo>
                <a:lnTo>
                  <a:pt x="507288" y="351713"/>
                </a:lnTo>
                <a:lnTo>
                  <a:pt x="507750" y="351095"/>
                </a:lnTo>
                <a:lnTo>
                  <a:pt x="508987" y="351034"/>
                </a:lnTo>
                <a:lnTo>
                  <a:pt x="508987" y="350391"/>
                </a:lnTo>
                <a:lnTo>
                  <a:pt x="510377" y="351112"/>
                </a:lnTo>
                <a:lnTo>
                  <a:pt x="511349" y="352057"/>
                </a:lnTo>
                <a:lnTo>
                  <a:pt x="512239" y="352317"/>
                </a:lnTo>
                <a:lnTo>
                  <a:pt x="512306" y="353290"/>
                </a:lnTo>
                <a:lnTo>
                  <a:pt x="512746" y="354165"/>
                </a:lnTo>
                <a:lnTo>
                  <a:pt x="513334" y="354714"/>
                </a:lnTo>
                <a:lnTo>
                  <a:pt x="515288" y="355204"/>
                </a:lnTo>
                <a:lnTo>
                  <a:pt x="516194" y="356206"/>
                </a:lnTo>
                <a:lnTo>
                  <a:pt x="516420" y="355806"/>
                </a:lnTo>
                <a:lnTo>
                  <a:pt x="515738" y="355225"/>
                </a:lnTo>
                <a:lnTo>
                  <a:pt x="516637" y="355112"/>
                </a:lnTo>
                <a:lnTo>
                  <a:pt x="516738" y="354565"/>
                </a:lnTo>
                <a:lnTo>
                  <a:pt x="516991" y="354460"/>
                </a:lnTo>
                <a:lnTo>
                  <a:pt x="517535" y="355353"/>
                </a:lnTo>
                <a:lnTo>
                  <a:pt x="517864" y="355214"/>
                </a:lnTo>
                <a:lnTo>
                  <a:pt x="518271" y="354437"/>
                </a:lnTo>
                <a:lnTo>
                  <a:pt x="518659" y="354633"/>
                </a:lnTo>
                <a:lnTo>
                  <a:pt x="519388" y="355815"/>
                </a:lnTo>
                <a:lnTo>
                  <a:pt x="520162" y="355156"/>
                </a:lnTo>
                <a:lnTo>
                  <a:pt x="521061" y="354936"/>
                </a:lnTo>
                <a:lnTo>
                  <a:pt x="521633" y="355762"/>
                </a:lnTo>
                <a:lnTo>
                  <a:pt x="521843" y="355360"/>
                </a:lnTo>
                <a:lnTo>
                  <a:pt x="521620" y="354859"/>
                </a:lnTo>
                <a:lnTo>
                  <a:pt x="522392" y="354985"/>
                </a:lnTo>
                <a:lnTo>
                  <a:pt x="521959" y="354639"/>
                </a:lnTo>
                <a:lnTo>
                  <a:pt x="522207" y="353921"/>
                </a:lnTo>
                <a:lnTo>
                  <a:pt x="521603" y="353763"/>
                </a:lnTo>
                <a:lnTo>
                  <a:pt x="521913" y="353472"/>
                </a:lnTo>
                <a:lnTo>
                  <a:pt x="521851" y="352652"/>
                </a:lnTo>
                <a:lnTo>
                  <a:pt x="521277" y="353057"/>
                </a:lnTo>
                <a:lnTo>
                  <a:pt x="521041" y="352560"/>
                </a:lnTo>
                <a:lnTo>
                  <a:pt x="521707" y="351976"/>
                </a:lnTo>
                <a:lnTo>
                  <a:pt x="522131" y="352051"/>
                </a:lnTo>
                <a:lnTo>
                  <a:pt x="522814" y="351096"/>
                </a:lnTo>
                <a:lnTo>
                  <a:pt x="523429" y="351219"/>
                </a:lnTo>
                <a:lnTo>
                  <a:pt x="523560" y="350536"/>
                </a:lnTo>
                <a:lnTo>
                  <a:pt x="524050" y="350418"/>
                </a:lnTo>
                <a:lnTo>
                  <a:pt x="524509" y="349827"/>
                </a:lnTo>
                <a:lnTo>
                  <a:pt x="525026" y="350237"/>
                </a:lnTo>
                <a:lnTo>
                  <a:pt x="525465" y="349813"/>
                </a:lnTo>
                <a:lnTo>
                  <a:pt x="525471" y="348748"/>
                </a:lnTo>
                <a:lnTo>
                  <a:pt x="524896" y="347953"/>
                </a:lnTo>
                <a:lnTo>
                  <a:pt x="525186" y="347423"/>
                </a:lnTo>
                <a:lnTo>
                  <a:pt x="525055" y="346037"/>
                </a:lnTo>
                <a:lnTo>
                  <a:pt x="526257" y="345488"/>
                </a:lnTo>
                <a:lnTo>
                  <a:pt x="528241" y="345787"/>
                </a:lnTo>
                <a:lnTo>
                  <a:pt x="528489" y="345656"/>
                </a:lnTo>
                <a:lnTo>
                  <a:pt x="528586" y="345033"/>
                </a:lnTo>
                <a:lnTo>
                  <a:pt x="529005" y="344920"/>
                </a:lnTo>
                <a:lnTo>
                  <a:pt x="528871" y="344434"/>
                </a:lnTo>
                <a:lnTo>
                  <a:pt x="529345" y="344275"/>
                </a:lnTo>
                <a:lnTo>
                  <a:pt x="530259" y="343265"/>
                </a:lnTo>
                <a:lnTo>
                  <a:pt x="530120" y="342348"/>
                </a:lnTo>
                <a:lnTo>
                  <a:pt x="529715" y="342189"/>
                </a:lnTo>
                <a:lnTo>
                  <a:pt x="530644" y="342184"/>
                </a:lnTo>
                <a:lnTo>
                  <a:pt x="531550" y="340978"/>
                </a:lnTo>
                <a:lnTo>
                  <a:pt x="531448" y="340663"/>
                </a:lnTo>
                <a:lnTo>
                  <a:pt x="531913" y="340444"/>
                </a:lnTo>
                <a:lnTo>
                  <a:pt x="531694" y="339846"/>
                </a:lnTo>
                <a:lnTo>
                  <a:pt x="532311" y="338294"/>
                </a:lnTo>
                <a:lnTo>
                  <a:pt x="532643" y="337898"/>
                </a:lnTo>
                <a:lnTo>
                  <a:pt x="533484" y="337774"/>
                </a:lnTo>
                <a:lnTo>
                  <a:pt x="534309" y="336623"/>
                </a:lnTo>
                <a:lnTo>
                  <a:pt x="535188" y="336619"/>
                </a:lnTo>
                <a:lnTo>
                  <a:pt x="535146" y="334056"/>
                </a:lnTo>
                <a:lnTo>
                  <a:pt x="535570" y="333896"/>
                </a:lnTo>
                <a:lnTo>
                  <a:pt x="535976" y="334657"/>
                </a:lnTo>
                <a:lnTo>
                  <a:pt x="536412" y="334937"/>
                </a:lnTo>
                <a:lnTo>
                  <a:pt x="536795" y="334784"/>
                </a:lnTo>
                <a:lnTo>
                  <a:pt x="536700" y="334034"/>
                </a:lnTo>
                <a:lnTo>
                  <a:pt x="537458" y="333659"/>
                </a:lnTo>
                <a:lnTo>
                  <a:pt x="537921" y="332979"/>
                </a:lnTo>
                <a:lnTo>
                  <a:pt x="538506" y="333593"/>
                </a:lnTo>
                <a:lnTo>
                  <a:pt x="538648" y="332203"/>
                </a:lnTo>
                <a:lnTo>
                  <a:pt x="539137" y="331937"/>
                </a:lnTo>
                <a:lnTo>
                  <a:pt x="539702" y="331164"/>
                </a:lnTo>
                <a:lnTo>
                  <a:pt x="540299" y="332549"/>
                </a:lnTo>
                <a:lnTo>
                  <a:pt x="540675" y="332502"/>
                </a:lnTo>
                <a:lnTo>
                  <a:pt x="540371" y="331383"/>
                </a:lnTo>
                <a:lnTo>
                  <a:pt x="540643" y="331311"/>
                </a:lnTo>
                <a:lnTo>
                  <a:pt x="540975" y="331701"/>
                </a:lnTo>
                <a:lnTo>
                  <a:pt x="541148" y="331182"/>
                </a:lnTo>
                <a:lnTo>
                  <a:pt x="540401" y="330606"/>
                </a:lnTo>
                <a:lnTo>
                  <a:pt x="541409" y="330450"/>
                </a:lnTo>
                <a:lnTo>
                  <a:pt x="541057" y="330000"/>
                </a:lnTo>
                <a:lnTo>
                  <a:pt x="541976" y="329639"/>
                </a:lnTo>
                <a:lnTo>
                  <a:pt x="542281" y="329131"/>
                </a:lnTo>
                <a:lnTo>
                  <a:pt x="542134" y="328471"/>
                </a:lnTo>
                <a:lnTo>
                  <a:pt x="543403" y="328990"/>
                </a:lnTo>
                <a:lnTo>
                  <a:pt x="544524" y="329088"/>
                </a:lnTo>
                <a:lnTo>
                  <a:pt x="544210" y="327883"/>
                </a:lnTo>
                <a:lnTo>
                  <a:pt x="544766" y="327174"/>
                </a:lnTo>
                <a:lnTo>
                  <a:pt x="544479" y="326683"/>
                </a:lnTo>
                <a:lnTo>
                  <a:pt x="545472" y="327193"/>
                </a:lnTo>
                <a:lnTo>
                  <a:pt x="545468" y="328603"/>
                </a:lnTo>
                <a:lnTo>
                  <a:pt x="546273" y="329540"/>
                </a:lnTo>
                <a:lnTo>
                  <a:pt x="548262" y="328972"/>
                </a:lnTo>
                <a:lnTo>
                  <a:pt x="548786" y="328203"/>
                </a:lnTo>
                <a:lnTo>
                  <a:pt x="549371" y="328150"/>
                </a:lnTo>
                <a:lnTo>
                  <a:pt x="549745" y="328544"/>
                </a:lnTo>
                <a:lnTo>
                  <a:pt x="550912" y="328262"/>
                </a:lnTo>
                <a:lnTo>
                  <a:pt x="551040" y="327615"/>
                </a:lnTo>
                <a:lnTo>
                  <a:pt x="551617" y="327121"/>
                </a:lnTo>
                <a:lnTo>
                  <a:pt x="552722" y="327423"/>
                </a:lnTo>
                <a:lnTo>
                  <a:pt x="552964" y="328373"/>
                </a:lnTo>
                <a:lnTo>
                  <a:pt x="553592" y="328467"/>
                </a:lnTo>
                <a:lnTo>
                  <a:pt x="553852" y="328109"/>
                </a:lnTo>
                <a:lnTo>
                  <a:pt x="554344" y="328261"/>
                </a:lnTo>
                <a:lnTo>
                  <a:pt x="554994" y="328069"/>
                </a:lnTo>
                <a:lnTo>
                  <a:pt x="555046" y="329025"/>
                </a:lnTo>
                <a:lnTo>
                  <a:pt x="555359" y="329521"/>
                </a:lnTo>
                <a:lnTo>
                  <a:pt x="556162" y="329406"/>
                </a:lnTo>
                <a:lnTo>
                  <a:pt x="556482" y="329055"/>
                </a:lnTo>
                <a:lnTo>
                  <a:pt x="557150" y="329896"/>
                </a:lnTo>
                <a:lnTo>
                  <a:pt x="558259" y="330541"/>
                </a:lnTo>
                <a:lnTo>
                  <a:pt x="558933" y="330294"/>
                </a:lnTo>
                <a:lnTo>
                  <a:pt x="559125" y="329817"/>
                </a:lnTo>
                <a:lnTo>
                  <a:pt x="559563" y="330022"/>
                </a:lnTo>
                <a:lnTo>
                  <a:pt x="559813" y="329453"/>
                </a:lnTo>
                <a:lnTo>
                  <a:pt x="560250" y="329452"/>
                </a:lnTo>
                <a:lnTo>
                  <a:pt x="560180" y="329026"/>
                </a:lnTo>
                <a:lnTo>
                  <a:pt x="560413" y="328760"/>
                </a:lnTo>
                <a:lnTo>
                  <a:pt x="560672" y="328909"/>
                </a:lnTo>
                <a:lnTo>
                  <a:pt x="560559" y="329457"/>
                </a:lnTo>
                <a:lnTo>
                  <a:pt x="560830" y="329378"/>
                </a:lnTo>
                <a:lnTo>
                  <a:pt x="560875" y="329008"/>
                </a:lnTo>
                <a:lnTo>
                  <a:pt x="561223" y="329242"/>
                </a:lnTo>
                <a:lnTo>
                  <a:pt x="561002" y="328782"/>
                </a:lnTo>
                <a:lnTo>
                  <a:pt x="561493" y="328581"/>
                </a:lnTo>
                <a:lnTo>
                  <a:pt x="561751" y="327030"/>
                </a:lnTo>
                <a:lnTo>
                  <a:pt x="562501" y="327660"/>
                </a:lnTo>
                <a:lnTo>
                  <a:pt x="562342" y="328181"/>
                </a:lnTo>
                <a:lnTo>
                  <a:pt x="562497" y="328371"/>
                </a:lnTo>
                <a:lnTo>
                  <a:pt x="563418" y="328483"/>
                </a:lnTo>
                <a:lnTo>
                  <a:pt x="563863" y="328919"/>
                </a:lnTo>
                <a:lnTo>
                  <a:pt x="565064" y="329305"/>
                </a:lnTo>
                <a:lnTo>
                  <a:pt x="565232" y="329039"/>
                </a:lnTo>
                <a:lnTo>
                  <a:pt x="564602" y="328618"/>
                </a:lnTo>
                <a:lnTo>
                  <a:pt x="564658" y="328402"/>
                </a:lnTo>
                <a:lnTo>
                  <a:pt x="565453" y="328288"/>
                </a:lnTo>
                <a:lnTo>
                  <a:pt x="565676" y="327768"/>
                </a:lnTo>
                <a:lnTo>
                  <a:pt x="566068" y="328165"/>
                </a:lnTo>
                <a:lnTo>
                  <a:pt x="567016" y="327442"/>
                </a:lnTo>
                <a:lnTo>
                  <a:pt x="567271" y="327640"/>
                </a:lnTo>
                <a:lnTo>
                  <a:pt x="567264" y="328345"/>
                </a:lnTo>
                <a:lnTo>
                  <a:pt x="568015" y="328323"/>
                </a:lnTo>
                <a:lnTo>
                  <a:pt x="568016" y="329028"/>
                </a:lnTo>
                <a:lnTo>
                  <a:pt x="568889" y="327709"/>
                </a:lnTo>
                <a:lnTo>
                  <a:pt x="569149" y="327819"/>
                </a:lnTo>
                <a:lnTo>
                  <a:pt x="569095" y="327264"/>
                </a:lnTo>
                <a:lnTo>
                  <a:pt x="569601" y="327205"/>
                </a:lnTo>
                <a:lnTo>
                  <a:pt x="569698" y="326916"/>
                </a:lnTo>
                <a:lnTo>
                  <a:pt x="569506" y="326677"/>
                </a:lnTo>
                <a:lnTo>
                  <a:pt x="570189" y="326583"/>
                </a:lnTo>
                <a:lnTo>
                  <a:pt x="570112" y="326246"/>
                </a:lnTo>
                <a:lnTo>
                  <a:pt x="570614" y="326376"/>
                </a:lnTo>
                <a:lnTo>
                  <a:pt x="570622" y="325953"/>
                </a:lnTo>
                <a:lnTo>
                  <a:pt x="571311" y="325967"/>
                </a:lnTo>
                <a:lnTo>
                  <a:pt x="571463" y="325258"/>
                </a:lnTo>
                <a:lnTo>
                  <a:pt x="570890" y="324542"/>
                </a:lnTo>
                <a:lnTo>
                  <a:pt x="571169" y="324346"/>
                </a:lnTo>
                <a:lnTo>
                  <a:pt x="571137" y="323818"/>
                </a:lnTo>
                <a:lnTo>
                  <a:pt x="570545" y="322995"/>
                </a:lnTo>
                <a:lnTo>
                  <a:pt x="571411" y="323104"/>
                </a:lnTo>
                <a:lnTo>
                  <a:pt x="571967" y="322262"/>
                </a:lnTo>
                <a:lnTo>
                  <a:pt x="573338" y="321671"/>
                </a:lnTo>
                <a:lnTo>
                  <a:pt x="573630" y="321081"/>
                </a:lnTo>
                <a:lnTo>
                  <a:pt x="573872" y="321218"/>
                </a:lnTo>
                <a:lnTo>
                  <a:pt x="573671" y="320459"/>
                </a:lnTo>
                <a:lnTo>
                  <a:pt x="574096" y="320324"/>
                </a:lnTo>
                <a:lnTo>
                  <a:pt x="574193" y="319675"/>
                </a:lnTo>
                <a:lnTo>
                  <a:pt x="574654" y="319725"/>
                </a:lnTo>
                <a:lnTo>
                  <a:pt x="574922" y="320094"/>
                </a:lnTo>
                <a:lnTo>
                  <a:pt x="575363" y="319676"/>
                </a:lnTo>
                <a:lnTo>
                  <a:pt x="575897" y="319788"/>
                </a:lnTo>
                <a:lnTo>
                  <a:pt x="576171" y="318696"/>
                </a:lnTo>
                <a:lnTo>
                  <a:pt x="575709" y="317814"/>
                </a:lnTo>
                <a:lnTo>
                  <a:pt x="576019" y="317097"/>
                </a:lnTo>
                <a:lnTo>
                  <a:pt x="575748" y="316680"/>
                </a:lnTo>
                <a:lnTo>
                  <a:pt x="575885" y="316559"/>
                </a:lnTo>
                <a:lnTo>
                  <a:pt x="576973" y="316225"/>
                </a:lnTo>
                <a:lnTo>
                  <a:pt x="577479" y="317118"/>
                </a:lnTo>
                <a:lnTo>
                  <a:pt x="578014" y="316943"/>
                </a:lnTo>
                <a:lnTo>
                  <a:pt x="578363" y="317196"/>
                </a:lnTo>
                <a:lnTo>
                  <a:pt x="579103" y="316678"/>
                </a:lnTo>
                <a:lnTo>
                  <a:pt x="579315" y="316873"/>
                </a:lnTo>
                <a:lnTo>
                  <a:pt x="579912" y="316030"/>
                </a:lnTo>
                <a:lnTo>
                  <a:pt x="580901" y="316110"/>
                </a:lnTo>
                <a:lnTo>
                  <a:pt x="580964" y="316336"/>
                </a:lnTo>
                <a:lnTo>
                  <a:pt x="581504" y="315764"/>
                </a:lnTo>
                <a:lnTo>
                  <a:pt x="581690" y="316093"/>
                </a:lnTo>
                <a:lnTo>
                  <a:pt x="582071" y="315342"/>
                </a:lnTo>
                <a:lnTo>
                  <a:pt x="582248" y="316005"/>
                </a:lnTo>
                <a:lnTo>
                  <a:pt x="582658" y="315543"/>
                </a:lnTo>
                <a:lnTo>
                  <a:pt x="583253" y="316013"/>
                </a:lnTo>
                <a:lnTo>
                  <a:pt x="583593" y="315687"/>
                </a:lnTo>
                <a:lnTo>
                  <a:pt x="583700" y="314817"/>
                </a:lnTo>
                <a:lnTo>
                  <a:pt x="584362" y="315119"/>
                </a:lnTo>
                <a:lnTo>
                  <a:pt x="584100" y="314670"/>
                </a:lnTo>
                <a:lnTo>
                  <a:pt x="584344" y="314861"/>
                </a:lnTo>
                <a:lnTo>
                  <a:pt x="584614" y="314392"/>
                </a:lnTo>
                <a:lnTo>
                  <a:pt x="584793" y="314513"/>
                </a:lnTo>
                <a:lnTo>
                  <a:pt x="585144" y="314284"/>
                </a:lnTo>
                <a:lnTo>
                  <a:pt x="585257" y="314557"/>
                </a:lnTo>
                <a:lnTo>
                  <a:pt x="585622" y="314528"/>
                </a:lnTo>
                <a:lnTo>
                  <a:pt x="585648" y="314168"/>
                </a:lnTo>
                <a:lnTo>
                  <a:pt x="586000" y="313863"/>
                </a:lnTo>
                <a:lnTo>
                  <a:pt x="586550" y="313957"/>
                </a:lnTo>
                <a:lnTo>
                  <a:pt x="586821" y="314529"/>
                </a:lnTo>
                <a:lnTo>
                  <a:pt x="587297" y="314253"/>
                </a:lnTo>
                <a:lnTo>
                  <a:pt x="587901" y="315083"/>
                </a:lnTo>
                <a:lnTo>
                  <a:pt x="588160" y="314907"/>
                </a:lnTo>
                <a:lnTo>
                  <a:pt x="588434" y="314083"/>
                </a:lnTo>
                <a:lnTo>
                  <a:pt x="589151" y="314393"/>
                </a:lnTo>
                <a:lnTo>
                  <a:pt x="589377" y="314068"/>
                </a:lnTo>
                <a:lnTo>
                  <a:pt x="589809" y="314636"/>
                </a:lnTo>
                <a:lnTo>
                  <a:pt x="590259" y="314419"/>
                </a:lnTo>
                <a:lnTo>
                  <a:pt x="590070" y="315264"/>
                </a:lnTo>
                <a:lnTo>
                  <a:pt x="590841" y="316100"/>
                </a:lnTo>
                <a:lnTo>
                  <a:pt x="590997" y="315995"/>
                </a:lnTo>
                <a:lnTo>
                  <a:pt x="590706" y="315590"/>
                </a:lnTo>
                <a:lnTo>
                  <a:pt x="591133" y="315164"/>
                </a:lnTo>
                <a:lnTo>
                  <a:pt x="591886" y="315017"/>
                </a:lnTo>
                <a:lnTo>
                  <a:pt x="591845" y="314753"/>
                </a:lnTo>
                <a:lnTo>
                  <a:pt x="592861" y="314579"/>
                </a:lnTo>
                <a:lnTo>
                  <a:pt x="592398" y="314356"/>
                </a:lnTo>
                <a:lnTo>
                  <a:pt x="592492" y="313668"/>
                </a:lnTo>
                <a:lnTo>
                  <a:pt x="592927" y="313826"/>
                </a:lnTo>
                <a:lnTo>
                  <a:pt x="593353" y="313456"/>
                </a:lnTo>
                <a:lnTo>
                  <a:pt x="593928" y="314242"/>
                </a:lnTo>
                <a:lnTo>
                  <a:pt x="593930" y="314872"/>
                </a:lnTo>
                <a:lnTo>
                  <a:pt x="594176" y="314961"/>
                </a:lnTo>
                <a:lnTo>
                  <a:pt x="594492" y="314852"/>
                </a:lnTo>
                <a:lnTo>
                  <a:pt x="594408" y="314469"/>
                </a:lnTo>
                <a:lnTo>
                  <a:pt x="595007" y="314602"/>
                </a:lnTo>
                <a:lnTo>
                  <a:pt x="595640" y="313758"/>
                </a:lnTo>
                <a:lnTo>
                  <a:pt x="595984" y="314455"/>
                </a:lnTo>
                <a:lnTo>
                  <a:pt x="596483" y="314533"/>
                </a:lnTo>
                <a:lnTo>
                  <a:pt x="596763" y="314939"/>
                </a:lnTo>
                <a:lnTo>
                  <a:pt x="597258" y="314313"/>
                </a:lnTo>
                <a:lnTo>
                  <a:pt x="597560" y="314485"/>
                </a:lnTo>
                <a:lnTo>
                  <a:pt x="597832" y="313816"/>
                </a:lnTo>
                <a:lnTo>
                  <a:pt x="598948" y="314281"/>
                </a:lnTo>
                <a:lnTo>
                  <a:pt x="599370" y="314727"/>
                </a:lnTo>
                <a:lnTo>
                  <a:pt x="599377" y="315165"/>
                </a:lnTo>
                <a:lnTo>
                  <a:pt x="599547" y="314852"/>
                </a:lnTo>
                <a:lnTo>
                  <a:pt x="600177" y="314700"/>
                </a:lnTo>
                <a:lnTo>
                  <a:pt x="600610" y="315181"/>
                </a:lnTo>
                <a:lnTo>
                  <a:pt x="601030" y="314158"/>
                </a:lnTo>
                <a:lnTo>
                  <a:pt x="601792" y="314191"/>
                </a:lnTo>
                <a:lnTo>
                  <a:pt x="602753" y="314967"/>
                </a:lnTo>
                <a:lnTo>
                  <a:pt x="603247" y="314015"/>
                </a:lnTo>
                <a:lnTo>
                  <a:pt x="604687" y="313788"/>
                </a:lnTo>
                <a:lnTo>
                  <a:pt x="604700" y="313407"/>
                </a:lnTo>
                <a:lnTo>
                  <a:pt x="605018" y="313385"/>
                </a:lnTo>
                <a:lnTo>
                  <a:pt x="605202" y="312966"/>
                </a:lnTo>
                <a:lnTo>
                  <a:pt x="605950" y="313324"/>
                </a:lnTo>
                <a:lnTo>
                  <a:pt x="606076" y="312746"/>
                </a:lnTo>
                <a:lnTo>
                  <a:pt x="606553" y="312288"/>
                </a:lnTo>
                <a:lnTo>
                  <a:pt x="606630" y="311805"/>
                </a:lnTo>
                <a:lnTo>
                  <a:pt x="606939" y="311665"/>
                </a:lnTo>
                <a:lnTo>
                  <a:pt x="607360" y="310664"/>
                </a:lnTo>
                <a:lnTo>
                  <a:pt x="608308" y="310730"/>
                </a:lnTo>
                <a:lnTo>
                  <a:pt x="608828" y="311032"/>
                </a:lnTo>
                <a:lnTo>
                  <a:pt x="608872" y="310441"/>
                </a:lnTo>
                <a:lnTo>
                  <a:pt x="609228" y="310437"/>
                </a:lnTo>
                <a:lnTo>
                  <a:pt x="609468" y="309929"/>
                </a:lnTo>
                <a:lnTo>
                  <a:pt x="609763" y="310296"/>
                </a:lnTo>
                <a:lnTo>
                  <a:pt x="609873" y="309916"/>
                </a:lnTo>
                <a:lnTo>
                  <a:pt x="610618" y="309920"/>
                </a:lnTo>
                <a:lnTo>
                  <a:pt x="610670" y="309566"/>
                </a:lnTo>
                <a:lnTo>
                  <a:pt x="611586" y="309236"/>
                </a:lnTo>
                <a:lnTo>
                  <a:pt x="611648" y="309641"/>
                </a:lnTo>
                <a:lnTo>
                  <a:pt x="612939" y="310456"/>
                </a:lnTo>
                <a:lnTo>
                  <a:pt x="613362" y="310326"/>
                </a:lnTo>
                <a:lnTo>
                  <a:pt x="614701" y="311820"/>
                </a:lnTo>
                <a:lnTo>
                  <a:pt x="615779" y="312422"/>
                </a:lnTo>
                <a:lnTo>
                  <a:pt x="616305" y="313970"/>
                </a:lnTo>
                <a:lnTo>
                  <a:pt x="617150" y="314786"/>
                </a:lnTo>
                <a:lnTo>
                  <a:pt x="617396" y="315359"/>
                </a:lnTo>
                <a:lnTo>
                  <a:pt x="617814" y="315501"/>
                </a:lnTo>
                <a:lnTo>
                  <a:pt x="617962" y="316175"/>
                </a:lnTo>
                <a:lnTo>
                  <a:pt x="618702" y="317121"/>
                </a:lnTo>
                <a:lnTo>
                  <a:pt x="617811" y="318392"/>
                </a:lnTo>
                <a:lnTo>
                  <a:pt x="617842" y="319163"/>
                </a:lnTo>
                <a:lnTo>
                  <a:pt x="618206" y="320078"/>
                </a:lnTo>
                <a:lnTo>
                  <a:pt x="617505" y="320315"/>
                </a:lnTo>
                <a:lnTo>
                  <a:pt x="617612" y="320559"/>
                </a:lnTo>
                <a:lnTo>
                  <a:pt x="617281" y="321297"/>
                </a:lnTo>
                <a:lnTo>
                  <a:pt x="617751" y="321434"/>
                </a:lnTo>
                <a:lnTo>
                  <a:pt x="618880" y="322636"/>
                </a:lnTo>
                <a:lnTo>
                  <a:pt x="618618" y="323272"/>
                </a:lnTo>
                <a:lnTo>
                  <a:pt x="619054" y="324488"/>
                </a:lnTo>
                <a:lnTo>
                  <a:pt x="618525" y="325704"/>
                </a:lnTo>
                <a:lnTo>
                  <a:pt x="621223" y="327448"/>
                </a:lnTo>
                <a:lnTo>
                  <a:pt x="621529" y="327898"/>
                </a:lnTo>
                <a:lnTo>
                  <a:pt x="621458" y="328437"/>
                </a:lnTo>
                <a:lnTo>
                  <a:pt x="622003" y="328659"/>
                </a:lnTo>
                <a:lnTo>
                  <a:pt x="622654" y="328276"/>
                </a:lnTo>
                <a:lnTo>
                  <a:pt x="623901" y="328531"/>
                </a:lnTo>
                <a:lnTo>
                  <a:pt x="625355" y="327950"/>
                </a:lnTo>
                <a:lnTo>
                  <a:pt x="627065" y="329030"/>
                </a:lnTo>
                <a:lnTo>
                  <a:pt x="628698" y="330822"/>
                </a:lnTo>
                <a:lnTo>
                  <a:pt x="629663" y="330916"/>
                </a:lnTo>
                <a:lnTo>
                  <a:pt x="630519" y="330549"/>
                </a:lnTo>
                <a:lnTo>
                  <a:pt x="630933" y="330615"/>
                </a:lnTo>
                <a:lnTo>
                  <a:pt x="631683" y="331987"/>
                </a:lnTo>
                <a:lnTo>
                  <a:pt x="632657" y="332435"/>
                </a:lnTo>
                <a:lnTo>
                  <a:pt x="632716" y="333673"/>
                </a:lnTo>
                <a:lnTo>
                  <a:pt x="633370" y="334204"/>
                </a:lnTo>
                <a:lnTo>
                  <a:pt x="632122" y="335662"/>
                </a:lnTo>
                <a:lnTo>
                  <a:pt x="631628" y="337669"/>
                </a:lnTo>
                <a:lnTo>
                  <a:pt x="631687" y="338114"/>
                </a:lnTo>
                <a:lnTo>
                  <a:pt x="632142" y="338452"/>
                </a:lnTo>
                <a:lnTo>
                  <a:pt x="632019" y="340361"/>
                </a:lnTo>
                <a:lnTo>
                  <a:pt x="632501" y="341193"/>
                </a:lnTo>
                <a:lnTo>
                  <a:pt x="632583" y="342363"/>
                </a:lnTo>
                <a:lnTo>
                  <a:pt x="633900" y="343084"/>
                </a:lnTo>
                <a:lnTo>
                  <a:pt x="634660" y="342514"/>
                </a:lnTo>
                <a:lnTo>
                  <a:pt x="634861" y="341739"/>
                </a:lnTo>
                <a:lnTo>
                  <a:pt x="635533" y="341557"/>
                </a:lnTo>
                <a:lnTo>
                  <a:pt x="635749" y="341158"/>
                </a:lnTo>
                <a:lnTo>
                  <a:pt x="637174" y="340728"/>
                </a:lnTo>
                <a:lnTo>
                  <a:pt x="637349" y="340459"/>
                </a:lnTo>
                <a:lnTo>
                  <a:pt x="638062" y="340708"/>
                </a:lnTo>
                <a:lnTo>
                  <a:pt x="638876" y="340678"/>
                </a:lnTo>
                <a:lnTo>
                  <a:pt x="639641" y="340128"/>
                </a:lnTo>
                <a:lnTo>
                  <a:pt x="641171" y="340933"/>
                </a:lnTo>
                <a:lnTo>
                  <a:pt x="641814" y="342589"/>
                </a:lnTo>
                <a:lnTo>
                  <a:pt x="643286" y="339094"/>
                </a:lnTo>
                <a:lnTo>
                  <a:pt x="644479" y="338792"/>
                </a:lnTo>
                <a:lnTo>
                  <a:pt x="644598" y="338540"/>
                </a:lnTo>
                <a:lnTo>
                  <a:pt x="645985" y="331882"/>
                </a:lnTo>
                <a:lnTo>
                  <a:pt x="645508" y="330496"/>
                </a:lnTo>
                <a:lnTo>
                  <a:pt x="645671" y="329879"/>
                </a:lnTo>
                <a:lnTo>
                  <a:pt x="645957" y="329323"/>
                </a:lnTo>
                <a:lnTo>
                  <a:pt x="646573" y="329315"/>
                </a:lnTo>
                <a:lnTo>
                  <a:pt x="647388" y="328424"/>
                </a:lnTo>
                <a:lnTo>
                  <a:pt x="648290" y="326903"/>
                </a:lnTo>
                <a:lnTo>
                  <a:pt x="649361" y="325645"/>
                </a:lnTo>
                <a:lnTo>
                  <a:pt x="649933" y="325687"/>
                </a:lnTo>
                <a:lnTo>
                  <a:pt x="650287" y="325099"/>
                </a:lnTo>
                <a:lnTo>
                  <a:pt x="651196" y="324632"/>
                </a:lnTo>
                <a:lnTo>
                  <a:pt x="651367" y="324136"/>
                </a:lnTo>
                <a:lnTo>
                  <a:pt x="652388" y="323705"/>
                </a:lnTo>
                <a:lnTo>
                  <a:pt x="652734" y="321755"/>
                </a:lnTo>
                <a:lnTo>
                  <a:pt x="652249" y="320556"/>
                </a:lnTo>
                <a:lnTo>
                  <a:pt x="652790" y="319162"/>
                </a:lnTo>
                <a:lnTo>
                  <a:pt x="653133" y="318892"/>
                </a:lnTo>
                <a:lnTo>
                  <a:pt x="653456" y="317688"/>
                </a:lnTo>
                <a:lnTo>
                  <a:pt x="654539" y="316802"/>
                </a:lnTo>
                <a:lnTo>
                  <a:pt x="655974" y="316503"/>
                </a:lnTo>
                <a:lnTo>
                  <a:pt x="655364" y="315167"/>
                </a:lnTo>
                <a:lnTo>
                  <a:pt x="657315" y="311602"/>
                </a:lnTo>
                <a:lnTo>
                  <a:pt x="674859" y="307562"/>
                </a:lnTo>
                <a:lnTo>
                  <a:pt x="680201" y="311197"/>
                </a:lnTo>
                <a:lnTo>
                  <a:pt x="684127" y="307464"/>
                </a:lnTo>
                <a:lnTo>
                  <a:pt x="685551" y="305575"/>
                </a:lnTo>
                <a:lnTo>
                  <a:pt x="686560" y="307659"/>
                </a:lnTo>
                <a:lnTo>
                  <a:pt x="689055" y="308138"/>
                </a:lnTo>
                <a:lnTo>
                  <a:pt x="692048" y="304075"/>
                </a:lnTo>
                <a:lnTo>
                  <a:pt x="688710" y="299865"/>
                </a:lnTo>
                <a:lnTo>
                  <a:pt x="694292" y="294057"/>
                </a:lnTo>
                <a:lnTo>
                  <a:pt x="697310" y="289126"/>
                </a:lnTo>
                <a:lnTo>
                  <a:pt x="699061" y="290618"/>
                </a:lnTo>
                <a:lnTo>
                  <a:pt x="700072" y="290362"/>
                </a:lnTo>
                <a:lnTo>
                  <a:pt x="703090" y="291463"/>
                </a:lnTo>
                <a:lnTo>
                  <a:pt x="707806" y="289418"/>
                </a:lnTo>
                <a:lnTo>
                  <a:pt x="707568" y="286642"/>
                </a:lnTo>
                <a:lnTo>
                  <a:pt x="710273" y="285468"/>
                </a:lnTo>
                <a:lnTo>
                  <a:pt x="713003" y="283841"/>
                </a:lnTo>
                <a:lnTo>
                  <a:pt x="715383" y="281354"/>
                </a:lnTo>
                <a:lnTo>
                  <a:pt x="721164" y="282249"/>
                </a:lnTo>
                <a:lnTo>
                  <a:pt x="723327" y="276445"/>
                </a:lnTo>
                <a:lnTo>
                  <a:pt x="724850" y="275356"/>
                </a:lnTo>
                <a:lnTo>
                  <a:pt x="724861" y="273582"/>
                </a:lnTo>
                <a:lnTo>
                  <a:pt x="727946" y="271992"/>
                </a:lnTo>
                <a:lnTo>
                  <a:pt x="731002" y="268951"/>
                </a:lnTo>
                <a:lnTo>
                  <a:pt x="731657" y="265994"/>
                </a:lnTo>
                <a:lnTo>
                  <a:pt x="735543" y="265075"/>
                </a:lnTo>
                <a:lnTo>
                  <a:pt x="741457" y="262397"/>
                </a:lnTo>
                <a:lnTo>
                  <a:pt x="742526" y="264239"/>
                </a:lnTo>
                <a:lnTo>
                  <a:pt x="751336" y="261873"/>
                </a:lnTo>
                <a:lnTo>
                  <a:pt x="752118" y="259287"/>
                </a:lnTo>
                <a:lnTo>
                  <a:pt x="750078" y="257596"/>
                </a:lnTo>
                <a:lnTo>
                  <a:pt x="752681" y="252993"/>
                </a:lnTo>
                <a:lnTo>
                  <a:pt x="757937" y="251861"/>
                </a:lnTo>
                <a:lnTo>
                  <a:pt x="758261" y="246198"/>
                </a:lnTo>
                <a:lnTo>
                  <a:pt x="756985" y="245546"/>
                </a:lnTo>
                <a:lnTo>
                  <a:pt x="758000" y="243614"/>
                </a:lnTo>
                <a:lnTo>
                  <a:pt x="757058" y="239180"/>
                </a:lnTo>
                <a:lnTo>
                  <a:pt x="757535" y="237785"/>
                </a:lnTo>
                <a:lnTo>
                  <a:pt x="754321" y="234256"/>
                </a:lnTo>
                <a:lnTo>
                  <a:pt x="752354" y="230593"/>
                </a:lnTo>
                <a:lnTo>
                  <a:pt x="755793" y="225708"/>
                </a:lnTo>
                <a:lnTo>
                  <a:pt x="755447" y="222302"/>
                </a:lnTo>
                <a:lnTo>
                  <a:pt x="757784" y="217923"/>
                </a:lnTo>
                <a:lnTo>
                  <a:pt x="759667" y="216493"/>
                </a:lnTo>
                <a:lnTo>
                  <a:pt x="760118" y="216686"/>
                </a:lnTo>
                <a:lnTo>
                  <a:pt x="761114" y="216608"/>
                </a:lnTo>
                <a:lnTo>
                  <a:pt x="761545" y="216933"/>
                </a:lnTo>
                <a:lnTo>
                  <a:pt x="761974" y="216617"/>
                </a:lnTo>
                <a:lnTo>
                  <a:pt x="761151" y="214280"/>
                </a:lnTo>
                <a:lnTo>
                  <a:pt x="759934" y="214009"/>
                </a:lnTo>
                <a:lnTo>
                  <a:pt x="758971" y="213253"/>
                </a:lnTo>
                <a:lnTo>
                  <a:pt x="759820" y="212099"/>
                </a:lnTo>
                <a:lnTo>
                  <a:pt x="759084" y="211174"/>
                </a:lnTo>
                <a:lnTo>
                  <a:pt x="758526" y="210957"/>
                </a:lnTo>
                <a:lnTo>
                  <a:pt x="758975" y="210278"/>
                </a:lnTo>
                <a:lnTo>
                  <a:pt x="760006" y="210700"/>
                </a:lnTo>
                <a:lnTo>
                  <a:pt x="761127" y="210061"/>
                </a:lnTo>
                <a:lnTo>
                  <a:pt x="762083" y="208779"/>
                </a:lnTo>
                <a:lnTo>
                  <a:pt x="762666" y="208490"/>
                </a:lnTo>
                <a:lnTo>
                  <a:pt x="763942" y="206762"/>
                </a:lnTo>
                <a:lnTo>
                  <a:pt x="763490" y="205928"/>
                </a:lnTo>
                <a:lnTo>
                  <a:pt x="762911" y="205471"/>
                </a:lnTo>
                <a:lnTo>
                  <a:pt x="762982" y="204760"/>
                </a:lnTo>
                <a:lnTo>
                  <a:pt x="763394" y="204705"/>
                </a:lnTo>
                <a:lnTo>
                  <a:pt x="763630" y="203889"/>
                </a:lnTo>
                <a:lnTo>
                  <a:pt x="763392" y="202192"/>
                </a:lnTo>
                <a:lnTo>
                  <a:pt x="764069" y="201717"/>
                </a:lnTo>
                <a:lnTo>
                  <a:pt x="763754" y="200757"/>
                </a:lnTo>
                <a:lnTo>
                  <a:pt x="765438" y="201034"/>
                </a:lnTo>
                <a:lnTo>
                  <a:pt x="766008" y="200543"/>
                </a:lnTo>
                <a:lnTo>
                  <a:pt x="765262" y="198445"/>
                </a:lnTo>
                <a:lnTo>
                  <a:pt x="764759" y="197708"/>
                </a:lnTo>
                <a:lnTo>
                  <a:pt x="764908" y="196585"/>
                </a:lnTo>
                <a:lnTo>
                  <a:pt x="765288" y="196093"/>
                </a:lnTo>
                <a:lnTo>
                  <a:pt x="765423" y="195346"/>
                </a:lnTo>
                <a:lnTo>
                  <a:pt x="766185" y="195007"/>
                </a:lnTo>
                <a:lnTo>
                  <a:pt x="766436" y="194499"/>
                </a:lnTo>
                <a:lnTo>
                  <a:pt x="767267" y="194021"/>
                </a:lnTo>
                <a:lnTo>
                  <a:pt x="767806" y="194431"/>
                </a:lnTo>
                <a:lnTo>
                  <a:pt x="768201" y="193891"/>
                </a:lnTo>
                <a:lnTo>
                  <a:pt x="769040" y="193460"/>
                </a:lnTo>
                <a:lnTo>
                  <a:pt x="769206" y="193637"/>
                </a:lnTo>
                <a:lnTo>
                  <a:pt x="770115" y="193545"/>
                </a:lnTo>
                <a:lnTo>
                  <a:pt x="770430" y="192931"/>
                </a:lnTo>
                <a:lnTo>
                  <a:pt x="770060" y="191779"/>
                </a:lnTo>
                <a:lnTo>
                  <a:pt x="769478" y="191066"/>
                </a:lnTo>
                <a:lnTo>
                  <a:pt x="767609" y="190794"/>
                </a:lnTo>
                <a:lnTo>
                  <a:pt x="767727" y="190323"/>
                </a:lnTo>
                <a:lnTo>
                  <a:pt x="768616" y="189539"/>
                </a:lnTo>
                <a:lnTo>
                  <a:pt x="767984" y="188374"/>
                </a:lnTo>
                <a:lnTo>
                  <a:pt x="767463" y="188256"/>
                </a:lnTo>
                <a:lnTo>
                  <a:pt x="767325" y="187497"/>
                </a:lnTo>
                <a:lnTo>
                  <a:pt x="767783" y="186939"/>
                </a:lnTo>
                <a:lnTo>
                  <a:pt x="766774" y="186097"/>
                </a:lnTo>
                <a:lnTo>
                  <a:pt x="766747" y="185248"/>
                </a:lnTo>
                <a:lnTo>
                  <a:pt x="767537" y="184591"/>
                </a:lnTo>
                <a:lnTo>
                  <a:pt x="767092" y="182911"/>
                </a:lnTo>
                <a:lnTo>
                  <a:pt x="767779" y="181667"/>
                </a:lnTo>
                <a:lnTo>
                  <a:pt x="768021" y="180270"/>
                </a:lnTo>
                <a:lnTo>
                  <a:pt x="767802" y="179612"/>
                </a:lnTo>
                <a:lnTo>
                  <a:pt x="768027" y="178989"/>
                </a:lnTo>
                <a:lnTo>
                  <a:pt x="768373" y="178782"/>
                </a:lnTo>
                <a:lnTo>
                  <a:pt x="767880" y="178057"/>
                </a:lnTo>
                <a:lnTo>
                  <a:pt x="768063" y="175163"/>
                </a:lnTo>
                <a:lnTo>
                  <a:pt x="766734" y="175019"/>
                </a:lnTo>
                <a:lnTo>
                  <a:pt x="765926" y="174544"/>
                </a:lnTo>
                <a:lnTo>
                  <a:pt x="764777" y="173038"/>
                </a:lnTo>
                <a:lnTo>
                  <a:pt x="764820" y="172257"/>
                </a:lnTo>
                <a:lnTo>
                  <a:pt x="764598" y="171963"/>
                </a:lnTo>
                <a:lnTo>
                  <a:pt x="763778" y="171518"/>
                </a:lnTo>
                <a:lnTo>
                  <a:pt x="762717" y="170349"/>
                </a:lnTo>
                <a:lnTo>
                  <a:pt x="762695" y="169874"/>
                </a:lnTo>
                <a:lnTo>
                  <a:pt x="763385" y="168754"/>
                </a:lnTo>
                <a:lnTo>
                  <a:pt x="763011" y="167205"/>
                </a:lnTo>
                <a:lnTo>
                  <a:pt x="764073" y="165374"/>
                </a:lnTo>
                <a:lnTo>
                  <a:pt x="764993" y="165220"/>
                </a:lnTo>
                <a:lnTo>
                  <a:pt x="766898" y="165817"/>
                </a:lnTo>
                <a:lnTo>
                  <a:pt x="768456" y="164855"/>
                </a:lnTo>
                <a:lnTo>
                  <a:pt x="768290" y="164705"/>
                </a:lnTo>
                <a:lnTo>
                  <a:pt x="769006" y="164261"/>
                </a:lnTo>
                <a:lnTo>
                  <a:pt x="769383" y="164483"/>
                </a:lnTo>
                <a:lnTo>
                  <a:pt x="769901" y="164126"/>
                </a:lnTo>
                <a:lnTo>
                  <a:pt x="770256" y="163713"/>
                </a:lnTo>
                <a:lnTo>
                  <a:pt x="770123" y="163525"/>
                </a:lnTo>
                <a:lnTo>
                  <a:pt x="770636" y="162440"/>
                </a:lnTo>
                <a:lnTo>
                  <a:pt x="771399" y="162134"/>
                </a:lnTo>
                <a:lnTo>
                  <a:pt x="771840" y="162307"/>
                </a:lnTo>
                <a:lnTo>
                  <a:pt x="771913" y="161563"/>
                </a:lnTo>
                <a:lnTo>
                  <a:pt x="772430" y="160631"/>
                </a:lnTo>
                <a:lnTo>
                  <a:pt x="773208" y="160423"/>
                </a:lnTo>
                <a:lnTo>
                  <a:pt x="774397" y="161783"/>
                </a:lnTo>
                <a:lnTo>
                  <a:pt x="774933" y="160421"/>
                </a:lnTo>
                <a:lnTo>
                  <a:pt x="775619" y="160278"/>
                </a:lnTo>
                <a:lnTo>
                  <a:pt x="775923" y="159894"/>
                </a:lnTo>
                <a:lnTo>
                  <a:pt x="777654" y="159011"/>
                </a:lnTo>
                <a:lnTo>
                  <a:pt x="778125" y="158949"/>
                </a:lnTo>
                <a:lnTo>
                  <a:pt x="779061" y="159687"/>
                </a:lnTo>
                <a:lnTo>
                  <a:pt x="779703" y="159294"/>
                </a:lnTo>
                <a:lnTo>
                  <a:pt x="778977" y="157739"/>
                </a:lnTo>
                <a:lnTo>
                  <a:pt x="779210" y="156428"/>
                </a:lnTo>
                <a:lnTo>
                  <a:pt x="779684" y="155554"/>
                </a:lnTo>
                <a:lnTo>
                  <a:pt x="779307" y="153278"/>
                </a:lnTo>
                <a:lnTo>
                  <a:pt x="778165" y="152243"/>
                </a:lnTo>
                <a:lnTo>
                  <a:pt x="778076" y="151114"/>
                </a:lnTo>
                <a:lnTo>
                  <a:pt x="777381" y="150249"/>
                </a:lnTo>
                <a:lnTo>
                  <a:pt x="777346" y="149503"/>
                </a:lnTo>
                <a:lnTo>
                  <a:pt x="776396" y="148304"/>
                </a:lnTo>
                <a:lnTo>
                  <a:pt x="776392" y="147920"/>
                </a:lnTo>
                <a:lnTo>
                  <a:pt x="774471" y="147568"/>
                </a:lnTo>
                <a:lnTo>
                  <a:pt x="774284" y="147178"/>
                </a:lnTo>
                <a:lnTo>
                  <a:pt x="773248" y="146561"/>
                </a:lnTo>
                <a:lnTo>
                  <a:pt x="771577" y="147241"/>
                </a:lnTo>
                <a:lnTo>
                  <a:pt x="769874" y="146226"/>
                </a:lnTo>
                <a:lnTo>
                  <a:pt x="769464" y="145424"/>
                </a:lnTo>
                <a:lnTo>
                  <a:pt x="769723" y="144877"/>
                </a:lnTo>
                <a:lnTo>
                  <a:pt x="769756" y="143033"/>
                </a:lnTo>
                <a:lnTo>
                  <a:pt x="771421" y="141447"/>
                </a:lnTo>
                <a:lnTo>
                  <a:pt x="771904" y="141633"/>
                </a:lnTo>
                <a:lnTo>
                  <a:pt x="772900" y="141446"/>
                </a:lnTo>
                <a:lnTo>
                  <a:pt x="770436" y="140121"/>
                </a:lnTo>
                <a:lnTo>
                  <a:pt x="768900" y="138698"/>
                </a:lnTo>
                <a:lnTo>
                  <a:pt x="769720" y="137086"/>
                </a:lnTo>
                <a:lnTo>
                  <a:pt x="770921" y="137645"/>
                </a:lnTo>
                <a:lnTo>
                  <a:pt x="773640" y="135488"/>
                </a:lnTo>
                <a:lnTo>
                  <a:pt x="777065" y="134326"/>
                </a:lnTo>
                <a:lnTo>
                  <a:pt x="775390" y="133057"/>
                </a:lnTo>
                <a:lnTo>
                  <a:pt x="775128" y="132631"/>
                </a:lnTo>
                <a:lnTo>
                  <a:pt x="773402" y="132283"/>
                </a:lnTo>
                <a:lnTo>
                  <a:pt x="771802" y="132507"/>
                </a:lnTo>
                <a:lnTo>
                  <a:pt x="771511" y="133378"/>
                </a:lnTo>
                <a:lnTo>
                  <a:pt x="771131" y="133387"/>
                </a:lnTo>
                <a:lnTo>
                  <a:pt x="771144" y="133695"/>
                </a:lnTo>
                <a:lnTo>
                  <a:pt x="770164" y="134234"/>
                </a:lnTo>
                <a:lnTo>
                  <a:pt x="769270" y="134426"/>
                </a:lnTo>
                <a:lnTo>
                  <a:pt x="768479" y="135257"/>
                </a:lnTo>
                <a:lnTo>
                  <a:pt x="768449" y="136597"/>
                </a:lnTo>
                <a:lnTo>
                  <a:pt x="768833" y="137704"/>
                </a:lnTo>
                <a:lnTo>
                  <a:pt x="768207" y="138757"/>
                </a:lnTo>
                <a:lnTo>
                  <a:pt x="768325" y="139105"/>
                </a:lnTo>
                <a:lnTo>
                  <a:pt x="768096" y="139211"/>
                </a:lnTo>
                <a:lnTo>
                  <a:pt x="768293" y="139599"/>
                </a:lnTo>
                <a:lnTo>
                  <a:pt x="769278" y="140283"/>
                </a:lnTo>
                <a:lnTo>
                  <a:pt x="769042" y="140933"/>
                </a:lnTo>
                <a:lnTo>
                  <a:pt x="769261" y="141276"/>
                </a:lnTo>
                <a:lnTo>
                  <a:pt x="768489" y="142217"/>
                </a:lnTo>
                <a:lnTo>
                  <a:pt x="768119" y="142317"/>
                </a:lnTo>
                <a:lnTo>
                  <a:pt x="767374" y="141892"/>
                </a:lnTo>
                <a:lnTo>
                  <a:pt x="766616" y="142059"/>
                </a:lnTo>
                <a:lnTo>
                  <a:pt x="766226" y="142728"/>
                </a:lnTo>
                <a:lnTo>
                  <a:pt x="765524" y="143079"/>
                </a:lnTo>
                <a:lnTo>
                  <a:pt x="765327" y="142535"/>
                </a:lnTo>
                <a:lnTo>
                  <a:pt x="764552" y="142692"/>
                </a:lnTo>
                <a:lnTo>
                  <a:pt x="763527" y="142307"/>
                </a:lnTo>
                <a:lnTo>
                  <a:pt x="761835" y="142286"/>
                </a:lnTo>
                <a:lnTo>
                  <a:pt x="761161" y="142821"/>
                </a:lnTo>
                <a:lnTo>
                  <a:pt x="760968" y="143535"/>
                </a:lnTo>
                <a:lnTo>
                  <a:pt x="759157" y="143532"/>
                </a:lnTo>
                <a:lnTo>
                  <a:pt x="758155" y="143099"/>
                </a:lnTo>
                <a:lnTo>
                  <a:pt x="757539" y="143621"/>
                </a:lnTo>
                <a:lnTo>
                  <a:pt x="756590" y="143627"/>
                </a:lnTo>
                <a:lnTo>
                  <a:pt x="755286" y="142025"/>
                </a:lnTo>
                <a:lnTo>
                  <a:pt x="754930" y="142034"/>
                </a:lnTo>
                <a:lnTo>
                  <a:pt x="754538" y="141631"/>
                </a:lnTo>
                <a:lnTo>
                  <a:pt x="754730" y="140223"/>
                </a:lnTo>
                <a:lnTo>
                  <a:pt x="754321" y="139599"/>
                </a:lnTo>
                <a:lnTo>
                  <a:pt x="754628" y="139379"/>
                </a:lnTo>
                <a:lnTo>
                  <a:pt x="754231" y="138820"/>
                </a:lnTo>
                <a:lnTo>
                  <a:pt x="754535" y="138397"/>
                </a:lnTo>
                <a:lnTo>
                  <a:pt x="754358" y="138010"/>
                </a:lnTo>
                <a:lnTo>
                  <a:pt x="754097" y="138165"/>
                </a:lnTo>
                <a:lnTo>
                  <a:pt x="754244" y="137728"/>
                </a:lnTo>
                <a:lnTo>
                  <a:pt x="754053" y="137534"/>
                </a:lnTo>
                <a:lnTo>
                  <a:pt x="753846" y="137717"/>
                </a:lnTo>
                <a:lnTo>
                  <a:pt x="753361" y="137263"/>
                </a:lnTo>
                <a:lnTo>
                  <a:pt x="752689" y="137060"/>
                </a:lnTo>
                <a:lnTo>
                  <a:pt x="752611" y="136558"/>
                </a:lnTo>
                <a:lnTo>
                  <a:pt x="751964" y="136708"/>
                </a:lnTo>
                <a:lnTo>
                  <a:pt x="751844" y="136373"/>
                </a:lnTo>
                <a:lnTo>
                  <a:pt x="751995" y="136309"/>
                </a:lnTo>
                <a:lnTo>
                  <a:pt x="751495" y="136101"/>
                </a:lnTo>
                <a:lnTo>
                  <a:pt x="751365" y="135720"/>
                </a:lnTo>
                <a:lnTo>
                  <a:pt x="751083" y="135899"/>
                </a:lnTo>
                <a:lnTo>
                  <a:pt x="750906" y="135468"/>
                </a:lnTo>
                <a:lnTo>
                  <a:pt x="751187" y="135409"/>
                </a:lnTo>
                <a:lnTo>
                  <a:pt x="751262" y="135080"/>
                </a:lnTo>
                <a:lnTo>
                  <a:pt x="749914" y="133031"/>
                </a:lnTo>
                <a:lnTo>
                  <a:pt x="749699" y="132889"/>
                </a:lnTo>
                <a:lnTo>
                  <a:pt x="749084" y="133088"/>
                </a:lnTo>
                <a:lnTo>
                  <a:pt x="748805" y="132858"/>
                </a:lnTo>
                <a:lnTo>
                  <a:pt x="748677" y="131378"/>
                </a:lnTo>
                <a:lnTo>
                  <a:pt x="748143" y="131158"/>
                </a:lnTo>
                <a:lnTo>
                  <a:pt x="747835" y="131305"/>
                </a:lnTo>
                <a:lnTo>
                  <a:pt x="746754" y="131122"/>
                </a:lnTo>
                <a:lnTo>
                  <a:pt x="746746" y="130816"/>
                </a:lnTo>
                <a:lnTo>
                  <a:pt x="747313" y="130016"/>
                </a:lnTo>
                <a:lnTo>
                  <a:pt x="746274" y="129303"/>
                </a:lnTo>
                <a:lnTo>
                  <a:pt x="747006" y="128391"/>
                </a:lnTo>
                <a:lnTo>
                  <a:pt x="747679" y="128335"/>
                </a:lnTo>
                <a:lnTo>
                  <a:pt x="747296" y="127611"/>
                </a:lnTo>
                <a:lnTo>
                  <a:pt x="747293" y="126893"/>
                </a:lnTo>
                <a:lnTo>
                  <a:pt x="747783" y="125951"/>
                </a:lnTo>
                <a:lnTo>
                  <a:pt x="747528" y="125792"/>
                </a:lnTo>
                <a:lnTo>
                  <a:pt x="746558" y="125938"/>
                </a:lnTo>
                <a:lnTo>
                  <a:pt x="746336" y="124716"/>
                </a:lnTo>
                <a:lnTo>
                  <a:pt x="745866" y="123979"/>
                </a:lnTo>
                <a:lnTo>
                  <a:pt x="744250" y="125049"/>
                </a:lnTo>
                <a:lnTo>
                  <a:pt x="744101" y="123777"/>
                </a:lnTo>
                <a:lnTo>
                  <a:pt x="744687" y="123827"/>
                </a:lnTo>
                <a:lnTo>
                  <a:pt x="744803" y="123245"/>
                </a:lnTo>
                <a:lnTo>
                  <a:pt x="744364" y="122503"/>
                </a:lnTo>
                <a:lnTo>
                  <a:pt x="743909" y="122306"/>
                </a:lnTo>
                <a:lnTo>
                  <a:pt x="743106" y="122382"/>
                </a:lnTo>
                <a:lnTo>
                  <a:pt x="743618" y="123195"/>
                </a:lnTo>
                <a:lnTo>
                  <a:pt x="743299" y="123437"/>
                </a:lnTo>
                <a:lnTo>
                  <a:pt x="742172" y="122615"/>
                </a:lnTo>
                <a:lnTo>
                  <a:pt x="741753" y="122082"/>
                </a:lnTo>
                <a:lnTo>
                  <a:pt x="741763" y="121496"/>
                </a:lnTo>
                <a:lnTo>
                  <a:pt x="741896" y="120935"/>
                </a:lnTo>
                <a:lnTo>
                  <a:pt x="742330" y="120733"/>
                </a:lnTo>
                <a:lnTo>
                  <a:pt x="741315" y="120238"/>
                </a:lnTo>
                <a:lnTo>
                  <a:pt x="741036" y="119118"/>
                </a:lnTo>
                <a:lnTo>
                  <a:pt x="738655" y="119758"/>
                </a:lnTo>
                <a:lnTo>
                  <a:pt x="738132" y="119292"/>
                </a:lnTo>
                <a:lnTo>
                  <a:pt x="738188" y="118793"/>
                </a:lnTo>
                <a:lnTo>
                  <a:pt x="738823" y="117806"/>
                </a:lnTo>
                <a:lnTo>
                  <a:pt x="738522" y="117212"/>
                </a:lnTo>
                <a:lnTo>
                  <a:pt x="739258" y="116864"/>
                </a:lnTo>
                <a:lnTo>
                  <a:pt x="739346" y="115611"/>
                </a:lnTo>
                <a:lnTo>
                  <a:pt x="739012" y="115706"/>
                </a:lnTo>
                <a:lnTo>
                  <a:pt x="738806" y="116205"/>
                </a:lnTo>
                <a:lnTo>
                  <a:pt x="738419" y="115879"/>
                </a:lnTo>
                <a:lnTo>
                  <a:pt x="738878" y="114060"/>
                </a:lnTo>
                <a:lnTo>
                  <a:pt x="738436" y="114155"/>
                </a:lnTo>
                <a:lnTo>
                  <a:pt x="738308" y="114818"/>
                </a:lnTo>
                <a:lnTo>
                  <a:pt x="738033" y="114902"/>
                </a:lnTo>
                <a:lnTo>
                  <a:pt x="736460" y="113543"/>
                </a:lnTo>
                <a:lnTo>
                  <a:pt x="736612" y="112834"/>
                </a:lnTo>
                <a:lnTo>
                  <a:pt x="736272" y="112052"/>
                </a:lnTo>
                <a:lnTo>
                  <a:pt x="736976" y="111100"/>
                </a:lnTo>
                <a:lnTo>
                  <a:pt x="736662" y="110129"/>
                </a:lnTo>
                <a:lnTo>
                  <a:pt x="736847" y="109805"/>
                </a:lnTo>
                <a:lnTo>
                  <a:pt x="736532" y="109788"/>
                </a:lnTo>
                <a:lnTo>
                  <a:pt x="736723" y="109598"/>
                </a:lnTo>
                <a:lnTo>
                  <a:pt x="736540" y="109347"/>
                </a:lnTo>
                <a:lnTo>
                  <a:pt x="736205" y="109373"/>
                </a:lnTo>
                <a:lnTo>
                  <a:pt x="735901" y="107542"/>
                </a:lnTo>
                <a:lnTo>
                  <a:pt x="735640" y="107147"/>
                </a:lnTo>
                <a:lnTo>
                  <a:pt x="735534" y="107360"/>
                </a:lnTo>
                <a:lnTo>
                  <a:pt x="735254" y="107289"/>
                </a:lnTo>
                <a:lnTo>
                  <a:pt x="735440" y="106984"/>
                </a:lnTo>
                <a:lnTo>
                  <a:pt x="734896" y="106933"/>
                </a:lnTo>
                <a:lnTo>
                  <a:pt x="734929" y="106498"/>
                </a:lnTo>
                <a:lnTo>
                  <a:pt x="734663" y="106667"/>
                </a:lnTo>
                <a:lnTo>
                  <a:pt x="734736" y="106185"/>
                </a:lnTo>
                <a:lnTo>
                  <a:pt x="734495" y="105746"/>
                </a:lnTo>
                <a:lnTo>
                  <a:pt x="734271" y="105638"/>
                </a:lnTo>
                <a:lnTo>
                  <a:pt x="734099" y="105919"/>
                </a:lnTo>
                <a:lnTo>
                  <a:pt x="734128" y="105385"/>
                </a:lnTo>
                <a:lnTo>
                  <a:pt x="733787" y="105463"/>
                </a:lnTo>
                <a:lnTo>
                  <a:pt x="733772" y="105075"/>
                </a:lnTo>
                <a:lnTo>
                  <a:pt x="733143" y="104073"/>
                </a:lnTo>
                <a:lnTo>
                  <a:pt x="732569" y="104165"/>
                </a:lnTo>
                <a:lnTo>
                  <a:pt x="732180" y="103078"/>
                </a:lnTo>
                <a:lnTo>
                  <a:pt x="732061" y="103368"/>
                </a:lnTo>
                <a:lnTo>
                  <a:pt x="731880" y="103117"/>
                </a:lnTo>
                <a:lnTo>
                  <a:pt x="731542" y="103242"/>
                </a:lnTo>
                <a:lnTo>
                  <a:pt x="731046" y="101879"/>
                </a:lnTo>
                <a:lnTo>
                  <a:pt x="730551" y="101999"/>
                </a:lnTo>
                <a:lnTo>
                  <a:pt x="730794" y="102256"/>
                </a:lnTo>
                <a:lnTo>
                  <a:pt x="730323" y="102442"/>
                </a:lnTo>
                <a:lnTo>
                  <a:pt x="730043" y="102277"/>
                </a:lnTo>
                <a:lnTo>
                  <a:pt x="730153" y="101868"/>
                </a:lnTo>
                <a:lnTo>
                  <a:pt x="729916" y="101830"/>
                </a:lnTo>
                <a:lnTo>
                  <a:pt x="729777" y="102069"/>
                </a:lnTo>
                <a:lnTo>
                  <a:pt x="729193" y="101253"/>
                </a:lnTo>
                <a:lnTo>
                  <a:pt x="728547" y="101525"/>
                </a:lnTo>
                <a:lnTo>
                  <a:pt x="727634" y="101480"/>
                </a:lnTo>
                <a:lnTo>
                  <a:pt x="727242" y="101021"/>
                </a:lnTo>
                <a:lnTo>
                  <a:pt x="727109" y="99947"/>
                </a:lnTo>
                <a:lnTo>
                  <a:pt x="725770" y="99858"/>
                </a:lnTo>
                <a:lnTo>
                  <a:pt x="725192" y="99969"/>
                </a:lnTo>
                <a:lnTo>
                  <a:pt x="725641" y="100647"/>
                </a:lnTo>
                <a:lnTo>
                  <a:pt x="725231" y="100989"/>
                </a:lnTo>
                <a:lnTo>
                  <a:pt x="725077" y="100831"/>
                </a:lnTo>
                <a:lnTo>
                  <a:pt x="725475" y="100608"/>
                </a:lnTo>
                <a:lnTo>
                  <a:pt x="725390" y="100364"/>
                </a:lnTo>
                <a:lnTo>
                  <a:pt x="724814" y="100827"/>
                </a:lnTo>
                <a:lnTo>
                  <a:pt x="724280" y="100545"/>
                </a:lnTo>
                <a:lnTo>
                  <a:pt x="723455" y="101090"/>
                </a:lnTo>
                <a:lnTo>
                  <a:pt x="723099" y="100958"/>
                </a:lnTo>
                <a:lnTo>
                  <a:pt x="722682" y="101138"/>
                </a:lnTo>
                <a:lnTo>
                  <a:pt x="721579" y="100371"/>
                </a:lnTo>
                <a:lnTo>
                  <a:pt x="720312" y="100767"/>
                </a:lnTo>
                <a:lnTo>
                  <a:pt x="720081" y="100572"/>
                </a:lnTo>
                <a:lnTo>
                  <a:pt x="718820" y="100488"/>
                </a:lnTo>
                <a:lnTo>
                  <a:pt x="718362" y="101043"/>
                </a:lnTo>
                <a:lnTo>
                  <a:pt x="718466" y="102390"/>
                </a:lnTo>
                <a:lnTo>
                  <a:pt x="718208" y="102907"/>
                </a:lnTo>
                <a:lnTo>
                  <a:pt x="718066" y="103046"/>
                </a:lnTo>
                <a:lnTo>
                  <a:pt x="717060" y="102824"/>
                </a:lnTo>
                <a:lnTo>
                  <a:pt x="716301" y="100963"/>
                </a:lnTo>
                <a:lnTo>
                  <a:pt x="716730" y="100105"/>
                </a:lnTo>
                <a:lnTo>
                  <a:pt x="717331" y="99809"/>
                </a:lnTo>
                <a:lnTo>
                  <a:pt x="717807" y="99048"/>
                </a:lnTo>
                <a:lnTo>
                  <a:pt x="717711" y="98499"/>
                </a:lnTo>
                <a:lnTo>
                  <a:pt x="718267" y="98310"/>
                </a:lnTo>
                <a:lnTo>
                  <a:pt x="717991" y="97797"/>
                </a:lnTo>
                <a:lnTo>
                  <a:pt x="717426" y="97529"/>
                </a:lnTo>
                <a:lnTo>
                  <a:pt x="718036" y="96949"/>
                </a:lnTo>
                <a:lnTo>
                  <a:pt x="717670" y="96487"/>
                </a:lnTo>
                <a:lnTo>
                  <a:pt x="717902" y="96281"/>
                </a:lnTo>
                <a:lnTo>
                  <a:pt x="718092" y="96609"/>
                </a:lnTo>
                <a:lnTo>
                  <a:pt x="718276" y="96513"/>
                </a:lnTo>
                <a:lnTo>
                  <a:pt x="717976" y="96165"/>
                </a:lnTo>
                <a:lnTo>
                  <a:pt x="718225" y="95571"/>
                </a:lnTo>
                <a:lnTo>
                  <a:pt x="718079" y="94977"/>
                </a:lnTo>
                <a:lnTo>
                  <a:pt x="717992" y="95429"/>
                </a:lnTo>
                <a:lnTo>
                  <a:pt x="717627" y="95372"/>
                </a:lnTo>
                <a:lnTo>
                  <a:pt x="717616" y="95705"/>
                </a:lnTo>
                <a:lnTo>
                  <a:pt x="717418" y="95558"/>
                </a:lnTo>
                <a:lnTo>
                  <a:pt x="717825" y="94908"/>
                </a:lnTo>
                <a:lnTo>
                  <a:pt x="717400" y="94719"/>
                </a:lnTo>
                <a:lnTo>
                  <a:pt x="717426" y="94286"/>
                </a:lnTo>
                <a:lnTo>
                  <a:pt x="717657" y="94250"/>
                </a:lnTo>
                <a:lnTo>
                  <a:pt x="717637" y="94006"/>
                </a:lnTo>
                <a:lnTo>
                  <a:pt x="717931" y="94073"/>
                </a:lnTo>
                <a:lnTo>
                  <a:pt x="718004" y="93830"/>
                </a:lnTo>
                <a:lnTo>
                  <a:pt x="717393" y="93909"/>
                </a:lnTo>
                <a:lnTo>
                  <a:pt x="717288" y="93197"/>
                </a:lnTo>
                <a:lnTo>
                  <a:pt x="716627" y="93954"/>
                </a:lnTo>
                <a:lnTo>
                  <a:pt x="715556" y="94226"/>
                </a:lnTo>
                <a:lnTo>
                  <a:pt x="715006" y="94074"/>
                </a:lnTo>
                <a:lnTo>
                  <a:pt x="714557" y="94313"/>
                </a:lnTo>
                <a:lnTo>
                  <a:pt x="714639" y="94782"/>
                </a:lnTo>
                <a:lnTo>
                  <a:pt x="714198" y="95094"/>
                </a:lnTo>
                <a:lnTo>
                  <a:pt x="713578" y="94891"/>
                </a:lnTo>
                <a:lnTo>
                  <a:pt x="713017" y="94358"/>
                </a:lnTo>
                <a:lnTo>
                  <a:pt x="713221" y="94012"/>
                </a:lnTo>
                <a:lnTo>
                  <a:pt x="712787" y="93905"/>
                </a:lnTo>
                <a:lnTo>
                  <a:pt x="712576" y="93355"/>
                </a:lnTo>
                <a:lnTo>
                  <a:pt x="712699" y="93083"/>
                </a:lnTo>
                <a:lnTo>
                  <a:pt x="712344" y="92912"/>
                </a:lnTo>
                <a:lnTo>
                  <a:pt x="712403" y="92576"/>
                </a:lnTo>
                <a:lnTo>
                  <a:pt x="711824" y="92320"/>
                </a:lnTo>
                <a:lnTo>
                  <a:pt x="711415" y="91808"/>
                </a:lnTo>
                <a:lnTo>
                  <a:pt x="711293" y="91188"/>
                </a:lnTo>
                <a:lnTo>
                  <a:pt x="710903" y="91133"/>
                </a:lnTo>
                <a:lnTo>
                  <a:pt x="711229" y="90930"/>
                </a:lnTo>
                <a:lnTo>
                  <a:pt x="711132" y="90796"/>
                </a:lnTo>
                <a:lnTo>
                  <a:pt x="710797" y="90845"/>
                </a:lnTo>
                <a:lnTo>
                  <a:pt x="710752" y="91315"/>
                </a:lnTo>
                <a:lnTo>
                  <a:pt x="710467" y="91061"/>
                </a:lnTo>
                <a:lnTo>
                  <a:pt x="710901" y="91535"/>
                </a:lnTo>
                <a:lnTo>
                  <a:pt x="710423" y="92260"/>
                </a:lnTo>
                <a:lnTo>
                  <a:pt x="710262" y="92143"/>
                </a:lnTo>
                <a:lnTo>
                  <a:pt x="710467" y="91524"/>
                </a:lnTo>
                <a:lnTo>
                  <a:pt x="709710" y="91382"/>
                </a:lnTo>
                <a:lnTo>
                  <a:pt x="709199" y="91572"/>
                </a:lnTo>
                <a:lnTo>
                  <a:pt x="709434" y="91112"/>
                </a:lnTo>
                <a:lnTo>
                  <a:pt x="709084" y="90920"/>
                </a:lnTo>
                <a:lnTo>
                  <a:pt x="709017" y="91656"/>
                </a:lnTo>
                <a:lnTo>
                  <a:pt x="708468" y="91970"/>
                </a:lnTo>
                <a:lnTo>
                  <a:pt x="708490" y="91617"/>
                </a:lnTo>
                <a:lnTo>
                  <a:pt x="708853" y="91582"/>
                </a:lnTo>
                <a:lnTo>
                  <a:pt x="708670" y="91115"/>
                </a:lnTo>
                <a:lnTo>
                  <a:pt x="708821" y="90541"/>
                </a:lnTo>
                <a:lnTo>
                  <a:pt x="708150" y="90876"/>
                </a:lnTo>
                <a:lnTo>
                  <a:pt x="708555" y="89809"/>
                </a:lnTo>
                <a:lnTo>
                  <a:pt x="708361" y="89668"/>
                </a:lnTo>
                <a:lnTo>
                  <a:pt x="708197" y="90098"/>
                </a:lnTo>
                <a:lnTo>
                  <a:pt x="707829" y="90184"/>
                </a:lnTo>
                <a:lnTo>
                  <a:pt x="707418" y="89592"/>
                </a:lnTo>
                <a:lnTo>
                  <a:pt x="707811" y="89473"/>
                </a:lnTo>
                <a:lnTo>
                  <a:pt x="707466" y="89196"/>
                </a:lnTo>
                <a:lnTo>
                  <a:pt x="707135" y="89664"/>
                </a:lnTo>
                <a:lnTo>
                  <a:pt x="706778" y="91305"/>
                </a:lnTo>
                <a:lnTo>
                  <a:pt x="706386" y="91186"/>
                </a:lnTo>
                <a:lnTo>
                  <a:pt x="706498" y="90500"/>
                </a:lnTo>
                <a:lnTo>
                  <a:pt x="705363" y="90821"/>
                </a:lnTo>
                <a:lnTo>
                  <a:pt x="705229" y="90650"/>
                </a:lnTo>
                <a:lnTo>
                  <a:pt x="705421" y="90260"/>
                </a:lnTo>
                <a:lnTo>
                  <a:pt x="705115" y="89880"/>
                </a:lnTo>
                <a:lnTo>
                  <a:pt x="704872" y="89860"/>
                </a:lnTo>
                <a:lnTo>
                  <a:pt x="704758" y="90224"/>
                </a:lnTo>
                <a:lnTo>
                  <a:pt x="704442" y="89871"/>
                </a:lnTo>
                <a:lnTo>
                  <a:pt x="704600" y="89599"/>
                </a:lnTo>
                <a:lnTo>
                  <a:pt x="704988" y="89723"/>
                </a:lnTo>
                <a:lnTo>
                  <a:pt x="705042" y="89445"/>
                </a:lnTo>
                <a:lnTo>
                  <a:pt x="704705" y="89230"/>
                </a:lnTo>
                <a:lnTo>
                  <a:pt x="703761" y="89336"/>
                </a:lnTo>
                <a:lnTo>
                  <a:pt x="704052" y="88450"/>
                </a:lnTo>
                <a:lnTo>
                  <a:pt x="703942" y="87721"/>
                </a:lnTo>
                <a:lnTo>
                  <a:pt x="703162" y="86744"/>
                </a:lnTo>
                <a:lnTo>
                  <a:pt x="703337" y="85647"/>
                </a:lnTo>
                <a:lnTo>
                  <a:pt x="702959" y="85745"/>
                </a:lnTo>
                <a:lnTo>
                  <a:pt x="703057" y="85060"/>
                </a:lnTo>
                <a:lnTo>
                  <a:pt x="702835" y="84817"/>
                </a:lnTo>
                <a:lnTo>
                  <a:pt x="703177" y="84132"/>
                </a:lnTo>
                <a:lnTo>
                  <a:pt x="702892" y="83941"/>
                </a:lnTo>
                <a:lnTo>
                  <a:pt x="703007" y="83492"/>
                </a:lnTo>
                <a:lnTo>
                  <a:pt x="702460" y="83086"/>
                </a:lnTo>
                <a:lnTo>
                  <a:pt x="701275" y="83509"/>
                </a:lnTo>
                <a:lnTo>
                  <a:pt x="700441" y="82629"/>
                </a:lnTo>
                <a:lnTo>
                  <a:pt x="699600" y="82995"/>
                </a:lnTo>
                <a:lnTo>
                  <a:pt x="698759" y="82276"/>
                </a:lnTo>
                <a:lnTo>
                  <a:pt x="698348" y="82193"/>
                </a:lnTo>
                <a:lnTo>
                  <a:pt x="698033" y="81671"/>
                </a:lnTo>
                <a:lnTo>
                  <a:pt x="697992" y="82193"/>
                </a:lnTo>
                <a:lnTo>
                  <a:pt x="697574" y="82279"/>
                </a:lnTo>
                <a:lnTo>
                  <a:pt x="697634" y="82654"/>
                </a:lnTo>
                <a:lnTo>
                  <a:pt x="696592" y="82962"/>
                </a:lnTo>
                <a:lnTo>
                  <a:pt x="696136" y="82732"/>
                </a:lnTo>
                <a:lnTo>
                  <a:pt x="695892" y="83112"/>
                </a:lnTo>
                <a:lnTo>
                  <a:pt x="694754" y="82242"/>
                </a:lnTo>
                <a:lnTo>
                  <a:pt x="693217" y="82450"/>
                </a:lnTo>
                <a:lnTo>
                  <a:pt x="693103" y="82923"/>
                </a:lnTo>
                <a:lnTo>
                  <a:pt x="692731" y="82724"/>
                </a:lnTo>
                <a:lnTo>
                  <a:pt x="692221" y="82875"/>
                </a:lnTo>
                <a:lnTo>
                  <a:pt x="691948" y="83815"/>
                </a:lnTo>
                <a:lnTo>
                  <a:pt x="691442" y="83340"/>
                </a:lnTo>
                <a:lnTo>
                  <a:pt x="691229" y="83922"/>
                </a:lnTo>
                <a:lnTo>
                  <a:pt x="690593" y="84067"/>
                </a:lnTo>
                <a:lnTo>
                  <a:pt x="690026" y="83819"/>
                </a:lnTo>
                <a:lnTo>
                  <a:pt x="689819" y="84165"/>
                </a:lnTo>
                <a:lnTo>
                  <a:pt x="690028" y="84785"/>
                </a:lnTo>
                <a:lnTo>
                  <a:pt x="689896" y="85237"/>
                </a:lnTo>
                <a:lnTo>
                  <a:pt x="689350" y="85426"/>
                </a:lnTo>
                <a:lnTo>
                  <a:pt x="689176" y="85034"/>
                </a:lnTo>
                <a:lnTo>
                  <a:pt x="689085" y="85396"/>
                </a:lnTo>
                <a:lnTo>
                  <a:pt x="688797" y="85446"/>
                </a:lnTo>
                <a:lnTo>
                  <a:pt x="688759" y="86337"/>
                </a:lnTo>
                <a:lnTo>
                  <a:pt x="688373" y="86424"/>
                </a:lnTo>
                <a:lnTo>
                  <a:pt x="688327" y="86116"/>
                </a:lnTo>
                <a:lnTo>
                  <a:pt x="688027" y="86125"/>
                </a:lnTo>
                <a:lnTo>
                  <a:pt x="687450" y="86846"/>
                </a:lnTo>
                <a:lnTo>
                  <a:pt x="686919" y="86911"/>
                </a:lnTo>
                <a:lnTo>
                  <a:pt x="686508" y="85421"/>
                </a:lnTo>
                <a:lnTo>
                  <a:pt x="686601" y="84727"/>
                </a:lnTo>
                <a:lnTo>
                  <a:pt x="686352" y="83737"/>
                </a:lnTo>
                <a:lnTo>
                  <a:pt x="686567" y="83219"/>
                </a:lnTo>
                <a:lnTo>
                  <a:pt x="686174" y="82905"/>
                </a:lnTo>
                <a:lnTo>
                  <a:pt x="685755" y="81951"/>
                </a:lnTo>
                <a:lnTo>
                  <a:pt x="684909" y="81168"/>
                </a:lnTo>
                <a:lnTo>
                  <a:pt x="684998" y="80688"/>
                </a:lnTo>
                <a:lnTo>
                  <a:pt x="685515" y="80632"/>
                </a:lnTo>
                <a:lnTo>
                  <a:pt x="685336" y="80074"/>
                </a:lnTo>
                <a:lnTo>
                  <a:pt x="684674" y="79489"/>
                </a:lnTo>
                <a:lnTo>
                  <a:pt x="684383" y="78809"/>
                </a:lnTo>
                <a:lnTo>
                  <a:pt x="683632" y="78523"/>
                </a:lnTo>
                <a:lnTo>
                  <a:pt x="683796" y="78049"/>
                </a:lnTo>
                <a:lnTo>
                  <a:pt x="683229" y="78089"/>
                </a:lnTo>
                <a:lnTo>
                  <a:pt x="682875" y="77666"/>
                </a:lnTo>
                <a:lnTo>
                  <a:pt x="683242" y="77196"/>
                </a:lnTo>
                <a:lnTo>
                  <a:pt x="682840" y="76738"/>
                </a:lnTo>
                <a:lnTo>
                  <a:pt x="682964" y="76167"/>
                </a:lnTo>
                <a:lnTo>
                  <a:pt x="682521" y="75948"/>
                </a:lnTo>
                <a:lnTo>
                  <a:pt x="681805" y="73849"/>
                </a:lnTo>
                <a:lnTo>
                  <a:pt x="681240" y="73543"/>
                </a:lnTo>
                <a:lnTo>
                  <a:pt x="681002" y="72713"/>
                </a:lnTo>
                <a:lnTo>
                  <a:pt x="680356" y="72650"/>
                </a:lnTo>
                <a:lnTo>
                  <a:pt x="679986" y="72341"/>
                </a:lnTo>
                <a:lnTo>
                  <a:pt x="679580" y="72582"/>
                </a:lnTo>
                <a:lnTo>
                  <a:pt x="678718" y="71915"/>
                </a:lnTo>
                <a:lnTo>
                  <a:pt x="678736" y="71495"/>
                </a:lnTo>
                <a:lnTo>
                  <a:pt x="679473" y="71492"/>
                </a:lnTo>
                <a:lnTo>
                  <a:pt x="679673" y="71019"/>
                </a:lnTo>
                <a:lnTo>
                  <a:pt x="679540" y="70403"/>
                </a:lnTo>
                <a:lnTo>
                  <a:pt x="680217" y="69355"/>
                </a:lnTo>
                <a:lnTo>
                  <a:pt x="680499" y="69312"/>
                </a:lnTo>
                <a:lnTo>
                  <a:pt x="680603" y="69749"/>
                </a:lnTo>
                <a:lnTo>
                  <a:pt x="680865" y="69813"/>
                </a:lnTo>
                <a:lnTo>
                  <a:pt x="681148" y="69531"/>
                </a:lnTo>
                <a:lnTo>
                  <a:pt x="680994" y="69208"/>
                </a:lnTo>
                <a:lnTo>
                  <a:pt x="681346" y="69388"/>
                </a:lnTo>
                <a:lnTo>
                  <a:pt x="681493" y="69101"/>
                </a:lnTo>
                <a:lnTo>
                  <a:pt x="681023" y="68579"/>
                </a:lnTo>
                <a:lnTo>
                  <a:pt x="681209" y="67983"/>
                </a:lnTo>
                <a:lnTo>
                  <a:pt x="680694" y="67753"/>
                </a:lnTo>
                <a:lnTo>
                  <a:pt x="679802" y="66728"/>
                </a:lnTo>
                <a:lnTo>
                  <a:pt x="679779" y="66261"/>
                </a:lnTo>
                <a:lnTo>
                  <a:pt x="680216" y="66045"/>
                </a:lnTo>
                <a:lnTo>
                  <a:pt x="680277" y="65774"/>
                </a:lnTo>
                <a:lnTo>
                  <a:pt x="678677" y="64238"/>
                </a:lnTo>
                <a:lnTo>
                  <a:pt x="678742" y="63635"/>
                </a:lnTo>
                <a:lnTo>
                  <a:pt x="679717" y="61488"/>
                </a:lnTo>
                <a:lnTo>
                  <a:pt x="679396" y="60338"/>
                </a:lnTo>
                <a:lnTo>
                  <a:pt x="678444" y="59721"/>
                </a:lnTo>
                <a:lnTo>
                  <a:pt x="677450" y="59381"/>
                </a:lnTo>
                <a:lnTo>
                  <a:pt x="676780" y="59512"/>
                </a:lnTo>
                <a:lnTo>
                  <a:pt x="676656" y="62353"/>
                </a:lnTo>
                <a:lnTo>
                  <a:pt x="676118" y="63105"/>
                </a:lnTo>
                <a:lnTo>
                  <a:pt x="675532" y="63350"/>
                </a:lnTo>
                <a:lnTo>
                  <a:pt x="674848" y="62217"/>
                </a:lnTo>
                <a:lnTo>
                  <a:pt x="675145" y="61642"/>
                </a:lnTo>
                <a:lnTo>
                  <a:pt x="675005" y="61311"/>
                </a:lnTo>
                <a:lnTo>
                  <a:pt x="674388" y="61102"/>
                </a:lnTo>
                <a:lnTo>
                  <a:pt x="672582" y="59601"/>
                </a:lnTo>
                <a:lnTo>
                  <a:pt x="670267" y="58993"/>
                </a:lnTo>
                <a:lnTo>
                  <a:pt x="666894" y="56993"/>
                </a:lnTo>
                <a:lnTo>
                  <a:pt x="666554" y="56980"/>
                </a:lnTo>
                <a:lnTo>
                  <a:pt x="666377" y="57500"/>
                </a:lnTo>
                <a:lnTo>
                  <a:pt x="665691" y="58120"/>
                </a:lnTo>
                <a:lnTo>
                  <a:pt x="664583" y="60145"/>
                </a:lnTo>
                <a:lnTo>
                  <a:pt x="662665" y="60673"/>
                </a:lnTo>
                <a:lnTo>
                  <a:pt x="661715" y="60616"/>
                </a:lnTo>
                <a:lnTo>
                  <a:pt x="660897" y="60486"/>
                </a:lnTo>
                <a:lnTo>
                  <a:pt x="660390" y="60038"/>
                </a:lnTo>
                <a:lnTo>
                  <a:pt x="659703" y="59849"/>
                </a:lnTo>
                <a:lnTo>
                  <a:pt x="658561" y="60911"/>
                </a:lnTo>
                <a:lnTo>
                  <a:pt x="657798" y="61234"/>
                </a:lnTo>
                <a:lnTo>
                  <a:pt x="657314" y="61165"/>
                </a:lnTo>
                <a:lnTo>
                  <a:pt x="655829" y="60072"/>
                </a:lnTo>
                <a:lnTo>
                  <a:pt x="654577" y="61863"/>
                </a:lnTo>
                <a:lnTo>
                  <a:pt x="655791" y="62187"/>
                </a:lnTo>
                <a:lnTo>
                  <a:pt x="656371" y="62706"/>
                </a:lnTo>
                <a:lnTo>
                  <a:pt x="656499" y="63522"/>
                </a:lnTo>
                <a:lnTo>
                  <a:pt x="656028" y="64794"/>
                </a:lnTo>
                <a:lnTo>
                  <a:pt x="656604" y="65685"/>
                </a:lnTo>
                <a:lnTo>
                  <a:pt x="655966" y="66609"/>
                </a:lnTo>
                <a:lnTo>
                  <a:pt x="654830" y="67422"/>
                </a:lnTo>
                <a:lnTo>
                  <a:pt x="653603" y="66724"/>
                </a:lnTo>
                <a:lnTo>
                  <a:pt x="652310" y="62868"/>
                </a:lnTo>
                <a:lnTo>
                  <a:pt x="651549" y="62665"/>
                </a:lnTo>
                <a:lnTo>
                  <a:pt x="650624" y="61727"/>
                </a:lnTo>
                <a:lnTo>
                  <a:pt x="649794" y="62087"/>
                </a:lnTo>
                <a:lnTo>
                  <a:pt x="648487" y="63932"/>
                </a:lnTo>
                <a:lnTo>
                  <a:pt x="647802" y="64309"/>
                </a:lnTo>
                <a:lnTo>
                  <a:pt x="647144" y="64290"/>
                </a:lnTo>
                <a:lnTo>
                  <a:pt x="645951" y="63496"/>
                </a:lnTo>
                <a:lnTo>
                  <a:pt x="644208" y="64325"/>
                </a:lnTo>
                <a:lnTo>
                  <a:pt x="643774" y="63627"/>
                </a:lnTo>
                <a:lnTo>
                  <a:pt x="643930" y="62831"/>
                </a:lnTo>
                <a:lnTo>
                  <a:pt x="643741" y="60556"/>
                </a:lnTo>
                <a:lnTo>
                  <a:pt x="643087" y="59283"/>
                </a:lnTo>
                <a:lnTo>
                  <a:pt x="642568" y="59428"/>
                </a:lnTo>
                <a:lnTo>
                  <a:pt x="642630" y="60179"/>
                </a:lnTo>
                <a:lnTo>
                  <a:pt x="641978" y="61629"/>
                </a:lnTo>
                <a:lnTo>
                  <a:pt x="641561" y="62028"/>
                </a:lnTo>
                <a:lnTo>
                  <a:pt x="641180" y="61441"/>
                </a:lnTo>
                <a:lnTo>
                  <a:pt x="638574" y="60309"/>
                </a:lnTo>
                <a:lnTo>
                  <a:pt x="639064" y="58732"/>
                </a:lnTo>
                <a:lnTo>
                  <a:pt x="638217" y="57724"/>
                </a:lnTo>
                <a:lnTo>
                  <a:pt x="637244" y="57512"/>
                </a:lnTo>
                <a:lnTo>
                  <a:pt x="636030" y="56746"/>
                </a:lnTo>
                <a:lnTo>
                  <a:pt x="634332" y="57642"/>
                </a:lnTo>
                <a:lnTo>
                  <a:pt x="633307" y="57332"/>
                </a:lnTo>
                <a:lnTo>
                  <a:pt x="632572" y="56302"/>
                </a:lnTo>
                <a:lnTo>
                  <a:pt x="631810" y="54522"/>
                </a:lnTo>
                <a:lnTo>
                  <a:pt x="630459" y="53586"/>
                </a:lnTo>
                <a:lnTo>
                  <a:pt x="630224" y="52371"/>
                </a:lnTo>
                <a:lnTo>
                  <a:pt x="629821" y="51966"/>
                </a:lnTo>
                <a:lnTo>
                  <a:pt x="629149" y="51864"/>
                </a:lnTo>
                <a:lnTo>
                  <a:pt x="628210" y="52947"/>
                </a:lnTo>
                <a:lnTo>
                  <a:pt x="625824" y="52783"/>
                </a:lnTo>
                <a:lnTo>
                  <a:pt x="622752" y="50352"/>
                </a:lnTo>
                <a:lnTo>
                  <a:pt x="621751" y="50218"/>
                </a:lnTo>
                <a:lnTo>
                  <a:pt x="620509" y="48967"/>
                </a:lnTo>
                <a:lnTo>
                  <a:pt x="620192" y="49200"/>
                </a:lnTo>
                <a:lnTo>
                  <a:pt x="619248" y="49299"/>
                </a:lnTo>
                <a:lnTo>
                  <a:pt x="618873" y="50406"/>
                </a:lnTo>
                <a:lnTo>
                  <a:pt x="616949" y="51436"/>
                </a:lnTo>
                <a:lnTo>
                  <a:pt x="614445" y="55269"/>
                </a:lnTo>
                <a:lnTo>
                  <a:pt x="614555" y="55461"/>
                </a:lnTo>
                <a:lnTo>
                  <a:pt x="615114" y="55387"/>
                </a:lnTo>
                <a:lnTo>
                  <a:pt x="616159" y="56452"/>
                </a:lnTo>
                <a:lnTo>
                  <a:pt x="617060" y="55664"/>
                </a:lnTo>
                <a:lnTo>
                  <a:pt x="618481" y="55049"/>
                </a:lnTo>
                <a:lnTo>
                  <a:pt x="620317" y="55348"/>
                </a:lnTo>
                <a:lnTo>
                  <a:pt x="621402" y="55853"/>
                </a:lnTo>
                <a:lnTo>
                  <a:pt x="621715" y="56404"/>
                </a:lnTo>
                <a:lnTo>
                  <a:pt x="621008" y="58121"/>
                </a:lnTo>
                <a:lnTo>
                  <a:pt x="620658" y="58340"/>
                </a:lnTo>
                <a:lnTo>
                  <a:pt x="620391" y="59256"/>
                </a:lnTo>
                <a:lnTo>
                  <a:pt x="619952" y="59834"/>
                </a:lnTo>
                <a:lnTo>
                  <a:pt x="619644" y="59942"/>
                </a:lnTo>
                <a:lnTo>
                  <a:pt x="619226" y="59737"/>
                </a:lnTo>
                <a:lnTo>
                  <a:pt x="617290" y="58196"/>
                </a:lnTo>
                <a:lnTo>
                  <a:pt x="614825" y="57700"/>
                </a:lnTo>
                <a:lnTo>
                  <a:pt x="614838" y="59710"/>
                </a:lnTo>
                <a:lnTo>
                  <a:pt x="612569" y="60135"/>
                </a:lnTo>
                <a:lnTo>
                  <a:pt x="611052" y="62333"/>
                </a:lnTo>
                <a:lnTo>
                  <a:pt x="610032" y="62510"/>
                </a:lnTo>
                <a:lnTo>
                  <a:pt x="609009" y="61794"/>
                </a:lnTo>
                <a:lnTo>
                  <a:pt x="607816" y="62466"/>
                </a:lnTo>
                <a:lnTo>
                  <a:pt x="607573" y="62737"/>
                </a:lnTo>
                <a:lnTo>
                  <a:pt x="607752" y="63834"/>
                </a:lnTo>
                <a:lnTo>
                  <a:pt x="607594" y="64847"/>
                </a:lnTo>
                <a:lnTo>
                  <a:pt x="606803" y="65817"/>
                </a:lnTo>
                <a:lnTo>
                  <a:pt x="603854" y="66763"/>
                </a:lnTo>
                <a:lnTo>
                  <a:pt x="603634" y="66240"/>
                </a:lnTo>
                <a:lnTo>
                  <a:pt x="604201" y="65017"/>
                </a:lnTo>
                <a:lnTo>
                  <a:pt x="605568" y="64567"/>
                </a:lnTo>
                <a:lnTo>
                  <a:pt x="606188" y="63312"/>
                </a:lnTo>
                <a:lnTo>
                  <a:pt x="606182" y="62711"/>
                </a:lnTo>
                <a:lnTo>
                  <a:pt x="605258" y="61622"/>
                </a:lnTo>
                <a:lnTo>
                  <a:pt x="604636" y="61429"/>
                </a:lnTo>
                <a:lnTo>
                  <a:pt x="603570" y="60334"/>
                </a:lnTo>
                <a:lnTo>
                  <a:pt x="603162" y="58858"/>
                </a:lnTo>
                <a:lnTo>
                  <a:pt x="599761" y="57128"/>
                </a:lnTo>
                <a:lnTo>
                  <a:pt x="599898" y="56186"/>
                </a:lnTo>
                <a:lnTo>
                  <a:pt x="600899" y="54711"/>
                </a:lnTo>
                <a:lnTo>
                  <a:pt x="600752" y="53714"/>
                </a:lnTo>
                <a:lnTo>
                  <a:pt x="599484" y="52244"/>
                </a:lnTo>
                <a:lnTo>
                  <a:pt x="598343" y="51849"/>
                </a:lnTo>
                <a:lnTo>
                  <a:pt x="597421" y="51100"/>
                </a:lnTo>
                <a:lnTo>
                  <a:pt x="596391" y="47711"/>
                </a:lnTo>
                <a:lnTo>
                  <a:pt x="596038" y="47734"/>
                </a:lnTo>
                <a:lnTo>
                  <a:pt x="595268" y="48668"/>
                </a:lnTo>
                <a:lnTo>
                  <a:pt x="595385" y="48986"/>
                </a:lnTo>
                <a:lnTo>
                  <a:pt x="596015" y="49290"/>
                </a:lnTo>
                <a:lnTo>
                  <a:pt x="596051" y="49692"/>
                </a:lnTo>
                <a:lnTo>
                  <a:pt x="595153" y="51292"/>
                </a:lnTo>
                <a:lnTo>
                  <a:pt x="595438" y="52461"/>
                </a:lnTo>
                <a:lnTo>
                  <a:pt x="594721" y="52880"/>
                </a:lnTo>
                <a:lnTo>
                  <a:pt x="594286" y="52881"/>
                </a:lnTo>
                <a:lnTo>
                  <a:pt x="593895" y="51991"/>
                </a:lnTo>
                <a:lnTo>
                  <a:pt x="593882" y="51165"/>
                </a:lnTo>
                <a:lnTo>
                  <a:pt x="592504" y="49744"/>
                </a:lnTo>
                <a:lnTo>
                  <a:pt x="591424" y="49141"/>
                </a:lnTo>
                <a:lnTo>
                  <a:pt x="590375" y="49795"/>
                </a:lnTo>
                <a:lnTo>
                  <a:pt x="590338" y="50171"/>
                </a:lnTo>
                <a:lnTo>
                  <a:pt x="592432" y="52172"/>
                </a:lnTo>
                <a:lnTo>
                  <a:pt x="592398" y="52568"/>
                </a:lnTo>
                <a:lnTo>
                  <a:pt x="589434" y="56383"/>
                </a:lnTo>
                <a:lnTo>
                  <a:pt x="587491" y="57493"/>
                </a:lnTo>
                <a:lnTo>
                  <a:pt x="586977" y="57059"/>
                </a:lnTo>
                <a:lnTo>
                  <a:pt x="586805" y="56383"/>
                </a:lnTo>
                <a:lnTo>
                  <a:pt x="588694" y="54480"/>
                </a:lnTo>
                <a:lnTo>
                  <a:pt x="589144" y="53716"/>
                </a:lnTo>
                <a:lnTo>
                  <a:pt x="588005" y="51891"/>
                </a:lnTo>
                <a:lnTo>
                  <a:pt x="587199" y="51038"/>
                </a:lnTo>
                <a:lnTo>
                  <a:pt x="585876" y="48118"/>
                </a:lnTo>
                <a:lnTo>
                  <a:pt x="585229" y="47413"/>
                </a:lnTo>
                <a:lnTo>
                  <a:pt x="585453" y="45778"/>
                </a:lnTo>
                <a:lnTo>
                  <a:pt x="585200" y="44968"/>
                </a:lnTo>
                <a:lnTo>
                  <a:pt x="583703" y="44113"/>
                </a:lnTo>
                <a:lnTo>
                  <a:pt x="581325" y="44681"/>
                </a:lnTo>
                <a:lnTo>
                  <a:pt x="579828" y="44158"/>
                </a:lnTo>
                <a:lnTo>
                  <a:pt x="578503" y="44078"/>
                </a:lnTo>
                <a:lnTo>
                  <a:pt x="577728" y="44432"/>
                </a:lnTo>
                <a:lnTo>
                  <a:pt x="575052" y="46477"/>
                </a:lnTo>
                <a:lnTo>
                  <a:pt x="574324" y="46730"/>
                </a:lnTo>
                <a:lnTo>
                  <a:pt x="573801" y="45579"/>
                </a:lnTo>
                <a:lnTo>
                  <a:pt x="573696" y="44706"/>
                </a:lnTo>
                <a:lnTo>
                  <a:pt x="575261" y="43457"/>
                </a:lnTo>
                <a:lnTo>
                  <a:pt x="575420" y="43055"/>
                </a:lnTo>
                <a:lnTo>
                  <a:pt x="575268" y="42734"/>
                </a:lnTo>
                <a:lnTo>
                  <a:pt x="574092" y="42473"/>
                </a:lnTo>
                <a:lnTo>
                  <a:pt x="573027" y="42786"/>
                </a:lnTo>
                <a:lnTo>
                  <a:pt x="572706" y="43278"/>
                </a:lnTo>
                <a:lnTo>
                  <a:pt x="572464" y="44564"/>
                </a:lnTo>
                <a:lnTo>
                  <a:pt x="571706" y="45300"/>
                </a:lnTo>
                <a:lnTo>
                  <a:pt x="571080" y="45322"/>
                </a:lnTo>
                <a:lnTo>
                  <a:pt x="569268" y="43198"/>
                </a:lnTo>
                <a:lnTo>
                  <a:pt x="568295" y="41021"/>
                </a:lnTo>
                <a:lnTo>
                  <a:pt x="568363" y="39622"/>
                </a:lnTo>
                <a:lnTo>
                  <a:pt x="567779" y="39669"/>
                </a:lnTo>
                <a:lnTo>
                  <a:pt x="566231" y="40876"/>
                </a:lnTo>
                <a:lnTo>
                  <a:pt x="565589" y="40930"/>
                </a:lnTo>
                <a:lnTo>
                  <a:pt x="565361" y="40386"/>
                </a:lnTo>
                <a:lnTo>
                  <a:pt x="565545" y="38983"/>
                </a:lnTo>
                <a:lnTo>
                  <a:pt x="564143" y="37381"/>
                </a:lnTo>
                <a:lnTo>
                  <a:pt x="564127" y="36765"/>
                </a:lnTo>
                <a:lnTo>
                  <a:pt x="563117" y="36018"/>
                </a:lnTo>
                <a:lnTo>
                  <a:pt x="562343" y="35488"/>
                </a:lnTo>
                <a:lnTo>
                  <a:pt x="561855" y="35425"/>
                </a:lnTo>
                <a:lnTo>
                  <a:pt x="560777" y="37072"/>
                </a:lnTo>
                <a:lnTo>
                  <a:pt x="560605" y="37939"/>
                </a:lnTo>
                <a:lnTo>
                  <a:pt x="560894" y="39404"/>
                </a:lnTo>
                <a:lnTo>
                  <a:pt x="562138" y="40534"/>
                </a:lnTo>
                <a:lnTo>
                  <a:pt x="562368" y="41078"/>
                </a:lnTo>
                <a:lnTo>
                  <a:pt x="560974" y="42091"/>
                </a:lnTo>
                <a:lnTo>
                  <a:pt x="560255" y="42187"/>
                </a:lnTo>
                <a:lnTo>
                  <a:pt x="558924" y="40285"/>
                </a:lnTo>
                <a:lnTo>
                  <a:pt x="557024" y="40133"/>
                </a:lnTo>
                <a:lnTo>
                  <a:pt x="555692" y="37615"/>
                </a:lnTo>
                <a:lnTo>
                  <a:pt x="554663" y="36858"/>
                </a:lnTo>
                <a:lnTo>
                  <a:pt x="554440" y="36363"/>
                </a:lnTo>
                <a:lnTo>
                  <a:pt x="554728" y="34012"/>
                </a:lnTo>
                <a:lnTo>
                  <a:pt x="553969" y="32018"/>
                </a:lnTo>
                <a:lnTo>
                  <a:pt x="553816" y="30619"/>
                </a:lnTo>
                <a:lnTo>
                  <a:pt x="552862" y="29411"/>
                </a:lnTo>
                <a:lnTo>
                  <a:pt x="551201" y="29285"/>
                </a:lnTo>
                <a:lnTo>
                  <a:pt x="550630" y="29524"/>
                </a:lnTo>
                <a:lnTo>
                  <a:pt x="550265" y="30201"/>
                </a:lnTo>
                <a:lnTo>
                  <a:pt x="552191" y="32953"/>
                </a:lnTo>
                <a:lnTo>
                  <a:pt x="552614" y="35498"/>
                </a:lnTo>
                <a:lnTo>
                  <a:pt x="552391" y="36323"/>
                </a:lnTo>
                <a:lnTo>
                  <a:pt x="552065" y="36584"/>
                </a:lnTo>
                <a:lnTo>
                  <a:pt x="551497" y="36533"/>
                </a:lnTo>
                <a:lnTo>
                  <a:pt x="550699" y="35623"/>
                </a:lnTo>
                <a:lnTo>
                  <a:pt x="550098" y="35475"/>
                </a:lnTo>
                <a:lnTo>
                  <a:pt x="549553" y="35547"/>
                </a:lnTo>
                <a:lnTo>
                  <a:pt x="548487" y="36348"/>
                </a:lnTo>
                <a:lnTo>
                  <a:pt x="546979" y="35954"/>
                </a:lnTo>
                <a:lnTo>
                  <a:pt x="545921" y="36439"/>
                </a:lnTo>
                <a:lnTo>
                  <a:pt x="545065" y="36148"/>
                </a:lnTo>
                <a:lnTo>
                  <a:pt x="544655" y="35167"/>
                </a:lnTo>
                <a:lnTo>
                  <a:pt x="544626" y="34063"/>
                </a:lnTo>
                <a:lnTo>
                  <a:pt x="544731" y="33600"/>
                </a:lnTo>
                <a:lnTo>
                  <a:pt x="545411" y="32957"/>
                </a:lnTo>
                <a:lnTo>
                  <a:pt x="545552" y="30772"/>
                </a:lnTo>
                <a:lnTo>
                  <a:pt x="544677" y="28907"/>
                </a:lnTo>
                <a:lnTo>
                  <a:pt x="540844" y="27731"/>
                </a:lnTo>
                <a:lnTo>
                  <a:pt x="539185" y="26788"/>
                </a:lnTo>
                <a:lnTo>
                  <a:pt x="538447" y="25805"/>
                </a:lnTo>
                <a:lnTo>
                  <a:pt x="537713" y="25322"/>
                </a:lnTo>
                <a:lnTo>
                  <a:pt x="537707" y="24902"/>
                </a:lnTo>
                <a:lnTo>
                  <a:pt x="535642" y="23748"/>
                </a:lnTo>
                <a:lnTo>
                  <a:pt x="535414" y="21974"/>
                </a:lnTo>
                <a:lnTo>
                  <a:pt x="534923" y="21440"/>
                </a:lnTo>
                <a:lnTo>
                  <a:pt x="533823" y="20985"/>
                </a:lnTo>
                <a:lnTo>
                  <a:pt x="533423" y="20562"/>
                </a:lnTo>
                <a:lnTo>
                  <a:pt x="531485" y="20671"/>
                </a:lnTo>
                <a:lnTo>
                  <a:pt x="530493" y="20278"/>
                </a:lnTo>
                <a:lnTo>
                  <a:pt x="530645" y="19642"/>
                </a:lnTo>
                <a:lnTo>
                  <a:pt x="532258" y="18859"/>
                </a:lnTo>
                <a:lnTo>
                  <a:pt x="532556" y="18226"/>
                </a:lnTo>
                <a:lnTo>
                  <a:pt x="531999" y="18070"/>
                </a:lnTo>
                <a:lnTo>
                  <a:pt x="531379" y="17376"/>
                </a:lnTo>
                <a:lnTo>
                  <a:pt x="529506" y="16262"/>
                </a:lnTo>
                <a:lnTo>
                  <a:pt x="529517" y="15339"/>
                </a:lnTo>
                <a:lnTo>
                  <a:pt x="528861" y="12927"/>
                </a:lnTo>
                <a:lnTo>
                  <a:pt x="527677" y="10696"/>
                </a:lnTo>
                <a:lnTo>
                  <a:pt x="527574" y="9550"/>
                </a:lnTo>
                <a:lnTo>
                  <a:pt x="528884" y="6090"/>
                </a:lnTo>
                <a:lnTo>
                  <a:pt x="528818" y="4516"/>
                </a:lnTo>
                <a:lnTo>
                  <a:pt x="527055" y="2322"/>
                </a:lnTo>
                <a:lnTo>
                  <a:pt x="526471" y="1885"/>
                </a:lnTo>
                <a:lnTo>
                  <a:pt x="525761" y="536"/>
                </a:lnTo>
                <a:lnTo>
                  <a:pt x="525101" y="79"/>
                </a:lnTo>
                <a:lnTo>
                  <a:pt x="524560" y="0"/>
                </a:lnTo>
                <a:lnTo>
                  <a:pt x="523751" y="358"/>
                </a:lnTo>
                <a:lnTo>
                  <a:pt x="522223" y="395"/>
                </a:lnTo>
                <a:lnTo>
                  <a:pt x="520696" y="819"/>
                </a:lnTo>
                <a:lnTo>
                  <a:pt x="520123" y="1624"/>
                </a:lnTo>
                <a:lnTo>
                  <a:pt x="519541" y="3689"/>
                </a:lnTo>
                <a:lnTo>
                  <a:pt x="518106" y="5430"/>
                </a:lnTo>
                <a:lnTo>
                  <a:pt x="516339" y="5821"/>
                </a:lnTo>
                <a:lnTo>
                  <a:pt x="515560" y="5698"/>
                </a:lnTo>
                <a:lnTo>
                  <a:pt x="513391" y="6441"/>
                </a:lnTo>
                <a:lnTo>
                  <a:pt x="513177" y="6985"/>
                </a:lnTo>
                <a:lnTo>
                  <a:pt x="513694" y="7554"/>
                </a:lnTo>
                <a:lnTo>
                  <a:pt x="513589" y="8102"/>
                </a:lnTo>
                <a:lnTo>
                  <a:pt x="513259" y="8837"/>
                </a:lnTo>
                <a:lnTo>
                  <a:pt x="512052" y="10163"/>
                </a:lnTo>
                <a:lnTo>
                  <a:pt x="511768" y="11705"/>
                </a:lnTo>
                <a:lnTo>
                  <a:pt x="511321" y="12050"/>
                </a:lnTo>
                <a:lnTo>
                  <a:pt x="510181" y="12265"/>
                </a:lnTo>
                <a:lnTo>
                  <a:pt x="509336" y="11996"/>
                </a:lnTo>
                <a:lnTo>
                  <a:pt x="508121" y="12080"/>
                </a:lnTo>
                <a:lnTo>
                  <a:pt x="506914" y="11822"/>
                </a:lnTo>
                <a:lnTo>
                  <a:pt x="504162" y="12629"/>
                </a:lnTo>
                <a:lnTo>
                  <a:pt x="502881" y="12330"/>
                </a:lnTo>
                <a:lnTo>
                  <a:pt x="501166" y="12501"/>
                </a:lnTo>
                <a:lnTo>
                  <a:pt x="498349" y="12201"/>
                </a:lnTo>
                <a:lnTo>
                  <a:pt x="497223" y="12365"/>
                </a:lnTo>
                <a:lnTo>
                  <a:pt x="495454" y="13634"/>
                </a:lnTo>
                <a:lnTo>
                  <a:pt x="495093" y="14623"/>
                </a:lnTo>
                <a:lnTo>
                  <a:pt x="494852" y="17470"/>
                </a:lnTo>
                <a:lnTo>
                  <a:pt x="495607" y="19285"/>
                </a:lnTo>
                <a:lnTo>
                  <a:pt x="495170" y="20111"/>
                </a:lnTo>
                <a:lnTo>
                  <a:pt x="493726" y="19690"/>
                </a:lnTo>
                <a:lnTo>
                  <a:pt x="492301" y="18180"/>
                </a:lnTo>
                <a:lnTo>
                  <a:pt x="491295" y="15378"/>
                </a:lnTo>
                <a:lnTo>
                  <a:pt x="489968" y="14066"/>
                </a:lnTo>
                <a:lnTo>
                  <a:pt x="489358" y="13752"/>
                </a:lnTo>
                <a:lnTo>
                  <a:pt x="488873" y="13647"/>
                </a:lnTo>
                <a:lnTo>
                  <a:pt x="485512" y="14143"/>
                </a:lnTo>
                <a:lnTo>
                  <a:pt x="483574" y="13729"/>
                </a:lnTo>
                <a:lnTo>
                  <a:pt x="481664" y="15280"/>
                </a:lnTo>
                <a:lnTo>
                  <a:pt x="480350" y="15535"/>
                </a:lnTo>
                <a:lnTo>
                  <a:pt x="477038" y="14622"/>
                </a:lnTo>
                <a:lnTo>
                  <a:pt x="476408" y="15024"/>
                </a:lnTo>
                <a:lnTo>
                  <a:pt x="475534" y="15154"/>
                </a:lnTo>
                <a:lnTo>
                  <a:pt x="475106" y="14767"/>
                </a:lnTo>
                <a:lnTo>
                  <a:pt x="474930" y="14168"/>
                </a:lnTo>
                <a:lnTo>
                  <a:pt x="476063" y="11863"/>
                </a:lnTo>
                <a:lnTo>
                  <a:pt x="475588" y="10881"/>
                </a:lnTo>
                <a:lnTo>
                  <a:pt x="475958" y="9814"/>
                </a:lnTo>
                <a:lnTo>
                  <a:pt x="475802" y="8989"/>
                </a:lnTo>
                <a:lnTo>
                  <a:pt x="475247" y="8756"/>
                </a:lnTo>
                <a:lnTo>
                  <a:pt x="472500" y="8718"/>
                </a:lnTo>
                <a:lnTo>
                  <a:pt x="472214" y="9766"/>
                </a:lnTo>
                <a:lnTo>
                  <a:pt x="471863" y="10105"/>
                </a:lnTo>
                <a:lnTo>
                  <a:pt x="471078" y="9964"/>
                </a:lnTo>
                <a:lnTo>
                  <a:pt x="470486" y="9417"/>
                </a:lnTo>
                <a:lnTo>
                  <a:pt x="469580" y="9562"/>
                </a:lnTo>
                <a:lnTo>
                  <a:pt x="467974" y="10561"/>
                </a:lnTo>
                <a:lnTo>
                  <a:pt x="466567" y="10916"/>
                </a:lnTo>
                <a:lnTo>
                  <a:pt x="466545" y="12084"/>
                </a:lnTo>
                <a:lnTo>
                  <a:pt x="468301" y="14367"/>
                </a:lnTo>
                <a:lnTo>
                  <a:pt x="468176" y="15209"/>
                </a:lnTo>
                <a:lnTo>
                  <a:pt x="467258" y="15993"/>
                </a:lnTo>
                <a:lnTo>
                  <a:pt x="466292" y="16355"/>
                </a:lnTo>
                <a:lnTo>
                  <a:pt x="464346" y="15032"/>
                </a:lnTo>
                <a:lnTo>
                  <a:pt x="463548" y="15330"/>
                </a:lnTo>
                <a:lnTo>
                  <a:pt x="461780" y="16872"/>
                </a:lnTo>
                <a:lnTo>
                  <a:pt x="460595" y="16783"/>
                </a:lnTo>
                <a:lnTo>
                  <a:pt x="459154" y="16272"/>
                </a:lnTo>
                <a:lnTo>
                  <a:pt x="457677" y="16862"/>
                </a:lnTo>
                <a:lnTo>
                  <a:pt x="457103" y="17842"/>
                </a:lnTo>
                <a:lnTo>
                  <a:pt x="457133" y="18302"/>
                </a:lnTo>
                <a:lnTo>
                  <a:pt x="458447" y="19820"/>
                </a:lnTo>
                <a:lnTo>
                  <a:pt x="458840" y="20827"/>
                </a:lnTo>
                <a:lnTo>
                  <a:pt x="457709" y="23258"/>
                </a:lnTo>
                <a:lnTo>
                  <a:pt x="457699" y="25241"/>
                </a:lnTo>
                <a:lnTo>
                  <a:pt x="456015" y="26350"/>
                </a:lnTo>
                <a:lnTo>
                  <a:pt x="454751" y="26573"/>
                </a:lnTo>
                <a:lnTo>
                  <a:pt x="454233" y="27001"/>
                </a:lnTo>
                <a:lnTo>
                  <a:pt x="453233" y="29236"/>
                </a:lnTo>
                <a:lnTo>
                  <a:pt x="452437" y="32443"/>
                </a:lnTo>
                <a:lnTo>
                  <a:pt x="451740" y="32958"/>
                </a:lnTo>
                <a:lnTo>
                  <a:pt x="449405" y="33501"/>
                </a:lnTo>
                <a:lnTo>
                  <a:pt x="447773" y="35034"/>
                </a:lnTo>
                <a:lnTo>
                  <a:pt x="447176" y="34875"/>
                </a:lnTo>
                <a:lnTo>
                  <a:pt x="444752" y="37985"/>
                </a:lnTo>
                <a:lnTo>
                  <a:pt x="443355" y="38983"/>
                </a:lnTo>
                <a:lnTo>
                  <a:pt x="442381" y="38977"/>
                </a:lnTo>
                <a:lnTo>
                  <a:pt x="441359" y="38376"/>
                </a:lnTo>
                <a:lnTo>
                  <a:pt x="441095" y="37370"/>
                </a:lnTo>
                <a:lnTo>
                  <a:pt x="440089" y="36981"/>
                </a:lnTo>
                <a:lnTo>
                  <a:pt x="439801" y="35388"/>
                </a:lnTo>
                <a:lnTo>
                  <a:pt x="439131" y="34800"/>
                </a:lnTo>
                <a:lnTo>
                  <a:pt x="438632" y="34864"/>
                </a:lnTo>
                <a:lnTo>
                  <a:pt x="438011" y="35494"/>
                </a:lnTo>
                <a:lnTo>
                  <a:pt x="437195" y="35373"/>
                </a:lnTo>
                <a:lnTo>
                  <a:pt x="436787" y="33972"/>
                </a:lnTo>
                <a:lnTo>
                  <a:pt x="436884" y="33351"/>
                </a:lnTo>
                <a:lnTo>
                  <a:pt x="436423" y="33217"/>
                </a:lnTo>
                <a:lnTo>
                  <a:pt x="435831" y="32120"/>
                </a:lnTo>
                <a:lnTo>
                  <a:pt x="435044" y="31803"/>
                </a:lnTo>
                <a:lnTo>
                  <a:pt x="432989" y="30070"/>
                </a:lnTo>
                <a:lnTo>
                  <a:pt x="432825" y="29502"/>
                </a:lnTo>
                <a:lnTo>
                  <a:pt x="432959" y="28286"/>
                </a:lnTo>
                <a:lnTo>
                  <a:pt x="431918" y="27180"/>
                </a:lnTo>
                <a:lnTo>
                  <a:pt x="429411" y="26864"/>
                </a:lnTo>
                <a:lnTo>
                  <a:pt x="428043" y="26944"/>
                </a:lnTo>
                <a:lnTo>
                  <a:pt x="427259" y="27360"/>
                </a:lnTo>
                <a:lnTo>
                  <a:pt x="427306" y="28072"/>
                </a:lnTo>
                <a:lnTo>
                  <a:pt x="427102" y="28453"/>
                </a:lnTo>
                <a:lnTo>
                  <a:pt x="426037" y="29394"/>
                </a:lnTo>
                <a:lnTo>
                  <a:pt x="425618" y="31064"/>
                </a:lnTo>
                <a:lnTo>
                  <a:pt x="424489" y="31717"/>
                </a:lnTo>
                <a:lnTo>
                  <a:pt x="423904" y="32422"/>
                </a:lnTo>
                <a:lnTo>
                  <a:pt x="422767" y="32945"/>
                </a:lnTo>
                <a:lnTo>
                  <a:pt x="421503" y="35602"/>
                </a:lnTo>
                <a:lnTo>
                  <a:pt x="420458" y="36278"/>
                </a:lnTo>
                <a:lnTo>
                  <a:pt x="419286" y="36544"/>
                </a:lnTo>
                <a:lnTo>
                  <a:pt x="418502" y="37213"/>
                </a:lnTo>
                <a:lnTo>
                  <a:pt x="417432" y="38582"/>
                </a:lnTo>
                <a:lnTo>
                  <a:pt x="416676" y="40427"/>
                </a:lnTo>
                <a:lnTo>
                  <a:pt x="414925" y="41523"/>
                </a:lnTo>
                <a:lnTo>
                  <a:pt x="413932" y="44124"/>
                </a:lnTo>
                <a:lnTo>
                  <a:pt x="414026" y="46357"/>
                </a:lnTo>
                <a:lnTo>
                  <a:pt x="413396" y="46935"/>
                </a:lnTo>
                <a:lnTo>
                  <a:pt x="412737" y="47009"/>
                </a:lnTo>
                <a:lnTo>
                  <a:pt x="410841" y="46478"/>
                </a:lnTo>
                <a:lnTo>
                  <a:pt x="408568" y="44969"/>
                </a:lnTo>
                <a:lnTo>
                  <a:pt x="408756" y="44192"/>
                </a:lnTo>
                <a:lnTo>
                  <a:pt x="409693" y="43266"/>
                </a:lnTo>
                <a:lnTo>
                  <a:pt x="409966" y="42079"/>
                </a:lnTo>
                <a:lnTo>
                  <a:pt x="409797" y="40528"/>
                </a:lnTo>
                <a:lnTo>
                  <a:pt x="409997" y="38882"/>
                </a:lnTo>
                <a:lnTo>
                  <a:pt x="409783" y="38392"/>
                </a:lnTo>
                <a:lnTo>
                  <a:pt x="409089" y="37968"/>
                </a:lnTo>
                <a:lnTo>
                  <a:pt x="408190" y="37646"/>
                </a:lnTo>
                <a:lnTo>
                  <a:pt x="407405" y="37803"/>
                </a:lnTo>
                <a:lnTo>
                  <a:pt x="406980" y="38073"/>
                </a:lnTo>
                <a:lnTo>
                  <a:pt x="405767" y="39842"/>
                </a:lnTo>
                <a:lnTo>
                  <a:pt x="404275" y="40588"/>
                </a:lnTo>
                <a:lnTo>
                  <a:pt x="401785" y="39193"/>
                </a:lnTo>
                <a:lnTo>
                  <a:pt x="400526" y="38146"/>
                </a:lnTo>
                <a:lnTo>
                  <a:pt x="399951" y="37973"/>
                </a:lnTo>
                <a:lnTo>
                  <a:pt x="398933" y="38083"/>
                </a:lnTo>
                <a:lnTo>
                  <a:pt x="397320" y="38662"/>
                </a:lnTo>
                <a:lnTo>
                  <a:pt x="396122" y="39844"/>
                </a:lnTo>
                <a:lnTo>
                  <a:pt x="394212" y="39194"/>
                </a:lnTo>
                <a:lnTo>
                  <a:pt x="392929" y="39569"/>
                </a:lnTo>
                <a:lnTo>
                  <a:pt x="390913" y="39430"/>
                </a:lnTo>
                <a:lnTo>
                  <a:pt x="389383" y="39632"/>
                </a:lnTo>
                <a:lnTo>
                  <a:pt x="387692" y="39221"/>
                </a:lnTo>
                <a:lnTo>
                  <a:pt x="385652" y="38550"/>
                </a:lnTo>
                <a:lnTo>
                  <a:pt x="384419" y="37444"/>
                </a:lnTo>
                <a:lnTo>
                  <a:pt x="382665" y="36678"/>
                </a:lnTo>
                <a:lnTo>
                  <a:pt x="381805" y="35929"/>
                </a:lnTo>
                <a:lnTo>
                  <a:pt x="380093" y="35210"/>
                </a:lnTo>
                <a:lnTo>
                  <a:pt x="377440" y="33240"/>
                </a:lnTo>
                <a:lnTo>
                  <a:pt x="376191" y="31885"/>
                </a:lnTo>
                <a:lnTo>
                  <a:pt x="376831" y="29692"/>
                </a:lnTo>
                <a:lnTo>
                  <a:pt x="376768" y="29087"/>
                </a:lnTo>
                <a:lnTo>
                  <a:pt x="375284" y="28559"/>
                </a:lnTo>
                <a:lnTo>
                  <a:pt x="373326" y="31023"/>
                </a:lnTo>
                <a:lnTo>
                  <a:pt x="372239" y="34044"/>
                </a:lnTo>
                <a:lnTo>
                  <a:pt x="372783" y="37973"/>
                </a:lnTo>
                <a:lnTo>
                  <a:pt x="372560" y="40073"/>
                </a:lnTo>
                <a:lnTo>
                  <a:pt x="372746" y="42316"/>
                </a:lnTo>
                <a:lnTo>
                  <a:pt x="372436" y="44194"/>
                </a:lnTo>
                <a:lnTo>
                  <a:pt x="371973" y="44896"/>
                </a:lnTo>
                <a:lnTo>
                  <a:pt x="371528" y="44725"/>
                </a:lnTo>
                <a:lnTo>
                  <a:pt x="370434" y="42906"/>
                </a:lnTo>
                <a:lnTo>
                  <a:pt x="370559" y="41486"/>
                </a:lnTo>
                <a:lnTo>
                  <a:pt x="370289" y="40198"/>
                </a:lnTo>
                <a:lnTo>
                  <a:pt x="368671" y="38639"/>
                </a:lnTo>
                <a:lnTo>
                  <a:pt x="366764" y="38724"/>
                </a:lnTo>
                <a:lnTo>
                  <a:pt x="366404" y="38553"/>
                </a:lnTo>
                <a:lnTo>
                  <a:pt x="365616" y="37765"/>
                </a:lnTo>
                <a:lnTo>
                  <a:pt x="365560" y="36751"/>
                </a:lnTo>
                <a:lnTo>
                  <a:pt x="364706" y="36069"/>
                </a:lnTo>
                <a:lnTo>
                  <a:pt x="364026" y="35931"/>
                </a:lnTo>
                <a:lnTo>
                  <a:pt x="363228" y="36419"/>
                </a:lnTo>
                <a:lnTo>
                  <a:pt x="361789" y="39307"/>
                </a:lnTo>
                <a:lnTo>
                  <a:pt x="360903" y="39593"/>
                </a:lnTo>
                <a:lnTo>
                  <a:pt x="359174" y="40722"/>
                </a:lnTo>
                <a:lnTo>
                  <a:pt x="357386" y="41298"/>
                </a:lnTo>
                <a:lnTo>
                  <a:pt x="356407" y="40974"/>
                </a:lnTo>
                <a:lnTo>
                  <a:pt x="356131" y="40313"/>
                </a:lnTo>
                <a:lnTo>
                  <a:pt x="356513" y="38220"/>
                </a:lnTo>
                <a:lnTo>
                  <a:pt x="356238" y="37826"/>
                </a:lnTo>
                <a:lnTo>
                  <a:pt x="355554" y="37848"/>
                </a:lnTo>
                <a:lnTo>
                  <a:pt x="353297" y="39551"/>
                </a:lnTo>
                <a:lnTo>
                  <a:pt x="351923" y="40018"/>
                </a:lnTo>
                <a:lnTo>
                  <a:pt x="349975" y="40313"/>
                </a:lnTo>
                <a:lnTo>
                  <a:pt x="349213" y="41009"/>
                </a:lnTo>
                <a:lnTo>
                  <a:pt x="348265" y="42504"/>
                </a:lnTo>
                <a:lnTo>
                  <a:pt x="347452" y="42998"/>
                </a:lnTo>
                <a:lnTo>
                  <a:pt x="346227" y="42945"/>
                </a:lnTo>
                <a:lnTo>
                  <a:pt x="342508" y="44313"/>
                </a:lnTo>
                <a:lnTo>
                  <a:pt x="341848" y="44950"/>
                </a:lnTo>
                <a:lnTo>
                  <a:pt x="341145" y="46549"/>
                </a:lnTo>
                <a:lnTo>
                  <a:pt x="340246" y="49844"/>
                </a:lnTo>
                <a:lnTo>
                  <a:pt x="339646" y="50691"/>
                </a:lnTo>
                <a:lnTo>
                  <a:pt x="338503" y="51320"/>
                </a:lnTo>
                <a:lnTo>
                  <a:pt x="337850" y="51237"/>
                </a:lnTo>
                <a:lnTo>
                  <a:pt x="337104" y="50746"/>
                </a:lnTo>
                <a:lnTo>
                  <a:pt x="336773" y="50026"/>
                </a:lnTo>
                <a:lnTo>
                  <a:pt x="336781" y="48513"/>
                </a:lnTo>
                <a:lnTo>
                  <a:pt x="336286" y="47797"/>
                </a:lnTo>
                <a:lnTo>
                  <a:pt x="335707" y="47499"/>
                </a:lnTo>
                <a:lnTo>
                  <a:pt x="334290" y="47332"/>
                </a:lnTo>
                <a:lnTo>
                  <a:pt x="332413" y="48352"/>
                </a:lnTo>
                <a:lnTo>
                  <a:pt x="330973" y="48816"/>
                </a:lnTo>
                <a:lnTo>
                  <a:pt x="328556" y="48761"/>
                </a:lnTo>
                <a:lnTo>
                  <a:pt x="327649" y="52562"/>
                </a:lnTo>
                <a:lnTo>
                  <a:pt x="324601" y="54224"/>
                </a:lnTo>
                <a:lnTo>
                  <a:pt x="322996" y="56648"/>
                </a:lnTo>
                <a:lnTo>
                  <a:pt x="322926" y="57716"/>
                </a:lnTo>
                <a:lnTo>
                  <a:pt x="323214" y="58313"/>
                </a:lnTo>
                <a:lnTo>
                  <a:pt x="324082" y="58852"/>
                </a:lnTo>
                <a:lnTo>
                  <a:pt x="324397" y="59392"/>
                </a:lnTo>
                <a:lnTo>
                  <a:pt x="324627" y="60890"/>
                </a:lnTo>
                <a:lnTo>
                  <a:pt x="323763" y="63458"/>
                </a:lnTo>
                <a:lnTo>
                  <a:pt x="323560" y="64756"/>
                </a:lnTo>
                <a:lnTo>
                  <a:pt x="323065" y="65482"/>
                </a:lnTo>
                <a:lnTo>
                  <a:pt x="320906" y="64558"/>
                </a:lnTo>
                <a:lnTo>
                  <a:pt x="318129" y="63875"/>
                </a:lnTo>
                <a:lnTo>
                  <a:pt x="316646" y="62505"/>
                </a:lnTo>
                <a:lnTo>
                  <a:pt x="315221" y="62586"/>
                </a:lnTo>
                <a:lnTo>
                  <a:pt x="314558" y="63354"/>
                </a:lnTo>
                <a:lnTo>
                  <a:pt x="314238" y="64608"/>
                </a:lnTo>
                <a:lnTo>
                  <a:pt x="313048" y="67023"/>
                </a:lnTo>
                <a:lnTo>
                  <a:pt x="311986" y="68349"/>
                </a:lnTo>
                <a:lnTo>
                  <a:pt x="310736" y="69238"/>
                </a:lnTo>
                <a:lnTo>
                  <a:pt x="309162" y="68747"/>
                </a:lnTo>
                <a:lnTo>
                  <a:pt x="308609" y="68895"/>
                </a:lnTo>
                <a:lnTo>
                  <a:pt x="307797" y="69885"/>
                </a:lnTo>
                <a:lnTo>
                  <a:pt x="307504" y="71683"/>
                </a:lnTo>
                <a:lnTo>
                  <a:pt x="307027" y="72584"/>
                </a:lnTo>
                <a:lnTo>
                  <a:pt x="305019" y="73163"/>
                </a:lnTo>
                <a:lnTo>
                  <a:pt x="302388" y="71827"/>
                </a:lnTo>
                <a:lnTo>
                  <a:pt x="300691" y="71833"/>
                </a:lnTo>
                <a:lnTo>
                  <a:pt x="300179" y="72362"/>
                </a:lnTo>
                <a:lnTo>
                  <a:pt x="299364" y="74729"/>
                </a:lnTo>
                <a:lnTo>
                  <a:pt x="299357" y="75395"/>
                </a:lnTo>
                <a:lnTo>
                  <a:pt x="299932" y="76209"/>
                </a:lnTo>
                <a:lnTo>
                  <a:pt x="300338" y="77457"/>
                </a:lnTo>
                <a:lnTo>
                  <a:pt x="301128" y="78257"/>
                </a:lnTo>
                <a:lnTo>
                  <a:pt x="301764" y="81461"/>
                </a:lnTo>
                <a:lnTo>
                  <a:pt x="302597" y="82670"/>
                </a:lnTo>
                <a:lnTo>
                  <a:pt x="304166" y="83572"/>
                </a:lnTo>
                <a:lnTo>
                  <a:pt x="305466" y="84719"/>
                </a:lnTo>
                <a:lnTo>
                  <a:pt x="307274" y="87150"/>
                </a:lnTo>
                <a:lnTo>
                  <a:pt x="308987" y="88136"/>
                </a:lnTo>
                <a:lnTo>
                  <a:pt x="309783" y="89524"/>
                </a:lnTo>
                <a:lnTo>
                  <a:pt x="310133" y="90927"/>
                </a:lnTo>
                <a:lnTo>
                  <a:pt x="309970" y="91889"/>
                </a:lnTo>
                <a:lnTo>
                  <a:pt x="308886" y="93393"/>
                </a:lnTo>
                <a:lnTo>
                  <a:pt x="308819" y="93857"/>
                </a:lnTo>
                <a:lnTo>
                  <a:pt x="308761" y="95489"/>
                </a:lnTo>
                <a:lnTo>
                  <a:pt x="309531" y="97438"/>
                </a:lnTo>
                <a:lnTo>
                  <a:pt x="309420" y="99172"/>
                </a:lnTo>
                <a:lnTo>
                  <a:pt x="308187" y="99926"/>
                </a:lnTo>
                <a:lnTo>
                  <a:pt x="307601" y="99791"/>
                </a:lnTo>
                <a:lnTo>
                  <a:pt x="307372" y="99103"/>
                </a:lnTo>
                <a:lnTo>
                  <a:pt x="308215" y="98250"/>
                </a:lnTo>
                <a:lnTo>
                  <a:pt x="308223" y="97533"/>
                </a:lnTo>
                <a:lnTo>
                  <a:pt x="307741" y="97139"/>
                </a:lnTo>
                <a:lnTo>
                  <a:pt x="306885" y="97384"/>
                </a:lnTo>
                <a:lnTo>
                  <a:pt x="306627" y="98020"/>
                </a:lnTo>
                <a:lnTo>
                  <a:pt x="304349" y="100218"/>
                </a:lnTo>
                <a:lnTo>
                  <a:pt x="303927" y="102005"/>
                </a:lnTo>
                <a:lnTo>
                  <a:pt x="302711" y="103047"/>
                </a:lnTo>
                <a:lnTo>
                  <a:pt x="302578" y="103958"/>
                </a:lnTo>
                <a:lnTo>
                  <a:pt x="304767" y="106578"/>
                </a:lnTo>
                <a:lnTo>
                  <a:pt x="306801" y="107606"/>
                </a:lnTo>
                <a:lnTo>
                  <a:pt x="307983" y="108926"/>
                </a:lnTo>
                <a:lnTo>
                  <a:pt x="310105" y="108935"/>
                </a:lnTo>
                <a:lnTo>
                  <a:pt x="312001" y="109790"/>
                </a:lnTo>
                <a:lnTo>
                  <a:pt x="312194" y="110221"/>
                </a:lnTo>
                <a:lnTo>
                  <a:pt x="311722" y="111476"/>
                </a:lnTo>
                <a:lnTo>
                  <a:pt x="311277" y="111918"/>
                </a:lnTo>
                <a:lnTo>
                  <a:pt x="310861" y="111945"/>
                </a:lnTo>
                <a:lnTo>
                  <a:pt x="309776" y="111495"/>
                </a:lnTo>
                <a:lnTo>
                  <a:pt x="305583" y="110698"/>
                </a:lnTo>
                <a:lnTo>
                  <a:pt x="304260" y="109928"/>
                </a:lnTo>
                <a:lnTo>
                  <a:pt x="303252" y="109773"/>
                </a:lnTo>
                <a:lnTo>
                  <a:pt x="302286" y="110136"/>
                </a:lnTo>
                <a:lnTo>
                  <a:pt x="300782" y="111822"/>
                </a:lnTo>
                <a:lnTo>
                  <a:pt x="299052" y="113090"/>
                </a:lnTo>
                <a:lnTo>
                  <a:pt x="298118" y="112408"/>
                </a:lnTo>
                <a:lnTo>
                  <a:pt x="294961" y="110937"/>
                </a:lnTo>
                <a:lnTo>
                  <a:pt x="294070" y="110205"/>
                </a:lnTo>
                <a:lnTo>
                  <a:pt x="292957" y="110004"/>
                </a:lnTo>
                <a:lnTo>
                  <a:pt x="291852" y="109235"/>
                </a:lnTo>
                <a:lnTo>
                  <a:pt x="291314" y="109351"/>
                </a:lnTo>
                <a:lnTo>
                  <a:pt x="290276" y="110091"/>
                </a:lnTo>
                <a:lnTo>
                  <a:pt x="288009" y="109419"/>
                </a:lnTo>
                <a:lnTo>
                  <a:pt x="287120" y="110055"/>
                </a:lnTo>
                <a:lnTo>
                  <a:pt x="286490" y="111497"/>
                </a:lnTo>
                <a:lnTo>
                  <a:pt x="285301" y="112660"/>
                </a:lnTo>
                <a:lnTo>
                  <a:pt x="285349" y="114937"/>
                </a:lnTo>
                <a:lnTo>
                  <a:pt x="285141" y="116421"/>
                </a:lnTo>
                <a:lnTo>
                  <a:pt x="284771" y="117015"/>
                </a:lnTo>
                <a:lnTo>
                  <a:pt x="284344" y="117082"/>
                </a:lnTo>
                <a:lnTo>
                  <a:pt x="283728" y="116757"/>
                </a:lnTo>
                <a:lnTo>
                  <a:pt x="283297" y="115300"/>
                </a:lnTo>
                <a:lnTo>
                  <a:pt x="282783" y="114628"/>
                </a:lnTo>
                <a:lnTo>
                  <a:pt x="280729" y="114183"/>
                </a:lnTo>
                <a:lnTo>
                  <a:pt x="280075" y="114314"/>
                </a:lnTo>
                <a:lnTo>
                  <a:pt x="279368" y="115188"/>
                </a:lnTo>
                <a:lnTo>
                  <a:pt x="277915" y="114991"/>
                </a:lnTo>
                <a:lnTo>
                  <a:pt x="276988" y="114280"/>
                </a:lnTo>
                <a:lnTo>
                  <a:pt x="276287" y="114208"/>
                </a:lnTo>
                <a:lnTo>
                  <a:pt x="275634" y="114756"/>
                </a:lnTo>
                <a:lnTo>
                  <a:pt x="274568" y="116280"/>
                </a:lnTo>
                <a:lnTo>
                  <a:pt x="273432" y="116316"/>
                </a:lnTo>
                <a:lnTo>
                  <a:pt x="273034" y="116561"/>
                </a:lnTo>
                <a:lnTo>
                  <a:pt x="272654" y="117193"/>
                </a:lnTo>
                <a:lnTo>
                  <a:pt x="271771" y="120205"/>
                </a:lnTo>
                <a:lnTo>
                  <a:pt x="269699" y="123414"/>
                </a:lnTo>
                <a:lnTo>
                  <a:pt x="269803" y="124854"/>
                </a:lnTo>
                <a:lnTo>
                  <a:pt x="271263" y="126820"/>
                </a:lnTo>
                <a:lnTo>
                  <a:pt x="270896" y="129510"/>
                </a:lnTo>
                <a:lnTo>
                  <a:pt x="269912" y="129874"/>
                </a:lnTo>
                <a:lnTo>
                  <a:pt x="266988" y="130181"/>
                </a:lnTo>
                <a:lnTo>
                  <a:pt x="264687" y="132521"/>
                </a:lnTo>
                <a:lnTo>
                  <a:pt x="262389" y="133216"/>
                </a:lnTo>
                <a:lnTo>
                  <a:pt x="262084" y="133523"/>
                </a:lnTo>
                <a:lnTo>
                  <a:pt x="261341" y="135705"/>
                </a:lnTo>
                <a:lnTo>
                  <a:pt x="259941" y="137655"/>
                </a:lnTo>
                <a:lnTo>
                  <a:pt x="258730" y="137417"/>
                </a:lnTo>
                <a:lnTo>
                  <a:pt x="258053" y="136601"/>
                </a:lnTo>
                <a:lnTo>
                  <a:pt x="257153" y="136724"/>
                </a:lnTo>
                <a:lnTo>
                  <a:pt x="255666" y="138051"/>
                </a:lnTo>
                <a:lnTo>
                  <a:pt x="255407" y="138943"/>
                </a:lnTo>
                <a:lnTo>
                  <a:pt x="255730" y="140256"/>
                </a:lnTo>
                <a:lnTo>
                  <a:pt x="254727" y="141726"/>
                </a:lnTo>
                <a:lnTo>
                  <a:pt x="254086" y="142283"/>
                </a:lnTo>
                <a:lnTo>
                  <a:pt x="253060" y="142621"/>
                </a:lnTo>
                <a:lnTo>
                  <a:pt x="250494" y="142310"/>
                </a:lnTo>
                <a:lnTo>
                  <a:pt x="249923" y="142553"/>
                </a:lnTo>
                <a:lnTo>
                  <a:pt x="248519" y="146555"/>
                </a:lnTo>
                <a:lnTo>
                  <a:pt x="250018" y="150179"/>
                </a:lnTo>
                <a:lnTo>
                  <a:pt x="250059" y="151009"/>
                </a:lnTo>
                <a:lnTo>
                  <a:pt x="249145" y="151860"/>
                </a:lnTo>
                <a:lnTo>
                  <a:pt x="246804" y="152920"/>
                </a:lnTo>
                <a:lnTo>
                  <a:pt x="245492" y="154342"/>
                </a:lnTo>
                <a:lnTo>
                  <a:pt x="247341" y="156238"/>
                </a:lnTo>
                <a:lnTo>
                  <a:pt x="250917" y="156553"/>
                </a:lnTo>
                <a:lnTo>
                  <a:pt x="251191" y="156916"/>
                </a:lnTo>
                <a:lnTo>
                  <a:pt x="251183" y="157795"/>
                </a:lnTo>
                <a:lnTo>
                  <a:pt x="250794" y="158840"/>
                </a:lnTo>
                <a:lnTo>
                  <a:pt x="246967" y="162334"/>
                </a:lnTo>
                <a:lnTo>
                  <a:pt x="244341" y="163377"/>
                </a:lnTo>
                <a:lnTo>
                  <a:pt x="242560" y="165138"/>
                </a:lnTo>
                <a:lnTo>
                  <a:pt x="241240" y="164814"/>
                </a:lnTo>
                <a:lnTo>
                  <a:pt x="240428" y="163707"/>
                </a:lnTo>
                <a:lnTo>
                  <a:pt x="239341" y="162782"/>
                </a:lnTo>
                <a:lnTo>
                  <a:pt x="237952" y="160237"/>
                </a:lnTo>
                <a:lnTo>
                  <a:pt x="238007" y="159550"/>
                </a:lnTo>
                <a:lnTo>
                  <a:pt x="239142" y="157552"/>
                </a:lnTo>
                <a:lnTo>
                  <a:pt x="238736" y="155546"/>
                </a:lnTo>
                <a:lnTo>
                  <a:pt x="238910" y="153285"/>
                </a:lnTo>
                <a:lnTo>
                  <a:pt x="238461" y="151624"/>
                </a:lnTo>
                <a:lnTo>
                  <a:pt x="238043" y="150958"/>
                </a:lnTo>
                <a:lnTo>
                  <a:pt x="236741" y="149787"/>
                </a:lnTo>
                <a:lnTo>
                  <a:pt x="235146" y="149245"/>
                </a:lnTo>
                <a:lnTo>
                  <a:pt x="234897" y="148476"/>
                </a:lnTo>
                <a:lnTo>
                  <a:pt x="235175" y="147423"/>
                </a:lnTo>
                <a:lnTo>
                  <a:pt x="233206" y="147035"/>
                </a:lnTo>
                <a:lnTo>
                  <a:pt x="230211" y="148263"/>
                </a:lnTo>
                <a:lnTo>
                  <a:pt x="229247" y="145352"/>
                </a:lnTo>
                <a:lnTo>
                  <a:pt x="228082" y="143970"/>
                </a:lnTo>
                <a:lnTo>
                  <a:pt x="226989" y="143477"/>
                </a:lnTo>
                <a:lnTo>
                  <a:pt x="225747" y="143825"/>
                </a:lnTo>
                <a:lnTo>
                  <a:pt x="224872" y="144558"/>
                </a:lnTo>
                <a:lnTo>
                  <a:pt x="223578" y="144338"/>
                </a:lnTo>
                <a:lnTo>
                  <a:pt x="222880" y="144464"/>
                </a:lnTo>
                <a:lnTo>
                  <a:pt x="222776" y="145219"/>
                </a:lnTo>
                <a:lnTo>
                  <a:pt x="223220" y="146488"/>
                </a:lnTo>
                <a:lnTo>
                  <a:pt x="222206" y="147041"/>
                </a:lnTo>
                <a:lnTo>
                  <a:pt x="219498" y="147308"/>
                </a:lnTo>
                <a:lnTo>
                  <a:pt x="217451" y="146603"/>
                </a:lnTo>
                <a:lnTo>
                  <a:pt x="216676" y="146141"/>
                </a:lnTo>
                <a:lnTo>
                  <a:pt x="215586" y="143981"/>
                </a:lnTo>
                <a:lnTo>
                  <a:pt x="215438" y="142903"/>
                </a:lnTo>
                <a:lnTo>
                  <a:pt x="215894" y="141943"/>
                </a:lnTo>
                <a:lnTo>
                  <a:pt x="215685" y="141154"/>
                </a:lnTo>
                <a:lnTo>
                  <a:pt x="214252" y="139277"/>
                </a:lnTo>
                <a:lnTo>
                  <a:pt x="213960" y="137425"/>
                </a:lnTo>
                <a:lnTo>
                  <a:pt x="213188" y="137363"/>
                </a:lnTo>
                <a:lnTo>
                  <a:pt x="211364" y="138315"/>
                </a:lnTo>
                <a:lnTo>
                  <a:pt x="209914" y="139948"/>
                </a:lnTo>
                <a:lnTo>
                  <a:pt x="209021" y="140146"/>
                </a:lnTo>
                <a:lnTo>
                  <a:pt x="207530" y="139906"/>
                </a:lnTo>
                <a:lnTo>
                  <a:pt x="206559" y="140057"/>
                </a:lnTo>
                <a:lnTo>
                  <a:pt x="204034" y="141945"/>
                </a:lnTo>
                <a:lnTo>
                  <a:pt x="201951" y="142524"/>
                </a:lnTo>
                <a:lnTo>
                  <a:pt x="200213" y="143956"/>
                </a:lnTo>
                <a:lnTo>
                  <a:pt x="199817" y="144105"/>
                </a:lnTo>
                <a:lnTo>
                  <a:pt x="198845" y="143968"/>
                </a:lnTo>
                <a:lnTo>
                  <a:pt x="196226" y="146427"/>
                </a:lnTo>
                <a:lnTo>
                  <a:pt x="192686" y="146638"/>
                </a:lnTo>
                <a:lnTo>
                  <a:pt x="191767" y="147186"/>
                </a:lnTo>
                <a:lnTo>
                  <a:pt x="191282" y="148027"/>
                </a:lnTo>
                <a:lnTo>
                  <a:pt x="191676" y="148977"/>
                </a:lnTo>
                <a:lnTo>
                  <a:pt x="191827" y="150290"/>
                </a:lnTo>
                <a:lnTo>
                  <a:pt x="191397" y="151936"/>
                </a:lnTo>
                <a:lnTo>
                  <a:pt x="191610" y="154799"/>
                </a:lnTo>
                <a:lnTo>
                  <a:pt x="190623" y="156649"/>
                </a:lnTo>
                <a:lnTo>
                  <a:pt x="189610" y="157486"/>
                </a:lnTo>
                <a:lnTo>
                  <a:pt x="188583" y="157626"/>
                </a:lnTo>
                <a:lnTo>
                  <a:pt x="186293" y="156238"/>
                </a:lnTo>
                <a:lnTo>
                  <a:pt x="185108" y="154571"/>
                </a:lnTo>
                <a:lnTo>
                  <a:pt x="185021" y="153561"/>
                </a:lnTo>
                <a:lnTo>
                  <a:pt x="184800" y="153265"/>
                </a:lnTo>
                <a:lnTo>
                  <a:pt x="184339" y="153124"/>
                </a:lnTo>
                <a:lnTo>
                  <a:pt x="183035" y="153450"/>
                </a:lnTo>
                <a:lnTo>
                  <a:pt x="181901" y="151948"/>
                </a:lnTo>
                <a:lnTo>
                  <a:pt x="180902" y="151893"/>
                </a:lnTo>
                <a:lnTo>
                  <a:pt x="179936" y="151123"/>
                </a:lnTo>
                <a:lnTo>
                  <a:pt x="179095" y="151129"/>
                </a:lnTo>
                <a:lnTo>
                  <a:pt x="178224" y="151679"/>
                </a:lnTo>
                <a:lnTo>
                  <a:pt x="176422" y="154690"/>
                </a:lnTo>
                <a:lnTo>
                  <a:pt x="174032" y="156131"/>
                </a:lnTo>
                <a:lnTo>
                  <a:pt x="171380" y="156826"/>
                </a:lnTo>
                <a:lnTo>
                  <a:pt x="167912" y="157359"/>
                </a:lnTo>
                <a:lnTo>
                  <a:pt x="165287" y="157187"/>
                </a:lnTo>
                <a:lnTo>
                  <a:pt x="164303" y="156865"/>
                </a:lnTo>
                <a:lnTo>
                  <a:pt x="163288" y="156946"/>
                </a:lnTo>
                <a:lnTo>
                  <a:pt x="162400" y="157952"/>
                </a:lnTo>
                <a:lnTo>
                  <a:pt x="162180" y="159220"/>
                </a:lnTo>
                <a:lnTo>
                  <a:pt x="161593" y="159831"/>
                </a:lnTo>
                <a:lnTo>
                  <a:pt x="161025" y="159670"/>
                </a:lnTo>
                <a:lnTo>
                  <a:pt x="159982" y="159858"/>
                </a:lnTo>
                <a:lnTo>
                  <a:pt x="157456" y="160794"/>
                </a:lnTo>
                <a:lnTo>
                  <a:pt x="155110" y="160559"/>
                </a:lnTo>
                <a:lnTo>
                  <a:pt x="153453" y="161604"/>
                </a:lnTo>
                <a:lnTo>
                  <a:pt x="150861" y="162619"/>
                </a:lnTo>
                <a:lnTo>
                  <a:pt x="148702" y="164806"/>
                </a:lnTo>
                <a:lnTo>
                  <a:pt x="146461" y="166087"/>
                </a:lnTo>
                <a:lnTo>
                  <a:pt x="144210" y="169512"/>
                </a:lnTo>
                <a:lnTo>
                  <a:pt x="143649" y="171583"/>
                </a:lnTo>
                <a:lnTo>
                  <a:pt x="143009" y="172874"/>
                </a:lnTo>
                <a:lnTo>
                  <a:pt x="142579" y="172950"/>
                </a:lnTo>
                <a:lnTo>
                  <a:pt x="141956" y="172467"/>
                </a:lnTo>
                <a:lnTo>
                  <a:pt x="139377" y="173278"/>
                </a:lnTo>
                <a:lnTo>
                  <a:pt x="137442" y="172851"/>
                </a:lnTo>
                <a:lnTo>
                  <a:pt x="133656" y="173317"/>
                </a:lnTo>
                <a:lnTo>
                  <a:pt x="132849" y="174102"/>
                </a:lnTo>
                <a:lnTo>
                  <a:pt x="131543" y="177432"/>
                </a:lnTo>
                <a:lnTo>
                  <a:pt x="130543" y="178086"/>
                </a:lnTo>
                <a:lnTo>
                  <a:pt x="129175" y="178556"/>
                </a:lnTo>
                <a:lnTo>
                  <a:pt x="128349" y="179388"/>
                </a:lnTo>
                <a:lnTo>
                  <a:pt x="128319" y="179885"/>
                </a:lnTo>
                <a:lnTo>
                  <a:pt x="128884" y="180886"/>
                </a:lnTo>
                <a:lnTo>
                  <a:pt x="131083" y="182740"/>
                </a:lnTo>
                <a:lnTo>
                  <a:pt x="131039" y="183563"/>
                </a:lnTo>
                <a:lnTo>
                  <a:pt x="130549" y="184346"/>
                </a:lnTo>
                <a:lnTo>
                  <a:pt x="129913" y="184914"/>
                </a:lnTo>
                <a:lnTo>
                  <a:pt x="126823" y="186467"/>
                </a:lnTo>
                <a:lnTo>
                  <a:pt x="123734" y="187325"/>
                </a:lnTo>
                <a:lnTo>
                  <a:pt x="122448" y="188043"/>
                </a:lnTo>
                <a:lnTo>
                  <a:pt x="121773" y="188796"/>
                </a:lnTo>
                <a:lnTo>
                  <a:pt x="120616" y="191297"/>
                </a:lnTo>
                <a:lnTo>
                  <a:pt x="118748" y="192830"/>
                </a:lnTo>
                <a:lnTo>
                  <a:pt x="117821" y="193279"/>
                </a:lnTo>
                <a:lnTo>
                  <a:pt x="117089" y="194187"/>
                </a:lnTo>
                <a:lnTo>
                  <a:pt x="115659" y="194422"/>
                </a:lnTo>
                <a:lnTo>
                  <a:pt x="113969" y="193597"/>
                </a:lnTo>
                <a:lnTo>
                  <a:pt x="113222" y="193864"/>
                </a:lnTo>
                <a:lnTo>
                  <a:pt x="112846" y="194470"/>
                </a:lnTo>
                <a:lnTo>
                  <a:pt x="113097" y="196768"/>
                </a:lnTo>
                <a:lnTo>
                  <a:pt x="112818" y="197930"/>
                </a:lnTo>
                <a:lnTo>
                  <a:pt x="110858" y="199526"/>
                </a:lnTo>
                <a:lnTo>
                  <a:pt x="109980" y="201068"/>
                </a:lnTo>
                <a:lnTo>
                  <a:pt x="107895" y="202128"/>
                </a:lnTo>
                <a:lnTo>
                  <a:pt x="107006" y="203261"/>
                </a:lnTo>
                <a:lnTo>
                  <a:pt x="106956" y="203987"/>
                </a:lnTo>
                <a:lnTo>
                  <a:pt x="107637" y="204516"/>
                </a:lnTo>
                <a:lnTo>
                  <a:pt x="108676" y="205985"/>
                </a:lnTo>
                <a:lnTo>
                  <a:pt x="109234" y="206949"/>
                </a:lnTo>
                <a:lnTo>
                  <a:pt x="109370" y="207767"/>
                </a:lnTo>
                <a:lnTo>
                  <a:pt x="109006" y="208531"/>
                </a:lnTo>
                <a:lnTo>
                  <a:pt x="104960" y="213591"/>
                </a:lnTo>
                <a:lnTo>
                  <a:pt x="104502" y="216410"/>
                </a:lnTo>
                <a:lnTo>
                  <a:pt x="103975" y="216828"/>
                </a:lnTo>
                <a:lnTo>
                  <a:pt x="102387" y="217156"/>
                </a:lnTo>
                <a:lnTo>
                  <a:pt x="99451" y="216713"/>
                </a:lnTo>
                <a:lnTo>
                  <a:pt x="97958" y="217573"/>
                </a:lnTo>
                <a:lnTo>
                  <a:pt x="88673" y="246011"/>
                </a:lnTo>
                <a:lnTo>
                  <a:pt x="83281" y="245353"/>
                </a:lnTo>
                <a:lnTo>
                  <a:pt x="80210" y="249815"/>
                </a:lnTo>
                <a:lnTo>
                  <a:pt x="75250" y="249072"/>
                </a:lnTo>
                <a:lnTo>
                  <a:pt x="78029" y="255502"/>
                </a:lnTo>
                <a:lnTo>
                  <a:pt x="84743" y="257913"/>
                </a:lnTo>
                <a:lnTo>
                  <a:pt x="77343" y="280388"/>
                </a:lnTo>
                <a:lnTo>
                  <a:pt x="76573" y="280089"/>
                </a:lnTo>
                <a:lnTo>
                  <a:pt x="71629" y="286588"/>
                </a:lnTo>
                <a:lnTo>
                  <a:pt x="74588" y="288746"/>
                </a:lnTo>
                <a:lnTo>
                  <a:pt x="68771" y="306384"/>
                </a:lnTo>
                <a:lnTo>
                  <a:pt x="79265" y="309846"/>
                </a:lnTo>
                <a:lnTo>
                  <a:pt x="44836" y="378977"/>
                </a:lnTo>
                <a:lnTo>
                  <a:pt x="0" y="471565"/>
                </a:lnTo>
                <a:lnTo>
                  <a:pt x="788" y="472016"/>
                </a:lnTo>
                <a:lnTo>
                  <a:pt x="963" y="472525"/>
                </a:lnTo>
                <a:lnTo>
                  <a:pt x="291" y="479169"/>
                </a:lnTo>
                <a:lnTo>
                  <a:pt x="1086" y="480770"/>
                </a:lnTo>
                <a:lnTo>
                  <a:pt x="2940" y="481964"/>
                </a:lnTo>
                <a:lnTo>
                  <a:pt x="4098" y="483004"/>
                </a:lnTo>
                <a:lnTo>
                  <a:pt x="5754" y="487335"/>
                </a:lnTo>
                <a:lnTo>
                  <a:pt x="7744" y="490595"/>
                </a:lnTo>
                <a:lnTo>
                  <a:pt x="8900" y="493067"/>
                </a:lnTo>
                <a:lnTo>
                  <a:pt x="10876" y="494961"/>
                </a:lnTo>
                <a:lnTo>
                  <a:pt x="12348" y="495723"/>
                </a:lnTo>
                <a:lnTo>
                  <a:pt x="12874" y="497152"/>
                </a:lnTo>
                <a:lnTo>
                  <a:pt x="14038" y="497217"/>
                </a:lnTo>
                <a:lnTo>
                  <a:pt x="14930" y="496575"/>
                </a:lnTo>
                <a:lnTo>
                  <a:pt x="15703" y="496515"/>
                </a:lnTo>
                <a:lnTo>
                  <a:pt x="19659" y="496889"/>
                </a:lnTo>
                <a:lnTo>
                  <a:pt x="21129" y="497390"/>
                </a:lnTo>
                <a:lnTo>
                  <a:pt x="21920" y="498680"/>
                </a:lnTo>
                <a:lnTo>
                  <a:pt x="21685" y="500151"/>
                </a:lnTo>
                <a:lnTo>
                  <a:pt x="21805" y="500674"/>
                </a:lnTo>
                <a:lnTo>
                  <a:pt x="22885" y="501486"/>
                </a:lnTo>
                <a:lnTo>
                  <a:pt x="24803" y="502100"/>
                </a:lnTo>
                <a:lnTo>
                  <a:pt x="26982" y="501637"/>
                </a:lnTo>
                <a:lnTo>
                  <a:pt x="28022" y="502058"/>
                </a:lnTo>
                <a:lnTo>
                  <a:pt x="28538" y="502755"/>
                </a:lnTo>
                <a:lnTo>
                  <a:pt x="29144" y="504908"/>
                </a:lnTo>
                <a:lnTo>
                  <a:pt x="30412" y="507349"/>
                </a:lnTo>
                <a:lnTo>
                  <a:pt x="33194" y="510329"/>
                </a:lnTo>
                <a:lnTo>
                  <a:pt x="34840" y="511725"/>
                </a:lnTo>
                <a:lnTo>
                  <a:pt x="36520" y="512773"/>
                </a:lnTo>
                <a:lnTo>
                  <a:pt x="41755" y="512805"/>
                </a:lnTo>
                <a:lnTo>
                  <a:pt x="42352" y="512099"/>
                </a:lnTo>
                <a:lnTo>
                  <a:pt x="42401" y="511246"/>
                </a:lnTo>
                <a:lnTo>
                  <a:pt x="42809" y="510809"/>
                </a:lnTo>
                <a:lnTo>
                  <a:pt x="43731" y="510875"/>
                </a:lnTo>
                <a:lnTo>
                  <a:pt x="44538" y="511316"/>
                </a:lnTo>
                <a:lnTo>
                  <a:pt x="44925" y="512472"/>
                </a:lnTo>
                <a:lnTo>
                  <a:pt x="44189" y="517793"/>
                </a:lnTo>
                <a:lnTo>
                  <a:pt x="45112" y="520841"/>
                </a:lnTo>
                <a:lnTo>
                  <a:pt x="45351" y="522499"/>
                </a:lnTo>
                <a:lnTo>
                  <a:pt x="45788" y="523164"/>
                </a:lnTo>
                <a:lnTo>
                  <a:pt x="48748" y="524324"/>
                </a:lnTo>
                <a:lnTo>
                  <a:pt x="49866" y="524496"/>
                </a:lnTo>
                <a:lnTo>
                  <a:pt x="51097" y="525302"/>
                </a:lnTo>
                <a:lnTo>
                  <a:pt x="52679" y="525873"/>
                </a:lnTo>
                <a:lnTo>
                  <a:pt x="56394" y="525471"/>
                </a:lnTo>
                <a:lnTo>
                  <a:pt x="57306" y="526010"/>
                </a:lnTo>
                <a:lnTo>
                  <a:pt x="59684" y="526179"/>
                </a:lnTo>
                <a:lnTo>
                  <a:pt x="61797" y="526653"/>
                </a:lnTo>
                <a:lnTo>
                  <a:pt x="62511" y="527029"/>
                </a:lnTo>
                <a:lnTo>
                  <a:pt x="63857" y="529094"/>
                </a:lnTo>
                <a:lnTo>
                  <a:pt x="64457" y="530906"/>
                </a:lnTo>
                <a:lnTo>
                  <a:pt x="64342" y="531443"/>
                </a:lnTo>
                <a:lnTo>
                  <a:pt x="63334" y="532234"/>
                </a:lnTo>
                <a:lnTo>
                  <a:pt x="63114" y="532655"/>
                </a:lnTo>
                <a:lnTo>
                  <a:pt x="62766" y="534570"/>
                </a:lnTo>
                <a:lnTo>
                  <a:pt x="62993" y="535490"/>
                </a:lnTo>
                <a:lnTo>
                  <a:pt x="63768" y="536914"/>
                </a:lnTo>
                <a:lnTo>
                  <a:pt x="65258" y="538128"/>
                </a:lnTo>
                <a:lnTo>
                  <a:pt x="65757" y="540425"/>
                </a:lnTo>
                <a:lnTo>
                  <a:pt x="66907" y="540931"/>
                </a:lnTo>
                <a:lnTo>
                  <a:pt x="67855" y="542073"/>
                </a:lnTo>
                <a:lnTo>
                  <a:pt x="68637" y="542543"/>
                </a:lnTo>
                <a:lnTo>
                  <a:pt x="68318" y="545740"/>
                </a:lnTo>
                <a:lnTo>
                  <a:pt x="68485" y="546179"/>
                </a:lnTo>
                <a:lnTo>
                  <a:pt x="69411" y="547097"/>
                </a:lnTo>
                <a:lnTo>
                  <a:pt x="72620" y="548287"/>
                </a:lnTo>
                <a:lnTo>
                  <a:pt x="73160" y="548899"/>
                </a:lnTo>
                <a:lnTo>
                  <a:pt x="74423" y="552831"/>
                </a:lnTo>
                <a:lnTo>
                  <a:pt x="74582" y="555145"/>
                </a:lnTo>
                <a:lnTo>
                  <a:pt x="76462" y="556916"/>
                </a:lnTo>
                <a:lnTo>
                  <a:pt x="76513" y="558884"/>
                </a:lnTo>
                <a:lnTo>
                  <a:pt x="77107" y="560538"/>
                </a:lnTo>
                <a:lnTo>
                  <a:pt x="77558" y="560920"/>
                </a:lnTo>
                <a:lnTo>
                  <a:pt x="78561" y="561023"/>
                </a:lnTo>
                <a:lnTo>
                  <a:pt x="79948" y="559602"/>
                </a:lnTo>
                <a:lnTo>
                  <a:pt x="80626" y="559596"/>
                </a:lnTo>
                <a:lnTo>
                  <a:pt x="81332" y="560597"/>
                </a:lnTo>
                <a:lnTo>
                  <a:pt x="81853" y="562317"/>
                </a:lnTo>
                <a:lnTo>
                  <a:pt x="83048" y="562971"/>
                </a:lnTo>
                <a:lnTo>
                  <a:pt x="83522" y="563571"/>
                </a:lnTo>
                <a:lnTo>
                  <a:pt x="84301" y="563513"/>
                </a:lnTo>
                <a:lnTo>
                  <a:pt x="84660" y="563710"/>
                </a:lnTo>
                <a:lnTo>
                  <a:pt x="84872" y="564529"/>
                </a:lnTo>
                <a:lnTo>
                  <a:pt x="84800" y="565730"/>
                </a:lnTo>
                <a:lnTo>
                  <a:pt x="83593" y="567015"/>
                </a:lnTo>
                <a:lnTo>
                  <a:pt x="83553" y="567842"/>
                </a:lnTo>
                <a:lnTo>
                  <a:pt x="85863" y="570385"/>
                </a:lnTo>
                <a:lnTo>
                  <a:pt x="87659" y="571332"/>
                </a:lnTo>
                <a:lnTo>
                  <a:pt x="88231" y="573082"/>
                </a:lnTo>
                <a:lnTo>
                  <a:pt x="89063" y="574023"/>
                </a:lnTo>
                <a:lnTo>
                  <a:pt x="91353" y="574606"/>
                </a:lnTo>
                <a:lnTo>
                  <a:pt x="92079" y="574396"/>
                </a:lnTo>
                <a:lnTo>
                  <a:pt x="93407" y="573376"/>
                </a:lnTo>
                <a:lnTo>
                  <a:pt x="94232" y="573027"/>
                </a:lnTo>
                <a:lnTo>
                  <a:pt x="95101" y="573068"/>
                </a:lnTo>
                <a:lnTo>
                  <a:pt x="95788" y="573465"/>
                </a:lnTo>
                <a:lnTo>
                  <a:pt x="97520" y="578313"/>
                </a:lnTo>
                <a:lnTo>
                  <a:pt x="97443" y="579383"/>
                </a:lnTo>
                <a:lnTo>
                  <a:pt x="96830" y="581577"/>
                </a:lnTo>
                <a:lnTo>
                  <a:pt x="95850" y="582916"/>
                </a:lnTo>
                <a:lnTo>
                  <a:pt x="96218" y="585710"/>
                </a:lnTo>
                <a:lnTo>
                  <a:pt x="96830" y="585913"/>
                </a:lnTo>
                <a:lnTo>
                  <a:pt x="98020" y="584903"/>
                </a:lnTo>
                <a:lnTo>
                  <a:pt x="99816" y="584880"/>
                </a:lnTo>
                <a:lnTo>
                  <a:pt x="100876" y="585296"/>
                </a:lnTo>
                <a:lnTo>
                  <a:pt x="102155" y="586514"/>
                </a:lnTo>
                <a:lnTo>
                  <a:pt x="104275" y="587531"/>
                </a:lnTo>
                <a:lnTo>
                  <a:pt x="105086" y="590458"/>
                </a:lnTo>
                <a:lnTo>
                  <a:pt x="106330" y="592447"/>
                </a:lnTo>
                <a:lnTo>
                  <a:pt x="106646" y="593352"/>
                </a:lnTo>
                <a:lnTo>
                  <a:pt x="108317" y="595138"/>
                </a:lnTo>
                <a:lnTo>
                  <a:pt x="110307" y="595798"/>
                </a:lnTo>
                <a:lnTo>
                  <a:pt x="111233" y="597202"/>
                </a:lnTo>
                <a:lnTo>
                  <a:pt x="112759" y="598781"/>
                </a:lnTo>
                <a:lnTo>
                  <a:pt x="113230" y="599897"/>
                </a:lnTo>
                <a:lnTo>
                  <a:pt x="112096" y="600476"/>
                </a:lnTo>
                <a:lnTo>
                  <a:pt x="112034" y="601454"/>
                </a:lnTo>
                <a:lnTo>
                  <a:pt x="113053" y="602338"/>
                </a:lnTo>
                <a:lnTo>
                  <a:pt x="114023" y="603787"/>
                </a:lnTo>
                <a:lnTo>
                  <a:pt x="116318" y="605472"/>
                </a:lnTo>
                <a:lnTo>
                  <a:pt x="117115" y="607796"/>
                </a:lnTo>
                <a:lnTo>
                  <a:pt x="118969" y="608716"/>
                </a:lnTo>
                <a:lnTo>
                  <a:pt x="119943" y="608897"/>
                </a:lnTo>
                <a:lnTo>
                  <a:pt x="122067" y="608687"/>
                </a:lnTo>
                <a:lnTo>
                  <a:pt x="122929" y="608025"/>
                </a:lnTo>
                <a:lnTo>
                  <a:pt x="123484" y="608103"/>
                </a:lnTo>
                <a:lnTo>
                  <a:pt x="124058" y="608856"/>
                </a:lnTo>
                <a:lnTo>
                  <a:pt x="124591" y="610309"/>
                </a:lnTo>
                <a:lnTo>
                  <a:pt x="126162" y="611192"/>
                </a:lnTo>
                <a:lnTo>
                  <a:pt x="127122" y="612317"/>
                </a:lnTo>
                <a:lnTo>
                  <a:pt x="128342" y="614391"/>
                </a:lnTo>
                <a:lnTo>
                  <a:pt x="129493" y="615262"/>
                </a:lnTo>
                <a:lnTo>
                  <a:pt x="130140" y="617672"/>
                </a:lnTo>
                <a:lnTo>
                  <a:pt x="133118" y="620526"/>
                </a:lnTo>
                <a:lnTo>
                  <a:pt x="133953" y="620623"/>
                </a:lnTo>
                <a:lnTo>
                  <a:pt x="135681" y="619887"/>
                </a:lnTo>
                <a:lnTo>
                  <a:pt x="136005" y="619442"/>
                </a:lnTo>
                <a:lnTo>
                  <a:pt x="136344" y="618064"/>
                </a:lnTo>
                <a:lnTo>
                  <a:pt x="137087" y="617532"/>
                </a:lnTo>
                <a:lnTo>
                  <a:pt x="137972" y="617643"/>
                </a:lnTo>
                <a:lnTo>
                  <a:pt x="139405" y="618628"/>
                </a:lnTo>
                <a:lnTo>
                  <a:pt x="140362" y="618528"/>
                </a:lnTo>
                <a:lnTo>
                  <a:pt x="141257" y="617643"/>
                </a:lnTo>
                <a:lnTo>
                  <a:pt x="142809" y="617829"/>
                </a:lnTo>
                <a:lnTo>
                  <a:pt x="146200" y="620113"/>
                </a:lnTo>
                <a:lnTo>
                  <a:pt x="147096" y="619967"/>
                </a:lnTo>
                <a:lnTo>
                  <a:pt x="148801" y="620883"/>
                </a:lnTo>
                <a:lnTo>
                  <a:pt x="149067" y="621256"/>
                </a:lnTo>
                <a:lnTo>
                  <a:pt x="148981" y="621983"/>
                </a:lnTo>
                <a:lnTo>
                  <a:pt x="149245" y="622380"/>
                </a:lnTo>
                <a:lnTo>
                  <a:pt x="153692" y="625976"/>
                </a:lnTo>
                <a:lnTo>
                  <a:pt x="155543" y="628444"/>
                </a:lnTo>
                <a:lnTo>
                  <a:pt x="155683" y="629800"/>
                </a:lnTo>
                <a:lnTo>
                  <a:pt x="156567" y="630198"/>
                </a:lnTo>
                <a:lnTo>
                  <a:pt x="157892" y="629709"/>
                </a:lnTo>
                <a:lnTo>
                  <a:pt x="158410" y="629276"/>
                </a:lnTo>
                <a:lnTo>
                  <a:pt x="160635" y="628628"/>
                </a:lnTo>
                <a:lnTo>
                  <a:pt x="162485" y="627372"/>
                </a:lnTo>
                <a:lnTo>
                  <a:pt x="163707" y="626882"/>
                </a:lnTo>
                <a:lnTo>
                  <a:pt x="164922" y="626771"/>
                </a:lnTo>
                <a:lnTo>
                  <a:pt x="167974" y="627378"/>
                </a:lnTo>
                <a:lnTo>
                  <a:pt x="168819" y="627340"/>
                </a:lnTo>
                <a:lnTo>
                  <a:pt x="170426" y="626268"/>
                </a:lnTo>
                <a:lnTo>
                  <a:pt x="172743" y="623335"/>
                </a:lnTo>
                <a:lnTo>
                  <a:pt x="173659" y="623227"/>
                </a:lnTo>
                <a:lnTo>
                  <a:pt x="174541" y="623885"/>
                </a:lnTo>
                <a:lnTo>
                  <a:pt x="175337" y="625956"/>
                </a:lnTo>
                <a:lnTo>
                  <a:pt x="176420" y="627847"/>
                </a:lnTo>
                <a:lnTo>
                  <a:pt x="177497" y="628734"/>
                </a:lnTo>
                <a:lnTo>
                  <a:pt x="177221" y="630034"/>
                </a:lnTo>
                <a:lnTo>
                  <a:pt x="175290" y="632807"/>
                </a:lnTo>
                <a:lnTo>
                  <a:pt x="175380" y="633326"/>
                </a:lnTo>
                <a:lnTo>
                  <a:pt x="175883" y="633814"/>
                </a:lnTo>
                <a:lnTo>
                  <a:pt x="176633" y="634161"/>
                </a:lnTo>
                <a:lnTo>
                  <a:pt x="178109" y="634377"/>
                </a:lnTo>
                <a:lnTo>
                  <a:pt x="179769" y="634140"/>
                </a:lnTo>
                <a:lnTo>
                  <a:pt x="181503" y="633311"/>
                </a:lnTo>
                <a:lnTo>
                  <a:pt x="183968" y="631488"/>
                </a:lnTo>
                <a:lnTo>
                  <a:pt x="184514" y="631370"/>
                </a:lnTo>
                <a:lnTo>
                  <a:pt x="185867" y="632514"/>
                </a:lnTo>
                <a:lnTo>
                  <a:pt x="185877" y="633084"/>
                </a:lnTo>
                <a:lnTo>
                  <a:pt x="185111" y="634555"/>
                </a:lnTo>
                <a:lnTo>
                  <a:pt x="185046" y="635577"/>
                </a:lnTo>
                <a:lnTo>
                  <a:pt x="186901" y="637195"/>
                </a:lnTo>
                <a:lnTo>
                  <a:pt x="187919" y="637778"/>
                </a:lnTo>
                <a:lnTo>
                  <a:pt x="190142" y="638263"/>
                </a:lnTo>
                <a:lnTo>
                  <a:pt x="194750" y="638326"/>
                </a:lnTo>
                <a:lnTo>
                  <a:pt x="195724" y="639149"/>
                </a:lnTo>
                <a:lnTo>
                  <a:pt x="196745" y="639328"/>
                </a:lnTo>
                <a:lnTo>
                  <a:pt x="197766" y="638939"/>
                </a:lnTo>
                <a:lnTo>
                  <a:pt x="198530" y="638244"/>
                </a:lnTo>
                <a:lnTo>
                  <a:pt x="198821" y="637326"/>
                </a:lnTo>
                <a:lnTo>
                  <a:pt x="198893" y="634229"/>
                </a:lnTo>
                <a:lnTo>
                  <a:pt x="199152" y="633007"/>
                </a:lnTo>
                <a:lnTo>
                  <a:pt x="199479" y="632404"/>
                </a:lnTo>
                <a:lnTo>
                  <a:pt x="200886" y="631118"/>
                </a:lnTo>
                <a:lnTo>
                  <a:pt x="201906" y="630752"/>
                </a:lnTo>
                <a:lnTo>
                  <a:pt x="204504" y="630830"/>
                </a:lnTo>
                <a:lnTo>
                  <a:pt x="206570" y="630440"/>
                </a:lnTo>
                <a:lnTo>
                  <a:pt x="208358" y="630659"/>
                </a:lnTo>
                <a:lnTo>
                  <a:pt x="209005" y="629989"/>
                </a:lnTo>
                <a:lnTo>
                  <a:pt x="209723" y="628097"/>
                </a:lnTo>
                <a:lnTo>
                  <a:pt x="210356" y="627371"/>
                </a:lnTo>
                <a:lnTo>
                  <a:pt x="212000" y="627037"/>
                </a:lnTo>
                <a:lnTo>
                  <a:pt x="214067" y="627304"/>
                </a:lnTo>
                <a:lnTo>
                  <a:pt x="214588" y="627006"/>
                </a:lnTo>
                <a:lnTo>
                  <a:pt x="214909" y="626078"/>
                </a:lnTo>
                <a:lnTo>
                  <a:pt x="214764" y="624844"/>
                </a:lnTo>
                <a:lnTo>
                  <a:pt x="212440" y="620946"/>
                </a:lnTo>
                <a:lnTo>
                  <a:pt x="212038" y="619236"/>
                </a:lnTo>
                <a:lnTo>
                  <a:pt x="212162" y="618575"/>
                </a:lnTo>
                <a:lnTo>
                  <a:pt x="213108" y="617134"/>
                </a:lnTo>
                <a:lnTo>
                  <a:pt x="214015" y="616310"/>
                </a:lnTo>
                <a:lnTo>
                  <a:pt x="215361" y="615817"/>
                </a:lnTo>
                <a:lnTo>
                  <a:pt x="216464" y="616251"/>
                </a:lnTo>
                <a:lnTo>
                  <a:pt x="219281" y="619694"/>
                </a:lnTo>
                <a:lnTo>
                  <a:pt x="219674" y="620823"/>
                </a:lnTo>
                <a:lnTo>
                  <a:pt x="219085" y="622052"/>
                </a:lnTo>
                <a:lnTo>
                  <a:pt x="219120" y="622418"/>
                </a:lnTo>
                <a:lnTo>
                  <a:pt x="219495" y="622798"/>
                </a:lnTo>
                <a:lnTo>
                  <a:pt x="220224" y="623037"/>
                </a:lnTo>
                <a:lnTo>
                  <a:pt x="221165" y="622821"/>
                </a:lnTo>
                <a:lnTo>
                  <a:pt x="221682" y="622188"/>
                </a:lnTo>
                <a:lnTo>
                  <a:pt x="221614" y="619817"/>
                </a:lnTo>
                <a:lnTo>
                  <a:pt x="222088" y="618539"/>
                </a:lnTo>
                <a:lnTo>
                  <a:pt x="223697" y="616985"/>
                </a:lnTo>
                <a:lnTo>
                  <a:pt x="226764" y="615599"/>
                </a:lnTo>
                <a:lnTo>
                  <a:pt x="229843" y="615454"/>
                </a:lnTo>
                <a:lnTo>
                  <a:pt x="234094" y="614744"/>
                </a:lnTo>
                <a:lnTo>
                  <a:pt x="237254" y="613289"/>
                </a:lnTo>
                <a:lnTo>
                  <a:pt x="239703" y="613450"/>
                </a:lnTo>
                <a:lnTo>
                  <a:pt x="243600" y="612389"/>
                </a:lnTo>
                <a:lnTo>
                  <a:pt x="245115" y="613200"/>
                </a:lnTo>
                <a:lnTo>
                  <a:pt x="246438" y="615476"/>
                </a:lnTo>
                <a:lnTo>
                  <a:pt x="248638" y="616359"/>
                </a:lnTo>
                <a:lnTo>
                  <a:pt x="249757" y="616315"/>
                </a:lnTo>
                <a:lnTo>
                  <a:pt x="250343" y="616112"/>
                </a:lnTo>
                <a:lnTo>
                  <a:pt x="250781" y="615640"/>
                </a:lnTo>
                <a:lnTo>
                  <a:pt x="250741" y="612673"/>
                </a:lnTo>
                <a:lnTo>
                  <a:pt x="250047" y="611520"/>
                </a:lnTo>
                <a:lnTo>
                  <a:pt x="249100" y="611410"/>
                </a:lnTo>
                <a:lnTo>
                  <a:pt x="248431" y="611006"/>
                </a:lnTo>
                <a:lnTo>
                  <a:pt x="248186" y="610606"/>
                </a:lnTo>
                <a:lnTo>
                  <a:pt x="248203" y="609831"/>
                </a:lnTo>
                <a:lnTo>
                  <a:pt x="249012" y="608614"/>
                </a:lnTo>
                <a:lnTo>
                  <a:pt x="250396" y="607488"/>
                </a:lnTo>
                <a:lnTo>
                  <a:pt x="251280" y="607224"/>
                </a:lnTo>
                <a:lnTo>
                  <a:pt x="252778" y="607242"/>
                </a:lnTo>
                <a:lnTo>
                  <a:pt x="255104" y="608525"/>
                </a:lnTo>
                <a:lnTo>
                  <a:pt x="257115" y="610579"/>
                </a:lnTo>
                <a:lnTo>
                  <a:pt x="257378" y="612063"/>
                </a:lnTo>
                <a:lnTo>
                  <a:pt x="257002" y="614474"/>
                </a:lnTo>
                <a:lnTo>
                  <a:pt x="257480" y="615060"/>
                </a:lnTo>
                <a:lnTo>
                  <a:pt x="258682" y="615411"/>
                </a:lnTo>
                <a:lnTo>
                  <a:pt x="260447" y="615126"/>
                </a:lnTo>
                <a:lnTo>
                  <a:pt x="261994" y="615764"/>
                </a:lnTo>
                <a:lnTo>
                  <a:pt x="265663" y="616466"/>
                </a:lnTo>
                <a:lnTo>
                  <a:pt x="266602" y="617069"/>
                </a:lnTo>
                <a:lnTo>
                  <a:pt x="266857" y="618095"/>
                </a:lnTo>
                <a:lnTo>
                  <a:pt x="266836" y="620823"/>
                </a:lnTo>
                <a:lnTo>
                  <a:pt x="267416" y="621666"/>
                </a:lnTo>
                <a:lnTo>
                  <a:pt x="268916" y="622760"/>
                </a:lnTo>
                <a:lnTo>
                  <a:pt x="268900" y="623281"/>
                </a:lnTo>
                <a:lnTo>
                  <a:pt x="268374" y="623937"/>
                </a:lnTo>
                <a:lnTo>
                  <a:pt x="268836" y="624608"/>
                </a:lnTo>
                <a:lnTo>
                  <a:pt x="270341" y="624979"/>
                </a:lnTo>
                <a:lnTo>
                  <a:pt x="272889" y="623780"/>
                </a:lnTo>
                <a:lnTo>
                  <a:pt x="273906" y="623558"/>
                </a:lnTo>
                <a:lnTo>
                  <a:pt x="277716" y="625420"/>
                </a:lnTo>
                <a:lnTo>
                  <a:pt x="279380" y="625665"/>
                </a:lnTo>
                <a:lnTo>
                  <a:pt x="280169" y="625335"/>
                </a:lnTo>
                <a:lnTo>
                  <a:pt x="281637" y="623581"/>
                </a:lnTo>
                <a:lnTo>
                  <a:pt x="284109" y="623590"/>
                </a:lnTo>
                <a:lnTo>
                  <a:pt x="284953" y="623015"/>
                </a:lnTo>
                <a:lnTo>
                  <a:pt x="285800" y="622024"/>
                </a:lnTo>
                <a:lnTo>
                  <a:pt x="288095" y="621229"/>
                </a:lnTo>
                <a:lnTo>
                  <a:pt x="289685" y="621119"/>
                </a:lnTo>
                <a:lnTo>
                  <a:pt x="292429" y="621794"/>
                </a:lnTo>
                <a:lnTo>
                  <a:pt x="293997" y="623264"/>
                </a:lnTo>
                <a:lnTo>
                  <a:pt x="296502" y="625086"/>
                </a:lnTo>
                <a:lnTo>
                  <a:pt x="297665" y="625476"/>
                </a:lnTo>
                <a:lnTo>
                  <a:pt x="297958" y="625847"/>
                </a:lnTo>
                <a:lnTo>
                  <a:pt x="298021" y="626838"/>
                </a:lnTo>
                <a:lnTo>
                  <a:pt x="297371" y="628932"/>
                </a:lnTo>
                <a:lnTo>
                  <a:pt x="296649" y="630237"/>
                </a:lnTo>
                <a:lnTo>
                  <a:pt x="296654" y="631165"/>
                </a:lnTo>
                <a:lnTo>
                  <a:pt x="296989" y="631589"/>
                </a:lnTo>
                <a:lnTo>
                  <a:pt x="299888" y="631990"/>
                </a:lnTo>
                <a:lnTo>
                  <a:pt x="300747" y="632696"/>
                </a:lnTo>
                <a:lnTo>
                  <a:pt x="302286" y="633396"/>
                </a:lnTo>
                <a:lnTo>
                  <a:pt x="306311" y="636955"/>
                </a:lnTo>
                <a:lnTo>
                  <a:pt x="307238" y="637338"/>
                </a:lnTo>
                <a:lnTo>
                  <a:pt x="309682" y="637820"/>
                </a:lnTo>
                <a:lnTo>
                  <a:pt x="311841" y="637205"/>
                </a:lnTo>
                <a:lnTo>
                  <a:pt x="314176" y="637481"/>
                </a:lnTo>
                <a:lnTo>
                  <a:pt x="317142" y="637172"/>
                </a:lnTo>
                <a:lnTo>
                  <a:pt x="318147" y="638980"/>
                </a:lnTo>
                <a:lnTo>
                  <a:pt x="316909" y="639816"/>
                </a:lnTo>
                <a:lnTo>
                  <a:pt x="316492" y="640606"/>
                </a:lnTo>
                <a:lnTo>
                  <a:pt x="316521" y="641891"/>
                </a:lnTo>
                <a:lnTo>
                  <a:pt x="317085" y="642342"/>
                </a:lnTo>
                <a:lnTo>
                  <a:pt x="318504" y="642331"/>
                </a:lnTo>
                <a:lnTo>
                  <a:pt x="320439" y="641808"/>
                </a:lnTo>
                <a:lnTo>
                  <a:pt x="321481" y="641061"/>
                </a:lnTo>
                <a:lnTo>
                  <a:pt x="322780" y="638716"/>
                </a:lnTo>
                <a:lnTo>
                  <a:pt x="323563" y="638241"/>
                </a:lnTo>
                <a:lnTo>
                  <a:pt x="323839" y="638364"/>
                </a:lnTo>
                <a:lnTo>
                  <a:pt x="324267" y="640015"/>
                </a:lnTo>
                <a:lnTo>
                  <a:pt x="324933" y="641238"/>
                </a:lnTo>
                <a:lnTo>
                  <a:pt x="325977" y="641579"/>
                </a:lnTo>
                <a:lnTo>
                  <a:pt x="327353" y="641442"/>
                </a:lnTo>
                <a:lnTo>
                  <a:pt x="328206" y="640988"/>
                </a:lnTo>
                <a:lnTo>
                  <a:pt x="330576" y="638213"/>
                </a:lnTo>
                <a:lnTo>
                  <a:pt x="332104" y="637965"/>
                </a:lnTo>
                <a:lnTo>
                  <a:pt x="334182" y="638261"/>
                </a:lnTo>
                <a:lnTo>
                  <a:pt x="335655" y="636973"/>
                </a:lnTo>
                <a:lnTo>
                  <a:pt x="336606" y="636600"/>
                </a:lnTo>
                <a:lnTo>
                  <a:pt x="337659" y="635483"/>
                </a:lnTo>
                <a:lnTo>
                  <a:pt x="341750" y="634117"/>
                </a:lnTo>
                <a:lnTo>
                  <a:pt x="342972" y="634676"/>
                </a:lnTo>
                <a:lnTo>
                  <a:pt x="344872" y="637445"/>
                </a:lnTo>
                <a:lnTo>
                  <a:pt x="346290" y="639056"/>
                </a:lnTo>
                <a:lnTo>
                  <a:pt x="347004" y="641192"/>
                </a:lnTo>
                <a:lnTo>
                  <a:pt x="348394" y="641573"/>
                </a:lnTo>
                <a:lnTo>
                  <a:pt x="349683" y="641502"/>
                </a:lnTo>
                <a:lnTo>
                  <a:pt x="350964" y="641070"/>
                </a:lnTo>
                <a:lnTo>
                  <a:pt x="351452" y="640571"/>
                </a:lnTo>
                <a:lnTo>
                  <a:pt x="351634" y="639866"/>
                </a:lnTo>
                <a:lnTo>
                  <a:pt x="351461" y="638451"/>
                </a:lnTo>
                <a:lnTo>
                  <a:pt x="351892" y="637608"/>
                </a:lnTo>
                <a:lnTo>
                  <a:pt x="352926" y="637606"/>
                </a:lnTo>
                <a:lnTo>
                  <a:pt x="354288" y="638863"/>
                </a:lnTo>
                <a:lnTo>
                  <a:pt x="355236" y="639185"/>
                </a:lnTo>
                <a:lnTo>
                  <a:pt x="357338" y="638618"/>
                </a:lnTo>
                <a:lnTo>
                  <a:pt x="358806" y="638798"/>
                </a:lnTo>
                <a:lnTo>
                  <a:pt x="359635" y="638670"/>
                </a:lnTo>
                <a:lnTo>
                  <a:pt x="361644" y="637678"/>
                </a:lnTo>
                <a:lnTo>
                  <a:pt x="361731" y="636765"/>
                </a:lnTo>
                <a:lnTo>
                  <a:pt x="359171" y="632636"/>
                </a:lnTo>
                <a:lnTo>
                  <a:pt x="359073" y="632128"/>
                </a:lnTo>
                <a:lnTo>
                  <a:pt x="359603" y="631257"/>
                </a:lnTo>
                <a:lnTo>
                  <a:pt x="360559" y="631019"/>
                </a:lnTo>
                <a:lnTo>
                  <a:pt x="361726" y="629478"/>
                </a:lnTo>
                <a:lnTo>
                  <a:pt x="366155" y="628019"/>
                </a:lnTo>
                <a:lnTo>
                  <a:pt x="369109" y="627560"/>
                </a:lnTo>
                <a:lnTo>
                  <a:pt x="369801" y="627756"/>
                </a:lnTo>
                <a:lnTo>
                  <a:pt x="370426" y="629123"/>
                </a:lnTo>
                <a:lnTo>
                  <a:pt x="370904" y="629500"/>
                </a:lnTo>
                <a:lnTo>
                  <a:pt x="372879" y="629263"/>
                </a:lnTo>
                <a:lnTo>
                  <a:pt x="373693" y="628648"/>
                </a:lnTo>
                <a:lnTo>
                  <a:pt x="374993" y="626577"/>
                </a:lnTo>
                <a:lnTo>
                  <a:pt x="374866" y="625587"/>
                </a:lnTo>
                <a:lnTo>
                  <a:pt x="374551" y="625201"/>
                </a:lnTo>
                <a:lnTo>
                  <a:pt x="372787" y="625072"/>
                </a:lnTo>
                <a:lnTo>
                  <a:pt x="371651" y="622267"/>
                </a:lnTo>
                <a:lnTo>
                  <a:pt x="369937" y="621676"/>
                </a:lnTo>
                <a:lnTo>
                  <a:pt x="369257" y="620936"/>
                </a:lnTo>
                <a:lnTo>
                  <a:pt x="368957" y="620172"/>
                </a:lnTo>
                <a:lnTo>
                  <a:pt x="369589" y="618752"/>
                </a:lnTo>
                <a:lnTo>
                  <a:pt x="370061" y="618358"/>
                </a:lnTo>
                <a:lnTo>
                  <a:pt x="371074" y="618232"/>
                </a:lnTo>
                <a:lnTo>
                  <a:pt x="372416" y="618445"/>
                </a:lnTo>
                <a:lnTo>
                  <a:pt x="373094" y="617959"/>
                </a:lnTo>
                <a:lnTo>
                  <a:pt x="374136" y="618484"/>
                </a:lnTo>
                <a:lnTo>
                  <a:pt x="375222" y="618433"/>
                </a:lnTo>
                <a:lnTo>
                  <a:pt x="378353" y="617344"/>
                </a:lnTo>
                <a:lnTo>
                  <a:pt x="381184" y="617148"/>
                </a:lnTo>
                <a:lnTo>
                  <a:pt x="381698" y="617555"/>
                </a:lnTo>
                <a:lnTo>
                  <a:pt x="381390" y="618959"/>
                </a:lnTo>
                <a:lnTo>
                  <a:pt x="381947" y="620336"/>
                </a:lnTo>
                <a:lnTo>
                  <a:pt x="382617" y="621304"/>
                </a:lnTo>
                <a:lnTo>
                  <a:pt x="383950" y="622089"/>
                </a:lnTo>
                <a:lnTo>
                  <a:pt x="385006" y="621330"/>
                </a:lnTo>
                <a:lnTo>
                  <a:pt x="386156" y="619346"/>
                </a:lnTo>
                <a:lnTo>
                  <a:pt x="387755" y="618922"/>
                </a:lnTo>
                <a:lnTo>
                  <a:pt x="388515" y="618004"/>
                </a:lnTo>
                <a:lnTo>
                  <a:pt x="388118" y="616631"/>
                </a:lnTo>
                <a:lnTo>
                  <a:pt x="387082" y="615240"/>
                </a:lnTo>
                <a:lnTo>
                  <a:pt x="387238" y="614687"/>
                </a:lnTo>
                <a:lnTo>
                  <a:pt x="387558" y="614428"/>
                </a:lnTo>
                <a:lnTo>
                  <a:pt x="388816" y="614386"/>
                </a:lnTo>
                <a:lnTo>
                  <a:pt x="391803" y="615187"/>
                </a:lnTo>
                <a:lnTo>
                  <a:pt x="393018" y="614916"/>
                </a:lnTo>
                <a:lnTo>
                  <a:pt x="393907" y="616168"/>
                </a:lnTo>
                <a:lnTo>
                  <a:pt x="395284" y="616957"/>
                </a:lnTo>
                <a:lnTo>
                  <a:pt x="398093" y="614251"/>
                </a:lnTo>
                <a:lnTo>
                  <a:pt x="398080" y="613159"/>
                </a:lnTo>
                <a:lnTo>
                  <a:pt x="398649" y="612041"/>
                </a:lnTo>
                <a:lnTo>
                  <a:pt x="398718" y="611312"/>
                </a:lnTo>
                <a:lnTo>
                  <a:pt x="399128" y="611001"/>
                </a:lnTo>
                <a:lnTo>
                  <a:pt x="399485" y="611110"/>
                </a:lnTo>
                <a:lnTo>
                  <a:pt x="399975" y="611871"/>
                </a:lnTo>
                <a:lnTo>
                  <a:pt x="399816" y="613988"/>
                </a:lnTo>
                <a:lnTo>
                  <a:pt x="399996" y="614495"/>
                </a:lnTo>
                <a:lnTo>
                  <a:pt x="400236" y="614794"/>
                </a:lnTo>
                <a:lnTo>
                  <a:pt x="401180" y="614867"/>
                </a:lnTo>
                <a:lnTo>
                  <a:pt x="401384" y="614692"/>
                </a:lnTo>
                <a:lnTo>
                  <a:pt x="401399" y="613022"/>
                </a:lnTo>
                <a:lnTo>
                  <a:pt x="401996" y="612088"/>
                </a:lnTo>
                <a:lnTo>
                  <a:pt x="401977" y="610726"/>
                </a:lnTo>
                <a:lnTo>
                  <a:pt x="402874" y="610073"/>
                </a:lnTo>
                <a:lnTo>
                  <a:pt x="403618" y="610107"/>
                </a:lnTo>
                <a:lnTo>
                  <a:pt x="403721" y="610285"/>
                </a:lnTo>
                <a:lnTo>
                  <a:pt x="404057" y="611103"/>
                </a:lnTo>
                <a:lnTo>
                  <a:pt x="404034" y="612474"/>
                </a:lnTo>
                <a:lnTo>
                  <a:pt x="404401" y="613636"/>
                </a:lnTo>
                <a:lnTo>
                  <a:pt x="405933" y="613869"/>
                </a:lnTo>
                <a:lnTo>
                  <a:pt x="406532" y="614304"/>
                </a:lnTo>
                <a:lnTo>
                  <a:pt x="407687" y="613681"/>
                </a:lnTo>
                <a:lnTo>
                  <a:pt x="408889" y="613848"/>
                </a:lnTo>
                <a:lnTo>
                  <a:pt x="409813" y="615036"/>
                </a:lnTo>
                <a:lnTo>
                  <a:pt x="410666" y="615367"/>
                </a:lnTo>
                <a:lnTo>
                  <a:pt x="410958" y="615268"/>
                </a:lnTo>
                <a:lnTo>
                  <a:pt x="411275" y="614831"/>
                </a:lnTo>
                <a:lnTo>
                  <a:pt x="411379" y="613677"/>
                </a:lnTo>
                <a:lnTo>
                  <a:pt x="411028" y="612544"/>
                </a:lnTo>
                <a:lnTo>
                  <a:pt x="412158" y="611930"/>
                </a:lnTo>
                <a:lnTo>
                  <a:pt x="414659" y="611531"/>
                </a:lnTo>
                <a:lnTo>
                  <a:pt x="415250" y="610855"/>
                </a:lnTo>
                <a:lnTo>
                  <a:pt x="414961" y="610018"/>
                </a:lnTo>
                <a:lnTo>
                  <a:pt x="414273" y="609564"/>
                </a:lnTo>
                <a:lnTo>
                  <a:pt x="413426" y="608487"/>
                </a:lnTo>
                <a:lnTo>
                  <a:pt x="411255" y="607607"/>
                </a:lnTo>
                <a:lnTo>
                  <a:pt x="410834" y="607220"/>
                </a:lnTo>
                <a:lnTo>
                  <a:pt x="410521" y="606189"/>
                </a:lnTo>
                <a:lnTo>
                  <a:pt x="411561" y="604355"/>
                </a:lnTo>
                <a:lnTo>
                  <a:pt x="412173" y="603987"/>
                </a:lnTo>
                <a:lnTo>
                  <a:pt x="413032" y="603983"/>
                </a:lnTo>
                <a:lnTo>
                  <a:pt x="414736" y="604938"/>
                </a:lnTo>
                <a:lnTo>
                  <a:pt x="416970" y="605626"/>
                </a:lnTo>
                <a:lnTo>
                  <a:pt x="418127" y="605425"/>
                </a:lnTo>
                <a:lnTo>
                  <a:pt x="419237" y="604474"/>
                </a:lnTo>
                <a:lnTo>
                  <a:pt x="421090" y="603543"/>
                </a:lnTo>
                <a:lnTo>
                  <a:pt x="421059" y="602967"/>
                </a:lnTo>
                <a:lnTo>
                  <a:pt x="420142" y="601639"/>
                </a:lnTo>
                <a:lnTo>
                  <a:pt x="417216" y="602472"/>
                </a:lnTo>
                <a:lnTo>
                  <a:pt x="416256" y="602185"/>
                </a:lnTo>
                <a:lnTo>
                  <a:pt x="414950" y="601147"/>
                </a:lnTo>
                <a:lnTo>
                  <a:pt x="414895" y="600268"/>
                </a:lnTo>
                <a:lnTo>
                  <a:pt x="416057" y="599970"/>
                </a:lnTo>
                <a:lnTo>
                  <a:pt x="416448" y="599414"/>
                </a:lnTo>
                <a:lnTo>
                  <a:pt x="417114" y="598046"/>
                </a:lnTo>
                <a:lnTo>
                  <a:pt x="417112" y="597203"/>
                </a:lnTo>
                <a:lnTo>
                  <a:pt x="417910" y="597070"/>
                </a:lnTo>
                <a:lnTo>
                  <a:pt x="418955" y="597710"/>
                </a:lnTo>
                <a:lnTo>
                  <a:pt x="420868" y="598061"/>
                </a:lnTo>
                <a:lnTo>
                  <a:pt x="421886" y="598456"/>
                </a:lnTo>
                <a:lnTo>
                  <a:pt x="422360" y="599044"/>
                </a:lnTo>
                <a:lnTo>
                  <a:pt x="422925" y="598667"/>
                </a:lnTo>
                <a:lnTo>
                  <a:pt x="423269" y="597854"/>
                </a:lnTo>
                <a:lnTo>
                  <a:pt x="426150" y="596499"/>
                </a:lnTo>
                <a:lnTo>
                  <a:pt x="425953" y="595307"/>
                </a:lnTo>
                <a:lnTo>
                  <a:pt x="426126" y="594573"/>
                </a:lnTo>
                <a:lnTo>
                  <a:pt x="425186" y="592922"/>
                </a:lnTo>
                <a:lnTo>
                  <a:pt x="425353" y="591436"/>
                </a:lnTo>
                <a:lnTo>
                  <a:pt x="424624" y="590838"/>
                </a:lnTo>
                <a:lnTo>
                  <a:pt x="423503" y="590936"/>
                </a:lnTo>
                <a:lnTo>
                  <a:pt x="422997" y="591500"/>
                </a:lnTo>
                <a:lnTo>
                  <a:pt x="422771" y="593520"/>
                </a:lnTo>
                <a:lnTo>
                  <a:pt x="421852" y="593511"/>
                </a:lnTo>
                <a:lnTo>
                  <a:pt x="421345" y="592905"/>
                </a:lnTo>
                <a:lnTo>
                  <a:pt x="420656" y="590363"/>
                </a:lnTo>
                <a:lnTo>
                  <a:pt x="421283" y="588769"/>
                </a:lnTo>
                <a:lnTo>
                  <a:pt x="421221" y="587719"/>
                </a:lnTo>
                <a:lnTo>
                  <a:pt x="420109" y="587235"/>
                </a:lnTo>
                <a:lnTo>
                  <a:pt x="419422" y="587231"/>
                </a:lnTo>
                <a:lnTo>
                  <a:pt x="418817" y="586651"/>
                </a:lnTo>
                <a:lnTo>
                  <a:pt x="419137" y="586101"/>
                </a:lnTo>
                <a:lnTo>
                  <a:pt x="420772" y="585298"/>
                </a:lnTo>
                <a:lnTo>
                  <a:pt x="422806" y="585904"/>
                </a:lnTo>
                <a:close/>
              </a:path>
            </a:pathLst>
          </a:custGeom>
          <a:solidFill>
            <a:srgbClr val="BACCE4"/>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Freeform 21"/>
          <p:cNvSpPr/>
          <p:nvPr/>
        </p:nvSpPr>
        <p:spPr>
          <a:xfrm>
            <a:off x="4136978" y="3494158"/>
            <a:ext cx="286892" cy="289061"/>
          </a:xfrm>
          <a:custGeom>
            <a:avLst/>
            <a:gdLst/>
            <a:ahLst/>
            <a:cxnLst/>
            <a:rect l="l" t="t" r="r" b="b"/>
            <a:pathLst>
              <a:path w="286892" h="289061">
                <a:moveTo>
                  <a:pt x="155322" y="282892"/>
                </a:moveTo>
                <a:lnTo>
                  <a:pt x="155921" y="282796"/>
                </a:lnTo>
                <a:lnTo>
                  <a:pt x="155264" y="281105"/>
                </a:lnTo>
                <a:lnTo>
                  <a:pt x="157913" y="281443"/>
                </a:lnTo>
                <a:lnTo>
                  <a:pt x="158165" y="280038"/>
                </a:lnTo>
                <a:lnTo>
                  <a:pt x="161199" y="279805"/>
                </a:lnTo>
                <a:lnTo>
                  <a:pt x="161016" y="281842"/>
                </a:lnTo>
                <a:lnTo>
                  <a:pt x="164753" y="282349"/>
                </a:lnTo>
                <a:lnTo>
                  <a:pt x="167190" y="276256"/>
                </a:lnTo>
                <a:lnTo>
                  <a:pt x="166953" y="272891"/>
                </a:lnTo>
                <a:lnTo>
                  <a:pt x="166485" y="272746"/>
                </a:lnTo>
                <a:lnTo>
                  <a:pt x="166388" y="271516"/>
                </a:lnTo>
                <a:lnTo>
                  <a:pt x="166861" y="271521"/>
                </a:lnTo>
                <a:lnTo>
                  <a:pt x="166648" y="268445"/>
                </a:lnTo>
                <a:lnTo>
                  <a:pt x="169566" y="267404"/>
                </a:lnTo>
                <a:lnTo>
                  <a:pt x="170153" y="267403"/>
                </a:lnTo>
                <a:lnTo>
                  <a:pt x="170064" y="266375"/>
                </a:lnTo>
                <a:lnTo>
                  <a:pt x="171011" y="266211"/>
                </a:lnTo>
                <a:lnTo>
                  <a:pt x="170907" y="265408"/>
                </a:lnTo>
                <a:lnTo>
                  <a:pt x="179426" y="263899"/>
                </a:lnTo>
                <a:lnTo>
                  <a:pt x="177818" y="256604"/>
                </a:lnTo>
                <a:lnTo>
                  <a:pt x="176226" y="256675"/>
                </a:lnTo>
                <a:lnTo>
                  <a:pt x="179045" y="246711"/>
                </a:lnTo>
                <a:lnTo>
                  <a:pt x="181188" y="246975"/>
                </a:lnTo>
                <a:lnTo>
                  <a:pt x="182211" y="246771"/>
                </a:lnTo>
                <a:lnTo>
                  <a:pt x="185360" y="246832"/>
                </a:lnTo>
                <a:lnTo>
                  <a:pt x="185340" y="244374"/>
                </a:lnTo>
                <a:lnTo>
                  <a:pt x="192172" y="243996"/>
                </a:lnTo>
                <a:lnTo>
                  <a:pt x="190761" y="241079"/>
                </a:lnTo>
                <a:lnTo>
                  <a:pt x="191022" y="241022"/>
                </a:lnTo>
                <a:lnTo>
                  <a:pt x="191225" y="241280"/>
                </a:lnTo>
                <a:lnTo>
                  <a:pt x="191701" y="239838"/>
                </a:lnTo>
                <a:lnTo>
                  <a:pt x="191957" y="239678"/>
                </a:lnTo>
                <a:lnTo>
                  <a:pt x="192432" y="240012"/>
                </a:lnTo>
                <a:lnTo>
                  <a:pt x="193573" y="238987"/>
                </a:lnTo>
                <a:lnTo>
                  <a:pt x="194850" y="239021"/>
                </a:lnTo>
                <a:lnTo>
                  <a:pt x="194702" y="237830"/>
                </a:lnTo>
                <a:lnTo>
                  <a:pt x="195097" y="237419"/>
                </a:lnTo>
                <a:lnTo>
                  <a:pt x="194620" y="236729"/>
                </a:lnTo>
                <a:lnTo>
                  <a:pt x="197849" y="237002"/>
                </a:lnTo>
                <a:lnTo>
                  <a:pt x="198663" y="234979"/>
                </a:lnTo>
                <a:lnTo>
                  <a:pt x="198088" y="232859"/>
                </a:lnTo>
                <a:lnTo>
                  <a:pt x="197745" y="232467"/>
                </a:lnTo>
                <a:lnTo>
                  <a:pt x="197679" y="226990"/>
                </a:lnTo>
                <a:lnTo>
                  <a:pt x="198326" y="222780"/>
                </a:lnTo>
                <a:lnTo>
                  <a:pt x="199133" y="222596"/>
                </a:lnTo>
                <a:lnTo>
                  <a:pt x="199743" y="223001"/>
                </a:lnTo>
                <a:lnTo>
                  <a:pt x="200379" y="222655"/>
                </a:lnTo>
                <a:lnTo>
                  <a:pt x="200185" y="223073"/>
                </a:lnTo>
                <a:lnTo>
                  <a:pt x="200612" y="223639"/>
                </a:lnTo>
                <a:lnTo>
                  <a:pt x="204911" y="225259"/>
                </a:lnTo>
                <a:lnTo>
                  <a:pt x="204168" y="226658"/>
                </a:lnTo>
                <a:lnTo>
                  <a:pt x="205338" y="226995"/>
                </a:lnTo>
                <a:lnTo>
                  <a:pt x="205803" y="225595"/>
                </a:lnTo>
                <a:lnTo>
                  <a:pt x="206748" y="225951"/>
                </a:lnTo>
                <a:lnTo>
                  <a:pt x="206390" y="228922"/>
                </a:lnTo>
                <a:lnTo>
                  <a:pt x="214030" y="230608"/>
                </a:lnTo>
                <a:lnTo>
                  <a:pt x="213156" y="226926"/>
                </a:lnTo>
                <a:lnTo>
                  <a:pt x="214763" y="224235"/>
                </a:lnTo>
                <a:lnTo>
                  <a:pt x="215937" y="224845"/>
                </a:lnTo>
                <a:lnTo>
                  <a:pt x="216003" y="224342"/>
                </a:lnTo>
                <a:lnTo>
                  <a:pt x="216464" y="224476"/>
                </a:lnTo>
                <a:lnTo>
                  <a:pt x="217689" y="224067"/>
                </a:lnTo>
                <a:lnTo>
                  <a:pt x="221569" y="225374"/>
                </a:lnTo>
                <a:lnTo>
                  <a:pt x="232370" y="226567"/>
                </a:lnTo>
                <a:lnTo>
                  <a:pt x="232939" y="219091"/>
                </a:lnTo>
                <a:lnTo>
                  <a:pt x="235143" y="215803"/>
                </a:lnTo>
                <a:lnTo>
                  <a:pt x="236046" y="215620"/>
                </a:lnTo>
                <a:lnTo>
                  <a:pt x="235725" y="213830"/>
                </a:lnTo>
                <a:lnTo>
                  <a:pt x="236679" y="211985"/>
                </a:lnTo>
                <a:lnTo>
                  <a:pt x="238150" y="211649"/>
                </a:lnTo>
                <a:lnTo>
                  <a:pt x="238031" y="211182"/>
                </a:lnTo>
                <a:lnTo>
                  <a:pt x="238956" y="211381"/>
                </a:lnTo>
                <a:lnTo>
                  <a:pt x="242897" y="209210"/>
                </a:lnTo>
                <a:lnTo>
                  <a:pt x="247167" y="207892"/>
                </a:lnTo>
                <a:lnTo>
                  <a:pt x="245773" y="202762"/>
                </a:lnTo>
                <a:lnTo>
                  <a:pt x="244212" y="198468"/>
                </a:lnTo>
                <a:lnTo>
                  <a:pt x="241196" y="199154"/>
                </a:lnTo>
                <a:lnTo>
                  <a:pt x="239591" y="192793"/>
                </a:lnTo>
                <a:lnTo>
                  <a:pt x="235740" y="194313"/>
                </a:lnTo>
                <a:lnTo>
                  <a:pt x="232059" y="194785"/>
                </a:lnTo>
                <a:lnTo>
                  <a:pt x="229972" y="195321"/>
                </a:lnTo>
                <a:lnTo>
                  <a:pt x="225642" y="197851"/>
                </a:lnTo>
                <a:lnTo>
                  <a:pt x="220351" y="194383"/>
                </a:lnTo>
                <a:lnTo>
                  <a:pt x="220414" y="192900"/>
                </a:lnTo>
                <a:lnTo>
                  <a:pt x="213883" y="189563"/>
                </a:lnTo>
                <a:lnTo>
                  <a:pt x="213469" y="182453"/>
                </a:lnTo>
                <a:lnTo>
                  <a:pt x="207693" y="180459"/>
                </a:lnTo>
                <a:lnTo>
                  <a:pt x="200312" y="178267"/>
                </a:lnTo>
                <a:lnTo>
                  <a:pt x="201155" y="169752"/>
                </a:lnTo>
                <a:lnTo>
                  <a:pt x="200084" y="170760"/>
                </a:lnTo>
                <a:lnTo>
                  <a:pt x="199434" y="165223"/>
                </a:lnTo>
                <a:lnTo>
                  <a:pt x="195065" y="162155"/>
                </a:lnTo>
                <a:lnTo>
                  <a:pt x="196126" y="158566"/>
                </a:lnTo>
                <a:lnTo>
                  <a:pt x="197345" y="157861"/>
                </a:lnTo>
                <a:lnTo>
                  <a:pt x="196821" y="156288"/>
                </a:lnTo>
                <a:lnTo>
                  <a:pt x="198989" y="155025"/>
                </a:lnTo>
                <a:lnTo>
                  <a:pt x="197235" y="152154"/>
                </a:lnTo>
                <a:lnTo>
                  <a:pt x="199109" y="151371"/>
                </a:lnTo>
                <a:lnTo>
                  <a:pt x="201268" y="151938"/>
                </a:lnTo>
                <a:lnTo>
                  <a:pt x="202486" y="149765"/>
                </a:lnTo>
                <a:lnTo>
                  <a:pt x="208267" y="151868"/>
                </a:lnTo>
                <a:lnTo>
                  <a:pt x="209648" y="144904"/>
                </a:lnTo>
                <a:lnTo>
                  <a:pt x="210334" y="142748"/>
                </a:lnTo>
                <a:lnTo>
                  <a:pt x="216512" y="137867"/>
                </a:lnTo>
                <a:lnTo>
                  <a:pt x="219453" y="138532"/>
                </a:lnTo>
                <a:lnTo>
                  <a:pt x="227803" y="141469"/>
                </a:lnTo>
                <a:lnTo>
                  <a:pt x="234581" y="141718"/>
                </a:lnTo>
                <a:lnTo>
                  <a:pt x="234670" y="140620"/>
                </a:lnTo>
                <a:lnTo>
                  <a:pt x="235332" y="140536"/>
                </a:lnTo>
                <a:lnTo>
                  <a:pt x="236813" y="145518"/>
                </a:lnTo>
                <a:lnTo>
                  <a:pt x="239769" y="144165"/>
                </a:lnTo>
                <a:lnTo>
                  <a:pt x="245437" y="144417"/>
                </a:lnTo>
                <a:lnTo>
                  <a:pt x="250088" y="144024"/>
                </a:lnTo>
                <a:lnTo>
                  <a:pt x="250418" y="144967"/>
                </a:lnTo>
                <a:lnTo>
                  <a:pt x="253184" y="139815"/>
                </a:lnTo>
                <a:lnTo>
                  <a:pt x="253229" y="139329"/>
                </a:lnTo>
                <a:lnTo>
                  <a:pt x="252946" y="139324"/>
                </a:lnTo>
                <a:lnTo>
                  <a:pt x="252847" y="139058"/>
                </a:lnTo>
                <a:lnTo>
                  <a:pt x="252676" y="131879"/>
                </a:lnTo>
                <a:lnTo>
                  <a:pt x="254320" y="124710"/>
                </a:lnTo>
                <a:lnTo>
                  <a:pt x="253595" y="124364"/>
                </a:lnTo>
                <a:lnTo>
                  <a:pt x="254060" y="123267"/>
                </a:lnTo>
                <a:lnTo>
                  <a:pt x="261419" y="126321"/>
                </a:lnTo>
                <a:lnTo>
                  <a:pt x="263514" y="118143"/>
                </a:lnTo>
                <a:lnTo>
                  <a:pt x="262560" y="116016"/>
                </a:lnTo>
                <a:lnTo>
                  <a:pt x="261816" y="115812"/>
                </a:lnTo>
                <a:lnTo>
                  <a:pt x="264935" y="108100"/>
                </a:lnTo>
                <a:lnTo>
                  <a:pt x="268580" y="103072"/>
                </a:lnTo>
                <a:lnTo>
                  <a:pt x="264212" y="100605"/>
                </a:lnTo>
                <a:lnTo>
                  <a:pt x="267189" y="91870"/>
                </a:lnTo>
                <a:lnTo>
                  <a:pt x="281318" y="87449"/>
                </a:lnTo>
                <a:lnTo>
                  <a:pt x="280205" y="85823"/>
                </a:lnTo>
                <a:lnTo>
                  <a:pt x="281614" y="85537"/>
                </a:lnTo>
                <a:lnTo>
                  <a:pt x="281392" y="83947"/>
                </a:lnTo>
                <a:lnTo>
                  <a:pt x="277889" y="83308"/>
                </a:lnTo>
                <a:lnTo>
                  <a:pt x="278935" y="77432"/>
                </a:lnTo>
                <a:lnTo>
                  <a:pt x="278454" y="76199"/>
                </a:lnTo>
                <a:lnTo>
                  <a:pt x="277392" y="74567"/>
                </a:lnTo>
                <a:lnTo>
                  <a:pt x="282430" y="72977"/>
                </a:lnTo>
                <a:lnTo>
                  <a:pt x="285144" y="72495"/>
                </a:lnTo>
                <a:lnTo>
                  <a:pt x="286892" y="70811"/>
                </a:lnTo>
                <a:lnTo>
                  <a:pt x="285909" y="69622"/>
                </a:lnTo>
                <a:lnTo>
                  <a:pt x="284478" y="63774"/>
                </a:lnTo>
                <a:lnTo>
                  <a:pt x="284082" y="64016"/>
                </a:lnTo>
                <a:lnTo>
                  <a:pt x="284261" y="64564"/>
                </a:lnTo>
                <a:lnTo>
                  <a:pt x="281177" y="68893"/>
                </a:lnTo>
                <a:lnTo>
                  <a:pt x="279683" y="67706"/>
                </a:lnTo>
                <a:lnTo>
                  <a:pt x="279591" y="67176"/>
                </a:lnTo>
                <a:lnTo>
                  <a:pt x="278807" y="67794"/>
                </a:lnTo>
                <a:lnTo>
                  <a:pt x="277895" y="67803"/>
                </a:lnTo>
                <a:lnTo>
                  <a:pt x="274706" y="66377"/>
                </a:lnTo>
                <a:lnTo>
                  <a:pt x="275387" y="68756"/>
                </a:lnTo>
                <a:lnTo>
                  <a:pt x="274124" y="69578"/>
                </a:lnTo>
                <a:lnTo>
                  <a:pt x="273535" y="70264"/>
                </a:lnTo>
                <a:lnTo>
                  <a:pt x="271541" y="70978"/>
                </a:lnTo>
                <a:lnTo>
                  <a:pt x="270818" y="70468"/>
                </a:lnTo>
                <a:lnTo>
                  <a:pt x="270637" y="70569"/>
                </a:lnTo>
                <a:lnTo>
                  <a:pt x="273462" y="76148"/>
                </a:lnTo>
                <a:lnTo>
                  <a:pt x="264392" y="79924"/>
                </a:lnTo>
                <a:lnTo>
                  <a:pt x="260075" y="73028"/>
                </a:lnTo>
                <a:lnTo>
                  <a:pt x="259538" y="67607"/>
                </a:lnTo>
                <a:lnTo>
                  <a:pt x="251716" y="74491"/>
                </a:lnTo>
                <a:lnTo>
                  <a:pt x="254276" y="67825"/>
                </a:lnTo>
                <a:lnTo>
                  <a:pt x="253678" y="67430"/>
                </a:lnTo>
                <a:lnTo>
                  <a:pt x="251177" y="63642"/>
                </a:lnTo>
                <a:lnTo>
                  <a:pt x="246695" y="66794"/>
                </a:lnTo>
                <a:lnTo>
                  <a:pt x="242966" y="69811"/>
                </a:lnTo>
                <a:lnTo>
                  <a:pt x="244455" y="74891"/>
                </a:lnTo>
                <a:lnTo>
                  <a:pt x="249530" y="73986"/>
                </a:lnTo>
                <a:lnTo>
                  <a:pt x="251347" y="85063"/>
                </a:lnTo>
                <a:lnTo>
                  <a:pt x="252000" y="85207"/>
                </a:lnTo>
                <a:lnTo>
                  <a:pt x="253281" y="86234"/>
                </a:lnTo>
                <a:lnTo>
                  <a:pt x="252797" y="88871"/>
                </a:lnTo>
                <a:lnTo>
                  <a:pt x="249397" y="87807"/>
                </a:lnTo>
                <a:lnTo>
                  <a:pt x="248783" y="88130"/>
                </a:lnTo>
                <a:lnTo>
                  <a:pt x="247946" y="86673"/>
                </a:lnTo>
                <a:lnTo>
                  <a:pt x="248075" y="85351"/>
                </a:lnTo>
                <a:lnTo>
                  <a:pt x="244474" y="86127"/>
                </a:lnTo>
                <a:lnTo>
                  <a:pt x="244165" y="88706"/>
                </a:lnTo>
                <a:lnTo>
                  <a:pt x="246042" y="88745"/>
                </a:lnTo>
                <a:lnTo>
                  <a:pt x="249400" y="92655"/>
                </a:lnTo>
                <a:lnTo>
                  <a:pt x="245301" y="94541"/>
                </a:lnTo>
                <a:lnTo>
                  <a:pt x="243728" y="93506"/>
                </a:lnTo>
                <a:lnTo>
                  <a:pt x="241392" y="95576"/>
                </a:lnTo>
                <a:lnTo>
                  <a:pt x="239444" y="95424"/>
                </a:lnTo>
                <a:lnTo>
                  <a:pt x="237999" y="94861"/>
                </a:lnTo>
                <a:lnTo>
                  <a:pt x="237817" y="95199"/>
                </a:lnTo>
                <a:lnTo>
                  <a:pt x="237412" y="95139"/>
                </a:lnTo>
                <a:lnTo>
                  <a:pt x="237343" y="95613"/>
                </a:lnTo>
                <a:lnTo>
                  <a:pt x="236206" y="95938"/>
                </a:lnTo>
                <a:lnTo>
                  <a:pt x="236298" y="94243"/>
                </a:lnTo>
                <a:lnTo>
                  <a:pt x="235640" y="93990"/>
                </a:lnTo>
                <a:lnTo>
                  <a:pt x="236628" y="91468"/>
                </a:lnTo>
                <a:lnTo>
                  <a:pt x="237873" y="86516"/>
                </a:lnTo>
                <a:lnTo>
                  <a:pt x="233855" y="84257"/>
                </a:lnTo>
                <a:lnTo>
                  <a:pt x="231784" y="83842"/>
                </a:lnTo>
                <a:lnTo>
                  <a:pt x="231449" y="85828"/>
                </a:lnTo>
                <a:lnTo>
                  <a:pt x="229295" y="91970"/>
                </a:lnTo>
                <a:lnTo>
                  <a:pt x="225697" y="90640"/>
                </a:lnTo>
                <a:lnTo>
                  <a:pt x="224144" y="88917"/>
                </a:lnTo>
                <a:lnTo>
                  <a:pt x="224470" y="87934"/>
                </a:lnTo>
                <a:lnTo>
                  <a:pt x="220179" y="76672"/>
                </a:lnTo>
                <a:lnTo>
                  <a:pt x="220894" y="76016"/>
                </a:lnTo>
                <a:lnTo>
                  <a:pt x="220630" y="76030"/>
                </a:lnTo>
                <a:lnTo>
                  <a:pt x="219259" y="71695"/>
                </a:lnTo>
                <a:lnTo>
                  <a:pt x="218204" y="67148"/>
                </a:lnTo>
                <a:lnTo>
                  <a:pt x="218116" y="65840"/>
                </a:lnTo>
                <a:lnTo>
                  <a:pt x="219336" y="65376"/>
                </a:lnTo>
                <a:lnTo>
                  <a:pt x="219232" y="60304"/>
                </a:lnTo>
                <a:lnTo>
                  <a:pt x="217719" y="57392"/>
                </a:lnTo>
                <a:lnTo>
                  <a:pt x="216919" y="56912"/>
                </a:lnTo>
                <a:lnTo>
                  <a:pt x="217740" y="56195"/>
                </a:lnTo>
                <a:lnTo>
                  <a:pt x="219019" y="55621"/>
                </a:lnTo>
                <a:lnTo>
                  <a:pt x="218471" y="53711"/>
                </a:lnTo>
                <a:lnTo>
                  <a:pt x="217878" y="47856"/>
                </a:lnTo>
                <a:lnTo>
                  <a:pt x="220770" y="45157"/>
                </a:lnTo>
                <a:lnTo>
                  <a:pt x="218723" y="35371"/>
                </a:lnTo>
                <a:lnTo>
                  <a:pt x="220282" y="35080"/>
                </a:lnTo>
                <a:lnTo>
                  <a:pt x="221483" y="34503"/>
                </a:lnTo>
                <a:lnTo>
                  <a:pt x="227162" y="30743"/>
                </a:lnTo>
                <a:lnTo>
                  <a:pt x="229608" y="29457"/>
                </a:lnTo>
                <a:lnTo>
                  <a:pt x="235123" y="27766"/>
                </a:lnTo>
                <a:lnTo>
                  <a:pt x="236060" y="28739"/>
                </a:lnTo>
                <a:lnTo>
                  <a:pt x="235126" y="25588"/>
                </a:lnTo>
                <a:lnTo>
                  <a:pt x="239992" y="18027"/>
                </a:lnTo>
                <a:lnTo>
                  <a:pt x="242163" y="19674"/>
                </a:lnTo>
                <a:lnTo>
                  <a:pt x="242973" y="19356"/>
                </a:lnTo>
                <a:lnTo>
                  <a:pt x="241897" y="12089"/>
                </a:lnTo>
                <a:lnTo>
                  <a:pt x="242057" y="12087"/>
                </a:lnTo>
                <a:lnTo>
                  <a:pt x="239464" y="6540"/>
                </a:lnTo>
                <a:lnTo>
                  <a:pt x="239719" y="6527"/>
                </a:lnTo>
                <a:lnTo>
                  <a:pt x="237820" y="0"/>
                </a:lnTo>
                <a:lnTo>
                  <a:pt x="232742" y="852"/>
                </a:lnTo>
                <a:lnTo>
                  <a:pt x="226503" y="4241"/>
                </a:lnTo>
                <a:lnTo>
                  <a:pt x="224031" y="4856"/>
                </a:lnTo>
                <a:lnTo>
                  <a:pt x="218764" y="6072"/>
                </a:lnTo>
                <a:lnTo>
                  <a:pt x="221833" y="11375"/>
                </a:lnTo>
                <a:lnTo>
                  <a:pt x="221818" y="11807"/>
                </a:lnTo>
                <a:lnTo>
                  <a:pt x="224182" y="16231"/>
                </a:lnTo>
                <a:lnTo>
                  <a:pt x="227603" y="15911"/>
                </a:lnTo>
                <a:lnTo>
                  <a:pt x="227300" y="16911"/>
                </a:lnTo>
                <a:lnTo>
                  <a:pt x="227740" y="17442"/>
                </a:lnTo>
                <a:lnTo>
                  <a:pt x="227071" y="18508"/>
                </a:lnTo>
                <a:lnTo>
                  <a:pt x="227013" y="19784"/>
                </a:lnTo>
                <a:lnTo>
                  <a:pt x="226041" y="20782"/>
                </a:lnTo>
                <a:lnTo>
                  <a:pt x="226310" y="21814"/>
                </a:lnTo>
                <a:lnTo>
                  <a:pt x="225282" y="22430"/>
                </a:lnTo>
                <a:lnTo>
                  <a:pt x="224644" y="19669"/>
                </a:lnTo>
                <a:lnTo>
                  <a:pt x="220492" y="26794"/>
                </a:lnTo>
                <a:lnTo>
                  <a:pt x="220299" y="26830"/>
                </a:lnTo>
                <a:lnTo>
                  <a:pt x="216526" y="22163"/>
                </a:lnTo>
                <a:lnTo>
                  <a:pt x="216560" y="22398"/>
                </a:lnTo>
                <a:lnTo>
                  <a:pt x="216298" y="22496"/>
                </a:lnTo>
                <a:lnTo>
                  <a:pt x="215140" y="21685"/>
                </a:lnTo>
                <a:lnTo>
                  <a:pt x="210601" y="21512"/>
                </a:lnTo>
                <a:lnTo>
                  <a:pt x="210675" y="21964"/>
                </a:lnTo>
                <a:lnTo>
                  <a:pt x="203196" y="22344"/>
                </a:lnTo>
                <a:lnTo>
                  <a:pt x="201374" y="23777"/>
                </a:lnTo>
                <a:lnTo>
                  <a:pt x="201492" y="30766"/>
                </a:lnTo>
                <a:lnTo>
                  <a:pt x="192097" y="30655"/>
                </a:lnTo>
                <a:lnTo>
                  <a:pt x="191215" y="32596"/>
                </a:lnTo>
                <a:lnTo>
                  <a:pt x="183762" y="32135"/>
                </a:lnTo>
                <a:lnTo>
                  <a:pt x="183415" y="27440"/>
                </a:lnTo>
                <a:lnTo>
                  <a:pt x="171492" y="29985"/>
                </a:lnTo>
                <a:lnTo>
                  <a:pt x="171325" y="34643"/>
                </a:lnTo>
                <a:lnTo>
                  <a:pt x="170085" y="34893"/>
                </a:lnTo>
                <a:lnTo>
                  <a:pt x="170082" y="34432"/>
                </a:lnTo>
                <a:lnTo>
                  <a:pt x="169192" y="34368"/>
                </a:lnTo>
                <a:lnTo>
                  <a:pt x="169058" y="35099"/>
                </a:lnTo>
                <a:lnTo>
                  <a:pt x="161070" y="36693"/>
                </a:lnTo>
                <a:lnTo>
                  <a:pt x="157307" y="31663"/>
                </a:lnTo>
                <a:lnTo>
                  <a:pt x="153672" y="32330"/>
                </a:lnTo>
                <a:lnTo>
                  <a:pt x="153471" y="38324"/>
                </a:lnTo>
                <a:lnTo>
                  <a:pt x="143782" y="40109"/>
                </a:lnTo>
                <a:lnTo>
                  <a:pt x="143446" y="38184"/>
                </a:lnTo>
                <a:lnTo>
                  <a:pt x="139761" y="40938"/>
                </a:lnTo>
                <a:lnTo>
                  <a:pt x="135622" y="43253"/>
                </a:lnTo>
                <a:lnTo>
                  <a:pt x="134037" y="43475"/>
                </a:lnTo>
                <a:lnTo>
                  <a:pt x="127777" y="36469"/>
                </a:lnTo>
                <a:lnTo>
                  <a:pt x="123432" y="36902"/>
                </a:lnTo>
                <a:lnTo>
                  <a:pt x="119555" y="43823"/>
                </a:lnTo>
                <a:lnTo>
                  <a:pt x="121288" y="47039"/>
                </a:lnTo>
                <a:lnTo>
                  <a:pt x="121611" y="47203"/>
                </a:lnTo>
                <a:lnTo>
                  <a:pt x="122912" y="49142"/>
                </a:lnTo>
                <a:lnTo>
                  <a:pt x="126183" y="46895"/>
                </a:lnTo>
                <a:lnTo>
                  <a:pt x="132417" y="54505"/>
                </a:lnTo>
                <a:lnTo>
                  <a:pt x="128866" y="55982"/>
                </a:lnTo>
                <a:lnTo>
                  <a:pt x="128204" y="56546"/>
                </a:lnTo>
                <a:lnTo>
                  <a:pt x="125841" y="61934"/>
                </a:lnTo>
                <a:lnTo>
                  <a:pt x="130440" y="64117"/>
                </a:lnTo>
                <a:lnTo>
                  <a:pt x="134493" y="65065"/>
                </a:lnTo>
                <a:lnTo>
                  <a:pt x="133954" y="68872"/>
                </a:lnTo>
                <a:lnTo>
                  <a:pt x="131212" y="68593"/>
                </a:lnTo>
                <a:lnTo>
                  <a:pt x="124120" y="65859"/>
                </a:lnTo>
                <a:lnTo>
                  <a:pt x="120405" y="73770"/>
                </a:lnTo>
                <a:lnTo>
                  <a:pt x="122496" y="74686"/>
                </a:lnTo>
                <a:lnTo>
                  <a:pt x="123549" y="80334"/>
                </a:lnTo>
                <a:lnTo>
                  <a:pt x="121253" y="80591"/>
                </a:lnTo>
                <a:lnTo>
                  <a:pt x="121246" y="82293"/>
                </a:lnTo>
                <a:lnTo>
                  <a:pt x="120077" y="81974"/>
                </a:lnTo>
                <a:lnTo>
                  <a:pt x="120082" y="82618"/>
                </a:lnTo>
                <a:lnTo>
                  <a:pt x="119332" y="83537"/>
                </a:lnTo>
                <a:lnTo>
                  <a:pt x="119183" y="86395"/>
                </a:lnTo>
                <a:lnTo>
                  <a:pt x="119460" y="86668"/>
                </a:lnTo>
                <a:lnTo>
                  <a:pt x="119893" y="90020"/>
                </a:lnTo>
                <a:lnTo>
                  <a:pt x="118532" y="90223"/>
                </a:lnTo>
                <a:lnTo>
                  <a:pt x="122810" y="99407"/>
                </a:lnTo>
                <a:lnTo>
                  <a:pt x="121864" y="100240"/>
                </a:lnTo>
                <a:lnTo>
                  <a:pt x="120612" y="100337"/>
                </a:lnTo>
                <a:lnTo>
                  <a:pt x="119341" y="100127"/>
                </a:lnTo>
                <a:lnTo>
                  <a:pt x="118874" y="100592"/>
                </a:lnTo>
                <a:lnTo>
                  <a:pt x="118385" y="100606"/>
                </a:lnTo>
                <a:lnTo>
                  <a:pt x="119014" y="105001"/>
                </a:lnTo>
                <a:lnTo>
                  <a:pt x="119747" y="104881"/>
                </a:lnTo>
                <a:lnTo>
                  <a:pt x="120267" y="105064"/>
                </a:lnTo>
                <a:lnTo>
                  <a:pt x="120107" y="105827"/>
                </a:lnTo>
                <a:lnTo>
                  <a:pt x="120276" y="107001"/>
                </a:lnTo>
                <a:lnTo>
                  <a:pt x="119331" y="107198"/>
                </a:lnTo>
                <a:lnTo>
                  <a:pt x="119687" y="109697"/>
                </a:lnTo>
                <a:lnTo>
                  <a:pt x="116755" y="110199"/>
                </a:lnTo>
                <a:lnTo>
                  <a:pt x="114654" y="110849"/>
                </a:lnTo>
                <a:lnTo>
                  <a:pt x="116585" y="112948"/>
                </a:lnTo>
                <a:lnTo>
                  <a:pt x="110897" y="113425"/>
                </a:lnTo>
                <a:lnTo>
                  <a:pt x="110466" y="116456"/>
                </a:lnTo>
                <a:lnTo>
                  <a:pt x="108188" y="116729"/>
                </a:lnTo>
                <a:lnTo>
                  <a:pt x="108547" y="115112"/>
                </a:lnTo>
                <a:lnTo>
                  <a:pt x="108395" y="114133"/>
                </a:lnTo>
                <a:lnTo>
                  <a:pt x="108557" y="113020"/>
                </a:lnTo>
                <a:lnTo>
                  <a:pt x="108703" y="112480"/>
                </a:lnTo>
                <a:lnTo>
                  <a:pt x="109429" y="111614"/>
                </a:lnTo>
                <a:lnTo>
                  <a:pt x="109695" y="110505"/>
                </a:lnTo>
                <a:lnTo>
                  <a:pt x="104925" y="109702"/>
                </a:lnTo>
                <a:lnTo>
                  <a:pt x="103301" y="112948"/>
                </a:lnTo>
                <a:lnTo>
                  <a:pt x="103784" y="114108"/>
                </a:lnTo>
                <a:lnTo>
                  <a:pt x="102633" y="114474"/>
                </a:lnTo>
                <a:lnTo>
                  <a:pt x="100764" y="116233"/>
                </a:lnTo>
                <a:lnTo>
                  <a:pt x="94817" y="118390"/>
                </a:lnTo>
                <a:lnTo>
                  <a:pt x="87969" y="121398"/>
                </a:lnTo>
                <a:lnTo>
                  <a:pt x="87905" y="114254"/>
                </a:lnTo>
                <a:lnTo>
                  <a:pt x="86879" y="115039"/>
                </a:lnTo>
                <a:lnTo>
                  <a:pt x="86080" y="115000"/>
                </a:lnTo>
                <a:lnTo>
                  <a:pt x="82278" y="116996"/>
                </a:lnTo>
                <a:lnTo>
                  <a:pt x="79392" y="118056"/>
                </a:lnTo>
                <a:lnTo>
                  <a:pt x="76499" y="112271"/>
                </a:lnTo>
                <a:lnTo>
                  <a:pt x="75125" y="113094"/>
                </a:lnTo>
                <a:lnTo>
                  <a:pt x="74411" y="112786"/>
                </a:lnTo>
                <a:lnTo>
                  <a:pt x="74528" y="112659"/>
                </a:lnTo>
                <a:lnTo>
                  <a:pt x="74056" y="112298"/>
                </a:lnTo>
                <a:lnTo>
                  <a:pt x="74330" y="111412"/>
                </a:lnTo>
                <a:lnTo>
                  <a:pt x="73908" y="108956"/>
                </a:lnTo>
                <a:lnTo>
                  <a:pt x="73303" y="107807"/>
                </a:lnTo>
                <a:lnTo>
                  <a:pt x="73405" y="107593"/>
                </a:lnTo>
                <a:lnTo>
                  <a:pt x="74096" y="108046"/>
                </a:lnTo>
                <a:lnTo>
                  <a:pt x="73735" y="105103"/>
                </a:lnTo>
                <a:lnTo>
                  <a:pt x="68153" y="106926"/>
                </a:lnTo>
                <a:lnTo>
                  <a:pt x="67224" y="107621"/>
                </a:lnTo>
                <a:lnTo>
                  <a:pt x="67047" y="108720"/>
                </a:lnTo>
                <a:lnTo>
                  <a:pt x="63525" y="111264"/>
                </a:lnTo>
                <a:lnTo>
                  <a:pt x="61354" y="112305"/>
                </a:lnTo>
                <a:lnTo>
                  <a:pt x="59323" y="112783"/>
                </a:lnTo>
                <a:lnTo>
                  <a:pt x="59506" y="113632"/>
                </a:lnTo>
                <a:lnTo>
                  <a:pt x="58786" y="113802"/>
                </a:lnTo>
                <a:lnTo>
                  <a:pt x="57494" y="113697"/>
                </a:lnTo>
                <a:lnTo>
                  <a:pt x="57316" y="113339"/>
                </a:lnTo>
                <a:lnTo>
                  <a:pt x="54505" y="114931"/>
                </a:lnTo>
                <a:lnTo>
                  <a:pt x="52599" y="115038"/>
                </a:lnTo>
                <a:lnTo>
                  <a:pt x="52222" y="114749"/>
                </a:lnTo>
                <a:lnTo>
                  <a:pt x="50289" y="115329"/>
                </a:lnTo>
                <a:lnTo>
                  <a:pt x="47013" y="115897"/>
                </a:lnTo>
                <a:lnTo>
                  <a:pt x="48096" y="119224"/>
                </a:lnTo>
                <a:lnTo>
                  <a:pt x="46211" y="119204"/>
                </a:lnTo>
                <a:lnTo>
                  <a:pt x="46985" y="124564"/>
                </a:lnTo>
                <a:lnTo>
                  <a:pt x="45570" y="124315"/>
                </a:lnTo>
                <a:lnTo>
                  <a:pt x="45806" y="134248"/>
                </a:lnTo>
                <a:lnTo>
                  <a:pt x="44614" y="139751"/>
                </a:lnTo>
                <a:lnTo>
                  <a:pt x="43032" y="139389"/>
                </a:lnTo>
                <a:lnTo>
                  <a:pt x="42537" y="140713"/>
                </a:lnTo>
                <a:lnTo>
                  <a:pt x="42290" y="140696"/>
                </a:lnTo>
                <a:lnTo>
                  <a:pt x="42448" y="141415"/>
                </a:lnTo>
                <a:lnTo>
                  <a:pt x="41780" y="145470"/>
                </a:lnTo>
                <a:lnTo>
                  <a:pt x="40732" y="151417"/>
                </a:lnTo>
                <a:lnTo>
                  <a:pt x="40318" y="151370"/>
                </a:lnTo>
                <a:lnTo>
                  <a:pt x="39774" y="155914"/>
                </a:lnTo>
                <a:lnTo>
                  <a:pt x="31408" y="155398"/>
                </a:lnTo>
                <a:lnTo>
                  <a:pt x="30744" y="161646"/>
                </a:lnTo>
                <a:lnTo>
                  <a:pt x="21090" y="159787"/>
                </a:lnTo>
                <a:lnTo>
                  <a:pt x="23220" y="172805"/>
                </a:lnTo>
                <a:lnTo>
                  <a:pt x="26128" y="181995"/>
                </a:lnTo>
                <a:lnTo>
                  <a:pt x="21576" y="185523"/>
                </a:lnTo>
                <a:lnTo>
                  <a:pt x="17989" y="187003"/>
                </a:lnTo>
                <a:lnTo>
                  <a:pt x="12099" y="190718"/>
                </a:lnTo>
                <a:lnTo>
                  <a:pt x="5155" y="196914"/>
                </a:lnTo>
                <a:lnTo>
                  <a:pt x="10230" y="207679"/>
                </a:lnTo>
                <a:lnTo>
                  <a:pt x="10043" y="208929"/>
                </a:lnTo>
                <a:lnTo>
                  <a:pt x="10931" y="217595"/>
                </a:lnTo>
                <a:lnTo>
                  <a:pt x="8153" y="219024"/>
                </a:lnTo>
                <a:lnTo>
                  <a:pt x="3845" y="219806"/>
                </a:lnTo>
                <a:lnTo>
                  <a:pt x="4607" y="220708"/>
                </a:lnTo>
                <a:lnTo>
                  <a:pt x="3227" y="219895"/>
                </a:lnTo>
                <a:lnTo>
                  <a:pt x="0" y="220351"/>
                </a:lnTo>
                <a:lnTo>
                  <a:pt x="345" y="220538"/>
                </a:lnTo>
                <a:lnTo>
                  <a:pt x="1447" y="224750"/>
                </a:lnTo>
                <a:lnTo>
                  <a:pt x="2533" y="224420"/>
                </a:lnTo>
                <a:lnTo>
                  <a:pt x="3635" y="226688"/>
                </a:lnTo>
                <a:lnTo>
                  <a:pt x="3600" y="228536"/>
                </a:lnTo>
                <a:lnTo>
                  <a:pt x="10222" y="228128"/>
                </a:lnTo>
                <a:lnTo>
                  <a:pt x="11015" y="231989"/>
                </a:lnTo>
                <a:lnTo>
                  <a:pt x="10824" y="232071"/>
                </a:lnTo>
                <a:lnTo>
                  <a:pt x="10991" y="235803"/>
                </a:lnTo>
                <a:lnTo>
                  <a:pt x="11907" y="238697"/>
                </a:lnTo>
                <a:lnTo>
                  <a:pt x="12719" y="238381"/>
                </a:lnTo>
                <a:lnTo>
                  <a:pt x="12917" y="238657"/>
                </a:lnTo>
                <a:lnTo>
                  <a:pt x="13002" y="238338"/>
                </a:lnTo>
                <a:lnTo>
                  <a:pt x="13269" y="238448"/>
                </a:lnTo>
                <a:lnTo>
                  <a:pt x="13631" y="238100"/>
                </a:lnTo>
                <a:lnTo>
                  <a:pt x="14188" y="238039"/>
                </a:lnTo>
                <a:lnTo>
                  <a:pt x="14171" y="237847"/>
                </a:lnTo>
                <a:lnTo>
                  <a:pt x="14617" y="237966"/>
                </a:lnTo>
                <a:lnTo>
                  <a:pt x="14781" y="238300"/>
                </a:lnTo>
                <a:lnTo>
                  <a:pt x="15187" y="238010"/>
                </a:lnTo>
                <a:lnTo>
                  <a:pt x="15364" y="238146"/>
                </a:lnTo>
                <a:lnTo>
                  <a:pt x="15582" y="237841"/>
                </a:lnTo>
                <a:lnTo>
                  <a:pt x="15734" y="238217"/>
                </a:lnTo>
                <a:lnTo>
                  <a:pt x="16250" y="237831"/>
                </a:lnTo>
                <a:lnTo>
                  <a:pt x="16431" y="238124"/>
                </a:lnTo>
                <a:lnTo>
                  <a:pt x="16995" y="237627"/>
                </a:lnTo>
                <a:lnTo>
                  <a:pt x="17002" y="237131"/>
                </a:lnTo>
                <a:lnTo>
                  <a:pt x="17298" y="237227"/>
                </a:lnTo>
                <a:lnTo>
                  <a:pt x="17369" y="236904"/>
                </a:lnTo>
                <a:lnTo>
                  <a:pt x="17409" y="237124"/>
                </a:lnTo>
                <a:lnTo>
                  <a:pt x="18255" y="237009"/>
                </a:lnTo>
                <a:lnTo>
                  <a:pt x="18077" y="236559"/>
                </a:lnTo>
                <a:lnTo>
                  <a:pt x="18371" y="236441"/>
                </a:lnTo>
                <a:lnTo>
                  <a:pt x="19394" y="236610"/>
                </a:lnTo>
                <a:lnTo>
                  <a:pt x="19920" y="236299"/>
                </a:lnTo>
                <a:lnTo>
                  <a:pt x="20234" y="236603"/>
                </a:lnTo>
                <a:lnTo>
                  <a:pt x="26788" y="235328"/>
                </a:lnTo>
                <a:lnTo>
                  <a:pt x="25046" y="231611"/>
                </a:lnTo>
                <a:lnTo>
                  <a:pt x="26159" y="229677"/>
                </a:lnTo>
                <a:lnTo>
                  <a:pt x="26156" y="228649"/>
                </a:lnTo>
                <a:lnTo>
                  <a:pt x="30076" y="229090"/>
                </a:lnTo>
                <a:lnTo>
                  <a:pt x="32773" y="234060"/>
                </a:lnTo>
                <a:lnTo>
                  <a:pt x="31729" y="235064"/>
                </a:lnTo>
                <a:lnTo>
                  <a:pt x="38410" y="241485"/>
                </a:lnTo>
                <a:lnTo>
                  <a:pt x="39773" y="238680"/>
                </a:lnTo>
                <a:lnTo>
                  <a:pt x="42691" y="238521"/>
                </a:lnTo>
                <a:lnTo>
                  <a:pt x="50087" y="241282"/>
                </a:lnTo>
                <a:lnTo>
                  <a:pt x="59117" y="241683"/>
                </a:lnTo>
                <a:lnTo>
                  <a:pt x="59119" y="247556"/>
                </a:lnTo>
                <a:lnTo>
                  <a:pt x="59693" y="247641"/>
                </a:lnTo>
                <a:lnTo>
                  <a:pt x="59539" y="252748"/>
                </a:lnTo>
                <a:lnTo>
                  <a:pt x="63784" y="249102"/>
                </a:lnTo>
                <a:lnTo>
                  <a:pt x="63559" y="253990"/>
                </a:lnTo>
                <a:lnTo>
                  <a:pt x="61661" y="254136"/>
                </a:lnTo>
                <a:lnTo>
                  <a:pt x="60517" y="255216"/>
                </a:lnTo>
                <a:lnTo>
                  <a:pt x="61563" y="256002"/>
                </a:lnTo>
                <a:lnTo>
                  <a:pt x="61785" y="256436"/>
                </a:lnTo>
                <a:lnTo>
                  <a:pt x="62691" y="256291"/>
                </a:lnTo>
                <a:lnTo>
                  <a:pt x="63283" y="256838"/>
                </a:lnTo>
                <a:lnTo>
                  <a:pt x="64068" y="256979"/>
                </a:lnTo>
                <a:lnTo>
                  <a:pt x="64419" y="256640"/>
                </a:lnTo>
                <a:lnTo>
                  <a:pt x="64705" y="255592"/>
                </a:lnTo>
                <a:lnTo>
                  <a:pt x="67452" y="255630"/>
                </a:lnTo>
                <a:lnTo>
                  <a:pt x="68007" y="255863"/>
                </a:lnTo>
                <a:lnTo>
                  <a:pt x="68163" y="256688"/>
                </a:lnTo>
                <a:lnTo>
                  <a:pt x="67793" y="257755"/>
                </a:lnTo>
                <a:lnTo>
                  <a:pt x="68268" y="258737"/>
                </a:lnTo>
                <a:lnTo>
                  <a:pt x="67135" y="261042"/>
                </a:lnTo>
                <a:lnTo>
                  <a:pt x="67311" y="261641"/>
                </a:lnTo>
                <a:lnTo>
                  <a:pt x="67739" y="262028"/>
                </a:lnTo>
                <a:lnTo>
                  <a:pt x="68613" y="261898"/>
                </a:lnTo>
                <a:lnTo>
                  <a:pt x="69243" y="261496"/>
                </a:lnTo>
                <a:lnTo>
                  <a:pt x="72555" y="262409"/>
                </a:lnTo>
                <a:lnTo>
                  <a:pt x="73869" y="262154"/>
                </a:lnTo>
                <a:lnTo>
                  <a:pt x="75779" y="260603"/>
                </a:lnTo>
                <a:lnTo>
                  <a:pt x="77717" y="261017"/>
                </a:lnTo>
                <a:lnTo>
                  <a:pt x="81078" y="260521"/>
                </a:lnTo>
                <a:lnTo>
                  <a:pt x="81563" y="260626"/>
                </a:lnTo>
                <a:lnTo>
                  <a:pt x="82173" y="260940"/>
                </a:lnTo>
                <a:lnTo>
                  <a:pt x="83500" y="262252"/>
                </a:lnTo>
                <a:lnTo>
                  <a:pt x="84506" y="265054"/>
                </a:lnTo>
                <a:lnTo>
                  <a:pt x="85931" y="266564"/>
                </a:lnTo>
                <a:lnTo>
                  <a:pt x="87375" y="266985"/>
                </a:lnTo>
                <a:lnTo>
                  <a:pt x="87812" y="266159"/>
                </a:lnTo>
                <a:lnTo>
                  <a:pt x="87057" y="264344"/>
                </a:lnTo>
                <a:lnTo>
                  <a:pt x="87298" y="261497"/>
                </a:lnTo>
                <a:lnTo>
                  <a:pt x="87659" y="260508"/>
                </a:lnTo>
                <a:lnTo>
                  <a:pt x="89428" y="259239"/>
                </a:lnTo>
                <a:lnTo>
                  <a:pt x="90554" y="259075"/>
                </a:lnTo>
                <a:lnTo>
                  <a:pt x="93371" y="259375"/>
                </a:lnTo>
                <a:lnTo>
                  <a:pt x="95086" y="259204"/>
                </a:lnTo>
                <a:lnTo>
                  <a:pt x="96367" y="259503"/>
                </a:lnTo>
                <a:lnTo>
                  <a:pt x="99119" y="258696"/>
                </a:lnTo>
                <a:lnTo>
                  <a:pt x="100326" y="258954"/>
                </a:lnTo>
                <a:lnTo>
                  <a:pt x="101541" y="258870"/>
                </a:lnTo>
                <a:lnTo>
                  <a:pt x="102386" y="259139"/>
                </a:lnTo>
                <a:lnTo>
                  <a:pt x="103526" y="258924"/>
                </a:lnTo>
                <a:lnTo>
                  <a:pt x="103973" y="258579"/>
                </a:lnTo>
                <a:lnTo>
                  <a:pt x="104257" y="257037"/>
                </a:lnTo>
                <a:lnTo>
                  <a:pt x="105464" y="255711"/>
                </a:lnTo>
                <a:lnTo>
                  <a:pt x="105794" y="254976"/>
                </a:lnTo>
                <a:lnTo>
                  <a:pt x="105899" y="254428"/>
                </a:lnTo>
                <a:lnTo>
                  <a:pt x="105382" y="253859"/>
                </a:lnTo>
                <a:lnTo>
                  <a:pt x="105596" y="253315"/>
                </a:lnTo>
                <a:lnTo>
                  <a:pt x="107765" y="252572"/>
                </a:lnTo>
                <a:lnTo>
                  <a:pt x="108544" y="252695"/>
                </a:lnTo>
                <a:lnTo>
                  <a:pt x="110311" y="252304"/>
                </a:lnTo>
                <a:lnTo>
                  <a:pt x="111746" y="250563"/>
                </a:lnTo>
                <a:lnTo>
                  <a:pt x="112328" y="248498"/>
                </a:lnTo>
                <a:lnTo>
                  <a:pt x="112901" y="247693"/>
                </a:lnTo>
                <a:lnTo>
                  <a:pt x="114428" y="247269"/>
                </a:lnTo>
                <a:lnTo>
                  <a:pt x="115956" y="247232"/>
                </a:lnTo>
                <a:lnTo>
                  <a:pt x="116765" y="246874"/>
                </a:lnTo>
                <a:lnTo>
                  <a:pt x="117306" y="246953"/>
                </a:lnTo>
                <a:lnTo>
                  <a:pt x="117966" y="247410"/>
                </a:lnTo>
                <a:lnTo>
                  <a:pt x="118676" y="248759"/>
                </a:lnTo>
                <a:lnTo>
                  <a:pt x="119260" y="249196"/>
                </a:lnTo>
                <a:lnTo>
                  <a:pt x="121023" y="251390"/>
                </a:lnTo>
                <a:lnTo>
                  <a:pt x="121089" y="252964"/>
                </a:lnTo>
                <a:lnTo>
                  <a:pt x="119779" y="256424"/>
                </a:lnTo>
                <a:lnTo>
                  <a:pt x="119882" y="257570"/>
                </a:lnTo>
                <a:lnTo>
                  <a:pt x="121066" y="259801"/>
                </a:lnTo>
                <a:lnTo>
                  <a:pt x="121722" y="262213"/>
                </a:lnTo>
                <a:lnTo>
                  <a:pt x="121711" y="263136"/>
                </a:lnTo>
                <a:lnTo>
                  <a:pt x="123584" y="264250"/>
                </a:lnTo>
                <a:lnTo>
                  <a:pt x="124204" y="264944"/>
                </a:lnTo>
                <a:lnTo>
                  <a:pt x="124761" y="265100"/>
                </a:lnTo>
                <a:lnTo>
                  <a:pt x="124463" y="265733"/>
                </a:lnTo>
                <a:lnTo>
                  <a:pt x="122850" y="266516"/>
                </a:lnTo>
                <a:lnTo>
                  <a:pt x="122698" y="267152"/>
                </a:lnTo>
                <a:lnTo>
                  <a:pt x="123690" y="267545"/>
                </a:lnTo>
                <a:lnTo>
                  <a:pt x="125628" y="267436"/>
                </a:lnTo>
                <a:lnTo>
                  <a:pt x="126028" y="267859"/>
                </a:lnTo>
                <a:lnTo>
                  <a:pt x="127128" y="268314"/>
                </a:lnTo>
                <a:lnTo>
                  <a:pt x="127619" y="268848"/>
                </a:lnTo>
                <a:lnTo>
                  <a:pt x="127847" y="270622"/>
                </a:lnTo>
                <a:lnTo>
                  <a:pt x="129912" y="271776"/>
                </a:lnTo>
                <a:lnTo>
                  <a:pt x="129918" y="272196"/>
                </a:lnTo>
                <a:lnTo>
                  <a:pt x="130652" y="272679"/>
                </a:lnTo>
                <a:lnTo>
                  <a:pt x="131390" y="273662"/>
                </a:lnTo>
                <a:lnTo>
                  <a:pt x="133049" y="274605"/>
                </a:lnTo>
                <a:lnTo>
                  <a:pt x="136882" y="275781"/>
                </a:lnTo>
                <a:lnTo>
                  <a:pt x="137757" y="277646"/>
                </a:lnTo>
                <a:lnTo>
                  <a:pt x="137616" y="279831"/>
                </a:lnTo>
                <a:lnTo>
                  <a:pt x="136936" y="280474"/>
                </a:lnTo>
                <a:lnTo>
                  <a:pt x="136831" y="280937"/>
                </a:lnTo>
                <a:lnTo>
                  <a:pt x="136860" y="282041"/>
                </a:lnTo>
                <a:lnTo>
                  <a:pt x="137270" y="283022"/>
                </a:lnTo>
                <a:lnTo>
                  <a:pt x="138126" y="283313"/>
                </a:lnTo>
                <a:lnTo>
                  <a:pt x="139184" y="282828"/>
                </a:lnTo>
                <a:lnTo>
                  <a:pt x="140692" y="283222"/>
                </a:lnTo>
                <a:lnTo>
                  <a:pt x="141758" y="282421"/>
                </a:lnTo>
                <a:lnTo>
                  <a:pt x="142303" y="282349"/>
                </a:lnTo>
                <a:lnTo>
                  <a:pt x="142904" y="282497"/>
                </a:lnTo>
                <a:lnTo>
                  <a:pt x="143702" y="283407"/>
                </a:lnTo>
                <a:lnTo>
                  <a:pt x="144270" y="283458"/>
                </a:lnTo>
                <a:lnTo>
                  <a:pt x="144596" y="283197"/>
                </a:lnTo>
                <a:lnTo>
                  <a:pt x="144819" y="282372"/>
                </a:lnTo>
                <a:lnTo>
                  <a:pt x="144396" y="279827"/>
                </a:lnTo>
                <a:lnTo>
                  <a:pt x="142470" y="277075"/>
                </a:lnTo>
                <a:lnTo>
                  <a:pt x="142835" y="276398"/>
                </a:lnTo>
                <a:lnTo>
                  <a:pt x="143406" y="276159"/>
                </a:lnTo>
                <a:lnTo>
                  <a:pt x="145067" y="276285"/>
                </a:lnTo>
                <a:lnTo>
                  <a:pt x="146021" y="277493"/>
                </a:lnTo>
                <a:lnTo>
                  <a:pt x="146174" y="278892"/>
                </a:lnTo>
                <a:lnTo>
                  <a:pt x="146933" y="280886"/>
                </a:lnTo>
                <a:lnTo>
                  <a:pt x="146645" y="283237"/>
                </a:lnTo>
                <a:lnTo>
                  <a:pt x="146868" y="283732"/>
                </a:lnTo>
                <a:lnTo>
                  <a:pt x="147897" y="284489"/>
                </a:lnTo>
                <a:lnTo>
                  <a:pt x="149229" y="287007"/>
                </a:lnTo>
                <a:lnTo>
                  <a:pt x="151129" y="287159"/>
                </a:lnTo>
                <a:lnTo>
                  <a:pt x="152460" y="289061"/>
                </a:lnTo>
                <a:lnTo>
                  <a:pt x="153179" y="288965"/>
                </a:lnTo>
                <a:lnTo>
                  <a:pt x="154573" y="287952"/>
                </a:lnTo>
                <a:lnTo>
                  <a:pt x="154343" y="287408"/>
                </a:lnTo>
                <a:lnTo>
                  <a:pt x="153099" y="286278"/>
                </a:lnTo>
                <a:lnTo>
                  <a:pt x="152810" y="284813"/>
                </a:lnTo>
                <a:lnTo>
                  <a:pt x="152982" y="283946"/>
                </a:lnTo>
                <a:lnTo>
                  <a:pt x="154060" y="282299"/>
                </a:lnTo>
                <a:lnTo>
                  <a:pt x="154548" y="282362"/>
                </a:lnTo>
                <a:lnTo>
                  <a:pt x="155322" y="282892"/>
                </a:lnTo>
                <a:close/>
              </a:path>
            </a:pathLst>
          </a:custGeom>
          <a:solidFill>
            <a:srgbClr val="0A2373"/>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Freeform 22"/>
          <p:cNvSpPr/>
          <p:nvPr/>
        </p:nvSpPr>
        <p:spPr>
          <a:xfrm>
            <a:off x="4370997" y="3790724"/>
            <a:ext cx="597448" cy="672948"/>
          </a:xfrm>
          <a:custGeom>
            <a:avLst/>
            <a:gdLst/>
            <a:ahLst/>
            <a:cxnLst/>
            <a:rect l="l" t="t" r="r" b="b"/>
            <a:pathLst>
              <a:path w="597448" h="672948">
                <a:moveTo>
                  <a:pt x="167210" y="672727"/>
                </a:moveTo>
                <a:lnTo>
                  <a:pt x="167216" y="672948"/>
                </a:lnTo>
                <a:lnTo>
                  <a:pt x="167576" y="672878"/>
                </a:lnTo>
                <a:lnTo>
                  <a:pt x="168568" y="672046"/>
                </a:lnTo>
                <a:lnTo>
                  <a:pt x="169444" y="671784"/>
                </a:lnTo>
                <a:lnTo>
                  <a:pt x="169981" y="671060"/>
                </a:lnTo>
                <a:lnTo>
                  <a:pt x="171817" y="669571"/>
                </a:lnTo>
                <a:lnTo>
                  <a:pt x="172561" y="667974"/>
                </a:lnTo>
                <a:lnTo>
                  <a:pt x="172300" y="666863"/>
                </a:lnTo>
                <a:lnTo>
                  <a:pt x="173499" y="665797"/>
                </a:lnTo>
                <a:lnTo>
                  <a:pt x="173704" y="665219"/>
                </a:lnTo>
                <a:lnTo>
                  <a:pt x="174218" y="664831"/>
                </a:lnTo>
                <a:lnTo>
                  <a:pt x="174649" y="664836"/>
                </a:lnTo>
                <a:lnTo>
                  <a:pt x="175091" y="663619"/>
                </a:lnTo>
                <a:lnTo>
                  <a:pt x="176231" y="663121"/>
                </a:lnTo>
                <a:lnTo>
                  <a:pt x="176374" y="662651"/>
                </a:lnTo>
                <a:lnTo>
                  <a:pt x="176774" y="662422"/>
                </a:lnTo>
                <a:lnTo>
                  <a:pt x="176736" y="661816"/>
                </a:lnTo>
                <a:lnTo>
                  <a:pt x="178106" y="660688"/>
                </a:lnTo>
                <a:lnTo>
                  <a:pt x="178339" y="659497"/>
                </a:lnTo>
                <a:lnTo>
                  <a:pt x="179183" y="658963"/>
                </a:lnTo>
                <a:lnTo>
                  <a:pt x="179612" y="658227"/>
                </a:lnTo>
                <a:lnTo>
                  <a:pt x="179636" y="657593"/>
                </a:lnTo>
                <a:lnTo>
                  <a:pt x="180569" y="656135"/>
                </a:lnTo>
                <a:lnTo>
                  <a:pt x="182692" y="654429"/>
                </a:lnTo>
                <a:lnTo>
                  <a:pt x="183369" y="652990"/>
                </a:lnTo>
                <a:lnTo>
                  <a:pt x="183214" y="652208"/>
                </a:lnTo>
                <a:lnTo>
                  <a:pt x="183758" y="651545"/>
                </a:lnTo>
                <a:lnTo>
                  <a:pt x="183740" y="651012"/>
                </a:lnTo>
                <a:lnTo>
                  <a:pt x="184226" y="650327"/>
                </a:lnTo>
                <a:lnTo>
                  <a:pt x="185457" y="649278"/>
                </a:lnTo>
                <a:lnTo>
                  <a:pt x="185654" y="648707"/>
                </a:lnTo>
                <a:lnTo>
                  <a:pt x="187310" y="647573"/>
                </a:lnTo>
                <a:lnTo>
                  <a:pt x="187448" y="647148"/>
                </a:lnTo>
                <a:lnTo>
                  <a:pt x="188153" y="646546"/>
                </a:lnTo>
                <a:lnTo>
                  <a:pt x="188064" y="646218"/>
                </a:lnTo>
                <a:lnTo>
                  <a:pt x="188342" y="645808"/>
                </a:lnTo>
                <a:lnTo>
                  <a:pt x="188639" y="645788"/>
                </a:lnTo>
                <a:lnTo>
                  <a:pt x="188655" y="645505"/>
                </a:lnTo>
                <a:lnTo>
                  <a:pt x="189190" y="645317"/>
                </a:lnTo>
                <a:lnTo>
                  <a:pt x="189523" y="644716"/>
                </a:lnTo>
                <a:lnTo>
                  <a:pt x="190001" y="644451"/>
                </a:lnTo>
                <a:lnTo>
                  <a:pt x="189964" y="643914"/>
                </a:lnTo>
                <a:lnTo>
                  <a:pt x="190425" y="643409"/>
                </a:lnTo>
                <a:lnTo>
                  <a:pt x="190386" y="643054"/>
                </a:lnTo>
                <a:lnTo>
                  <a:pt x="191437" y="642181"/>
                </a:lnTo>
                <a:lnTo>
                  <a:pt x="191746" y="641728"/>
                </a:lnTo>
                <a:lnTo>
                  <a:pt x="191719" y="641338"/>
                </a:lnTo>
                <a:lnTo>
                  <a:pt x="192972" y="640550"/>
                </a:lnTo>
                <a:lnTo>
                  <a:pt x="193165" y="640109"/>
                </a:lnTo>
                <a:lnTo>
                  <a:pt x="193498" y="640057"/>
                </a:lnTo>
                <a:lnTo>
                  <a:pt x="193830" y="639416"/>
                </a:lnTo>
                <a:lnTo>
                  <a:pt x="193822" y="638704"/>
                </a:lnTo>
                <a:lnTo>
                  <a:pt x="194759" y="637902"/>
                </a:lnTo>
                <a:lnTo>
                  <a:pt x="195862" y="637434"/>
                </a:lnTo>
                <a:lnTo>
                  <a:pt x="196983" y="635964"/>
                </a:lnTo>
                <a:lnTo>
                  <a:pt x="197378" y="635081"/>
                </a:lnTo>
                <a:lnTo>
                  <a:pt x="197241" y="634695"/>
                </a:lnTo>
                <a:lnTo>
                  <a:pt x="198600" y="633579"/>
                </a:lnTo>
                <a:lnTo>
                  <a:pt x="198971" y="632480"/>
                </a:lnTo>
                <a:lnTo>
                  <a:pt x="198773" y="632290"/>
                </a:lnTo>
                <a:lnTo>
                  <a:pt x="198885" y="631927"/>
                </a:lnTo>
                <a:lnTo>
                  <a:pt x="199717" y="631318"/>
                </a:lnTo>
                <a:lnTo>
                  <a:pt x="199731" y="630812"/>
                </a:lnTo>
                <a:lnTo>
                  <a:pt x="200075" y="630528"/>
                </a:lnTo>
                <a:lnTo>
                  <a:pt x="199994" y="629881"/>
                </a:lnTo>
                <a:lnTo>
                  <a:pt x="201366" y="628245"/>
                </a:lnTo>
                <a:lnTo>
                  <a:pt x="201703" y="627081"/>
                </a:lnTo>
                <a:lnTo>
                  <a:pt x="202852" y="626004"/>
                </a:lnTo>
                <a:lnTo>
                  <a:pt x="203518" y="624836"/>
                </a:lnTo>
                <a:lnTo>
                  <a:pt x="204673" y="623860"/>
                </a:lnTo>
                <a:lnTo>
                  <a:pt x="205277" y="622804"/>
                </a:lnTo>
                <a:lnTo>
                  <a:pt x="205296" y="622237"/>
                </a:lnTo>
                <a:lnTo>
                  <a:pt x="207050" y="620210"/>
                </a:lnTo>
                <a:lnTo>
                  <a:pt x="206886" y="619728"/>
                </a:lnTo>
                <a:lnTo>
                  <a:pt x="207629" y="618516"/>
                </a:lnTo>
                <a:lnTo>
                  <a:pt x="210170" y="615979"/>
                </a:lnTo>
                <a:lnTo>
                  <a:pt x="210175" y="615389"/>
                </a:lnTo>
                <a:lnTo>
                  <a:pt x="210596" y="614757"/>
                </a:lnTo>
                <a:lnTo>
                  <a:pt x="211858" y="613693"/>
                </a:lnTo>
                <a:lnTo>
                  <a:pt x="212935" y="611699"/>
                </a:lnTo>
                <a:lnTo>
                  <a:pt x="214617" y="610005"/>
                </a:lnTo>
                <a:lnTo>
                  <a:pt x="214793" y="609169"/>
                </a:lnTo>
                <a:lnTo>
                  <a:pt x="215274" y="608193"/>
                </a:lnTo>
                <a:lnTo>
                  <a:pt x="215839" y="607664"/>
                </a:lnTo>
                <a:lnTo>
                  <a:pt x="216026" y="606919"/>
                </a:lnTo>
                <a:lnTo>
                  <a:pt x="218066" y="604688"/>
                </a:lnTo>
                <a:lnTo>
                  <a:pt x="218382" y="604590"/>
                </a:lnTo>
                <a:lnTo>
                  <a:pt x="218760" y="603983"/>
                </a:lnTo>
                <a:lnTo>
                  <a:pt x="218649" y="603677"/>
                </a:lnTo>
                <a:lnTo>
                  <a:pt x="219122" y="603068"/>
                </a:lnTo>
                <a:lnTo>
                  <a:pt x="220216" y="602314"/>
                </a:lnTo>
                <a:lnTo>
                  <a:pt x="219889" y="601779"/>
                </a:lnTo>
                <a:lnTo>
                  <a:pt x="220361" y="600296"/>
                </a:lnTo>
                <a:lnTo>
                  <a:pt x="222643" y="597405"/>
                </a:lnTo>
                <a:lnTo>
                  <a:pt x="223583" y="596687"/>
                </a:lnTo>
                <a:lnTo>
                  <a:pt x="225932" y="591750"/>
                </a:lnTo>
                <a:lnTo>
                  <a:pt x="226936" y="590978"/>
                </a:lnTo>
                <a:lnTo>
                  <a:pt x="227369" y="589963"/>
                </a:lnTo>
                <a:lnTo>
                  <a:pt x="229190" y="588642"/>
                </a:lnTo>
                <a:lnTo>
                  <a:pt x="229595" y="587834"/>
                </a:lnTo>
                <a:lnTo>
                  <a:pt x="229460" y="587356"/>
                </a:lnTo>
                <a:lnTo>
                  <a:pt x="230008" y="586226"/>
                </a:lnTo>
                <a:lnTo>
                  <a:pt x="232032" y="584442"/>
                </a:lnTo>
                <a:lnTo>
                  <a:pt x="232111" y="583638"/>
                </a:lnTo>
                <a:lnTo>
                  <a:pt x="233290" y="582060"/>
                </a:lnTo>
                <a:lnTo>
                  <a:pt x="233596" y="580452"/>
                </a:lnTo>
                <a:lnTo>
                  <a:pt x="234867" y="578487"/>
                </a:lnTo>
                <a:lnTo>
                  <a:pt x="236489" y="576832"/>
                </a:lnTo>
                <a:lnTo>
                  <a:pt x="236648" y="575506"/>
                </a:lnTo>
                <a:lnTo>
                  <a:pt x="237597" y="574206"/>
                </a:lnTo>
                <a:lnTo>
                  <a:pt x="237735" y="573606"/>
                </a:lnTo>
                <a:lnTo>
                  <a:pt x="238765" y="572629"/>
                </a:lnTo>
                <a:lnTo>
                  <a:pt x="239163" y="571777"/>
                </a:lnTo>
                <a:lnTo>
                  <a:pt x="239621" y="571497"/>
                </a:lnTo>
                <a:lnTo>
                  <a:pt x="239403" y="570678"/>
                </a:lnTo>
                <a:lnTo>
                  <a:pt x="239690" y="569947"/>
                </a:lnTo>
                <a:lnTo>
                  <a:pt x="240712" y="568837"/>
                </a:lnTo>
                <a:lnTo>
                  <a:pt x="241505" y="567122"/>
                </a:lnTo>
                <a:lnTo>
                  <a:pt x="242638" y="566167"/>
                </a:lnTo>
                <a:lnTo>
                  <a:pt x="243064" y="564950"/>
                </a:lnTo>
                <a:lnTo>
                  <a:pt x="243830" y="564185"/>
                </a:lnTo>
                <a:lnTo>
                  <a:pt x="244092" y="563055"/>
                </a:lnTo>
                <a:lnTo>
                  <a:pt x="244957" y="561948"/>
                </a:lnTo>
                <a:lnTo>
                  <a:pt x="246401" y="560708"/>
                </a:lnTo>
                <a:lnTo>
                  <a:pt x="246527" y="560013"/>
                </a:lnTo>
                <a:lnTo>
                  <a:pt x="247148" y="559154"/>
                </a:lnTo>
                <a:lnTo>
                  <a:pt x="249073" y="557320"/>
                </a:lnTo>
                <a:lnTo>
                  <a:pt x="249046" y="556346"/>
                </a:lnTo>
                <a:lnTo>
                  <a:pt x="249999" y="554730"/>
                </a:lnTo>
                <a:lnTo>
                  <a:pt x="250953" y="552001"/>
                </a:lnTo>
                <a:lnTo>
                  <a:pt x="251696" y="550801"/>
                </a:lnTo>
                <a:lnTo>
                  <a:pt x="252900" y="549488"/>
                </a:lnTo>
                <a:lnTo>
                  <a:pt x="253158" y="548194"/>
                </a:lnTo>
                <a:lnTo>
                  <a:pt x="252951" y="547760"/>
                </a:lnTo>
                <a:lnTo>
                  <a:pt x="253264" y="547040"/>
                </a:lnTo>
                <a:lnTo>
                  <a:pt x="254673" y="545109"/>
                </a:lnTo>
                <a:lnTo>
                  <a:pt x="256317" y="543491"/>
                </a:lnTo>
                <a:lnTo>
                  <a:pt x="256328" y="542681"/>
                </a:lnTo>
                <a:lnTo>
                  <a:pt x="257278" y="541397"/>
                </a:lnTo>
                <a:lnTo>
                  <a:pt x="257644" y="540348"/>
                </a:lnTo>
                <a:lnTo>
                  <a:pt x="258901" y="538945"/>
                </a:lnTo>
                <a:lnTo>
                  <a:pt x="258922" y="538127"/>
                </a:lnTo>
                <a:lnTo>
                  <a:pt x="259702" y="536507"/>
                </a:lnTo>
                <a:lnTo>
                  <a:pt x="259777" y="535872"/>
                </a:lnTo>
                <a:lnTo>
                  <a:pt x="260937" y="534063"/>
                </a:lnTo>
                <a:lnTo>
                  <a:pt x="262308" y="531069"/>
                </a:lnTo>
                <a:lnTo>
                  <a:pt x="264956" y="526766"/>
                </a:lnTo>
                <a:lnTo>
                  <a:pt x="266470" y="524982"/>
                </a:lnTo>
                <a:lnTo>
                  <a:pt x="268516" y="520314"/>
                </a:lnTo>
                <a:lnTo>
                  <a:pt x="269160" y="519384"/>
                </a:lnTo>
                <a:lnTo>
                  <a:pt x="269153" y="518864"/>
                </a:lnTo>
                <a:lnTo>
                  <a:pt x="272503" y="513390"/>
                </a:lnTo>
                <a:lnTo>
                  <a:pt x="274592" y="510805"/>
                </a:lnTo>
                <a:lnTo>
                  <a:pt x="278539" y="507259"/>
                </a:lnTo>
                <a:lnTo>
                  <a:pt x="281143" y="505313"/>
                </a:lnTo>
                <a:lnTo>
                  <a:pt x="282718" y="503414"/>
                </a:lnTo>
                <a:lnTo>
                  <a:pt x="284906" y="501808"/>
                </a:lnTo>
                <a:lnTo>
                  <a:pt x="288301" y="497683"/>
                </a:lnTo>
                <a:lnTo>
                  <a:pt x="291642" y="494303"/>
                </a:lnTo>
                <a:lnTo>
                  <a:pt x="292852" y="492585"/>
                </a:lnTo>
                <a:lnTo>
                  <a:pt x="295011" y="490495"/>
                </a:lnTo>
                <a:lnTo>
                  <a:pt x="298629" y="486000"/>
                </a:lnTo>
                <a:lnTo>
                  <a:pt x="298910" y="485446"/>
                </a:lnTo>
                <a:lnTo>
                  <a:pt x="298844" y="484282"/>
                </a:lnTo>
                <a:lnTo>
                  <a:pt x="299374" y="483769"/>
                </a:lnTo>
                <a:lnTo>
                  <a:pt x="298674" y="483882"/>
                </a:lnTo>
                <a:lnTo>
                  <a:pt x="298140" y="484458"/>
                </a:lnTo>
                <a:lnTo>
                  <a:pt x="296952" y="483629"/>
                </a:lnTo>
                <a:lnTo>
                  <a:pt x="295993" y="480809"/>
                </a:lnTo>
                <a:lnTo>
                  <a:pt x="295870" y="478575"/>
                </a:lnTo>
                <a:lnTo>
                  <a:pt x="296231" y="476645"/>
                </a:lnTo>
                <a:lnTo>
                  <a:pt x="297165" y="473791"/>
                </a:lnTo>
                <a:lnTo>
                  <a:pt x="299712" y="468554"/>
                </a:lnTo>
                <a:lnTo>
                  <a:pt x="304171" y="461881"/>
                </a:lnTo>
                <a:lnTo>
                  <a:pt x="305342" y="459298"/>
                </a:lnTo>
                <a:lnTo>
                  <a:pt x="307971" y="454959"/>
                </a:lnTo>
                <a:lnTo>
                  <a:pt x="308716" y="453251"/>
                </a:lnTo>
                <a:lnTo>
                  <a:pt x="309564" y="452227"/>
                </a:lnTo>
                <a:lnTo>
                  <a:pt x="310890" y="449396"/>
                </a:lnTo>
                <a:lnTo>
                  <a:pt x="315139" y="443915"/>
                </a:lnTo>
                <a:lnTo>
                  <a:pt x="317142" y="440553"/>
                </a:lnTo>
                <a:lnTo>
                  <a:pt x="318989" y="438318"/>
                </a:lnTo>
                <a:lnTo>
                  <a:pt x="319271" y="437536"/>
                </a:lnTo>
                <a:lnTo>
                  <a:pt x="322223" y="434652"/>
                </a:lnTo>
                <a:lnTo>
                  <a:pt x="323830" y="433464"/>
                </a:lnTo>
                <a:lnTo>
                  <a:pt x="324911" y="432183"/>
                </a:lnTo>
                <a:lnTo>
                  <a:pt x="324877" y="431749"/>
                </a:lnTo>
                <a:lnTo>
                  <a:pt x="325673" y="430280"/>
                </a:lnTo>
                <a:lnTo>
                  <a:pt x="325647" y="429875"/>
                </a:lnTo>
                <a:lnTo>
                  <a:pt x="326895" y="427681"/>
                </a:lnTo>
                <a:lnTo>
                  <a:pt x="329241" y="424929"/>
                </a:lnTo>
                <a:lnTo>
                  <a:pt x="330179" y="424324"/>
                </a:lnTo>
                <a:lnTo>
                  <a:pt x="331274" y="423152"/>
                </a:lnTo>
                <a:lnTo>
                  <a:pt x="333406" y="420328"/>
                </a:lnTo>
                <a:lnTo>
                  <a:pt x="334386" y="419572"/>
                </a:lnTo>
                <a:lnTo>
                  <a:pt x="334802" y="418546"/>
                </a:lnTo>
                <a:lnTo>
                  <a:pt x="335632" y="417822"/>
                </a:lnTo>
                <a:lnTo>
                  <a:pt x="335533" y="417569"/>
                </a:lnTo>
                <a:lnTo>
                  <a:pt x="335879" y="417007"/>
                </a:lnTo>
                <a:lnTo>
                  <a:pt x="338346" y="414399"/>
                </a:lnTo>
                <a:lnTo>
                  <a:pt x="339421" y="412582"/>
                </a:lnTo>
                <a:lnTo>
                  <a:pt x="341829" y="410606"/>
                </a:lnTo>
                <a:lnTo>
                  <a:pt x="342101" y="410105"/>
                </a:lnTo>
                <a:lnTo>
                  <a:pt x="342037" y="409570"/>
                </a:lnTo>
                <a:lnTo>
                  <a:pt x="342786" y="408417"/>
                </a:lnTo>
                <a:lnTo>
                  <a:pt x="344073" y="407370"/>
                </a:lnTo>
                <a:lnTo>
                  <a:pt x="345448" y="405804"/>
                </a:lnTo>
                <a:lnTo>
                  <a:pt x="350491" y="401672"/>
                </a:lnTo>
                <a:lnTo>
                  <a:pt x="351067" y="400559"/>
                </a:lnTo>
                <a:lnTo>
                  <a:pt x="353174" y="398314"/>
                </a:lnTo>
                <a:lnTo>
                  <a:pt x="355115" y="397060"/>
                </a:lnTo>
                <a:lnTo>
                  <a:pt x="356163" y="395610"/>
                </a:lnTo>
                <a:lnTo>
                  <a:pt x="357410" y="394754"/>
                </a:lnTo>
                <a:lnTo>
                  <a:pt x="358287" y="393394"/>
                </a:lnTo>
                <a:lnTo>
                  <a:pt x="358302" y="392680"/>
                </a:lnTo>
                <a:lnTo>
                  <a:pt x="359681" y="391021"/>
                </a:lnTo>
                <a:lnTo>
                  <a:pt x="362447" y="388678"/>
                </a:lnTo>
                <a:lnTo>
                  <a:pt x="364101" y="387869"/>
                </a:lnTo>
                <a:lnTo>
                  <a:pt x="364226" y="387311"/>
                </a:lnTo>
                <a:lnTo>
                  <a:pt x="365211" y="385921"/>
                </a:lnTo>
                <a:lnTo>
                  <a:pt x="366826" y="385217"/>
                </a:lnTo>
                <a:lnTo>
                  <a:pt x="367500" y="384378"/>
                </a:lnTo>
                <a:lnTo>
                  <a:pt x="370212" y="382258"/>
                </a:lnTo>
                <a:lnTo>
                  <a:pt x="372748" y="379749"/>
                </a:lnTo>
                <a:lnTo>
                  <a:pt x="375400" y="377782"/>
                </a:lnTo>
                <a:lnTo>
                  <a:pt x="377448" y="375859"/>
                </a:lnTo>
                <a:lnTo>
                  <a:pt x="382316" y="370432"/>
                </a:lnTo>
                <a:lnTo>
                  <a:pt x="387546" y="363892"/>
                </a:lnTo>
                <a:lnTo>
                  <a:pt x="390664" y="361329"/>
                </a:lnTo>
                <a:lnTo>
                  <a:pt x="393525" y="358201"/>
                </a:lnTo>
                <a:lnTo>
                  <a:pt x="398643" y="353644"/>
                </a:lnTo>
                <a:lnTo>
                  <a:pt x="401632" y="349931"/>
                </a:lnTo>
                <a:lnTo>
                  <a:pt x="405795" y="345663"/>
                </a:lnTo>
                <a:lnTo>
                  <a:pt x="408950" y="343975"/>
                </a:lnTo>
                <a:lnTo>
                  <a:pt x="411869" y="342863"/>
                </a:lnTo>
                <a:lnTo>
                  <a:pt x="414141" y="342339"/>
                </a:lnTo>
                <a:lnTo>
                  <a:pt x="414838" y="341925"/>
                </a:lnTo>
                <a:lnTo>
                  <a:pt x="417966" y="341780"/>
                </a:lnTo>
                <a:lnTo>
                  <a:pt x="424058" y="339689"/>
                </a:lnTo>
                <a:lnTo>
                  <a:pt x="428963" y="338596"/>
                </a:lnTo>
                <a:lnTo>
                  <a:pt x="431439" y="337452"/>
                </a:lnTo>
                <a:lnTo>
                  <a:pt x="432228" y="336870"/>
                </a:lnTo>
                <a:lnTo>
                  <a:pt x="435035" y="336242"/>
                </a:lnTo>
                <a:lnTo>
                  <a:pt x="441422" y="333700"/>
                </a:lnTo>
                <a:lnTo>
                  <a:pt x="442685" y="332942"/>
                </a:lnTo>
                <a:lnTo>
                  <a:pt x="444972" y="331082"/>
                </a:lnTo>
                <a:lnTo>
                  <a:pt x="445144" y="331225"/>
                </a:lnTo>
                <a:lnTo>
                  <a:pt x="450703" y="326131"/>
                </a:lnTo>
                <a:lnTo>
                  <a:pt x="454044" y="323611"/>
                </a:lnTo>
                <a:lnTo>
                  <a:pt x="455774" y="321333"/>
                </a:lnTo>
                <a:lnTo>
                  <a:pt x="459547" y="318619"/>
                </a:lnTo>
                <a:lnTo>
                  <a:pt x="464399" y="313601"/>
                </a:lnTo>
                <a:lnTo>
                  <a:pt x="469972" y="309259"/>
                </a:lnTo>
                <a:lnTo>
                  <a:pt x="474805" y="304078"/>
                </a:lnTo>
                <a:lnTo>
                  <a:pt x="478426" y="301273"/>
                </a:lnTo>
                <a:lnTo>
                  <a:pt x="481956" y="299295"/>
                </a:lnTo>
                <a:lnTo>
                  <a:pt x="484350" y="297481"/>
                </a:lnTo>
                <a:lnTo>
                  <a:pt x="485516" y="296531"/>
                </a:lnTo>
                <a:lnTo>
                  <a:pt x="486347" y="295166"/>
                </a:lnTo>
                <a:lnTo>
                  <a:pt x="487820" y="293494"/>
                </a:lnTo>
                <a:lnTo>
                  <a:pt x="491898" y="290775"/>
                </a:lnTo>
                <a:lnTo>
                  <a:pt x="494858" y="288196"/>
                </a:lnTo>
                <a:lnTo>
                  <a:pt x="498194" y="284269"/>
                </a:lnTo>
                <a:lnTo>
                  <a:pt x="501129" y="279993"/>
                </a:lnTo>
                <a:lnTo>
                  <a:pt x="501465" y="278781"/>
                </a:lnTo>
                <a:lnTo>
                  <a:pt x="503168" y="275251"/>
                </a:lnTo>
                <a:lnTo>
                  <a:pt x="503847" y="272267"/>
                </a:lnTo>
                <a:lnTo>
                  <a:pt x="511649" y="274240"/>
                </a:lnTo>
                <a:lnTo>
                  <a:pt x="512755" y="269342"/>
                </a:lnTo>
                <a:lnTo>
                  <a:pt x="514024" y="265503"/>
                </a:lnTo>
                <a:lnTo>
                  <a:pt x="514144" y="264301"/>
                </a:lnTo>
                <a:lnTo>
                  <a:pt x="513810" y="261587"/>
                </a:lnTo>
                <a:lnTo>
                  <a:pt x="514488" y="258754"/>
                </a:lnTo>
                <a:lnTo>
                  <a:pt x="516398" y="255340"/>
                </a:lnTo>
                <a:lnTo>
                  <a:pt x="522250" y="246575"/>
                </a:lnTo>
                <a:lnTo>
                  <a:pt x="529753" y="233823"/>
                </a:lnTo>
                <a:lnTo>
                  <a:pt x="533161" y="227349"/>
                </a:lnTo>
                <a:lnTo>
                  <a:pt x="535924" y="220375"/>
                </a:lnTo>
                <a:lnTo>
                  <a:pt x="536199" y="215598"/>
                </a:lnTo>
                <a:lnTo>
                  <a:pt x="536677" y="212489"/>
                </a:lnTo>
                <a:lnTo>
                  <a:pt x="539945" y="200283"/>
                </a:lnTo>
                <a:lnTo>
                  <a:pt x="541347" y="195822"/>
                </a:lnTo>
                <a:lnTo>
                  <a:pt x="543212" y="188233"/>
                </a:lnTo>
                <a:lnTo>
                  <a:pt x="543518" y="186368"/>
                </a:lnTo>
                <a:lnTo>
                  <a:pt x="543177" y="185598"/>
                </a:lnTo>
                <a:lnTo>
                  <a:pt x="543044" y="182086"/>
                </a:lnTo>
                <a:lnTo>
                  <a:pt x="545229" y="170952"/>
                </a:lnTo>
                <a:lnTo>
                  <a:pt x="546867" y="164416"/>
                </a:lnTo>
                <a:lnTo>
                  <a:pt x="549652" y="155844"/>
                </a:lnTo>
                <a:lnTo>
                  <a:pt x="552291" y="149810"/>
                </a:lnTo>
                <a:lnTo>
                  <a:pt x="552873" y="147532"/>
                </a:lnTo>
                <a:lnTo>
                  <a:pt x="553730" y="145531"/>
                </a:lnTo>
                <a:lnTo>
                  <a:pt x="553760" y="144645"/>
                </a:lnTo>
                <a:lnTo>
                  <a:pt x="555226" y="140118"/>
                </a:lnTo>
                <a:lnTo>
                  <a:pt x="556305" y="134901"/>
                </a:lnTo>
                <a:lnTo>
                  <a:pt x="558264" y="130607"/>
                </a:lnTo>
                <a:lnTo>
                  <a:pt x="559725" y="126547"/>
                </a:lnTo>
                <a:lnTo>
                  <a:pt x="559983" y="125009"/>
                </a:lnTo>
                <a:lnTo>
                  <a:pt x="559437" y="124479"/>
                </a:lnTo>
                <a:lnTo>
                  <a:pt x="559197" y="123160"/>
                </a:lnTo>
                <a:lnTo>
                  <a:pt x="559854" y="120044"/>
                </a:lnTo>
                <a:lnTo>
                  <a:pt x="563202" y="113290"/>
                </a:lnTo>
                <a:lnTo>
                  <a:pt x="565351" y="110271"/>
                </a:lnTo>
                <a:lnTo>
                  <a:pt x="566575" y="106586"/>
                </a:lnTo>
                <a:lnTo>
                  <a:pt x="568436" y="103237"/>
                </a:lnTo>
                <a:lnTo>
                  <a:pt x="568466" y="102634"/>
                </a:lnTo>
                <a:lnTo>
                  <a:pt x="569852" y="98865"/>
                </a:lnTo>
                <a:lnTo>
                  <a:pt x="571792" y="95478"/>
                </a:lnTo>
                <a:lnTo>
                  <a:pt x="571823" y="94261"/>
                </a:lnTo>
                <a:lnTo>
                  <a:pt x="572163" y="93194"/>
                </a:lnTo>
                <a:lnTo>
                  <a:pt x="574268" y="89551"/>
                </a:lnTo>
                <a:lnTo>
                  <a:pt x="575313" y="87188"/>
                </a:lnTo>
                <a:lnTo>
                  <a:pt x="575692" y="86238"/>
                </a:lnTo>
                <a:lnTo>
                  <a:pt x="575538" y="85415"/>
                </a:lnTo>
                <a:lnTo>
                  <a:pt x="575980" y="83929"/>
                </a:lnTo>
                <a:lnTo>
                  <a:pt x="579069" y="78694"/>
                </a:lnTo>
                <a:lnTo>
                  <a:pt x="579303" y="78084"/>
                </a:lnTo>
                <a:lnTo>
                  <a:pt x="579166" y="77304"/>
                </a:lnTo>
                <a:lnTo>
                  <a:pt x="579346" y="76575"/>
                </a:lnTo>
                <a:lnTo>
                  <a:pt x="581721" y="72086"/>
                </a:lnTo>
                <a:lnTo>
                  <a:pt x="581316" y="71417"/>
                </a:lnTo>
                <a:lnTo>
                  <a:pt x="581726" y="69435"/>
                </a:lnTo>
                <a:lnTo>
                  <a:pt x="585118" y="64140"/>
                </a:lnTo>
                <a:lnTo>
                  <a:pt x="585571" y="63878"/>
                </a:lnTo>
                <a:lnTo>
                  <a:pt x="585125" y="63409"/>
                </a:lnTo>
                <a:lnTo>
                  <a:pt x="585357" y="62691"/>
                </a:lnTo>
                <a:lnTo>
                  <a:pt x="586814" y="60058"/>
                </a:lnTo>
                <a:lnTo>
                  <a:pt x="587658" y="58998"/>
                </a:lnTo>
                <a:lnTo>
                  <a:pt x="587438" y="57685"/>
                </a:lnTo>
                <a:lnTo>
                  <a:pt x="589017" y="54123"/>
                </a:lnTo>
                <a:lnTo>
                  <a:pt x="589394" y="51177"/>
                </a:lnTo>
                <a:lnTo>
                  <a:pt x="590973" y="47911"/>
                </a:lnTo>
                <a:lnTo>
                  <a:pt x="591492" y="45584"/>
                </a:lnTo>
                <a:lnTo>
                  <a:pt x="592475" y="43470"/>
                </a:lnTo>
                <a:lnTo>
                  <a:pt x="592073" y="42822"/>
                </a:lnTo>
                <a:lnTo>
                  <a:pt x="592115" y="41945"/>
                </a:lnTo>
                <a:lnTo>
                  <a:pt x="593405" y="38737"/>
                </a:lnTo>
                <a:lnTo>
                  <a:pt x="594268" y="35835"/>
                </a:lnTo>
                <a:lnTo>
                  <a:pt x="594027" y="32934"/>
                </a:lnTo>
                <a:lnTo>
                  <a:pt x="595094" y="29434"/>
                </a:lnTo>
                <a:lnTo>
                  <a:pt x="595985" y="23220"/>
                </a:lnTo>
                <a:lnTo>
                  <a:pt x="597448" y="19483"/>
                </a:lnTo>
                <a:lnTo>
                  <a:pt x="589907" y="16669"/>
                </a:lnTo>
                <a:lnTo>
                  <a:pt x="589847" y="16827"/>
                </a:lnTo>
                <a:lnTo>
                  <a:pt x="589838" y="16664"/>
                </a:lnTo>
                <a:lnTo>
                  <a:pt x="589400" y="16651"/>
                </a:lnTo>
                <a:lnTo>
                  <a:pt x="584959" y="17307"/>
                </a:lnTo>
                <a:lnTo>
                  <a:pt x="577709" y="16892"/>
                </a:lnTo>
                <a:lnTo>
                  <a:pt x="572794" y="16263"/>
                </a:lnTo>
                <a:lnTo>
                  <a:pt x="566033" y="16594"/>
                </a:lnTo>
                <a:lnTo>
                  <a:pt x="559878" y="16241"/>
                </a:lnTo>
                <a:lnTo>
                  <a:pt x="543089" y="14504"/>
                </a:lnTo>
                <a:lnTo>
                  <a:pt x="511662" y="12332"/>
                </a:lnTo>
                <a:lnTo>
                  <a:pt x="511647" y="10892"/>
                </a:lnTo>
                <a:lnTo>
                  <a:pt x="510944" y="10913"/>
                </a:lnTo>
                <a:lnTo>
                  <a:pt x="510541" y="11602"/>
                </a:lnTo>
                <a:lnTo>
                  <a:pt x="509394" y="12161"/>
                </a:lnTo>
                <a:lnTo>
                  <a:pt x="508661" y="10868"/>
                </a:lnTo>
                <a:lnTo>
                  <a:pt x="508010" y="10252"/>
                </a:lnTo>
                <a:lnTo>
                  <a:pt x="507428" y="10242"/>
                </a:lnTo>
                <a:lnTo>
                  <a:pt x="506193" y="10747"/>
                </a:lnTo>
                <a:lnTo>
                  <a:pt x="504434" y="10033"/>
                </a:lnTo>
                <a:lnTo>
                  <a:pt x="503312" y="9991"/>
                </a:lnTo>
                <a:lnTo>
                  <a:pt x="502284" y="9251"/>
                </a:lnTo>
                <a:lnTo>
                  <a:pt x="501531" y="9337"/>
                </a:lnTo>
                <a:lnTo>
                  <a:pt x="499874" y="8860"/>
                </a:lnTo>
                <a:lnTo>
                  <a:pt x="498909" y="8991"/>
                </a:lnTo>
                <a:lnTo>
                  <a:pt x="498457" y="8128"/>
                </a:lnTo>
                <a:lnTo>
                  <a:pt x="497824" y="7620"/>
                </a:lnTo>
                <a:lnTo>
                  <a:pt x="496132" y="7260"/>
                </a:lnTo>
                <a:lnTo>
                  <a:pt x="493729" y="6115"/>
                </a:lnTo>
                <a:lnTo>
                  <a:pt x="493049" y="6358"/>
                </a:lnTo>
                <a:lnTo>
                  <a:pt x="491936" y="7218"/>
                </a:lnTo>
                <a:lnTo>
                  <a:pt x="491315" y="9508"/>
                </a:lnTo>
                <a:lnTo>
                  <a:pt x="490305" y="9734"/>
                </a:lnTo>
                <a:lnTo>
                  <a:pt x="488617" y="10654"/>
                </a:lnTo>
                <a:lnTo>
                  <a:pt x="488001" y="10638"/>
                </a:lnTo>
                <a:lnTo>
                  <a:pt x="485516" y="9882"/>
                </a:lnTo>
                <a:lnTo>
                  <a:pt x="484153" y="9220"/>
                </a:lnTo>
                <a:lnTo>
                  <a:pt x="482665" y="7947"/>
                </a:lnTo>
                <a:lnTo>
                  <a:pt x="482264" y="6665"/>
                </a:lnTo>
                <a:lnTo>
                  <a:pt x="479853" y="6397"/>
                </a:lnTo>
                <a:lnTo>
                  <a:pt x="479372" y="6155"/>
                </a:lnTo>
                <a:lnTo>
                  <a:pt x="477852" y="3183"/>
                </a:lnTo>
                <a:lnTo>
                  <a:pt x="477516" y="1267"/>
                </a:lnTo>
                <a:lnTo>
                  <a:pt x="476830" y="547"/>
                </a:lnTo>
                <a:lnTo>
                  <a:pt x="475803" y="432"/>
                </a:lnTo>
                <a:lnTo>
                  <a:pt x="472675" y="1024"/>
                </a:lnTo>
                <a:lnTo>
                  <a:pt x="471780" y="1301"/>
                </a:lnTo>
                <a:lnTo>
                  <a:pt x="470971" y="2120"/>
                </a:lnTo>
                <a:lnTo>
                  <a:pt x="470063" y="2257"/>
                </a:lnTo>
                <a:lnTo>
                  <a:pt x="468819" y="1944"/>
                </a:lnTo>
                <a:lnTo>
                  <a:pt x="467929" y="1130"/>
                </a:lnTo>
                <a:lnTo>
                  <a:pt x="467384" y="259"/>
                </a:lnTo>
                <a:lnTo>
                  <a:pt x="466379" y="0"/>
                </a:lnTo>
                <a:lnTo>
                  <a:pt x="464949" y="169"/>
                </a:lnTo>
                <a:lnTo>
                  <a:pt x="464004" y="557"/>
                </a:lnTo>
                <a:lnTo>
                  <a:pt x="464566" y="2152"/>
                </a:lnTo>
                <a:lnTo>
                  <a:pt x="460648" y="18739"/>
                </a:lnTo>
                <a:lnTo>
                  <a:pt x="461154" y="21017"/>
                </a:lnTo>
                <a:lnTo>
                  <a:pt x="458212" y="31027"/>
                </a:lnTo>
                <a:lnTo>
                  <a:pt x="458486" y="31855"/>
                </a:lnTo>
                <a:lnTo>
                  <a:pt x="457897" y="37049"/>
                </a:lnTo>
                <a:lnTo>
                  <a:pt x="456605" y="45426"/>
                </a:lnTo>
                <a:lnTo>
                  <a:pt x="455621" y="49463"/>
                </a:lnTo>
                <a:lnTo>
                  <a:pt x="455878" y="50360"/>
                </a:lnTo>
                <a:lnTo>
                  <a:pt x="455834" y="51763"/>
                </a:lnTo>
                <a:lnTo>
                  <a:pt x="455231" y="54605"/>
                </a:lnTo>
                <a:lnTo>
                  <a:pt x="454903" y="66602"/>
                </a:lnTo>
                <a:lnTo>
                  <a:pt x="453809" y="80731"/>
                </a:lnTo>
                <a:lnTo>
                  <a:pt x="454028" y="81834"/>
                </a:lnTo>
                <a:lnTo>
                  <a:pt x="384767" y="77201"/>
                </a:lnTo>
                <a:lnTo>
                  <a:pt x="354031" y="63784"/>
                </a:lnTo>
                <a:lnTo>
                  <a:pt x="343381" y="75104"/>
                </a:lnTo>
                <a:lnTo>
                  <a:pt x="337338" y="83053"/>
                </a:lnTo>
                <a:lnTo>
                  <a:pt x="333812" y="81907"/>
                </a:lnTo>
                <a:lnTo>
                  <a:pt x="328345" y="77259"/>
                </a:lnTo>
                <a:lnTo>
                  <a:pt x="328455" y="76845"/>
                </a:lnTo>
                <a:lnTo>
                  <a:pt x="328088" y="76276"/>
                </a:lnTo>
                <a:lnTo>
                  <a:pt x="325913" y="77094"/>
                </a:lnTo>
                <a:lnTo>
                  <a:pt x="325110" y="78259"/>
                </a:lnTo>
                <a:lnTo>
                  <a:pt x="323200" y="77384"/>
                </a:lnTo>
                <a:lnTo>
                  <a:pt x="321089" y="78055"/>
                </a:lnTo>
                <a:lnTo>
                  <a:pt x="320740" y="78343"/>
                </a:lnTo>
                <a:lnTo>
                  <a:pt x="320363" y="79411"/>
                </a:lnTo>
                <a:lnTo>
                  <a:pt x="320036" y="79616"/>
                </a:lnTo>
                <a:lnTo>
                  <a:pt x="319188" y="79279"/>
                </a:lnTo>
                <a:lnTo>
                  <a:pt x="318787" y="78336"/>
                </a:lnTo>
                <a:lnTo>
                  <a:pt x="318218" y="78395"/>
                </a:lnTo>
                <a:lnTo>
                  <a:pt x="317227" y="79233"/>
                </a:lnTo>
                <a:lnTo>
                  <a:pt x="316607" y="80610"/>
                </a:lnTo>
                <a:lnTo>
                  <a:pt x="315707" y="79660"/>
                </a:lnTo>
                <a:lnTo>
                  <a:pt x="315289" y="78677"/>
                </a:lnTo>
                <a:lnTo>
                  <a:pt x="314979" y="78608"/>
                </a:lnTo>
                <a:lnTo>
                  <a:pt x="314493" y="79029"/>
                </a:lnTo>
                <a:lnTo>
                  <a:pt x="314046" y="80174"/>
                </a:lnTo>
                <a:lnTo>
                  <a:pt x="311503" y="79818"/>
                </a:lnTo>
                <a:lnTo>
                  <a:pt x="311027" y="80076"/>
                </a:lnTo>
                <a:lnTo>
                  <a:pt x="310448" y="79853"/>
                </a:lnTo>
                <a:lnTo>
                  <a:pt x="309350" y="80643"/>
                </a:lnTo>
                <a:lnTo>
                  <a:pt x="308337" y="80985"/>
                </a:lnTo>
                <a:lnTo>
                  <a:pt x="307893" y="80685"/>
                </a:lnTo>
                <a:lnTo>
                  <a:pt x="307664" y="80106"/>
                </a:lnTo>
                <a:lnTo>
                  <a:pt x="307285" y="79948"/>
                </a:lnTo>
                <a:lnTo>
                  <a:pt x="306176" y="80914"/>
                </a:lnTo>
                <a:lnTo>
                  <a:pt x="305324" y="81193"/>
                </a:lnTo>
                <a:lnTo>
                  <a:pt x="305103" y="80710"/>
                </a:lnTo>
                <a:lnTo>
                  <a:pt x="305266" y="79896"/>
                </a:lnTo>
                <a:lnTo>
                  <a:pt x="304850" y="79336"/>
                </a:lnTo>
                <a:lnTo>
                  <a:pt x="305104" y="77708"/>
                </a:lnTo>
                <a:lnTo>
                  <a:pt x="304041" y="76669"/>
                </a:lnTo>
                <a:lnTo>
                  <a:pt x="302949" y="74989"/>
                </a:lnTo>
                <a:lnTo>
                  <a:pt x="303162" y="74207"/>
                </a:lnTo>
                <a:lnTo>
                  <a:pt x="302728" y="73000"/>
                </a:lnTo>
                <a:lnTo>
                  <a:pt x="303289" y="71921"/>
                </a:lnTo>
                <a:lnTo>
                  <a:pt x="303248" y="71055"/>
                </a:lnTo>
                <a:lnTo>
                  <a:pt x="303014" y="70896"/>
                </a:lnTo>
                <a:lnTo>
                  <a:pt x="302055" y="70906"/>
                </a:lnTo>
                <a:lnTo>
                  <a:pt x="301478" y="71312"/>
                </a:lnTo>
                <a:lnTo>
                  <a:pt x="301229" y="70861"/>
                </a:lnTo>
                <a:lnTo>
                  <a:pt x="300762" y="70848"/>
                </a:lnTo>
                <a:lnTo>
                  <a:pt x="300146" y="71231"/>
                </a:lnTo>
                <a:lnTo>
                  <a:pt x="297888" y="71546"/>
                </a:lnTo>
                <a:lnTo>
                  <a:pt x="297529" y="71192"/>
                </a:lnTo>
                <a:lnTo>
                  <a:pt x="297211" y="71759"/>
                </a:lnTo>
                <a:lnTo>
                  <a:pt x="296205" y="72017"/>
                </a:lnTo>
                <a:lnTo>
                  <a:pt x="294889" y="71681"/>
                </a:lnTo>
                <a:lnTo>
                  <a:pt x="294507" y="72781"/>
                </a:lnTo>
                <a:lnTo>
                  <a:pt x="294565" y="74746"/>
                </a:lnTo>
                <a:lnTo>
                  <a:pt x="294109" y="75072"/>
                </a:lnTo>
                <a:lnTo>
                  <a:pt x="293998" y="75891"/>
                </a:lnTo>
                <a:lnTo>
                  <a:pt x="293535" y="75493"/>
                </a:lnTo>
                <a:lnTo>
                  <a:pt x="293240" y="75515"/>
                </a:lnTo>
                <a:lnTo>
                  <a:pt x="293428" y="76542"/>
                </a:lnTo>
                <a:lnTo>
                  <a:pt x="292942" y="76698"/>
                </a:lnTo>
                <a:lnTo>
                  <a:pt x="292327" y="76480"/>
                </a:lnTo>
                <a:lnTo>
                  <a:pt x="291583" y="76887"/>
                </a:lnTo>
                <a:lnTo>
                  <a:pt x="291357" y="77952"/>
                </a:lnTo>
                <a:lnTo>
                  <a:pt x="291019" y="77955"/>
                </a:lnTo>
                <a:lnTo>
                  <a:pt x="290539" y="77472"/>
                </a:lnTo>
                <a:lnTo>
                  <a:pt x="289445" y="77411"/>
                </a:lnTo>
                <a:lnTo>
                  <a:pt x="288284" y="78015"/>
                </a:lnTo>
                <a:lnTo>
                  <a:pt x="288501" y="76679"/>
                </a:lnTo>
                <a:lnTo>
                  <a:pt x="289261" y="76542"/>
                </a:lnTo>
                <a:lnTo>
                  <a:pt x="289215" y="76312"/>
                </a:lnTo>
                <a:lnTo>
                  <a:pt x="288261" y="75645"/>
                </a:lnTo>
                <a:lnTo>
                  <a:pt x="288176" y="75101"/>
                </a:lnTo>
                <a:lnTo>
                  <a:pt x="287511" y="75700"/>
                </a:lnTo>
                <a:lnTo>
                  <a:pt x="286400" y="75455"/>
                </a:lnTo>
                <a:lnTo>
                  <a:pt x="286905" y="74429"/>
                </a:lnTo>
                <a:lnTo>
                  <a:pt x="285947" y="74720"/>
                </a:lnTo>
                <a:lnTo>
                  <a:pt x="285590" y="74314"/>
                </a:lnTo>
                <a:lnTo>
                  <a:pt x="286570" y="73748"/>
                </a:lnTo>
                <a:lnTo>
                  <a:pt x="286212" y="73573"/>
                </a:lnTo>
                <a:lnTo>
                  <a:pt x="285941" y="73065"/>
                </a:lnTo>
                <a:lnTo>
                  <a:pt x="284918" y="73386"/>
                </a:lnTo>
                <a:lnTo>
                  <a:pt x="284926" y="72704"/>
                </a:lnTo>
                <a:lnTo>
                  <a:pt x="284106" y="72029"/>
                </a:lnTo>
                <a:lnTo>
                  <a:pt x="283861" y="71105"/>
                </a:lnTo>
                <a:lnTo>
                  <a:pt x="282943" y="71378"/>
                </a:lnTo>
                <a:lnTo>
                  <a:pt x="282371" y="71287"/>
                </a:lnTo>
                <a:lnTo>
                  <a:pt x="282600" y="71703"/>
                </a:lnTo>
                <a:lnTo>
                  <a:pt x="283314" y="72103"/>
                </a:lnTo>
                <a:lnTo>
                  <a:pt x="283111" y="72922"/>
                </a:lnTo>
                <a:lnTo>
                  <a:pt x="281646" y="72837"/>
                </a:lnTo>
                <a:lnTo>
                  <a:pt x="281174" y="73149"/>
                </a:lnTo>
                <a:lnTo>
                  <a:pt x="280956" y="71952"/>
                </a:lnTo>
                <a:lnTo>
                  <a:pt x="280549" y="71975"/>
                </a:lnTo>
                <a:lnTo>
                  <a:pt x="280109" y="71181"/>
                </a:lnTo>
                <a:lnTo>
                  <a:pt x="279704" y="71007"/>
                </a:lnTo>
                <a:lnTo>
                  <a:pt x="280156" y="70033"/>
                </a:lnTo>
                <a:lnTo>
                  <a:pt x="279547" y="69515"/>
                </a:lnTo>
                <a:lnTo>
                  <a:pt x="279153" y="69529"/>
                </a:lnTo>
                <a:lnTo>
                  <a:pt x="278520" y="68552"/>
                </a:lnTo>
                <a:lnTo>
                  <a:pt x="277378" y="69671"/>
                </a:lnTo>
                <a:lnTo>
                  <a:pt x="277205" y="69196"/>
                </a:lnTo>
                <a:lnTo>
                  <a:pt x="277508" y="68799"/>
                </a:lnTo>
                <a:lnTo>
                  <a:pt x="277059" y="67798"/>
                </a:lnTo>
                <a:lnTo>
                  <a:pt x="276202" y="67849"/>
                </a:lnTo>
                <a:lnTo>
                  <a:pt x="275285" y="68474"/>
                </a:lnTo>
                <a:lnTo>
                  <a:pt x="274864" y="67844"/>
                </a:lnTo>
                <a:lnTo>
                  <a:pt x="275021" y="67536"/>
                </a:lnTo>
                <a:lnTo>
                  <a:pt x="274889" y="66882"/>
                </a:lnTo>
                <a:lnTo>
                  <a:pt x="274274" y="67064"/>
                </a:lnTo>
                <a:lnTo>
                  <a:pt x="273905" y="66449"/>
                </a:lnTo>
                <a:lnTo>
                  <a:pt x="274059" y="66011"/>
                </a:lnTo>
                <a:lnTo>
                  <a:pt x="273915" y="65893"/>
                </a:lnTo>
                <a:lnTo>
                  <a:pt x="273242" y="66225"/>
                </a:lnTo>
                <a:lnTo>
                  <a:pt x="272348" y="65729"/>
                </a:lnTo>
                <a:lnTo>
                  <a:pt x="265691" y="66123"/>
                </a:lnTo>
                <a:lnTo>
                  <a:pt x="254852" y="71224"/>
                </a:lnTo>
                <a:lnTo>
                  <a:pt x="250611" y="71736"/>
                </a:lnTo>
                <a:lnTo>
                  <a:pt x="249675" y="71337"/>
                </a:lnTo>
                <a:lnTo>
                  <a:pt x="248983" y="71351"/>
                </a:lnTo>
                <a:lnTo>
                  <a:pt x="248235" y="70646"/>
                </a:lnTo>
                <a:lnTo>
                  <a:pt x="246125" y="69490"/>
                </a:lnTo>
                <a:lnTo>
                  <a:pt x="242099" y="68841"/>
                </a:lnTo>
                <a:lnTo>
                  <a:pt x="238834" y="69823"/>
                </a:lnTo>
                <a:lnTo>
                  <a:pt x="237545" y="70526"/>
                </a:lnTo>
                <a:lnTo>
                  <a:pt x="237472" y="70853"/>
                </a:lnTo>
                <a:lnTo>
                  <a:pt x="236928" y="70641"/>
                </a:lnTo>
                <a:lnTo>
                  <a:pt x="236382" y="70853"/>
                </a:lnTo>
                <a:lnTo>
                  <a:pt x="235657" y="70555"/>
                </a:lnTo>
                <a:lnTo>
                  <a:pt x="234929" y="70946"/>
                </a:lnTo>
                <a:lnTo>
                  <a:pt x="232824" y="70507"/>
                </a:lnTo>
                <a:lnTo>
                  <a:pt x="231841" y="68728"/>
                </a:lnTo>
                <a:lnTo>
                  <a:pt x="232280" y="61474"/>
                </a:lnTo>
                <a:lnTo>
                  <a:pt x="228114" y="61899"/>
                </a:lnTo>
                <a:lnTo>
                  <a:pt x="223864" y="60660"/>
                </a:lnTo>
                <a:lnTo>
                  <a:pt x="223813" y="63858"/>
                </a:lnTo>
                <a:lnTo>
                  <a:pt x="223374" y="67772"/>
                </a:lnTo>
                <a:lnTo>
                  <a:pt x="217978" y="65557"/>
                </a:lnTo>
                <a:lnTo>
                  <a:pt x="216405" y="65856"/>
                </a:lnTo>
                <a:lnTo>
                  <a:pt x="214086" y="68225"/>
                </a:lnTo>
                <a:lnTo>
                  <a:pt x="211282" y="67609"/>
                </a:lnTo>
                <a:lnTo>
                  <a:pt x="211048" y="69817"/>
                </a:lnTo>
                <a:lnTo>
                  <a:pt x="210597" y="70508"/>
                </a:lnTo>
                <a:lnTo>
                  <a:pt x="210701" y="73365"/>
                </a:lnTo>
                <a:lnTo>
                  <a:pt x="210479" y="76299"/>
                </a:lnTo>
                <a:lnTo>
                  <a:pt x="205661" y="76910"/>
                </a:lnTo>
                <a:lnTo>
                  <a:pt x="203898" y="77932"/>
                </a:lnTo>
                <a:lnTo>
                  <a:pt x="203158" y="75414"/>
                </a:lnTo>
                <a:lnTo>
                  <a:pt x="198861" y="73563"/>
                </a:lnTo>
                <a:lnTo>
                  <a:pt x="197604" y="75708"/>
                </a:lnTo>
                <a:lnTo>
                  <a:pt x="195822" y="77134"/>
                </a:lnTo>
                <a:lnTo>
                  <a:pt x="193986" y="78534"/>
                </a:lnTo>
                <a:lnTo>
                  <a:pt x="193254" y="78442"/>
                </a:lnTo>
                <a:lnTo>
                  <a:pt x="191714" y="79189"/>
                </a:lnTo>
                <a:lnTo>
                  <a:pt x="192229" y="79975"/>
                </a:lnTo>
                <a:lnTo>
                  <a:pt x="191974" y="81141"/>
                </a:lnTo>
                <a:lnTo>
                  <a:pt x="190569" y="82542"/>
                </a:lnTo>
                <a:lnTo>
                  <a:pt x="186226" y="78000"/>
                </a:lnTo>
                <a:lnTo>
                  <a:pt x="182816" y="74929"/>
                </a:lnTo>
                <a:lnTo>
                  <a:pt x="181687" y="75142"/>
                </a:lnTo>
                <a:lnTo>
                  <a:pt x="180182" y="74378"/>
                </a:lnTo>
                <a:lnTo>
                  <a:pt x="177774" y="76485"/>
                </a:lnTo>
                <a:lnTo>
                  <a:pt x="176877" y="77588"/>
                </a:lnTo>
                <a:lnTo>
                  <a:pt x="175887" y="77942"/>
                </a:lnTo>
                <a:lnTo>
                  <a:pt x="174620" y="77469"/>
                </a:lnTo>
                <a:lnTo>
                  <a:pt x="173682" y="78681"/>
                </a:lnTo>
                <a:lnTo>
                  <a:pt x="172480" y="79122"/>
                </a:lnTo>
                <a:lnTo>
                  <a:pt x="169518" y="77495"/>
                </a:lnTo>
                <a:lnTo>
                  <a:pt x="167258" y="74909"/>
                </a:lnTo>
                <a:lnTo>
                  <a:pt x="164029" y="73445"/>
                </a:lnTo>
                <a:lnTo>
                  <a:pt x="158624" y="71507"/>
                </a:lnTo>
                <a:lnTo>
                  <a:pt x="157360" y="74573"/>
                </a:lnTo>
                <a:lnTo>
                  <a:pt x="155749" y="76433"/>
                </a:lnTo>
                <a:lnTo>
                  <a:pt x="154509" y="76328"/>
                </a:lnTo>
                <a:lnTo>
                  <a:pt x="154008" y="75697"/>
                </a:lnTo>
                <a:lnTo>
                  <a:pt x="153851" y="74857"/>
                </a:lnTo>
                <a:lnTo>
                  <a:pt x="151090" y="75948"/>
                </a:lnTo>
                <a:lnTo>
                  <a:pt x="148284" y="74943"/>
                </a:lnTo>
                <a:lnTo>
                  <a:pt x="147401" y="74945"/>
                </a:lnTo>
                <a:lnTo>
                  <a:pt x="146558" y="76733"/>
                </a:lnTo>
                <a:lnTo>
                  <a:pt x="146664" y="77795"/>
                </a:lnTo>
                <a:lnTo>
                  <a:pt x="146292" y="78890"/>
                </a:lnTo>
                <a:lnTo>
                  <a:pt x="144996" y="79349"/>
                </a:lnTo>
                <a:lnTo>
                  <a:pt x="144502" y="80056"/>
                </a:lnTo>
                <a:lnTo>
                  <a:pt x="144526" y="82599"/>
                </a:lnTo>
                <a:lnTo>
                  <a:pt x="143337" y="83073"/>
                </a:lnTo>
                <a:lnTo>
                  <a:pt x="143195" y="83607"/>
                </a:lnTo>
                <a:lnTo>
                  <a:pt x="142845" y="83867"/>
                </a:lnTo>
                <a:lnTo>
                  <a:pt x="142780" y="85543"/>
                </a:lnTo>
                <a:lnTo>
                  <a:pt x="141942" y="86196"/>
                </a:lnTo>
                <a:lnTo>
                  <a:pt x="140979" y="86290"/>
                </a:lnTo>
                <a:lnTo>
                  <a:pt x="140517" y="87314"/>
                </a:lnTo>
                <a:lnTo>
                  <a:pt x="139743" y="87523"/>
                </a:lnTo>
                <a:lnTo>
                  <a:pt x="137281" y="86538"/>
                </a:lnTo>
                <a:lnTo>
                  <a:pt x="135342" y="84936"/>
                </a:lnTo>
                <a:lnTo>
                  <a:pt x="135251" y="84634"/>
                </a:lnTo>
                <a:lnTo>
                  <a:pt x="131826" y="85796"/>
                </a:lnTo>
                <a:lnTo>
                  <a:pt x="129107" y="87953"/>
                </a:lnTo>
                <a:lnTo>
                  <a:pt x="127906" y="87394"/>
                </a:lnTo>
                <a:lnTo>
                  <a:pt x="127086" y="89006"/>
                </a:lnTo>
                <a:lnTo>
                  <a:pt x="128622" y="90429"/>
                </a:lnTo>
                <a:lnTo>
                  <a:pt x="131086" y="91754"/>
                </a:lnTo>
                <a:lnTo>
                  <a:pt x="130090" y="91941"/>
                </a:lnTo>
                <a:lnTo>
                  <a:pt x="129607" y="91755"/>
                </a:lnTo>
                <a:lnTo>
                  <a:pt x="127942" y="93341"/>
                </a:lnTo>
                <a:lnTo>
                  <a:pt x="127909" y="95185"/>
                </a:lnTo>
                <a:lnTo>
                  <a:pt x="127650" y="95732"/>
                </a:lnTo>
                <a:lnTo>
                  <a:pt x="128060" y="96534"/>
                </a:lnTo>
                <a:lnTo>
                  <a:pt x="129763" y="97549"/>
                </a:lnTo>
                <a:lnTo>
                  <a:pt x="131434" y="96869"/>
                </a:lnTo>
                <a:lnTo>
                  <a:pt x="132470" y="97486"/>
                </a:lnTo>
                <a:lnTo>
                  <a:pt x="132657" y="97876"/>
                </a:lnTo>
                <a:lnTo>
                  <a:pt x="134578" y="98228"/>
                </a:lnTo>
                <a:lnTo>
                  <a:pt x="134582" y="98612"/>
                </a:lnTo>
                <a:lnTo>
                  <a:pt x="135532" y="99811"/>
                </a:lnTo>
                <a:lnTo>
                  <a:pt x="135567" y="100557"/>
                </a:lnTo>
                <a:lnTo>
                  <a:pt x="136262" y="101422"/>
                </a:lnTo>
                <a:lnTo>
                  <a:pt x="136351" y="102551"/>
                </a:lnTo>
                <a:lnTo>
                  <a:pt x="137493" y="103586"/>
                </a:lnTo>
                <a:lnTo>
                  <a:pt x="137870" y="105862"/>
                </a:lnTo>
                <a:lnTo>
                  <a:pt x="137396" y="106736"/>
                </a:lnTo>
                <a:lnTo>
                  <a:pt x="137163" y="108047"/>
                </a:lnTo>
                <a:lnTo>
                  <a:pt x="137889" y="109602"/>
                </a:lnTo>
                <a:lnTo>
                  <a:pt x="137247" y="109995"/>
                </a:lnTo>
                <a:lnTo>
                  <a:pt x="136311" y="109257"/>
                </a:lnTo>
                <a:lnTo>
                  <a:pt x="135840" y="109319"/>
                </a:lnTo>
                <a:lnTo>
                  <a:pt x="134109" y="110202"/>
                </a:lnTo>
                <a:lnTo>
                  <a:pt x="133805" y="110586"/>
                </a:lnTo>
                <a:lnTo>
                  <a:pt x="133119" y="110729"/>
                </a:lnTo>
                <a:lnTo>
                  <a:pt x="132583" y="112091"/>
                </a:lnTo>
                <a:lnTo>
                  <a:pt x="131394" y="110731"/>
                </a:lnTo>
                <a:lnTo>
                  <a:pt x="130616" y="110939"/>
                </a:lnTo>
                <a:lnTo>
                  <a:pt x="130099" y="111871"/>
                </a:lnTo>
                <a:lnTo>
                  <a:pt x="130026" y="112615"/>
                </a:lnTo>
                <a:lnTo>
                  <a:pt x="129585" y="112442"/>
                </a:lnTo>
                <a:lnTo>
                  <a:pt x="128822" y="112748"/>
                </a:lnTo>
                <a:lnTo>
                  <a:pt x="128309" y="113833"/>
                </a:lnTo>
                <a:lnTo>
                  <a:pt x="128442" y="114021"/>
                </a:lnTo>
                <a:lnTo>
                  <a:pt x="128087" y="114434"/>
                </a:lnTo>
                <a:lnTo>
                  <a:pt x="127569" y="114791"/>
                </a:lnTo>
                <a:lnTo>
                  <a:pt x="127192" y="114569"/>
                </a:lnTo>
                <a:lnTo>
                  <a:pt x="126476" y="115013"/>
                </a:lnTo>
                <a:lnTo>
                  <a:pt x="126642" y="115163"/>
                </a:lnTo>
                <a:lnTo>
                  <a:pt x="125084" y="116125"/>
                </a:lnTo>
                <a:lnTo>
                  <a:pt x="123179" y="115528"/>
                </a:lnTo>
                <a:lnTo>
                  <a:pt x="122259" y="115682"/>
                </a:lnTo>
                <a:lnTo>
                  <a:pt x="121197" y="117513"/>
                </a:lnTo>
                <a:lnTo>
                  <a:pt x="121571" y="119062"/>
                </a:lnTo>
                <a:lnTo>
                  <a:pt x="120881" y="120182"/>
                </a:lnTo>
                <a:lnTo>
                  <a:pt x="120903" y="120657"/>
                </a:lnTo>
                <a:lnTo>
                  <a:pt x="121964" y="121826"/>
                </a:lnTo>
                <a:lnTo>
                  <a:pt x="122784" y="122271"/>
                </a:lnTo>
                <a:lnTo>
                  <a:pt x="123006" y="122565"/>
                </a:lnTo>
                <a:lnTo>
                  <a:pt x="122963" y="123346"/>
                </a:lnTo>
                <a:lnTo>
                  <a:pt x="124112" y="124852"/>
                </a:lnTo>
                <a:lnTo>
                  <a:pt x="124920" y="125327"/>
                </a:lnTo>
                <a:lnTo>
                  <a:pt x="126249" y="125471"/>
                </a:lnTo>
                <a:lnTo>
                  <a:pt x="126066" y="128365"/>
                </a:lnTo>
                <a:lnTo>
                  <a:pt x="126559" y="129090"/>
                </a:lnTo>
                <a:lnTo>
                  <a:pt x="126213" y="129297"/>
                </a:lnTo>
                <a:lnTo>
                  <a:pt x="125988" y="129920"/>
                </a:lnTo>
                <a:lnTo>
                  <a:pt x="126207" y="130578"/>
                </a:lnTo>
                <a:lnTo>
                  <a:pt x="125965" y="131975"/>
                </a:lnTo>
                <a:lnTo>
                  <a:pt x="125278" y="133219"/>
                </a:lnTo>
                <a:lnTo>
                  <a:pt x="125723" y="134899"/>
                </a:lnTo>
                <a:lnTo>
                  <a:pt x="124933" y="135556"/>
                </a:lnTo>
                <a:lnTo>
                  <a:pt x="124960" y="136405"/>
                </a:lnTo>
                <a:lnTo>
                  <a:pt x="125969" y="137247"/>
                </a:lnTo>
                <a:lnTo>
                  <a:pt x="125511" y="137805"/>
                </a:lnTo>
                <a:lnTo>
                  <a:pt x="125649" y="138564"/>
                </a:lnTo>
                <a:lnTo>
                  <a:pt x="126170" y="138682"/>
                </a:lnTo>
                <a:lnTo>
                  <a:pt x="126802" y="139847"/>
                </a:lnTo>
                <a:lnTo>
                  <a:pt x="125913" y="140631"/>
                </a:lnTo>
                <a:lnTo>
                  <a:pt x="125795" y="141102"/>
                </a:lnTo>
                <a:lnTo>
                  <a:pt x="127664" y="141374"/>
                </a:lnTo>
                <a:lnTo>
                  <a:pt x="128246" y="142087"/>
                </a:lnTo>
                <a:lnTo>
                  <a:pt x="128616" y="143239"/>
                </a:lnTo>
                <a:lnTo>
                  <a:pt x="128301" y="143853"/>
                </a:lnTo>
                <a:lnTo>
                  <a:pt x="127392" y="143945"/>
                </a:lnTo>
                <a:lnTo>
                  <a:pt x="127226" y="143768"/>
                </a:lnTo>
                <a:lnTo>
                  <a:pt x="126387" y="144199"/>
                </a:lnTo>
                <a:lnTo>
                  <a:pt x="125992" y="144739"/>
                </a:lnTo>
                <a:lnTo>
                  <a:pt x="125453" y="144329"/>
                </a:lnTo>
                <a:lnTo>
                  <a:pt x="124622" y="144807"/>
                </a:lnTo>
                <a:lnTo>
                  <a:pt x="124371" y="145315"/>
                </a:lnTo>
                <a:lnTo>
                  <a:pt x="123609" y="145654"/>
                </a:lnTo>
                <a:lnTo>
                  <a:pt x="123474" y="146401"/>
                </a:lnTo>
                <a:lnTo>
                  <a:pt x="123094" y="146893"/>
                </a:lnTo>
                <a:lnTo>
                  <a:pt x="122945" y="148016"/>
                </a:lnTo>
                <a:lnTo>
                  <a:pt x="123448" y="148753"/>
                </a:lnTo>
                <a:lnTo>
                  <a:pt x="124194" y="150851"/>
                </a:lnTo>
                <a:lnTo>
                  <a:pt x="123624" y="151342"/>
                </a:lnTo>
                <a:lnTo>
                  <a:pt x="121940" y="151065"/>
                </a:lnTo>
                <a:lnTo>
                  <a:pt x="122255" y="152025"/>
                </a:lnTo>
                <a:lnTo>
                  <a:pt x="121578" y="152500"/>
                </a:lnTo>
                <a:lnTo>
                  <a:pt x="121816" y="154197"/>
                </a:lnTo>
                <a:lnTo>
                  <a:pt x="121580" y="155013"/>
                </a:lnTo>
                <a:lnTo>
                  <a:pt x="121168" y="155068"/>
                </a:lnTo>
                <a:lnTo>
                  <a:pt x="121097" y="155779"/>
                </a:lnTo>
                <a:lnTo>
                  <a:pt x="121676" y="156236"/>
                </a:lnTo>
                <a:lnTo>
                  <a:pt x="122128" y="157070"/>
                </a:lnTo>
                <a:lnTo>
                  <a:pt x="120852" y="158798"/>
                </a:lnTo>
                <a:lnTo>
                  <a:pt x="120269" y="159087"/>
                </a:lnTo>
                <a:lnTo>
                  <a:pt x="119313" y="160369"/>
                </a:lnTo>
                <a:lnTo>
                  <a:pt x="118192" y="161008"/>
                </a:lnTo>
                <a:lnTo>
                  <a:pt x="117161" y="160586"/>
                </a:lnTo>
                <a:lnTo>
                  <a:pt x="116712" y="161265"/>
                </a:lnTo>
                <a:lnTo>
                  <a:pt x="117270" y="161482"/>
                </a:lnTo>
                <a:lnTo>
                  <a:pt x="118006" y="162407"/>
                </a:lnTo>
                <a:lnTo>
                  <a:pt x="117157" y="163561"/>
                </a:lnTo>
                <a:lnTo>
                  <a:pt x="118120" y="164317"/>
                </a:lnTo>
                <a:lnTo>
                  <a:pt x="119337" y="164588"/>
                </a:lnTo>
                <a:lnTo>
                  <a:pt x="120160" y="166925"/>
                </a:lnTo>
                <a:lnTo>
                  <a:pt x="119731" y="167241"/>
                </a:lnTo>
                <a:lnTo>
                  <a:pt x="119300" y="166916"/>
                </a:lnTo>
                <a:lnTo>
                  <a:pt x="118304" y="166994"/>
                </a:lnTo>
                <a:lnTo>
                  <a:pt x="117853" y="166801"/>
                </a:lnTo>
                <a:lnTo>
                  <a:pt x="115970" y="168231"/>
                </a:lnTo>
                <a:lnTo>
                  <a:pt x="113633" y="172610"/>
                </a:lnTo>
                <a:lnTo>
                  <a:pt x="113979" y="176016"/>
                </a:lnTo>
                <a:lnTo>
                  <a:pt x="110540" y="180901"/>
                </a:lnTo>
                <a:lnTo>
                  <a:pt x="112507" y="184564"/>
                </a:lnTo>
                <a:lnTo>
                  <a:pt x="115721" y="188093"/>
                </a:lnTo>
                <a:lnTo>
                  <a:pt x="115244" y="189488"/>
                </a:lnTo>
                <a:lnTo>
                  <a:pt x="116186" y="193922"/>
                </a:lnTo>
                <a:lnTo>
                  <a:pt x="115171" y="195854"/>
                </a:lnTo>
                <a:lnTo>
                  <a:pt x="116447" y="196506"/>
                </a:lnTo>
                <a:lnTo>
                  <a:pt x="116123" y="202169"/>
                </a:lnTo>
                <a:lnTo>
                  <a:pt x="110867" y="203301"/>
                </a:lnTo>
                <a:lnTo>
                  <a:pt x="108264" y="207904"/>
                </a:lnTo>
                <a:lnTo>
                  <a:pt x="110304" y="209595"/>
                </a:lnTo>
                <a:lnTo>
                  <a:pt x="109522" y="212181"/>
                </a:lnTo>
                <a:lnTo>
                  <a:pt x="100712" y="214547"/>
                </a:lnTo>
                <a:lnTo>
                  <a:pt x="99643" y="212705"/>
                </a:lnTo>
                <a:lnTo>
                  <a:pt x="93729" y="215383"/>
                </a:lnTo>
                <a:lnTo>
                  <a:pt x="89843" y="216302"/>
                </a:lnTo>
                <a:lnTo>
                  <a:pt x="89188" y="219259"/>
                </a:lnTo>
                <a:lnTo>
                  <a:pt x="86132" y="222300"/>
                </a:lnTo>
                <a:lnTo>
                  <a:pt x="83047" y="223890"/>
                </a:lnTo>
                <a:lnTo>
                  <a:pt x="83036" y="225664"/>
                </a:lnTo>
                <a:lnTo>
                  <a:pt x="81513" y="226753"/>
                </a:lnTo>
                <a:lnTo>
                  <a:pt x="79350" y="232557"/>
                </a:lnTo>
                <a:lnTo>
                  <a:pt x="73569" y="231662"/>
                </a:lnTo>
                <a:lnTo>
                  <a:pt x="71189" y="234149"/>
                </a:lnTo>
                <a:lnTo>
                  <a:pt x="68459" y="235776"/>
                </a:lnTo>
                <a:lnTo>
                  <a:pt x="65754" y="236950"/>
                </a:lnTo>
                <a:lnTo>
                  <a:pt x="65992" y="239726"/>
                </a:lnTo>
                <a:lnTo>
                  <a:pt x="61276" y="241771"/>
                </a:lnTo>
                <a:lnTo>
                  <a:pt x="58258" y="240670"/>
                </a:lnTo>
                <a:lnTo>
                  <a:pt x="57247" y="240926"/>
                </a:lnTo>
                <a:lnTo>
                  <a:pt x="55496" y="239434"/>
                </a:lnTo>
                <a:lnTo>
                  <a:pt x="52478" y="244365"/>
                </a:lnTo>
                <a:lnTo>
                  <a:pt x="46896" y="250173"/>
                </a:lnTo>
                <a:lnTo>
                  <a:pt x="50234" y="254383"/>
                </a:lnTo>
                <a:lnTo>
                  <a:pt x="47241" y="258446"/>
                </a:lnTo>
                <a:lnTo>
                  <a:pt x="44746" y="257967"/>
                </a:lnTo>
                <a:lnTo>
                  <a:pt x="43737" y="255883"/>
                </a:lnTo>
                <a:lnTo>
                  <a:pt x="42313" y="257772"/>
                </a:lnTo>
                <a:lnTo>
                  <a:pt x="38387" y="261505"/>
                </a:lnTo>
                <a:lnTo>
                  <a:pt x="33045" y="257870"/>
                </a:lnTo>
                <a:lnTo>
                  <a:pt x="15501" y="261910"/>
                </a:lnTo>
                <a:lnTo>
                  <a:pt x="13550" y="265475"/>
                </a:lnTo>
                <a:lnTo>
                  <a:pt x="14160" y="266811"/>
                </a:lnTo>
                <a:lnTo>
                  <a:pt x="12725" y="267110"/>
                </a:lnTo>
                <a:lnTo>
                  <a:pt x="11642" y="267996"/>
                </a:lnTo>
                <a:lnTo>
                  <a:pt x="11319" y="269200"/>
                </a:lnTo>
                <a:lnTo>
                  <a:pt x="10976" y="269470"/>
                </a:lnTo>
                <a:lnTo>
                  <a:pt x="10435" y="270864"/>
                </a:lnTo>
                <a:lnTo>
                  <a:pt x="10920" y="272063"/>
                </a:lnTo>
                <a:lnTo>
                  <a:pt x="10574" y="274013"/>
                </a:lnTo>
                <a:lnTo>
                  <a:pt x="9553" y="274444"/>
                </a:lnTo>
                <a:lnTo>
                  <a:pt x="9382" y="274940"/>
                </a:lnTo>
                <a:lnTo>
                  <a:pt x="8473" y="275407"/>
                </a:lnTo>
                <a:lnTo>
                  <a:pt x="8119" y="275995"/>
                </a:lnTo>
                <a:lnTo>
                  <a:pt x="7547" y="275953"/>
                </a:lnTo>
                <a:lnTo>
                  <a:pt x="6476" y="277211"/>
                </a:lnTo>
                <a:lnTo>
                  <a:pt x="5574" y="278732"/>
                </a:lnTo>
                <a:lnTo>
                  <a:pt x="4759" y="279623"/>
                </a:lnTo>
                <a:lnTo>
                  <a:pt x="4143" y="279631"/>
                </a:lnTo>
                <a:lnTo>
                  <a:pt x="3857" y="280187"/>
                </a:lnTo>
                <a:lnTo>
                  <a:pt x="3694" y="280804"/>
                </a:lnTo>
                <a:lnTo>
                  <a:pt x="4171" y="282190"/>
                </a:lnTo>
                <a:lnTo>
                  <a:pt x="2784" y="288848"/>
                </a:lnTo>
                <a:lnTo>
                  <a:pt x="2665" y="289100"/>
                </a:lnTo>
                <a:lnTo>
                  <a:pt x="1472" y="289402"/>
                </a:lnTo>
                <a:lnTo>
                  <a:pt x="0" y="292897"/>
                </a:lnTo>
                <a:lnTo>
                  <a:pt x="13" y="293179"/>
                </a:lnTo>
                <a:lnTo>
                  <a:pt x="948" y="293559"/>
                </a:lnTo>
                <a:lnTo>
                  <a:pt x="2044" y="293663"/>
                </a:lnTo>
                <a:lnTo>
                  <a:pt x="2864" y="292279"/>
                </a:lnTo>
                <a:lnTo>
                  <a:pt x="4713" y="291202"/>
                </a:lnTo>
                <a:lnTo>
                  <a:pt x="4908" y="291440"/>
                </a:lnTo>
                <a:lnTo>
                  <a:pt x="5557" y="291486"/>
                </a:lnTo>
                <a:lnTo>
                  <a:pt x="5953" y="292103"/>
                </a:lnTo>
                <a:lnTo>
                  <a:pt x="5918" y="293011"/>
                </a:lnTo>
                <a:lnTo>
                  <a:pt x="6710" y="293155"/>
                </a:lnTo>
                <a:lnTo>
                  <a:pt x="8245" y="293899"/>
                </a:lnTo>
                <a:lnTo>
                  <a:pt x="9856" y="295209"/>
                </a:lnTo>
                <a:lnTo>
                  <a:pt x="10029" y="295954"/>
                </a:lnTo>
                <a:lnTo>
                  <a:pt x="9584" y="295986"/>
                </a:lnTo>
                <a:lnTo>
                  <a:pt x="9154" y="295615"/>
                </a:lnTo>
                <a:lnTo>
                  <a:pt x="8675" y="296629"/>
                </a:lnTo>
                <a:lnTo>
                  <a:pt x="8149" y="296634"/>
                </a:lnTo>
                <a:lnTo>
                  <a:pt x="10320" y="297707"/>
                </a:lnTo>
                <a:lnTo>
                  <a:pt x="10450" y="298722"/>
                </a:lnTo>
                <a:lnTo>
                  <a:pt x="9215" y="299044"/>
                </a:lnTo>
                <a:lnTo>
                  <a:pt x="8636" y="298731"/>
                </a:lnTo>
                <a:lnTo>
                  <a:pt x="8341" y="299033"/>
                </a:lnTo>
                <a:lnTo>
                  <a:pt x="8408" y="299465"/>
                </a:lnTo>
                <a:lnTo>
                  <a:pt x="7679" y="299474"/>
                </a:lnTo>
                <a:lnTo>
                  <a:pt x="6567" y="299933"/>
                </a:lnTo>
                <a:lnTo>
                  <a:pt x="6859" y="300642"/>
                </a:lnTo>
                <a:lnTo>
                  <a:pt x="7798" y="301195"/>
                </a:lnTo>
                <a:lnTo>
                  <a:pt x="8378" y="301224"/>
                </a:lnTo>
                <a:lnTo>
                  <a:pt x="9026" y="300929"/>
                </a:lnTo>
                <a:lnTo>
                  <a:pt x="8724" y="301766"/>
                </a:lnTo>
                <a:lnTo>
                  <a:pt x="9872" y="302055"/>
                </a:lnTo>
                <a:lnTo>
                  <a:pt x="9730" y="302376"/>
                </a:lnTo>
                <a:lnTo>
                  <a:pt x="10183" y="302625"/>
                </a:lnTo>
                <a:lnTo>
                  <a:pt x="9782" y="303459"/>
                </a:lnTo>
                <a:lnTo>
                  <a:pt x="10030" y="304592"/>
                </a:lnTo>
                <a:lnTo>
                  <a:pt x="9571" y="304923"/>
                </a:lnTo>
                <a:lnTo>
                  <a:pt x="9782" y="305450"/>
                </a:lnTo>
                <a:lnTo>
                  <a:pt x="10432" y="305951"/>
                </a:lnTo>
                <a:lnTo>
                  <a:pt x="10695" y="306640"/>
                </a:lnTo>
                <a:lnTo>
                  <a:pt x="10551" y="306913"/>
                </a:lnTo>
                <a:lnTo>
                  <a:pt x="9767" y="306676"/>
                </a:lnTo>
                <a:lnTo>
                  <a:pt x="9294" y="306850"/>
                </a:lnTo>
                <a:lnTo>
                  <a:pt x="9460" y="307121"/>
                </a:lnTo>
                <a:lnTo>
                  <a:pt x="8733" y="307571"/>
                </a:lnTo>
                <a:lnTo>
                  <a:pt x="8763" y="308013"/>
                </a:lnTo>
                <a:lnTo>
                  <a:pt x="9949" y="309112"/>
                </a:lnTo>
                <a:lnTo>
                  <a:pt x="10666" y="308960"/>
                </a:lnTo>
                <a:lnTo>
                  <a:pt x="11291" y="309267"/>
                </a:lnTo>
                <a:lnTo>
                  <a:pt x="11864" y="309159"/>
                </a:lnTo>
                <a:lnTo>
                  <a:pt x="11701" y="309362"/>
                </a:lnTo>
                <a:lnTo>
                  <a:pt x="11970" y="309563"/>
                </a:lnTo>
                <a:lnTo>
                  <a:pt x="11129" y="310419"/>
                </a:lnTo>
                <a:lnTo>
                  <a:pt x="11675" y="311136"/>
                </a:lnTo>
                <a:lnTo>
                  <a:pt x="12090" y="311322"/>
                </a:lnTo>
                <a:lnTo>
                  <a:pt x="11862" y="311688"/>
                </a:lnTo>
                <a:lnTo>
                  <a:pt x="12013" y="312110"/>
                </a:lnTo>
                <a:lnTo>
                  <a:pt x="13444" y="312837"/>
                </a:lnTo>
                <a:lnTo>
                  <a:pt x="13464" y="314889"/>
                </a:lnTo>
                <a:lnTo>
                  <a:pt x="13122" y="315358"/>
                </a:lnTo>
                <a:lnTo>
                  <a:pt x="14129" y="316645"/>
                </a:lnTo>
                <a:lnTo>
                  <a:pt x="15020" y="316855"/>
                </a:lnTo>
                <a:lnTo>
                  <a:pt x="15637" y="316640"/>
                </a:lnTo>
                <a:lnTo>
                  <a:pt x="16176" y="315197"/>
                </a:lnTo>
                <a:lnTo>
                  <a:pt x="17508" y="314824"/>
                </a:lnTo>
                <a:lnTo>
                  <a:pt x="17815" y="314046"/>
                </a:lnTo>
                <a:lnTo>
                  <a:pt x="18747" y="314040"/>
                </a:lnTo>
                <a:lnTo>
                  <a:pt x="18953" y="313578"/>
                </a:lnTo>
                <a:lnTo>
                  <a:pt x="18504" y="312908"/>
                </a:lnTo>
                <a:lnTo>
                  <a:pt x="18725" y="312417"/>
                </a:lnTo>
                <a:lnTo>
                  <a:pt x="18548" y="312196"/>
                </a:lnTo>
                <a:lnTo>
                  <a:pt x="18837" y="312108"/>
                </a:lnTo>
                <a:lnTo>
                  <a:pt x="18684" y="311955"/>
                </a:lnTo>
                <a:lnTo>
                  <a:pt x="18872" y="311808"/>
                </a:lnTo>
                <a:lnTo>
                  <a:pt x="19830" y="311597"/>
                </a:lnTo>
                <a:lnTo>
                  <a:pt x="21216" y="312630"/>
                </a:lnTo>
                <a:lnTo>
                  <a:pt x="21143" y="314277"/>
                </a:lnTo>
                <a:lnTo>
                  <a:pt x="22330" y="315491"/>
                </a:lnTo>
                <a:lnTo>
                  <a:pt x="22482" y="315886"/>
                </a:lnTo>
                <a:lnTo>
                  <a:pt x="22340" y="316423"/>
                </a:lnTo>
                <a:lnTo>
                  <a:pt x="22760" y="317055"/>
                </a:lnTo>
                <a:lnTo>
                  <a:pt x="23833" y="316952"/>
                </a:lnTo>
                <a:lnTo>
                  <a:pt x="25090" y="317698"/>
                </a:lnTo>
                <a:lnTo>
                  <a:pt x="25377" y="317352"/>
                </a:lnTo>
                <a:lnTo>
                  <a:pt x="25936" y="317289"/>
                </a:lnTo>
                <a:lnTo>
                  <a:pt x="26958" y="317782"/>
                </a:lnTo>
                <a:lnTo>
                  <a:pt x="27900" y="317747"/>
                </a:lnTo>
                <a:lnTo>
                  <a:pt x="27106" y="318456"/>
                </a:lnTo>
                <a:lnTo>
                  <a:pt x="27747" y="319418"/>
                </a:lnTo>
                <a:lnTo>
                  <a:pt x="27185" y="320463"/>
                </a:lnTo>
                <a:lnTo>
                  <a:pt x="27220" y="320876"/>
                </a:lnTo>
                <a:lnTo>
                  <a:pt x="27912" y="321178"/>
                </a:lnTo>
                <a:lnTo>
                  <a:pt x="28884" y="320654"/>
                </a:lnTo>
                <a:lnTo>
                  <a:pt x="29383" y="320943"/>
                </a:lnTo>
                <a:lnTo>
                  <a:pt x="29969" y="320836"/>
                </a:lnTo>
                <a:lnTo>
                  <a:pt x="29980" y="321145"/>
                </a:lnTo>
                <a:lnTo>
                  <a:pt x="30792" y="321759"/>
                </a:lnTo>
                <a:lnTo>
                  <a:pt x="31009" y="322720"/>
                </a:lnTo>
                <a:lnTo>
                  <a:pt x="32002" y="322948"/>
                </a:lnTo>
                <a:lnTo>
                  <a:pt x="32389" y="323595"/>
                </a:lnTo>
                <a:lnTo>
                  <a:pt x="34501" y="325408"/>
                </a:lnTo>
                <a:lnTo>
                  <a:pt x="35000" y="326252"/>
                </a:lnTo>
                <a:lnTo>
                  <a:pt x="34729" y="326337"/>
                </a:lnTo>
                <a:lnTo>
                  <a:pt x="34407" y="326095"/>
                </a:lnTo>
                <a:lnTo>
                  <a:pt x="33975" y="326432"/>
                </a:lnTo>
                <a:lnTo>
                  <a:pt x="34071" y="328026"/>
                </a:lnTo>
                <a:lnTo>
                  <a:pt x="35333" y="328851"/>
                </a:lnTo>
                <a:lnTo>
                  <a:pt x="35896" y="328657"/>
                </a:lnTo>
                <a:lnTo>
                  <a:pt x="35952" y="328276"/>
                </a:lnTo>
                <a:lnTo>
                  <a:pt x="36373" y="328351"/>
                </a:lnTo>
                <a:lnTo>
                  <a:pt x="36710" y="328852"/>
                </a:lnTo>
                <a:lnTo>
                  <a:pt x="37860" y="329390"/>
                </a:lnTo>
                <a:lnTo>
                  <a:pt x="37502" y="329677"/>
                </a:lnTo>
                <a:lnTo>
                  <a:pt x="37997" y="329783"/>
                </a:lnTo>
                <a:lnTo>
                  <a:pt x="38204" y="330969"/>
                </a:lnTo>
                <a:lnTo>
                  <a:pt x="38818" y="331892"/>
                </a:lnTo>
                <a:lnTo>
                  <a:pt x="39908" y="331763"/>
                </a:lnTo>
                <a:lnTo>
                  <a:pt x="41508" y="332036"/>
                </a:lnTo>
                <a:lnTo>
                  <a:pt x="42482" y="333688"/>
                </a:lnTo>
                <a:lnTo>
                  <a:pt x="44770" y="334131"/>
                </a:lnTo>
                <a:lnTo>
                  <a:pt x="45686" y="335289"/>
                </a:lnTo>
                <a:lnTo>
                  <a:pt x="46578" y="335919"/>
                </a:lnTo>
                <a:lnTo>
                  <a:pt x="46829" y="336748"/>
                </a:lnTo>
                <a:lnTo>
                  <a:pt x="46481" y="337327"/>
                </a:lnTo>
                <a:lnTo>
                  <a:pt x="45912" y="337680"/>
                </a:lnTo>
                <a:lnTo>
                  <a:pt x="46234" y="338264"/>
                </a:lnTo>
                <a:lnTo>
                  <a:pt x="45961" y="339121"/>
                </a:lnTo>
                <a:lnTo>
                  <a:pt x="46418" y="339531"/>
                </a:lnTo>
                <a:lnTo>
                  <a:pt x="47879" y="339728"/>
                </a:lnTo>
                <a:lnTo>
                  <a:pt x="48383" y="340950"/>
                </a:lnTo>
                <a:lnTo>
                  <a:pt x="48094" y="341949"/>
                </a:lnTo>
                <a:lnTo>
                  <a:pt x="49704" y="343617"/>
                </a:lnTo>
                <a:lnTo>
                  <a:pt x="49899" y="344112"/>
                </a:lnTo>
                <a:lnTo>
                  <a:pt x="51457" y="345176"/>
                </a:lnTo>
                <a:lnTo>
                  <a:pt x="51715" y="346357"/>
                </a:lnTo>
                <a:lnTo>
                  <a:pt x="52265" y="346559"/>
                </a:lnTo>
                <a:lnTo>
                  <a:pt x="52605" y="346390"/>
                </a:lnTo>
                <a:lnTo>
                  <a:pt x="52923" y="345781"/>
                </a:lnTo>
                <a:lnTo>
                  <a:pt x="53814" y="345102"/>
                </a:lnTo>
                <a:lnTo>
                  <a:pt x="54577" y="344896"/>
                </a:lnTo>
                <a:lnTo>
                  <a:pt x="55288" y="344270"/>
                </a:lnTo>
                <a:lnTo>
                  <a:pt x="59282" y="344605"/>
                </a:lnTo>
                <a:lnTo>
                  <a:pt x="59920" y="345067"/>
                </a:lnTo>
                <a:lnTo>
                  <a:pt x="60179" y="346082"/>
                </a:lnTo>
                <a:lnTo>
                  <a:pt x="61636" y="348015"/>
                </a:lnTo>
                <a:lnTo>
                  <a:pt x="61691" y="348678"/>
                </a:lnTo>
                <a:lnTo>
                  <a:pt x="62157" y="348754"/>
                </a:lnTo>
                <a:lnTo>
                  <a:pt x="63325" y="349653"/>
                </a:lnTo>
                <a:lnTo>
                  <a:pt x="63412" y="350091"/>
                </a:lnTo>
                <a:lnTo>
                  <a:pt x="64854" y="351622"/>
                </a:lnTo>
                <a:lnTo>
                  <a:pt x="64767" y="351962"/>
                </a:lnTo>
                <a:lnTo>
                  <a:pt x="65762" y="353186"/>
                </a:lnTo>
                <a:lnTo>
                  <a:pt x="65514" y="353642"/>
                </a:lnTo>
                <a:lnTo>
                  <a:pt x="65809" y="354320"/>
                </a:lnTo>
                <a:lnTo>
                  <a:pt x="65298" y="354679"/>
                </a:lnTo>
                <a:lnTo>
                  <a:pt x="64947" y="355426"/>
                </a:lnTo>
                <a:lnTo>
                  <a:pt x="65157" y="356290"/>
                </a:lnTo>
                <a:lnTo>
                  <a:pt x="64542" y="356409"/>
                </a:lnTo>
                <a:lnTo>
                  <a:pt x="63822" y="357184"/>
                </a:lnTo>
                <a:lnTo>
                  <a:pt x="64428" y="358694"/>
                </a:lnTo>
                <a:lnTo>
                  <a:pt x="64139" y="359045"/>
                </a:lnTo>
                <a:lnTo>
                  <a:pt x="64143" y="360468"/>
                </a:lnTo>
                <a:lnTo>
                  <a:pt x="63659" y="361076"/>
                </a:lnTo>
                <a:lnTo>
                  <a:pt x="63674" y="362656"/>
                </a:lnTo>
                <a:lnTo>
                  <a:pt x="65057" y="363903"/>
                </a:lnTo>
                <a:lnTo>
                  <a:pt x="65326" y="365070"/>
                </a:lnTo>
                <a:lnTo>
                  <a:pt x="66113" y="365597"/>
                </a:lnTo>
                <a:lnTo>
                  <a:pt x="66862" y="365645"/>
                </a:lnTo>
                <a:lnTo>
                  <a:pt x="68720" y="365118"/>
                </a:lnTo>
                <a:lnTo>
                  <a:pt x="69668" y="365699"/>
                </a:lnTo>
                <a:lnTo>
                  <a:pt x="71459" y="366309"/>
                </a:lnTo>
                <a:lnTo>
                  <a:pt x="72481" y="367033"/>
                </a:lnTo>
                <a:lnTo>
                  <a:pt x="73162" y="368500"/>
                </a:lnTo>
                <a:lnTo>
                  <a:pt x="72493" y="368585"/>
                </a:lnTo>
                <a:lnTo>
                  <a:pt x="72157" y="369674"/>
                </a:lnTo>
                <a:lnTo>
                  <a:pt x="73317" y="370215"/>
                </a:lnTo>
                <a:lnTo>
                  <a:pt x="73694" y="371051"/>
                </a:lnTo>
                <a:lnTo>
                  <a:pt x="74170" y="371314"/>
                </a:lnTo>
                <a:lnTo>
                  <a:pt x="74701" y="373173"/>
                </a:lnTo>
                <a:lnTo>
                  <a:pt x="74218" y="373590"/>
                </a:lnTo>
                <a:lnTo>
                  <a:pt x="73648" y="373500"/>
                </a:lnTo>
                <a:lnTo>
                  <a:pt x="73573" y="374459"/>
                </a:lnTo>
                <a:lnTo>
                  <a:pt x="73901" y="374805"/>
                </a:lnTo>
                <a:lnTo>
                  <a:pt x="74708" y="374865"/>
                </a:lnTo>
                <a:lnTo>
                  <a:pt x="75834" y="375370"/>
                </a:lnTo>
                <a:lnTo>
                  <a:pt x="76540" y="376477"/>
                </a:lnTo>
                <a:lnTo>
                  <a:pt x="76386" y="378079"/>
                </a:lnTo>
                <a:lnTo>
                  <a:pt x="75770" y="378039"/>
                </a:lnTo>
                <a:lnTo>
                  <a:pt x="75912" y="379064"/>
                </a:lnTo>
                <a:lnTo>
                  <a:pt x="76333" y="379564"/>
                </a:lnTo>
                <a:lnTo>
                  <a:pt x="76374" y="380384"/>
                </a:lnTo>
                <a:lnTo>
                  <a:pt x="76764" y="381141"/>
                </a:lnTo>
                <a:lnTo>
                  <a:pt x="76672" y="381530"/>
                </a:lnTo>
                <a:lnTo>
                  <a:pt x="76174" y="381921"/>
                </a:lnTo>
                <a:lnTo>
                  <a:pt x="76218" y="382579"/>
                </a:lnTo>
                <a:lnTo>
                  <a:pt x="75996" y="382825"/>
                </a:lnTo>
                <a:lnTo>
                  <a:pt x="76568" y="383260"/>
                </a:lnTo>
                <a:lnTo>
                  <a:pt x="76423" y="383682"/>
                </a:lnTo>
                <a:lnTo>
                  <a:pt x="77180" y="383992"/>
                </a:lnTo>
                <a:lnTo>
                  <a:pt x="77355" y="384732"/>
                </a:lnTo>
                <a:lnTo>
                  <a:pt x="77792" y="384778"/>
                </a:lnTo>
                <a:lnTo>
                  <a:pt x="77809" y="386116"/>
                </a:lnTo>
                <a:lnTo>
                  <a:pt x="78243" y="387262"/>
                </a:lnTo>
                <a:lnTo>
                  <a:pt x="78193" y="388056"/>
                </a:lnTo>
                <a:lnTo>
                  <a:pt x="76157" y="388733"/>
                </a:lnTo>
                <a:lnTo>
                  <a:pt x="76393" y="389617"/>
                </a:lnTo>
                <a:lnTo>
                  <a:pt x="76105" y="390642"/>
                </a:lnTo>
                <a:lnTo>
                  <a:pt x="76468" y="391793"/>
                </a:lnTo>
                <a:lnTo>
                  <a:pt x="77054" y="392387"/>
                </a:lnTo>
                <a:lnTo>
                  <a:pt x="76947" y="392851"/>
                </a:lnTo>
                <a:lnTo>
                  <a:pt x="76630" y="393026"/>
                </a:lnTo>
                <a:lnTo>
                  <a:pt x="76728" y="393641"/>
                </a:lnTo>
                <a:lnTo>
                  <a:pt x="75160" y="395155"/>
                </a:lnTo>
                <a:lnTo>
                  <a:pt x="75221" y="396506"/>
                </a:lnTo>
                <a:lnTo>
                  <a:pt x="75010" y="396769"/>
                </a:lnTo>
                <a:lnTo>
                  <a:pt x="72708" y="396768"/>
                </a:lnTo>
                <a:lnTo>
                  <a:pt x="72499" y="398292"/>
                </a:lnTo>
                <a:lnTo>
                  <a:pt x="73017" y="399576"/>
                </a:lnTo>
                <a:lnTo>
                  <a:pt x="72625" y="399963"/>
                </a:lnTo>
                <a:lnTo>
                  <a:pt x="71287" y="399990"/>
                </a:lnTo>
                <a:lnTo>
                  <a:pt x="70721" y="400533"/>
                </a:lnTo>
                <a:lnTo>
                  <a:pt x="70039" y="401960"/>
                </a:lnTo>
                <a:lnTo>
                  <a:pt x="69958" y="402628"/>
                </a:lnTo>
                <a:lnTo>
                  <a:pt x="69624" y="402920"/>
                </a:lnTo>
                <a:lnTo>
                  <a:pt x="70087" y="404342"/>
                </a:lnTo>
                <a:lnTo>
                  <a:pt x="69602" y="404424"/>
                </a:lnTo>
                <a:lnTo>
                  <a:pt x="69655" y="404736"/>
                </a:lnTo>
                <a:lnTo>
                  <a:pt x="69222" y="404736"/>
                </a:lnTo>
                <a:lnTo>
                  <a:pt x="68663" y="405373"/>
                </a:lnTo>
                <a:lnTo>
                  <a:pt x="67949" y="405433"/>
                </a:lnTo>
                <a:lnTo>
                  <a:pt x="67784" y="406050"/>
                </a:lnTo>
                <a:lnTo>
                  <a:pt x="67181" y="406124"/>
                </a:lnTo>
                <a:lnTo>
                  <a:pt x="66761" y="405756"/>
                </a:lnTo>
                <a:lnTo>
                  <a:pt x="66320" y="405849"/>
                </a:lnTo>
                <a:lnTo>
                  <a:pt x="65694" y="407169"/>
                </a:lnTo>
                <a:lnTo>
                  <a:pt x="64961" y="407244"/>
                </a:lnTo>
                <a:lnTo>
                  <a:pt x="64443" y="407665"/>
                </a:lnTo>
                <a:lnTo>
                  <a:pt x="64242" y="408228"/>
                </a:lnTo>
                <a:lnTo>
                  <a:pt x="61857" y="407327"/>
                </a:lnTo>
                <a:lnTo>
                  <a:pt x="61057" y="407812"/>
                </a:lnTo>
                <a:lnTo>
                  <a:pt x="60898" y="408407"/>
                </a:lnTo>
                <a:lnTo>
                  <a:pt x="59271" y="408101"/>
                </a:lnTo>
                <a:lnTo>
                  <a:pt x="58966" y="408648"/>
                </a:lnTo>
                <a:lnTo>
                  <a:pt x="58303" y="408861"/>
                </a:lnTo>
                <a:lnTo>
                  <a:pt x="58077" y="409211"/>
                </a:lnTo>
                <a:lnTo>
                  <a:pt x="58592" y="410674"/>
                </a:lnTo>
                <a:lnTo>
                  <a:pt x="57490" y="410820"/>
                </a:lnTo>
                <a:lnTo>
                  <a:pt x="56640" y="410493"/>
                </a:lnTo>
                <a:lnTo>
                  <a:pt x="56282" y="409932"/>
                </a:lnTo>
                <a:lnTo>
                  <a:pt x="55322" y="410451"/>
                </a:lnTo>
                <a:lnTo>
                  <a:pt x="54771" y="410462"/>
                </a:lnTo>
                <a:lnTo>
                  <a:pt x="54288" y="411005"/>
                </a:lnTo>
                <a:lnTo>
                  <a:pt x="54465" y="411602"/>
                </a:lnTo>
                <a:lnTo>
                  <a:pt x="55713" y="413220"/>
                </a:lnTo>
                <a:lnTo>
                  <a:pt x="55792" y="414253"/>
                </a:lnTo>
                <a:lnTo>
                  <a:pt x="56051" y="414345"/>
                </a:lnTo>
                <a:lnTo>
                  <a:pt x="55754" y="415418"/>
                </a:lnTo>
                <a:lnTo>
                  <a:pt x="54970" y="415731"/>
                </a:lnTo>
                <a:lnTo>
                  <a:pt x="54082" y="415374"/>
                </a:lnTo>
                <a:lnTo>
                  <a:pt x="54604" y="416221"/>
                </a:lnTo>
                <a:lnTo>
                  <a:pt x="55407" y="416874"/>
                </a:lnTo>
                <a:lnTo>
                  <a:pt x="55905" y="418101"/>
                </a:lnTo>
                <a:lnTo>
                  <a:pt x="56718" y="418659"/>
                </a:lnTo>
                <a:lnTo>
                  <a:pt x="56606" y="420087"/>
                </a:lnTo>
                <a:lnTo>
                  <a:pt x="55774" y="420635"/>
                </a:lnTo>
                <a:lnTo>
                  <a:pt x="55558" y="421404"/>
                </a:lnTo>
                <a:lnTo>
                  <a:pt x="56813" y="422139"/>
                </a:lnTo>
                <a:lnTo>
                  <a:pt x="57022" y="422796"/>
                </a:lnTo>
                <a:lnTo>
                  <a:pt x="57584" y="422921"/>
                </a:lnTo>
                <a:lnTo>
                  <a:pt x="57664" y="423397"/>
                </a:lnTo>
                <a:lnTo>
                  <a:pt x="58054" y="423565"/>
                </a:lnTo>
                <a:lnTo>
                  <a:pt x="58183" y="424022"/>
                </a:lnTo>
                <a:lnTo>
                  <a:pt x="57342" y="425855"/>
                </a:lnTo>
                <a:lnTo>
                  <a:pt x="56852" y="426114"/>
                </a:lnTo>
                <a:lnTo>
                  <a:pt x="55903" y="426301"/>
                </a:lnTo>
                <a:lnTo>
                  <a:pt x="55251" y="426049"/>
                </a:lnTo>
                <a:lnTo>
                  <a:pt x="54195" y="426363"/>
                </a:lnTo>
                <a:lnTo>
                  <a:pt x="52466" y="426142"/>
                </a:lnTo>
                <a:lnTo>
                  <a:pt x="52491" y="427034"/>
                </a:lnTo>
                <a:lnTo>
                  <a:pt x="53382" y="428814"/>
                </a:lnTo>
                <a:lnTo>
                  <a:pt x="53410" y="430104"/>
                </a:lnTo>
                <a:lnTo>
                  <a:pt x="53088" y="430801"/>
                </a:lnTo>
                <a:lnTo>
                  <a:pt x="53254" y="431309"/>
                </a:lnTo>
                <a:lnTo>
                  <a:pt x="51851" y="432071"/>
                </a:lnTo>
                <a:lnTo>
                  <a:pt x="52431" y="433098"/>
                </a:lnTo>
                <a:lnTo>
                  <a:pt x="51645" y="435490"/>
                </a:lnTo>
                <a:lnTo>
                  <a:pt x="50933" y="435791"/>
                </a:lnTo>
                <a:lnTo>
                  <a:pt x="49780" y="435441"/>
                </a:lnTo>
                <a:lnTo>
                  <a:pt x="49195" y="434786"/>
                </a:lnTo>
                <a:lnTo>
                  <a:pt x="47851" y="435231"/>
                </a:lnTo>
                <a:lnTo>
                  <a:pt x="45746" y="435199"/>
                </a:lnTo>
                <a:lnTo>
                  <a:pt x="45025" y="434717"/>
                </a:lnTo>
                <a:lnTo>
                  <a:pt x="44347" y="435215"/>
                </a:lnTo>
                <a:lnTo>
                  <a:pt x="44220" y="435787"/>
                </a:lnTo>
                <a:lnTo>
                  <a:pt x="43865" y="435543"/>
                </a:lnTo>
                <a:lnTo>
                  <a:pt x="43136" y="435978"/>
                </a:lnTo>
                <a:lnTo>
                  <a:pt x="42586" y="435866"/>
                </a:lnTo>
                <a:lnTo>
                  <a:pt x="42028" y="437059"/>
                </a:lnTo>
                <a:lnTo>
                  <a:pt x="41603" y="437064"/>
                </a:lnTo>
                <a:lnTo>
                  <a:pt x="41176" y="437795"/>
                </a:lnTo>
                <a:lnTo>
                  <a:pt x="39995" y="437760"/>
                </a:lnTo>
                <a:lnTo>
                  <a:pt x="38646" y="439453"/>
                </a:lnTo>
                <a:lnTo>
                  <a:pt x="38200" y="439558"/>
                </a:lnTo>
                <a:lnTo>
                  <a:pt x="37498" y="438981"/>
                </a:lnTo>
                <a:lnTo>
                  <a:pt x="36847" y="440215"/>
                </a:lnTo>
                <a:lnTo>
                  <a:pt x="35886" y="440660"/>
                </a:lnTo>
                <a:lnTo>
                  <a:pt x="34647" y="440276"/>
                </a:lnTo>
                <a:lnTo>
                  <a:pt x="34162" y="441173"/>
                </a:lnTo>
                <a:lnTo>
                  <a:pt x="34658" y="442184"/>
                </a:lnTo>
                <a:lnTo>
                  <a:pt x="34359" y="442551"/>
                </a:lnTo>
                <a:lnTo>
                  <a:pt x="34516" y="442767"/>
                </a:lnTo>
                <a:lnTo>
                  <a:pt x="34411" y="443566"/>
                </a:lnTo>
                <a:lnTo>
                  <a:pt x="33940" y="444239"/>
                </a:lnTo>
                <a:lnTo>
                  <a:pt x="34130" y="445075"/>
                </a:lnTo>
                <a:lnTo>
                  <a:pt x="32711" y="445293"/>
                </a:lnTo>
                <a:lnTo>
                  <a:pt x="32526" y="445885"/>
                </a:lnTo>
                <a:lnTo>
                  <a:pt x="32084" y="446078"/>
                </a:lnTo>
                <a:lnTo>
                  <a:pt x="31894" y="446532"/>
                </a:lnTo>
                <a:lnTo>
                  <a:pt x="32662" y="449338"/>
                </a:lnTo>
                <a:lnTo>
                  <a:pt x="32281" y="449490"/>
                </a:lnTo>
                <a:lnTo>
                  <a:pt x="32397" y="449859"/>
                </a:lnTo>
                <a:lnTo>
                  <a:pt x="31920" y="450084"/>
                </a:lnTo>
                <a:lnTo>
                  <a:pt x="31834" y="450490"/>
                </a:lnTo>
                <a:lnTo>
                  <a:pt x="30435" y="450129"/>
                </a:lnTo>
                <a:lnTo>
                  <a:pt x="30380" y="450901"/>
                </a:lnTo>
                <a:lnTo>
                  <a:pt x="30647" y="451645"/>
                </a:lnTo>
                <a:lnTo>
                  <a:pt x="31021" y="451961"/>
                </a:lnTo>
                <a:lnTo>
                  <a:pt x="30855" y="453365"/>
                </a:lnTo>
                <a:lnTo>
                  <a:pt x="29981" y="453665"/>
                </a:lnTo>
                <a:lnTo>
                  <a:pt x="30089" y="454293"/>
                </a:lnTo>
                <a:lnTo>
                  <a:pt x="29213" y="454139"/>
                </a:lnTo>
                <a:lnTo>
                  <a:pt x="28502" y="454606"/>
                </a:lnTo>
                <a:lnTo>
                  <a:pt x="29512" y="455586"/>
                </a:lnTo>
                <a:lnTo>
                  <a:pt x="29259" y="456115"/>
                </a:lnTo>
                <a:lnTo>
                  <a:pt x="29157" y="458158"/>
                </a:lnTo>
                <a:lnTo>
                  <a:pt x="28497" y="459083"/>
                </a:lnTo>
                <a:lnTo>
                  <a:pt x="28232" y="461028"/>
                </a:lnTo>
                <a:lnTo>
                  <a:pt x="28688" y="461844"/>
                </a:lnTo>
                <a:lnTo>
                  <a:pt x="29420" y="462285"/>
                </a:lnTo>
                <a:lnTo>
                  <a:pt x="28963" y="462922"/>
                </a:lnTo>
                <a:lnTo>
                  <a:pt x="29212" y="464060"/>
                </a:lnTo>
                <a:lnTo>
                  <a:pt x="28784" y="464964"/>
                </a:lnTo>
                <a:lnTo>
                  <a:pt x="27299" y="465186"/>
                </a:lnTo>
                <a:lnTo>
                  <a:pt x="26596" y="466454"/>
                </a:lnTo>
                <a:lnTo>
                  <a:pt x="26077" y="466863"/>
                </a:lnTo>
                <a:lnTo>
                  <a:pt x="25070" y="466974"/>
                </a:lnTo>
                <a:lnTo>
                  <a:pt x="24803" y="467258"/>
                </a:lnTo>
                <a:lnTo>
                  <a:pt x="24989" y="467791"/>
                </a:lnTo>
                <a:lnTo>
                  <a:pt x="25774" y="468033"/>
                </a:lnTo>
                <a:lnTo>
                  <a:pt x="26263" y="468496"/>
                </a:lnTo>
                <a:lnTo>
                  <a:pt x="26821" y="468413"/>
                </a:lnTo>
                <a:lnTo>
                  <a:pt x="29004" y="469523"/>
                </a:lnTo>
                <a:lnTo>
                  <a:pt x="29973" y="469752"/>
                </a:lnTo>
                <a:lnTo>
                  <a:pt x="30030" y="470287"/>
                </a:lnTo>
                <a:lnTo>
                  <a:pt x="30851" y="470951"/>
                </a:lnTo>
                <a:lnTo>
                  <a:pt x="30215" y="472014"/>
                </a:lnTo>
                <a:lnTo>
                  <a:pt x="30230" y="472358"/>
                </a:lnTo>
                <a:lnTo>
                  <a:pt x="30843" y="472664"/>
                </a:lnTo>
                <a:lnTo>
                  <a:pt x="31228" y="473493"/>
                </a:lnTo>
                <a:lnTo>
                  <a:pt x="31985" y="473694"/>
                </a:lnTo>
                <a:lnTo>
                  <a:pt x="32859" y="473373"/>
                </a:lnTo>
                <a:lnTo>
                  <a:pt x="33189" y="473557"/>
                </a:lnTo>
                <a:lnTo>
                  <a:pt x="33054" y="474190"/>
                </a:lnTo>
                <a:lnTo>
                  <a:pt x="33225" y="474999"/>
                </a:lnTo>
                <a:lnTo>
                  <a:pt x="32833" y="475427"/>
                </a:lnTo>
                <a:lnTo>
                  <a:pt x="32871" y="476645"/>
                </a:lnTo>
                <a:lnTo>
                  <a:pt x="32380" y="477092"/>
                </a:lnTo>
                <a:lnTo>
                  <a:pt x="33758" y="478126"/>
                </a:lnTo>
                <a:lnTo>
                  <a:pt x="33900" y="478783"/>
                </a:lnTo>
                <a:lnTo>
                  <a:pt x="32817" y="479590"/>
                </a:lnTo>
                <a:lnTo>
                  <a:pt x="32240" y="479656"/>
                </a:lnTo>
                <a:lnTo>
                  <a:pt x="31847" y="480269"/>
                </a:lnTo>
                <a:lnTo>
                  <a:pt x="30895" y="480093"/>
                </a:lnTo>
                <a:lnTo>
                  <a:pt x="29327" y="480725"/>
                </a:lnTo>
                <a:lnTo>
                  <a:pt x="27644" y="480794"/>
                </a:lnTo>
                <a:lnTo>
                  <a:pt x="27147" y="481235"/>
                </a:lnTo>
                <a:lnTo>
                  <a:pt x="26648" y="481224"/>
                </a:lnTo>
                <a:lnTo>
                  <a:pt x="26108" y="481818"/>
                </a:lnTo>
                <a:lnTo>
                  <a:pt x="25612" y="481597"/>
                </a:lnTo>
                <a:lnTo>
                  <a:pt x="25272" y="481791"/>
                </a:lnTo>
                <a:lnTo>
                  <a:pt x="25247" y="482647"/>
                </a:lnTo>
                <a:lnTo>
                  <a:pt x="24865" y="482958"/>
                </a:lnTo>
                <a:lnTo>
                  <a:pt x="24515" y="484626"/>
                </a:lnTo>
                <a:lnTo>
                  <a:pt x="24219" y="484990"/>
                </a:lnTo>
                <a:lnTo>
                  <a:pt x="24427" y="485323"/>
                </a:lnTo>
                <a:lnTo>
                  <a:pt x="24324" y="486587"/>
                </a:lnTo>
                <a:lnTo>
                  <a:pt x="21636" y="484235"/>
                </a:lnTo>
                <a:lnTo>
                  <a:pt x="19162" y="487241"/>
                </a:lnTo>
                <a:lnTo>
                  <a:pt x="16833" y="488729"/>
                </a:lnTo>
                <a:lnTo>
                  <a:pt x="15948" y="488686"/>
                </a:lnTo>
                <a:lnTo>
                  <a:pt x="15532" y="489130"/>
                </a:lnTo>
                <a:lnTo>
                  <a:pt x="15113" y="488973"/>
                </a:lnTo>
                <a:lnTo>
                  <a:pt x="14431" y="489249"/>
                </a:lnTo>
                <a:lnTo>
                  <a:pt x="14182" y="489499"/>
                </a:lnTo>
                <a:lnTo>
                  <a:pt x="14317" y="490248"/>
                </a:lnTo>
                <a:lnTo>
                  <a:pt x="13796" y="491025"/>
                </a:lnTo>
                <a:lnTo>
                  <a:pt x="12993" y="491319"/>
                </a:lnTo>
                <a:lnTo>
                  <a:pt x="12438" y="490894"/>
                </a:lnTo>
                <a:lnTo>
                  <a:pt x="11636" y="491676"/>
                </a:lnTo>
                <a:lnTo>
                  <a:pt x="15784" y="493644"/>
                </a:lnTo>
                <a:lnTo>
                  <a:pt x="18768" y="498772"/>
                </a:lnTo>
                <a:lnTo>
                  <a:pt x="21797" y="500936"/>
                </a:lnTo>
                <a:lnTo>
                  <a:pt x="24050" y="504540"/>
                </a:lnTo>
                <a:lnTo>
                  <a:pt x="24559" y="507573"/>
                </a:lnTo>
                <a:lnTo>
                  <a:pt x="24815" y="507436"/>
                </a:lnTo>
                <a:lnTo>
                  <a:pt x="25281" y="508087"/>
                </a:lnTo>
                <a:lnTo>
                  <a:pt x="25843" y="507883"/>
                </a:lnTo>
                <a:lnTo>
                  <a:pt x="25459" y="508529"/>
                </a:lnTo>
                <a:lnTo>
                  <a:pt x="25578" y="508941"/>
                </a:lnTo>
                <a:lnTo>
                  <a:pt x="25268" y="508929"/>
                </a:lnTo>
                <a:lnTo>
                  <a:pt x="24889" y="508417"/>
                </a:lnTo>
                <a:lnTo>
                  <a:pt x="24553" y="508925"/>
                </a:lnTo>
                <a:lnTo>
                  <a:pt x="24937" y="509298"/>
                </a:lnTo>
                <a:lnTo>
                  <a:pt x="24870" y="509747"/>
                </a:lnTo>
                <a:lnTo>
                  <a:pt x="25401" y="509572"/>
                </a:lnTo>
                <a:lnTo>
                  <a:pt x="25597" y="509782"/>
                </a:lnTo>
                <a:lnTo>
                  <a:pt x="24914" y="510367"/>
                </a:lnTo>
                <a:lnTo>
                  <a:pt x="25428" y="511647"/>
                </a:lnTo>
                <a:lnTo>
                  <a:pt x="24911" y="512025"/>
                </a:lnTo>
                <a:lnTo>
                  <a:pt x="25160" y="512222"/>
                </a:lnTo>
                <a:lnTo>
                  <a:pt x="24788" y="513313"/>
                </a:lnTo>
                <a:lnTo>
                  <a:pt x="24896" y="513909"/>
                </a:lnTo>
                <a:lnTo>
                  <a:pt x="25225" y="514267"/>
                </a:lnTo>
                <a:lnTo>
                  <a:pt x="24849" y="514819"/>
                </a:lnTo>
                <a:lnTo>
                  <a:pt x="25578" y="515076"/>
                </a:lnTo>
                <a:lnTo>
                  <a:pt x="25393" y="516309"/>
                </a:lnTo>
                <a:lnTo>
                  <a:pt x="25022" y="516556"/>
                </a:lnTo>
                <a:lnTo>
                  <a:pt x="24457" y="516362"/>
                </a:lnTo>
                <a:lnTo>
                  <a:pt x="23954" y="516663"/>
                </a:lnTo>
                <a:lnTo>
                  <a:pt x="24346" y="517301"/>
                </a:lnTo>
                <a:lnTo>
                  <a:pt x="25296" y="517786"/>
                </a:lnTo>
                <a:lnTo>
                  <a:pt x="24824" y="518238"/>
                </a:lnTo>
                <a:lnTo>
                  <a:pt x="24380" y="518023"/>
                </a:lnTo>
                <a:lnTo>
                  <a:pt x="24224" y="519006"/>
                </a:lnTo>
                <a:lnTo>
                  <a:pt x="23837" y="518999"/>
                </a:lnTo>
                <a:lnTo>
                  <a:pt x="23309" y="519591"/>
                </a:lnTo>
                <a:lnTo>
                  <a:pt x="23293" y="520249"/>
                </a:lnTo>
                <a:lnTo>
                  <a:pt x="22923" y="520092"/>
                </a:lnTo>
                <a:lnTo>
                  <a:pt x="22689" y="520369"/>
                </a:lnTo>
                <a:lnTo>
                  <a:pt x="22824" y="520929"/>
                </a:lnTo>
                <a:lnTo>
                  <a:pt x="23665" y="521494"/>
                </a:lnTo>
                <a:lnTo>
                  <a:pt x="24085" y="522563"/>
                </a:lnTo>
                <a:lnTo>
                  <a:pt x="24670" y="522498"/>
                </a:lnTo>
                <a:lnTo>
                  <a:pt x="25314" y="522882"/>
                </a:lnTo>
                <a:lnTo>
                  <a:pt x="25111" y="523242"/>
                </a:lnTo>
                <a:lnTo>
                  <a:pt x="24178" y="523133"/>
                </a:lnTo>
                <a:lnTo>
                  <a:pt x="23697" y="523596"/>
                </a:lnTo>
                <a:lnTo>
                  <a:pt x="23838" y="525651"/>
                </a:lnTo>
                <a:lnTo>
                  <a:pt x="24883" y="525107"/>
                </a:lnTo>
                <a:lnTo>
                  <a:pt x="25135" y="525336"/>
                </a:lnTo>
                <a:lnTo>
                  <a:pt x="25103" y="525752"/>
                </a:lnTo>
                <a:lnTo>
                  <a:pt x="25881" y="526002"/>
                </a:lnTo>
                <a:lnTo>
                  <a:pt x="26572" y="526627"/>
                </a:lnTo>
                <a:lnTo>
                  <a:pt x="26499" y="526890"/>
                </a:lnTo>
                <a:lnTo>
                  <a:pt x="25415" y="527051"/>
                </a:lnTo>
                <a:lnTo>
                  <a:pt x="25148" y="527697"/>
                </a:lnTo>
                <a:lnTo>
                  <a:pt x="25940" y="528092"/>
                </a:lnTo>
                <a:lnTo>
                  <a:pt x="26203" y="528495"/>
                </a:lnTo>
                <a:lnTo>
                  <a:pt x="26077" y="529624"/>
                </a:lnTo>
                <a:lnTo>
                  <a:pt x="25531" y="530406"/>
                </a:lnTo>
                <a:lnTo>
                  <a:pt x="25965" y="530581"/>
                </a:lnTo>
                <a:lnTo>
                  <a:pt x="25863" y="531885"/>
                </a:lnTo>
                <a:lnTo>
                  <a:pt x="26421" y="532217"/>
                </a:lnTo>
                <a:lnTo>
                  <a:pt x="26264" y="532520"/>
                </a:lnTo>
                <a:lnTo>
                  <a:pt x="26728" y="533285"/>
                </a:lnTo>
                <a:lnTo>
                  <a:pt x="26761" y="534092"/>
                </a:lnTo>
                <a:lnTo>
                  <a:pt x="26938" y="534283"/>
                </a:lnTo>
                <a:lnTo>
                  <a:pt x="27472" y="534193"/>
                </a:lnTo>
                <a:lnTo>
                  <a:pt x="28994" y="533454"/>
                </a:lnTo>
                <a:lnTo>
                  <a:pt x="29245" y="534168"/>
                </a:lnTo>
                <a:lnTo>
                  <a:pt x="28938" y="534737"/>
                </a:lnTo>
                <a:lnTo>
                  <a:pt x="29591" y="534789"/>
                </a:lnTo>
                <a:lnTo>
                  <a:pt x="29488" y="534314"/>
                </a:lnTo>
                <a:lnTo>
                  <a:pt x="29683" y="534541"/>
                </a:lnTo>
                <a:lnTo>
                  <a:pt x="30471" y="534631"/>
                </a:lnTo>
                <a:lnTo>
                  <a:pt x="30375" y="535062"/>
                </a:lnTo>
                <a:lnTo>
                  <a:pt x="29765" y="535115"/>
                </a:lnTo>
                <a:lnTo>
                  <a:pt x="29502" y="535378"/>
                </a:lnTo>
                <a:lnTo>
                  <a:pt x="30178" y="535754"/>
                </a:lnTo>
                <a:lnTo>
                  <a:pt x="29917" y="536321"/>
                </a:lnTo>
                <a:lnTo>
                  <a:pt x="30287" y="536023"/>
                </a:lnTo>
                <a:lnTo>
                  <a:pt x="30464" y="536275"/>
                </a:lnTo>
                <a:lnTo>
                  <a:pt x="30180" y="536598"/>
                </a:lnTo>
                <a:lnTo>
                  <a:pt x="29724" y="536333"/>
                </a:lnTo>
                <a:lnTo>
                  <a:pt x="29565" y="536519"/>
                </a:lnTo>
                <a:lnTo>
                  <a:pt x="29708" y="536756"/>
                </a:lnTo>
                <a:lnTo>
                  <a:pt x="29412" y="536828"/>
                </a:lnTo>
                <a:lnTo>
                  <a:pt x="31001" y="537556"/>
                </a:lnTo>
                <a:lnTo>
                  <a:pt x="31949" y="537462"/>
                </a:lnTo>
                <a:lnTo>
                  <a:pt x="32142" y="537794"/>
                </a:lnTo>
                <a:lnTo>
                  <a:pt x="31707" y="537877"/>
                </a:lnTo>
                <a:lnTo>
                  <a:pt x="33836" y="538821"/>
                </a:lnTo>
                <a:lnTo>
                  <a:pt x="39271" y="540454"/>
                </a:lnTo>
                <a:lnTo>
                  <a:pt x="40020" y="541913"/>
                </a:lnTo>
                <a:lnTo>
                  <a:pt x="43009" y="541802"/>
                </a:lnTo>
                <a:lnTo>
                  <a:pt x="40024" y="535912"/>
                </a:lnTo>
                <a:lnTo>
                  <a:pt x="40790" y="535595"/>
                </a:lnTo>
                <a:lnTo>
                  <a:pt x="44244" y="537596"/>
                </a:lnTo>
                <a:lnTo>
                  <a:pt x="49469" y="544542"/>
                </a:lnTo>
                <a:lnTo>
                  <a:pt x="48924" y="546807"/>
                </a:lnTo>
                <a:lnTo>
                  <a:pt x="47889" y="548586"/>
                </a:lnTo>
                <a:lnTo>
                  <a:pt x="48799" y="549845"/>
                </a:lnTo>
                <a:lnTo>
                  <a:pt x="49471" y="554167"/>
                </a:lnTo>
                <a:lnTo>
                  <a:pt x="45607" y="553420"/>
                </a:lnTo>
                <a:lnTo>
                  <a:pt x="46210" y="556584"/>
                </a:lnTo>
                <a:lnTo>
                  <a:pt x="39980" y="557802"/>
                </a:lnTo>
                <a:lnTo>
                  <a:pt x="38469" y="558607"/>
                </a:lnTo>
                <a:lnTo>
                  <a:pt x="38310" y="561172"/>
                </a:lnTo>
                <a:lnTo>
                  <a:pt x="37115" y="560298"/>
                </a:lnTo>
                <a:lnTo>
                  <a:pt x="33997" y="562293"/>
                </a:lnTo>
                <a:lnTo>
                  <a:pt x="34018" y="566796"/>
                </a:lnTo>
                <a:lnTo>
                  <a:pt x="32397" y="570258"/>
                </a:lnTo>
                <a:lnTo>
                  <a:pt x="30704" y="575258"/>
                </a:lnTo>
                <a:lnTo>
                  <a:pt x="26992" y="574242"/>
                </a:lnTo>
                <a:lnTo>
                  <a:pt x="25407" y="577951"/>
                </a:lnTo>
                <a:lnTo>
                  <a:pt x="26075" y="577522"/>
                </a:lnTo>
                <a:lnTo>
                  <a:pt x="26313" y="577632"/>
                </a:lnTo>
                <a:lnTo>
                  <a:pt x="26153" y="577799"/>
                </a:lnTo>
                <a:lnTo>
                  <a:pt x="26384" y="579176"/>
                </a:lnTo>
                <a:lnTo>
                  <a:pt x="27114" y="580151"/>
                </a:lnTo>
                <a:lnTo>
                  <a:pt x="26912" y="580392"/>
                </a:lnTo>
                <a:lnTo>
                  <a:pt x="27011" y="581366"/>
                </a:lnTo>
                <a:lnTo>
                  <a:pt x="27406" y="581515"/>
                </a:lnTo>
                <a:lnTo>
                  <a:pt x="27709" y="581270"/>
                </a:lnTo>
                <a:lnTo>
                  <a:pt x="28270" y="580198"/>
                </a:lnTo>
                <a:lnTo>
                  <a:pt x="27769" y="580275"/>
                </a:lnTo>
                <a:lnTo>
                  <a:pt x="27775" y="579861"/>
                </a:lnTo>
                <a:lnTo>
                  <a:pt x="28061" y="579819"/>
                </a:lnTo>
                <a:lnTo>
                  <a:pt x="28263" y="579352"/>
                </a:lnTo>
                <a:lnTo>
                  <a:pt x="28833" y="579661"/>
                </a:lnTo>
                <a:lnTo>
                  <a:pt x="28991" y="579316"/>
                </a:lnTo>
                <a:lnTo>
                  <a:pt x="28552" y="579018"/>
                </a:lnTo>
                <a:lnTo>
                  <a:pt x="28848" y="578774"/>
                </a:lnTo>
                <a:lnTo>
                  <a:pt x="29962" y="581029"/>
                </a:lnTo>
                <a:lnTo>
                  <a:pt x="28400" y="582004"/>
                </a:lnTo>
                <a:lnTo>
                  <a:pt x="28261" y="582300"/>
                </a:lnTo>
                <a:lnTo>
                  <a:pt x="26787" y="582285"/>
                </a:lnTo>
                <a:lnTo>
                  <a:pt x="21616" y="585170"/>
                </a:lnTo>
                <a:lnTo>
                  <a:pt x="22754" y="586419"/>
                </a:lnTo>
                <a:lnTo>
                  <a:pt x="25784" y="587860"/>
                </a:lnTo>
                <a:lnTo>
                  <a:pt x="24213" y="589389"/>
                </a:lnTo>
                <a:lnTo>
                  <a:pt x="28723" y="590858"/>
                </a:lnTo>
                <a:lnTo>
                  <a:pt x="28681" y="591592"/>
                </a:lnTo>
                <a:lnTo>
                  <a:pt x="29323" y="592686"/>
                </a:lnTo>
                <a:lnTo>
                  <a:pt x="30431" y="591870"/>
                </a:lnTo>
                <a:lnTo>
                  <a:pt x="31072" y="591836"/>
                </a:lnTo>
                <a:lnTo>
                  <a:pt x="31066" y="592281"/>
                </a:lnTo>
                <a:lnTo>
                  <a:pt x="30417" y="592622"/>
                </a:lnTo>
                <a:lnTo>
                  <a:pt x="29956" y="593431"/>
                </a:lnTo>
                <a:lnTo>
                  <a:pt x="30307" y="595198"/>
                </a:lnTo>
                <a:lnTo>
                  <a:pt x="30584" y="595490"/>
                </a:lnTo>
                <a:lnTo>
                  <a:pt x="31875" y="594493"/>
                </a:lnTo>
                <a:lnTo>
                  <a:pt x="32709" y="594457"/>
                </a:lnTo>
                <a:lnTo>
                  <a:pt x="32835" y="594079"/>
                </a:lnTo>
                <a:lnTo>
                  <a:pt x="32418" y="593467"/>
                </a:lnTo>
                <a:lnTo>
                  <a:pt x="32408" y="592859"/>
                </a:lnTo>
                <a:lnTo>
                  <a:pt x="33740" y="592213"/>
                </a:lnTo>
                <a:lnTo>
                  <a:pt x="34644" y="592459"/>
                </a:lnTo>
                <a:lnTo>
                  <a:pt x="35619" y="592022"/>
                </a:lnTo>
                <a:lnTo>
                  <a:pt x="35904" y="592397"/>
                </a:lnTo>
                <a:lnTo>
                  <a:pt x="37056" y="592282"/>
                </a:lnTo>
                <a:lnTo>
                  <a:pt x="41624" y="592707"/>
                </a:lnTo>
                <a:lnTo>
                  <a:pt x="43728" y="595395"/>
                </a:lnTo>
                <a:lnTo>
                  <a:pt x="47354" y="595884"/>
                </a:lnTo>
                <a:lnTo>
                  <a:pt x="49580" y="596889"/>
                </a:lnTo>
                <a:lnTo>
                  <a:pt x="49953" y="596823"/>
                </a:lnTo>
                <a:lnTo>
                  <a:pt x="52966" y="601345"/>
                </a:lnTo>
                <a:lnTo>
                  <a:pt x="56909" y="597848"/>
                </a:lnTo>
                <a:lnTo>
                  <a:pt x="58669" y="598112"/>
                </a:lnTo>
                <a:lnTo>
                  <a:pt x="60946" y="596491"/>
                </a:lnTo>
                <a:lnTo>
                  <a:pt x="66736" y="596683"/>
                </a:lnTo>
                <a:lnTo>
                  <a:pt x="70407" y="594448"/>
                </a:lnTo>
                <a:lnTo>
                  <a:pt x="76535" y="593765"/>
                </a:lnTo>
                <a:lnTo>
                  <a:pt x="78017" y="597528"/>
                </a:lnTo>
                <a:lnTo>
                  <a:pt x="84430" y="600185"/>
                </a:lnTo>
                <a:lnTo>
                  <a:pt x="84565" y="600078"/>
                </a:lnTo>
                <a:lnTo>
                  <a:pt x="84417" y="600476"/>
                </a:lnTo>
                <a:lnTo>
                  <a:pt x="85698" y="599949"/>
                </a:lnTo>
                <a:lnTo>
                  <a:pt x="86678" y="600792"/>
                </a:lnTo>
                <a:lnTo>
                  <a:pt x="87524" y="602193"/>
                </a:lnTo>
                <a:lnTo>
                  <a:pt x="87600" y="605164"/>
                </a:lnTo>
                <a:lnTo>
                  <a:pt x="88090" y="605777"/>
                </a:lnTo>
                <a:lnTo>
                  <a:pt x="89607" y="605439"/>
                </a:lnTo>
                <a:lnTo>
                  <a:pt x="90003" y="605604"/>
                </a:lnTo>
                <a:lnTo>
                  <a:pt x="90164" y="605415"/>
                </a:lnTo>
                <a:lnTo>
                  <a:pt x="90527" y="605784"/>
                </a:lnTo>
                <a:lnTo>
                  <a:pt x="90972" y="605739"/>
                </a:lnTo>
                <a:lnTo>
                  <a:pt x="93047" y="605107"/>
                </a:lnTo>
                <a:lnTo>
                  <a:pt x="93261" y="605424"/>
                </a:lnTo>
                <a:lnTo>
                  <a:pt x="93349" y="605104"/>
                </a:lnTo>
                <a:lnTo>
                  <a:pt x="94968" y="605163"/>
                </a:lnTo>
                <a:lnTo>
                  <a:pt x="95042" y="605434"/>
                </a:lnTo>
                <a:lnTo>
                  <a:pt x="95342" y="605517"/>
                </a:lnTo>
                <a:lnTo>
                  <a:pt x="96170" y="604712"/>
                </a:lnTo>
                <a:lnTo>
                  <a:pt x="97581" y="604076"/>
                </a:lnTo>
                <a:lnTo>
                  <a:pt x="98288" y="603326"/>
                </a:lnTo>
                <a:lnTo>
                  <a:pt x="98221" y="603105"/>
                </a:lnTo>
                <a:lnTo>
                  <a:pt x="98554" y="602987"/>
                </a:lnTo>
                <a:lnTo>
                  <a:pt x="98934" y="603368"/>
                </a:lnTo>
                <a:lnTo>
                  <a:pt x="98877" y="603720"/>
                </a:lnTo>
                <a:lnTo>
                  <a:pt x="100286" y="604727"/>
                </a:lnTo>
                <a:lnTo>
                  <a:pt x="100234" y="605116"/>
                </a:lnTo>
                <a:lnTo>
                  <a:pt x="99742" y="605351"/>
                </a:lnTo>
                <a:lnTo>
                  <a:pt x="99779" y="605651"/>
                </a:lnTo>
                <a:lnTo>
                  <a:pt x="100299" y="606139"/>
                </a:lnTo>
                <a:lnTo>
                  <a:pt x="100925" y="605835"/>
                </a:lnTo>
                <a:lnTo>
                  <a:pt x="101179" y="606046"/>
                </a:lnTo>
                <a:lnTo>
                  <a:pt x="101196" y="607388"/>
                </a:lnTo>
                <a:lnTo>
                  <a:pt x="101501" y="607557"/>
                </a:lnTo>
                <a:lnTo>
                  <a:pt x="102027" y="608969"/>
                </a:lnTo>
                <a:lnTo>
                  <a:pt x="102604" y="608612"/>
                </a:lnTo>
                <a:lnTo>
                  <a:pt x="103024" y="608926"/>
                </a:lnTo>
                <a:lnTo>
                  <a:pt x="104047" y="608890"/>
                </a:lnTo>
                <a:lnTo>
                  <a:pt x="104723" y="609579"/>
                </a:lnTo>
                <a:lnTo>
                  <a:pt x="106567" y="609515"/>
                </a:lnTo>
                <a:lnTo>
                  <a:pt x="106752" y="609788"/>
                </a:lnTo>
                <a:lnTo>
                  <a:pt x="105950" y="610847"/>
                </a:lnTo>
                <a:lnTo>
                  <a:pt x="106575" y="611480"/>
                </a:lnTo>
                <a:lnTo>
                  <a:pt x="107225" y="611195"/>
                </a:lnTo>
                <a:lnTo>
                  <a:pt x="107455" y="611373"/>
                </a:lnTo>
                <a:lnTo>
                  <a:pt x="107500" y="611591"/>
                </a:lnTo>
                <a:lnTo>
                  <a:pt x="107194" y="611822"/>
                </a:lnTo>
                <a:lnTo>
                  <a:pt x="107418" y="612124"/>
                </a:lnTo>
                <a:lnTo>
                  <a:pt x="107957" y="612054"/>
                </a:lnTo>
                <a:lnTo>
                  <a:pt x="108710" y="611556"/>
                </a:lnTo>
                <a:lnTo>
                  <a:pt x="108870" y="611071"/>
                </a:lnTo>
                <a:lnTo>
                  <a:pt x="108720" y="610451"/>
                </a:lnTo>
                <a:lnTo>
                  <a:pt x="109198" y="609566"/>
                </a:lnTo>
                <a:lnTo>
                  <a:pt x="109559" y="610173"/>
                </a:lnTo>
                <a:lnTo>
                  <a:pt x="109682" y="611329"/>
                </a:lnTo>
                <a:lnTo>
                  <a:pt x="110019" y="611577"/>
                </a:lnTo>
                <a:lnTo>
                  <a:pt x="111633" y="611544"/>
                </a:lnTo>
                <a:lnTo>
                  <a:pt x="111769" y="611174"/>
                </a:lnTo>
                <a:lnTo>
                  <a:pt x="111364" y="610607"/>
                </a:lnTo>
                <a:lnTo>
                  <a:pt x="111840" y="610519"/>
                </a:lnTo>
                <a:lnTo>
                  <a:pt x="111942" y="609436"/>
                </a:lnTo>
                <a:lnTo>
                  <a:pt x="113832" y="610280"/>
                </a:lnTo>
                <a:lnTo>
                  <a:pt x="112916" y="608816"/>
                </a:lnTo>
                <a:lnTo>
                  <a:pt x="112768" y="608193"/>
                </a:lnTo>
                <a:lnTo>
                  <a:pt x="113186" y="607889"/>
                </a:lnTo>
                <a:lnTo>
                  <a:pt x="113870" y="608055"/>
                </a:lnTo>
                <a:lnTo>
                  <a:pt x="113864" y="608462"/>
                </a:lnTo>
                <a:lnTo>
                  <a:pt x="115297" y="609439"/>
                </a:lnTo>
                <a:lnTo>
                  <a:pt x="115820" y="610186"/>
                </a:lnTo>
                <a:lnTo>
                  <a:pt x="116616" y="609363"/>
                </a:lnTo>
                <a:lnTo>
                  <a:pt x="116514" y="608842"/>
                </a:lnTo>
                <a:lnTo>
                  <a:pt x="117105" y="608575"/>
                </a:lnTo>
                <a:lnTo>
                  <a:pt x="117647" y="608752"/>
                </a:lnTo>
                <a:lnTo>
                  <a:pt x="117967" y="609113"/>
                </a:lnTo>
                <a:lnTo>
                  <a:pt x="117815" y="609924"/>
                </a:lnTo>
                <a:lnTo>
                  <a:pt x="116643" y="611121"/>
                </a:lnTo>
                <a:lnTo>
                  <a:pt x="116282" y="611215"/>
                </a:lnTo>
                <a:lnTo>
                  <a:pt x="116275" y="612507"/>
                </a:lnTo>
                <a:lnTo>
                  <a:pt x="116712" y="613574"/>
                </a:lnTo>
                <a:lnTo>
                  <a:pt x="117566" y="613917"/>
                </a:lnTo>
                <a:lnTo>
                  <a:pt x="118254" y="612668"/>
                </a:lnTo>
                <a:lnTo>
                  <a:pt x="119165" y="612230"/>
                </a:lnTo>
                <a:lnTo>
                  <a:pt x="119476" y="612657"/>
                </a:lnTo>
                <a:lnTo>
                  <a:pt x="118980" y="613472"/>
                </a:lnTo>
                <a:lnTo>
                  <a:pt x="118975" y="614473"/>
                </a:lnTo>
                <a:lnTo>
                  <a:pt x="119866" y="614570"/>
                </a:lnTo>
                <a:lnTo>
                  <a:pt x="120211" y="615100"/>
                </a:lnTo>
                <a:lnTo>
                  <a:pt x="119628" y="615508"/>
                </a:lnTo>
                <a:lnTo>
                  <a:pt x="119643" y="616013"/>
                </a:lnTo>
                <a:lnTo>
                  <a:pt x="120130" y="615818"/>
                </a:lnTo>
                <a:lnTo>
                  <a:pt x="121336" y="616090"/>
                </a:lnTo>
                <a:lnTo>
                  <a:pt x="121763" y="614965"/>
                </a:lnTo>
                <a:lnTo>
                  <a:pt x="122166" y="614937"/>
                </a:lnTo>
                <a:lnTo>
                  <a:pt x="122638" y="616937"/>
                </a:lnTo>
                <a:lnTo>
                  <a:pt x="122572" y="617524"/>
                </a:lnTo>
                <a:lnTo>
                  <a:pt x="121998" y="618456"/>
                </a:lnTo>
                <a:lnTo>
                  <a:pt x="122548" y="619017"/>
                </a:lnTo>
                <a:lnTo>
                  <a:pt x="123632" y="618237"/>
                </a:lnTo>
                <a:lnTo>
                  <a:pt x="124228" y="618415"/>
                </a:lnTo>
                <a:lnTo>
                  <a:pt x="125285" y="618036"/>
                </a:lnTo>
                <a:lnTo>
                  <a:pt x="125551" y="618679"/>
                </a:lnTo>
                <a:lnTo>
                  <a:pt x="126002" y="618613"/>
                </a:lnTo>
                <a:lnTo>
                  <a:pt x="126724" y="619289"/>
                </a:lnTo>
                <a:lnTo>
                  <a:pt x="127340" y="618837"/>
                </a:lnTo>
                <a:lnTo>
                  <a:pt x="128210" y="618837"/>
                </a:lnTo>
                <a:lnTo>
                  <a:pt x="128705" y="620012"/>
                </a:lnTo>
                <a:lnTo>
                  <a:pt x="128622" y="620488"/>
                </a:lnTo>
                <a:lnTo>
                  <a:pt x="127540" y="620668"/>
                </a:lnTo>
                <a:lnTo>
                  <a:pt x="127192" y="620990"/>
                </a:lnTo>
                <a:lnTo>
                  <a:pt x="127184" y="622946"/>
                </a:lnTo>
                <a:lnTo>
                  <a:pt x="128692" y="621334"/>
                </a:lnTo>
                <a:lnTo>
                  <a:pt x="129671" y="621562"/>
                </a:lnTo>
                <a:lnTo>
                  <a:pt x="130702" y="620767"/>
                </a:lnTo>
                <a:lnTo>
                  <a:pt x="131183" y="620937"/>
                </a:lnTo>
                <a:lnTo>
                  <a:pt x="131327" y="621497"/>
                </a:lnTo>
                <a:lnTo>
                  <a:pt x="130421" y="622459"/>
                </a:lnTo>
                <a:lnTo>
                  <a:pt x="130375" y="623080"/>
                </a:lnTo>
                <a:lnTo>
                  <a:pt x="129838" y="624252"/>
                </a:lnTo>
                <a:lnTo>
                  <a:pt x="130029" y="625264"/>
                </a:lnTo>
                <a:lnTo>
                  <a:pt x="132023" y="623974"/>
                </a:lnTo>
                <a:lnTo>
                  <a:pt x="132450" y="624641"/>
                </a:lnTo>
                <a:lnTo>
                  <a:pt x="132770" y="624713"/>
                </a:lnTo>
                <a:lnTo>
                  <a:pt x="133038" y="624403"/>
                </a:lnTo>
                <a:lnTo>
                  <a:pt x="133154" y="622587"/>
                </a:lnTo>
                <a:lnTo>
                  <a:pt x="132798" y="621651"/>
                </a:lnTo>
                <a:lnTo>
                  <a:pt x="132134" y="620946"/>
                </a:lnTo>
                <a:lnTo>
                  <a:pt x="132262" y="620609"/>
                </a:lnTo>
                <a:lnTo>
                  <a:pt x="133904" y="620643"/>
                </a:lnTo>
                <a:lnTo>
                  <a:pt x="135975" y="621135"/>
                </a:lnTo>
                <a:lnTo>
                  <a:pt x="136225" y="621729"/>
                </a:lnTo>
                <a:lnTo>
                  <a:pt x="136023" y="622788"/>
                </a:lnTo>
                <a:lnTo>
                  <a:pt x="136638" y="623764"/>
                </a:lnTo>
                <a:lnTo>
                  <a:pt x="136646" y="624219"/>
                </a:lnTo>
                <a:lnTo>
                  <a:pt x="134600" y="624503"/>
                </a:lnTo>
                <a:lnTo>
                  <a:pt x="133497" y="625850"/>
                </a:lnTo>
                <a:lnTo>
                  <a:pt x="133318" y="626864"/>
                </a:lnTo>
                <a:lnTo>
                  <a:pt x="134035" y="627256"/>
                </a:lnTo>
                <a:lnTo>
                  <a:pt x="135067" y="627396"/>
                </a:lnTo>
                <a:lnTo>
                  <a:pt x="136682" y="627165"/>
                </a:lnTo>
                <a:lnTo>
                  <a:pt x="137956" y="627261"/>
                </a:lnTo>
                <a:lnTo>
                  <a:pt x="138353" y="626985"/>
                </a:lnTo>
                <a:lnTo>
                  <a:pt x="138368" y="626553"/>
                </a:lnTo>
                <a:lnTo>
                  <a:pt x="138929" y="626346"/>
                </a:lnTo>
                <a:lnTo>
                  <a:pt x="139115" y="627058"/>
                </a:lnTo>
                <a:lnTo>
                  <a:pt x="138147" y="627686"/>
                </a:lnTo>
                <a:lnTo>
                  <a:pt x="137986" y="628689"/>
                </a:lnTo>
                <a:lnTo>
                  <a:pt x="138515" y="629029"/>
                </a:lnTo>
                <a:lnTo>
                  <a:pt x="138100" y="629981"/>
                </a:lnTo>
                <a:lnTo>
                  <a:pt x="137552" y="629914"/>
                </a:lnTo>
                <a:lnTo>
                  <a:pt x="136940" y="629349"/>
                </a:lnTo>
                <a:lnTo>
                  <a:pt x="136777" y="629578"/>
                </a:lnTo>
                <a:lnTo>
                  <a:pt x="136940" y="630298"/>
                </a:lnTo>
                <a:lnTo>
                  <a:pt x="137615" y="631132"/>
                </a:lnTo>
                <a:lnTo>
                  <a:pt x="138390" y="631493"/>
                </a:lnTo>
                <a:lnTo>
                  <a:pt x="138959" y="632122"/>
                </a:lnTo>
                <a:lnTo>
                  <a:pt x="139673" y="632053"/>
                </a:lnTo>
                <a:lnTo>
                  <a:pt x="140169" y="631678"/>
                </a:lnTo>
                <a:lnTo>
                  <a:pt x="141046" y="632206"/>
                </a:lnTo>
                <a:lnTo>
                  <a:pt x="141589" y="631914"/>
                </a:lnTo>
                <a:lnTo>
                  <a:pt x="142498" y="632209"/>
                </a:lnTo>
                <a:lnTo>
                  <a:pt x="142739" y="630673"/>
                </a:lnTo>
                <a:lnTo>
                  <a:pt x="143069" y="630387"/>
                </a:lnTo>
                <a:lnTo>
                  <a:pt x="143624" y="630362"/>
                </a:lnTo>
                <a:lnTo>
                  <a:pt x="144092" y="630806"/>
                </a:lnTo>
                <a:lnTo>
                  <a:pt x="144150" y="631413"/>
                </a:lnTo>
                <a:lnTo>
                  <a:pt x="143381" y="633007"/>
                </a:lnTo>
                <a:lnTo>
                  <a:pt x="143762" y="633190"/>
                </a:lnTo>
                <a:lnTo>
                  <a:pt x="144682" y="632643"/>
                </a:lnTo>
                <a:lnTo>
                  <a:pt x="145464" y="632624"/>
                </a:lnTo>
                <a:lnTo>
                  <a:pt x="145474" y="633951"/>
                </a:lnTo>
                <a:lnTo>
                  <a:pt x="145013" y="634824"/>
                </a:lnTo>
                <a:lnTo>
                  <a:pt x="145354" y="635451"/>
                </a:lnTo>
                <a:lnTo>
                  <a:pt x="145767" y="635442"/>
                </a:lnTo>
                <a:lnTo>
                  <a:pt x="145890" y="634186"/>
                </a:lnTo>
                <a:lnTo>
                  <a:pt x="147424" y="633910"/>
                </a:lnTo>
                <a:lnTo>
                  <a:pt x="147801" y="633600"/>
                </a:lnTo>
                <a:lnTo>
                  <a:pt x="148739" y="634194"/>
                </a:lnTo>
                <a:lnTo>
                  <a:pt x="149748" y="634065"/>
                </a:lnTo>
                <a:lnTo>
                  <a:pt x="150385" y="634366"/>
                </a:lnTo>
                <a:lnTo>
                  <a:pt x="150988" y="634321"/>
                </a:lnTo>
                <a:lnTo>
                  <a:pt x="151601" y="634945"/>
                </a:lnTo>
                <a:lnTo>
                  <a:pt x="152058" y="634942"/>
                </a:lnTo>
                <a:lnTo>
                  <a:pt x="152585" y="635750"/>
                </a:lnTo>
                <a:lnTo>
                  <a:pt x="152362" y="637251"/>
                </a:lnTo>
                <a:lnTo>
                  <a:pt x="153555" y="637324"/>
                </a:lnTo>
                <a:lnTo>
                  <a:pt x="153713" y="636976"/>
                </a:lnTo>
                <a:lnTo>
                  <a:pt x="154345" y="637070"/>
                </a:lnTo>
                <a:lnTo>
                  <a:pt x="155382" y="636833"/>
                </a:lnTo>
                <a:lnTo>
                  <a:pt x="155408" y="637258"/>
                </a:lnTo>
                <a:lnTo>
                  <a:pt x="155028" y="637844"/>
                </a:lnTo>
                <a:lnTo>
                  <a:pt x="155031" y="639356"/>
                </a:lnTo>
                <a:lnTo>
                  <a:pt x="154366" y="638745"/>
                </a:lnTo>
                <a:lnTo>
                  <a:pt x="152421" y="638053"/>
                </a:lnTo>
                <a:lnTo>
                  <a:pt x="151935" y="638122"/>
                </a:lnTo>
                <a:lnTo>
                  <a:pt x="151888" y="638660"/>
                </a:lnTo>
                <a:lnTo>
                  <a:pt x="152432" y="639287"/>
                </a:lnTo>
                <a:lnTo>
                  <a:pt x="152564" y="639909"/>
                </a:lnTo>
                <a:lnTo>
                  <a:pt x="153275" y="640385"/>
                </a:lnTo>
                <a:lnTo>
                  <a:pt x="154731" y="640143"/>
                </a:lnTo>
                <a:lnTo>
                  <a:pt x="155699" y="640471"/>
                </a:lnTo>
                <a:lnTo>
                  <a:pt x="157196" y="640504"/>
                </a:lnTo>
                <a:lnTo>
                  <a:pt x="157972" y="641057"/>
                </a:lnTo>
                <a:lnTo>
                  <a:pt x="158586" y="641141"/>
                </a:lnTo>
                <a:lnTo>
                  <a:pt x="158786" y="641636"/>
                </a:lnTo>
                <a:lnTo>
                  <a:pt x="157667" y="643105"/>
                </a:lnTo>
                <a:lnTo>
                  <a:pt x="159465" y="644051"/>
                </a:lnTo>
                <a:lnTo>
                  <a:pt x="158478" y="644696"/>
                </a:lnTo>
                <a:lnTo>
                  <a:pt x="160186" y="644626"/>
                </a:lnTo>
                <a:lnTo>
                  <a:pt x="160706" y="645026"/>
                </a:lnTo>
                <a:lnTo>
                  <a:pt x="161106" y="646113"/>
                </a:lnTo>
                <a:lnTo>
                  <a:pt x="162018" y="646850"/>
                </a:lnTo>
                <a:lnTo>
                  <a:pt x="161484" y="647567"/>
                </a:lnTo>
                <a:lnTo>
                  <a:pt x="161937" y="648249"/>
                </a:lnTo>
                <a:lnTo>
                  <a:pt x="161928" y="648703"/>
                </a:lnTo>
                <a:lnTo>
                  <a:pt x="161649" y="649261"/>
                </a:lnTo>
                <a:lnTo>
                  <a:pt x="161177" y="649255"/>
                </a:lnTo>
                <a:lnTo>
                  <a:pt x="160678" y="649730"/>
                </a:lnTo>
                <a:lnTo>
                  <a:pt x="161032" y="651418"/>
                </a:lnTo>
                <a:lnTo>
                  <a:pt x="160741" y="651954"/>
                </a:lnTo>
                <a:lnTo>
                  <a:pt x="160112" y="652211"/>
                </a:lnTo>
                <a:lnTo>
                  <a:pt x="160012" y="653427"/>
                </a:lnTo>
                <a:lnTo>
                  <a:pt x="160911" y="653891"/>
                </a:lnTo>
                <a:lnTo>
                  <a:pt x="161776" y="654721"/>
                </a:lnTo>
                <a:lnTo>
                  <a:pt x="162788" y="655030"/>
                </a:lnTo>
                <a:lnTo>
                  <a:pt x="162945" y="655526"/>
                </a:lnTo>
                <a:lnTo>
                  <a:pt x="162257" y="657015"/>
                </a:lnTo>
                <a:lnTo>
                  <a:pt x="160752" y="657257"/>
                </a:lnTo>
                <a:lnTo>
                  <a:pt x="160623" y="658760"/>
                </a:lnTo>
                <a:lnTo>
                  <a:pt x="161202" y="659059"/>
                </a:lnTo>
                <a:lnTo>
                  <a:pt x="161392" y="659746"/>
                </a:lnTo>
                <a:lnTo>
                  <a:pt x="161049" y="660187"/>
                </a:lnTo>
                <a:lnTo>
                  <a:pt x="159870" y="660445"/>
                </a:lnTo>
                <a:lnTo>
                  <a:pt x="159756" y="660702"/>
                </a:lnTo>
                <a:lnTo>
                  <a:pt x="160339" y="661554"/>
                </a:lnTo>
                <a:lnTo>
                  <a:pt x="160374" y="662966"/>
                </a:lnTo>
                <a:lnTo>
                  <a:pt x="160695" y="662937"/>
                </a:lnTo>
                <a:lnTo>
                  <a:pt x="161614" y="661866"/>
                </a:lnTo>
                <a:lnTo>
                  <a:pt x="162435" y="663005"/>
                </a:lnTo>
                <a:lnTo>
                  <a:pt x="163461" y="663481"/>
                </a:lnTo>
                <a:lnTo>
                  <a:pt x="164400" y="663576"/>
                </a:lnTo>
                <a:lnTo>
                  <a:pt x="163934" y="665739"/>
                </a:lnTo>
                <a:lnTo>
                  <a:pt x="163284" y="666781"/>
                </a:lnTo>
                <a:lnTo>
                  <a:pt x="163262" y="667460"/>
                </a:lnTo>
                <a:lnTo>
                  <a:pt x="164075" y="669115"/>
                </a:lnTo>
                <a:lnTo>
                  <a:pt x="164866" y="670075"/>
                </a:lnTo>
                <a:lnTo>
                  <a:pt x="166552" y="670728"/>
                </a:lnTo>
                <a:lnTo>
                  <a:pt x="167192" y="671915"/>
                </a:lnTo>
                <a:lnTo>
                  <a:pt x="167210" y="672727"/>
                </a:lnTo>
                <a:close/>
              </a:path>
            </a:pathLst>
          </a:custGeom>
          <a:solidFill>
            <a:srgbClr val="3D619D"/>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Freeform 23"/>
          <p:cNvSpPr/>
          <p:nvPr/>
        </p:nvSpPr>
        <p:spPr>
          <a:xfrm>
            <a:off x="4034345" y="3019923"/>
            <a:ext cx="809517" cy="529099"/>
          </a:xfrm>
          <a:custGeom>
            <a:avLst/>
            <a:gdLst/>
            <a:ahLst/>
            <a:cxnLst/>
            <a:rect l="l" t="t" r="r" b="b"/>
            <a:pathLst>
              <a:path w="809517" h="529099">
                <a:moveTo>
                  <a:pt x="326664" y="479091"/>
                </a:moveTo>
                <a:lnTo>
                  <a:pt x="326444" y="474257"/>
                </a:lnTo>
                <a:lnTo>
                  <a:pt x="324374" y="475053"/>
                </a:lnTo>
                <a:lnTo>
                  <a:pt x="324480" y="476630"/>
                </a:lnTo>
                <a:lnTo>
                  <a:pt x="318671" y="478091"/>
                </a:lnTo>
                <a:lnTo>
                  <a:pt x="318559" y="478748"/>
                </a:lnTo>
                <a:lnTo>
                  <a:pt x="309807" y="480022"/>
                </a:lnTo>
                <a:lnTo>
                  <a:pt x="309046" y="482791"/>
                </a:lnTo>
                <a:lnTo>
                  <a:pt x="303951" y="484550"/>
                </a:lnTo>
                <a:lnTo>
                  <a:pt x="298577" y="487526"/>
                </a:lnTo>
                <a:lnTo>
                  <a:pt x="287595" y="489066"/>
                </a:lnTo>
                <a:lnTo>
                  <a:pt x="291168" y="487810"/>
                </a:lnTo>
                <a:lnTo>
                  <a:pt x="288592" y="481174"/>
                </a:lnTo>
                <a:lnTo>
                  <a:pt x="286790" y="479688"/>
                </a:lnTo>
                <a:lnTo>
                  <a:pt x="289938" y="478584"/>
                </a:lnTo>
                <a:lnTo>
                  <a:pt x="296245" y="475777"/>
                </a:lnTo>
                <a:lnTo>
                  <a:pt x="296738" y="476902"/>
                </a:lnTo>
                <a:lnTo>
                  <a:pt x="303872" y="476491"/>
                </a:lnTo>
                <a:lnTo>
                  <a:pt x="300958" y="469555"/>
                </a:lnTo>
                <a:lnTo>
                  <a:pt x="320539" y="467198"/>
                </a:lnTo>
                <a:lnTo>
                  <a:pt x="320976" y="465526"/>
                </a:lnTo>
                <a:lnTo>
                  <a:pt x="324613" y="465389"/>
                </a:lnTo>
                <a:lnTo>
                  <a:pt x="320738" y="456429"/>
                </a:lnTo>
                <a:lnTo>
                  <a:pt x="324954" y="453513"/>
                </a:lnTo>
                <a:lnTo>
                  <a:pt x="328690" y="451681"/>
                </a:lnTo>
                <a:lnTo>
                  <a:pt x="336836" y="448991"/>
                </a:lnTo>
                <a:lnTo>
                  <a:pt x="343754" y="442441"/>
                </a:lnTo>
                <a:lnTo>
                  <a:pt x="355151" y="443615"/>
                </a:lnTo>
                <a:lnTo>
                  <a:pt x="356368" y="446438"/>
                </a:lnTo>
                <a:lnTo>
                  <a:pt x="367930" y="441767"/>
                </a:lnTo>
                <a:lnTo>
                  <a:pt x="369694" y="445267"/>
                </a:lnTo>
                <a:lnTo>
                  <a:pt x="370329" y="447029"/>
                </a:lnTo>
                <a:lnTo>
                  <a:pt x="362860" y="450260"/>
                </a:lnTo>
                <a:lnTo>
                  <a:pt x="365221" y="456791"/>
                </a:lnTo>
                <a:lnTo>
                  <a:pt x="364617" y="456842"/>
                </a:lnTo>
                <a:lnTo>
                  <a:pt x="365289" y="458661"/>
                </a:lnTo>
                <a:lnTo>
                  <a:pt x="368933" y="457660"/>
                </a:lnTo>
                <a:lnTo>
                  <a:pt x="370482" y="460460"/>
                </a:lnTo>
                <a:lnTo>
                  <a:pt x="373895" y="469149"/>
                </a:lnTo>
                <a:lnTo>
                  <a:pt x="374448" y="468932"/>
                </a:lnTo>
                <a:lnTo>
                  <a:pt x="374571" y="469279"/>
                </a:lnTo>
                <a:lnTo>
                  <a:pt x="380876" y="466959"/>
                </a:lnTo>
                <a:lnTo>
                  <a:pt x="388395" y="468955"/>
                </a:lnTo>
                <a:lnTo>
                  <a:pt x="390447" y="472790"/>
                </a:lnTo>
                <a:lnTo>
                  <a:pt x="391104" y="473300"/>
                </a:lnTo>
                <a:lnTo>
                  <a:pt x="390285" y="474221"/>
                </a:lnTo>
                <a:lnTo>
                  <a:pt x="390737" y="475191"/>
                </a:lnTo>
                <a:lnTo>
                  <a:pt x="391191" y="474658"/>
                </a:lnTo>
                <a:lnTo>
                  <a:pt x="391611" y="475159"/>
                </a:lnTo>
                <a:lnTo>
                  <a:pt x="392163" y="474704"/>
                </a:lnTo>
                <a:lnTo>
                  <a:pt x="392690" y="475123"/>
                </a:lnTo>
                <a:lnTo>
                  <a:pt x="393311" y="474779"/>
                </a:lnTo>
                <a:lnTo>
                  <a:pt x="396547" y="476938"/>
                </a:lnTo>
                <a:lnTo>
                  <a:pt x="390327" y="480475"/>
                </a:lnTo>
                <a:lnTo>
                  <a:pt x="390688" y="482407"/>
                </a:lnTo>
                <a:lnTo>
                  <a:pt x="383820" y="480857"/>
                </a:lnTo>
                <a:lnTo>
                  <a:pt x="383792" y="490790"/>
                </a:lnTo>
                <a:lnTo>
                  <a:pt x="381587" y="498544"/>
                </a:lnTo>
                <a:lnTo>
                  <a:pt x="382914" y="500228"/>
                </a:lnTo>
                <a:lnTo>
                  <a:pt x="381944" y="500759"/>
                </a:lnTo>
                <a:lnTo>
                  <a:pt x="382394" y="502693"/>
                </a:lnTo>
                <a:lnTo>
                  <a:pt x="384101" y="503360"/>
                </a:lnTo>
                <a:lnTo>
                  <a:pt x="385010" y="503257"/>
                </a:lnTo>
                <a:lnTo>
                  <a:pt x="387338" y="504563"/>
                </a:lnTo>
                <a:lnTo>
                  <a:pt x="387837" y="504219"/>
                </a:lnTo>
                <a:lnTo>
                  <a:pt x="388794" y="504656"/>
                </a:lnTo>
                <a:lnTo>
                  <a:pt x="389001" y="505597"/>
                </a:lnTo>
                <a:lnTo>
                  <a:pt x="389865" y="505070"/>
                </a:lnTo>
                <a:lnTo>
                  <a:pt x="390503" y="510213"/>
                </a:lnTo>
                <a:lnTo>
                  <a:pt x="393833" y="509067"/>
                </a:lnTo>
                <a:lnTo>
                  <a:pt x="400986" y="507762"/>
                </a:lnTo>
                <a:lnTo>
                  <a:pt x="402010" y="510237"/>
                </a:lnTo>
                <a:lnTo>
                  <a:pt x="400250" y="515965"/>
                </a:lnTo>
                <a:lnTo>
                  <a:pt x="396830" y="520876"/>
                </a:lnTo>
                <a:lnTo>
                  <a:pt x="395234" y="521522"/>
                </a:lnTo>
                <a:lnTo>
                  <a:pt x="404757" y="518691"/>
                </a:lnTo>
                <a:lnTo>
                  <a:pt x="406173" y="525881"/>
                </a:lnTo>
                <a:lnTo>
                  <a:pt x="410654" y="524092"/>
                </a:lnTo>
                <a:lnTo>
                  <a:pt x="411448" y="524327"/>
                </a:lnTo>
                <a:lnTo>
                  <a:pt x="413044" y="521163"/>
                </a:lnTo>
                <a:lnTo>
                  <a:pt x="414748" y="519932"/>
                </a:lnTo>
                <a:lnTo>
                  <a:pt x="423034" y="520984"/>
                </a:lnTo>
                <a:lnTo>
                  <a:pt x="426095" y="520016"/>
                </a:lnTo>
                <a:lnTo>
                  <a:pt x="427031" y="525139"/>
                </a:lnTo>
                <a:lnTo>
                  <a:pt x="434106" y="527076"/>
                </a:lnTo>
                <a:lnTo>
                  <a:pt x="442035" y="526073"/>
                </a:lnTo>
                <a:lnTo>
                  <a:pt x="451529" y="529099"/>
                </a:lnTo>
                <a:lnTo>
                  <a:pt x="452202" y="526269"/>
                </a:lnTo>
                <a:lnTo>
                  <a:pt x="461653" y="525087"/>
                </a:lnTo>
                <a:lnTo>
                  <a:pt x="465376" y="526127"/>
                </a:lnTo>
                <a:lnTo>
                  <a:pt x="474475" y="521944"/>
                </a:lnTo>
                <a:lnTo>
                  <a:pt x="482234" y="524222"/>
                </a:lnTo>
                <a:lnTo>
                  <a:pt x="488321" y="527293"/>
                </a:lnTo>
                <a:lnTo>
                  <a:pt x="491945" y="521097"/>
                </a:lnTo>
                <a:lnTo>
                  <a:pt x="495428" y="521248"/>
                </a:lnTo>
                <a:lnTo>
                  <a:pt x="495874" y="521059"/>
                </a:lnTo>
                <a:lnTo>
                  <a:pt x="495919" y="520763"/>
                </a:lnTo>
                <a:lnTo>
                  <a:pt x="496281" y="521334"/>
                </a:lnTo>
                <a:lnTo>
                  <a:pt x="496705" y="521321"/>
                </a:lnTo>
                <a:lnTo>
                  <a:pt x="496894" y="521793"/>
                </a:lnTo>
                <a:lnTo>
                  <a:pt x="497579" y="521903"/>
                </a:lnTo>
                <a:lnTo>
                  <a:pt x="497643" y="522630"/>
                </a:lnTo>
                <a:lnTo>
                  <a:pt x="498264" y="523762"/>
                </a:lnTo>
                <a:lnTo>
                  <a:pt x="498230" y="524559"/>
                </a:lnTo>
                <a:lnTo>
                  <a:pt x="498641" y="525309"/>
                </a:lnTo>
                <a:lnTo>
                  <a:pt x="505723" y="522092"/>
                </a:lnTo>
                <a:lnTo>
                  <a:pt x="505925" y="517951"/>
                </a:lnTo>
                <a:lnTo>
                  <a:pt x="513220" y="517068"/>
                </a:lnTo>
                <a:lnTo>
                  <a:pt x="523161" y="519033"/>
                </a:lnTo>
                <a:lnTo>
                  <a:pt x="522798" y="509210"/>
                </a:lnTo>
                <a:lnTo>
                  <a:pt x="524937" y="501492"/>
                </a:lnTo>
                <a:lnTo>
                  <a:pt x="524488" y="501522"/>
                </a:lnTo>
                <a:lnTo>
                  <a:pt x="524474" y="487521"/>
                </a:lnTo>
                <a:lnTo>
                  <a:pt x="520988" y="478938"/>
                </a:lnTo>
                <a:lnTo>
                  <a:pt x="528478" y="478072"/>
                </a:lnTo>
                <a:lnTo>
                  <a:pt x="528632" y="474786"/>
                </a:lnTo>
                <a:lnTo>
                  <a:pt x="537130" y="482272"/>
                </a:lnTo>
                <a:lnTo>
                  <a:pt x="537091" y="485072"/>
                </a:lnTo>
                <a:lnTo>
                  <a:pt x="541551" y="484536"/>
                </a:lnTo>
                <a:lnTo>
                  <a:pt x="544924" y="485169"/>
                </a:lnTo>
                <a:lnTo>
                  <a:pt x="545172" y="479931"/>
                </a:lnTo>
                <a:lnTo>
                  <a:pt x="545788" y="479758"/>
                </a:lnTo>
                <a:lnTo>
                  <a:pt x="546206" y="470497"/>
                </a:lnTo>
                <a:lnTo>
                  <a:pt x="547821" y="469878"/>
                </a:lnTo>
                <a:lnTo>
                  <a:pt x="553506" y="471493"/>
                </a:lnTo>
                <a:lnTo>
                  <a:pt x="553328" y="470601"/>
                </a:lnTo>
                <a:lnTo>
                  <a:pt x="550940" y="465367"/>
                </a:lnTo>
                <a:lnTo>
                  <a:pt x="551048" y="463847"/>
                </a:lnTo>
                <a:lnTo>
                  <a:pt x="549971" y="463719"/>
                </a:lnTo>
                <a:lnTo>
                  <a:pt x="550066" y="460603"/>
                </a:lnTo>
                <a:lnTo>
                  <a:pt x="551407" y="452975"/>
                </a:lnTo>
                <a:lnTo>
                  <a:pt x="553879" y="442364"/>
                </a:lnTo>
                <a:lnTo>
                  <a:pt x="569201" y="445083"/>
                </a:lnTo>
                <a:lnTo>
                  <a:pt x="570487" y="447359"/>
                </a:lnTo>
                <a:lnTo>
                  <a:pt x="570388" y="447803"/>
                </a:lnTo>
                <a:lnTo>
                  <a:pt x="570641" y="447943"/>
                </a:lnTo>
                <a:lnTo>
                  <a:pt x="570779" y="447576"/>
                </a:lnTo>
                <a:lnTo>
                  <a:pt x="571194" y="447762"/>
                </a:lnTo>
                <a:lnTo>
                  <a:pt x="571297" y="447561"/>
                </a:lnTo>
                <a:lnTo>
                  <a:pt x="570968" y="447247"/>
                </a:lnTo>
                <a:lnTo>
                  <a:pt x="570792" y="446389"/>
                </a:lnTo>
                <a:lnTo>
                  <a:pt x="571153" y="446014"/>
                </a:lnTo>
                <a:lnTo>
                  <a:pt x="577216" y="448008"/>
                </a:lnTo>
                <a:lnTo>
                  <a:pt x="577666" y="442524"/>
                </a:lnTo>
                <a:lnTo>
                  <a:pt x="583687" y="446359"/>
                </a:lnTo>
                <a:lnTo>
                  <a:pt x="584026" y="445899"/>
                </a:lnTo>
                <a:lnTo>
                  <a:pt x="583697" y="444708"/>
                </a:lnTo>
                <a:lnTo>
                  <a:pt x="583049" y="444888"/>
                </a:lnTo>
                <a:lnTo>
                  <a:pt x="582783" y="444556"/>
                </a:lnTo>
                <a:lnTo>
                  <a:pt x="583009" y="443248"/>
                </a:lnTo>
                <a:lnTo>
                  <a:pt x="582871" y="442807"/>
                </a:lnTo>
                <a:lnTo>
                  <a:pt x="588000" y="443936"/>
                </a:lnTo>
                <a:lnTo>
                  <a:pt x="589816" y="445554"/>
                </a:lnTo>
                <a:lnTo>
                  <a:pt x="591431" y="453316"/>
                </a:lnTo>
                <a:lnTo>
                  <a:pt x="597351" y="460264"/>
                </a:lnTo>
                <a:lnTo>
                  <a:pt x="597959" y="454082"/>
                </a:lnTo>
                <a:lnTo>
                  <a:pt x="607840" y="451640"/>
                </a:lnTo>
                <a:lnTo>
                  <a:pt x="610354" y="455064"/>
                </a:lnTo>
                <a:lnTo>
                  <a:pt x="610412" y="450306"/>
                </a:lnTo>
                <a:lnTo>
                  <a:pt x="614685" y="448114"/>
                </a:lnTo>
                <a:lnTo>
                  <a:pt x="616415" y="443662"/>
                </a:lnTo>
                <a:lnTo>
                  <a:pt x="618721" y="445155"/>
                </a:lnTo>
                <a:lnTo>
                  <a:pt x="622169" y="438712"/>
                </a:lnTo>
                <a:lnTo>
                  <a:pt x="623640" y="432811"/>
                </a:lnTo>
                <a:lnTo>
                  <a:pt x="619302" y="429991"/>
                </a:lnTo>
                <a:lnTo>
                  <a:pt x="619919" y="426087"/>
                </a:lnTo>
                <a:lnTo>
                  <a:pt x="626052" y="426682"/>
                </a:lnTo>
                <a:lnTo>
                  <a:pt x="627098" y="426187"/>
                </a:lnTo>
                <a:lnTo>
                  <a:pt x="632380" y="422084"/>
                </a:lnTo>
                <a:lnTo>
                  <a:pt x="631155" y="415915"/>
                </a:lnTo>
                <a:lnTo>
                  <a:pt x="627046" y="408660"/>
                </a:lnTo>
                <a:lnTo>
                  <a:pt x="630614" y="402839"/>
                </a:lnTo>
                <a:lnTo>
                  <a:pt x="634654" y="406647"/>
                </a:lnTo>
                <a:lnTo>
                  <a:pt x="635433" y="396913"/>
                </a:lnTo>
                <a:lnTo>
                  <a:pt x="635518" y="388925"/>
                </a:lnTo>
                <a:lnTo>
                  <a:pt x="640052" y="382992"/>
                </a:lnTo>
                <a:lnTo>
                  <a:pt x="645654" y="389519"/>
                </a:lnTo>
                <a:lnTo>
                  <a:pt x="655958" y="396448"/>
                </a:lnTo>
                <a:lnTo>
                  <a:pt x="661522" y="394693"/>
                </a:lnTo>
                <a:lnTo>
                  <a:pt x="668219" y="394329"/>
                </a:lnTo>
                <a:lnTo>
                  <a:pt x="668447" y="404141"/>
                </a:lnTo>
                <a:lnTo>
                  <a:pt x="682389" y="402996"/>
                </a:lnTo>
                <a:lnTo>
                  <a:pt x="707793" y="402100"/>
                </a:lnTo>
                <a:lnTo>
                  <a:pt x="712314" y="393181"/>
                </a:lnTo>
                <a:lnTo>
                  <a:pt x="705541" y="381086"/>
                </a:lnTo>
                <a:lnTo>
                  <a:pt x="699093" y="382494"/>
                </a:lnTo>
                <a:lnTo>
                  <a:pt x="699622" y="372553"/>
                </a:lnTo>
                <a:lnTo>
                  <a:pt x="711758" y="371593"/>
                </a:lnTo>
                <a:lnTo>
                  <a:pt x="706111" y="361527"/>
                </a:lnTo>
                <a:lnTo>
                  <a:pt x="699010" y="363345"/>
                </a:lnTo>
                <a:lnTo>
                  <a:pt x="691577" y="363752"/>
                </a:lnTo>
                <a:lnTo>
                  <a:pt x="684806" y="363085"/>
                </a:lnTo>
                <a:lnTo>
                  <a:pt x="685873" y="355068"/>
                </a:lnTo>
                <a:lnTo>
                  <a:pt x="685315" y="348611"/>
                </a:lnTo>
                <a:lnTo>
                  <a:pt x="685035" y="341404"/>
                </a:lnTo>
                <a:lnTo>
                  <a:pt x="693815" y="335179"/>
                </a:lnTo>
                <a:lnTo>
                  <a:pt x="692416" y="330530"/>
                </a:lnTo>
                <a:lnTo>
                  <a:pt x="695189" y="330980"/>
                </a:lnTo>
                <a:lnTo>
                  <a:pt x="696237" y="326371"/>
                </a:lnTo>
                <a:lnTo>
                  <a:pt x="691111" y="326776"/>
                </a:lnTo>
                <a:lnTo>
                  <a:pt x="687816" y="326103"/>
                </a:lnTo>
                <a:lnTo>
                  <a:pt x="688342" y="325837"/>
                </a:lnTo>
                <a:lnTo>
                  <a:pt x="689166" y="324866"/>
                </a:lnTo>
                <a:lnTo>
                  <a:pt x="692486" y="323789"/>
                </a:lnTo>
                <a:lnTo>
                  <a:pt x="693601" y="323063"/>
                </a:lnTo>
                <a:lnTo>
                  <a:pt x="696418" y="322824"/>
                </a:lnTo>
                <a:lnTo>
                  <a:pt x="697673" y="323654"/>
                </a:lnTo>
                <a:lnTo>
                  <a:pt x="698320" y="323816"/>
                </a:lnTo>
                <a:lnTo>
                  <a:pt x="700311" y="323277"/>
                </a:lnTo>
                <a:lnTo>
                  <a:pt x="702682" y="321855"/>
                </a:lnTo>
                <a:lnTo>
                  <a:pt x="703756" y="321686"/>
                </a:lnTo>
                <a:lnTo>
                  <a:pt x="704093" y="319375"/>
                </a:lnTo>
                <a:lnTo>
                  <a:pt x="704799" y="318157"/>
                </a:lnTo>
                <a:lnTo>
                  <a:pt x="707455" y="317443"/>
                </a:lnTo>
                <a:lnTo>
                  <a:pt x="709231" y="319152"/>
                </a:lnTo>
                <a:lnTo>
                  <a:pt x="711253" y="319996"/>
                </a:lnTo>
                <a:lnTo>
                  <a:pt x="713312" y="322046"/>
                </a:lnTo>
                <a:lnTo>
                  <a:pt x="714745" y="324359"/>
                </a:lnTo>
                <a:lnTo>
                  <a:pt x="715557" y="328646"/>
                </a:lnTo>
                <a:lnTo>
                  <a:pt x="716260" y="329220"/>
                </a:lnTo>
                <a:lnTo>
                  <a:pt x="717280" y="329081"/>
                </a:lnTo>
                <a:lnTo>
                  <a:pt x="718946" y="328205"/>
                </a:lnTo>
                <a:lnTo>
                  <a:pt x="721816" y="325234"/>
                </a:lnTo>
                <a:lnTo>
                  <a:pt x="722258" y="325072"/>
                </a:lnTo>
                <a:lnTo>
                  <a:pt x="723014" y="325211"/>
                </a:lnTo>
                <a:lnTo>
                  <a:pt x="724667" y="326517"/>
                </a:lnTo>
                <a:lnTo>
                  <a:pt x="725744" y="326779"/>
                </a:lnTo>
                <a:lnTo>
                  <a:pt x="730073" y="325434"/>
                </a:lnTo>
                <a:lnTo>
                  <a:pt x="731639" y="325281"/>
                </a:lnTo>
                <a:lnTo>
                  <a:pt x="732415" y="324877"/>
                </a:lnTo>
                <a:lnTo>
                  <a:pt x="734615" y="322388"/>
                </a:lnTo>
                <a:lnTo>
                  <a:pt x="735272" y="322271"/>
                </a:lnTo>
                <a:lnTo>
                  <a:pt x="735694" y="322442"/>
                </a:lnTo>
                <a:lnTo>
                  <a:pt x="736482" y="324684"/>
                </a:lnTo>
                <a:lnTo>
                  <a:pt x="736906" y="324992"/>
                </a:lnTo>
                <a:lnTo>
                  <a:pt x="737412" y="325015"/>
                </a:lnTo>
                <a:lnTo>
                  <a:pt x="740593" y="323402"/>
                </a:lnTo>
                <a:lnTo>
                  <a:pt x="741799" y="323161"/>
                </a:lnTo>
                <a:lnTo>
                  <a:pt x="742281" y="322842"/>
                </a:lnTo>
                <a:lnTo>
                  <a:pt x="743781" y="320663"/>
                </a:lnTo>
                <a:lnTo>
                  <a:pt x="743989" y="317882"/>
                </a:lnTo>
                <a:lnTo>
                  <a:pt x="744982" y="317768"/>
                </a:lnTo>
                <a:lnTo>
                  <a:pt x="747091" y="319457"/>
                </a:lnTo>
                <a:lnTo>
                  <a:pt x="749936" y="319940"/>
                </a:lnTo>
                <a:lnTo>
                  <a:pt x="753314" y="321609"/>
                </a:lnTo>
                <a:lnTo>
                  <a:pt x="753949" y="322036"/>
                </a:lnTo>
                <a:lnTo>
                  <a:pt x="755472" y="323917"/>
                </a:lnTo>
                <a:lnTo>
                  <a:pt x="756650" y="324368"/>
                </a:lnTo>
                <a:lnTo>
                  <a:pt x="757957" y="324313"/>
                </a:lnTo>
                <a:lnTo>
                  <a:pt x="758656" y="324052"/>
                </a:lnTo>
                <a:lnTo>
                  <a:pt x="759054" y="322214"/>
                </a:lnTo>
                <a:lnTo>
                  <a:pt x="759702" y="321405"/>
                </a:lnTo>
                <a:lnTo>
                  <a:pt x="761569" y="320939"/>
                </a:lnTo>
                <a:lnTo>
                  <a:pt x="762622" y="320910"/>
                </a:lnTo>
                <a:lnTo>
                  <a:pt x="763391" y="321634"/>
                </a:lnTo>
                <a:lnTo>
                  <a:pt x="764269" y="323270"/>
                </a:lnTo>
                <a:lnTo>
                  <a:pt x="765188" y="324238"/>
                </a:lnTo>
                <a:lnTo>
                  <a:pt x="766308" y="324883"/>
                </a:lnTo>
                <a:lnTo>
                  <a:pt x="766815" y="324904"/>
                </a:lnTo>
                <a:lnTo>
                  <a:pt x="768388" y="323589"/>
                </a:lnTo>
                <a:lnTo>
                  <a:pt x="768676" y="321783"/>
                </a:lnTo>
                <a:lnTo>
                  <a:pt x="770459" y="319785"/>
                </a:lnTo>
                <a:lnTo>
                  <a:pt x="772228" y="319025"/>
                </a:lnTo>
                <a:lnTo>
                  <a:pt x="776195" y="318646"/>
                </a:lnTo>
                <a:lnTo>
                  <a:pt x="777155" y="319123"/>
                </a:lnTo>
                <a:lnTo>
                  <a:pt x="777526" y="319831"/>
                </a:lnTo>
                <a:lnTo>
                  <a:pt x="778146" y="323419"/>
                </a:lnTo>
                <a:lnTo>
                  <a:pt x="778855" y="325667"/>
                </a:lnTo>
                <a:lnTo>
                  <a:pt x="779380" y="326163"/>
                </a:lnTo>
                <a:lnTo>
                  <a:pt x="782053" y="326384"/>
                </a:lnTo>
                <a:lnTo>
                  <a:pt x="784551" y="326036"/>
                </a:lnTo>
                <a:lnTo>
                  <a:pt x="787166" y="324456"/>
                </a:lnTo>
                <a:lnTo>
                  <a:pt x="787500" y="323342"/>
                </a:lnTo>
                <a:lnTo>
                  <a:pt x="787509" y="322216"/>
                </a:lnTo>
                <a:lnTo>
                  <a:pt x="787089" y="319981"/>
                </a:lnTo>
                <a:lnTo>
                  <a:pt x="787350" y="318864"/>
                </a:lnTo>
                <a:lnTo>
                  <a:pt x="789136" y="317703"/>
                </a:lnTo>
                <a:lnTo>
                  <a:pt x="789956" y="316812"/>
                </a:lnTo>
                <a:lnTo>
                  <a:pt x="792767" y="314648"/>
                </a:lnTo>
                <a:lnTo>
                  <a:pt x="793731" y="314391"/>
                </a:lnTo>
                <a:lnTo>
                  <a:pt x="794650" y="314582"/>
                </a:lnTo>
                <a:lnTo>
                  <a:pt x="796315" y="316271"/>
                </a:lnTo>
                <a:lnTo>
                  <a:pt x="797266" y="316676"/>
                </a:lnTo>
                <a:lnTo>
                  <a:pt x="797752" y="317204"/>
                </a:lnTo>
                <a:lnTo>
                  <a:pt x="798886" y="317616"/>
                </a:lnTo>
                <a:lnTo>
                  <a:pt x="800046" y="317536"/>
                </a:lnTo>
                <a:lnTo>
                  <a:pt x="800322" y="317251"/>
                </a:lnTo>
                <a:lnTo>
                  <a:pt x="800299" y="316336"/>
                </a:lnTo>
                <a:lnTo>
                  <a:pt x="800837" y="315612"/>
                </a:lnTo>
                <a:lnTo>
                  <a:pt x="804910" y="315970"/>
                </a:lnTo>
                <a:lnTo>
                  <a:pt x="809517" y="315885"/>
                </a:lnTo>
                <a:lnTo>
                  <a:pt x="809242" y="313179"/>
                </a:lnTo>
                <a:lnTo>
                  <a:pt x="809331" y="311108"/>
                </a:lnTo>
                <a:lnTo>
                  <a:pt x="793519" y="299308"/>
                </a:lnTo>
                <a:lnTo>
                  <a:pt x="784432" y="272011"/>
                </a:lnTo>
                <a:lnTo>
                  <a:pt x="784250" y="257092"/>
                </a:lnTo>
                <a:lnTo>
                  <a:pt x="780940" y="250769"/>
                </a:lnTo>
                <a:lnTo>
                  <a:pt x="766417" y="232268"/>
                </a:lnTo>
                <a:lnTo>
                  <a:pt x="765521" y="220660"/>
                </a:lnTo>
                <a:lnTo>
                  <a:pt x="767509" y="198007"/>
                </a:lnTo>
                <a:lnTo>
                  <a:pt x="769270" y="186692"/>
                </a:lnTo>
                <a:lnTo>
                  <a:pt x="767159" y="176731"/>
                </a:lnTo>
                <a:lnTo>
                  <a:pt x="758509" y="142128"/>
                </a:lnTo>
                <a:lnTo>
                  <a:pt x="737730" y="60042"/>
                </a:lnTo>
                <a:lnTo>
                  <a:pt x="738034" y="59827"/>
                </a:lnTo>
                <a:lnTo>
                  <a:pt x="734857" y="56807"/>
                </a:lnTo>
                <a:lnTo>
                  <a:pt x="733663" y="54491"/>
                </a:lnTo>
                <a:lnTo>
                  <a:pt x="733098" y="51941"/>
                </a:lnTo>
                <a:lnTo>
                  <a:pt x="732385" y="50741"/>
                </a:lnTo>
                <a:lnTo>
                  <a:pt x="731606" y="50264"/>
                </a:lnTo>
                <a:lnTo>
                  <a:pt x="729581" y="49832"/>
                </a:lnTo>
                <a:lnTo>
                  <a:pt x="725262" y="50713"/>
                </a:lnTo>
                <a:lnTo>
                  <a:pt x="724113" y="50469"/>
                </a:lnTo>
                <a:lnTo>
                  <a:pt x="722361" y="49110"/>
                </a:lnTo>
                <a:lnTo>
                  <a:pt x="720520" y="45479"/>
                </a:lnTo>
                <a:lnTo>
                  <a:pt x="718593" y="44172"/>
                </a:lnTo>
                <a:lnTo>
                  <a:pt x="716957" y="43611"/>
                </a:lnTo>
                <a:lnTo>
                  <a:pt x="715996" y="43565"/>
                </a:lnTo>
                <a:lnTo>
                  <a:pt x="713657" y="43968"/>
                </a:lnTo>
                <a:lnTo>
                  <a:pt x="707050" y="46164"/>
                </a:lnTo>
                <a:lnTo>
                  <a:pt x="705675" y="46303"/>
                </a:lnTo>
                <a:lnTo>
                  <a:pt x="702217" y="44777"/>
                </a:lnTo>
                <a:lnTo>
                  <a:pt x="700047" y="44081"/>
                </a:lnTo>
                <a:lnTo>
                  <a:pt x="695954" y="41823"/>
                </a:lnTo>
                <a:lnTo>
                  <a:pt x="692688" y="40354"/>
                </a:lnTo>
                <a:lnTo>
                  <a:pt x="692033" y="40497"/>
                </a:lnTo>
                <a:lnTo>
                  <a:pt x="691620" y="41534"/>
                </a:lnTo>
                <a:lnTo>
                  <a:pt x="691175" y="41913"/>
                </a:lnTo>
                <a:lnTo>
                  <a:pt x="689796" y="42003"/>
                </a:lnTo>
                <a:lnTo>
                  <a:pt x="688682" y="41322"/>
                </a:lnTo>
                <a:lnTo>
                  <a:pt x="688073" y="39868"/>
                </a:lnTo>
                <a:lnTo>
                  <a:pt x="684733" y="39721"/>
                </a:lnTo>
                <a:lnTo>
                  <a:pt x="683978" y="39182"/>
                </a:lnTo>
                <a:lnTo>
                  <a:pt x="682962" y="37674"/>
                </a:lnTo>
                <a:lnTo>
                  <a:pt x="682417" y="37368"/>
                </a:lnTo>
                <a:lnTo>
                  <a:pt x="680497" y="37177"/>
                </a:lnTo>
                <a:lnTo>
                  <a:pt x="679160" y="36566"/>
                </a:lnTo>
                <a:lnTo>
                  <a:pt x="677988" y="36348"/>
                </a:lnTo>
                <a:lnTo>
                  <a:pt x="675737" y="37516"/>
                </a:lnTo>
                <a:lnTo>
                  <a:pt x="675267" y="37557"/>
                </a:lnTo>
                <a:lnTo>
                  <a:pt x="673446" y="36480"/>
                </a:lnTo>
                <a:lnTo>
                  <a:pt x="668351" y="35137"/>
                </a:lnTo>
                <a:lnTo>
                  <a:pt x="662396" y="36279"/>
                </a:lnTo>
                <a:lnTo>
                  <a:pt x="659156" y="36658"/>
                </a:lnTo>
                <a:lnTo>
                  <a:pt x="657050" y="36532"/>
                </a:lnTo>
                <a:lnTo>
                  <a:pt x="655450" y="37047"/>
                </a:lnTo>
                <a:lnTo>
                  <a:pt x="652767" y="37140"/>
                </a:lnTo>
                <a:lnTo>
                  <a:pt x="649243" y="38205"/>
                </a:lnTo>
                <a:lnTo>
                  <a:pt x="643441" y="36866"/>
                </a:lnTo>
                <a:lnTo>
                  <a:pt x="642516" y="36874"/>
                </a:lnTo>
                <a:lnTo>
                  <a:pt x="640887" y="37616"/>
                </a:lnTo>
                <a:lnTo>
                  <a:pt x="638745" y="40116"/>
                </a:lnTo>
                <a:lnTo>
                  <a:pt x="637614" y="40705"/>
                </a:lnTo>
                <a:lnTo>
                  <a:pt x="636340" y="40499"/>
                </a:lnTo>
                <a:lnTo>
                  <a:pt x="634058" y="38391"/>
                </a:lnTo>
                <a:lnTo>
                  <a:pt x="632224" y="37768"/>
                </a:lnTo>
                <a:lnTo>
                  <a:pt x="630167" y="37533"/>
                </a:lnTo>
                <a:lnTo>
                  <a:pt x="628077" y="37866"/>
                </a:lnTo>
                <a:lnTo>
                  <a:pt x="627384" y="38246"/>
                </a:lnTo>
                <a:lnTo>
                  <a:pt x="626613" y="39110"/>
                </a:lnTo>
                <a:lnTo>
                  <a:pt x="625876" y="39369"/>
                </a:lnTo>
                <a:lnTo>
                  <a:pt x="620651" y="37724"/>
                </a:lnTo>
                <a:lnTo>
                  <a:pt x="618932" y="37570"/>
                </a:lnTo>
                <a:lnTo>
                  <a:pt x="616520" y="36445"/>
                </a:lnTo>
                <a:lnTo>
                  <a:pt x="614462" y="36789"/>
                </a:lnTo>
                <a:lnTo>
                  <a:pt x="610860" y="38603"/>
                </a:lnTo>
                <a:lnTo>
                  <a:pt x="609111" y="39174"/>
                </a:lnTo>
                <a:lnTo>
                  <a:pt x="602848" y="40335"/>
                </a:lnTo>
                <a:lnTo>
                  <a:pt x="600277" y="41210"/>
                </a:lnTo>
                <a:lnTo>
                  <a:pt x="597137" y="40624"/>
                </a:lnTo>
                <a:lnTo>
                  <a:pt x="593391" y="40836"/>
                </a:lnTo>
                <a:lnTo>
                  <a:pt x="590463" y="40224"/>
                </a:lnTo>
                <a:lnTo>
                  <a:pt x="588268" y="41201"/>
                </a:lnTo>
                <a:lnTo>
                  <a:pt x="586505" y="41413"/>
                </a:lnTo>
                <a:lnTo>
                  <a:pt x="585422" y="41001"/>
                </a:lnTo>
                <a:lnTo>
                  <a:pt x="584102" y="39790"/>
                </a:lnTo>
                <a:lnTo>
                  <a:pt x="583056" y="38209"/>
                </a:lnTo>
                <a:lnTo>
                  <a:pt x="581885" y="35472"/>
                </a:lnTo>
                <a:lnTo>
                  <a:pt x="580765" y="34237"/>
                </a:lnTo>
                <a:lnTo>
                  <a:pt x="579428" y="33374"/>
                </a:lnTo>
                <a:lnTo>
                  <a:pt x="578850" y="31961"/>
                </a:lnTo>
                <a:lnTo>
                  <a:pt x="578104" y="31293"/>
                </a:lnTo>
                <a:lnTo>
                  <a:pt x="576705" y="31075"/>
                </a:lnTo>
                <a:lnTo>
                  <a:pt x="572439" y="31058"/>
                </a:lnTo>
                <a:lnTo>
                  <a:pt x="567056" y="31411"/>
                </a:lnTo>
                <a:lnTo>
                  <a:pt x="565978" y="31699"/>
                </a:lnTo>
                <a:lnTo>
                  <a:pt x="563344" y="33043"/>
                </a:lnTo>
                <a:lnTo>
                  <a:pt x="562322" y="32998"/>
                </a:lnTo>
                <a:lnTo>
                  <a:pt x="561652" y="32584"/>
                </a:lnTo>
                <a:lnTo>
                  <a:pt x="558773" y="28913"/>
                </a:lnTo>
                <a:lnTo>
                  <a:pt x="555043" y="26752"/>
                </a:lnTo>
                <a:lnTo>
                  <a:pt x="552515" y="23867"/>
                </a:lnTo>
                <a:lnTo>
                  <a:pt x="551395" y="23463"/>
                </a:lnTo>
                <a:lnTo>
                  <a:pt x="548552" y="23502"/>
                </a:lnTo>
                <a:lnTo>
                  <a:pt x="547694" y="23083"/>
                </a:lnTo>
                <a:lnTo>
                  <a:pt x="547158" y="22436"/>
                </a:lnTo>
                <a:lnTo>
                  <a:pt x="546859" y="21597"/>
                </a:lnTo>
                <a:lnTo>
                  <a:pt x="546965" y="19801"/>
                </a:lnTo>
                <a:lnTo>
                  <a:pt x="546659" y="19062"/>
                </a:lnTo>
                <a:lnTo>
                  <a:pt x="545720" y="18778"/>
                </a:lnTo>
                <a:lnTo>
                  <a:pt x="544000" y="18919"/>
                </a:lnTo>
                <a:lnTo>
                  <a:pt x="541359" y="17951"/>
                </a:lnTo>
                <a:lnTo>
                  <a:pt x="539561" y="17972"/>
                </a:lnTo>
                <a:lnTo>
                  <a:pt x="538240" y="16109"/>
                </a:lnTo>
                <a:lnTo>
                  <a:pt x="533186" y="12175"/>
                </a:lnTo>
                <a:lnTo>
                  <a:pt x="531735" y="12057"/>
                </a:lnTo>
                <a:lnTo>
                  <a:pt x="527862" y="12780"/>
                </a:lnTo>
                <a:lnTo>
                  <a:pt x="526997" y="12643"/>
                </a:lnTo>
                <a:lnTo>
                  <a:pt x="525996" y="12032"/>
                </a:lnTo>
                <a:lnTo>
                  <a:pt x="523446" y="9370"/>
                </a:lnTo>
                <a:lnTo>
                  <a:pt x="519133" y="9141"/>
                </a:lnTo>
                <a:lnTo>
                  <a:pt x="515330" y="7451"/>
                </a:lnTo>
                <a:lnTo>
                  <a:pt x="514305" y="6125"/>
                </a:lnTo>
                <a:lnTo>
                  <a:pt x="510753" y="3376"/>
                </a:lnTo>
                <a:lnTo>
                  <a:pt x="509623" y="3173"/>
                </a:lnTo>
                <a:lnTo>
                  <a:pt x="504521" y="3091"/>
                </a:lnTo>
                <a:lnTo>
                  <a:pt x="502211" y="3328"/>
                </a:lnTo>
                <a:lnTo>
                  <a:pt x="499808" y="2207"/>
                </a:lnTo>
                <a:lnTo>
                  <a:pt x="498609" y="2043"/>
                </a:lnTo>
                <a:lnTo>
                  <a:pt x="495671" y="2302"/>
                </a:lnTo>
                <a:lnTo>
                  <a:pt x="494271" y="437"/>
                </a:lnTo>
                <a:lnTo>
                  <a:pt x="493374" y="0"/>
                </a:lnTo>
                <a:lnTo>
                  <a:pt x="492824" y="34"/>
                </a:lnTo>
                <a:lnTo>
                  <a:pt x="490939" y="1048"/>
                </a:lnTo>
                <a:lnTo>
                  <a:pt x="489043" y="1506"/>
                </a:lnTo>
                <a:lnTo>
                  <a:pt x="488096" y="2406"/>
                </a:lnTo>
                <a:lnTo>
                  <a:pt x="487196" y="4077"/>
                </a:lnTo>
                <a:lnTo>
                  <a:pt x="486231" y="4615"/>
                </a:lnTo>
                <a:lnTo>
                  <a:pt x="484991" y="4356"/>
                </a:lnTo>
                <a:lnTo>
                  <a:pt x="483028" y="2500"/>
                </a:lnTo>
                <a:lnTo>
                  <a:pt x="481833" y="2049"/>
                </a:lnTo>
                <a:lnTo>
                  <a:pt x="481020" y="2242"/>
                </a:lnTo>
                <a:lnTo>
                  <a:pt x="479133" y="3370"/>
                </a:lnTo>
                <a:lnTo>
                  <a:pt x="475632" y="3680"/>
                </a:lnTo>
                <a:lnTo>
                  <a:pt x="475054" y="4058"/>
                </a:lnTo>
                <a:lnTo>
                  <a:pt x="474839" y="4562"/>
                </a:lnTo>
                <a:lnTo>
                  <a:pt x="474856" y="6489"/>
                </a:lnTo>
                <a:lnTo>
                  <a:pt x="474354" y="7287"/>
                </a:lnTo>
                <a:lnTo>
                  <a:pt x="473788" y="7680"/>
                </a:lnTo>
                <a:lnTo>
                  <a:pt x="471231" y="7389"/>
                </a:lnTo>
                <a:lnTo>
                  <a:pt x="469502" y="6539"/>
                </a:lnTo>
                <a:lnTo>
                  <a:pt x="466362" y="5491"/>
                </a:lnTo>
                <a:lnTo>
                  <a:pt x="464313" y="5374"/>
                </a:lnTo>
                <a:lnTo>
                  <a:pt x="457189" y="6517"/>
                </a:lnTo>
                <a:lnTo>
                  <a:pt x="456091" y="6979"/>
                </a:lnTo>
                <a:lnTo>
                  <a:pt x="455491" y="7776"/>
                </a:lnTo>
                <a:lnTo>
                  <a:pt x="454489" y="7880"/>
                </a:lnTo>
                <a:lnTo>
                  <a:pt x="452408" y="9068"/>
                </a:lnTo>
                <a:lnTo>
                  <a:pt x="448970" y="10123"/>
                </a:lnTo>
                <a:lnTo>
                  <a:pt x="447473" y="9816"/>
                </a:lnTo>
                <a:lnTo>
                  <a:pt x="447044" y="9051"/>
                </a:lnTo>
                <a:lnTo>
                  <a:pt x="446576" y="8934"/>
                </a:lnTo>
                <a:lnTo>
                  <a:pt x="445562" y="10402"/>
                </a:lnTo>
                <a:lnTo>
                  <a:pt x="444796" y="10787"/>
                </a:lnTo>
                <a:lnTo>
                  <a:pt x="444323" y="10678"/>
                </a:lnTo>
                <a:lnTo>
                  <a:pt x="443677" y="10021"/>
                </a:lnTo>
                <a:lnTo>
                  <a:pt x="443236" y="8213"/>
                </a:lnTo>
                <a:lnTo>
                  <a:pt x="442725" y="7852"/>
                </a:lnTo>
                <a:lnTo>
                  <a:pt x="441003" y="7993"/>
                </a:lnTo>
                <a:lnTo>
                  <a:pt x="439557" y="7557"/>
                </a:lnTo>
                <a:lnTo>
                  <a:pt x="438290" y="7844"/>
                </a:lnTo>
                <a:lnTo>
                  <a:pt x="437286" y="7490"/>
                </a:lnTo>
                <a:lnTo>
                  <a:pt x="436192" y="8495"/>
                </a:lnTo>
                <a:lnTo>
                  <a:pt x="435291" y="8546"/>
                </a:lnTo>
                <a:lnTo>
                  <a:pt x="434539" y="7910"/>
                </a:lnTo>
                <a:lnTo>
                  <a:pt x="433282" y="8501"/>
                </a:lnTo>
                <a:lnTo>
                  <a:pt x="430442" y="6528"/>
                </a:lnTo>
                <a:lnTo>
                  <a:pt x="428764" y="5980"/>
                </a:lnTo>
                <a:lnTo>
                  <a:pt x="427464" y="5823"/>
                </a:lnTo>
                <a:lnTo>
                  <a:pt x="426431" y="6395"/>
                </a:lnTo>
                <a:lnTo>
                  <a:pt x="424399" y="6541"/>
                </a:lnTo>
                <a:lnTo>
                  <a:pt x="423311" y="6886"/>
                </a:lnTo>
                <a:lnTo>
                  <a:pt x="422771" y="7451"/>
                </a:lnTo>
                <a:lnTo>
                  <a:pt x="421740" y="7952"/>
                </a:lnTo>
                <a:lnTo>
                  <a:pt x="420788" y="9173"/>
                </a:lnTo>
                <a:lnTo>
                  <a:pt x="419506" y="10205"/>
                </a:lnTo>
                <a:lnTo>
                  <a:pt x="417868" y="11255"/>
                </a:lnTo>
                <a:lnTo>
                  <a:pt x="417203" y="11450"/>
                </a:lnTo>
                <a:lnTo>
                  <a:pt x="416035" y="11528"/>
                </a:lnTo>
                <a:lnTo>
                  <a:pt x="414552" y="11012"/>
                </a:lnTo>
                <a:lnTo>
                  <a:pt x="412833" y="11090"/>
                </a:lnTo>
                <a:lnTo>
                  <a:pt x="410782" y="10681"/>
                </a:lnTo>
                <a:lnTo>
                  <a:pt x="407501" y="11862"/>
                </a:lnTo>
                <a:lnTo>
                  <a:pt x="406740" y="11923"/>
                </a:lnTo>
                <a:lnTo>
                  <a:pt x="405286" y="11400"/>
                </a:lnTo>
                <a:lnTo>
                  <a:pt x="401922" y="11429"/>
                </a:lnTo>
                <a:lnTo>
                  <a:pt x="401396" y="11044"/>
                </a:lnTo>
                <a:lnTo>
                  <a:pt x="400130" y="10896"/>
                </a:lnTo>
                <a:lnTo>
                  <a:pt x="399188" y="11587"/>
                </a:lnTo>
                <a:lnTo>
                  <a:pt x="398855" y="12798"/>
                </a:lnTo>
                <a:lnTo>
                  <a:pt x="398549" y="12882"/>
                </a:lnTo>
                <a:lnTo>
                  <a:pt x="397512" y="12379"/>
                </a:lnTo>
                <a:lnTo>
                  <a:pt x="396778" y="12951"/>
                </a:lnTo>
                <a:lnTo>
                  <a:pt x="396398" y="14234"/>
                </a:lnTo>
                <a:lnTo>
                  <a:pt x="396423" y="17285"/>
                </a:lnTo>
                <a:lnTo>
                  <a:pt x="395075" y="18142"/>
                </a:lnTo>
                <a:lnTo>
                  <a:pt x="394694" y="20084"/>
                </a:lnTo>
                <a:lnTo>
                  <a:pt x="393722" y="20970"/>
                </a:lnTo>
                <a:lnTo>
                  <a:pt x="391552" y="21649"/>
                </a:lnTo>
                <a:lnTo>
                  <a:pt x="390847" y="22603"/>
                </a:lnTo>
                <a:lnTo>
                  <a:pt x="390856" y="23416"/>
                </a:lnTo>
                <a:lnTo>
                  <a:pt x="390566" y="24072"/>
                </a:lnTo>
                <a:lnTo>
                  <a:pt x="389431" y="24761"/>
                </a:lnTo>
                <a:lnTo>
                  <a:pt x="389066" y="25249"/>
                </a:lnTo>
                <a:lnTo>
                  <a:pt x="388409" y="28542"/>
                </a:lnTo>
                <a:lnTo>
                  <a:pt x="388571" y="29966"/>
                </a:lnTo>
                <a:lnTo>
                  <a:pt x="388426" y="31501"/>
                </a:lnTo>
                <a:lnTo>
                  <a:pt x="389193" y="33177"/>
                </a:lnTo>
                <a:lnTo>
                  <a:pt x="389552" y="34893"/>
                </a:lnTo>
                <a:lnTo>
                  <a:pt x="389444" y="36332"/>
                </a:lnTo>
                <a:lnTo>
                  <a:pt x="388838" y="37462"/>
                </a:lnTo>
                <a:lnTo>
                  <a:pt x="386454" y="40578"/>
                </a:lnTo>
                <a:lnTo>
                  <a:pt x="386202" y="42410"/>
                </a:lnTo>
                <a:lnTo>
                  <a:pt x="385144" y="44093"/>
                </a:lnTo>
                <a:lnTo>
                  <a:pt x="385090" y="45019"/>
                </a:lnTo>
                <a:lnTo>
                  <a:pt x="383510" y="46512"/>
                </a:lnTo>
                <a:lnTo>
                  <a:pt x="381807" y="48921"/>
                </a:lnTo>
                <a:lnTo>
                  <a:pt x="380900" y="49548"/>
                </a:lnTo>
                <a:lnTo>
                  <a:pt x="380072" y="49562"/>
                </a:lnTo>
                <a:lnTo>
                  <a:pt x="378249" y="48142"/>
                </a:lnTo>
                <a:lnTo>
                  <a:pt x="376381" y="47675"/>
                </a:lnTo>
                <a:lnTo>
                  <a:pt x="375527" y="47209"/>
                </a:lnTo>
                <a:lnTo>
                  <a:pt x="373734" y="47127"/>
                </a:lnTo>
                <a:lnTo>
                  <a:pt x="371806" y="47610"/>
                </a:lnTo>
                <a:lnTo>
                  <a:pt x="368225" y="49184"/>
                </a:lnTo>
                <a:lnTo>
                  <a:pt x="367799" y="49623"/>
                </a:lnTo>
                <a:lnTo>
                  <a:pt x="367647" y="50594"/>
                </a:lnTo>
                <a:lnTo>
                  <a:pt x="368311" y="52087"/>
                </a:lnTo>
                <a:lnTo>
                  <a:pt x="368203" y="52893"/>
                </a:lnTo>
                <a:lnTo>
                  <a:pt x="367868" y="53426"/>
                </a:lnTo>
                <a:lnTo>
                  <a:pt x="361710" y="54512"/>
                </a:lnTo>
                <a:lnTo>
                  <a:pt x="359611" y="55123"/>
                </a:lnTo>
                <a:lnTo>
                  <a:pt x="358548" y="55041"/>
                </a:lnTo>
                <a:lnTo>
                  <a:pt x="357219" y="55430"/>
                </a:lnTo>
                <a:lnTo>
                  <a:pt x="353811" y="55529"/>
                </a:lnTo>
                <a:lnTo>
                  <a:pt x="351503" y="56645"/>
                </a:lnTo>
                <a:lnTo>
                  <a:pt x="349309" y="57222"/>
                </a:lnTo>
                <a:lnTo>
                  <a:pt x="348307" y="57920"/>
                </a:lnTo>
                <a:lnTo>
                  <a:pt x="348177" y="58842"/>
                </a:lnTo>
                <a:lnTo>
                  <a:pt x="346245" y="59926"/>
                </a:lnTo>
                <a:lnTo>
                  <a:pt x="344813" y="59619"/>
                </a:lnTo>
                <a:lnTo>
                  <a:pt x="343547" y="60017"/>
                </a:lnTo>
                <a:lnTo>
                  <a:pt x="342693" y="60691"/>
                </a:lnTo>
                <a:lnTo>
                  <a:pt x="341728" y="62149"/>
                </a:lnTo>
                <a:lnTo>
                  <a:pt x="339173" y="63617"/>
                </a:lnTo>
                <a:lnTo>
                  <a:pt x="335596" y="64207"/>
                </a:lnTo>
                <a:lnTo>
                  <a:pt x="329348" y="63558"/>
                </a:lnTo>
                <a:lnTo>
                  <a:pt x="327644" y="63692"/>
                </a:lnTo>
                <a:lnTo>
                  <a:pt x="327193" y="63866"/>
                </a:lnTo>
                <a:lnTo>
                  <a:pt x="324239" y="66411"/>
                </a:lnTo>
                <a:lnTo>
                  <a:pt x="322876" y="66842"/>
                </a:lnTo>
                <a:lnTo>
                  <a:pt x="321452" y="67719"/>
                </a:lnTo>
                <a:lnTo>
                  <a:pt x="319274" y="67924"/>
                </a:lnTo>
                <a:lnTo>
                  <a:pt x="317490" y="66157"/>
                </a:lnTo>
                <a:lnTo>
                  <a:pt x="314918" y="64849"/>
                </a:lnTo>
                <a:lnTo>
                  <a:pt x="311723" y="65018"/>
                </a:lnTo>
                <a:lnTo>
                  <a:pt x="310573" y="64462"/>
                </a:lnTo>
                <a:lnTo>
                  <a:pt x="309514" y="64360"/>
                </a:lnTo>
                <a:lnTo>
                  <a:pt x="306553" y="64918"/>
                </a:lnTo>
                <a:lnTo>
                  <a:pt x="304032" y="64274"/>
                </a:lnTo>
                <a:lnTo>
                  <a:pt x="302041" y="64341"/>
                </a:lnTo>
                <a:lnTo>
                  <a:pt x="300633" y="64103"/>
                </a:lnTo>
                <a:lnTo>
                  <a:pt x="298106" y="64617"/>
                </a:lnTo>
                <a:lnTo>
                  <a:pt x="295327" y="64332"/>
                </a:lnTo>
                <a:lnTo>
                  <a:pt x="294350" y="64794"/>
                </a:lnTo>
                <a:lnTo>
                  <a:pt x="293492" y="66666"/>
                </a:lnTo>
                <a:lnTo>
                  <a:pt x="292556" y="67759"/>
                </a:lnTo>
                <a:lnTo>
                  <a:pt x="289697" y="69706"/>
                </a:lnTo>
                <a:lnTo>
                  <a:pt x="288851" y="70135"/>
                </a:lnTo>
                <a:lnTo>
                  <a:pt x="287830" y="70021"/>
                </a:lnTo>
                <a:lnTo>
                  <a:pt x="286671" y="70564"/>
                </a:lnTo>
                <a:lnTo>
                  <a:pt x="284759" y="70924"/>
                </a:lnTo>
                <a:lnTo>
                  <a:pt x="284053" y="71924"/>
                </a:lnTo>
                <a:lnTo>
                  <a:pt x="283571" y="73713"/>
                </a:lnTo>
                <a:lnTo>
                  <a:pt x="282974" y="74709"/>
                </a:lnTo>
                <a:lnTo>
                  <a:pt x="282170" y="75277"/>
                </a:lnTo>
                <a:lnTo>
                  <a:pt x="281434" y="75470"/>
                </a:lnTo>
                <a:lnTo>
                  <a:pt x="279813" y="77418"/>
                </a:lnTo>
                <a:lnTo>
                  <a:pt x="278319" y="77489"/>
                </a:lnTo>
                <a:lnTo>
                  <a:pt x="276737" y="77985"/>
                </a:lnTo>
                <a:lnTo>
                  <a:pt x="275691" y="78622"/>
                </a:lnTo>
                <a:lnTo>
                  <a:pt x="274268" y="78550"/>
                </a:lnTo>
                <a:lnTo>
                  <a:pt x="272454" y="80626"/>
                </a:lnTo>
                <a:lnTo>
                  <a:pt x="270119" y="82295"/>
                </a:lnTo>
                <a:lnTo>
                  <a:pt x="269448" y="83391"/>
                </a:lnTo>
                <a:lnTo>
                  <a:pt x="267230" y="85908"/>
                </a:lnTo>
                <a:lnTo>
                  <a:pt x="266477" y="87159"/>
                </a:lnTo>
                <a:lnTo>
                  <a:pt x="266313" y="87916"/>
                </a:lnTo>
                <a:lnTo>
                  <a:pt x="267045" y="90424"/>
                </a:lnTo>
                <a:lnTo>
                  <a:pt x="267098" y="91761"/>
                </a:lnTo>
                <a:lnTo>
                  <a:pt x="266784" y="93009"/>
                </a:lnTo>
                <a:lnTo>
                  <a:pt x="265867" y="93782"/>
                </a:lnTo>
                <a:lnTo>
                  <a:pt x="265019" y="95167"/>
                </a:lnTo>
                <a:lnTo>
                  <a:pt x="263493" y="96317"/>
                </a:lnTo>
                <a:lnTo>
                  <a:pt x="260551" y="97421"/>
                </a:lnTo>
                <a:lnTo>
                  <a:pt x="258786" y="99932"/>
                </a:lnTo>
                <a:lnTo>
                  <a:pt x="256448" y="101983"/>
                </a:lnTo>
                <a:lnTo>
                  <a:pt x="254617" y="102484"/>
                </a:lnTo>
                <a:lnTo>
                  <a:pt x="253263" y="103259"/>
                </a:lnTo>
                <a:lnTo>
                  <a:pt x="252387" y="104121"/>
                </a:lnTo>
                <a:lnTo>
                  <a:pt x="251826" y="104282"/>
                </a:lnTo>
                <a:lnTo>
                  <a:pt x="250635" y="104073"/>
                </a:lnTo>
                <a:lnTo>
                  <a:pt x="249227" y="104316"/>
                </a:lnTo>
                <a:lnTo>
                  <a:pt x="248407" y="104852"/>
                </a:lnTo>
                <a:lnTo>
                  <a:pt x="248035" y="106354"/>
                </a:lnTo>
                <a:lnTo>
                  <a:pt x="249173" y="109302"/>
                </a:lnTo>
                <a:lnTo>
                  <a:pt x="248683" y="111101"/>
                </a:lnTo>
                <a:lnTo>
                  <a:pt x="249475" y="112381"/>
                </a:lnTo>
                <a:lnTo>
                  <a:pt x="249644" y="113179"/>
                </a:lnTo>
                <a:lnTo>
                  <a:pt x="249426" y="113888"/>
                </a:lnTo>
                <a:lnTo>
                  <a:pt x="248731" y="114511"/>
                </a:lnTo>
                <a:lnTo>
                  <a:pt x="248722" y="115462"/>
                </a:lnTo>
                <a:lnTo>
                  <a:pt x="248404" y="116204"/>
                </a:lnTo>
                <a:lnTo>
                  <a:pt x="247399" y="117638"/>
                </a:lnTo>
                <a:lnTo>
                  <a:pt x="245476" y="118740"/>
                </a:lnTo>
                <a:lnTo>
                  <a:pt x="243844" y="120456"/>
                </a:lnTo>
                <a:lnTo>
                  <a:pt x="240808" y="121391"/>
                </a:lnTo>
                <a:lnTo>
                  <a:pt x="238556" y="123130"/>
                </a:lnTo>
                <a:lnTo>
                  <a:pt x="236650" y="124029"/>
                </a:lnTo>
                <a:lnTo>
                  <a:pt x="235662" y="124973"/>
                </a:lnTo>
                <a:lnTo>
                  <a:pt x="233971" y="125001"/>
                </a:lnTo>
                <a:lnTo>
                  <a:pt x="233573" y="124832"/>
                </a:lnTo>
                <a:lnTo>
                  <a:pt x="233112" y="124120"/>
                </a:lnTo>
                <a:lnTo>
                  <a:pt x="232723" y="124190"/>
                </a:lnTo>
                <a:lnTo>
                  <a:pt x="232041" y="125180"/>
                </a:lnTo>
                <a:lnTo>
                  <a:pt x="232007" y="125658"/>
                </a:lnTo>
                <a:lnTo>
                  <a:pt x="232713" y="128023"/>
                </a:lnTo>
                <a:lnTo>
                  <a:pt x="232970" y="130380"/>
                </a:lnTo>
                <a:lnTo>
                  <a:pt x="232753" y="131302"/>
                </a:lnTo>
                <a:lnTo>
                  <a:pt x="232221" y="131987"/>
                </a:lnTo>
                <a:lnTo>
                  <a:pt x="232087" y="133349"/>
                </a:lnTo>
                <a:lnTo>
                  <a:pt x="232886" y="135753"/>
                </a:lnTo>
                <a:lnTo>
                  <a:pt x="232910" y="137045"/>
                </a:lnTo>
                <a:lnTo>
                  <a:pt x="231723" y="139496"/>
                </a:lnTo>
                <a:lnTo>
                  <a:pt x="230447" y="140380"/>
                </a:lnTo>
                <a:lnTo>
                  <a:pt x="229286" y="142097"/>
                </a:lnTo>
                <a:lnTo>
                  <a:pt x="228652" y="142330"/>
                </a:lnTo>
                <a:lnTo>
                  <a:pt x="227784" y="143152"/>
                </a:lnTo>
                <a:lnTo>
                  <a:pt x="226208" y="143581"/>
                </a:lnTo>
                <a:lnTo>
                  <a:pt x="225480" y="144310"/>
                </a:lnTo>
                <a:lnTo>
                  <a:pt x="223495" y="145440"/>
                </a:lnTo>
                <a:lnTo>
                  <a:pt x="219316" y="146857"/>
                </a:lnTo>
                <a:lnTo>
                  <a:pt x="218397" y="147635"/>
                </a:lnTo>
                <a:lnTo>
                  <a:pt x="216115" y="148233"/>
                </a:lnTo>
                <a:lnTo>
                  <a:pt x="215492" y="147915"/>
                </a:lnTo>
                <a:lnTo>
                  <a:pt x="214624" y="148060"/>
                </a:lnTo>
                <a:lnTo>
                  <a:pt x="214190" y="147487"/>
                </a:lnTo>
                <a:lnTo>
                  <a:pt x="213355" y="147763"/>
                </a:lnTo>
                <a:lnTo>
                  <a:pt x="213040" y="148352"/>
                </a:lnTo>
                <a:lnTo>
                  <a:pt x="213200" y="149148"/>
                </a:lnTo>
                <a:lnTo>
                  <a:pt x="214022" y="149895"/>
                </a:lnTo>
                <a:lnTo>
                  <a:pt x="214079" y="150733"/>
                </a:lnTo>
                <a:lnTo>
                  <a:pt x="213911" y="151257"/>
                </a:lnTo>
                <a:lnTo>
                  <a:pt x="212963" y="151607"/>
                </a:lnTo>
                <a:lnTo>
                  <a:pt x="212598" y="152211"/>
                </a:lnTo>
                <a:lnTo>
                  <a:pt x="212176" y="152418"/>
                </a:lnTo>
                <a:lnTo>
                  <a:pt x="210211" y="152658"/>
                </a:lnTo>
                <a:lnTo>
                  <a:pt x="209790" y="153276"/>
                </a:lnTo>
                <a:lnTo>
                  <a:pt x="209273" y="153197"/>
                </a:lnTo>
                <a:lnTo>
                  <a:pt x="208414" y="153508"/>
                </a:lnTo>
                <a:lnTo>
                  <a:pt x="208108" y="153117"/>
                </a:lnTo>
                <a:lnTo>
                  <a:pt x="208289" y="152274"/>
                </a:lnTo>
                <a:lnTo>
                  <a:pt x="207956" y="151680"/>
                </a:lnTo>
                <a:lnTo>
                  <a:pt x="207376" y="151512"/>
                </a:lnTo>
                <a:lnTo>
                  <a:pt x="206158" y="152009"/>
                </a:lnTo>
                <a:lnTo>
                  <a:pt x="205953" y="153330"/>
                </a:lnTo>
                <a:lnTo>
                  <a:pt x="206804" y="153926"/>
                </a:lnTo>
                <a:lnTo>
                  <a:pt x="208568" y="155857"/>
                </a:lnTo>
                <a:lnTo>
                  <a:pt x="208870" y="156998"/>
                </a:lnTo>
                <a:lnTo>
                  <a:pt x="208778" y="157971"/>
                </a:lnTo>
                <a:lnTo>
                  <a:pt x="208119" y="158943"/>
                </a:lnTo>
                <a:lnTo>
                  <a:pt x="206432" y="159460"/>
                </a:lnTo>
                <a:lnTo>
                  <a:pt x="206231" y="160125"/>
                </a:lnTo>
                <a:lnTo>
                  <a:pt x="204901" y="161040"/>
                </a:lnTo>
                <a:lnTo>
                  <a:pt x="204875" y="161903"/>
                </a:lnTo>
                <a:lnTo>
                  <a:pt x="204343" y="162364"/>
                </a:lnTo>
                <a:lnTo>
                  <a:pt x="204020" y="163141"/>
                </a:lnTo>
                <a:lnTo>
                  <a:pt x="203520" y="163440"/>
                </a:lnTo>
                <a:lnTo>
                  <a:pt x="203661" y="165619"/>
                </a:lnTo>
                <a:lnTo>
                  <a:pt x="202057" y="167366"/>
                </a:lnTo>
                <a:lnTo>
                  <a:pt x="201112" y="167795"/>
                </a:lnTo>
                <a:lnTo>
                  <a:pt x="199724" y="167694"/>
                </a:lnTo>
                <a:lnTo>
                  <a:pt x="199459" y="167074"/>
                </a:lnTo>
                <a:lnTo>
                  <a:pt x="198832" y="167284"/>
                </a:lnTo>
                <a:lnTo>
                  <a:pt x="197961" y="166960"/>
                </a:lnTo>
                <a:lnTo>
                  <a:pt x="197641" y="166538"/>
                </a:lnTo>
                <a:lnTo>
                  <a:pt x="197592" y="165574"/>
                </a:lnTo>
                <a:lnTo>
                  <a:pt x="196542" y="162921"/>
                </a:lnTo>
                <a:lnTo>
                  <a:pt x="195980" y="162307"/>
                </a:lnTo>
                <a:lnTo>
                  <a:pt x="194432" y="161654"/>
                </a:lnTo>
                <a:lnTo>
                  <a:pt x="191845" y="162265"/>
                </a:lnTo>
                <a:lnTo>
                  <a:pt x="191188" y="163007"/>
                </a:lnTo>
                <a:lnTo>
                  <a:pt x="191042" y="163953"/>
                </a:lnTo>
                <a:lnTo>
                  <a:pt x="190024" y="164962"/>
                </a:lnTo>
                <a:lnTo>
                  <a:pt x="190033" y="165459"/>
                </a:lnTo>
                <a:lnTo>
                  <a:pt x="189773" y="165695"/>
                </a:lnTo>
                <a:lnTo>
                  <a:pt x="188837" y="165622"/>
                </a:lnTo>
                <a:lnTo>
                  <a:pt x="188396" y="166224"/>
                </a:lnTo>
                <a:lnTo>
                  <a:pt x="187106" y="166038"/>
                </a:lnTo>
                <a:lnTo>
                  <a:pt x="186837" y="166241"/>
                </a:lnTo>
                <a:lnTo>
                  <a:pt x="185773" y="165815"/>
                </a:lnTo>
                <a:lnTo>
                  <a:pt x="185448" y="165412"/>
                </a:lnTo>
                <a:lnTo>
                  <a:pt x="184688" y="165299"/>
                </a:lnTo>
                <a:lnTo>
                  <a:pt x="184236" y="164893"/>
                </a:lnTo>
                <a:lnTo>
                  <a:pt x="183014" y="165108"/>
                </a:lnTo>
                <a:lnTo>
                  <a:pt x="181797" y="164464"/>
                </a:lnTo>
                <a:lnTo>
                  <a:pt x="181452" y="164506"/>
                </a:lnTo>
                <a:lnTo>
                  <a:pt x="180751" y="165049"/>
                </a:lnTo>
                <a:lnTo>
                  <a:pt x="180438" y="167166"/>
                </a:lnTo>
                <a:lnTo>
                  <a:pt x="181141" y="168965"/>
                </a:lnTo>
                <a:lnTo>
                  <a:pt x="181136" y="169475"/>
                </a:lnTo>
                <a:lnTo>
                  <a:pt x="179660" y="170989"/>
                </a:lnTo>
                <a:lnTo>
                  <a:pt x="178058" y="171158"/>
                </a:lnTo>
                <a:lnTo>
                  <a:pt x="177355" y="171565"/>
                </a:lnTo>
                <a:lnTo>
                  <a:pt x="176863" y="172275"/>
                </a:lnTo>
                <a:lnTo>
                  <a:pt x="177009" y="172925"/>
                </a:lnTo>
                <a:lnTo>
                  <a:pt x="176853" y="173385"/>
                </a:lnTo>
                <a:lnTo>
                  <a:pt x="177299" y="174800"/>
                </a:lnTo>
                <a:lnTo>
                  <a:pt x="176705" y="176308"/>
                </a:lnTo>
                <a:lnTo>
                  <a:pt x="176767" y="176919"/>
                </a:lnTo>
                <a:lnTo>
                  <a:pt x="176089" y="177651"/>
                </a:lnTo>
                <a:lnTo>
                  <a:pt x="176018" y="178305"/>
                </a:lnTo>
                <a:lnTo>
                  <a:pt x="175346" y="178737"/>
                </a:lnTo>
                <a:lnTo>
                  <a:pt x="174766" y="180188"/>
                </a:lnTo>
                <a:lnTo>
                  <a:pt x="176287" y="182016"/>
                </a:lnTo>
                <a:lnTo>
                  <a:pt x="175679" y="184432"/>
                </a:lnTo>
                <a:lnTo>
                  <a:pt x="175012" y="185771"/>
                </a:lnTo>
                <a:lnTo>
                  <a:pt x="174221" y="185905"/>
                </a:lnTo>
                <a:lnTo>
                  <a:pt x="173662" y="186950"/>
                </a:lnTo>
                <a:lnTo>
                  <a:pt x="172775" y="187104"/>
                </a:lnTo>
                <a:lnTo>
                  <a:pt x="171811" y="188173"/>
                </a:lnTo>
                <a:lnTo>
                  <a:pt x="171345" y="188287"/>
                </a:lnTo>
                <a:lnTo>
                  <a:pt x="171023" y="189874"/>
                </a:lnTo>
                <a:lnTo>
                  <a:pt x="170378" y="190192"/>
                </a:lnTo>
                <a:lnTo>
                  <a:pt x="169804" y="190976"/>
                </a:lnTo>
                <a:lnTo>
                  <a:pt x="169800" y="191372"/>
                </a:lnTo>
                <a:lnTo>
                  <a:pt x="168958" y="191669"/>
                </a:lnTo>
                <a:lnTo>
                  <a:pt x="168309" y="191360"/>
                </a:lnTo>
                <a:lnTo>
                  <a:pt x="167601" y="191357"/>
                </a:lnTo>
                <a:lnTo>
                  <a:pt x="166198" y="191722"/>
                </a:lnTo>
                <a:lnTo>
                  <a:pt x="164898" y="191049"/>
                </a:lnTo>
                <a:lnTo>
                  <a:pt x="164676" y="191075"/>
                </a:lnTo>
                <a:lnTo>
                  <a:pt x="164537" y="191517"/>
                </a:lnTo>
                <a:lnTo>
                  <a:pt x="163000" y="191090"/>
                </a:lnTo>
                <a:lnTo>
                  <a:pt x="162665" y="191312"/>
                </a:lnTo>
                <a:lnTo>
                  <a:pt x="161685" y="191365"/>
                </a:lnTo>
                <a:lnTo>
                  <a:pt x="161262" y="191023"/>
                </a:lnTo>
                <a:lnTo>
                  <a:pt x="160693" y="191315"/>
                </a:lnTo>
                <a:lnTo>
                  <a:pt x="159385" y="190865"/>
                </a:lnTo>
                <a:lnTo>
                  <a:pt x="158922" y="191160"/>
                </a:lnTo>
                <a:lnTo>
                  <a:pt x="157883" y="191258"/>
                </a:lnTo>
                <a:lnTo>
                  <a:pt x="156946" y="190933"/>
                </a:lnTo>
                <a:lnTo>
                  <a:pt x="156831" y="192142"/>
                </a:lnTo>
                <a:lnTo>
                  <a:pt x="155854" y="193033"/>
                </a:lnTo>
                <a:lnTo>
                  <a:pt x="155545" y="195435"/>
                </a:lnTo>
                <a:lnTo>
                  <a:pt x="155132" y="195980"/>
                </a:lnTo>
                <a:lnTo>
                  <a:pt x="154761" y="197312"/>
                </a:lnTo>
                <a:lnTo>
                  <a:pt x="153793" y="197581"/>
                </a:lnTo>
                <a:lnTo>
                  <a:pt x="152043" y="197175"/>
                </a:lnTo>
                <a:lnTo>
                  <a:pt x="151353" y="196459"/>
                </a:lnTo>
                <a:lnTo>
                  <a:pt x="150788" y="195332"/>
                </a:lnTo>
                <a:lnTo>
                  <a:pt x="152177" y="193207"/>
                </a:lnTo>
                <a:lnTo>
                  <a:pt x="152256" y="191865"/>
                </a:lnTo>
                <a:lnTo>
                  <a:pt x="151944" y="191512"/>
                </a:lnTo>
                <a:lnTo>
                  <a:pt x="148867" y="191574"/>
                </a:lnTo>
                <a:lnTo>
                  <a:pt x="147286" y="192985"/>
                </a:lnTo>
                <a:lnTo>
                  <a:pt x="147192" y="193766"/>
                </a:lnTo>
                <a:lnTo>
                  <a:pt x="146619" y="194375"/>
                </a:lnTo>
                <a:lnTo>
                  <a:pt x="146591" y="194739"/>
                </a:lnTo>
                <a:lnTo>
                  <a:pt x="147737" y="196428"/>
                </a:lnTo>
                <a:lnTo>
                  <a:pt x="146968" y="196810"/>
                </a:lnTo>
                <a:lnTo>
                  <a:pt x="146735" y="197487"/>
                </a:lnTo>
                <a:lnTo>
                  <a:pt x="144330" y="197546"/>
                </a:lnTo>
                <a:lnTo>
                  <a:pt x="143073" y="197216"/>
                </a:lnTo>
                <a:lnTo>
                  <a:pt x="142862" y="196634"/>
                </a:lnTo>
                <a:lnTo>
                  <a:pt x="143242" y="196291"/>
                </a:lnTo>
                <a:lnTo>
                  <a:pt x="143554" y="195244"/>
                </a:lnTo>
                <a:lnTo>
                  <a:pt x="144149" y="194766"/>
                </a:lnTo>
                <a:lnTo>
                  <a:pt x="144045" y="193659"/>
                </a:lnTo>
                <a:lnTo>
                  <a:pt x="144266" y="193454"/>
                </a:lnTo>
                <a:lnTo>
                  <a:pt x="144227" y="193064"/>
                </a:lnTo>
                <a:lnTo>
                  <a:pt x="143691" y="192709"/>
                </a:lnTo>
                <a:lnTo>
                  <a:pt x="143075" y="192639"/>
                </a:lnTo>
                <a:lnTo>
                  <a:pt x="141312" y="193055"/>
                </a:lnTo>
                <a:lnTo>
                  <a:pt x="140235" y="193460"/>
                </a:lnTo>
                <a:lnTo>
                  <a:pt x="139535" y="194005"/>
                </a:lnTo>
                <a:lnTo>
                  <a:pt x="139465" y="195688"/>
                </a:lnTo>
                <a:lnTo>
                  <a:pt x="138729" y="196261"/>
                </a:lnTo>
                <a:lnTo>
                  <a:pt x="138141" y="197571"/>
                </a:lnTo>
                <a:lnTo>
                  <a:pt x="137595" y="197873"/>
                </a:lnTo>
                <a:lnTo>
                  <a:pt x="137444" y="198292"/>
                </a:lnTo>
                <a:lnTo>
                  <a:pt x="138002" y="198560"/>
                </a:lnTo>
                <a:lnTo>
                  <a:pt x="137598" y="199440"/>
                </a:lnTo>
                <a:lnTo>
                  <a:pt x="138154" y="200326"/>
                </a:lnTo>
                <a:lnTo>
                  <a:pt x="137188" y="200459"/>
                </a:lnTo>
                <a:lnTo>
                  <a:pt x="137586" y="201012"/>
                </a:lnTo>
                <a:lnTo>
                  <a:pt x="137260" y="201306"/>
                </a:lnTo>
                <a:lnTo>
                  <a:pt x="136880" y="201062"/>
                </a:lnTo>
                <a:lnTo>
                  <a:pt x="136428" y="201416"/>
                </a:lnTo>
                <a:lnTo>
                  <a:pt x="136454" y="202199"/>
                </a:lnTo>
                <a:lnTo>
                  <a:pt x="135959" y="202979"/>
                </a:lnTo>
                <a:lnTo>
                  <a:pt x="134836" y="202495"/>
                </a:lnTo>
                <a:lnTo>
                  <a:pt x="133754" y="202819"/>
                </a:lnTo>
                <a:lnTo>
                  <a:pt x="133232" y="204142"/>
                </a:lnTo>
                <a:lnTo>
                  <a:pt x="130670" y="205257"/>
                </a:lnTo>
                <a:lnTo>
                  <a:pt x="130137" y="205269"/>
                </a:lnTo>
                <a:lnTo>
                  <a:pt x="129672" y="204307"/>
                </a:lnTo>
                <a:lnTo>
                  <a:pt x="129414" y="204314"/>
                </a:lnTo>
                <a:lnTo>
                  <a:pt x="128887" y="205096"/>
                </a:lnTo>
                <a:lnTo>
                  <a:pt x="127613" y="205282"/>
                </a:lnTo>
                <a:lnTo>
                  <a:pt x="127031" y="205980"/>
                </a:lnTo>
                <a:lnTo>
                  <a:pt x="126485" y="205947"/>
                </a:lnTo>
                <a:lnTo>
                  <a:pt x="126074" y="206266"/>
                </a:lnTo>
                <a:lnTo>
                  <a:pt x="125902" y="207785"/>
                </a:lnTo>
                <a:lnTo>
                  <a:pt x="125576" y="208018"/>
                </a:lnTo>
                <a:lnTo>
                  <a:pt x="124565" y="208205"/>
                </a:lnTo>
                <a:lnTo>
                  <a:pt x="124175" y="207785"/>
                </a:lnTo>
                <a:lnTo>
                  <a:pt x="124658" y="206423"/>
                </a:lnTo>
                <a:lnTo>
                  <a:pt x="124549" y="206251"/>
                </a:lnTo>
                <a:lnTo>
                  <a:pt x="122044" y="206972"/>
                </a:lnTo>
                <a:lnTo>
                  <a:pt x="121726" y="207317"/>
                </a:lnTo>
                <a:lnTo>
                  <a:pt x="119504" y="208217"/>
                </a:lnTo>
                <a:lnTo>
                  <a:pt x="119679" y="210884"/>
                </a:lnTo>
                <a:lnTo>
                  <a:pt x="120513" y="211046"/>
                </a:lnTo>
                <a:lnTo>
                  <a:pt x="120937" y="211622"/>
                </a:lnTo>
                <a:lnTo>
                  <a:pt x="121884" y="212023"/>
                </a:lnTo>
                <a:lnTo>
                  <a:pt x="122136" y="212776"/>
                </a:lnTo>
                <a:lnTo>
                  <a:pt x="122065" y="212989"/>
                </a:lnTo>
                <a:lnTo>
                  <a:pt x="121239" y="212873"/>
                </a:lnTo>
                <a:lnTo>
                  <a:pt x="120793" y="213166"/>
                </a:lnTo>
                <a:lnTo>
                  <a:pt x="120643" y="214075"/>
                </a:lnTo>
                <a:lnTo>
                  <a:pt x="120043" y="214122"/>
                </a:lnTo>
                <a:lnTo>
                  <a:pt x="119573" y="213592"/>
                </a:lnTo>
                <a:lnTo>
                  <a:pt x="119282" y="213992"/>
                </a:lnTo>
                <a:lnTo>
                  <a:pt x="118750" y="213809"/>
                </a:lnTo>
                <a:lnTo>
                  <a:pt x="116415" y="211969"/>
                </a:lnTo>
                <a:lnTo>
                  <a:pt x="115513" y="212394"/>
                </a:lnTo>
                <a:lnTo>
                  <a:pt x="115685" y="213031"/>
                </a:lnTo>
                <a:lnTo>
                  <a:pt x="115255" y="214267"/>
                </a:lnTo>
                <a:lnTo>
                  <a:pt x="114546" y="214362"/>
                </a:lnTo>
                <a:lnTo>
                  <a:pt x="114419" y="213740"/>
                </a:lnTo>
                <a:lnTo>
                  <a:pt x="114029" y="214078"/>
                </a:lnTo>
                <a:lnTo>
                  <a:pt x="113796" y="213957"/>
                </a:lnTo>
                <a:lnTo>
                  <a:pt x="113746" y="213268"/>
                </a:lnTo>
                <a:lnTo>
                  <a:pt x="112808" y="212182"/>
                </a:lnTo>
                <a:lnTo>
                  <a:pt x="112182" y="212334"/>
                </a:lnTo>
                <a:lnTo>
                  <a:pt x="111494" y="212011"/>
                </a:lnTo>
                <a:lnTo>
                  <a:pt x="110928" y="212116"/>
                </a:lnTo>
                <a:lnTo>
                  <a:pt x="110632" y="212903"/>
                </a:lnTo>
                <a:lnTo>
                  <a:pt x="111275" y="212652"/>
                </a:lnTo>
                <a:lnTo>
                  <a:pt x="111554" y="212966"/>
                </a:lnTo>
                <a:lnTo>
                  <a:pt x="110837" y="213712"/>
                </a:lnTo>
                <a:lnTo>
                  <a:pt x="110773" y="215330"/>
                </a:lnTo>
                <a:lnTo>
                  <a:pt x="111541" y="216906"/>
                </a:lnTo>
                <a:lnTo>
                  <a:pt x="112782" y="216613"/>
                </a:lnTo>
                <a:lnTo>
                  <a:pt x="112988" y="217913"/>
                </a:lnTo>
                <a:lnTo>
                  <a:pt x="113667" y="219506"/>
                </a:lnTo>
                <a:lnTo>
                  <a:pt x="113361" y="219207"/>
                </a:lnTo>
                <a:lnTo>
                  <a:pt x="113080" y="219244"/>
                </a:lnTo>
                <a:lnTo>
                  <a:pt x="113066" y="219959"/>
                </a:lnTo>
                <a:lnTo>
                  <a:pt x="112310" y="220373"/>
                </a:lnTo>
                <a:lnTo>
                  <a:pt x="111579" y="220045"/>
                </a:lnTo>
                <a:lnTo>
                  <a:pt x="111175" y="220241"/>
                </a:lnTo>
                <a:lnTo>
                  <a:pt x="109969" y="220204"/>
                </a:lnTo>
                <a:lnTo>
                  <a:pt x="110171" y="219460"/>
                </a:lnTo>
                <a:lnTo>
                  <a:pt x="109177" y="219314"/>
                </a:lnTo>
                <a:lnTo>
                  <a:pt x="108129" y="218254"/>
                </a:lnTo>
                <a:lnTo>
                  <a:pt x="108087" y="218944"/>
                </a:lnTo>
                <a:lnTo>
                  <a:pt x="107516" y="219578"/>
                </a:lnTo>
                <a:lnTo>
                  <a:pt x="107047" y="219551"/>
                </a:lnTo>
                <a:lnTo>
                  <a:pt x="106746" y="219050"/>
                </a:lnTo>
                <a:lnTo>
                  <a:pt x="106751" y="220933"/>
                </a:lnTo>
                <a:lnTo>
                  <a:pt x="106468" y="221603"/>
                </a:lnTo>
                <a:lnTo>
                  <a:pt x="106750" y="222745"/>
                </a:lnTo>
                <a:lnTo>
                  <a:pt x="106264" y="223875"/>
                </a:lnTo>
                <a:lnTo>
                  <a:pt x="105399" y="224100"/>
                </a:lnTo>
                <a:lnTo>
                  <a:pt x="105388" y="224737"/>
                </a:lnTo>
                <a:lnTo>
                  <a:pt x="104558" y="224346"/>
                </a:lnTo>
                <a:lnTo>
                  <a:pt x="102723" y="224024"/>
                </a:lnTo>
                <a:lnTo>
                  <a:pt x="102405" y="224216"/>
                </a:lnTo>
                <a:lnTo>
                  <a:pt x="102402" y="225356"/>
                </a:lnTo>
                <a:lnTo>
                  <a:pt x="103194" y="225661"/>
                </a:lnTo>
                <a:lnTo>
                  <a:pt x="102427" y="226369"/>
                </a:lnTo>
                <a:lnTo>
                  <a:pt x="101474" y="226508"/>
                </a:lnTo>
                <a:lnTo>
                  <a:pt x="101097" y="226079"/>
                </a:lnTo>
                <a:lnTo>
                  <a:pt x="101348" y="225683"/>
                </a:lnTo>
                <a:lnTo>
                  <a:pt x="99381" y="226145"/>
                </a:lnTo>
                <a:lnTo>
                  <a:pt x="99875" y="228252"/>
                </a:lnTo>
                <a:lnTo>
                  <a:pt x="100150" y="228523"/>
                </a:lnTo>
                <a:lnTo>
                  <a:pt x="100724" y="228267"/>
                </a:lnTo>
                <a:lnTo>
                  <a:pt x="100872" y="229005"/>
                </a:lnTo>
                <a:lnTo>
                  <a:pt x="101512" y="229335"/>
                </a:lnTo>
                <a:lnTo>
                  <a:pt x="101645" y="229930"/>
                </a:lnTo>
                <a:lnTo>
                  <a:pt x="102493" y="231159"/>
                </a:lnTo>
                <a:lnTo>
                  <a:pt x="102136" y="231921"/>
                </a:lnTo>
                <a:lnTo>
                  <a:pt x="102475" y="233062"/>
                </a:lnTo>
                <a:lnTo>
                  <a:pt x="101936" y="232847"/>
                </a:lnTo>
                <a:lnTo>
                  <a:pt x="101481" y="232979"/>
                </a:lnTo>
                <a:lnTo>
                  <a:pt x="101906" y="233448"/>
                </a:lnTo>
                <a:lnTo>
                  <a:pt x="101929" y="233958"/>
                </a:lnTo>
                <a:lnTo>
                  <a:pt x="101310" y="234411"/>
                </a:lnTo>
                <a:lnTo>
                  <a:pt x="100844" y="235513"/>
                </a:lnTo>
                <a:lnTo>
                  <a:pt x="99916" y="235541"/>
                </a:lnTo>
                <a:lnTo>
                  <a:pt x="99070" y="236368"/>
                </a:lnTo>
                <a:lnTo>
                  <a:pt x="97087" y="237362"/>
                </a:lnTo>
                <a:lnTo>
                  <a:pt x="95960" y="237333"/>
                </a:lnTo>
                <a:lnTo>
                  <a:pt x="94970" y="236186"/>
                </a:lnTo>
                <a:lnTo>
                  <a:pt x="95579" y="234914"/>
                </a:lnTo>
                <a:lnTo>
                  <a:pt x="95843" y="233126"/>
                </a:lnTo>
                <a:lnTo>
                  <a:pt x="95307" y="233176"/>
                </a:lnTo>
                <a:lnTo>
                  <a:pt x="95007" y="233642"/>
                </a:lnTo>
                <a:lnTo>
                  <a:pt x="94331" y="233568"/>
                </a:lnTo>
                <a:lnTo>
                  <a:pt x="93564" y="232783"/>
                </a:lnTo>
                <a:lnTo>
                  <a:pt x="94304" y="232202"/>
                </a:lnTo>
                <a:lnTo>
                  <a:pt x="94282" y="231154"/>
                </a:lnTo>
                <a:lnTo>
                  <a:pt x="93354" y="231031"/>
                </a:lnTo>
                <a:lnTo>
                  <a:pt x="92028" y="230055"/>
                </a:lnTo>
                <a:lnTo>
                  <a:pt x="91684" y="230815"/>
                </a:lnTo>
                <a:lnTo>
                  <a:pt x="90896" y="231042"/>
                </a:lnTo>
                <a:lnTo>
                  <a:pt x="90396" y="232345"/>
                </a:lnTo>
                <a:lnTo>
                  <a:pt x="89808" y="232329"/>
                </a:lnTo>
                <a:lnTo>
                  <a:pt x="90008" y="232891"/>
                </a:lnTo>
                <a:lnTo>
                  <a:pt x="90559" y="233219"/>
                </a:lnTo>
                <a:lnTo>
                  <a:pt x="90800" y="234403"/>
                </a:lnTo>
                <a:lnTo>
                  <a:pt x="90646" y="235208"/>
                </a:lnTo>
                <a:lnTo>
                  <a:pt x="90278" y="235466"/>
                </a:lnTo>
                <a:lnTo>
                  <a:pt x="90040" y="236316"/>
                </a:lnTo>
                <a:lnTo>
                  <a:pt x="90699" y="237815"/>
                </a:lnTo>
                <a:lnTo>
                  <a:pt x="90638" y="238152"/>
                </a:lnTo>
                <a:lnTo>
                  <a:pt x="87243" y="239375"/>
                </a:lnTo>
                <a:lnTo>
                  <a:pt x="85989" y="240335"/>
                </a:lnTo>
                <a:lnTo>
                  <a:pt x="86336" y="241042"/>
                </a:lnTo>
                <a:lnTo>
                  <a:pt x="86435" y="242052"/>
                </a:lnTo>
                <a:lnTo>
                  <a:pt x="85794" y="242503"/>
                </a:lnTo>
                <a:lnTo>
                  <a:pt x="85512" y="243642"/>
                </a:lnTo>
                <a:lnTo>
                  <a:pt x="85814" y="244383"/>
                </a:lnTo>
                <a:lnTo>
                  <a:pt x="85228" y="244673"/>
                </a:lnTo>
                <a:lnTo>
                  <a:pt x="85228" y="245284"/>
                </a:lnTo>
                <a:lnTo>
                  <a:pt x="84919" y="245679"/>
                </a:lnTo>
                <a:lnTo>
                  <a:pt x="84895" y="246293"/>
                </a:lnTo>
                <a:lnTo>
                  <a:pt x="84411" y="247397"/>
                </a:lnTo>
                <a:lnTo>
                  <a:pt x="84971" y="248637"/>
                </a:lnTo>
                <a:lnTo>
                  <a:pt x="84558" y="250076"/>
                </a:lnTo>
                <a:lnTo>
                  <a:pt x="84932" y="250940"/>
                </a:lnTo>
                <a:lnTo>
                  <a:pt x="84674" y="251344"/>
                </a:lnTo>
                <a:lnTo>
                  <a:pt x="84684" y="252266"/>
                </a:lnTo>
                <a:lnTo>
                  <a:pt x="83704" y="253350"/>
                </a:lnTo>
                <a:lnTo>
                  <a:pt x="82834" y="254933"/>
                </a:lnTo>
                <a:lnTo>
                  <a:pt x="83020" y="256783"/>
                </a:lnTo>
                <a:lnTo>
                  <a:pt x="82349" y="258120"/>
                </a:lnTo>
                <a:lnTo>
                  <a:pt x="82274" y="259657"/>
                </a:lnTo>
                <a:lnTo>
                  <a:pt x="83109" y="260108"/>
                </a:lnTo>
                <a:lnTo>
                  <a:pt x="83733" y="260803"/>
                </a:lnTo>
                <a:lnTo>
                  <a:pt x="82527" y="262558"/>
                </a:lnTo>
                <a:lnTo>
                  <a:pt x="80877" y="262912"/>
                </a:lnTo>
                <a:lnTo>
                  <a:pt x="79744" y="264047"/>
                </a:lnTo>
                <a:lnTo>
                  <a:pt x="79958" y="264959"/>
                </a:lnTo>
                <a:lnTo>
                  <a:pt x="80425" y="264907"/>
                </a:lnTo>
                <a:lnTo>
                  <a:pt x="81325" y="265429"/>
                </a:lnTo>
                <a:lnTo>
                  <a:pt x="81944" y="265496"/>
                </a:lnTo>
                <a:lnTo>
                  <a:pt x="82473" y="265972"/>
                </a:lnTo>
                <a:lnTo>
                  <a:pt x="82881" y="266695"/>
                </a:lnTo>
                <a:lnTo>
                  <a:pt x="83053" y="267799"/>
                </a:lnTo>
                <a:lnTo>
                  <a:pt x="82659" y="268502"/>
                </a:lnTo>
                <a:lnTo>
                  <a:pt x="82045" y="268800"/>
                </a:lnTo>
                <a:lnTo>
                  <a:pt x="81172" y="269797"/>
                </a:lnTo>
                <a:lnTo>
                  <a:pt x="81254" y="270339"/>
                </a:lnTo>
                <a:lnTo>
                  <a:pt x="80919" y="270975"/>
                </a:lnTo>
                <a:lnTo>
                  <a:pt x="81067" y="272483"/>
                </a:lnTo>
                <a:lnTo>
                  <a:pt x="78833" y="275486"/>
                </a:lnTo>
                <a:lnTo>
                  <a:pt x="79366" y="277818"/>
                </a:lnTo>
                <a:lnTo>
                  <a:pt x="79370" y="280801"/>
                </a:lnTo>
                <a:lnTo>
                  <a:pt x="78552" y="281741"/>
                </a:lnTo>
                <a:lnTo>
                  <a:pt x="77751" y="282101"/>
                </a:lnTo>
                <a:lnTo>
                  <a:pt x="76721" y="283322"/>
                </a:lnTo>
                <a:lnTo>
                  <a:pt x="76136" y="286116"/>
                </a:lnTo>
                <a:lnTo>
                  <a:pt x="76368" y="287300"/>
                </a:lnTo>
                <a:lnTo>
                  <a:pt x="76029" y="287815"/>
                </a:lnTo>
                <a:lnTo>
                  <a:pt x="75936" y="288551"/>
                </a:lnTo>
                <a:lnTo>
                  <a:pt x="76261" y="289843"/>
                </a:lnTo>
                <a:lnTo>
                  <a:pt x="75740" y="292456"/>
                </a:lnTo>
                <a:lnTo>
                  <a:pt x="74918" y="293129"/>
                </a:lnTo>
                <a:lnTo>
                  <a:pt x="73458" y="295023"/>
                </a:lnTo>
                <a:lnTo>
                  <a:pt x="72677" y="296645"/>
                </a:lnTo>
                <a:lnTo>
                  <a:pt x="72577" y="299750"/>
                </a:lnTo>
                <a:lnTo>
                  <a:pt x="71919" y="302197"/>
                </a:lnTo>
                <a:lnTo>
                  <a:pt x="71443" y="302934"/>
                </a:lnTo>
                <a:lnTo>
                  <a:pt x="68694" y="303774"/>
                </a:lnTo>
                <a:lnTo>
                  <a:pt x="68228" y="304863"/>
                </a:lnTo>
                <a:lnTo>
                  <a:pt x="68794" y="305821"/>
                </a:lnTo>
                <a:lnTo>
                  <a:pt x="69256" y="307673"/>
                </a:lnTo>
                <a:lnTo>
                  <a:pt x="68344" y="310002"/>
                </a:lnTo>
                <a:lnTo>
                  <a:pt x="69027" y="310845"/>
                </a:lnTo>
                <a:lnTo>
                  <a:pt x="70194" y="311408"/>
                </a:lnTo>
                <a:lnTo>
                  <a:pt x="70840" y="313532"/>
                </a:lnTo>
                <a:lnTo>
                  <a:pt x="70756" y="314414"/>
                </a:lnTo>
                <a:lnTo>
                  <a:pt x="70329" y="314964"/>
                </a:lnTo>
                <a:lnTo>
                  <a:pt x="69669" y="315320"/>
                </a:lnTo>
                <a:lnTo>
                  <a:pt x="68785" y="315398"/>
                </a:lnTo>
                <a:lnTo>
                  <a:pt x="68615" y="316541"/>
                </a:lnTo>
                <a:lnTo>
                  <a:pt x="69056" y="317030"/>
                </a:lnTo>
                <a:lnTo>
                  <a:pt x="69193" y="318361"/>
                </a:lnTo>
                <a:lnTo>
                  <a:pt x="69655" y="318506"/>
                </a:lnTo>
                <a:lnTo>
                  <a:pt x="70212" y="318249"/>
                </a:lnTo>
                <a:lnTo>
                  <a:pt x="70837" y="318566"/>
                </a:lnTo>
                <a:lnTo>
                  <a:pt x="71051" y="317965"/>
                </a:lnTo>
                <a:lnTo>
                  <a:pt x="71350" y="318293"/>
                </a:lnTo>
                <a:lnTo>
                  <a:pt x="70874" y="318813"/>
                </a:lnTo>
                <a:lnTo>
                  <a:pt x="70977" y="319381"/>
                </a:lnTo>
                <a:lnTo>
                  <a:pt x="70635" y="319335"/>
                </a:lnTo>
                <a:lnTo>
                  <a:pt x="70741" y="320101"/>
                </a:lnTo>
                <a:lnTo>
                  <a:pt x="69777" y="321029"/>
                </a:lnTo>
                <a:lnTo>
                  <a:pt x="69454" y="322360"/>
                </a:lnTo>
                <a:lnTo>
                  <a:pt x="68146" y="322508"/>
                </a:lnTo>
                <a:lnTo>
                  <a:pt x="68195" y="323054"/>
                </a:lnTo>
                <a:lnTo>
                  <a:pt x="67706" y="323598"/>
                </a:lnTo>
                <a:lnTo>
                  <a:pt x="67851" y="324688"/>
                </a:lnTo>
                <a:lnTo>
                  <a:pt x="68046" y="324954"/>
                </a:lnTo>
                <a:lnTo>
                  <a:pt x="68361" y="324812"/>
                </a:lnTo>
                <a:lnTo>
                  <a:pt x="68444" y="325539"/>
                </a:lnTo>
                <a:lnTo>
                  <a:pt x="68136" y="325709"/>
                </a:lnTo>
                <a:lnTo>
                  <a:pt x="68140" y="325995"/>
                </a:lnTo>
                <a:lnTo>
                  <a:pt x="68633" y="326199"/>
                </a:lnTo>
                <a:lnTo>
                  <a:pt x="68745" y="326763"/>
                </a:lnTo>
                <a:lnTo>
                  <a:pt x="69076" y="327003"/>
                </a:lnTo>
                <a:lnTo>
                  <a:pt x="68511" y="327242"/>
                </a:lnTo>
                <a:lnTo>
                  <a:pt x="68659" y="327624"/>
                </a:lnTo>
                <a:lnTo>
                  <a:pt x="68361" y="327859"/>
                </a:lnTo>
                <a:lnTo>
                  <a:pt x="68580" y="328103"/>
                </a:lnTo>
                <a:lnTo>
                  <a:pt x="67634" y="328417"/>
                </a:lnTo>
                <a:lnTo>
                  <a:pt x="67562" y="328777"/>
                </a:lnTo>
                <a:lnTo>
                  <a:pt x="67323" y="328695"/>
                </a:lnTo>
                <a:lnTo>
                  <a:pt x="66919" y="329456"/>
                </a:lnTo>
                <a:lnTo>
                  <a:pt x="67111" y="329573"/>
                </a:lnTo>
                <a:lnTo>
                  <a:pt x="67042" y="330072"/>
                </a:lnTo>
                <a:lnTo>
                  <a:pt x="66792" y="330095"/>
                </a:lnTo>
                <a:lnTo>
                  <a:pt x="66752" y="329851"/>
                </a:lnTo>
                <a:lnTo>
                  <a:pt x="66386" y="329980"/>
                </a:lnTo>
                <a:lnTo>
                  <a:pt x="66444" y="330192"/>
                </a:lnTo>
                <a:lnTo>
                  <a:pt x="66185" y="330297"/>
                </a:lnTo>
                <a:lnTo>
                  <a:pt x="66391" y="330697"/>
                </a:lnTo>
                <a:lnTo>
                  <a:pt x="66118" y="330498"/>
                </a:lnTo>
                <a:lnTo>
                  <a:pt x="65778" y="331031"/>
                </a:lnTo>
                <a:lnTo>
                  <a:pt x="65539" y="330965"/>
                </a:lnTo>
                <a:lnTo>
                  <a:pt x="65088" y="331777"/>
                </a:lnTo>
                <a:lnTo>
                  <a:pt x="64801" y="331831"/>
                </a:lnTo>
                <a:lnTo>
                  <a:pt x="64531" y="331215"/>
                </a:lnTo>
                <a:lnTo>
                  <a:pt x="64465" y="331475"/>
                </a:lnTo>
                <a:lnTo>
                  <a:pt x="64047" y="331603"/>
                </a:lnTo>
                <a:lnTo>
                  <a:pt x="63812" y="331069"/>
                </a:lnTo>
                <a:lnTo>
                  <a:pt x="63620" y="331714"/>
                </a:lnTo>
                <a:lnTo>
                  <a:pt x="63011" y="331151"/>
                </a:lnTo>
                <a:lnTo>
                  <a:pt x="62883" y="331273"/>
                </a:lnTo>
                <a:lnTo>
                  <a:pt x="63074" y="331512"/>
                </a:lnTo>
                <a:lnTo>
                  <a:pt x="62757" y="331546"/>
                </a:lnTo>
                <a:lnTo>
                  <a:pt x="62670" y="331346"/>
                </a:lnTo>
                <a:lnTo>
                  <a:pt x="62485" y="331504"/>
                </a:lnTo>
                <a:lnTo>
                  <a:pt x="62206" y="332569"/>
                </a:lnTo>
                <a:lnTo>
                  <a:pt x="62073" y="332341"/>
                </a:lnTo>
                <a:lnTo>
                  <a:pt x="61539" y="332486"/>
                </a:lnTo>
                <a:lnTo>
                  <a:pt x="61626" y="332922"/>
                </a:lnTo>
                <a:lnTo>
                  <a:pt x="60883" y="333430"/>
                </a:lnTo>
                <a:lnTo>
                  <a:pt x="61049" y="333662"/>
                </a:lnTo>
                <a:lnTo>
                  <a:pt x="60344" y="333468"/>
                </a:lnTo>
                <a:lnTo>
                  <a:pt x="60202" y="333904"/>
                </a:lnTo>
                <a:lnTo>
                  <a:pt x="59889" y="333786"/>
                </a:lnTo>
                <a:lnTo>
                  <a:pt x="59974" y="334092"/>
                </a:lnTo>
                <a:lnTo>
                  <a:pt x="59538" y="333806"/>
                </a:lnTo>
                <a:lnTo>
                  <a:pt x="59418" y="333972"/>
                </a:lnTo>
                <a:lnTo>
                  <a:pt x="58946" y="333848"/>
                </a:lnTo>
                <a:lnTo>
                  <a:pt x="59221" y="334466"/>
                </a:lnTo>
                <a:lnTo>
                  <a:pt x="59008" y="334862"/>
                </a:lnTo>
                <a:lnTo>
                  <a:pt x="59156" y="335190"/>
                </a:lnTo>
                <a:lnTo>
                  <a:pt x="58822" y="335738"/>
                </a:lnTo>
                <a:lnTo>
                  <a:pt x="58343" y="335522"/>
                </a:lnTo>
                <a:lnTo>
                  <a:pt x="58388" y="335904"/>
                </a:lnTo>
                <a:lnTo>
                  <a:pt x="57189" y="335934"/>
                </a:lnTo>
                <a:lnTo>
                  <a:pt x="56599" y="336772"/>
                </a:lnTo>
                <a:lnTo>
                  <a:pt x="56317" y="336583"/>
                </a:lnTo>
                <a:lnTo>
                  <a:pt x="55996" y="335535"/>
                </a:lnTo>
                <a:lnTo>
                  <a:pt x="55868" y="335751"/>
                </a:lnTo>
                <a:lnTo>
                  <a:pt x="55123" y="335801"/>
                </a:lnTo>
                <a:lnTo>
                  <a:pt x="55239" y="336034"/>
                </a:lnTo>
                <a:lnTo>
                  <a:pt x="54758" y="336500"/>
                </a:lnTo>
                <a:lnTo>
                  <a:pt x="53797" y="336590"/>
                </a:lnTo>
                <a:lnTo>
                  <a:pt x="53580" y="336365"/>
                </a:lnTo>
                <a:lnTo>
                  <a:pt x="53318" y="336570"/>
                </a:lnTo>
                <a:lnTo>
                  <a:pt x="53147" y="337319"/>
                </a:lnTo>
                <a:lnTo>
                  <a:pt x="51969" y="337411"/>
                </a:lnTo>
                <a:lnTo>
                  <a:pt x="52033" y="337638"/>
                </a:lnTo>
                <a:lnTo>
                  <a:pt x="51585" y="337728"/>
                </a:lnTo>
                <a:lnTo>
                  <a:pt x="50738" y="337432"/>
                </a:lnTo>
                <a:lnTo>
                  <a:pt x="50892" y="336642"/>
                </a:lnTo>
                <a:lnTo>
                  <a:pt x="50144" y="336281"/>
                </a:lnTo>
                <a:lnTo>
                  <a:pt x="50027" y="336651"/>
                </a:lnTo>
                <a:lnTo>
                  <a:pt x="49733" y="336266"/>
                </a:lnTo>
                <a:lnTo>
                  <a:pt x="48878" y="336217"/>
                </a:lnTo>
                <a:lnTo>
                  <a:pt x="48528" y="336913"/>
                </a:lnTo>
                <a:lnTo>
                  <a:pt x="48218" y="336975"/>
                </a:lnTo>
                <a:lnTo>
                  <a:pt x="48512" y="337330"/>
                </a:lnTo>
                <a:lnTo>
                  <a:pt x="48147" y="337392"/>
                </a:lnTo>
                <a:lnTo>
                  <a:pt x="48298" y="337554"/>
                </a:lnTo>
                <a:lnTo>
                  <a:pt x="48013" y="337587"/>
                </a:lnTo>
                <a:lnTo>
                  <a:pt x="48034" y="337949"/>
                </a:lnTo>
                <a:lnTo>
                  <a:pt x="47823" y="337723"/>
                </a:lnTo>
                <a:lnTo>
                  <a:pt x="47288" y="338178"/>
                </a:lnTo>
                <a:lnTo>
                  <a:pt x="46876" y="338198"/>
                </a:lnTo>
                <a:lnTo>
                  <a:pt x="46872" y="338688"/>
                </a:lnTo>
                <a:lnTo>
                  <a:pt x="46347" y="338534"/>
                </a:lnTo>
                <a:lnTo>
                  <a:pt x="46213" y="338808"/>
                </a:lnTo>
                <a:lnTo>
                  <a:pt x="45574" y="338848"/>
                </a:lnTo>
                <a:lnTo>
                  <a:pt x="45621" y="338577"/>
                </a:lnTo>
                <a:lnTo>
                  <a:pt x="45378" y="338406"/>
                </a:lnTo>
                <a:lnTo>
                  <a:pt x="45325" y="338695"/>
                </a:lnTo>
                <a:lnTo>
                  <a:pt x="45035" y="338714"/>
                </a:lnTo>
                <a:lnTo>
                  <a:pt x="45235" y="338950"/>
                </a:lnTo>
                <a:lnTo>
                  <a:pt x="44860" y="338722"/>
                </a:lnTo>
                <a:lnTo>
                  <a:pt x="44495" y="338968"/>
                </a:lnTo>
                <a:lnTo>
                  <a:pt x="44662" y="339446"/>
                </a:lnTo>
                <a:lnTo>
                  <a:pt x="44206" y="339559"/>
                </a:lnTo>
                <a:lnTo>
                  <a:pt x="44003" y="340367"/>
                </a:lnTo>
                <a:lnTo>
                  <a:pt x="44237" y="340640"/>
                </a:lnTo>
                <a:lnTo>
                  <a:pt x="43948" y="340753"/>
                </a:lnTo>
                <a:lnTo>
                  <a:pt x="44255" y="341033"/>
                </a:lnTo>
                <a:lnTo>
                  <a:pt x="43405" y="341176"/>
                </a:lnTo>
                <a:lnTo>
                  <a:pt x="43411" y="341742"/>
                </a:lnTo>
                <a:lnTo>
                  <a:pt x="42922" y="341496"/>
                </a:lnTo>
                <a:lnTo>
                  <a:pt x="42448" y="341548"/>
                </a:lnTo>
                <a:lnTo>
                  <a:pt x="42245" y="341321"/>
                </a:lnTo>
                <a:lnTo>
                  <a:pt x="41677" y="341531"/>
                </a:lnTo>
                <a:lnTo>
                  <a:pt x="41507" y="342150"/>
                </a:lnTo>
                <a:lnTo>
                  <a:pt x="40253" y="342455"/>
                </a:lnTo>
                <a:lnTo>
                  <a:pt x="40217" y="342790"/>
                </a:lnTo>
                <a:lnTo>
                  <a:pt x="40391" y="342615"/>
                </a:lnTo>
                <a:lnTo>
                  <a:pt x="40525" y="342827"/>
                </a:lnTo>
                <a:lnTo>
                  <a:pt x="40370" y="343179"/>
                </a:lnTo>
                <a:lnTo>
                  <a:pt x="40113" y="343206"/>
                </a:lnTo>
                <a:lnTo>
                  <a:pt x="40235" y="343603"/>
                </a:lnTo>
                <a:lnTo>
                  <a:pt x="40020" y="343433"/>
                </a:lnTo>
                <a:lnTo>
                  <a:pt x="39975" y="343692"/>
                </a:lnTo>
                <a:lnTo>
                  <a:pt x="39747" y="343598"/>
                </a:lnTo>
                <a:lnTo>
                  <a:pt x="39533" y="344141"/>
                </a:lnTo>
                <a:lnTo>
                  <a:pt x="39183" y="343977"/>
                </a:lnTo>
                <a:lnTo>
                  <a:pt x="39413" y="344350"/>
                </a:lnTo>
                <a:lnTo>
                  <a:pt x="39053" y="344210"/>
                </a:lnTo>
                <a:lnTo>
                  <a:pt x="39114" y="344417"/>
                </a:lnTo>
                <a:lnTo>
                  <a:pt x="38868" y="344552"/>
                </a:lnTo>
                <a:lnTo>
                  <a:pt x="39032" y="344617"/>
                </a:lnTo>
                <a:lnTo>
                  <a:pt x="38958" y="345078"/>
                </a:lnTo>
                <a:lnTo>
                  <a:pt x="38498" y="345310"/>
                </a:lnTo>
                <a:lnTo>
                  <a:pt x="38731" y="345308"/>
                </a:lnTo>
                <a:lnTo>
                  <a:pt x="39072" y="346099"/>
                </a:lnTo>
                <a:lnTo>
                  <a:pt x="39356" y="346204"/>
                </a:lnTo>
                <a:lnTo>
                  <a:pt x="39165" y="347038"/>
                </a:lnTo>
                <a:lnTo>
                  <a:pt x="38884" y="346905"/>
                </a:lnTo>
                <a:lnTo>
                  <a:pt x="38622" y="347194"/>
                </a:lnTo>
                <a:lnTo>
                  <a:pt x="38889" y="347307"/>
                </a:lnTo>
                <a:lnTo>
                  <a:pt x="38529" y="347797"/>
                </a:lnTo>
                <a:lnTo>
                  <a:pt x="38732" y="347815"/>
                </a:lnTo>
                <a:lnTo>
                  <a:pt x="38674" y="347989"/>
                </a:lnTo>
                <a:lnTo>
                  <a:pt x="38255" y="348116"/>
                </a:lnTo>
                <a:lnTo>
                  <a:pt x="38377" y="348385"/>
                </a:lnTo>
                <a:lnTo>
                  <a:pt x="37474" y="348438"/>
                </a:lnTo>
                <a:lnTo>
                  <a:pt x="37625" y="348994"/>
                </a:lnTo>
                <a:lnTo>
                  <a:pt x="37093" y="349123"/>
                </a:lnTo>
                <a:lnTo>
                  <a:pt x="35851" y="348428"/>
                </a:lnTo>
                <a:lnTo>
                  <a:pt x="35482" y="348627"/>
                </a:lnTo>
                <a:lnTo>
                  <a:pt x="35523" y="348864"/>
                </a:lnTo>
                <a:lnTo>
                  <a:pt x="34210" y="349324"/>
                </a:lnTo>
                <a:lnTo>
                  <a:pt x="34455" y="349752"/>
                </a:lnTo>
                <a:lnTo>
                  <a:pt x="34176" y="349708"/>
                </a:lnTo>
                <a:lnTo>
                  <a:pt x="34269" y="350043"/>
                </a:lnTo>
                <a:lnTo>
                  <a:pt x="34058" y="350034"/>
                </a:lnTo>
                <a:lnTo>
                  <a:pt x="33763" y="350610"/>
                </a:lnTo>
                <a:lnTo>
                  <a:pt x="32731" y="350288"/>
                </a:lnTo>
                <a:lnTo>
                  <a:pt x="31743" y="351190"/>
                </a:lnTo>
                <a:lnTo>
                  <a:pt x="31458" y="351017"/>
                </a:lnTo>
                <a:lnTo>
                  <a:pt x="30977" y="351658"/>
                </a:lnTo>
                <a:lnTo>
                  <a:pt x="30840" y="352328"/>
                </a:lnTo>
                <a:lnTo>
                  <a:pt x="30174" y="352385"/>
                </a:lnTo>
                <a:lnTo>
                  <a:pt x="29358" y="352889"/>
                </a:lnTo>
                <a:lnTo>
                  <a:pt x="28921" y="352673"/>
                </a:lnTo>
                <a:lnTo>
                  <a:pt x="28530" y="352852"/>
                </a:lnTo>
                <a:lnTo>
                  <a:pt x="28314" y="352584"/>
                </a:lnTo>
                <a:lnTo>
                  <a:pt x="28109" y="352839"/>
                </a:lnTo>
                <a:lnTo>
                  <a:pt x="27472" y="352675"/>
                </a:lnTo>
                <a:lnTo>
                  <a:pt x="27058" y="352909"/>
                </a:lnTo>
                <a:lnTo>
                  <a:pt x="27398" y="353164"/>
                </a:lnTo>
                <a:lnTo>
                  <a:pt x="27157" y="353230"/>
                </a:lnTo>
                <a:lnTo>
                  <a:pt x="26835" y="354516"/>
                </a:lnTo>
                <a:lnTo>
                  <a:pt x="26703" y="354766"/>
                </a:lnTo>
                <a:lnTo>
                  <a:pt x="26151" y="354848"/>
                </a:lnTo>
                <a:lnTo>
                  <a:pt x="26175" y="355389"/>
                </a:lnTo>
                <a:lnTo>
                  <a:pt x="26510" y="355421"/>
                </a:lnTo>
                <a:lnTo>
                  <a:pt x="26104" y="355828"/>
                </a:lnTo>
                <a:lnTo>
                  <a:pt x="25742" y="355749"/>
                </a:lnTo>
                <a:lnTo>
                  <a:pt x="25193" y="356127"/>
                </a:lnTo>
                <a:lnTo>
                  <a:pt x="24968" y="356439"/>
                </a:lnTo>
                <a:lnTo>
                  <a:pt x="25326" y="356491"/>
                </a:lnTo>
                <a:lnTo>
                  <a:pt x="25097" y="356713"/>
                </a:lnTo>
                <a:lnTo>
                  <a:pt x="24604" y="356536"/>
                </a:lnTo>
                <a:lnTo>
                  <a:pt x="23762" y="356920"/>
                </a:lnTo>
                <a:lnTo>
                  <a:pt x="24077" y="356973"/>
                </a:lnTo>
                <a:lnTo>
                  <a:pt x="24141" y="357244"/>
                </a:lnTo>
                <a:lnTo>
                  <a:pt x="23813" y="357426"/>
                </a:lnTo>
                <a:lnTo>
                  <a:pt x="23791" y="358283"/>
                </a:lnTo>
                <a:lnTo>
                  <a:pt x="23252" y="358796"/>
                </a:lnTo>
                <a:lnTo>
                  <a:pt x="22834" y="359721"/>
                </a:lnTo>
                <a:lnTo>
                  <a:pt x="21810" y="359414"/>
                </a:lnTo>
                <a:lnTo>
                  <a:pt x="21546" y="359821"/>
                </a:lnTo>
                <a:lnTo>
                  <a:pt x="21420" y="360887"/>
                </a:lnTo>
                <a:lnTo>
                  <a:pt x="20898" y="361580"/>
                </a:lnTo>
                <a:lnTo>
                  <a:pt x="20012" y="361239"/>
                </a:lnTo>
                <a:lnTo>
                  <a:pt x="19618" y="361688"/>
                </a:lnTo>
                <a:lnTo>
                  <a:pt x="19693" y="362238"/>
                </a:lnTo>
                <a:lnTo>
                  <a:pt x="19300" y="362726"/>
                </a:lnTo>
                <a:lnTo>
                  <a:pt x="19335" y="363114"/>
                </a:lnTo>
                <a:lnTo>
                  <a:pt x="18854" y="363341"/>
                </a:lnTo>
                <a:lnTo>
                  <a:pt x="18142" y="363279"/>
                </a:lnTo>
                <a:lnTo>
                  <a:pt x="18136" y="363488"/>
                </a:lnTo>
                <a:lnTo>
                  <a:pt x="18398" y="363498"/>
                </a:lnTo>
                <a:lnTo>
                  <a:pt x="18281" y="363712"/>
                </a:lnTo>
                <a:lnTo>
                  <a:pt x="17893" y="363619"/>
                </a:lnTo>
                <a:lnTo>
                  <a:pt x="16813" y="364528"/>
                </a:lnTo>
                <a:lnTo>
                  <a:pt x="16269" y="364595"/>
                </a:lnTo>
                <a:lnTo>
                  <a:pt x="15470" y="365113"/>
                </a:lnTo>
                <a:lnTo>
                  <a:pt x="15652" y="366274"/>
                </a:lnTo>
                <a:lnTo>
                  <a:pt x="15341" y="366162"/>
                </a:lnTo>
                <a:lnTo>
                  <a:pt x="15536" y="366954"/>
                </a:lnTo>
                <a:lnTo>
                  <a:pt x="15415" y="367477"/>
                </a:lnTo>
                <a:lnTo>
                  <a:pt x="14858" y="367809"/>
                </a:lnTo>
                <a:lnTo>
                  <a:pt x="14779" y="368132"/>
                </a:lnTo>
                <a:lnTo>
                  <a:pt x="14323" y="368040"/>
                </a:lnTo>
                <a:lnTo>
                  <a:pt x="14117" y="368365"/>
                </a:lnTo>
                <a:lnTo>
                  <a:pt x="14056" y="368613"/>
                </a:lnTo>
                <a:lnTo>
                  <a:pt x="14306" y="368718"/>
                </a:lnTo>
                <a:lnTo>
                  <a:pt x="14035" y="369226"/>
                </a:lnTo>
                <a:lnTo>
                  <a:pt x="13884" y="370670"/>
                </a:lnTo>
                <a:lnTo>
                  <a:pt x="13323" y="371823"/>
                </a:lnTo>
                <a:lnTo>
                  <a:pt x="12709" y="372514"/>
                </a:lnTo>
                <a:lnTo>
                  <a:pt x="12741" y="372780"/>
                </a:lnTo>
                <a:lnTo>
                  <a:pt x="12293" y="373178"/>
                </a:lnTo>
                <a:lnTo>
                  <a:pt x="11953" y="375191"/>
                </a:lnTo>
                <a:lnTo>
                  <a:pt x="10989" y="376123"/>
                </a:lnTo>
                <a:lnTo>
                  <a:pt x="10889" y="376927"/>
                </a:lnTo>
                <a:lnTo>
                  <a:pt x="11082" y="377711"/>
                </a:lnTo>
                <a:lnTo>
                  <a:pt x="9401" y="381226"/>
                </a:lnTo>
                <a:lnTo>
                  <a:pt x="7989" y="382369"/>
                </a:lnTo>
                <a:lnTo>
                  <a:pt x="6513" y="384643"/>
                </a:lnTo>
                <a:lnTo>
                  <a:pt x="5858" y="385032"/>
                </a:lnTo>
                <a:lnTo>
                  <a:pt x="4991" y="384837"/>
                </a:lnTo>
                <a:lnTo>
                  <a:pt x="4673" y="385351"/>
                </a:lnTo>
                <a:lnTo>
                  <a:pt x="3740" y="385870"/>
                </a:lnTo>
                <a:lnTo>
                  <a:pt x="3019" y="386021"/>
                </a:lnTo>
                <a:lnTo>
                  <a:pt x="2739" y="385732"/>
                </a:lnTo>
                <a:lnTo>
                  <a:pt x="2114" y="386891"/>
                </a:lnTo>
                <a:lnTo>
                  <a:pt x="1969" y="388320"/>
                </a:lnTo>
                <a:lnTo>
                  <a:pt x="83" y="390242"/>
                </a:lnTo>
                <a:lnTo>
                  <a:pt x="0" y="390915"/>
                </a:lnTo>
                <a:lnTo>
                  <a:pt x="2807" y="392230"/>
                </a:lnTo>
                <a:lnTo>
                  <a:pt x="2697" y="393362"/>
                </a:lnTo>
                <a:lnTo>
                  <a:pt x="1924" y="394238"/>
                </a:lnTo>
                <a:lnTo>
                  <a:pt x="2041" y="395995"/>
                </a:lnTo>
                <a:lnTo>
                  <a:pt x="1792" y="397592"/>
                </a:lnTo>
                <a:lnTo>
                  <a:pt x="2496" y="398069"/>
                </a:lnTo>
                <a:lnTo>
                  <a:pt x="2645" y="398420"/>
                </a:lnTo>
                <a:lnTo>
                  <a:pt x="1488" y="401503"/>
                </a:lnTo>
                <a:lnTo>
                  <a:pt x="1900" y="402250"/>
                </a:lnTo>
                <a:lnTo>
                  <a:pt x="1227" y="403590"/>
                </a:lnTo>
                <a:lnTo>
                  <a:pt x="2617" y="407607"/>
                </a:lnTo>
                <a:lnTo>
                  <a:pt x="2417" y="408261"/>
                </a:lnTo>
                <a:lnTo>
                  <a:pt x="2802" y="409475"/>
                </a:lnTo>
                <a:lnTo>
                  <a:pt x="2251" y="410395"/>
                </a:lnTo>
                <a:lnTo>
                  <a:pt x="3594" y="412297"/>
                </a:lnTo>
                <a:lnTo>
                  <a:pt x="4928" y="413594"/>
                </a:lnTo>
                <a:lnTo>
                  <a:pt x="5464" y="413814"/>
                </a:lnTo>
                <a:lnTo>
                  <a:pt x="6301" y="413297"/>
                </a:lnTo>
                <a:lnTo>
                  <a:pt x="7108" y="413588"/>
                </a:lnTo>
                <a:lnTo>
                  <a:pt x="7403" y="414365"/>
                </a:lnTo>
                <a:lnTo>
                  <a:pt x="7350" y="415134"/>
                </a:lnTo>
                <a:lnTo>
                  <a:pt x="6874" y="416635"/>
                </a:lnTo>
                <a:lnTo>
                  <a:pt x="17175" y="417537"/>
                </a:lnTo>
                <a:lnTo>
                  <a:pt x="22712" y="418621"/>
                </a:lnTo>
                <a:lnTo>
                  <a:pt x="27791" y="418059"/>
                </a:lnTo>
                <a:lnTo>
                  <a:pt x="30895" y="417170"/>
                </a:lnTo>
                <a:lnTo>
                  <a:pt x="36430" y="422060"/>
                </a:lnTo>
                <a:lnTo>
                  <a:pt x="42048" y="426636"/>
                </a:lnTo>
                <a:lnTo>
                  <a:pt x="42930" y="424995"/>
                </a:lnTo>
                <a:lnTo>
                  <a:pt x="49615" y="429316"/>
                </a:lnTo>
                <a:lnTo>
                  <a:pt x="53912" y="422127"/>
                </a:lnTo>
                <a:lnTo>
                  <a:pt x="78132" y="413605"/>
                </a:lnTo>
                <a:lnTo>
                  <a:pt x="78052" y="412783"/>
                </a:lnTo>
                <a:lnTo>
                  <a:pt x="83640" y="412831"/>
                </a:lnTo>
                <a:lnTo>
                  <a:pt x="83130" y="403957"/>
                </a:lnTo>
                <a:lnTo>
                  <a:pt x="90539" y="403801"/>
                </a:lnTo>
                <a:lnTo>
                  <a:pt x="92111" y="430914"/>
                </a:lnTo>
                <a:lnTo>
                  <a:pt x="100848" y="433224"/>
                </a:lnTo>
                <a:lnTo>
                  <a:pt x="106932" y="440788"/>
                </a:lnTo>
                <a:lnTo>
                  <a:pt x="108302" y="446099"/>
                </a:lnTo>
                <a:lnTo>
                  <a:pt x="112721" y="441311"/>
                </a:lnTo>
                <a:lnTo>
                  <a:pt x="118913" y="443945"/>
                </a:lnTo>
                <a:lnTo>
                  <a:pt x="116302" y="448979"/>
                </a:lnTo>
                <a:lnTo>
                  <a:pt x="115331" y="454994"/>
                </a:lnTo>
                <a:lnTo>
                  <a:pt x="119450" y="455568"/>
                </a:lnTo>
                <a:lnTo>
                  <a:pt x="118138" y="460569"/>
                </a:lnTo>
                <a:lnTo>
                  <a:pt x="125342" y="455815"/>
                </a:lnTo>
                <a:lnTo>
                  <a:pt x="131419" y="456834"/>
                </a:lnTo>
                <a:lnTo>
                  <a:pt x="134653" y="464274"/>
                </a:lnTo>
                <a:lnTo>
                  <a:pt x="141352" y="463192"/>
                </a:lnTo>
                <a:lnTo>
                  <a:pt x="147558" y="461570"/>
                </a:lnTo>
                <a:lnTo>
                  <a:pt x="148488" y="463709"/>
                </a:lnTo>
                <a:lnTo>
                  <a:pt x="155930" y="461498"/>
                </a:lnTo>
                <a:lnTo>
                  <a:pt x="156636" y="463343"/>
                </a:lnTo>
                <a:lnTo>
                  <a:pt x="158286" y="462548"/>
                </a:lnTo>
                <a:lnTo>
                  <a:pt x="161671" y="463089"/>
                </a:lnTo>
                <a:lnTo>
                  <a:pt x="161647" y="463684"/>
                </a:lnTo>
                <a:lnTo>
                  <a:pt x="163496" y="464307"/>
                </a:lnTo>
                <a:lnTo>
                  <a:pt x="163205" y="466092"/>
                </a:lnTo>
                <a:lnTo>
                  <a:pt x="164728" y="466711"/>
                </a:lnTo>
                <a:lnTo>
                  <a:pt x="164858" y="466377"/>
                </a:lnTo>
                <a:lnTo>
                  <a:pt x="168093" y="464350"/>
                </a:lnTo>
                <a:lnTo>
                  <a:pt x="168120" y="463867"/>
                </a:lnTo>
                <a:lnTo>
                  <a:pt x="167308" y="463456"/>
                </a:lnTo>
                <a:lnTo>
                  <a:pt x="168561" y="460614"/>
                </a:lnTo>
                <a:lnTo>
                  <a:pt x="172527" y="455900"/>
                </a:lnTo>
                <a:lnTo>
                  <a:pt x="173225" y="448748"/>
                </a:lnTo>
                <a:lnTo>
                  <a:pt x="177830" y="447082"/>
                </a:lnTo>
                <a:lnTo>
                  <a:pt x="185988" y="449265"/>
                </a:lnTo>
                <a:lnTo>
                  <a:pt x="186335" y="450644"/>
                </a:lnTo>
                <a:lnTo>
                  <a:pt x="193934" y="449059"/>
                </a:lnTo>
                <a:lnTo>
                  <a:pt x="196970" y="446858"/>
                </a:lnTo>
                <a:lnTo>
                  <a:pt x="201341" y="446601"/>
                </a:lnTo>
                <a:lnTo>
                  <a:pt x="206100" y="448038"/>
                </a:lnTo>
                <a:lnTo>
                  <a:pt x="207776" y="447918"/>
                </a:lnTo>
                <a:lnTo>
                  <a:pt x="215554" y="450527"/>
                </a:lnTo>
                <a:lnTo>
                  <a:pt x="219382" y="451093"/>
                </a:lnTo>
                <a:lnTo>
                  <a:pt x="224250" y="452871"/>
                </a:lnTo>
                <a:lnTo>
                  <a:pt x="225640" y="447918"/>
                </a:lnTo>
                <a:lnTo>
                  <a:pt x="228624" y="447292"/>
                </a:lnTo>
                <a:lnTo>
                  <a:pt x="229889" y="446066"/>
                </a:lnTo>
                <a:lnTo>
                  <a:pt x="231871" y="448646"/>
                </a:lnTo>
                <a:lnTo>
                  <a:pt x="234822" y="448826"/>
                </a:lnTo>
                <a:lnTo>
                  <a:pt x="237578" y="450730"/>
                </a:lnTo>
                <a:lnTo>
                  <a:pt x="237713" y="450490"/>
                </a:lnTo>
                <a:lnTo>
                  <a:pt x="243917" y="449987"/>
                </a:lnTo>
                <a:lnTo>
                  <a:pt x="249764" y="450169"/>
                </a:lnTo>
                <a:lnTo>
                  <a:pt x="250394" y="454263"/>
                </a:lnTo>
                <a:lnTo>
                  <a:pt x="255226" y="456962"/>
                </a:lnTo>
                <a:lnTo>
                  <a:pt x="269860" y="462245"/>
                </a:lnTo>
                <a:lnTo>
                  <a:pt x="263296" y="472091"/>
                </a:lnTo>
                <a:lnTo>
                  <a:pt x="263251" y="473686"/>
                </a:lnTo>
                <a:lnTo>
                  <a:pt x="262913" y="474522"/>
                </a:lnTo>
                <a:lnTo>
                  <a:pt x="260471" y="474352"/>
                </a:lnTo>
                <a:lnTo>
                  <a:pt x="256934" y="473017"/>
                </a:lnTo>
                <a:lnTo>
                  <a:pt x="257149" y="471994"/>
                </a:lnTo>
                <a:lnTo>
                  <a:pt x="254192" y="467581"/>
                </a:lnTo>
                <a:lnTo>
                  <a:pt x="251620" y="468542"/>
                </a:lnTo>
                <a:lnTo>
                  <a:pt x="248871" y="469225"/>
                </a:lnTo>
                <a:lnTo>
                  <a:pt x="243873" y="469438"/>
                </a:lnTo>
                <a:lnTo>
                  <a:pt x="245171" y="477220"/>
                </a:lnTo>
                <a:lnTo>
                  <a:pt x="250247" y="476934"/>
                </a:lnTo>
                <a:lnTo>
                  <a:pt x="250933" y="486604"/>
                </a:lnTo>
                <a:lnTo>
                  <a:pt x="255849" y="487373"/>
                </a:lnTo>
                <a:lnTo>
                  <a:pt x="262001" y="485745"/>
                </a:lnTo>
                <a:lnTo>
                  <a:pt x="267051" y="488290"/>
                </a:lnTo>
                <a:lnTo>
                  <a:pt x="268902" y="492506"/>
                </a:lnTo>
                <a:lnTo>
                  <a:pt x="274224" y="501463"/>
                </a:lnTo>
                <a:lnTo>
                  <a:pt x="274125" y="504220"/>
                </a:lnTo>
                <a:lnTo>
                  <a:pt x="286048" y="501675"/>
                </a:lnTo>
                <a:lnTo>
                  <a:pt x="286395" y="506370"/>
                </a:lnTo>
                <a:lnTo>
                  <a:pt x="293848" y="506831"/>
                </a:lnTo>
                <a:lnTo>
                  <a:pt x="294730" y="504890"/>
                </a:lnTo>
                <a:lnTo>
                  <a:pt x="304125" y="505001"/>
                </a:lnTo>
                <a:lnTo>
                  <a:pt x="304007" y="498012"/>
                </a:lnTo>
                <a:lnTo>
                  <a:pt x="305829" y="496579"/>
                </a:lnTo>
                <a:lnTo>
                  <a:pt x="313308" y="496199"/>
                </a:lnTo>
                <a:lnTo>
                  <a:pt x="313234" y="495747"/>
                </a:lnTo>
                <a:lnTo>
                  <a:pt x="317773" y="495920"/>
                </a:lnTo>
                <a:lnTo>
                  <a:pt x="318931" y="496731"/>
                </a:lnTo>
                <a:lnTo>
                  <a:pt x="319193" y="496633"/>
                </a:lnTo>
                <a:lnTo>
                  <a:pt x="319159" y="496398"/>
                </a:lnTo>
                <a:lnTo>
                  <a:pt x="322932" y="501065"/>
                </a:lnTo>
                <a:lnTo>
                  <a:pt x="323125" y="501029"/>
                </a:lnTo>
                <a:lnTo>
                  <a:pt x="327277" y="493904"/>
                </a:lnTo>
                <a:lnTo>
                  <a:pt x="327915" y="496665"/>
                </a:lnTo>
                <a:lnTo>
                  <a:pt x="328943" y="496049"/>
                </a:lnTo>
                <a:lnTo>
                  <a:pt x="328674" y="495017"/>
                </a:lnTo>
                <a:lnTo>
                  <a:pt x="329646" y="494019"/>
                </a:lnTo>
                <a:lnTo>
                  <a:pt x="329704" y="492743"/>
                </a:lnTo>
                <a:lnTo>
                  <a:pt x="330373" y="491677"/>
                </a:lnTo>
                <a:lnTo>
                  <a:pt x="329933" y="491146"/>
                </a:lnTo>
                <a:lnTo>
                  <a:pt x="330236" y="490146"/>
                </a:lnTo>
                <a:lnTo>
                  <a:pt x="326815" y="490466"/>
                </a:lnTo>
                <a:lnTo>
                  <a:pt x="324451" y="486042"/>
                </a:lnTo>
                <a:lnTo>
                  <a:pt x="324466" y="485610"/>
                </a:lnTo>
                <a:lnTo>
                  <a:pt x="321397" y="480307"/>
                </a:lnTo>
                <a:lnTo>
                  <a:pt x="326664" y="479091"/>
                </a:lnTo>
                <a:close/>
              </a:path>
            </a:pathLst>
          </a:custGeom>
          <a:solidFill>
            <a:srgbClr val="E3EBF6"/>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Freeform 29"/>
          <p:cNvSpPr/>
          <p:nvPr/>
        </p:nvSpPr>
        <p:spPr>
          <a:xfrm>
            <a:off x="4292242" y="3334314"/>
            <a:ext cx="566199" cy="550345"/>
          </a:xfrm>
          <a:custGeom>
            <a:avLst/>
            <a:gdLst/>
            <a:ahLst/>
            <a:cxnLst/>
            <a:rect l="l" t="t" r="r" b="b"/>
            <a:pathLst>
              <a:path w="566199" h="550345">
                <a:moveTo>
                  <a:pt x="214006" y="541044"/>
                </a:moveTo>
                <a:lnTo>
                  <a:pt x="214097" y="541346"/>
                </a:lnTo>
                <a:lnTo>
                  <a:pt x="216036" y="542948"/>
                </a:lnTo>
                <a:lnTo>
                  <a:pt x="218498" y="543933"/>
                </a:lnTo>
                <a:lnTo>
                  <a:pt x="219272" y="543724"/>
                </a:lnTo>
                <a:lnTo>
                  <a:pt x="219734" y="542700"/>
                </a:lnTo>
                <a:lnTo>
                  <a:pt x="220697" y="542606"/>
                </a:lnTo>
                <a:lnTo>
                  <a:pt x="221535" y="541953"/>
                </a:lnTo>
                <a:lnTo>
                  <a:pt x="221600" y="540277"/>
                </a:lnTo>
                <a:lnTo>
                  <a:pt x="221950" y="540017"/>
                </a:lnTo>
                <a:lnTo>
                  <a:pt x="222092" y="539483"/>
                </a:lnTo>
                <a:lnTo>
                  <a:pt x="223281" y="539009"/>
                </a:lnTo>
                <a:lnTo>
                  <a:pt x="223257" y="536466"/>
                </a:lnTo>
                <a:lnTo>
                  <a:pt x="223751" y="535759"/>
                </a:lnTo>
                <a:lnTo>
                  <a:pt x="225047" y="535300"/>
                </a:lnTo>
                <a:lnTo>
                  <a:pt x="225419" y="534205"/>
                </a:lnTo>
                <a:lnTo>
                  <a:pt x="225313" y="533143"/>
                </a:lnTo>
                <a:lnTo>
                  <a:pt x="226156" y="531355"/>
                </a:lnTo>
                <a:lnTo>
                  <a:pt x="227039" y="531353"/>
                </a:lnTo>
                <a:lnTo>
                  <a:pt x="229845" y="532358"/>
                </a:lnTo>
                <a:lnTo>
                  <a:pt x="232606" y="531267"/>
                </a:lnTo>
                <a:lnTo>
                  <a:pt x="232763" y="532107"/>
                </a:lnTo>
                <a:lnTo>
                  <a:pt x="233264" y="532738"/>
                </a:lnTo>
                <a:lnTo>
                  <a:pt x="234504" y="532843"/>
                </a:lnTo>
                <a:lnTo>
                  <a:pt x="236115" y="530983"/>
                </a:lnTo>
                <a:lnTo>
                  <a:pt x="237379" y="527917"/>
                </a:lnTo>
                <a:lnTo>
                  <a:pt x="242784" y="529855"/>
                </a:lnTo>
                <a:lnTo>
                  <a:pt x="246013" y="531319"/>
                </a:lnTo>
                <a:lnTo>
                  <a:pt x="248273" y="533905"/>
                </a:lnTo>
                <a:lnTo>
                  <a:pt x="251235" y="535532"/>
                </a:lnTo>
                <a:lnTo>
                  <a:pt x="252437" y="535091"/>
                </a:lnTo>
                <a:lnTo>
                  <a:pt x="253375" y="533879"/>
                </a:lnTo>
                <a:lnTo>
                  <a:pt x="254642" y="534352"/>
                </a:lnTo>
                <a:lnTo>
                  <a:pt x="255632" y="533998"/>
                </a:lnTo>
                <a:lnTo>
                  <a:pt x="256529" y="532895"/>
                </a:lnTo>
                <a:lnTo>
                  <a:pt x="258937" y="530788"/>
                </a:lnTo>
                <a:lnTo>
                  <a:pt x="260442" y="531552"/>
                </a:lnTo>
                <a:lnTo>
                  <a:pt x="261571" y="531339"/>
                </a:lnTo>
                <a:lnTo>
                  <a:pt x="264981" y="534410"/>
                </a:lnTo>
                <a:lnTo>
                  <a:pt x="269324" y="538952"/>
                </a:lnTo>
                <a:lnTo>
                  <a:pt x="270729" y="537551"/>
                </a:lnTo>
                <a:lnTo>
                  <a:pt x="270984" y="536385"/>
                </a:lnTo>
                <a:lnTo>
                  <a:pt x="270469" y="535599"/>
                </a:lnTo>
                <a:lnTo>
                  <a:pt x="272009" y="534852"/>
                </a:lnTo>
                <a:lnTo>
                  <a:pt x="272741" y="534944"/>
                </a:lnTo>
                <a:lnTo>
                  <a:pt x="274577" y="533544"/>
                </a:lnTo>
                <a:lnTo>
                  <a:pt x="276359" y="532118"/>
                </a:lnTo>
                <a:lnTo>
                  <a:pt x="277616" y="529973"/>
                </a:lnTo>
                <a:lnTo>
                  <a:pt x="281913" y="531824"/>
                </a:lnTo>
                <a:lnTo>
                  <a:pt x="282653" y="534342"/>
                </a:lnTo>
                <a:lnTo>
                  <a:pt x="284416" y="533320"/>
                </a:lnTo>
                <a:lnTo>
                  <a:pt x="289234" y="532709"/>
                </a:lnTo>
                <a:lnTo>
                  <a:pt x="289456" y="529775"/>
                </a:lnTo>
                <a:lnTo>
                  <a:pt x="289352" y="526918"/>
                </a:lnTo>
                <a:lnTo>
                  <a:pt x="289803" y="526227"/>
                </a:lnTo>
                <a:lnTo>
                  <a:pt x="290037" y="524019"/>
                </a:lnTo>
                <a:lnTo>
                  <a:pt x="292841" y="524635"/>
                </a:lnTo>
                <a:lnTo>
                  <a:pt x="295160" y="522266"/>
                </a:lnTo>
                <a:lnTo>
                  <a:pt x="296733" y="521967"/>
                </a:lnTo>
                <a:lnTo>
                  <a:pt x="302129" y="524182"/>
                </a:lnTo>
                <a:lnTo>
                  <a:pt x="302568" y="520268"/>
                </a:lnTo>
                <a:lnTo>
                  <a:pt x="302619" y="517070"/>
                </a:lnTo>
                <a:lnTo>
                  <a:pt x="306869" y="518309"/>
                </a:lnTo>
                <a:lnTo>
                  <a:pt x="311035" y="517884"/>
                </a:lnTo>
                <a:lnTo>
                  <a:pt x="310596" y="525138"/>
                </a:lnTo>
                <a:lnTo>
                  <a:pt x="311579" y="526917"/>
                </a:lnTo>
                <a:lnTo>
                  <a:pt x="313684" y="527356"/>
                </a:lnTo>
                <a:lnTo>
                  <a:pt x="314412" y="526965"/>
                </a:lnTo>
                <a:lnTo>
                  <a:pt x="315137" y="527263"/>
                </a:lnTo>
                <a:lnTo>
                  <a:pt x="315683" y="527051"/>
                </a:lnTo>
                <a:lnTo>
                  <a:pt x="316227" y="527263"/>
                </a:lnTo>
                <a:lnTo>
                  <a:pt x="316300" y="526936"/>
                </a:lnTo>
                <a:lnTo>
                  <a:pt x="317589" y="526233"/>
                </a:lnTo>
                <a:lnTo>
                  <a:pt x="320854" y="525251"/>
                </a:lnTo>
                <a:lnTo>
                  <a:pt x="324880" y="525900"/>
                </a:lnTo>
                <a:lnTo>
                  <a:pt x="326990" y="527056"/>
                </a:lnTo>
                <a:lnTo>
                  <a:pt x="327738" y="527761"/>
                </a:lnTo>
                <a:lnTo>
                  <a:pt x="328430" y="527747"/>
                </a:lnTo>
                <a:lnTo>
                  <a:pt x="329366" y="528146"/>
                </a:lnTo>
                <a:lnTo>
                  <a:pt x="333607" y="527634"/>
                </a:lnTo>
                <a:lnTo>
                  <a:pt x="344446" y="522533"/>
                </a:lnTo>
                <a:lnTo>
                  <a:pt x="351103" y="522139"/>
                </a:lnTo>
                <a:lnTo>
                  <a:pt x="351997" y="522635"/>
                </a:lnTo>
                <a:lnTo>
                  <a:pt x="352670" y="522303"/>
                </a:lnTo>
                <a:lnTo>
                  <a:pt x="352814" y="522421"/>
                </a:lnTo>
                <a:lnTo>
                  <a:pt x="352660" y="522859"/>
                </a:lnTo>
                <a:lnTo>
                  <a:pt x="353029" y="523474"/>
                </a:lnTo>
                <a:lnTo>
                  <a:pt x="353644" y="523292"/>
                </a:lnTo>
                <a:lnTo>
                  <a:pt x="353776" y="523946"/>
                </a:lnTo>
                <a:lnTo>
                  <a:pt x="353619" y="524254"/>
                </a:lnTo>
                <a:lnTo>
                  <a:pt x="354040" y="524884"/>
                </a:lnTo>
                <a:lnTo>
                  <a:pt x="354957" y="524259"/>
                </a:lnTo>
                <a:lnTo>
                  <a:pt x="355814" y="524208"/>
                </a:lnTo>
                <a:lnTo>
                  <a:pt x="356263" y="525209"/>
                </a:lnTo>
                <a:lnTo>
                  <a:pt x="355960" y="525606"/>
                </a:lnTo>
                <a:lnTo>
                  <a:pt x="356133" y="526081"/>
                </a:lnTo>
                <a:lnTo>
                  <a:pt x="357275" y="524962"/>
                </a:lnTo>
                <a:lnTo>
                  <a:pt x="357908" y="525939"/>
                </a:lnTo>
                <a:lnTo>
                  <a:pt x="358302" y="525925"/>
                </a:lnTo>
                <a:lnTo>
                  <a:pt x="358911" y="526443"/>
                </a:lnTo>
                <a:lnTo>
                  <a:pt x="358459" y="527417"/>
                </a:lnTo>
                <a:lnTo>
                  <a:pt x="358864" y="527591"/>
                </a:lnTo>
                <a:lnTo>
                  <a:pt x="359304" y="528385"/>
                </a:lnTo>
                <a:lnTo>
                  <a:pt x="359711" y="528362"/>
                </a:lnTo>
                <a:lnTo>
                  <a:pt x="359929" y="529559"/>
                </a:lnTo>
                <a:lnTo>
                  <a:pt x="360401" y="529247"/>
                </a:lnTo>
                <a:lnTo>
                  <a:pt x="361866" y="529332"/>
                </a:lnTo>
                <a:lnTo>
                  <a:pt x="362069" y="528513"/>
                </a:lnTo>
                <a:lnTo>
                  <a:pt x="361355" y="528113"/>
                </a:lnTo>
                <a:lnTo>
                  <a:pt x="361126" y="527697"/>
                </a:lnTo>
                <a:lnTo>
                  <a:pt x="361698" y="527788"/>
                </a:lnTo>
                <a:lnTo>
                  <a:pt x="362616" y="527515"/>
                </a:lnTo>
                <a:lnTo>
                  <a:pt x="362861" y="528439"/>
                </a:lnTo>
                <a:lnTo>
                  <a:pt x="363681" y="529114"/>
                </a:lnTo>
                <a:lnTo>
                  <a:pt x="363673" y="529796"/>
                </a:lnTo>
                <a:lnTo>
                  <a:pt x="364696" y="529475"/>
                </a:lnTo>
                <a:lnTo>
                  <a:pt x="364967" y="529983"/>
                </a:lnTo>
                <a:lnTo>
                  <a:pt x="365325" y="530158"/>
                </a:lnTo>
                <a:lnTo>
                  <a:pt x="364345" y="530724"/>
                </a:lnTo>
                <a:lnTo>
                  <a:pt x="364702" y="531130"/>
                </a:lnTo>
                <a:lnTo>
                  <a:pt x="365660" y="530839"/>
                </a:lnTo>
                <a:lnTo>
                  <a:pt x="365155" y="531865"/>
                </a:lnTo>
                <a:lnTo>
                  <a:pt x="366266" y="532110"/>
                </a:lnTo>
                <a:lnTo>
                  <a:pt x="366931" y="531511"/>
                </a:lnTo>
                <a:lnTo>
                  <a:pt x="367016" y="532055"/>
                </a:lnTo>
                <a:lnTo>
                  <a:pt x="367970" y="532722"/>
                </a:lnTo>
                <a:lnTo>
                  <a:pt x="368016" y="532952"/>
                </a:lnTo>
                <a:lnTo>
                  <a:pt x="367256" y="533089"/>
                </a:lnTo>
                <a:lnTo>
                  <a:pt x="367039" y="534425"/>
                </a:lnTo>
                <a:lnTo>
                  <a:pt x="368200" y="533821"/>
                </a:lnTo>
                <a:lnTo>
                  <a:pt x="369294" y="533882"/>
                </a:lnTo>
                <a:lnTo>
                  <a:pt x="369774" y="534365"/>
                </a:lnTo>
                <a:lnTo>
                  <a:pt x="370112" y="534362"/>
                </a:lnTo>
                <a:lnTo>
                  <a:pt x="370338" y="533297"/>
                </a:lnTo>
                <a:lnTo>
                  <a:pt x="371082" y="532890"/>
                </a:lnTo>
                <a:lnTo>
                  <a:pt x="371697" y="533108"/>
                </a:lnTo>
                <a:lnTo>
                  <a:pt x="372183" y="532952"/>
                </a:lnTo>
                <a:lnTo>
                  <a:pt x="371995" y="531925"/>
                </a:lnTo>
                <a:lnTo>
                  <a:pt x="372290" y="531903"/>
                </a:lnTo>
                <a:lnTo>
                  <a:pt x="372753" y="532301"/>
                </a:lnTo>
                <a:lnTo>
                  <a:pt x="372864" y="531482"/>
                </a:lnTo>
                <a:lnTo>
                  <a:pt x="373320" y="531156"/>
                </a:lnTo>
                <a:lnTo>
                  <a:pt x="373262" y="529191"/>
                </a:lnTo>
                <a:lnTo>
                  <a:pt x="373644" y="528091"/>
                </a:lnTo>
                <a:lnTo>
                  <a:pt x="374960" y="528427"/>
                </a:lnTo>
                <a:lnTo>
                  <a:pt x="375966" y="528169"/>
                </a:lnTo>
                <a:lnTo>
                  <a:pt x="376284" y="527602"/>
                </a:lnTo>
                <a:lnTo>
                  <a:pt x="376643" y="527956"/>
                </a:lnTo>
                <a:lnTo>
                  <a:pt x="378901" y="527641"/>
                </a:lnTo>
                <a:lnTo>
                  <a:pt x="379517" y="527258"/>
                </a:lnTo>
                <a:lnTo>
                  <a:pt x="379984" y="527271"/>
                </a:lnTo>
                <a:lnTo>
                  <a:pt x="380233" y="527722"/>
                </a:lnTo>
                <a:lnTo>
                  <a:pt x="380810" y="527316"/>
                </a:lnTo>
                <a:lnTo>
                  <a:pt x="381769" y="527306"/>
                </a:lnTo>
                <a:lnTo>
                  <a:pt x="382003" y="527465"/>
                </a:lnTo>
                <a:lnTo>
                  <a:pt x="382044" y="528331"/>
                </a:lnTo>
                <a:lnTo>
                  <a:pt x="381483" y="529410"/>
                </a:lnTo>
                <a:lnTo>
                  <a:pt x="381917" y="530617"/>
                </a:lnTo>
                <a:lnTo>
                  <a:pt x="381704" y="531399"/>
                </a:lnTo>
                <a:lnTo>
                  <a:pt x="382796" y="533079"/>
                </a:lnTo>
                <a:lnTo>
                  <a:pt x="383859" y="534118"/>
                </a:lnTo>
                <a:lnTo>
                  <a:pt x="383605" y="535746"/>
                </a:lnTo>
                <a:lnTo>
                  <a:pt x="384021" y="536306"/>
                </a:lnTo>
                <a:lnTo>
                  <a:pt x="383858" y="537120"/>
                </a:lnTo>
                <a:lnTo>
                  <a:pt x="384079" y="537603"/>
                </a:lnTo>
                <a:lnTo>
                  <a:pt x="384931" y="537324"/>
                </a:lnTo>
                <a:lnTo>
                  <a:pt x="386040" y="536358"/>
                </a:lnTo>
                <a:lnTo>
                  <a:pt x="386419" y="536516"/>
                </a:lnTo>
                <a:lnTo>
                  <a:pt x="386648" y="537095"/>
                </a:lnTo>
                <a:lnTo>
                  <a:pt x="387092" y="537395"/>
                </a:lnTo>
                <a:lnTo>
                  <a:pt x="388105" y="537053"/>
                </a:lnTo>
                <a:lnTo>
                  <a:pt x="389203" y="536263"/>
                </a:lnTo>
                <a:lnTo>
                  <a:pt x="389782" y="536486"/>
                </a:lnTo>
                <a:lnTo>
                  <a:pt x="390258" y="536228"/>
                </a:lnTo>
                <a:lnTo>
                  <a:pt x="392801" y="536584"/>
                </a:lnTo>
                <a:lnTo>
                  <a:pt x="393248" y="535439"/>
                </a:lnTo>
                <a:lnTo>
                  <a:pt x="393734" y="535018"/>
                </a:lnTo>
                <a:lnTo>
                  <a:pt x="394044" y="535087"/>
                </a:lnTo>
                <a:lnTo>
                  <a:pt x="394462" y="536070"/>
                </a:lnTo>
                <a:lnTo>
                  <a:pt x="395362" y="537020"/>
                </a:lnTo>
                <a:lnTo>
                  <a:pt x="395982" y="535643"/>
                </a:lnTo>
                <a:lnTo>
                  <a:pt x="396973" y="534805"/>
                </a:lnTo>
                <a:lnTo>
                  <a:pt x="397542" y="534746"/>
                </a:lnTo>
                <a:lnTo>
                  <a:pt x="397943" y="535689"/>
                </a:lnTo>
                <a:lnTo>
                  <a:pt x="398791" y="536026"/>
                </a:lnTo>
                <a:lnTo>
                  <a:pt x="399118" y="535821"/>
                </a:lnTo>
                <a:lnTo>
                  <a:pt x="399495" y="534753"/>
                </a:lnTo>
                <a:lnTo>
                  <a:pt x="399844" y="534465"/>
                </a:lnTo>
                <a:lnTo>
                  <a:pt x="401955" y="533794"/>
                </a:lnTo>
                <a:lnTo>
                  <a:pt x="403865" y="534669"/>
                </a:lnTo>
                <a:lnTo>
                  <a:pt x="404668" y="533504"/>
                </a:lnTo>
                <a:lnTo>
                  <a:pt x="406843" y="532686"/>
                </a:lnTo>
                <a:lnTo>
                  <a:pt x="407210" y="533255"/>
                </a:lnTo>
                <a:lnTo>
                  <a:pt x="407100" y="533669"/>
                </a:lnTo>
                <a:lnTo>
                  <a:pt x="412567" y="538317"/>
                </a:lnTo>
                <a:lnTo>
                  <a:pt x="416093" y="539463"/>
                </a:lnTo>
                <a:lnTo>
                  <a:pt x="422136" y="531514"/>
                </a:lnTo>
                <a:lnTo>
                  <a:pt x="432786" y="520194"/>
                </a:lnTo>
                <a:lnTo>
                  <a:pt x="415426" y="512572"/>
                </a:lnTo>
                <a:lnTo>
                  <a:pt x="403590" y="494838"/>
                </a:lnTo>
                <a:lnTo>
                  <a:pt x="398167" y="489937"/>
                </a:lnTo>
                <a:lnTo>
                  <a:pt x="393130" y="484689"/>
                </a:lnTo>
                <a:lnTo>
                  <a:pt x="389731" y="477267"/>
                </a:lnTo>
                <a:lnTo>
                  <a:pt x="392186" y="472947"/>
                </a:lnTo>
                <a:lnTo>
                  <a:pt x="392688" y="471188"/>
                </a:lnTo>
                <a:lnTo>
                  <a:pt x="393013" y="466073"/>
                </a:lnTo>
                <a:lnTo>
                  <a:pt x="392664" y="463892"/>
                </a:lnTo>
                <a:lnTo>
                  <a:pt x="391249" y="462840"/>
                </a:lnTo>
                <a:lnTo>
                  <a:pt x="389935" y="461327"/>
                </a:lnTo>
                <a:lnTo>
                  <a:pt x="388448" y="460434"/>
                </a:lnTo>
                <a:lnTo>
                  <a:pt x="388160" y="459723"/>
                </a:lnTo>
                <a:lnTo>
                  <a:pt x="387658" y="459571"/>
                </a:lnTo>
                <a:lnTo>
                  <a:pt x="386033" y="457658"/>
                </a:lnTo>
                <a:lnTo>
                  <a:pt x="383579" y="455606"/>
                </a:lnTo>
                <a:lnTo>
                  <a:pt x="383555" y="454800"/>
                </a:lnTo>
                <a:lnTo>
                  <a:pt x="382906" y="454258"/>
                </a:lnTo>
                <a:lnTo>
                  <a:pt x="381978" y="446709"/>
                </a:lnTo>
                <a:lnTo>
                  <a:pt x="382002" y="443444"/>
                </a:lnTo>
                <a:lnTo>
                  <a:pt x="381602" y="444052"/>
                </a:lnTo>
                <a:lnTo>
                  <a:pt x="381578" y="444982"/>
                </a:lnTo>
                <a:lnTo>
                  <a:pt x="381274" y="445684"/>
                </a:lnTo>
                <a:lnTo>
                  <a:pt x="381405" y="446147"/>
                </a:lnTo>
                <a:lnTo>
                  <a:pt x="381175" y="446387"/>
                </a:lnTo>
                <a:lnTo>
                  <a:pt x="378930" y="447184"/>
                </a:lnTo>
                <a:lnTo>
                  <a:pt x="377365" y="448613"/>
                </a:lnTo>
                <a:lnTo>
                  <a:pt x="376145" y="448384"/>
                </a:lnTo>
                <a:lnTo>
                  <a:pt x="375396" y="448555"/>
                </a:lnTo>
                <a:lnTo>
                  <a:pt x="374761" y="449506"/>
                </a:lnTo>
                <a:lnTo>
                  <a:pt x="373608" y="449738"/>
                </a:lnTo>
                <a:lnTo>
                  <a:pt x="371941" y="451785"/>
                </a:lnTo>
                <a:lnTo>
                  <a:pt x="370164" y="452387"/>
                </a:lnTo>
                <a:lnTo>
                  <a:pt x="370076" y="452225"/>
                </a:lnTo>
                <a:lnTo>
                  <a:pt x="368820" y="449015"/>
                </a:lnTo>
                <a:lnTo>
                  <a:pt x="368075" y="430956"/>
                </a:lnTo>
                <a:lnTo>
                  <a:pt x="369446" y="407938"/>
                </a:lnTo>
                <a:lnTo>
                  <a:pt x="372233" y="391567"/>
                </a:lnTo>
                <a:lnTo>
                  <a:pt x="376454" y="382843"/>
                </a:lnTo>
                <a:lnTo>
                  <a:pt x="380522" y="378647"/>
                </a:lnTo>
                <a:lnTo>
                  <a:pt x="386019" y="368788"/>
                </a:lnTo>
                <a:lnTo>
                  <a:pt x="396587" y="359834"/>
                </a:lnTo>
                <a:lnTo>
                  <a:pt x="414143" y="329443"/>
                </a:lnTo>
                <a:lnTo>
                  <a:pt x="417194" y="322980"/>
                </a:lnTo>
                <a:lnTo>
                  <a:pt x="420930" y="316153"/>
                </a:lnTo>
                <a:lnTo>
                  <a:pt x="423474" y="306388"/>
                </a:lnTo>
                <a:lnTo>
                  <a:pt x="444334" y="289576"/>
                </a:lnTo>
                <a:lnTo>
                  <a:pt x="452533" y="279302"/>
                </a:lnTo>
                <a:lnTo>
                  <a:pt x="467323" y="276237"/>
                </a:lnTo>
                <a:lnTo>
                  <a:pt x="530138" y="325317"/>
                </a:lnTo>
                <a:lnTo>
                  <a:pt x="545917" y="318808"/>
                </a:lnTo>
                <a:lnTo>
                  <a:pt x="540772" y="300340"/>
                </a:lnTo>
                <a:lnTo>
                  <a:pt x="549178" y="277120"/>
                </a:lnTo>
                <a:lnTo>
                  <a:pt x="551867" y="274548"/>
                </a:lnTo>
                <a:lnTo>
                  <a:pt x="553651" y="269575"/>
                </a:lnTo>
                <a:lnTo>
                  <a:pt x="553775" y="266483"/>
                </a:lnTo>
                <a:lnTo>
                  <a:pt x="553316" y="250359"/>
                </a:lnTo>
                <a:lnTo>
                  <a:pt x="551243" y="249834"/>
                </a:lnTo>
                <a:lnTo>
                  <a:pt x="550806" y="247544"/>
                </a:lnTo>
                <a:lnTo>
                  <a:pt x="551151" y="241899"/>
                </a:lnTo>
                <a:lnTo>
                  <a:pt x="551646" y="239084"/>
                </a:lnTo>
                <a:lnTo>
                  <a:pt x="553268" y="236069"/>
                </a:lnTo>
                <a:lnTo>
                  <a:pt x="553505" y="234666"/>
                </a:lnTo>
                <a:lnTo>
                  <a:pt x="557248" y="228305"/>
                </a:lnTo>
                <a:lnTo>
                  <a:pt x="557561" y="227420"/>
                </a:lnTo>
                <a:lnTo>
                  <a:pt x="560910" y="204861"/>
                </a:lnTo>
                <a:lnTo>
                  <a:pt x="561940" y="195510"/>
                </a:lnTo>
                <a:lnTo>
                  <a:pt x="562667" y="187393"/>
                </a:lnTo>
                <a:lnTo>
                  <a:pt x="562818" y="176617"/>
                </a:lnTo>
                <a:lnTo>
                  <a:pt x="562034" y="153882"/>
                </a:lnTo>
                <a:lnTo>
                  <a:pt x="561781" y="115883"/>
                </a:lnTo>
                <a:lnTo>
                  <a:pt x="564434" y="97557"/>
                </a:lnTo>
                <a:lnTo>
                  <a:pt x="566199" y="78214"/>
                </a:lnTo>
                <a:lnTo>
                  <a:pt x="563835" y="53480"/>
                </a:lnTo>
                <a:lnTo>
                  <a:pt x="563022" y="52645"/>
                </a:lnTo>
                <a:lnTo>
                  <a:pt x="553337" y="33512"/>
                </a:lnTo>
                <a:lnTo>
                  <a:pt x="551620" y="1494"/>
                </a:lnTo>
                <a:lnTo>
                  <a:pt x="547013" y="1579"/>
                </a:lnTo>
                <a:lnTo>
                  <a:pt x="542940" y="1221"/>
                </a:lnTo>
                <a:lnTo>
                  <a:pt x="542402" y="1945"/>
                </a:lnTo>
                <a:lnTo>
                  <a:pt x="542425" y="2860"/>
                </a:lnTo>
                <a:lnTo>
                  <a:pt x="542149" y="3145"/>
                </a:lnTo>
                <a:lnTo>
                  <a:pt x="540989" y="3225"/>
                </a:lnTo>
                <a:lnTo>
                  <a:pt x="539855" y="2813"/>
                </a:lnTo>
                <a:lnTo>
                  <a:pt x="539369" y="2285"/>
                </a:lnTo>
                <a:lnTo>
                  <a:pt x="538418" y="1880"/>
                </a:lnTo>
                <a:lnTo>
                  <a:pt x="536753" y="191"/>
                </a:lnTo>
                <a:lnTo>
                  <a:pt x="535834" y="0"/>
                </a:lnTo>
                <a:lnTo>
                  <a:pt x="534870" y="257"/>
                </a:lnTo>
                <a:lnTo>
                  <a:pt x="532059" y="2421"/>
                </a:lnTo>
                <a:lnTo>
                  <a:pt x="531239" y="3312"/>
                </a:lnTo>
                <a:lnTo>
                  <a:pt x="529453" y="4473"/>
                </a:lnTo>
                <a:lnTo>
                  <a:pt x="529192" y="5590"/>
                </a:lnTo>
                <a:lnTo>
                  <a:pt x="529612" y="7825"/>
                </a:lnTo>
                <a:lnTo>
                  <a:pt x="529603" y="8951"/>
                </a:lnTo>
                <a:lnTo>
                  <a:pt x="529269" y="10065"/>
                </a:lnTo>
                <a:lnTo>
                  <a:pt x="526654" y="11645"/>
                </a:lnTo>
                <a:lnTo>
                  <a:pt x="524156" y="11993"/>
                </a:lnTo>
                <a:lnTo>
                  <a:pt x="521483" y="11772"/>
                </a:lnTo>
                <a:lnTo>
                  <a:pt x="520958" y="11276"/>
                </a:lnTo>
                <a:lnTo>
                  <a:pt x="520249" y="9028"/>
                </a:lnTo>
                <a:lnTo>
                  <a:pt x="519629" y="5440"/>
                </a:lnTo>
                <a:lnTo>
                  <a:pt x="519258" y="4732"/>
                </a:lnTo>
                <a:lnTo>
                  <a:pt x="518298" y="4255"/>
                </a:lnTo>
                <a:lnTo>
                  <a:pt x="514331" y="4634"/>
                </a:lnTo>
                <a:lnTo>
                  <a:pt x="512562" y="5394"/>
                </a:lnTo>
                <a:lnTo>
                  <a:pt x="510779" y="7392"/>
                </a:lnTo>
                <a:lnTo>
                  <a:pt x="510491" y="9198"/>
                </a:lnTo>
                <a:lnTo>
                  <a:pt x="508918" y="10513"/>
                </a:lnTo>
                <a:lnTo>
                  <a:pt x="508411" y="10492"/>
                </a:lnTo>
                <a:lnTo>
                  <a:pt x="507291" y="9847"/>
                </a:lnTo>
                <a:lnTo>
                  <a:pt x="506372" y="8879"/>
                </a:lnTo>
                <a:lnTo>
                  <a:pt x="505494" y="7243"/>
                </a:lnTo>
                <a:lnTo>
                  <a:pt x="504725" y="6519"/>
                </a:lnTo>
                <a:lnTo>
                  <a:pt x="503672" y="6548"/>
                </a:lnTo>
                <a:lnTo>
                  <a:pt x="501805" y="7014"/>
                </a:lnTo>
                <a:lnTo>
                  <a:pt x="501157" y="7823"/>
                </a:lnTo>
                <a:lnTo>
                  <a:pt x="500759" y="9661"/>
                </a:lnTo>
                <a:lnTo>
                  <a:pt x="500060" y="9922"/>
                </a:lnTo>
                <a:lnTo>
                  <a:pt x="498753" y="9977"/>
                </a:lnTo>
                <a:lnTo>
                  <a:pt x="497575" y="9526"/>
                </a:lnTo>
                <a:lnTo>
                  <a:pt x="496052" y="7645"/>
                </a:lnTo>
                <a:lnTo>
                  <a:pt x="495417" y="7218"/>
                </a:lnTo>
                <a:lnTo>
                  <a:pt x="492039" y="5549"/>
                </a:lnTo>
                <a:lnTo>
                  <a:pt x="489194" y="5066"/>
                </a:lnTo>
                <a:lnTo>
                  <a:pt x="487085" y="3377"/>
                </a:lnTo>
                <a:lnTo>
                  <a:pt x="486092" y="3491"/>
                </a:lnTo>
                <a:lnTo>
                  <a:pt x="485884" y="6272"/>
                </a:lnTo>
                <a:lnTo>
                  <a:pt x="484384" y="8451"/>
                </a:lnTo>
                <a:lnTo>
                  <a:pt x="483902" y="8770"/>
                </a:lnTo>
                <a:lnTo>
                  <a:pt x="482696" y="9011"/>
                </a:lnTo>
                <a:lnTo>
                  <a:pt x="479515" y="10624"/>
                </a:lnTo>
                <a:lnTo>
                  <a:pt x="479009" y="10601"/>
                </a:lnTo>
                <a:lnTo>
                  <a:pt x="478585" y="10293"/>
                </a:lnTo>
                <a:lnTo>
                  <a:pt x="477797" y="8051"/>
                </a:lnTo>
                <a:lnTo>
                  <a:pt x="477375" y="7880"/>
                </a:lnTo>
                <a:lnTo>
                  <a:pt x="476718" y="7997"/>
                </a:lnTo>
                <a:lnTo>
                  <a:pt x="474518" y="10486"/>
                </a:lnTo>
                <a:lnTo>
                  <a:pt x="473742" y="10890"/>
                </a:lnTo>
                <a:lnTo>
                  <a:pt x="472176" y="11043"/>
                </a:lnTo>
                <a:lnTo>
                  <a:pt x="467847" y="12388"/>
                </a:lnTo>
                <a:lnTo>
                  <a:pt x="466770" y="12126"/>
                </a:lnTo>
                <a:lnTo>
                  <a:pt x="465117" y="10820"/>
                </a:lnTo>
                <a:lnTo>
                  <a:pt x="464361" y="10681"/>
                </a:lnTo>
                <a:lnTo>
                  <a:pt x="463919" y="10843"/>
                </a:lnTo>
                <a:lnTo>
                  <a:pt x="461049" y="13814"/>
                </a:lnTo>
                <a:lnTo>
                  <a:pt x="459383" y="14690"/>
                </a:lnTo>
                <a:lnTo>
                  <a:pt x="458363" y="14829"/>
                </a:lnTo>
                <a:lnTo>
                  <a:pt x="457660" y="14255"/>
                </a:lnTo>
                <a:lnTo>
                  <a:pt x="456848" y="9968"/>
                </a:lnTo>
                <a:lnTo>
                  <a:pt x="455415" y="7655"/>
                </a:lnTo>
                <a:lnTo>
                  <a:pt x="453356" y="5605"/>
                </a:lnTo>
                <a:lnTo>
                  <a:pt x="451334" y="4761"/>
                </a:lnTo>
                <a:lnTo>
                  <a:pt x="449558" y="3052"/>
                </a:lnTo>
                <a:lnTo>
                  <a:pt x="446902" y="3766"/>
                </a:lnTo>
                <a:lnTo>
                  <a:pt x="446196" y="4984"/>
                </a:lnTo>
                <a:lnTo>
                  <a:pt x="445859" y="7295"/>
                </a:lnTo>
                <a:lnTo>
                  <a:pt x="444785" y="7464"/>
                </a:lnTo>
                <a:lnTo>
                  <a:pt x="442414" y="8886"/>
                </a:lnTo>
                <a:lnTo>
                  <a:pt x="440423" y="9425"/>
                </a:lnTo>
                <a:lnTo>
                  <a:pt x="439776" y="9263"/>
                </a:lnTo>
                <a:lnTo>
                  <a:pt x="438521" y="8433"/>
                </a:lnTo>
                <a:lnTo>
                  <a:pt x="435704" y="8672"/>
                </a:lnTo>
                <a:lnTo>
                  <a:pt x="434589" y="9398"/>
                </a:lnTo>
                <a:lnTo>
                  <a:pt x="431269" y="10475"/>
                </a:lnTo>
                <a:lnTo>
                  <a:pt x="430445" y="11446"/>
                </a:lnTo>
                <a:lnTo>
                  <a:pt x="429919" y="11712"/>
                </a:lnTo>
                <a:lnTo>
                  <a:pt x="433214" y="12385"/>
                </a:lnTo>
                <a:lnTo>
                  <a:pt x="438340" y="11980"/>
                </a:lnTo>
                <a:lnTo>
                  <a:pt x="437292" y="16589"/>
                </a:lnTo>
                <a:lnTo>
                  <a:pt x="434519" y="16139"/>
                </a:lnTo>
                <a:lnTo>
                  <a:pt x="435918" y="20788"/>
                </a:lnTo>
                <a:lnTo>
                  <a:pt x="427138" y="27013"/>
                </a:lnTo>
                <a:lnTo>
                  <a:pt x="427418" y="34220"/>
                </a:lnTo>
                <a:lnTo>
                  <a:pt x="427976" y="40677"/>
                </a:lnTo>
                <a:lnTo>
                  <a:pt x="426909" y="48694"/>
                </a:lnTo>
                <a:lnTo>
                  <a:pt x="433680" y="49361"/>
                </a:lnTo>
                <a:lnTo>
                  <a:pt x="441113" y="48954"/>
                </a:lnTo>
                <a:lnTo>
                  <a:pt x="448214" y="47136"/>
                </a:lnTo>
                <a:lnTo>
                  <a:pt x="453861" y="57202"/>
                </a:lnTo>
                <a:lnTo>
                  <a:pt x="441725" y="58162"/>
                </a:lnTo>
                <a:lnTo>
                  <a:pt x="441196" y="68103"/>
                </a:lnTo>
                <a:lnTo>
                  <a:pt x="447644" y="66695"/>
                </a:lnTo>
                <a:lnTo>
                  <a:pt x="454417" y="78790"/>
                </a:lnTo>
                <a:lnTo>
                  <a:pt x="449896" y="87709"/>
                </a:lnTo>
                <a:lnTo>
                  <a:pt x="424492" y="88605"/>
                </a:lnTo>
                <a:lnTo>
                  <a:pt x="410550" y="89750"/>
                </a:lnTo>
                <a:lnTo>
                  <a:pt x="410322" y="79938"/>
                </a:lnTo>
                <a:lnTo>
                  <a:pt x="403625" y="80302"/>
                </a:lnTo>
                <a:lnTo>
                  <a:pt x="398061" y="82057"/>
                </a:lnTo>
                <a:lnTo>
                  <a:pt x="387757" y="75128"/>
                </a:lnTo>
                <a:lnTo>
                  <a:pt x="382155" y="68601"/>
                </a:lnTo>
                <a:lnTo>
                  <a:pt x="377621" y="74534"/>
                </a:lnTo>
                <a:lnTo>
                  <a:pt x="377536" y="82522"/>
                </a:lnTo>
                <a:lnTo>
                  <a:pt x="376757" y="92256"/>
                </a:lnTo>
                <a:lnTo>
                  <a:pt x="372717" y="88448"/>
                </a:lnTo>
                <a:lnTo>
                  <a:pt x="369149" y="94269"/>
                </a:lnTo>
                <a:lnTo>
                  <a:pt x="373258" y="101524"/>
                </a:lnTo>
                <a:lnTo>
                  <a:pt x="374483" y="107693"/>
                </a:lnTo>
                <a:lnTo>
                  <a:pt x="369201" y="111796"/>
                </a:lnTo>
                <a:lnTo>
                  <a:pt x="368155" y="112291"/>
                </a:lnTo>
                <a:lnTo>
                  <a:pt x="362022" y="111696"/>
                </a:lnTo>
                <a:lnTo>
                  <a:pt x="361405" y="115600"/>
                </a:lnTo>
                <a:lnTo>
                  <a:pt x="365743" y="118420"/>
                </a:lnTo>
                <a:lnTo>
                  <a:pt x="364272" y="124321"/>
                </a:lnTo>
                <a:lnTo>
                  <a:pt x="360824" y="130764"/>
                </a:lnTo>
                <a:lnTo>
                  <a:pt x="358518" y="129271"/>
                </a:lnTo>
                <a:lnTo>
                  <a:pt x="356788" y="133723"/>
                </a:lnTo>
                <a:lnTo>
                  <a:pt x="352515" y="135915"/>
                </a:lnTo>
                <a:lnTo>
                  <a:pt x="352457" y="140673"/>
                </a:lnTo>
                <a:lnTo>
                  <a:pt x="349943" y="137249"/>
                </a:lnTo>
                <a:lnTo>
                  <a:pt x="340062" y="139691"/>
                </a:lnTo>
                <a:lnTo>
                  <a:pt x="339454" y="145873"/>
                </a:lnTo>
                <a:lnTo>
                  <a:pt x="333534" y="138925"/>
                </a:lnTo>
                <a:lnTo>
                  <a:pt x="331919" y="131163"/>
                </a:lnTo>
                <a:lnTo>
                  <a:pt x="330103" y="129545"/>
                </a:lnTo>
                <a:lnTo>
                  <a:pt x="324974" y="128416"/>
                </a:lnTo>
                <a:lnTo>
                  <a:pt x="325112" y="128857"/>
                </a:lnTo>
                <a:lnTo>
                  <a:pt x="324886" y="130165"/>
                </a:lnTo>
                <a:lnTo>
                  <a:pt x="325152" y="130497"/>
                </a:lnTo>
                <a:lnTo>
                  <a:pt x="325800" y="130317"/>
                </a:lnTo>
                <a:lnTo>
                  <a:pt x="326129" y="131508"/>
                </a:lnTo>
                <a:lnTo>
                  <a:pt x="325790" y="131968"/>
                </a:lnTo>
                <a:lnTo>
                  <a:pt x="319769" y="128133"/>
                </a:lnTo>
                <a:lnTo>
                  <a:pt x="319319" y="133617"/>
                </a:lnTo>
                <a:lnTo>
                  <a:pt x="313256" y="131623"/>
                </a:lnTo>
                <a:lnTo>
                  <a:pt x="312895" y="131998"/>
                </a:lnTo>
                <a:lnTo>
                  <a:pt x="313071" y="132856"/>
                </a:lnTo>
                <a:lnTo>
                  <a:pt x="313400" y="133170"/>
                </a:lnTo>
                <a:lnTo>
                  <a:pt x="313297" y="133371"/>
                </a:lnTo>
                <a:lnTo>
                  <a:pt x="312882" y="133185"/>
                </a:lnTo>
                <a:lnTo>
                  <a:pt x="312744" y="133552"/>
                </a:lnTo>
                <a:lnTo>
                  <a:pt x="312491" y="133412"/>
                </a:lnTo>
                <a:lnTo>
                  <a:pt x="312590" y="132968"/>
                </a:lnTo>
                <a:lnTo>
                  <a:pt x="311304" y="130692"/>
                </a:lnTo>
                <a:lnTo>
                  <a:pt x="295982" y="127973"/>
                </a:lnTo>
                <a:lnTo>
                  <a:pt x="293510" y="138584"/>
                </a:lnTo>
                <a:lnTo>
                  <a:pt x="292169" y="146212"/>
                </a:lnTo>
                <a:lnTo>
                  <a:pt x="292074" y="149328"/>
                </a:lnTo>
                <a:lnTo>
                  <a:pt x="293151" y="149456"/>
                </a:lnTo>
                <a:lnTo>
                  <a:pt x="293043" y="150976"/>
                </a:lnTo>
                <a:lnTo>
                  <a:pt x="295431" y="156210"/>
                </a:lnTo>
                <a:lnTo>
                  <a:pt x="295609" y="157102"/>
                </a:lnTo>
                <a:lnTo>
                  <a:pt x="289924" y="155487"/>
                </a:lnTo>
                <a:lnTo>
                  <a:pt x="288309" y="156106"/>
                </a:lnTo>
                <a:lnTo>
                  <a:pt x="287891" y="165367"/>
                </a:lnTo>
                <a:lnTo>
                  <a:pt x="287275" y="165540"/>
                </a:lnTo>
                <a:lnTo>
                  <a:pt x="287027" y="170778"/>
                </a:lnTo>
                <a:lnTo>
                  <a:pt x="283654" y="170145"/>
                </a:lnTo>
                <a:lnTo>
                  <a:pt x="279194" y="170681"/>
                </a:lnTo>
                <a:lnTo>
                  <a:pt x="279233" y="167881"/>
                </a:lnTo>
                <a:lnTo>
                  <a:pt x="270735" y="160395"/>
                </a:lnTo>
                <a:lnTo>
                  <a:pt x="270581" y="163681"/>
                </a:lnTo>
                <a:lnTo>
                  <a:pt x="263091" y="164547"/>
                </a:lnTo>
                <a:lnTo>
                  <a:pt x="266577" y="173130"/>
                </a:lnTo>
                <a:lnTo>
                  <a:pt x="266591" y="187131"/>
                </a:lnTo>
                <a:lnTo>
                  <a:pt x="267040" y="187101"/>
                </a:lnTo>
                <a:lnTo>
                  <a:pt x="264901" y="194819"/>
                </a:lnTo>
                <a:lnTo>
                  <a:pt x="265264" y="204642"/>
                </a:lnTo>
                <a:lnTo>
                  <a:pt x="255323" y="202677"/>
                </a:lnTo>
                <a:lnTo>
                  <a:pt x="248028" y="203560"/>
                </a:lnTo>
                <a:lnTo>
                  <a:pt x="247826" y="207701"/>
                </a:lnTo>
                <a:lnTo>
                  <a:pt x="240744" y="210918"/>
                </a:lnTo>
                <a:lnTo>
                  <a:pt x="240333" y="210168"/>
                </a:lnTo>
                <a:lnTo>
                  <a:pt x="240367" y="209371"/>
                </a:lnTo>
                <a:lnTo>
                  <a:pt x="239746" y="208239"/>
                </a:lnTo>
                <a:lnTo>
                  <a:pt x="239682" y="207512"/>
                </a:lnTo>
                <a:lnTo>
                  <a:pt x="238997" y="207402"/>
                </a:lnTo>
                <a:lnTo>
                  <a:pt x="238808" y="206930"/>
                </a:lnTo>
                <a:lnTo>
                  <a:pt x="238384" y="206943"/>
                </a:lnTo>
                <a:lnTo>
                  <a:pt x="238022" y="206372"/>
                </a:lnTo>
                <a:lnTo>
                  <a:pt x="237977" y="206668"/>
                </a:lnTo>
                <a:lnTo>
                  <a:pt x="237531" y="206857"/>
                </a:lnTo>
                <a:lnTo>
                  <a:pt x="234048" y="206706"/>
                </a:lnTo>
                <a:lnTo>
                  <a:pt x="230424" y="212902"/>
                </a:lnTo>
                <a:lnTo>
                  <a:pt x="224337" y="209831"/>
                </a:lnTo>
                <a:lnTo>
                  <a:pt x="216578" y="207553"/>
                </a:lnTo>
                <a:lnTo>
                  <a:pt x="207479" y="211736"/>
                </a:lnTo>
                <a:lnTo>
                  <a:pt x="203756" y="210696"/>
                </a:lnTo>
                <a:lnTo>
                  <a:pt x="194305" y="211878"/>
                </a:lnTo>
                <a:lnTo>
                  <a:pt x="193632" y="214708"/>
                </a:lnTo>
                <a:lnTo>
                  <a:pt x="184138" y="211682"/>
                </a:lnTo>
                <a:lnTo>
                  <a:pt x="176209" y="212685"/>
                </a:lnTo>
                <a:lnTo>
                  <a:pt x="169134" y="210748"/>
                </a:lnTo>
                <a:lnTo>
                  <a:pt x="168198" y="205625"/>
                </a:lnTo>
                <a:lnTo>
                  <a:pt x="165137" y="206593"/>
                </a:lnTo>
                <a:lnTo>
                  <a:pt x="156851" y="205541"/>
                </a:lnTo>
                <a:lnTo>
                  <a:pt x="155147" y="206772"/>
                </a:lnTo>
                <a:lnTo>
                  <a:pt x="153551" y="209936"/>
                </a:lnTo>
                <a:lnTo>
                  <a:pt x="152757" y="209701"/>
                </a:lnTo>
                <a:lnTo>
                  <a:pt x="148276" y="211490"/>
                </a:lnTo>
                <a:lnTo>
                  <a:pt x="146860" y="204300"/>
                </a:lnTo>
                <a:lnTo>
                  <a:pt x="137337" y="207131"/>
                </a:lnTo>
                <a:lnTo>
                  <a:pt x="138933" y="206485"/>
                </a:lnTo>
                <a:lnTo>
                  <a:pt x="142353" y="201574"/>
                </a:lnTo>
                <a:lnTo>
                  <a:pt x="144113" y="195846"/>
                </a:lnTo>
                <a:lnTo>
                  <a:pt x="143089" y="193371"/>
                </a:lnTo>
                <a:lnTo>
                  <a:pt x="135936" y="194676"/>
                </a:lnTo>
                <a:lnTo>
                  <a:pt x="132606" y="195822"/>
                </a:lnTo>
                <a:lnTo>
                  <a:pt x="131968" y="190679"/>
                </a:lnTo>
                <a:lnTo>
                  <a:pt x="131104" y="191206"/>
                </a:lnTo>
                <a:lnTo>
                  <a:pt x="130897" y="190265"/>
                </a:lnTo>
                <a:lnTo>
                  <a:pt x="129940" y="189828"/>
                </a:lnTo>
                <a:lnTo>
                  <a:pt x="129441" y="190172"/>
                </a:lnTo>
                <a:lnTo>
                  <a:pt x="127113" y="188866"/>
                </a:lnTo>
                <a:lnTo>
                  <a:pt x="126204" y="188969"/>
                </a:lnTo>
                <a:lnTo>
                  <a:pt x="124497" y="188302"/>
                </a:lnTo>
                <a:lnTo>
                  <a:pt x="124047" y="186368"/>
                </a:lnTo>
                <a:lnTo>
                  <a:pt x="125017" y="185837"/>
                </a:lnTo>
                <a:lnTo>
                  <a:pt x="123690" y="184153"/>
                </a:lnTo>
                <a:lnTo>
                  <a:pt x="125895" y="176399"/>
                </a:lnTo>
                <a:lnTo>
                  <a:pt x="125923" y="166466"/>
                </a:lnTo>
                <a:lnTo>
                  <a:pt x="132791" y="168016"/>
                </a:lnTo>
                <a:lnTo>
                  <a:pt x="132430" y="166084"/>
                </a:lnTo>
                <a:lnTo>
                  <a:pt x="138650" y="162547"/>
                </a:lnTo>
                <a:lnTo>
                  <a:pt x="135414" y="160388"/>
                </a:lnTo>
                <a:lnTo>
                  <a:pt x="134793" y="160732"/>
                </a:lnTo>
                <a:lnTo>
                  <a:pt x="134266" y="160313"/>
                </a:lnTo>
                <a:lnTo>
                  <a:pt x="133714" y="160768"/>
                </a:lnTo>
                <a:lnTo>
                  <a:pt x="133294" y="160267"/>
                </a:lnTo>
                <a:lnTo>
                  <a:pt x="132840" y="160800"/>
                </a:lnTo>
                <a:lnTo>
                  <a:pt x="132388" y="159830"/>
                </a:lnTo>
                <a:lnTo>
                  <a:pt x="133207" y="158909"/>
                </a:lnTo>
                <a:lnTo>
                  <a:pt x="132550" y="158399"/>
                </a:lnTo>
                <a:lnTo>
                  <a:pt x="130498" y="154564"/>
                </a:lnTo>
                <a:lnTo>
                  <a:pt x="122979" y="152568"/>
                </a:lnTo>
                <a:lnTo>
                  <a:pt x="116674" y="154888"/>
                </a:lnTo>
                <a:lnTo>
                  <a:pt x="116551" y="154541"/>
                </a:lnTo>
                <a:lnTo>
                  <a:pt x="115998" y="154758"/>
                </a:lnTo>
                <a:lnTo>
                  <a:pt x="112585" y="146069"/>
                </a:lnTo>
                <a:lnTo>
                  <a:pt x="111036" y="143269"/>
                </a:lnTo>
                <a:lnTo>
                  <a:pt x="107392" y="144270"/>
                </a:lnTo>
                <a:lnTo>
                  <a:pt x="106720" y="142451"/>
                </a:lnTo>
                <a:lnTo>
                  <a:pt x="107324" y="142400"/>
                </a:lnTo>
                <a:lnTo>
                  <a:pt x="104963" y="135869"/>
                </a:lnTo>
                <a:lnTo>
                  <a:pt x="112432" y="132638"/>
                </a:lnTo>
                <a:lnTo>
                  <a:pt x="111797" y="130876"/>
                </a:lnTo>
                <a:lnTo>
                  <a:pt x="110033" y="127376"/>
                </a:lnTo>
                <a:lnTo>
                  <a:pt x="98471" y="132047"/>
                </a:lnTo>
                <a:lnTo>
                  <a:pt x="97254" y="129224"/>
                </a:lnTo>
                <a:lnTo>
                  <a:pt x="85857" y="128050"/>
                </a:lnTo>
                <a:lnTo>
                  <a:pt x="78939" y="134600"/>
                </a:lnTo>
                <a:lnTo>
                  <a:pt x="70793" y="137290"/>
                </a:lnTo>
                <a:lnTo>
                  <a:pt x="67057" y="139122"/>
                </a:lnTo>
                <a:lnTo>
                  <a:pt x="62841" y="142038"/>
                </a:lnTo>
                <a:lnTo>
                  <a:pt x="66716" y="150998"/>
                </a:lnTo>
                <a:lnTo>
                  <a:pt x="63079" y="151135"/>
                </a:lnTo>
                <a:lnTo>
                  <a:pt x="62642" y="152807"/>
                </a:lnTo>
                <a:lnTo>
                  <a:pt x="43061" y="155164"/>
                </a:lnTo>
                <a:lnTo>
                  <a:pt x="45975" y="162100"/>
                </a:lnTo>
                <a:lnTo>
                  <a:pt x="38841" y="162511"/>
                </a:lnTo>
                <a:lnTo>
                  <a:pt x="38348" y="161386"/>
                </a:lnTo>
                <a:lnTo>
                  <a:pt x="32041" y="164193"/>
                </a:lnTo>
                <a:lnTo>
                  <a:pt x="28893" y="165297"/>
                </a:lnTo>
                <a:lnTo>
                  <a:pt x="30695" y="166783"/>
                </a:lnTo>
                <a:lnTo>
                  <a:pt x="33271" y="173419"/>
                </a:lnTo>
                <a:lnTo>
                  <a:pt x="29698" y="174675"/>
                </a:lnTo>
                <a:lnTo>
                  <a:pt x="40680" y="173135"/>
                </a:lnTo>
                <a:lnTo>
                  <a:pt x="46054" y="170159"/>
                </a:lnTo>
                <a:lnTo>
                  <a:pt x="51149" y="168400"/>
                </a:lnTo>
                <a:lnTo>
                  <a:pt x="51910" y="165631"/>
                </a:lnTo>
                <a:lnTo>
                  <a:pt x="60662" y="164357"/>
                </a:lnTo>
                <a:lnTo>
                  <a:pt x="60774" y="163700"/>
                </a:lnTo>
                <a:lnTo>
                  <a:pt x="66583" y="162239"/>
                </a:lnTo>
                <a:lnTo>
                  <a:pt x="66477" y="160662"/>
                </a:lnTo>
                <a:lnTo>
                  <a:pt x="68547" y="159866"/>
                </a:lnTo>
                <a:lnTo>
                  <a:pt x="68767" y="164700"/>
                </a:lnTo>
                <a:lnTo>
                  <a:pt x="71239" y="164085"/>
                </a:lnTo>
                <a:lnTo>
                  <a:pt x="77478" y="160696"/>
                </a:lnTo>
                <a:lnTo>
                  <a:pt x="82556" y="159844"/>
                </a:lnTo>
                <a:lnTo>
                  <a:pt x="84455" y="166371"/>
                </a:lnTo>
                <a:lnTo>
                  <a:pt x="84200" y="166384"/>
                </a:lnTo>
                <a:lnTo>
                  <a:pt x="86793" y="171931"/>
                </a:lnTo>
                <a:lnTo>
                  <a:pt x="86633" y="171933"/>
                </a:lnTo>
                <a:lnTo>
                  <a:pt x="87709" y="179200"/>
                </a:lnTo>
                <a:lnTo>
                  <a:pt x="86899" y="179518"/>
                </a:lnTo>
                <a:lnTo>
                  <a:pt x="84728" y="177871"/>
                </a:lnTo>
                <a:lnTo>
                  <a:pt x="79862" y="185432"/>
                </a:lnTo>
                <a:lnTo>
                  <a:pt x="80796" y="188583"/>
                </a:lnTo>
                <a:lnTo>
                  <a:pt x="79859" y="187610"/>
                </a:lnTo>
                <a:lnTo>
                  <a:pt x="74344" y="189301"/>
                </a:lnTo>
                <a:lnTo>
                  <a:pt x="71898" y="190587"/>
                </a:lnTo>
                <a:lnTo>
                  <a:pt x="66219" y="194347"/>
                </a:lnTo>
                <a:lnTo>
                  <a:pt x="65018" y="194924"/>
                </a:lnTo>
                <a:lnTo>
                  <a:pt x="63459" y="195215"/>
                </a:lnTo>
                <a:lnTo>
                  <a:pt x="65506" y="205001"/>
                </a:lnTo>
                <a:lnTo>
                  <a:pt x="62614" y="207700"/>
                </a:lnTo>
                <a:lnTo>
                  <a:pt x="63207" y="213555"/>
                </a:lnTo>
                <a:lnTo>
                  <a:pt x="63755" y="215465"/>
                </a:lnTo>
                <a:lnTo>
                  <a:pt x="62476" y="216039"/>
                </a:lnTo>
                <a:lnTo>
                  <a:pt x="61655" y="216756"/>
                </a:lnTo>
                <a:lnTo>
                  <a:pt x="62455" y="217236"/>
                </a:lnTo>
                <a:lnTo>
                  <a:pt x="63968" y="220148"/>
                </a:lnTo>
                <a:lnTo>
                  <a:pt x="64072" y="225220"/>
                </a:lnTo>
                <a:lnTo>
                  <a:pt x="62852" y="225684"/>
                </a:lnTo>
                <a:lnTo>
                  <a:pt x="62940" y="226992"/>
                </a:lnTo>
                <a:lnTo>
                  <a:pt x="63995" y="231539"/>
                </a:lnTo>
                <a:lnTo>
                  <a:pt x="65366" y="235874"/>
                </a:lnTo>
                <a:lnTo>
                  <a:pt x="65630" y="235860"/>
                </a:lnTo>
                <a:lnTo>
                  <a:pt x="64915" y="236516"/>
                </a:lnTo>
                <a:lnTo>
                  <a:pt x="69206" y="247778"/>
                </a:lnTo>
                <a:lnTo>
                  <a:pt x="68880" y="248761"/>
                </a:lnTo>
                <a:lnTo>
                  <a:pt x="70433" y="250484"/>
                </a:lnTo>
                <a:lnTo>
                  <a:pt x="74031" y="251814"/>
                </a:lnTo>
                <a:lnTo>
                  <a:pt x="76185" y="245672"/>
                </a:lnTo>
                <a:lnTo>
                  <a:pt x="76520" y="243686"/>
                </a:lnTo>
                <a:lnTo>
                  <a:pt x="78591" y="244101"/>
                </a:lnTo>
                <a:lnTo>
                  <a:pt x="82609" y="246360"/>
                </a:lnTo>
                <a:lnTo>
                  <a:pt x="81364" y="251312"/>
                </a:lnTo>
                <a:lnTo>
                  <a:pt x="80376" y="253834"/>
                </a:lnTo>
                <a:lnTo>
                  <a:pt x="81034" y="254087"/>
                </a:lnTo>
                <a:lnTo>
                  <a:pt x="80942" y="255782"/>
                </a:lnTo>
                <a:lnTo>
                  <a:pt x="82079" y="255457"/>
                </a:lnTo>
                <a:lnTo>
                  <a:pt x="82148" y="254983"/>
                </a:lnTo>
                <a:lnTo>
                  <a:pt x="82553" y="255043"/>
                </a:lnTo>
                <a:lnTo>
                  <a:pt x="82735" y="254705"/>
                </a:lnTo>
                <a:lnTo>
                  <a:pt x="84180" y="255268"/>
                </a:lnTo>
                <a:lnTo>
                  <a:pt x="86128" y="255420"/>
                </a:lnTo>
                <a:lnTo>
                  <a:pt x="88464" y="253350"/>
                </a:lnTo>
                <a:lnTo>
                  <a:pt x="90037" y="254385"/>
                </a:lnTo>
                <a:lnTo>
                  <a:pt x="94136" y="252499"/>
                </a:lnTo>
                <a:lnTo>
                  <a:pt x="90778" y="248589"/>
                </a:lnTo>
                <a:lnTo>
                  <a:pt x="88901" y="248550"/>
                </a:lnTo>
                <a:lnTo>
                  <a:pt x="89210" y="245971"/>
                </a:lnTo>
                <a:lnTo>
                  <a:pt x="92811" y="245195"/>
                </a:lnTo>
                <a:lnTo>
                  <a:pt x="92682" y="246517"/>
                </a:lnTo>
                <a:lnTo>
                  <a:pt x="93519" y="247974"/>
                </a:lnTo>
                <a:lnTo>
                  <a:pt x="94133" y="247651"/>
                </a:lnTo>
                <a:lnTo>
                  <a:pt x="97533" y="248715"/>
                </a:lnTo>
                <a:lnTo>
                  <a:pt x="98017" y="246078"/>
                </a:lnTo>
                <a:lnTo>
                  <a:pt x="96736" y="245051"/>
                </a:lnTo>
                <a:lnTo>
                  <a:pt x="96083" y="244907"/>
                </a:lnTo>
                <a:lnTo>
                  <a:pt x="94266" y="233830"/>
                </a:lnTo>
                <a:lnTo>
                  <a:pt x="89191" y="234735"/>
                </a:lnTo>
                <a:lnTo>
                  <a:pt x="87702" y="229655"/>
                </a:lnTo>
                <a:lnTo>
                  <a:pt x="91431" y="226638"/>
                </a:lnTo>
                <a:lnTo>
                  <a:pt x="95913" y="223486"/>
                </a:lnTo>
                <a:lnTo>
                  <a:pt x="98414" y="227274"/>
                </a:lnTo>
                <a:lnTo>
                  <a:pt x="99012" y="227669"/>
                </a:lnTo>
                <a:lnTo>
                  <a:pt x="96452" y="234335"/>
                </a:lnTo>
                <a:lnTo>
                  <a:pt x="104274" y="227451"/>
                </a:lnTo>
                <a:lnTo>
                  <a:pt x="104811" y="232872"/>
                </a:lnTo>
                <a:lnTo>
                  <a:pt x="109128" y="239768"/>
                </a:lnTo>
                <a:lnTo>
                  <a:pt x="118198" y="235992"/>
                </a:lnTo>
                <a:lnTo>
                  <a:pt x="115373" y="230413"/>
                </a:lnTo>
                <a:lnTo>
                  <a:pt x="115554" y="230312"/>
                </a:lnTo>
                <a:lnTo>
                  <a:pt x="116277" y="230822"/>
                </a:lnTo>
                <a:lnTo>
                  <a:pt x="118271" y="230108"/>
                </a:lnTo>
                <a:lnTo>
                  <a:pt x="118860" y="229422"/>
                </a:lnTo>
                <a:lnTo>
                  <a:pt x="120123" y="228600"/>
                </a:lnTo>
                <a:lnTo>
                  <a:pt x="119442" y="226221"/>
                </a:lnTo>
                <a:lnTo>
                  <a:pt x="122631" y="227647"/>
                </a:lnTo>
                <a:lnTo>
                  <a:pt x="123543" y="227638"/>
                </a:lnTo>
                <a:lnTo>
                  <a:pt x="124327" y="227020"/>
                </a:lnTo>
                <a:lnTo>
                  <a:pt x="124419" y="227550"/>
                </a:lnTo>
                <a:lnTo>
                  <a:pt x="125913" y="228737"/>
                </a:lnTo>
                <a:lnTo>
                  <a:pt x="128997" y="224408"/>
                </a:lnTo>
                <a:lnTo>
                  <a:pt x="128818" y="223860"/>
                </a:lnTo>
                <a:lnTo>
                  <a:pt x="129214" y="223618"/>
                </a:lnTo>
                <a:lnTo>
                  <a:pt x="130645" y="229466"/>
                </a:lnTo>
                <a:lnTo>
                  <a:pt x="131628" y="230655"/>
                </a:lnTo>
                <a:lnTo>
                  <a:pt x="129880" y="232339"/>
                </a:lnTo>
                <a:lnTo>
                  <a:pt x="127166" y="232821"/>
                </a:lnTo>
                <a:lnTo>
                  <a:pt x="122128" y="234411"/>
                </a:lnTo>
                <a:lnTo>
                  <a:pt x="123190" y="236043"/>
                </a:lnTo>
                <a:lnTo>
                  <a:pt x="123671" y="237276"/>
                </a:lnTo>
                <a:lnTo>
                  <a:pt x="122625" y="243152"/>
                </a:lnTo>
                <a:lnTo>
                  <a:pt x="126128" y="243791"/>
                </a:lnTo>
                <a:lnTo>
                  <a:pt x="126350" y="245381"/>
                </a:lnTo>
                <a:lnTo>
                  <a:pt x="124941" y="245667"/>
                </a:lnTo>
                <a:lnTo>
                  <a:pt x="126054" y="247293"/>
                </a:lnTo>
                <a:lnTo>
                  <a:pt x="111925" y="251714"/>
                </a:lnTo>
                <a:lnTo>
                  <a:pt x="108948" y="260449"/>
                </a:lnTo>
                <a:lnTo>
                  <a:pt x="113316" y="262916"/>
                </a:lnTo>
                <a:lnTo>
                  <a:pt x="109671" y="267944"/>
                </a:lnTo>
                <a:lnTo>
                  <a:pt x="106552" y="275656"/>
                </a:lnTo>
                <a:lnTo>
                  <a:pt x="107296" y="275860"/>
                </a:lnTo>
                <a:lnTo>
                  <a:pt x="108250" y="277987"/>
                </a:lnTo>
                <a:lnTo>
                  <a:pt x="106155" y="286165"/>
                </a:lnTo>
                <a:lnTo>
                  <a:pt x="98796" y="283111"/>
                </a:lnTo>
                <a:lnTo>
                  <a:pt x="98331" y="284208"/>
                </a:lnTo>
                <a:lnTo>
                  <a:pt x="99056" y="284554"/>
                </a:lnTo>
                <a:lnTo>
                  <a:pt x="97412" y="291723"/>
                </a:lnTo>
                <a:lnTo>
                  <a:pt x="97583" y="298902"/>
                </a:lnTo>
                <a:lnTo>
                  <a:pt x="97682" y="299168"/>
                </a:lnTo>
                <a:lnTo>
                  <a:pt x="97965" y="299173"/>
                </a:lnTo>
                <a:lnTo>
                  <a:pt x="97920" y="299659"/>
                </a:lnTo>
                <a:lnTo>
                  <a:pt x="95154" y="304811"/>
                </a:lnTo>
                <a:lnTo>
                  <a:pt x="94824" y="303868"/>
                </a:lnTo>
                <a:lnTo>
                  <a:pt x="90173" y="304261"/>
                </a:lnTo>
                <a:lnTo>
                  <a:pt x="84505" y="304009"/>
                </a:lnTo>
                <a:lnTo>
                  <a:pt x="81549" y="305362"/>
                </a:lnTo>
                <a:lnTo>
                  <a:pt x="80068" y="300380"/>
                </a:lnTo>
                <a:lnTo>
                  <a:pt x="79406" y="300464"/>
                </a:lnTo>
                <a:lnTo>
                  <a:pt x="79317" y="301562"/>
                </a:lnTo>
                <a:lnTo>
                  <a:pt x="72539" y="301313"/>
                </a:lnTo>
                <a:lnTo>
                  <a:pt x="64189" y="298376"/>
                </a:lnTo>
                <a:lnTo>
                  <a:pt x="61248" y="297711"/>
                </a:lnTo>
                <a:lnTo>
                  <a:pt x="55070" y="302592"/>
                </a:lnTo>
                <a:lnTo>
                  <a:pt x="54384" y="304748"/>
                </a:lnTo>
                <a:lnTo>
                  <a:pt x="53003" y="311712"/>
                </a:lnTo>
                <a:lnTo>
                  <a:pt x="47222" y="309609"/>
                </a:lnTo>
                <a:lnTo>
                  <a:pt x="46004" y="311782"/>
                </a:lnTo>
                <a:lnTo>
                  <a:pt x="43845" y="311215"/>
                </a:lnTo>
                <a:lnTo>
                  <a:pt x="41971" y="311998"/>
                </a:lnTo>
                <a:lnTo>
                  <a:pt x="43725" y="314869"/>
                </a:lnTo>
                <a:lnTo>
                  <a:pt x="41557" y="316132"/>
                </a:lnTo>
                <a:lnTo>
                  <a:pt x="42081" y="317705"/>
                </a:lnTo>
                <a:lnTo>
                  <a:pt x="40862" y="318410"/>
                </a:lnTo>
                <a:lnTo>
                  <a:pt x="39801" y="321999"/>
                </a:lnTo>
                <a:lnTo>
                  <a:pt x="44170" y="325067"/>
                </a:lnTo>
                <a:lnTo>
                  <a:pt x="44820" y="330604"/>
                </a:lnTo>
                <a:lnTo>
                  <a:pt x="45891" y="329596"/>
                </a:lnTo>
                <a:lnTo>
                  <a:pt x="45048" y="338111"/>
                </a:lnTo>
                <a:lnTo>
                  <a:pt x="52429" y="340303"/>
                </a:lnTo>
                <a:lnTo>
                  <a:pt x="58205" y="342297"/>
                </a:lnTo>
                <a:lnTo>
                  <a:pt x="58619" y="349407"/>
                </a:lnTo>
                <a:lnTo>
                  <a:pt x="65150" y="352744"/>
                </a:lnTo>
                <a:lnTo>
                  <a:pt x="65087" y="354227"/>
                </a:lnTo>
                <a:lnTo>
                  <a:pt x="70378" y="357695"/>
                </a:lnTo>
                <a:lnTo>
                  <a:pt x="74708" y="355165"/>
                </a:lnTo>
                <a:lnTo>
                  <a:pt x="76795" y="354629"/>
                </a:lnTo>
                <a:lnTo>
                  <a:pt x="80476" y="354157"/>
                </a:lnTo>
                <a:lnTo>
                  <a:pt x="84327" y="352637"/>
                </a:lnTo>
                <a:lnTo>
                  <a:pt x="85932" y="358998"/>
                </a:lnTo>
                <a:lnTo>
                  <a:pt x="88948" y="358312"/>
                </a:lnTo>
                <a:lnTo>
                  <a:pt x="90509" y="362606"/>
                </a:lnTo>
                <a:lnTo>
                  <a:pt x="91903" y="367736"/>
                </a:lnTo>
                <a:lnTo>
                  <a:pt x="87633" y="369054"/>
                </a:lnTo>
                <a:lnTo>
                  <a:pt x="83692" y="371225"/>
                </a:lnTo>
                <a:lnTo>
                  <a:pt x="82767" y="371026"/>
                </a:lnTo>
                <a:lnTo>
                  <a:pt x="82886" y="371493"/>
                </a:lnTo>
                <a:lnTo>
                  <a:pt x="81415" y="371829"/>
                </a:lnTo>
                <a:lnTo>
                  <a:pt x="80461" y="373674"/>
                </a:lnTo>
                <a:lnTo>
                  <a:pt x="80782" y="375464"/>
                </a:lnTo>
                <a:lnTo>
                  <a:pt x="79879" y="375647"/>
                </a:lnTo>
                <a:lnTo>
                  <a:pt x="77675" y="378935"/>
                </a:lnTo>
                <a:lnTo>
                  <a:pt x="77106" y="386411"/>
                </a:lnTo>
                <a:lnTo>
                  <a:pt x="66305" y="385218"/>
                </a:lnTo>
                <a:lnTo>
                  <a:pt x="62425" y="383911"/>
                </a:lnTo>
                <a:lnTo>
                  <a:pt x="61200" y="384320"/>
                </a:lnTo>
                <a:lnTo>
                  <a:pt x="60739" y="384186"/>
                </a:lnTo>
                <a:lnTo>
                  <a:pt x="60673" y="384689"/>
                </a:lnTo>
                <a:lnTo>
                  <a:pt x="59499" y="384079"/>
                </a:lnTo>
                <a:lnTo>
                  <a:pt x="57892" y="386770"/>
                </a:lnTo>
                <a:lnTo>
                  <a:pt x="58766" y="390452"/>
                </a:lnTo>
                <a:lnTo>
                  <a:pt x="51126" y="388766"/>
                </a:lnTo>
                <a:lnTo>
                  <a:pt x="51484" y="385795"/>
                </a:lnTo>
                <a:lnTo>
                  <a:pt x="50539" y="385439"/>
                </a:lnTo>
                <a:lnTo>
                  <a:pt x="50074" y="386839"/>
                </a:lnTo>
                <a:lnTo>
                  <a:pt x="48904" y="386502"/>
                </a:lnTo>
                <a:lnTo>
                  <a:pt x="49647" y="385103"/>
                </a:lnTo>
                <a:lnTo>
                  <a:pt x="45348" y="383483"/>
                </a:lnTo>
                <a:lnTo>
                  <a:pt x="44921" y="382917"/>
                </a:lnTo>
                <a:lnTo>
                  <a:pt x="45115" y="382499"/>
                </a:lnTo>
                <a:lnTo>
                  <a:pt x="44479" y="382845"/>
                </a:lnTo>
                <a:lnTo>
                  <a:pt x="43869" y="382440"/>
                </a:lnTo>
                <a:lnTo>
                  <a:pt x="43062" y="382624"/>
                </a:lnTo>
                <a:lnTo>
                  <a:pt x="42415" y="386834"/>
                </a:lnTo>
                <a:lnTo>
                  <a:pt x="42481" y="392311"/>
                </a:lnTo>
                <a:lnTo>
                  <a:pt x="42824" y="392703"/>
                </a:lnTo>
                <a:lnTo>
                  <a:pt x="43399" y="394823"/>
                </a:lnTo>
                <a:lnTo>
                  <a:pt x="42585" y="396846"/>
                </a:lnTo>
                <a:lnTo>
                  <a:pt x="39356" y="396573"/>
                </a:lnTo>
                <a:lnTo>
                  <a:pt x="39833" y="397263"/>
                </a:lnTo>
                <a:lnTo>
                  <a:pt x="39438" y="397674"/>
                </a:lnTo>
                <a:lnTo>
                  <a:pt x="39586" y="398865"/>
                </a:lnTo>
                <a:lnTo>
                  <a:pt x="38309" y="398831"/>
                </a:lnTo>
                <a:lnTo>
                  <a:pt x="37168" y="399856"/>
                </a:lnTo>
                <a:lnTo>
                  <a:pt x="36693" y="399522"/>
                </a:lnTo>
                <a:lnTo>
                  <a:pt x="36437" y="399682"/>
                </a:lnTo>
                <a:lnTo>
                  <a:pt x="35961" y="401124"/>
                </a:lnTo>
                <a:lnTo>
                  <a:pt x="35758" y="400866"/>
                </a:lnTo>
                <a:lnTo>
                  <a:pt x="35497" y="400923"/>
                </a:lnTo>
                <a:lnTo>
                  <a:pt x="36908" y="403840"/>
                </a:lnTo>
                <a:lnTo>
                  <a:pt x="30076" y="404218"/>
                </a:lnTo>
                <a:lnTo>
                  <a:pt x="30096" y="406676"/>
                </a:lnTo>
                <a:lnTo>
                  <a:pt x="26947" y="406615"/>
                </a:lnTo>
                <a:lnTo>
                  <a:pt x="25924" y="406819"/>
                </a:lnTo>
                <a:lnTo>
                  <a:pt x="23781" y="406555"/>
                </a:lnTo>
                <a:lnTo>
                  <a:pt x="20962" y="416519"/>
                </a:lnTo>
                <a:lnTo>
                  <a:pt x="22554" y="416448"/>
                </a:lnTo>
                <a:lnTo>
                  <a:pt x="24162" y="423743"/>
                </a:lnTo>
                <a:lnTo>
                  <a:pt x="15643" y="425252"/>
                </a:lnTo>
                <a:lnTo>
                  <a:pt x="15747" y="426055"/>
                </a:lnTo>
                <a:lnTo>
                  <a:pt x="14800" y="426219"/>
                </a:lnTo>
                <a:lnTo>
                  <a:pt x="14889" y="427247"/>
                </a:lnTo>
                <a:lnTo>
                  <a:pt x="14302" y="427248"/>
                </a:lnTo>
                <a:lnTo>
                  <a:pt x="11384" y="428289"/>
                </a:lnTo>
                <a:lnTo>
                  <a:pt x="11597" y="431365"/>
                </a:lnTo>
                <a:lnTo>
                  <a:pt x="11124" y="431360"/>
                </a:lnTo>
                <a:lnTo>
                  <a:pt x="11221" y="432590"/>
                </a:lnTo>
                <a:lnTo>
                  <a:pt x="11689" y="432735"/>
                </a:lnTo>
                <a:lnTo>
                  <a:pt x="11926" y="436100"/>
                </a:lnTo>
                <a:lnTo>
                  <a:pt x="9489" y="442193"/>
                </a:lnTo>
                <a:lnTo>
                  <a:pt x="5752" y="441686"/>
                </a:lnTo>
                <a:lnTo>
                  <a:pt x="5935" y="439649"/>
                </a:lnTo>
                <a:lnTo>
                  <a:pt x="2901" y="439882"/>
                </a:lnTo>
                <a:lnTo>
                  <a:pt x="2649" y="441287"/>
                </a:lnTo>
                <a:lnTo>
                  <a:pt x="0" y="440949"/>
                </a:lnTo>
                <a:lnTo>
                  <a:pt x="657" y="442640"/>
                </a:lnTo>
                <a:lnTo>
                  <a:pt x="58" y="442736"/>
                </a:lnTo>
                <a:lnTo>
                  <a:pt x="1068" y="443483"/>
                </a:lnTo>
                <a:lnTo>
                  <a:pt x="1084" y="444099"/>
                </a:lnTo>
                <a:lnTo>
                  <a:pt x="2486" y="445701"/>
                </a:lnTo>
                <a:lnTo>
                  <a:pt x="2302" y="447104"/>
                </a:lnTo>
                <a:lnTo>
                  <a:pt x="2530" y="447648"/>
                </a:lnTo>
                <a:lnTo>
                  <a:pt x="3172" y="447594"/>
                </a:lnTo>
                <a:lnTo>
                  <a:pt x="4720" y="446387"/>
                </a:lnTo>
                <a:lnTo>
                  <a:pt x="5304" y="446340"/>
                </a:lnTo>
                <a:lnTo>
                  <a:pt x="5236" y="447739"/>
                </a:lnTo>
                <a:lnTo>
                  <a:pt x="6209" y="449916"/>
                </a:lnTo>
                <a:lnTo>
                  <a:pt x="8021" y="452040"/>
                </a:lnTo>
                <a:lnTo>
                  <a:pt x="8647" y="452018"/>
                </a:lnTo>
                <a:lnTo>
                  <a:pt x="9405" y="451282"/>
                </a:lnTo>
                <a:lnTo>
                  <a:pt x="9647" y="449996"/>
                </a:lnTo>
                <a:lnTo>
                  <a:pt x="9968" y="449504"/>
                </a:lnTo>
                <a:lnTo>
                  <a:pt x="11033" y="449191"/>
                </a:lnTo>
                <a:lnTo>
                  <a:pt x="12209" y="449452"/>
                </a:lnTo>
                <a:lnTo>
                  <a:pt x="12361" y="449773"/>
                </a:lnTo>
                <a:lnTo>
                  <a:pt x="12202" y="450175"/>
                </a:lnTo>
                <a:lnTo>
                  <a:pt x="10637" y="451424"/>
                </a:lnTo>
                <a:lnTo>
                  <a:pt x="10742" y="452297"/>
                </a:lnTo>
                <a:lnTo>
                  <a:pt x="11265" y="453448"/>
                </a:lnTo>
                <a:lnTo>
                  <a:pt x="11993" y="453195"/>
                </a:lnTo>
                <a:lnTo>
                  <a:pt x="14669" y="451150"/>
                </a:lnTo>
                <a:lnTo>
                  <a:pt x="15444" y="450796"/>
                </a:lnTo>
                <a:lnTo>
                  <a:pt x="16769" y="450876"/>
                </a:lnTo>
                <a:lnTo>
                  <a:pt x="18266" y="451399"/>
                </a:lnTo>
                <a:lnTo>
                  <a:pt x="20644" y="450831"/>
                </a:lnTo>
                <a:lnTo>
                  <a:pt x="22141" y="451686"/>
                </a:lnTo>
                <a:lnTo>
                  <a:pt x="22394" y="452496"/>
                </a:lnTo>
                <a:lnTo>
                  <a:pt x="22170" y="454131"/>
                </a:lnTo>
                <a:lnTo>
                  <a:pt x="22817" y="454836"/>
                </a:lnTo>
                <a:lnTo>
                  <a:pt x="24140" y="457756"/>
                </a:lnTo>
                <a:lnTo>
                  <a:pt x="24946" y="458609"/>
                </a:lnTo>
                <a:lnTo>
                  <a:pt x="26085" y="460434"/>
                </a:lnTo>
                <a:lnTo>
                  <a:pt x="25635" y="461198"/>
                </a:lnTo>
                <a:lnTo>
                  <a:pt x="23746" y="463101"/>
                </a:lnTo>
                <a:lnTo>
                  <a:pt x="23918" y="463777"/>
                </a:lnTo>
                <a:lnTo>
                  <a:pt x="24432" y="464211"/>
                </a:lnTo>
                <a:lnTo>
                  <a:pt x="26375" y="463101"/>
                </a:lnTo>
                <a:lnTo>
                  <a:pt x="29339" y="459286"/>
                </a:lnTo>
                <a:lnTo>
                  <a:pt x="29373" y="458890"/>
                </a:lnTo>
                <a:lnTo>
                  <a:pt x="27279" y="456889"/>
                </a:lnTo>
                <a:lnTo>
                  <a:pt x="27316" y="456513"/>
                </a:lnTo>
                <a:lnTo>
                  <a:pt x="28365" y="455859"/>
                </a:lnTo>
                <a:lnTo>
                  <a:pt x="29445" y="456462"/>
                </a:lnTo>
                <a:lnTo>
                  <a:pt x="30823" y="457883"/>
                </a:lnTo>
                <a:lnTo>
                  <a:pt x="30836" y="458709"/>
                </a:lnTo>
                <a:lnTo>
                  <a:pt x="31227" y="459599"/>
                </a:lnTo>
                <a:lnTo>
                  <a:pt x="31662" y="459598"/>
                </a:lnTo>
                <a:lnTo>
                  <a:pt x="32379" y="459179"/>
                </a:lnTo>
                <a:lnTo>
                  <a:pt x="32094" y="458010"/>
                </a:lnTo>
                <a:lnTo>
                  <a:pt x="32992" y="456410"/>
                </a:lnTo>
                <a:lnTo>
                  <a:pt x="32956" y="456008"/>
                </a:lnTo>
                <a:lnTo>
                  <a:pt x="32326" y="455704"/>
                </a:lnTo>
                <a:lnTo>
                  <a:pt x="32209" y="455386"/>
                </a:lnTo>
                <a:lnTo>
                  <a:pt x="32979" y="454452"/>
                </a:lnTo>
                <a:lnTo>
                  <a:pt x="33332" y="454429"/>
                </a:lnTo>
                <a:lnTo>
                  <a:pt x="34362" y="457818"/>
                </a:lnTo>
                <a:lnTo>
                  <a:pt x="35284" y="458567"/>
                </a:lnTo>
                <a:lnTo>
                  <a:pt x="36425" y="458962"/>
                </a:lnTo>
                <a:lnTo>
                  <a:pt x="37693" y="460432"/>
                </a:lnTo>
                <a:lnTo>
                  <a:pt x="37840" y="461429"/>
                </a:lnTo>
                <a:lnTo>
                  <a:pt x="36839" y="462904"/>
                </a:lnTo>
                <a:lnTo>
                  <a:pt x="36702" y="463846"/>
                </a:lnTo>
                <a:lnTo>
                  <a:pt x="40103" y="465576"/>
                </a:lnTo>
                <a:lnTo>
                  <a:pt x="40511" y="467052"/>
                </a:lnTo>
                <a:lnTo>
                  <a:pt x="41577" y="468147"/>
                </a:lnTo>
                <a:lnTo>
                  <a:pt x="42199" y="468340"/>
                </a:lnTo>
                <a:lnTo>
                  <a:pt x="43123" y="469429"/>
                </a:lnTo>
                <a:lnTo>
                  <a:pt x="43129" y="470030"/>
                </a:lnTo>
                <a:lnTo>
                  <a:pt x="42509" y="471285"/>
                </a:lnTo>
                <a:lnTo>
                  <a:pt x="41142" y="471735"/>
                </a:lnTo>
                <a:lnTo>
                  <a:pt x="40575" y="472958"/>
                </a:lnTo>
                <a:lnTo>
                  <a:pt x="40795" y="473481"/>
                </a:lnTo>
                <a:lnTo>
                  <a:pt x="43744" y="472535"/>
                </a:lnTo>
                <a:lnTo>
                  <a:pt x="44535" y="471565"/>
                </a:lnTo>
                <a:lnTo>
                  <a:pt x="44693" y="470552"/>
                </a:lnTo>
                <a:lnTo>
                  <a:pt x="44514" y="469455"/>
                </a:lnTo>
                <a:lnTo>
                  <a:pt x="44757" y="469184"/>
                </a:lnTo>
                <a:lnTo>
                  <a:pt x="45950" y="468512"/>
                </a:lnTo>
                <a:lnTo>
                  <a:pt x="46973" y="469228"/>
                </a:lnTo>
                <a:lnTo>
                  <a:pt x="47993" y="469051"/>
                </a:lnTo>
                <a:lnTo>
                  <a:pt x="49510" y="466853"/>
                </a:lnTo>
                <a:lnTo>
                  <a:pt x="51779" y="466428"/>
                </a:lnTo>
                <a:lnTo>
                  <a:pt x="51766" y="464418"/>
                </a:lnTo>
                <a:lnTo>
                  <a:pt x="54231" y="464914"/>
                </a:lnTo>
                <a:lnTo>
                  <a:pt x="56167" y="466455"/>
                </a:lnTo>
                <a:lnTo>
                  <a:pt x="56585" y="466660"/>
                </a:lnTo>
                <a:lnTo>
                  <a:pt x="56893" y="466552"/>
                </a:lnTo>
                <a:lnTo>
                  <a:pt x="57332" y="465974"/>
                </a:lnTo>
                <a:lnTo>
                  <a:pt x="57599" y="465058"/>
                </a:lnTo>
                <a:lnTo>
                  <a:pt x="57949" y="464839"/>
                </a:lnTo>
                <a:lnTo>
                  <a:pt x="58656" y="463122"/>
                </a:lnTo>
                <a:lnTo>
                  <a:pt x="58343" y="462571"/>
                </a:lnTo>
                <a:lnTo>
                  <a:pt x="57258" y="462066"/>
                </a:lnTo>
                <a:lnTo>
                  <a:pt x="55422" y="461767"/>
                </a:lnTo>
                <a:lnTo>
                  <a:pt x="54001" y="462382"/>
                </a:lnTo>
                <a:lnTo>
                  <a:pt x="53100" y="463170"/>
                </a:lnTo>
                <a:lnTo>
                  <a:pt x="52055" y="462105"/>
                </a:lnTo>
                <a:lnTo>
                  <a:pt x="51496" y="462179"/>
                </a:lnTo>
                <a:lnTo>
                  <a:pt x="51386" y="461987"/>
                </a:lnTo>
                <a:lnTo>
                  <a:pt x="53890" y="458154"/>
                </a:lnTo>
                <a:lnTo>
                  <a:pt x="55814" y="457124"/>
                </a:lnTo>
                <a:lnTo>
                  <a:pt x="56189" y="456017"/>
                </a:lnTo>
                <a:lnTo>
                  <a:pt x="57133" y="455918"/>
                </a:lnTo>
                <a:lnTo>
                  <a:pt x="57450" y="455685"/>
                </a:lnTo>
                <a:lnTo>
                  <a:pt x="58692" y="456936"/>
                </a:lnTo>
                <a:lnTo>
                  <a:pt x="59693" y="457070"/>
                </a:lnTo>
                <a:lnTo>
                  <a:pt x="62765" y="459501"/>
                </a:lnTo>
                <a:lnTo>
                  <a:pt x="65151" y="459665"/>
                </a:lnTo>
                <a:lnTo>
                  <a:pt x="66090" y="458582"/>
                </a:lnTo>
                <a:lnTo>
                  <a:pt x="66762" y="458684"/>
                </a:lnTo>
                <a:lnTo>
                  <a:pt x="67165" y="459089"/>
                </a:lnTo>
                <a:lnTo>
                  <a:pt x="67400" y="460304"/>
                </a:lnTo>
                <a:lnTo>
                  <a:pt x="68751" y="461240"/>
                </a:lnTo>
                <a:lnTo>
                  <a:pt x="69513" y="463020"/>
                </a:lnTo>
                <a:lnTo>
                  <a:pt x="70248" y="464050"/>
                </a:lnTo>
                <a:lnTo>
                  <a:pt x="71273" y="464360"/>
                </a:lnTo>
                <a:lnTo>
                  <a:pt x="72971" y="463464"/>
                </a:lnTo>
                <a:lnTo>
                  <a:pt x="74185" y="464230"/>
                </a:lnTo>
                <a:lnTo>
                  <a:pt x="75158" y="464442"/>
                </a:lnTo>
                <a:lnTo>
                  <a:pt x="76005" y="465450"/>
                </a:lnTo>
                <a:lnTo>
                  <a:pt x="75515" y="467027"/>
                </a:lnTo>
                <a:lnTo>
                  <a:pt x="78121" y="468159"/>
                </a:lnTo>
                <a:lnTo>
                  <a:pt x="78502" y="468746"/>
                </a:lnTo>
                <a:lnTo>
                  <a:pt x="78919" y="468347"/>
                </a:lnTo>
                <a:lnTo>
                  <a:pt x="79571" y="466897"/>
                </a:lnTo>
                <a:lnTo>
                  <a:pt x="79509" y="466146"/>
                </a:lnTo>
                <a:lnTo>
                  <a:pt x="80028" y="466001"/>
                </a:lnTo>
                <a:lnTo>
                  <a:pt x="80682" y="467274"/>
                </a:lnTo>
                <a:lnTo>
                  <a:pt x="80871" y="469549"/>
                </a:lnTo>
                <a:lnTo>
                  <a:pt x="80715" y="470345"/>
                </a:lnTo>
                <a:lnTo>
                  <a:pt x="81149" y="471043"/>
                </a:lnTo>
                <a:lnTo>
                  <a:pt x="82892" y="470214"/>
                </a:lnTo>
                <a:lnTo>
                  <a:pt x="84085" y="471008"/>
                </a:lnTo>
                <a:lnTo>
                  <a:pt x="84743" y="471027"/>
                </a:lnTo>
                <a:lnTo>
                  <a:pt x="85428" y="470650"/>
                </a:lnTo>
                <a:lnTo>
                  <a:pt x="86735" y="468805"/>
                </a:lnTo>
                <a:lnTo>
                  <a:pt x="87565" y="468445"/>
                </a:lnTo>
                <a:lnTo>
                  <a:pt x="88490" y="469383"/>
                </a:lnTo>
                <a:lnTo>
                  <a:pt x="89251" y="469586"/>
                </a:lnTo>
                <a:lnTo>
                  <a:pt x="90544" y="473442"/>
                </a:lnTo>
                <a:lnTo>
                  <a:pt x="91771" y="474140"/>
                </a:lnTo>
                <a:lnTo>
                  <a:pt x="92907" y="473327"/>
                </a:lnTo>
                <a:lnTo>
                  <a:pt x="93545" y="472403"/>
                </a:lnTo>
                <a:lnTo>
                  <a:pt x="92969" y="471512"/>
                </a:lnTo>
                <a:lnTo>
                  <a:pt x="93440" y="470240"/>
                </a:lnTo>
                <a:lnTo>
                  <a:pt x="93312" y="469424"/>
                </a:lnTo>
                <a:lnTo>
                  <a:pt x="92732" y="468905"/>
                </a:lnTo>
                <a:lnTo>
                  <a:pt x="91518" y="468581"/>
                </a:lnTo>
                <a:lnTo>
                  <a:pt x="92770" y="466790"/>
                </a:lnTo>
                <a:lnTo>
                  <a:pt x="94255" y="467883"/>
                </a:lnTo>
                <a:lnTo>
                  <a:pt x="94739" y="467952"/>
                </a:lnTo>
                <a:lnTo>
                  <a:pt x="95502" y="467629"/>
                </a:lnTo>
                <a:lnTo>
                  <a:pt x="96644" y="466567"/>
                </a:lnTo>
                <a:lnTo>
                  <a:pt x="97331" y="466756"/>
                </a:lnTo>
                <a:lnTo>
                  <a:pt x="97838" y="467204"/>
                </a:lnTo>
                <a:lnTo>
                  <a:pt x="98656" y="467334"/>
                </a:lnTo>
                <a:lnTo>
                  <a:pt x="99606" y="467391"/>
                </a:lnTo>
                <a:lnTo>
                  <a:pt x="101524" y="466863"/>
                </a:lnTo>
                <a:lnTo>
                  <a:pt x="102632" y="464838"/>
                </a:lnTo>
                <a:lnTo>
                  <a:pt x="103318" y="464218"/>
                </a:lnTo>
                <a:lnTo>
                  <a:pt x="103495" y="463698"/>
                </a:lnTo>
                <a:lnTo>
                  <a:pt x="103835" y="463711"/>
                </a:lnTo>
                <a:lnTo>
                  <a:pt x="107208" y="465711"/>
                </a:lnTo>
                <a:lnTo>
                  <a:pt x="109523" y="466319"/>
                </a:lnTo>
                <a:lnTo>
                  <a:pt x="111329" y="467820"/>
                </a:lnTo>
                <a:lnTo>
                  <a:pt x="111946" y="468029"/>
                </a:lnTo>
                <a:lnTo>
                  <a:pt x="112086" y="468360"/>
                </a:lnTo>
                <a:lnTo>
                  <a:pt x="111789" y="468935"/>
                </a:lnTo>
                <a:lnTo>
                  <a:pt x="112473" y="470068"/>
                </a:lnTo>
                <a:lnTo>
                  <a:pt x="113059" y="469823"/>
                </a:lnTo>
                <a:lnTo>
                  <a:pt x="113597" y="469071"/>
                </a:lnTo>
                <a:lnTo>
                  <a:pt x="113721" y="466230"/>
                </a:lnTo>
                <a:lnTo>
                  <a:pt x="114391" y="466099"/>
                </a:lnTo>
                <a:lnTo>
                  <a:pt x="115385" y="466439"/>
                </a:lnTo>
                <a:lnTo>
                  <a:pt x="116337" y="467056"/>
                </a:lnTo>
                <a:lnTo>
                  <a:pt x="116658" y="468206"/>
                </a:lnTo>
                <a:lnTo>
                  <a:pt x="115683" y="470353"/>
                </a:lnTo>
                <a:lnTo>
                  <a:pt x="115618" y="470956"/>
                </a:lnTo>
                <a:lnTo>
                  <a:pt x="117218" y="472492"/>
                </a:lnTo>
                <a:lnTo>
                  <a:pt x="117157" y="472763"/>
                </a:lnTo>
                <a:lnTo>
                  <a:pt x="116720" y="472979"/>
                </a:lnTo>
                <a:lnTo>
                  <a:pt x="116743" y="473446"/>
                </a:lnTo>
                <a:lnTo>
                  <a:pt x="117635" y="474471"/>
                </a:lnTo>
                <a:lnTo>
                  <a:pt x="118150" y="474701"/>
                </a:lnTo>
                <a:lnTo>
                  <a:pt x="117964" y="475297"/>
                </a:lnTo>
                <a:lnTo>
                  <a:pt x="118434" y="475819"/>
                </a:lnTo>
                <a:lnTo>
                  <a:pt x="118287" y="476106"/>
                </a:lnTo>
                <a:lnTo>
                  <a:pt x="117935" y="475926"/>
                </a:lnTo>
                <a:lnTo>
                  <a:pt x="118089" y="476249"/>
                </a:lnTo>
                <a:lnTo>
                  <a:pt x="117806" y="476531"/>
                </a:lnTo>
                <a:lnTo>
                  <a:pt x="117544" y="476467"/>
                </a:lnTo>
                <a:lnTo>
                  <a:pt x="117440" y="476030"/>
                </a:lnTo>
                <a:lnTo>
                  <a:pt x="117158" y="476073"/>
                </a:lnTo>
                <a:lnTo>
                  <a:pt x="116481" y="477121"/>
                </a:lnTo>
                <a:lnTo>
                  <a:pt x="116614" y="477737"/>
                </a:lnTo>
                <a:lnTo>
                  <a:pt x="116414" y="478210"/>
                </a:lnTo>
                <a:lnTo>
                  <a:pt x="115677" y="478213"/>
                </a:lnTo>
                <a:lnTo>
                  <a:pt x="115659" y="478633"/>
                </a:lnTo>
                <a:lnTo>
                  <a:pt x="116521" y="479300"/>
                </a:lnTo>
                <a:lnTo>
                  <a:pt x="116927" y="479059"/>
                </a:lnTo>
                <a:lnTo>
                  <a:pt x="117297" y="479368"/>
                </a:lnTo>
                <a:lnTo>
                  <a:pt x="117943" y="479431"/>
                </a:lnTo>
                <a:lnTo>
                  <a:pt x="118181" y="480261"/>
                </a:lnTo>
                <a:lnTo>
                  <a:pt x="118746" y="480567"/>
                </a:lnTo>
                <a:lnTo>
                  <a:pt x="119462" y="482666"/>
                </a:lnTo>
                <a:lnTo>
                  <a:pt x="119905" y="482885"/>
                </a:lnTo>
                <a:lnTo>
                  <a:pt x="119781" y="483456"/>
                </a:lnTo>
                <a:lnTo>
                  <a:pt x="120183" y="483914"/>
                </a:lnTo>
                <a:lnTo>
                  <a:pt x="119816" y="484384"/>
                </a:lnTo>
                <a:lnTo>
                  <a:pt x="120170" y="484807"/>
                </a:lnTo>
                <a:lnTo>
                  <a:pt x="120737" y="484767"/>
                </a:lnTo>
                <a:lnTo>
                  <a:pt x="120573" y="485241"/>
                </a:lnTo>
                <a:lnTo>
                  <a:pt x="121324" y="485527"/>
                </a:lnTo>
                <a:lnTo>
                  <a:pt x="121615" y="486207"/>
                </a:lnTo>
                <a:lnTo>
                  <a:pt x="122277" y="486792"/>
                </a:lnTo>
                <a:lnTo>
                  <a:pt x="122456" y="487350"/>
                </a:lnTo>
                <a:lnTo>
                  <a:pt x="121939" y="487406"/>
                </a:lnTo>
                <a:lnTo>
                  <a:pt x="121850" y="487886"/>
                </a:lnTo>
                <a:lnTo>
                  <a:pt x="122696" y="488669"/>
                </a:lnTo>
                <a:lnTo>
                  <a:pt x="123115" y="489623"/>
                </a:lnTo>
                <a:lnTo>
                  <a:pt x="123508" y="489937"/>
                </a:lnTo>
                <a:lnTo>
                  <a:pt x="123293" y="490455"/>
                </a:lnTo>
                <a:lnTo>
                  <a:pt x="123542" y="491445"/>
                </a:lnTo>
                <a:lnTo>
                  <a:pt x="123449" y="492139"/>
                </a:lnTo>
                <a:lnTo>
                  <a:pt x="123860" y="493629"/>
                </a:lnTo>
                <a:lnTo>
                  <a:pt x="124391" y="493564"/>
                </a:lnTo>
                <a:lnTo>
                  <a:pt x="124968" y="492843"/>
                </a:lnTo>
                <a:lnTo>
                  <a:pt x="125268" y="492834"/>
                </a:lnTo>
                <a:lnTo>
                  <a:pt x="125314" y="493142"/>
                </a:lnTo>
                <a:lnTo>
                  <a:pt x="125700" y="493055"/>
                </a:lnTo>
                <a:lnTo>
                  <a:pt x="125738" y="492164"/>
                </a:lnTo>
                <a:lnTo>
                  <a:pt x="126026" y="492114"/>
                </a:lnTo>
                <a:lnTo>
                  <a:pt x="126117" y="491752"/>
                </a:lnTo>
                <a:lnTo>
                  <a:pt x="126291" y="492144"/>
                </a:lnTo>
                <a:lnTo>
                  <a:pt x="126837" y="491955"/>
                </a:lnTo>
                <a:lnTo>
                  <a:pt x="126969" y="491503"/>
                </a:lnTo>
                <a:lnTo>
                  <a:pt x="126760" y="490883"/>
                </a:lnTo>
                <a:lnTo>
                  <a:pt x="126967" y="490537"/>
                </a:lnTo>
                <a:lnTo>
                  <a:pt x="127534" y="490785"/>
                </a:lnTo>
                <a:lnTo>
                  <a:pt x="128170" y="490640"/>
                </a:lnTo>
                <a:lnTo>
                  <a:pt x="128383" y="490058"/>
                </a:lnTo>
                <a:lnTo>
                  <a:pt x="128889" y="490533"/>
                </a:lnTo>
                <a:lnTo>
                  <a:pt x="129162" y="489593"/>
                </a:lnTo>
                <a:lnTo>
                  <a:pt x="129672" y="489442"/>
                </a:lnTo>
                <a:lnTo>
                  <a:pt x="130044" y="489641"/>
                </a:lnTo>
                <a:lnTo>
                  <a:pt x="130158" y="489168"/>
                </a:lnTo>
                <a:lnTo>
                  <a:pt x="131695" y="488960"/>
                </a:lnTo>
                <a:lnTo>
                  <a:pt x="132833" y="489830"/>
                </a:lnTo>
                <a:lnTo>
                  <a:pt x="133077" y="489450"/>
                </a:lnTo>
                <a:lnTo>
                  <a:pt x="133533" y="489680"/>
                </a:lnTo>
                <a:lnTo>
                  <a:pt x="134575" y="489372"/>
                </a:lnTo>
                <a:lnTo>
                  <a:pt x="134515" y="488997"/>
                </a:lnTo>
                <a:lnTo>
                  <a:pt x="134933" y="488911"/>
                </a:lnTo>
                <a:lnTo>
                  <a:pt x="134974" y="488389"/>
                </a:lnTo>
                <a:lnTo>
                  <a:pt x="135289" y="488911"/>
                </a:lnTo>
                <a:lnTo>
                  <a:pt x="135700" y="488994"/>
                </a:lnTo>
                <a:lnTo>
                  <a:pt x="136541" y="489713"/>
                </a:lnTo>
                <a:lnTo>
                  <a:pt x="137382" y="489347"/>
                </a:lnTo>
                <a:lnTo>
                  <a:pt x="138216" y="490227"/>
                </a:lnTo>
                <a:lnTo>
                  <a:pt x="139401" y="489804"/>
                </a:lnTo>
                <a:lnTo>
                  <a:pt x="139948" y="490210"/>
                </a:lnTo>
                <a:lnTo>
                  <a:pt x="139833" y="490659"/>
                </a:lnTo>
                <a:lnTo>
                  <a:pt x="140118" y="490850"/>
                </a:lnTo>
                <a:lnTo>
                  <a:pt x="139776" y="491535"/>
                </a:lnTo>
                <a:lnTo>
                  <a:pt x="139998" y="491778"/>
                </a:lnTo>
                <a:lnTo>
                  <a:pt x="139900" y="492463"/>
                </a:lnTo>
                <a:lnTo>
                  <a:pt x="140278" y="492365"/>
                </a:lnTo>
                <a:lnTo>
                  <a:pt x="140103" y="493462"/>
                </a:lnTo>
                <a:lnTo>
                  <a:pt x="140883" y="494439"/>
                </a:lnTo>
                <a:lnTo>
                  <a:pt x="140993" y="495168"/>
                </a:lnTo>
                <a:lnTo>
                  <a:pt x="140702" y="496054"/>
                </a:lnTo>
                <a:lnTo>
                  <a:pt x="141646" y="495948"/>
                </a:lnTo>
                <a:lnTo>
                  <a:pt x="141983" y="496163"/>
                </a:lnTo>
                <a:lnTo>
                  <a:pt x="141929" y="496441"/>
                </a:lnTo>
                <a:lnTo>
                  <a:pt x="141541" y="496317"/>
                </a:lnTo>
                <a:lnTo>
                  <a:pt x="141383" y="496589"/>
                </a:lnTo>
                <a:lnTo>
                  <a:pt x="141699" y="496942"/>
                </a:lnTo>
                <a:lnTo>
                  <a:pt x="141813" y="496578"/>
                </a:lnTo>
                <a:lnTo>
                  <a:pt x="142056" y="496598"/>
                </a:lnTo>
                <a:lnTo>
                  <a:pt x="142362" y="496978"/>
                </a:lnTo>
                <a:lnTo>
                  <a:pt x="142170" y="497368"/>
                </a:lnTo>
                <a:lnTo>
                  <a:pt x="142304" y="497539"/>
                </a:lnTo>
                <a:lnTo>
                  <a:pt x="143439" y="497218"/>
                </a:lnTo>
                <a:lnTo>
                  <a:pt x="143327" y="497904"/>
                </a:lnTo>
                <a:lnTo>
                  <a:pt x="143719" y="498023"/>
                </a:lnTo>
                <a:lnTo>
                  <a:pt x="144076" y="496382"/>
                </a:lnTo>
                <a:lnTo>
                  <a:pt x="144407" y="495914"/>
                </a:lnTo>
                <a:lnTo>
                  <a:pt x="144752" y="496191"/>
                </a:lnTo>
                <a:lnTo>
                  <a:pt x="144359" y="496310"/>
                </a:lnTo>
                <a:lnTo>
                  <a:pt x="144770" y="496902"/>
                </a:lnTo>
                <a:lnTo>
                  <a:pt x="145138" y="496816"/>
                </a:lnTo>
                <a:lnTo>
                  <a:pt x="145302" y="496386"/>
                </a:lnTo>
                <a:lnTo>
                  <a:pt x="145496" y="496527"/>
                </a:lnTo>
                <a:lnTo>
                  <a:pt x="145091" y="497594"/>
                </a:lnTo>
                <a:lnTo>
                  <a:pt x="145762" y="497259"/>
                </a:lnTo>
                <a:lnTo>
                  <a:pt x="145611" y="497833"/>
                </a:lnTo>
                <a:lnTo>
                  <a:pt x="145794" y="498300"/>
                </a:lnTo>
                <a:lnTo>
                  <a:pt x="145431" y="498335"/>
                </a:lnTo>
                <a:lnTo>
                  <a:pt x="145409" y="498688"/>
                </a:lnTo>
                <a:lnTo>
                  <a:pt x="145958" y="498374"/>
                </a:lnTo>
                <a:lnTo>
                  <a:pt x="146025" y="497638"/>
                </a:lnTo>
                <a:lnTo>
                  <a:pt x="146375" y="497830"/>
                </a:lnTo>
                <a:lnTo>
                  <a:pt x="146140" y="498290"/>
                </a:lnTo>
                <a:lnTo>
                  <a:pt x="146651" y="498100"/>
                </a:lnTo>
                <a:lnTo>
                  <a:pt x="147408" y="498242"/>
                </a:lnTo>
                <a:lnTo>
                  <a:pt x="147203" y="498861"/>
                </a:lnTo>
                <a:lnTo>
                  <a:pt x="147364" y="498978"/>
                </a:lnTo>
                <a:lnTo>
                  <a:pt x="147842" y="498253"/>
                </a:lnTo>
                <a:lnTo>
                  <a:pt x="147408" y="497779"/>
                </a:lnTo>
                <a:lnTo>
                  <a:pt x="147693" y="498033"/>
                </a:lnTo>
                <a:lnTo>
                  <a:pt x="147738" y="497563"/>
                </a:lnTo>
                <a:lnTo>
                  <a:pt x="148073" y="497514"/>
                </a:lnTo>
                <a:lnTo>
                  <a:pt x="148170" y="497648"/>
                </a:lnTo>
                <a:lnTo>
                  <a:pt x="147844" y="497851"/>
                </a:lnTo>
                <a:lnTo>
                  <a:pt x="148234" y="497906"/>
                </a:lnTo>
                <a:lnTo>
                  <a:pt x="148356" y="498526"/>
                </a:lnTo>
                <a:lnTo>
                  <a:pt x="148765" y="499038"/>
                </a:lnTo>
                <a:lnTo>
                  <a:pt x="149344" y="499294"/>
                </a:lnTo>
                <a:lnTo>
                  <a:pt x="149285" y="499630"/>
                </a:lnTo>
                <a:lnTo>
                  <a:pt x="149640" y="499801"/>
                </a:lnTo>
                <a:lnTo>
                  <a:pt x="149517" y="500073"/>
                </a:lnTo>
                <a:lnTo>
                  <a:pt x="149728" y="500623"/>
                </a:lnTo>
                <a:lnTo>
                  <a:pt x="150162" y="500730"/>
                </a:lnTo>
                <a:lnTo>
                  <a:pt x="149958" y="501076"/>
                </a:lnTo>
                <a:lnTo>
                  <a:pt x="150519" y="501609"/>
                </a:lnTo>
                <a:lnTo>
                  <a:pt x="151139" y="501812"/>
                </a:lnTo>
                <a:lnTo>
                  <a:pt x="151580" y="501500"/>
                </a:lnTo>
                <a:lnTo>
                  <a:pt x="151498" y="501031"/>
                </a:lnTo>
                <a:lnTo>
                  <a:pt x="151947" y="500792"/>
                </a:lnTo>
                <a:lnTo>
                  <a:pt x="152497" y="500944"/>
                </a:lnTo>
                <a:lnTo>
                  <a:pt x="153568" y="500672"/>
                </a:lnTo>
                <a:lnTo>
                  <a:pt x="154229" y="499915"/>
                </a:lnTo>
                <a:lnTo>
                  <a:pt x="154334" y="500627"/>
                </a:lnTo>
                <a:lnTo>
                  <a:pt x="154945" y="500548"/>
                </a:lnTo>
                <a:lnTo>
                  <a:pt x="154872" y="500791"/>
                </a:lnTo>
                <a:lnTo>
                  <a:pt x="154578" y="500724"/>
                </a:lnTo>
                <a:lnTo>
                  <a:pt x="154598" y="500968"/>
                </a:lnTo>
                <a:lnTo>
                  <a:pt x="154367" y="501004"/>
                </a:lnTo>
                <a:lnTo>
                  <a:pt x="154341" y="501437"/>
                </a:lnTo>
                <a:lnTo>
                  <a:pt x="154766" y="501626"/>
                </a:lnTo>
                <a:lnTo>
                  <a:pt x="154359" y="502276"/>
                </a:lnTo>
                <a:lnTo>
                  <a:pt x="154557" y="502423"/>
                </a:lnTo>
                <a:lnTo>
                  <a:pt x="154568" y="502090"/>
                </a:lnTo>
                <a:lnTo>
                  <a:pt x="154933" y="502147"/>
                </a:lnTo>
                <a:lnTo>
                  <a:pt x="155020" y="501695"/>
                </a:lnTo>
                <a:lnTo>
                  <a:pt x="155166" y="502289"/>
                </a:lnTo>
                <a:lnTo>
                  <a:pt x="154917" y="502883"/>
                </a:lnTo>
                <a:lnTo>
                  <a:pt x="155217" y="503231"/>
                </a:lnTo>
                <a:lnTo>
                  <a:pt x="155033" y="503327"/>
                </a:lnTo>
                <a:lnTo>
                  <a:pt x="154843" y="502999"/>
                </a:lnTo>
                <a:lnTo>
                  <a:pt x="154611" y="503205"/>
                </a:lnTo>
                <a:lnTo>
                  <a:pt x="154977" y="503667"/>
                </a:lnTo>
                <a:lnTo>
                  <a:pt x="154367" y="504247"/>
                </a:lnTo>
                <a:lnTo>
                  <a:pt x="154932" y="504515"/>
                </a:lnTo>
                <a:lnTo>
                  <a:pt x="155208" y="505028"/>
                </a:lnTo>
                <a:lnTo>
                  <a:pt x="154652" y="505217"/>
                </a:lnTo>
                <a:lnTo>
                  <a:pt x="154748" y="505766"/>
                </a:lnTo>
                <a:lnTo>
                  <a:pt x="154272" y="506527"/>
                </a:lnTo>
                <a:lnTo>
                  <a:pt x="153671" y="506823"/>
                </a:lnTo>
                <a:lnTo>
                  <a:pt x="153242" y="507681"/>
                </a:lnTo>
                <a:lnTo>
                  <a:pt x="154001" y="509542"/>
                </a:lnTo>
                <a:lnTo>
                  <a:pt x="155007" y="509764"/>
                </a:lnTo>
                <a:lnTo>
                  <a:pt x="155149" y="509625"/>
                </a:lnTo>
                <a:lnTo>
                  <a:pt x="155407" y="509108"/>
                </a:lnTo>
                <a:lnTo>
                  <a:pt x="155303" y="507761"/>
                </a:lnTo>
                <a:lnTo>
                  <a:pt x="155761" y="507206"/>
                </a:lnTo>
                <a:lnTo>
                  <a:pt x="157022" y="507290"/>
                </a:lnTo>
                <a:lnTo>
                  <a:pt x="157253" y="507485"/>
                </a:lnTo>
                <a:lnTo>
                  <a:pt x="158520" y="507089"/>
                </a:lnTo>
                <a:lnTo>
                  <a:pt x="159623" y="507856"/>
                </a:lnTo>
                <a:lnTo>
                  <a:pt x="160040" y="507676"/>
                </a:lnTo>
                <a:lnTo>
                  <a:pt x="160396" y="507808"/>
                </a:lnTo>
                <a:lnTo>
                  <a:pt x="161221" y="507263"/>
                </a:lnTo>
                <a:lnTo>
                  <a:pt x="161755" y="507545"/>
                </a:lnTo>
                <a:lnTo>
                  <a:pt x="162331" y="507082"/>
                </a:lnTo>
                <a:lnTo>
                  <a:pt x="162416" y="507326"/>
                </a:lnTo>
                <a:lnTo>
                  <a:pt x="162018" y="507549"/>
                </a:lnTo>
                <a:lnTo>
                  <a:pt x="162172" y="507707"/>
                </a:lnTo>
                <a:lnTo>
                  <a:pt x="162582" y="507365"/>
                </a:lnTo>
                <a:lnTo>
                  <a:pt x="162133" y="506687"/>
                </a:lnTo>
                <a:lnTo>
                  <a:pt x="162711" y="506576"/>
                </a:lnTo>
                <a:lnTo>
                  <a:pt x="164050" y="506665"/>
                </a:lnTo>
                <a:lnTo>
                  <a:pt x="164183" y="507739"/>
                </a:lnTo>
                <a:lnTo>
                  <a:pt x="164575" y="508198"/>
                </a:lnTo>
                <a:lnTo>
                  <a:pt x="165488" y="508243"/>
                </a:lnTo>
                <a:lnTo>
                  <a:pt x="166134" y="507971"/>
                </a:lnTo>
                <a:lnTo>
                  <a:pt x="166718" y="508787"/>
                </a:lnTo>
                <a:lnTo>
                  <a:pt x="166857" y="508548"/>
                </a:lnTo>
                <a:lnTo>
                  <a:pt x="167094" y="508586"/>
                </a:lnTo>
                <a:lnTo>
                  <a:pt x="166984" y="508995"/>
                </a:lnTo>
                <a:lnTo>
                  <a:pt x="167264" y="509160"/>
                </a:lnTo>
                <a:lnTo>
                  <a:pt x="167735" y="508974"/>
                </a:lnTo>
                <a:lnTo>
                  <a:pt x="167492" y="508717"/>
                </a:lnTo>
                <a:lnTo>
                  <a:pt x="167987" y="508597"/>
                </a:lnTo>
                <a:lnTo>
                  <a:pt x="168483" y="509960"/>
                </a:lnTo>
                <a:lnTo>
                  <a:pt x="168821" y="509835"/>
                </a:lnTo>
                <a:lnTo>
                  <a:pt x="169002" y="510086"/>
                </a:lnTo>
                <a:lnTo>
                  <a:pt x="169121" y="509796"/>
                </a:lnTo>
                <a:lnTo>
                  <a:pt x="169510" y="510883"/>
                </a:lnTo>
                <a:lnTo>
                  <a:pt x="170084" y="510791"/>
                </a:lnTo>
                <a:lnTo>
                  <a:pt x="170713" y="511793"/>
                </a:lnTo>
                <a:lnTo>
                  <a:pt x="170728" y="512181"/>
                </a:lnTo>
                <a:lnTo>
                  <a:pt x="171069" y="512103"/>
                </a:lnTo>
                <a:lnTo>
                  <a:pt x="171040" y="512637"/>
                </a:lnTo>
                <a:lnTo>
                  <a:pt x="171212" y="512356"/>
                </a:lnTo>
                <a:lnTo>
                  <a:pt x="171436" y="512464"/>
                </a:lnTo>
                <a:lnTo>
                  <a:pt x="171677" y="512903"/>
                </a:lnTo>
                <a:lnTo>
                  <a:pt x="171604" y="513385"/>
                </a:lnTo>
                <a:lnTo>
                  <a:pt x="171870" y="513216"/>
                </a:lnTo>
                <a:lnTo>
                  <a:pt x="171837" y="513651"/>
                </a:lnTo>
                <a:lnTo>
                  <a:pt x="172381" y="513702"/>
                </a:lnTo>
                <a:lnTo>
                  <a:pt x="172195" y="514007"/>
                </a:lnTo>
                <a:lnTo>
                  <a:pt x="172475" y="514078"/>
                </a:lnTo>
                <a:lnTo>
                  <a:pt x="172581" y="513865"/>
                </a:lnTo>
                <a:lnTo>
                  <a:pt x="172842" y="514260"/>
                </a:lnTo>
                <a:lnTo>
                  <a:pt x="173146" y="516091"/>
                </a:lnTo>
                <a:lnTo>
                  <a:pt x="173481" y="516065"/>
                </a:lnTo>
                <a:lnTo>
                  <a:pt x="173664" y="516316"/>
                </a:lnTo>
                <a:lnTo>
                  <a:pt x="173473" y="516506"/>
                </a:lnTo>
                <a:lnTo>
                  <a:pt x="173788" y="516523"/>
                </a:lnTo>
                <a:lnTo>
                  <a:pt x="173603" y="516847"/>
                </a:lnTo>
                <a:lnTo>
                  <a:pt x="173917" y="517818"/>
                </a:lnTo>
                <a:lnTo>
                  <a:pt x="173213" y="518770"/>
                </a:lnTo>
                <a:lnTo>
                  <a:pt x="173553" y="519552"/>
                </a:lnTo>
                <a:lnTo>
                  <a:pt x="173401" y="520261"/>
                </a:lnTo>
                <a:lnTo>
                  <a:pt x="174974" y="521620"/>
                </a:lnTo>
                <a:lnTo>
                  <a:pt x="175249" y="521536"/>
                </a:lnTo>
                <a:lnTo>
                  <a:pt x="175377" y="520873"/>
                </a:lnTo>
                <a:lnTo>
                  <a:pt x="175819" y="520778"/>
                </a:lnTo>
                <a:lnTo>
                  <a:pt x="175360" y="522597"/>
                </a:lnTo>
                <a:lnTo>
                  <a:pt x="175747" y="522923"/>
                </a:lnTo>
                <a:lnTo>
                  <a:pt x="175953" y="522424"/>
                </a:lnTo>
                <a:lnTo>
                  <a:pt x="176287" y="522329"/>
                </a:lnTo>
                <a:lnTo>
                  <a:pt x="176199" y="523582"/>
                </a:lnTo>
                <a:lnTo>
                  <a:pt x="175463" y="523930"/>
                </a:lnTo>
                <a:lnTo>
                  <a:pt x="175764" y="524524"/>
                </a:lnTo>
                <a:lnTo>
                  <a:pt x="175129" y="525511"/>
                </a:lnTo>
                <a:lnTo>
                  <a:pt x="175073" y="526010"/>
                </a:lnTo>
                <a:lnTo>
                  <a:pt x="175596" y="526476"/>
                </a:lnTo>
                <a:lnTo>
                  <a:pt x="177977" y="525836"/>
                </a:lnTo>
                <a:lnTo>
                  <a:pt x="178256" y="526956"/>
                </a:lnTo>
                <a:lnTo>
                  <a:pt x="179271" y="527451"/>
                </a:lnTo>
                <a:lnTo>
                  <a:pt x="178837" y="527653"/>
                </a:lnTo>
                <a:lnTo>
                  <a:pt x="178704" y="528214"/>
                </a:lnTo>
                <a:lnTo>
                  <a:pt x="178694" y="528800"/>
                </a:lnTo>
                <a:lnTo>
                  <a:pt x="179113" y="529333"/>
                </a:lnTo>
                <a:lnTo>
                  <a:pt x="180240" y="530155"/>
                </a:lnTo>
                <a:lnTo>
                  <a:pt x="180559" y="529913"/>
                </a:lnTo>
                <a:lnTo>
                  <a:pt x="180047" y="529100"/>
                </a:lnTo>
                <a:lnTo>
                  <a:pt x="180850" y="529024"/>
                </a:lnTo>
                <a:lnTo>
                  <a:pt x="181305" y="529221"/>
                </a:lnTo>
                <a:lnTo>
                  <a:pt x="181744" y="529963"/>
                </a:lnTo>
                <a:lnTo>
                  <a:pt x="181628" y="530545"/>
                </a:lnTo>
                <a:lnTo>
                  <a:pt x="181042" y="530495"/>
                </a:lnTo>
                <a:lnTo>
                  <a:pt x="181191" y="531767"/>
                </a:lnTo>
                <a:lnTo>
                  <a:pt x="182807" y="530697"/>
                </a:lnTo>
                <a:lnTo>
                  <a:pt x="183277" y="531434"/>
                </a:lnTo>
                <a:lnTo>
                  <a:pt x="183499" y="532656"/>
                </a:lnTo>
                <a:lnTo>
                  <a:pt x="184469" y="532510"/>
                </a:lnTo>
                <a:lnTo>
                  <a:pt x="184724" y="532669"/>
                </a:lnTo>
                <a:lnTo>
                  <a:pt x="184234" y="533611"/>
                </a:lnTo>
                <a:lnTo>
                  <a:pt x="184237" y="534329"/>
                </a:lnTo>
                <a:lnTo>
                  <a:pt x="184620" y="535053"/>
                </a:lnTo>
                <a:lnTo>
                  <a:pt x="183947" y="535109"/>
                </a:lnTo>
                <a:lnTo>
                  <a:pt x="183215" y="536021"/>
                </a:lnTo>
                <a:lnTo>
                  <a:pt x="184254" y="536734"/>
                </a:lnTo>
                <a:lnTo>
                  <a:pt x="183687" y="537534"/>
                </a:lnTo>
                <a:lnTo>
                  <a:pt x="183695" y="537840"/>
                </a:lnTo>
                <a:lnTo>
                  <a:pt x="184776" y="538023"/>
                </a:lnTo>
                <a:lnTo>
                  <a:pt x="185084" y="537876"/>
                </a:lnTo>
                <a:lnTo>
                  <a:pt x="185618" y="538096"/>
                </a:lnTo>
                <a:lnTo>
                  <a:pt x="185746" y="539576"/>
                </a:lnTo>
                <a:lnTo>
                  <a:pt x="186025" y="539806"/>
                </a:lnTo>
                <a:lnTo>
                  <a:pt x="186640" y="539607"/>
                </a:lnTo>
                <a:lnTo>
                  <a:pt x="186855" y="539749"/>
                </a:lnTo>
                <a:lnTo>
                  <a:pt x="188203" y="541798"/>
                </a:lnTo>
                <a:lnTo>
                  <a:pt x="188128" y="542127"/>
                </a:lnTo>
                <a:lnTo>
                  <a:pt x="187847" y="542186"/>
                </a:lnTo>
                <a:lnTo>
                  <a:pt x="188024" y="542617"/>
                </a:lnTo>
                <a:lnTo>
                  <a:pt x="188306" y="542438"/>
                </a:lnTo>
                <a:lnTo>
                  <a:pt x="188436" y="542819"/>
                </a:lnTo>
                <a:lnTo>
                  <a:pt x="188936" y="543027"/>
                </a:lnTo>
                <a:lnTo>
                  <a:pt x="188785" y="543091"/>
                </a:lnTo>
                <a:lnTo>
                  <a:pt x="188905" y="543426"/>
                </a:lnTo>
                <a:lnTo>
                  <a:pt x="189552" y="543276"/>
                </a:lnTo>
                <a:lnTo>
                  <a:pt x="189630" y="543778"/>
                </a:lnTo>
                <a:lnTo>
                  <a:pt x="190302" y="543981"/>
                </a:lnTo>
                <a:lnTo>
                  <a:pt x="190787" y="544435"/>
                </a:lnTo>
                <a:lnTo>
                  <a:pt x="190994" y="544252"/>
                </a:lnTo>
                <a:lnTo>
                  <a:pt x="191185" y="544446"/>
                </a:lnTo>
                <a:lnTo>
                  <a:pt x="191038" y="544883"/>
                </a:lnTo>
                <a:lnTo>
                  <a:pt x="191299" y="544728"/>
                </a:lnTo>
                <a:lnTo>
                  <a:pt x="191476" y="545115"/>
                </a:lnTo>
                <a:lnTo>
                  <a:pt x="191172" y="545538"/>
                </a:lnTo>
                <a:lnTo>
                  <a:pt x="191569" y="546097"/>
                </a:lnTo>
                <a:lnTo>
                  <a:pt x="191262" y="546317"/>
                </a:lnTo>
                <a:lnTo>
                  <a:pt x="191671" y="546941"/>
                </a:lnTo>
                <a:lnTo>
                  <a:pt x="191479" y="548349"/>
                </a:lnTo>
                <a:lnTo>
                  <a:pt x="191871" y="548752"/>
                </a:lnTo>
                <a:lnTo>
                  <a:pt x="192227" y="548743"/>
                </a:lnTo>
                <a:lnTo>
                  <a:pt x="193531" y="550345"/>
                </a:lnTo>
                <a:lnTo>
                  <a:pt x="194480" y="550339"/>
                </a:lnTo>
                <a:lnTo>
                  <a:pt x="195096" y="549817"/>
                </a:lnTo>
                <a:lnTo>
                  <a:pt x="196098" y="550250"/>
                </a:lnTo>
                <a:lnTo>
                  <a:pt x="197909" y="550253"/>
                </a:lnTo>
                <a:lnTo>
                  <a:pt x="198102" y="549539"/>
                </a:lnTo>
                <a:lnTo>
                  <a:pt x="198776" y="549004"/>
                </a:lnTo>
                <a:lnTo>
                  <a:pt x="200468" y="549025"/>
                </a:lnTo>
                <a:lnTo>
                  <a:pt x="201493" y="549410"/>
                </a:lnTo>
                <a:lnTo>
                  <a:pt x="202268" y="549253"/>
                </a:lnTo>
                <a:lnTo>
                  <a:pt x="202465" y="549797"/>
                </a:lnTo>
                <a:lnTo>
                  <a:pt x="203167" y="549446"/>
                </a:lnTo>
                <a:lnTo>
                  <a:pt x="203557" y="548777"/>
                </a:lnTo>
                <a:lnTo>
                  <a:pt x="204315" y="548610"/>
                </a:lnTo>
                <a:lnTo>
                  <a:pt x="205060" y="549035"/>
                </a:lnTo>
                <a:lnTo>
                  <a:pt x="205430" y="548935"/>
                </a:lnTo>
                <a:lnTo>
                  <a:pt x="206202" y="547994"/>
                </a:lnTo>
                <a:lnTo>
                  <a:pt x="205983" y="547651"/>
                </a:lnTo>
                <a:lnTo>
                  <a:pt x="206219" y="547001"/>
                </a:lnTo>
                <a:lnTo>
                  <a:pt x="205234" y="546317"/>
                </a:lnTo>
                <a:lnTo>
                  <a:pt x="205037" y="545929"/>
                </a:lnTo>
                <a:lnTo>
                  <a:pt x="205266" y="545823"/>
                </a:lnTo>
                <a:lnTo>
                  <a:pt x="205148" y="545475"/>
                </a:lnTo>
                <a:lnTo>
                  <a:pt x="205774" y="544422"/>
                </a:lnTo>
                <a:lnTo>
                  <a:pt x="205390" y="543315"/>
                </a:lnTo>
                <a:lnTo>
                  <a:pt x="205420" y="541975"/>
                </a:lnTo>
                <a:lnTo>
                  <a:pt x="206211" y="541144"/>
                </a:lnTo>
                <a:lnTo>
                  <a:pt x="207105" y="540952"/>
                </a:lnTo>
                <a:lnTo>
                  <a:pt x="208085" y="540413"/>
                </a:lnTo>
                <a:lnTo>
                  <a:pt x="208072" y="540105"/>
                </a:lnTo>
                <a:lnTo>
                  <a:pt x="208452" y="540096"/>
                </a:lnTo>
                <a:lnTo>
                  <a:pt x="208743" y="539225"/>
                </a:lnTo>
                <a:lnTo>
                  <a:pt x="210343" y="539001"/>
                </a:lnTo>
                <a:lnTo>
                  <a:pt x="212069" y="539349"/>
                </a:lnTo>
                <a:lnTo>
                  <a:pt x="212331" y="539775"/>
                </a:lnTo>
                <a:lnTo>
                  <a:pt x="214006" y="541044"/>
                </a:lnTo>
                <a:close/>
              </a:path>
            </a:pathLst>
          </a:custGeom>
          <a:solidFill>
            <a:srgbClr val="BACCE4"/>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Freeform 30"/>
          <p:cNvSpPr/>
          <p:nvPr/>
        </p:nvSpPr>
        <p:spPr>
          <a:xfrm>
            <a:off x="3481428" y="3408595"/>
            <a:ext cx="827141" cy="556313"/>
          </a:xfrm>
          <a:custGeom>
            <a:avLst/>
            <a:gdLst/>
            <a:ahLst/>
            <a:cxnLst/>
            <a:rect l="l" t="t" r="r" b="b"/>
            <a:pathLst>
              <a:path w="827141" h="556313">
                <a:moveTo>
                  <a:pt x="717335" y="341999"/>
                </a:moveTo>
                <a:lnTo>
                  <a:pt x="717113" y="341565"/>
                </a:lnTo>
                <a:lnTo>
                  <a:pt x="716067" y="340779"/>
                </a:lnTo>
                <a:lnTo>
                  <a:pt x="717211" y="339699"/>
                </a:lnTo>
                <a:lnTo>
                  <a:pt x="719109" y="339553"/>
                </a:lnTo>
                <a:lnTo>
                  <a:pt x="719334" y="334665"/>
                </a:lnTo>
                <a:lnTo>
                  <a:pt x="715089" y="338311"/>
                </a:lnTo>
                <a:lnTo>
                  <a:pt x="715243" y="333204"/>
                </a:lnTo>
                <a:lnTo>
                  <a:pt x="714669" y="333119"/>
                </a:lnTo>
                <a:lnTo>
                  <a:pt x="714667" y="327246"/>
                </a:lnTo>
                <a:lnTo>
                  <a:pt x="705637" y="326845"/>
                </a:lnTo>
                <a:lnTo>
                  <a:pt x="698241" y="324084"/>
                </a:lnTo>
                <a:lnTo>
                  <a:pt x="695323" y="324243"/>
                </a:lnTo>
                <a:lnTo>
                  <a:pt x="693960" y="327048"/>
                </a:lnTo>
                <a:lnTo>
                  <a:pt x="687279" y="320627"/>
                </a:lnTo>
                <a:lnTo>
                  <a:pt x="688323" y="319623"/>
                </a:lnTo>
                <a:lnTo>
                  <a:pt x="685626" y="314653"/>
                </a:lnTo>
                <a:lnTo>
                  <a:pt x="681706" y="314212"/>
                </a:lnTo>
                <a:lnTo>
                  <a:pt x="681709" y="315240"/>
                </a:lnTo>
                <a:lnTo>
                  <a:pt x="680596" y="317174"/>
                </a:lnTo>
                <a:lnTo>
                  <a:pt x="682338" y="320891"/>
                </a:lnTo>
                <a:lnTo>
                  <a:pt x="675784" y="322166"/>
                </a:lnTo>
                <a:lnTo>
                  <a:pt x="675470" y="321862"/>
                </a:lnTo>
                <a:lnTo>
                  <a:pt x="674944" y="322173"/>
                </a:lnTo>
                <a:lnTo>
                  <a:pt x="673921" y="322004"/>
                </a:lnTo>
                <a:lnTo>
                  <a:pt x="673627" y="322122"/>
                </a:lnTo>
                <a:lnTo>
                  <a:pt x="673805" y="322572"/>
                </a:lnTo>
                <a:lnTo>
                  <a:pt x="672959" y="322687"/>
                </a:lnTo>
                <a:lnTo>
                  <a:pt x="672919" y="322467"/>
                </a:lnTo>
                <a:lnTo>
                  <a:pt x="672848" y="322790"/>
                </a:lnTo>
                <a:lnTo>
                  <a:pt x="672552" y="322694"/>
                </a:lnTo>
                <a:lnTo>
                  <a:pt x="672545" y="323190"/>
                </a:lnTo>
                <a:lnTo>
                  <a:pt x="671981" y="323687"/>
                </a:lnTo>
                <a:lnTo>
                  <a:pt x="671800" y="323394"/>
                </a:lnTo>
                <a:lnTo>
                  <a:pt x="671284" y="323780"/>
                </a:lnTo>
                <a:lnTo>
                  <a:pt x="671132" y="323404"/>
                </a:lnTo>
                <a:lnTo>
                  <a:pt x="670914" y="323709"/>
                </a:lnTo>
                <a:lnTo>
                  <a:pt x="670737" y="323573"/>
                </a:lnTo>
                <a:lnTo>
                  <a:pt x="670331" y="323863"/>
                </a:lnTo>
                <a:lnTo>
                  <a:pt x="670167" y="323529"/>
                </a:lnTo>
                <a:lnTo>
                  <a:pt x="669721" y="323410"/>
                </a:lnTo>
                <a:lnTo>
                  <a:pt x="669738" y="323602"/>
                </a:lnTo>
                <a:lnTo>
                  <a:pt x="669181" y="323663"/>
                </a:lnTo>
                <a:lnTo>
                  <a:pt x="668819" y="324011"/>
                </a:lnTo>
                <a:lnTo>
                  <a:pt x="668552" y="323901"/>
                </a:lnTo>
                <a:lnTo>
                  <a:pt x="668467" y="324220"/>
                </a:lnTo>
                <a:lnTo>
                  <a:pt x="668269" y="323944"/>
                </a:lnTo>
                <a:lnTo>
                  <a:pt x="667457" y="324260"/>
                </a:lnTo>
                <a:lnTo>
                  <a:pt x="666541" y="321366"/>
                </a:lnTo>
                <a:lnTo>
                  <a:pt x="666374" y="317634"/>
                </a:lnTo>
                <a:lnTo>
                  <a:pt x="666565" y="317552"/>
                </a:lnTo>
                <a:lnTo>
                  <a:pt x="665772" y="313691"/>
                </a:lnTo>
                <a:lnTo>
                  <a:pt x="659150" y="314099"/>
                </a:lnTo>
                <a:lnTo>
                  <a:pt x="659185" y="312251"/>
                </a:lnTo>
                <a:lnTo>
                  <a:pt x="658083" y="309983"/>
                </a:lnTo>
                <a:lnTo>
                  <a:pt x="656997" y="310313"/>
                </a:lnTo>
                <a:lnTo>
                  <a:pt x="655895" y="306101"/>
                </a:lnTo>
                <a:lnTo>
                  <a:pt x="655550" y="305914"/>
                </a:lnTo>
                <a:lnTo>
                  <a:pt x="658777" y="305458"/>
                </a:lnTo>
                <a:lnTo>
                  <a:pt x="660157" y="306271"/>
                </a:lnTo>
                <a:lnTo>
                  <a:pt x="659395" y="305369"/>
                </a:lnTo>
                <a:lnTo>
                  <a:pt x="663703" y="304587"/>
                </a:lnTo>
                <a:lnTo>
                  <a:pt x="666481" y="303158"/>
                </a:lnTo>
                <a:lnTo>
                  <a:pt x="665593" y="294492"/>
                </a:lnTo>
                <a:lnTo>
                  <a:pt x="665780" y="293242"/>
                </a:lnTo>
                <a:lnTo>
                  <a:pt x="660705" y="282477"/>
                </a:lnTo>
                <a:lnTo>
                  <a:pt x="667649" y="276281"/>
                </a:lnTo>
                <a:lnTo>
                  <a:pt x="673539" y="272566"/>
                </a:lnTo>
                <a:lnTo>
                  <a:pt x="677126" y="271086"/>
                </a:lnTo>
                <a:lnTo>
                  <a:pt x="681678" y="267558"/>
                </a:lnTo>
                <a:lnTo>
                  <a:pt x="678770" y="258368"/>
                </a:lnTo>
                <a:lnTo>
                  <a:pt x="676640" y="245350"/>
                </a:lnTo>
                <a:lnTo>
                  <a:pt x="686294" y="247209"/>
                </a:lnTo>
                <a:lnTo>
                  <a:pt x="686958" y="240961"/>
                </a:lnTo>
                <a:lnTo>
                  <a:pt x="695324" y="241477"/>
                </a:lnTo>
                <a:lnTo>
                  <a:pt x="695868" y="236933"/>
                </a:lnTo>
                <a:lnTo>
                  <a:pt x="696282" y="236980"/>
                </a:lnTo>
                <a:lnTo>
                  <a:pt x="697330" y="231033"/>
                </a:lnTo>
                <a:lnTo>
                  <a:pt x="697998" y="226978"/>
                </a:lnTo>
                <a:lnTo>
                  <a:pt x="697840" y="226259"/>
                </a:lnTo>
                <a:lnTo>
                  <a:pt x="698087" y="226276"/>
                </a:lnTo>
                <a:lnTo>
                  <a:pt x="698582" y="224952"/>
                </a:lnTo>
                <a:lnTo>
                  <a:pt x="700164" y="225314"/>
                </a:lnTo>
                <a:lnTo>
                  <a:pt x="701356" y="219811"/>
                </a:lnTo>
                <a:lnTo>
                  <a:pt x="701120" y="209878"/>
                </a:lnTo>
                <a:lnTo>
                  <a:pt x="702535" y="210127"/>
                </a:lnTo>
                <a:lnTo>
                  <a:pt x="701761" y="204767"/>
                </a:lnTo>
                <a:lnTo>
                  <a:pt x="703646" y="204787"/>
                </a:lnTo>
                <a:lnTo>
                  <a:pt x="702563" y="201460"/>
                </a:lnTo>
                <a:lnTo>
                  <a:pt x="705839" y="200892"/>
                </a:lnTo>
                <a:lnTo>
                  <a:pt x="707772" y="200312"/>
                </a:lnTo>
                <a:lnTo>
                  <a:pt x="708149" y="200601"/>
                </a:lnTo>
                <a:lnTo>
                  <a:pt x="710055" y="200494"/>
                </a:lnTo>
                <a:lnTo>
                  <a:pt x="712866" y="198902"/>
                </a:lnTo>
                <a:lnTo>
                  <a:pt x="713044" y="199260"/>
                </a:lnTo>
                <a:lnTo>
                  <a:pt x="714336" y="199365"/>
                </a:lnTo>
                <a:lnTo>
                  <a:pt x="715056" y="199195"/>
                </a:lnTo>
                <a:lnTo>
                  <a:pt x="714873" y="198346"/>
                </a:lnTo>
                <a:lnTo>
                  <a:pt x="716904" y="197868"/>
                </a:lnTo>
                <a:lnTo>
                  <a:pt x="719075" y="196827"/>
                </a:lnTo>
                <a:lnTo>
                  <a:pt x="722597" y="194283"/>
                </a:lnTo>
                <a:lnTo>
                  <a:pt x="722774" y="193184"/>
                </a:lnTo>
                <a:lnTo>
                  <a:pt x="723703" y="192489"/>
                </a:lnTo>
                <a:lnTo>
                  <a:pt x="729285" y="190666"/>
                </a:lnTo>
                <a:lnTo>
                  <a:pt x="729646" y="193609"/>
                </a:lnTo>
                <a:lnTo>
                  <a:pt x="728955" y="193156"/>
                </a:lnTo>
                <a:lnTo>
                  <a:pt x="728853" y="193370"/>
                </a:lnTo>
                <a:lnTo>
                  <a:pt x="729458" y="194519"/>
                </a:lnTo>
                <a:lnTo>
                  <a:pt x="729880" y="196975"/>
                </a:lnTo>
                <a:lnTo>
                  <a:pt x="729606" y="197861"/>
                </a:lnTo>
                <a:lnTo>
                  <a:pt x="730078" y="198222"/>
                </a:lnTo>
                <a:lnTo>
                  <a:pt x="729961" y="198349"/>
                </a:lnTo>
                <a:lnTo>
                  <a:pt x="730675" y="198657"/>
                </a:lnTo>
                <a:lnTo>
                  <a:pt x="732049" y="197834"/>
                </a:lnTo>
                <a:lnTo>
                  <a:pt x="734942" y="203619"/>
                </a:lnTo>
                <a:lnTo>
                  <a:pt x="737828" y="202559"/>
                </a:lnTo>
                <a:lnTo>
                  <a:pt x="741630" y="200563"/>
                </a:lnTo>
                <a:lnTo>
                  <a:pt x="742429" y="200602"/>
                </a:lnTo>
                <a:lnTo>
                  <a:pt x="743455" y="199817"/>
                </a:lnTo>
                <a:lnTo>
                  <a:pt x="743519" y="206961"/>
                </a:lnTo>
                <a:lnTo>
                  <a:pt x="750367" y="203953"/>
                </a:lnTo>
                <a:lnTo>
                  <a:pt x="756314" y="201796"/>
                </a:lnTo>
                <a:lnTo>
                  <a:pt x="758183" y="200037"/>
                </a:lnTo>
                <a:lnTo>
                  <a:pt x="759334" y="199671"/>
                </a:lnTo>
                <a:lnTo>
                  <a:pt x="758851" y="198511"/>
                </a:lnTo>
                <a:lnTo>
                  <a:pt x="760475" y="195265"/>
                </a:lnTo>
                <a:lnTo>
                  <a:pt x="765245" y="196068"/>
                </a:lnTo>
                <a:lnTo>
                  <a:pt x="764979" y="197177"/>
                </a:lnTo>
                <a:lnTo>
                  <a:pt x="764253" y="198043"/>
                </a:lnTo>
                <a:lnTo>
                  <a:pt x="764107" y="198583"/>
                </a:lnTo>
                <a:lnTo>
                  <a:pt x="763945" y="199696"/>
                </a:lnTo>
                <a:lnTo>
                  <a:pt x="764097" y="200675"/>
                </a:lnTo>
                <a:lnTo>
                  <a:pt x="763738" y="202292"/>
                </a:lnTo>
                <a:lnTo>
                  <a:pt x="766016" y="202019"/>
                </a:lnTo>
                <a:lnTo>
                  <a:pt x="766447" y="198988"/>
                </a:lnTo>
                <a:lnTo>
                  <a:pt x="772135" y="198511"/>
                </a:lnTo>
                <a:lnTo>
                  <a:pt x="770204" y="196412"/>
                </a:lnTo>
                <a:lnTo>
                  <a:pt x="772305" y="195762"/>
                </a:lnTo>
                <a:lnTo>
                  <a:pt x="775237" y="195260"/>
                </a:lnTo>
                <a:lnTo>
                  <a:pt x="774881" y="192761"/>
                </a:lnTo>
                <a:lnTo>
                  <a:pt x="775826" y="192564"/>
                </a:lnTo>
                <a:lnTo>
                  <a:pt x="775657" y="191390"/>
                </a:lnTo>
                <a:lnTo>
                  <a:pt x="775817" y="190627"/>
                </a:lnTo>
                <a:lnTo>
                  <a:pt x="775297" y="190444"/>
                </a:lnTo>
                <a:lnTo>
                  <a:pt x="774564" y="190564"/>
                </a:lnTo>
                <a:lnTo>
                  <a:pt x="773935" y="186169"/>
                </a:lnTo>
                <a:lnTo>
                  <a:pt x="774424" y="186155"/>
                </a:lnTo>
                <a:lnTo>
                  <a:pt x="774891" y="185690"/>
                </a:lnTo>
                <a:lnTo>
                  <a:pt x="776162" y="185900"/>
                </a:lnTo>
                <a:lnTo>
                  <a:pt x="777414" y="185803"/>
                </a:lnTo>
                <a:lnTo>
                  <a:pt x="778360" y="184970"/>
                </a:lnTo>
                <a:lnTo>
                  <a:pt x="774082" y="175786"/>
                </a:lnTo>
                <a:lnTo>
                  <a:pt x="775443" y="175583"/>
                </a:lnTo>
                <a:lnTo>
                  <a:pt x="775010" y="172231"/>
                </a:lnTo>
                <a:lnTo>
                  <a:pt x="774733" y="171958"/>
                </a:lnTo>
                <a:lnTo>
                  <a:pt x="774882" y="169100"/>
                </a:lnTo>
                <a:lnTo>
                  <a:pt x="775632" y="168181"/>
                </a:lnTo>
                <a:lnTo>
                  <a:pt x="775627" y="167537"/>
                </a:lnTo>
                <a:lnTo>
                  <a:pt x="776796" y="167856"/>
                </a:lnTo>
                <a:lnTo>
                  <a:pt x="776803" y="166154"/>
                </a:lnTo>
                <a:lnTo>
                  <a:pt x="779099" y="165897"/>
                </a:lnTo>
                <a:lnTo>
                  <a:pt x="778046" y="160249"/>
                </a:lnTo>
                <a:lnTo>
                  <a:pt x="775955" y="159333"/>
                </a:lnTo>
                <a:lnTo>
                  <a:pt x="779670" y="151422"/>
                </a:lnTo>
                <a:lnTo>
                  <a:pt x="786762" y="154156"/>
                </a:lnTo>
                <a:lnTo>
                  <a:pt x="789504" y="154435"/>
                </a:lnTo>
                <a:lnTo>
                  <a:pt x="790043" y="150628"/>
                </a:lnTo>
                <a:lnTo>
                  <a:pt x="785990" y="149680"/>
                </a:lnTo>
                <a:lnTo>
                  <a:pt x="781391" y="147497"/>
                </a:lnTo>
                <a:lnTo>
                  <a:pt x="783754" y="142109"/>
                </a:lnTo>
                <a:lnTo>
                  <a:pt x="784416" y="141545"/>
                </a:lnTo>
                <a:lnTo>
                  <a:pt x="787967" y="140068"/>
                </a:lnTo>
                <a:lnTo>
                  <a:pt x="781733" y="132458"/>
                </a:lnTo>
                <a:lnTo>
                  <a:pt x="778462" y="134705"/>
                </a:lnTo>
                <a:lnTo>
                  <a:pt x="777161" y="132766"/>
                </a:lnTo>
                <a:lnTo>
                  <a:pt x="776838" y="132602"/>
                </a:lnTo>
                <a:lnTo>
                  <a:pt x="775105" y="129386"/>
                </a:lnTo>
                <a:lnTo>
                  <a:pt x="778982" y="122465"/>
                </a:lnTo>
                <a:lnTo>
                  <a:pt x="783327" y="122032"/>
                </a:lnTo>
                <a:lnTo>
                  <a:pt x="789587" y="129038"/>
                </a:lnTo>
                <a:lnTo>
                  <a:pt x="791172" y="128816"/>
                </a:lnTo>
                <a:lnTo>
                  <a:pt x="795311" y="126501"/>
                </a:lnTo>
                <a:lnTo>
                  <a:pt x="798996" y="123747"/>
                </a:lnTo>
                <a:lnTo>
                  <a:pt x="799332" y="125672"/>
                </a:lnTo>
                <a:lnTo>
                  <a:pt x="809021" y="123887"/>
                </a:lnTo>
                <a:lnTo>
                  <a:pt x="809222" y="117893"/>
                </a:lnTo>
                <a:lnTo>
                  <a:pt x="812857" y="117226"/>
                </a:lnTo>
                <a:lnTo>
                  <a:pt x="816620" y="122256"/>
                </a:lnTo>
                <a:lnTo>
                  <a:pt x="824608" y="120662"/>
                </a:lnTo>
                <a:lnTo>
                  <a:pt x="824742" y="119931"/>
                </a:lnTo>
                <a:lnTo>
                  <a:pt x="825632" y="119995"/>
                </a:lnTo>
                <a:lnTo>
                  <a:pt x="825635" y="120456"/>
                </a:lnTo>
                <a:lnTo>
                  <a:pt x="826875" y="120206"/>
                </a:lnTo>
                <a:lnTo>
                  <a:pt x="827042" y="115548"/>
                </a:lnTo>
                <a:lnTo>
                  <a:pt x="827141" y="112791"/>
                </a:lnTo>
                <a:lnTo>
                  <a:pt x="821819" y="103834"/>
                </a:lnTo>
                <a:lnTo>
                  <a:pt x="819968" y="99618"/>
                </a:lnTo>
                <a:lnTo>
                  <a:pt x="814918" y="97073"/>
                </a:lnTo>
                <a:lnTo>
                  <a:pt x="808766" y="98701"/>
                </a:lnTo>
                <a:lnTo>
                  <a:pt x="803850" y="97932"/>
                </a:lnTo>
                <a:lnTo>
                  <a:pt x="803164" y="88262"/>
                </a:lnTo>
                <a:lnTo>
                  <a:pt x="798088" y="88548"/>
                </a:lnTo>
                <a:lnTo>
                  <a:pt x="796790" y="80766"/>
                </a:lnTo>
                <a:lnTo>
                  <a:pt x="801788" y="80553"/>
                </a:lnTo>
                <a:lnTo>
                  <a:pt x="804537" y="79870"/>
                </a:lnTo>
                <a:lnTo>
                  <a:pt x="807109" y="78909"/>
                </a:lnTo>
                <a:lnTo>
                  <a:pt x="810066" y="83322"/>
                </a:lnTo>
                <a:lnTo>
                  <a:pt x="809851" y="84345"/>
                </a:lnTo>
                <a:lnTo>
                  <a:pt x="813388" y="85680"/>
                </a:lnTo>
                <a:lnTo>
                  <a:pt x="815830" y="85850"/>
                </a:lnTo>
                <a:lnTo>
                  <a:pt x="816168" y="85014"/>
                </a:lnTo>
                <a:lnTo>
                  <a:pt x="816213" y="83419"/>
                </a:lnTo>
                <a:lnTo>
                  <a:pt x="822777" y="73573"/>
                </a:lnTo>
                <a:lnTo>
                  <a:pt x="808143" y="68290"/>
                </a:lnTo>
                <a:lnTo>
                  <a:pt x="803311" y="65591"/>
                </a:lnTo>
                <a:lnTo>
                  <a:pt x="802681" y="61497"/>
                </a:lnTo>
                <a:lnTo>
                  <a:pt x="796834" y="61315"/>
                </a:lnTo>
                <a:lnTo>
                  <a:pt x="790630" y="61818"/>
                </a:lnTo>
                <a:lnTo>
                  <a:pt x="790495" y="62058"/>
                </a:lnTo>
                <a:lnTo>
                  <a:pt x="787739" y="60154"/>
                </a:lnTo>
                <a:lnTo>
                  <a:pt x="784788" y="59974"/>
                </a:lnTo>
                <a:lnTo>
                  <a:pt x="782806" y="57394"/>
                </a:lnTo>
                <a:lnTo>
                  <a:pt x="781541" y="58620"/>
                </a:lnTo>
                <a:lnTo>
                  <a:pt x="778557" y="59246"/>
                </a:lnTo>
                <a:lnTo>
                  <a:pt x="777167" y="64199"/>
                </a:lnTo>
                <a:lnTo>
                  <a:pt x="772299" y="62421"/>
                </a:lnTo>
                <a:lnTo>
                  <a:pt x="768471" y="61855"/>
                </a:lnTo>
                <a:lnTo>
                  <a:pt x="760693" y="59246"/>
                </a:lnTo>
                <a:lnTo>
                  <a:pt x="759017" y="59366"/>
                </a:lnTo>
                <a:lnTo>
                  <a:pt x="754258" y="57929"/>
                </a:lnTo>
                <a:lnTo>
                  <a:pt x="749887" y="58186"/>
                </a:lnTo>
                <a:lnTo>
                  <a:pt x="746851" y="60387"/>
                </a:lnTo>
                <a:lnTo>
                  <a:pt x="739252" y="61972"/>
                </a:lnTo>
                <a:lnTo>
                  <a:pt x="738905" y="60593"/>
                </a:lnTo>
                <a:lnTo>
                  <a:pt x="730747" y="58410"/>
                </a:lnTo>
                <a:lnTo>
                  <a:pt x="726142" y="60076"/>
                </a:lnTo>
                <a:lnTo>
                  <a:pt x="725444" y="67228"/>
                </a:lnTo>
                <a:lnTo>
                  <a:pt x="721478" y="71942"/>
                </a:lnTo>
                <a:lnTo>
                  <a:pt x="720225" y="74784"/>
                </a:lnTo>
                <a:lnTo>
                  <a:pt x="721037" y="75195"/>
                </a:lnTo>
                <a:lnTo>
                  <a:pt x="721010" y="75678"/>
                </a:lnTo>
                <a:lnTo>
                  <a:pt x="717775" y="77705"/>
                </a:lnTo>
                <a:lnTo>
                  <a:pt x="717645" y="78039"/>
                </a:lnTo>
                <a:lnTo>
                  <a:pt x="716122" y="77420"/>
                </a:lnTo>
                <a:lnTo>
                  <a:pt x="716413" y="75635"/>
                </a:lnTo>
                <a:lnTo>
                  <a:pt x="714564" y="75012"/>
                </a:lnTo>
                <a:lnTo>
                  <a:pt x="714588" y="74417"/>
                </a:lnTo>
                <a:lnTo>
                  <a:pt x="711203" y="73876"/>
                </a:lnTo>
                <a:lnTo>
                  <a:pt x="709553" y="74671"/>
                </a:lnTo>
                <a:lnTo>
                  <a:pt x="708847" y="72826"/>
                </a:lnTo>
                <a:lnTo>
                  <a:pt x="701405" y="75037"/>
                </a:lnTo>
                <a:lnTo>
                  <a:pt x="700475" y="72898"/>
                </a:lnTo>
                <a:lnTo>
                  <a:pt x="694269" y="74520"/>
                </a:lnTo>
                <a:lnTo>
                  <a:pt x="687570" y="75602"/>
                </a:lnTo>
                <a:lnTo>
                  <a:pt x="684336" y="68162"/>
                </a:lnTo>
                <a:lnTo>
                  <a:pt x="678259" y="67143"/>
                </a:lnTo>
                <a:lnTo>
                  <a:pt x="671055" y="71897"/>
                </a:lnTo>
                <a:lnTo>
                  <a:pt x="672367" y="66896"/>
                </a:lnTo>
                <a:lnTo>
                  <a:pt x="668248" y="66322"/>
                </a:lnTo>
                <a:lnTo>
                  <a:pt x="669219" y="60307"/>
                </a:lnTo>
                <a:lnTo>
                  <a:pt x="671830" y="55273"/>
                </a:lnTo>
                <a:lnTo>
                  <a:pt x="665638" y="52639"/>
                </a:lnTo>
                <a:lnTo>
                  <a:pt x="661219" y="57427"/>
                </a:lnTo>
                <a:lnTo>
                  <a:pt x="659849" y="52116"/>
                </a:lnTo>
                <a:lnTo>
                  <a:pt x="653765" y="44552"/>
                </a:lnTo>
                <a:lnTo>
                  <a:pt x="645028" y="42242"/>
                </a:lnTo>
                <a:lnTo>
                  <a:pt x="643456" y="15129"/>
                </a:lnTo>
                <a:lnTo>
                  <a:pt x="636047" y="15285"/>
                </a:lnTo>
                <a:lnTo>
                  <a:pt x="636557" y="24159"/>
                </a:lnTo>
                <a:lnTo>
                  <a:pt x="630969" y="24111"/>
                </a:lnTo>
                <a:lnTo>
                  <a:pt x="631049" y="24933"/>
                </a:lnTo>
                <a:lnTo>
                  <a:pt x="606829" y="33455"/>
                </a:lnTo>
                <a:lnTo>
                  <a:pt x="602532" y="40644"/>
                </a:lnTo>
                <a:lnTo>
                  <a:pt x="595847" y="36323"/>
                </a:lnTo>
                <a:lnTo>
                  <a:pt x="594965" y="37964"/>
                </a:lnTo>
                <a:lnTo>
                  <a:pt x="589347" y="33388"/>
                </a:lnTo>
                <a:lnTo>
                  <a:pt x="583812" y="28498"/>
                </a:lnTo>
                <a:lnTo>
                  <a:pt x="580708" y="29387"/>
                </a:lnTo>
                <a:lnTo>
                  <a:pt x="575629" y="29949"/>
                </a:lnTo>
                <a:lnTo>
                  <a:pt x="570092" y="28865"/>
                </a:lnTo>
                <a:lnTo>
                  <a:pt x="559791" y="27963"/>
                </a:lnTo>
                <a:lnTo>
                  <a:pt x="560267" y="26462"/>
                </a:lnTo>
                <a:lnTo>
                  <a:pt x="560320" y="25693"/>
                </a:lnTo>
                <a:lnTo>
                  <a:pt x="560025" y="24916"/>
                </a:lnTo>
                <a:lnTo>
                  <a:pt x="559218" y="24625"/>
                </a:lnTo>
                <a:lnTo>
                  <a:pt x="558381" y="25142"/>
                </a:lnTo>
                <a:lnTo>
                  <a:pt x="557845" y="24922"/>
                </a:lnTo>
                <a:lnTo>
                  <a:pt x="556511" y="23625"/>
                </a:lnTo>
                <a:lnTo>
                  <a:pt x="555168" y="21723"/>
                </a:lnTo>
                <a:lnTo>
                  <a:pt x="555719" y="20803"/>
                </a:lnTo>
                <a:lnTo>
                  <a:pt x="555334" y="19589"/>
                </a:lnTo>
                <a:lnTo>
                  <a:pt x="555534" y="18935"/>
                </a:lnTo>
                <a:lnTo>
                  <a:pt x="554144" y="14918"/>
                </a:lnTo>
                <a:lnTo>
                  <a:pt x="554817" y="13578"/>
                </a:lnTo>
                <a:lnTo>
                  <a:pt x="554405" y="12831"/>
                </a:lnTo>
                <a:lnTo>
                  <a:pt x="555562" y="9748"/>
                </a:lnTo>
                <a:lnTo>
                  <a:pt x="555413" y="9397"/>
                </a:lnTo>
                <a:lnTo>
                  <a:pt x="554709" y="8920"/>
                </a:lnTo>
                <a:lnTo>
                  <a:pt x="554958" y="7323"/>
                </a:lnTo>
                <a:lnTo>
                  <a:pt x="554841" y="5566"/>
                </a:lnTo>
                <a:lnTo>
                  <a:pt x="555614" y="4690"/>
                </a:lnTo>
                <a:lnTo>
                  <a:pt x="555724" y="3558"/>
                </a:lnTo>
                <a:lnTo>
                  <a:pt x="552917" y="2243"/>
                </a:lnTo>
                <a:lnTo>
                  <a:pt x="553000" y="1570"/>
                </a:lnTo>
                <a:lnTo>
                  <a:pt x="550750" y="0"/>
                </a:lnTo>
                <a:lnTo>
                  <a:pt x="520308" y="7641"/>
                </a:lnTo>
                <a:lnTo>
                  <a:pt x="493842" y="13126"/>
                </a:lnTo>
                <a:lnTo>
                  <a:pt x="487468" y="17074"/>
                </a:lnTo>
                <a:lnTo>
                  <a:pt x="480526" y="16338"/>
                </a:lnTo>
                <a:lnTo>
                  <a:pt x="479673" y="17643"/>
                </a:lnTo>
                <a:lnTo>
                  <a:pt x="471875" y="18088"/>
                </a:lnTo>
                <a:lnTo>
                  <a:pt x="470407" y="17719"/>
                </a:lnTo>
                <a:lnTo>
                  <a:pt x="470816" y="18904"/>
                </a:lnTo>
                <a:lnTo>
                  <a:pt x="470833" y="20858"/>
                </a:lnTo>
                <a:lnTo>
                  <a:pt x="470635" y="21218"/>
                </a:lnTo>
                <a:lnTo>
                  <a:pt x="469746" y="21771"/>
                </a:lnTo>
                <a:lnTo>
                  <a:pt x="469467" y="23385"/>
                </a:lnTo>
                <a:lnTo>
                  <a:pt x="472201" y="26281"/>
                </a:lnTo>
                <a:lnTo>
                  <a:pt x="472475" y="26345"/>
                </a:lnTo>
                <a:lnTo>
                  <a:pt x="471756" y="28436"/>
                </a:lnTo>
                <a:lnTo>
                  <a:pt x="471864" y="29190"/>
                </a:lnTo>
                <a:lnTo>
                  <a:pt x="472302" y="29312"/>
                </a:lnTo>
                <a:lnTo>
                  <a:pt x="472778" y="28787"/>
                </a:lnTo>
                <a:lnTo>
                  <a:pt x="473053" y="28766"/>
                </a:lnTo>
                <a:lnTo>
                  <a:pt x="473355" y="29334"/>
                </a:lnTo>
                <a:lnTo>
                  <a:pt x="473911" y="29686"/>
                </a:lnTo>
                <a:lnTo>
                  <a:pt x="474132" y="31276"/>
                </a:lnTo>
                <a:lnTo>
                  <a:pt x="473970" y="32468"/>
                </a:lnTo>
                <a:lnTo>
                  <a:pt x="474378" y="33371"/>
                </a:lnTo>
                <a:lnTo>
                  <a:pt x="474286" y="34023"/>
                </a:lnTo>
                <a:lnTo>
                  <a:pt x="475037" y="34506"/>
                </a:lnTo>
                <a:lnTo>
                  <a:pt x="475221" y="37225"/>
                </a:lnTo>
                <a:lnTo>
                  <a:pt x="475584" y="38050"/>
                </a:lnTo>
                <a:lnTo>
                  <a:pt x="476062" y="38292"/>
                </a:lnTo>
                <a:lnTo>
                  <a:pt x="475471" y="39124"/>
                </a:lnTo>
                <a:lnTo>
                  <a:pt x="474771" y="38944"/>
                </a:lnTo>
                <a:lnTo>
                  <a:pt x="474260" y="39205"/>
                </a:lnTo>
                <a:lnTo>
                  <a:pt x="474211" y="40712"/>
                </a:lnTo>
                <a:lnTo>
                  <a:pt x="474798" y="41224"/>
                </a:lnTo>
                <a:lnTo>
                  <a:pt x="474824" y="41506"/>
                </a:lnTo>
                <a:lnTo>
                  <a:pt x="473849" y="41646"/>
                </a:lnTo>
                <a:lnTo>
                  <a:pt x="473634" y="41923"/>
                </a:lnTo>
                <a:lnTo>
                  <a:pt x="474971" y="43386"/>
                </a:lnTo>
                <a:lnTo>
                  <a:pt x="474426" y="43886"/>
                </a:lnTo>
                <a:lnTo>
                  <a:pt x="473591" y="44117"/>
                </a:lnTo>
                <a:lnTo>
                  <a:pt x="473322" y="44502"/>
                </a:lnTo>
                <a:lnTo>
                  <a:pt x="471861" y="44952"/>
                </a:lnTo>
                <a:lnTo>
                  <a:pt x="472008" y="45243"/>
                </a:lnTo>
                <a:lnTo>
                  <a:pt x="468821" y="53919"/>
                </a:lnTo>
                <a:lnTo>
                  <a:pt x="451864" y="98158"/>
                </a:lnTo>
                <a:lnTo>
                  <a:pt x="447512" y="103586"/>
                </a:lnTo>
                <a:lnTo>
                  <a:pt x="445643" y="117230"/>
                </a:lnTo>
                <a:lnTo>
                  <a:pt x="441286" y="132995"/>
                </a:lnTo>
                <a:lnTo>
                  <a:pt x="429459" y="159280"/>
                </a:lnTo>
                <a:lnTo>
                  <a:pt x="428960" y="159269"/>
                </a:lnTo>
                <a:lnTo>
                  <a:pt x="427377" y="160642"/>
                </a:lnTo>
                <a:lnTo>
                  <a:pt x="426045" y="161008"/>
                </a:lnTo>
                <a:lnTo>
                  <a:pt x="422630" y="163515"/>
                </a:lnTo>
                <a:lnTo>
                  <a:pt x="422136" y="164218"/>
                </a:lnTo>
                <a:lnTo>
                  <a:pt x="421617" y="164363"/>
                </a:lnTo>
                <a:lnTo>
                  <a:pt x="419476" y="166549"/>
                </a:lnTo>
                <a:lnTo>
                  <a:pt x="418610" y="166744"/>
                </a:lnTo>
                <a:lnTo>
                  <a:pt x="417581" y="167480"/>
                </a:lnTo>
                <a:lnTo>
                  <a:pt x="417355" y="167289"/>
                </a:lnTo>
                <a:lnTo>
                  <a:pt x="416618" y="167451"/>
                </a:lnTo>
                <a:lnTo>
                  <a:pt x="415906" y="167160"/>
                </a:lnTo>
                <a:lnTo>
                  <a:pt x="415429" y="167992"/>
                </a:lnTo>
                <a:lnTo>
                  <a:pt x="414652" y="168311"/>
                </a:lnTo>
                <a:lnTo>
                  <a:pt x="413114" y="168264"/>
                </a:lnTo>
                <a:lnTo>
                  <a:pt x="412503" y="169123"/>
                </a:lnTo>
                <a:lnTo>
                  <a:pt x="411517" y="169742"/>
                </a:lnTo>
                <a:lnTo>
                  <a:pt x="410963" y="170551"/>
                </a:lnTo>
                <a:lnTo>
                  <a:pt x="410487" y="170545"/>
                </a:lnTo>
                <a:lnTo>
                  <a:pt x="409665" y="171107"/>
                </a:lnTo>
                <a:lnTo>
                  <a:pt x="406396" y="173909"/>
                </a:lnTo>
                <a:lnTo>
                  <a:pt x="403989" y="175027"/>
                </a:lnTo>
                <a:lnTo>
                  <a:pt x="400930" y="175951"/>
                </a:lnTo>
                <a:lnTo>
                  <a:pt x="399720" y="176870"/>
                </a:lnTo>
                <a:lnTo>
                  <a:pt x="398781" y="177217"/>
                </a:lnTo>
                <a:lnTo>
                  <a:pt x="398057" y="178070"/>
                </a:lnTo>
                <a:lnTo>
                  <a:pt x="395841" y="178670"/>
                </a:lnTo>
                <a:lnTo>
                  <a:pt x="395157" y="179443"/>
                </a:lnTo>
                <a:lnTo>
                  <a:pt x="394438" y="179813"/>
                </a:lnTo>
                <a:lnTo>
                  <a:pt x="393276" y="180136"/>
                </a:lnTo>
                <a:lnTo>
                  <a:pt x="392483" y="179926"/>
                </a:lnTo>
                <a:lnTo>
                  <a:pt x="391139" y="180397"/>
                </a:lnTo>
                <a:lnTo>
                  <a:pt x="388233" y="179225"/>
                </a:lnTo>
                <a:lnTo>
                  <a:pt x="386162" y="179153"/>
                </a:lnTo>
                <a:lnTo>
                  <a:pt x="384645" y="179559"/>
                </a:lnTo>
                <a:lnTo>
                  <a:pt x="383187" y="179302"/>
                </a:lnTo>
                <a:lnTo>
                  <a:pt x="382696" y="179646"/>
                </a:lnTo>
                <a:lnTo>
                  <a:pt x="381367" y="179450"/>
                </a:lnTo>
                <a:lnTo>
                  <a:pt x="380818" y="179134"/>
                </a:lnTo>
                <a:lnTo>
                  <a:pt x="377245" y="178773"/>
                </a:lnTo>
                <a:lnTo>
                  <a:pt x="376643" y="179145"/>
                </a:lnTo>
                <a:lnTo>
                  <a:pt x="376028" y="178700"/>
                </a:lnTo>
                <a:lnTo>
                  <a:pt x="375096" y="178611"/>
                </a:lnTo>
                <a:lnTo>
                  <a:pt x="374763" y="178119"/>
                </a:lnTo>
                <a:lnTo>
                  <a:pt x="374220" y="177918"/>
                </a:lnTo>
                <a:lnTo>
                  <a:pt x="372618" y="178564"/>
                </a:lnTo>
                <a:lnTo>
                  <a:pt x="371376" y="178599"/>
                </a:lnTo>
                <a:lnTo>
                  <a:pt x="370282" y="179137"/>
                </a:lnTo>
                <a:lnTo>
                  <a:pt x="369769" y="179129"/>
                </a:lnTo>
                <a:lnTo>
                  <a:pt x="369201" y="179013"/>
                </a:lnTo>
                <a:lnTo>
                  <a:pt x="368753" y="178430"/>
                </a:lnTo>
                <a:lnTo>
                  <a:pt x="368098" y="178053"/>
                </a:lnTo>
                <a:lnTo>
                  <a:pt x="366251" y="178036"/>
                </a:lnTo>
                <a:lnTo>
                  <a:pt x="365417" y="177509"/>
                </a:lnTo>
                <a:lnTo>
                  <a:pt x="364295" y="177713"/>
                </a:lnTo>
                <a:lnTo>
                  <a:pt x="363146" y="178515"/>
                </a:lnTo>
                <a:lnTo>
                  <a:pt x="362314" y="178670"/>
                </a:lnTo>
                <a:lnTo>
                  <a:pt x="361551" y="178173"/>
                </a:lnTo>
                <a:lnTo>
                  <a:pt x="361076" y="177450"/>
                </a:lnTo>
                <a:lnTo>
                  <a:pt x="360485" y="177154"/>
                </a:lnTo>
                <a:lnTo>
                  <a:pt x="360669" y="176229"/>
                </a:lnTo>
                <a:lnTo>
                  <a:pt x="359547" y="176120"/>
                </a:lnTo>
                <a:lnTo>
                  <a:pt x="359530" y="175808"/>
                </a:lnTo>
                <a:lnTo>
                  <a:pt x="359993" y="175233"/>
                </a:lnTo>
                <a:lnTo>
                  <a:pt x="359860" y="175015"/>
                </a:lnTo>
                <a:lnTo>
                  <a:pt x="359123" y="175226"/>
                </a:lnTo>
                <a:lnTo>
                  <a:pt x="357338" y="174959"/>
                </a:lnTo>
                <a:lnTo>
                  <a:pt x="356944" y="174546"/>
                </a:lnTo>
                <a:lnTo>
                  <a:pt x="356463" y="173256"/>
                </a:lnTo>
                <a:lnTo>
                  <a:pt x="355879" y="173392"/>
                </a:lnTo>
                <a:lnTo>
                  <a:pt x="355100" y="174193"/>
                </a:lnTo>
                <a:lnTo>
                  <a:pt x="354477" y="173988"/>
                </a:lnTo>
                <a:lnTo>
                  <a:pt x="353661" y="174057"/>
                </a:lnTo>
                <a:lnTo>
                  <a:pt x="352535" y="173376"/>
                </a:lnTo>
                <a:lnTo>
                  <a:pt x="352198" y="172529"/>
                </a:lnTo>
                <a:lnTo>
                  <a:pt x="350146" y="171888"/>
                </a:lnTo>
                <a:lnTo>
                  <a:pt x="348021" y="173284"/>
                </a:lnTo>
                <a:lnTo>
                  <a:pt x="347376" y="173189"/>
                </a:lnTo>
                <a:lnTo>
                  <a:pt x="346824" y="172389"/>
                </a:lnTo>
                <a:lnTo>
                  <a:pt x="344764" y="173027"/>
                </a:lnTo>
                <a:lnTo>
                  <a:pt x="344650" y="173295"/>
                </a:lnTo>
                <a:lnTo>
                  <a:pt x="345226" y="174026"/>
                </a:lnTo>
                <a:lnTo>
                  <a:pt x="345197" y="174494"/>
                </a:lnTo>
                <a:lnTo>
                  <a:pt x="343157" y="175568"/>
                </a:lnTo>
                <a:lnTo>
                  <a:pt x="342302" y="176991"/>
                </a:lnTo>
                <a:lnTo>
                  <a:pt x="341053" y="176908"/>
                </a:lnTo>
                <a:lnTo>
                  <a:pt x="339794" y="178858"/>
                </a:lnTo>
                <a:lnTo>
                  <a:pt x="339032" y="178856"/>
                </a:lnTo>
                <a:lnTo>
                  <a:pt x="338001" y="177917"/>
                </a:lnTo>
                <a:lnTo>
                  <a:pt x="337627" y="178239"/>
                </a:lnTo>
                <a:lnTo>
                  <a:pt x="337914" y="179200"/>
                </a:lnTo>
                <a:lnTo>
                  <a:pt x="337519" y="179335"/>
                </a:lnTo>
                <a:lnTo>
                  <a:pt x="337551" y="179744"/>
                </a:lnTo>
                <a:lnTo>
                  <a:pt x="336729" y="180209"/>
                </a:lnTo>
                <a:lnTo>
                  <a:pt x="334988" y="180524"/>
                </a:lnTo>
                <a:lnTo>
                  <a:pt x="334099" y="182294"/>
                </a:lnTo>
                <a:lnTo>
                  <a:pt x="333003" y="182658"/>
                </a:lnTo>
                <a:lnTo>
                  <a:pt x="332363" y="181759"/>
                </a:lnTo>
                <a:lnTo>
                  <a:pt x="331919" y="181751"/>
                </a:lnTo>
                <a:lnTo>
                  <a:pt x="331944" y="183860"/>
                </a:lnTo>
                <a:lnTo>
                  <a:pt x="331172" y="183997"/>
                </a:lnTo>
                <a:lnTo>
                  <a:pt x="330724" y="184663"/>
                </a:lnTo>
                <a:lnTo>
                  <a:pt x="329691" y="184654"/>
                </a:lnTo>
                <a:lnTo>
                  <a:pt x="329498" y="185191"/>
                </a:lnTo>
                <a:lnTo>
                  <a:pt x="329864" y="185742"/>
                </a:lnTo>
                <a:lnTo>
                  <a:pt x="329580" y="185973"/>
                </a:lnTo>
                <a:lnTo>
                  <a:pt x="327957" y="185370"/>
                </a:lnTo>
                <a:lnTo>
                  <a:pt x="326434" y="185690"/>
                </a:lnTo>
                <a:lnTo>
                  <a:pt x="325607" y="185081"/>
                </a:lnTo>
                <a:lnTo>
                  <a:pt x="324520" y="185416"/>
                </a:lnTo>
                <a:lnTo>
                  <a:pt x="323758" y="185236"/>
                </a:lnTo>
                <a:lnTo>
                  <a:pt x="322877" y="185608"/>
                </a:lnTo>
                <a:lnTo>
                  <a:pt x="321927" y="185677"/>
                </a:lnTo>
                <a:lnTo>
                  <a:pt x="320339" y="186641"/>
                </a:lnTo>
                <a:lnTo>
                  <a:pt x="319059" y="186059"/>
                </a:lnTo>
                <a:lnTo>
                  <a:pt x="318141" y="186897"/>
                </a:lnTo>
                <a:lnTo>
                  <a:pt x="317825" y="186746"/>
                </a:lnTo>
                <a:lnTo>
                  <a:pt x="317745" y="186036"/>
                </a:lnTo>
                <a:lnTo>
                  <a:pt x="317389" y="185820"/>
                </a:lnTo>
                <a:lnTo>
                  <a:pt x="317089" y="186225"/>
                </a:lnTo>
                <a:lnTo>
                  <a:pt x="316993" y="187110"/>
                </a:lnTo>
                <a:lnTo>
                  <a:pt x="315838" y="187157"/>
                </a:lnTo>
                <a:lnTo>
                  <a:pt x="314691" y="188204"/>
                </a:lnTo>
                <a:lnTo>
                  <a:pt x="313646" y="186949"/>
                </a:lnTo>
                <a:lnTo>
                  <a:pt x="313096" y="186904"/>
                </a:lnTo>
                <a:lnTo>
                  <a:pt x="312314" y="187305"/>
                </a:lnTo>
                <a:lnTo>
                  <a:pt x="310727" y="186174"/>
                </a:lnTo>
                <a:lnTo>
                  <a:pt x="309899" y="185880"/>
                </a:lnTo>
                <a:lnTo>
                  <a:pt x="309056" y="185944"/>
                </a:lnTo>
                <a:lnTo>
                  <a:pt x="308481" y="186436"/>
                </a:lnTo>
                <a:lnTo>
                  <a:pt x="307921" y="186368"/>
                </a:lnTo>
                <a:lnTo>
                  <a:pt x="306995" y="186098"/>
                </a:lnTo>
                <a:lnTo>
                  <a:pt x="306256" y="185323"/>
                </a:lnTo>
                <a:lnTo>
                  <a:pt x="305147" y="184730"/>
                </a:lnTo>
                <a:lnTo>
                  <a:pt x="302610" y="185003"/>
                </a:lnTo>
                <a:lnTo>
                  <a:pt x="300415" y="185881"/>
                </a:lnTo>
                <a:lnTo>
                  <a:pt x="298850" y="187803"/>
                </a:lnTo>
                <a:lnTo>
                  <a:pt x="298265" y="187853"/>
                </a:lnTo>
                <a:lnTo>
                  <a:pt x="297858" y="187134"/>
                </a:lnTo>
                <a:lnTo>
                  <a:pt x="297379" y="186930"/>
                </a:lnTo>
                <a:lnTo>
                  <a:pt x="295709" y="186981"/>
                </a:lnTo>
                <a:lnTo>
                  <a:pt x="295042" y="186479"/>
                </a:lnTo>
                <a:lnTo>
                  <a:pt x="292956" y="185774"/>
                </a:lnTo>
                <a:lnTo>
                  <a:pt x="292223" y="185237"/>
                </a:lnTo>
                <a:lnTo>
                  <a:pt x="287665" y="184100"/>
                </a:lnTo>
                <a:lnTo>
                  <a:pt x="286215" y="182951"/>
                </a:lnTo>
                <a:lnTo>
                  <a:pt x="284831" y="182342"/>
                </a:lnTo>
                <a:lnTo>
                  <a:pt x="283199" y="180342"/>
                </a:lnTo>
                <a:lnTo>
                  <a:pt x="281935" y="179578"/>
                </a:lnTo>
                <a:lnTo>
                  <a:pt x="280783" y="179291"/>
                </a:lnTo>
                <a:lnTo>
                  <a:pt x="279189" y="179567"/>
                </a:lnTo>
                <a:lnTo>
                  <a:pt x="278289" y="179457"/>
                </a:lnTo>
                <a:lnTo>
                  <a:pt x="270510" y="176069"/>
                </a:lnTo>
                <a:lnTo>
                  <a:pt x="267752" y="175422"/>
                </a:lnTo>
                <a:lnTo>
                  <a:pt x="267572" y="175230"/>
                </a:lnTo>
                <a:lnTo>
                  <a:pt x="267559" y="174220"/>
                </a:lnTo>
                <a:lnTo>
                  <a:pt x="267100" y="173864"/>
                </a:lnTo>
                <a:lnTo>
                  <a:pt x="266707" y="173963"/>
                </a:lnTo>
                <a:lnTo>
                  <a:pt x="266461" y="174685"/>
                </a:lnTo>
                <a:lnTo>
                  <a:pt x="265829" y="174760"/>
                </a:lnTo>
                <a:lnTo>
                  <a:pt x="264089" y="173217"/>
                </a:lnTo>
                <a:lnTo>
                  <a:pt x="263735" y="173359"/>
                </a:lnTo>
                <a:lnTo>
                  <a:pt x="263678" y="174135"/>
                </a:lnTo>
                <a:lnTo>
                  <a:pt x="263312" y="174388"/>
                </a:lnTo>
                <a:lnTo>
                  <a:pt x="262440" y="173309"/>
                </a:lnTo>
                <a:lnTo>
                  <a:pt x="262079" y="173286"/>
                </a:lnTo>
                <a:lnTo>
                  <a:pt x="262004" y="175178"/>
                </a:lnTo>
                <a:lnTo>
                  <a:pt x="261066" y="176086"/>
                </a:lnTo>
                <a:lnTo>
                  <a:pt x="260282" y="175917"/>
                </a:lnTo>
                <a:lnTo>
                  <a:pt x="258876" y="175171"/>
                </a:lnTo>
                <a:lnTo>
                  <a:pt x="258067" y="175372"/>
                </a:lnTo>
                <a:lnTo>
                  <a:pt x="257848" y="176023"/>
                </a:lnTo>
                <a:lnTo>
                  <a:pt x="257829" y="177502"/>
                </a:lnTo>
                <a:lnTo>
                  <a:pt x="257541" y="177804"/>
                </a:lnTo>
                <a:lnTo>
                  <a:pt x="256882" y="177747"/>
                </a:lnTo>
                <a:lnTo>
                  <a:pt x="256394" y="176776"/>
                </a:lnTo>
                <a:lnTo>
                  <a:pt x="256049" y="176604"/>
                </a:lnTo>
                <a:lnTo>
                  <a:pt x="255215" y="177184"/>
                </a:lnTo>
                <a:lnTo>
                  <a:pt x="254595" y="178158"/>
                </a:lnTo>
                <a:lnTo>
                  <a:pt x="253628" y="178084"/>
                </a:lnTo>
                <a:lnTo>
                  <a:pt x="252104" y="177305"/>
                </a:lnTo>
                <a:lnTo>
                  <a:pt x="250713" y="176955"/>
                </a:lnTo>
                <a:lnTo>
                  <a:pt x="250030" y="175813"/>
                </a:lnTo>
                <a:lnTo>
                  <a:pt x="248458" y="175108"/>
                </a:lnTo>
                <a:lnTo>
                  <a:pt x="247533" y="173787"/>
                </a:lnTo>
                <a:lnTo>
                  <a:pt x="246350" y="172990"/>
                </a:lnTo>
                <a:lnTo>
                  <a:pt x="246010" y="172214"/>
                </a:lnTo>
                <a:lnTo>
                  <a:pt x="246020" y="171399"/>
                </a:lnTo>
                <a:lnTo>
                  <a:pt x="246810" y="170041"/>
                </a:lnTo>
                <a:lnTo>
                  <a:pt x="246363" y="169395"/>
                </a:lnTo>
                <a:lnTo>
                  <a:pt x="244898" y="170010"/>
                </a:lnTo>
                <a:lnTo>
                  <a:pt x="242848" y="170047"/>
                </a:lnTo>
                <a:lnTo>
                  <a:pt x="241033" y="171964"/>
                </a:lnTo>
                <a:lnTo>
                  <a:pt x="240593" y="172000"/>
                </a:lnTo>
                <a:lnTo>
                  <a:pt x="239715" y="170760"/>
                </a:lnTo>
                <a:lnTo>
                  <a:pt x="239570" y="170052"/>
                </a:lnTo>
                <a:lnTo>
                  <a:pt x="240284" y="169261"/>
                </a:lnTo>
                <a:lnTo>
                  <a:pt x="241430" y="168844"/>
                </a:lnTo>
                <a:lnTo>
                  <a:pt x="241381" y="167508"/>
                </a:lnTo>
                <a:lnTo>
                  <a:pt x="241052" y="166830"/>
                </a:lnTo>
                <a:lnTo>
                  <a:pt x="240509" y="166659"/>
                </a:lnTo>
                <a:lnTo>
                  <a:pt x="239630" y="167219"/>
                </a:lnTo>
                <a:lnTo>
                  <a:pt x="238813" y="168589"/>
                </a:lnTo>
                <a:lnTo>
                  <a:pt x="238394" y="168826"/>
                </a:lnTo>
                <a:lnTo>
                  <a:pt x="237769" y="169068"/>
                </a:lnTo>
                <a:lnTo>
                  <a:pt x="237038" y="168913"/>
                </a:lnTo>
                <a:lnTo>
                  <a:pt x="236755" y="168173"/>
                </a:lnTo>
                <a:lnTo>
                  <a:pt x="237018" y="166442"/>
                </a:lnTo>
                <a:lnTo>
                  <a:pt x="236123" y="165744"/>
                </a:lnTo>
                <a:lnTo>
                  <a:pt x="235064" y="165298"/>
                </a:lnTo>
                <a:lnTo>
                  <a:pt x="235696" y="163655"/>
                </a:lnTo>
                <a:lnTo>
                  <a:pt x="235088" y="163258"/>
                </a:lnTo>
                <a:lnTo>
                  <a:pt x="234292" y="163422"/>
                </a:lnTo>
                <a:lnTo>
                  <a:pt x="233512" y="162906"/>
                </a:lnTo>
                <a:lnTo>
                  <a:pt x="233098" y="161719"/>
                </a:lnTo>
                <a:lnTo>
                  <a:pt x="232038" y="160635"/>
                </a:lnTo>
                <a:lnTo>
                  <a:pt x="232240" y="159286"/>
                </a:lnTo>
                <a:lnTo>
                  <a:pt x="232094" y="158728"/>
                </a:lnTo>
                <a:lnTo>
                  <a:pt x="230380" y="158767"/>
                </a:lnTo>
                <a:lnTo>
                  <a:pt x="229259" y="156827"/>
                </a:lnTo>
                <a:lnTo>
                  <a:pt x="228194" y="156345"/>
                </a:lnTo>
                <a:lnTo>
                  <a:pt x="227474" y="155159"/>
                </a:lnTo>
                <a:lnTo>
                  <a:pt x="226989" y="154922"/>
                </a:lnTo>
                <a:lnTo>
                  <a:pt x="225923" y="155060"/>
                </a:lnTo>
                <a:lnTo>
                  <a:pt x="225196" y="155948"/>
                </a:lnTo>
                <a:lnTo>
                  <a:pt x="223928" y="156641"/>
                </a:lnTo>
                <a:lnTo>
                  <a:pt x="223485" y="156759"/>
                </a:lnTo>
                <a:lnTo>
                  <a:pt x="222275" y="156484"/>
                </a:lnTo>
                <a:lnTo>
                  <a:pt x="221899" y="155725"/>
                </a:lnTo>
                <a:lnTo>
                  <a:pt x="222699" y="154589"/>
                </a:lnTo>
                <a:lnTo>
                  <a:pt x="222807" y="154080"/>
                </a:lnTo>
                <a:lnTo>
                  <a:pt x="222448" y="153353"/>
                </a:lnTo>
                <a:lnTo>
                  <a:pt x="221938" y="152953"/>
                </a:lnTo>
                <a:lnTo>
                  <a:pt x="221292" y="153004"/>
                </a:lnTo>
                <a:lnTo>
                  <a:pt x="219527" y="153920"/>
                </a:lnTo>
                <a:lnTo>
                  <a:pt x="219304" y="154275"/>
                </a:lnTo>
                <a:lnTo>
                  <a:pt x="219540" y="155693"/>
                </a:lnTo>
                <a:lnTo>
                  <a:pt x="219238" y="156150"/>
                </a:lnTo>
                <a:lnTo>
                  <a:pt x="217464" y="156108"/>
                </a:lnTo>
                <a:lnTo>
                  <a:pt x="215795" y="156727"/>
                </a:lnTo>
                <a:lnTo>
                  <a:pt x="214242" y="156515"/>
                </a:lnTo>
                <a:lnTo>
                  <a:pt x="212570" y="157292"/>
                </a:lnTo>
                <a:lnTo>
                  <a:pt x="211542" y="158605"/>
                </a:lnTo>
                <a:lnTo>
                  <a:pt x="210815" y="158221"/>
                </a:lnTo>
                <a:lnTo>
                  <a:pt x="210341" y="156583"/>
                </a:lnTo>
                <a:lnTo>
                  <a:pt x="209785" y="156401"/>
                </a:lnTo>
                <a:lnTo>
                  <a:pt x="208906" y="156608"/>
                </a:lnTo>
                <a:lnTo>
                  <a:pt x="208397" y="157292"/>
                </a:lnTo>
                <a:lnTo>
                  <a:pt x="208899" y="158749"/>
                </a:lnTo>
                <a:lnTo>
                  <a:pt x="208828" y="159409"/>
                </a:lnTo>
                <a:lnTo>
                  <a:pt x="208606" y="159730"/>
                </a:lnTo>
                <a:lnTo>
                  <a:pt x="207571" y="159969"/>
                </a:lnTo>
                <a:lnTo>
                  <a:pt x="206530" y="159821"/>
                </a:lnTo>
                <a:lnTo>
                  <a:pt x="205197" y="158865"/>
                </a:lnTo>
                <a:lnTo>
                  <a:pt x="204241" y="157561"/>
                </a:lnTo>
                <a:lnTo>
                  <a:pt x="203396" y="157138"/>
                </a:lnTo>
                <a:lnTo>
                  <a:pt x="202923" y="157477"/>
                </a:lnTo>
                <a:lnTo>
                  <a:pt x="203024" y="158426"/>
                </a:lnTo>
                <a:lnTo>
                  <a:pt x="202792" y="158811"/>
                </a:lnTo>
                <a:lnTo>
                  <a:pt x="201524" y="158982"/>
                </a:lnTo>
                <a:lnTo>
                  <a:pt x="200337" y="159802"/>
                </a:lnTo>
                <a:lnTo>
                  <a:pt x="199795" y="159880"/>
                </a:lnTo>
                <a:lnTo>
                  <a:pt x="199454" y="159412"/>
                </a:lnTo>
                <a:lnTo>
                  <a:pt x="199466" y="157182"/>
                </a:lnTo>
                <a:lnTo>
                  <a:pt x="199642" y="156878"/>
                </a:lnTo>
                <a:lnTo>
                  <a:pt x="200820" y="156237"/>
                </a:lnTo>
                <a:lnTo>
                  <a:pt x="200782" y="155565"/>
                </a:lnTo>
                <a:lnTo>
                  <a:pt x="199572" y="154878"/>
                </a:lnTo>
                <a:lnTo>
                  <a:pt x="196671" y="155105"/>
                </a:lnTo>
                <a:lnTo>
                  <a:pt x="195742" y="154219"/>
                </a:lnTo>
                <a:lnTo>
                  <a:pt x="195035" y="154015"/>
                </a:lnTo>
                <a:lnTo>
                  <a:pt x="194082" y="154091"/>
                </a:lnTo>
                <a:lnTo>
                  <a:pt x="193340" y="155373"/>
                </a:lnTo>
                <a:lnTo>
                  <a:pt x="192171" y="155095"/>
                </a:lnTo>
                <a:lnTo>
                  <a:pt x="191860" y="155299"/>
                </a:lnTo>
                <a:lnTo>
                  <a:pt x="192059" y="157000"/>
                </a:lnTo>
                <a:lnTo>
                  <a:pt x="191737" y="157529"/>
                </a:lnTo>
                <a:lnTo>
                  <a:pt x="191188" y="157805"/>
                </a:lnTo>
                <a:lnTo>
                  <a:pt x="189659" y="157558"/>
                </a:lnTo>
                <a:lnTo>
                  <a:pt x="188617" y="157772"/>
                </a:lnTo>
                <a:lnTo>
                  <a:pt x="187154" y="156379"/>
                </a:lnTo>
                <a:lnTo>
                  <a:pt x="185111" y="156057"/>
                </a:lnTo>
                <a:lnTo>
                  <a:pt x="184694" y="155229"/>
                </a:lnTo>
                <a:lnTo>
                  <a:pt x="185476" y="152516"/>
                </a:lnTo>
                <a:lnTo>
                  <a:pt x="184811" y="151949"/>
                </a:lnTo>
                <a:lnTo>
                  <a:pt x="182731" y="151408"/>
                </a:lnTo>
                <a:lnTo>
                  <a:pt x="181946" y="150823"/>
                </a:lnTo>
                <a:lnTo>
                  <a:pt x="181638" y="150259"/>
                </a:lnTo>
                <a:lnTo>
                  <a:pt x="181860" y="148722"/>
                </a:lnTo>
                <a:lnTo>
                  <a:pt x="181566" y="148010"/>
                </a:lnTo>
                <a:lnTo>
                  <a:pt x="179745" y="147140"/>
                </a:lnTo>
                <a:lnTo>
                  <a:pt x="178059" y="147266"/>
                </a:lnTo>
                <a:lnTo>
                  <a:pt x="176355" y="146943"/>
                </a:lnTo>
                <a:lnTo>
                  <a:pt x="175650" y="146479"/>
                </a:lnTo>
                <a:lnTo>
                  <a:pt x="175349" y="145907"/>
                </a:lnTo>
                <a:lnTo>
                  <a:pt x="175414" y="145486"/>
                </a:lnTo>
                <a:lnTo>
                  <a:pt x="176007" y="144777"/>
                </a:lnTo>
                <a:lnTo>
                  <a:pt x="176188" y="143920"/>
                </a:lnTo>
                <a:lnTo>
                  <a:pt x="174984" y="142169"/>
                </a:lnTo>
                <a:lnTo>
                  <a:pt x="174319" y="142231"/>
                </a:lnTo>
                <a:lnTo>
                  <a:pt x="173426" y="143348"/>
                </a:lnTo>
                <a:lnTo>
                  <a:pt x="172846" y="143709"/>
                </a:lnTo>
                <a:lnTo>
                  <a:pt x="172204" y="143636"/>
                </a:lnTo>
                <a:lnTo>
                  <a:pt x="171099" y="142831"/>
                </a:lnTo>
                <a:lnTo>
                  <a:pt x="170658" y="142000"/>
                </a:lnTo>
                <a:lnTo>
                  <a:pt x="170566" y="140905"/>
                </a:lnTo>
                <a:lnTo>
                  <a:pt x="171003" y="140031"/>
                </a:lnTo>
                <a:lnTo>
                  <a:pt x="171985" y="139408"/>
                </a:lnTo>
                <a:lnTo>
                  <a:pt x="172942" y="138323"/>
                </a:lnTo>
                <a:lnTo>
                  <a:pt x="172906" y="137641"/>
                </a:lnTo>
                <a:lnTo>
                  <a:pt x="172275" y="137152"/>
                </a:lnTo>
                <a:lnTo>
                  <a:pt x="170817" y="136925"/>
                </a:lnTo>
                <a:lnTo>
                  <a:pt x="169767" y="137054"/>
                </a:lnTo>
                <a:lnTo>
                  <a:pt x="168688" y="137557"/>
                </a:lnTo>
                <a:lnTo>
                  <a:pt x="167736" y="137580"/>
                </a:lnTo>
                <a:lnTo>
                  <a:pt x="166396" y="136167"/>
                </a:lnTo>
                <a:lnTo>
                  <a:pt x="164436" y="136097"/>
                </a:lnTo>
                <a:lnTo>
                  <a:pt x="164174" y="135637"/>
                </a:lnTo>
                <a:lnTo>
                  <a:pt x="164521" y="133963"/>
                </a:lnTo>
                <a:lnTo>
                  <a:pt x="164078" y="133420"/>
                </a:lnTo>
                <a:lnTo>
                  <a:pt x="163007" y="132969"/>
                </a:lnTo>
                <a:lnTo>
                  <a:pt x="162748" y="132624"/>
                </a:lnTo>
                <a:lnTo>
                  <a:pt x="162862" y="131866"/>
                </a:lnTo>
                <a:lnTo>
                  <a:pt x="163636" y="131092"/>
                </a:lnTo>
                <a:lnTo>
                  <a:pt x="163711" y="130556"/>
                </a:lnTo>
                <a:lnTo>
                  <a:pt x="162247" y="129543"/>
                </a:lnTo>
                <a:lnTo>
                  <a:pt x="160179" y="128923"/>
                </a:lnTo>
                <a:lnTo>
                  <a:pt x="159461" y="126966"/>
                </a:lnTo>
                <a:lnTo>
                  <a:pt x="158855" y="126799"/>
                </a:lnTo>
                <a:lnTo>
                  <a:pt x="158467" y="126943"/>
                </a:lnTo>
                <a:lnTo>
                  <a:pt x="156594" y="129146"/>
                </a:lnTo>
                <a:lnTo>
                  <a:pt x="155602" y="129549"/>
                </a:lnTo>
                <a:lnTo>
                  <a:pt x="155402" y="129181"/>
                </a:lnTo>
                <a:lnTo>
                  <a:pt x="155506" y="127750"/>
                </a:lnTo>
                <a:lnTo>
                  <a:pt x="154691" y="126856"/>
                </a:lnTo>
                <a:lnTo>
                  <a:pt x="153705" y="126550"/>
                </a:lnTo>
                <a:lnTo>
                  <a:pt x="152260" y="127148"/>
                </a:lnTo>
                <a:lnTo>
                  <a:pt x="151143" y="126905"/>
                </a:lnTo>
                <a:lnTo>
                  <a:pt x="150368" y="126287"/>
                </a:lnTo>
                <a:lnTo>
                  <a:pt x="150526" y="125212"/>
                </a:lnTo>
                <a:lnTo>
                  <a:pt x="151790" y="123939"/>
                </a:lnTo>
                <a:lnTo>
                  <a:pt x="150601" y="122120"/>
                </a:lnTo>
                <a:lnTo>
                  <a:pt x="149760" y="121896"/>
                </a:lnTo>
                <a:lnTo>
                  <a:pt x="149299" y="122019"/>
                </a:lnTo>
                <a:lnTo>
                  <a:pt x="149028" y="122509"/>
                </a:lnTo>
                <a:lnTo>
                  <a:pt x="149005" y="123888"/>
                </a:lnTo>
                <a:lnTo>
                  <a:pt x="148512" y="124465"/>
                </a:lnTo>
                <a:lnTo>
                  <a:pt x="147111" y="124831"/>
                </a:lnTo>
                <a:lnTo>
                  <a:pt x="146094" y="124623"/>
                </a:lnTo>
                <a:lnTo>
                  <a:pt x="145592" y="123634"/>
                </a:lnTo>
                <a:lnTo>
                  <a:pt x="145396" y="121308"/>
                </a:lnTo>
                <a:lnTo>
                  <a:pt x="144781" y="120737"/>
                </a:lnTo>
                <a:lnTo>
                  <a:pt x="143207" y="120555"/>
                </a:lnTo>
                <a:lnTo>
                  <a:pt x="142293" y="120121"/>
                </a:lnTo>
                <a:lnTo>
                  <a:pt x="142171" y="119631"/>
                </a:lnTo>
                <a:lnTo>
                  <a:pt x="143272" y="118542"/>
                </a:lnTo>
                <a:lnTo>
                  <a:pt x="143564" y="117927"/>
                </a:lnTo>
                <a:lnTo>
                  <a:pt x="143411" y="117370"/>
                </a:lnTo>
                <a:lnTo>
                  <a:pt x="142939" y="116969"/>
                </a:lnTo>
                <a:lnTo>
                  <a:pt x="141558" y="116610"/>
                </a:lnTo>
                <a:lnTo>
                  <a:pt x="140974" y="117081"/>
                </a:lnTo>
                <a:lnTo>
                  <a:pt x="140427" y="118776"/>
                </a:lnTo>
                <a:lnTo>
                  <a:pt x="139860" y="119074"/>
                </a:lnTo>
                <a:lnTo>
                  <a:pt x="139046" y="118997"/>
                </a:lnTo>
                <a:lnTo>
                  <a:pt x="138572" y="118735"/>
                </a:lnTo>
                <a:lnTo>
                  <a:pt x="138321" y="118217"/>
                </a:lnTo>
                <a:lnTo>
                  <a:pt x="138318" y="115649"/>
                </a:lnTo>
                <a:lnTo>
                  <a:pt x="135839" y="114738"/>
                </a:lnTo>
                <a:lnTo>
                  <a:pt x="134353" y="115038"/>
                </a:lnTo>
                <a:lnTo>
                  <a:pt x="134201" y="114208"/>
                </a:lnTo>
                <a:lnTo>
                  <a:pt x="134956" y="112776"/>
                </a:lnTo>
                <a:lnTo>
                  <a:pt x="134683" y="112291"/>
                </a:lnTo>
                <a:lnTo>
                  <a:pt x="133043" y="111882"/>
                </a:lnTo>
                <a:lnTo>
                  <a:pt x="130956" y="111957"/>
                </a:lnTo>
                <a:lnTo>
                  <a:pt x="130220" y="110503"/>
                </a:lnTo>
                <a:lnTo>
                  <a:pt x="129482" y="109966"/>
                </a:lnTo>
                <a:lnTo>
                  <a:pt x="126207" y="111893"/>
                </a:lnTo>
                <a:lnTo>
                  <a:pt x="125728" y="112015"/>
                </a:lnTo>
                <a:lnTo>
                  <a:pt x="125416" y="111828"/>
                </a:lnTo>
                <a:lnTo>
                  <a:pt x="125471" y="110433"/>
                </a:lnTo>
                <a:lnTo>
                  <a:pt x="126026" y="108655"/>
                </a:lnTo>
                <a:lnTo>
                  <a:pt x="125124" y="106424"/>
                </a:lnTo>
                <a:lnTo>
                  <a:pt x="123447" y="105222"/>
                </a:lnTo>
                <a:lnTo>
                  <a:pt x="122780" y="103300"/>
                </a:lnTo>
                <a:lnTo>
                  <a:pt x="121894" y="103265"/>
                </a:lnTo>
                <a:lnTo>
                  <a:pt x="120762" y="103723"/>
                </a:lnTo>
                <a:lnTo>
                  <a:pt x="120238" y="103645"/>
                </a:lnTo>
                <a:lnTo>
                  <a:pt x="119822" y="103196"/>
                </a:lnTo>
                <a:lnTo>
                  <a:pt x="119786" y="102639"/>
                </a:lnTo>
                <a:lnTo>
                  <a:pt x="121183" y="100581"/>
                </a:lnTo>
                <a:lnTo>
                  <a:pt x="121291" y="100253"/>
                </a:lnTo>
                <a:lnTo>
                  <a:pt x="121094" y="99876"/>
                </a:lnTo>
                <a:lnTo>
                  <a:pt x="118373" y="99529"/>
                </a:lnTo>
                <a:lnTo>
                  <a:pt x="117483" y="99867"/>
                </a:lnTo>
                <a:lnTo>
                  <a:pt x="116232" y="102710"/>
                </a:lnTo>
                <a:lnTo>
                  <a:pt x="114762" y="105058"/>
                </a:lnTo>
                <a:lnTo>
                  <a:pt x="114238" y="105793"/>
                </a:lnTo>
                <a:lnTo>
                  <a:pt x="113427" y="106128"/>
                </a:lnTo>
                <a:lnTo>
                  <a:pt x="112969" y="105995"/>
                </a:lnTo>
                <a:lnTo>
                  <a:pt x="111848" y="104759"/>
                </a:lnTo>
                <a:lnTo>
                  <a:pt x="108986" y="104170"/>
                </a:lnTo>
                <a:lnTo>
                  <a:pt x="106710" y="104171"/>
                </a:lnTo>
                <a:lnTo>
                  <a:pt x="105795" y="101659"/>
                </a:lnTo>
                <a:lnTo>
                  <a:pt x="104816" y="101240"/>
                </a:lnTo>
                <a:lnTo>
                  <a:pt x="102337" y="101531"/>
                </a:lnTo>
                <a:lnTo>
                  <a:pt x="100221" y="102434"/>
                </a:lnTo>
                <a:lnTo>
                  <a:pt x="99579" y="101985"/>
                </a:lnTo>
                <a:lnTo>
                  <a:pt x="98965" y="100871"/>
                </a:lnTo>
                <a:lnTo>
                  <a:pt x="98337" y="100741"/>
                </a:lnTo>
                <a:lnTo>
                  <a:pt x="97993" y="100904"/>
                </a:lnTo>
                <a:lnTo>
                  <a:pt x="97279" y="102240"/>
                </a:lnTo>
                <a:lnTo>
                  <a:pt x="95973" y="102725"/>
                </a:lnTo>
                <a:lnTo>
                  <a:pt x="95199" y="102255"/>
                </a:lnTo>
                <a:lnTo>
                  <a:pt x="94480" y="100402"/>
                </a:lnTo>
                <a:lnTo>
                  <a:pt x="93477" y="99525"/>
                </a:lnTo>
                <a:lnTo>
                  <a:pt x="90840" y="100437"/>
                </a:lnTo>
                <a:lnTo>
                  <a:pt x="89020" y="99758"/>
                </a:lnTo>
                <a:lnTo>
                  <a:pt x="87124" y="100637"/>
                </a:lnTo>
                <a:lnTo>
                  <a:pt x="84635" y="99546"/>
                </a:lnTo>
                <a:lnTo>
                  <a:pt x="83822" y="99472"/>
                </a:lnTo>
                <a:lnTo>
                  <a:pt x="83035" y="99919"/>
                </a:lnTo>
                <a:lnTo>
                  <a:pt x="81242" y="100048"/>
                </a:lnTo>
                <a:lnTo>
                  <a:pt x="80248" y="100388"/>
                </a:lnTo>
                <a:lnTo>
                  <a:pt x="78144" y="102133"/>
                </a:lnTo>
                <a:lnTo>
                  <a:pt x="77644" y="103733"/>
                </a:lnTo>
                <a:lnTo>
                  <a:pt x="77059" y="104420"/>
                </a:lnTo>
                <a:lnTo>
                  <a:pt x="76547" y="104562"/>
                </a:lnTo>
                <a:lnTo>
                  <a:pt x="75188" y="104206"/>
                </a:lnTo>
                <a:lnTo>
                  <a:pt x="74487" y="104328"/>
                </a:lnTo>
                <a:lnTo>
                  <a:pt x="73703" y="105130"/>
                </a:lnTo>
                <a:lnTo>
                  <a:pt x="73157" y="106186"/>
                </a:lnTo>
                <a:lnTo>
                  <a:pt x="72540" y="106619"/>
                </a:lnTo>
                <a:lnTo>
                  <a:pt x="71655" y="106461"/>
                </a:lnTo>
                <a:lnTo>
                  <a:pt x="69465" y="104412"/>
                </a:lnTo>
                <a:lnTo>
                  <a:pt x="68558" y="104517"/>
                </a:lnTo>
                <a:lnTo>
                  <a:pt x="67163" y="105657"/>
                </a:lnTo>
                <a:lnTo>
                  <a:pt x="65787" y="106048"/>
                </a:lnTo>
                <a:lnTo>
                  <a:pt x="65792" y="107577"/>
                </a:lnTo>
                <a:lnTo>
                  <a:pt x="65558" y="108214"/>
                </a:lnTo>
                <a:lnTo>
                  <a:pt x="64936" y="108812"/>
                </a:lnTo>
                <a:lnTo>
                  <a:pt x="64140" y="109028"/>
                </a:lnTo>
                <a:lnTo>
                  <a:pt x="62601" y="108642"/>
                </a:lnTo>
                <a:lnTo>
                  <a:pt x="61620" y="108070"/>
                </a:lnTo>
                <a:lnTo>
                  <a:pt x="60835" y="106893"/>
                </a:lnTo>
                <a:lnTo>
                  <a:pt x="60995" y="105986"/>
                </a:lnTo>
                <a:lnTo>
                  <a:pt x="61817" y="104774"/>
                </a:lnTo>
                <a:lnTo>
                  <a:pt x="61933" y="104246"/>
                </a:lnTo>
                <a:lnTo>
                  <a:pt x="61608" y="102494"/>
                </a:lnTo>
                <a:lnTo>
                  <a:pt x="60793" y="102211"/>
                </a:lnTo>
                <a:lnTo>
                  <a:pt x="60184" y="102677"/>
                </a:lnTo>
                <a:lnTo>
                  <a:pt x="59185" y="104389"/>
                </a:lnTo>
                <a:lnTo>
                  <a:pt x="57466" y="105988"/>
                </a:lnTo>
                <a:lnTo>
                  <a:pt x="56996" y="105942"/>
                </a:lnTo>
                <a:lnTo>
                  <a:pt x="56938" y="105570"/>
                </a:lnTo>
                <a:lnTo>
                  <a:pt x="55127" y="103791"/>
                </a:lnTo>
                <a:lnTo>
                  <a:pt x="54465" y="103497"/>
                </a:lnTo>
                <a:lnTo>
                  <a:pt x="53999" y="103664"/>
                </a:lnTo>
                <a:lnTo>
                  <a:pt x="53758" y="104354"/>
                </a:lnTo>
                <a:lnTo>
                  <a:pt x="53829" y="105254"/>
                </a:lnTo>
                <a:lnTo>
                  <a:pt x="54846" y="108700"/>
                </a:lnTo>
                <a:lnTo>
                  <a:pt x="54554" y="109713"/>
                </a:lnTo>
                <a:lnTo>
                  <a:pt x="53391" y="110377"/>
                </a:lnTo>
                <a:lnTo>
                  <a:pt x="51167" y="110103"/>
                </a:lnTo>
                <a:lnTo>
                  <a:pt x="49681" y="110395"/>
                </a:lnTo>
                <a:lnTo>
                  <a:pt x="48919" y="111582"/>
                </a:lnTo>
                <a:lnTo>
                  <a:pt x="49210" y="112413"/>
                </a:lnTo>
                <a:lnTo>
                  <a:pt x="49088" y="113433"/>
                </a:lnTo>
                <a:lnTo>
                  <a:pt x="49462" y="114313"/>
                </a:lnTo>
                <a:lnTo>
                  <a:pt x="49502" y="115350"/>
                </a:lnTo>
                <a:lnTo>
                  <a:pt x="48573" y="117041"/>
                </a:lnTo>
                <a:lnTo>
                  <a:pt x="42889" y="121150"/>
                </a:lnTo>
                <a:lnTo>
                  <a:pt x="41175" y="122102"/>
                </a:lnTo>
                <a:lnTo>
                  <a:pt x="40191" y="123225"/>
                </a:lnTo>
                <a:lnTo>
                  <a:pt x="39475" y="124808"/>
                </a:lnTo>
                <a:lnTo>
                  <a:pt x="39345" y="125838"/>
                </a:lnTo>
                <a:lnTo>
                  <a:pt x="38239" y="129025"/>
                </a:lnTo>
                <a:lnTo>
                  <a:pt x="36384" y="131171"/>
                </a:lnTo>
                <a:lnTo>
                  <a:pt x="36734" y="132574"/>
                </a:lnTo>
                <a:lnTo>
                  <a:pt x="38592" y="133225"/>
                </a:lnTo>
                <a:lnTo>
                  <a:pt x="38554" y="134121"/>
                </a:lnTo>
                <a:lnTo>
                  <a:pt x="38034" y="134447"/>
                </a:lnTo>
                <a:lnTo>
                  <a:pt x="37634" y="134420"/>
                </a:lnTo>
                <a:lnTo>
                  <a:pt x="35933" y="133663"/>
                </a:lnTo>
                <a:lnTo>
                  <a:pt x="33190" y="133005"/>
                </a:lnTo>
                <a:lnTo>
                  <a:pt x="31415" y="133748"/>
                </a:lnTo>
                <a:lnTo>
                  <a:pt x="30668" y="134724"/>
                </a:lnTo>
                <a:lnTo>
                  <a:pt x="30868" y="135758"/>
                </a:lnTo>
                <a:lnTo>
                  <a:pt x="32278" y="136743"/>
                </a:lnTo>
                <a:lnTo>
                  <a:pt x="32732" y="137412"/>
                </a:lnTo>
                <a:lnTo>
                  <a:pt x="31536" y="139680"/>
                </a:lnTo>
                <a:lnTo>
                  <a:pt x="31768" y="141683"/>
                </a:lnTo>
                <a:lnTo>
                  <a:pt x="31648" y="142007"/>
                </a:lnTo>
                <a:lnTo>
                  <a:pt x="29836" y="143495"/>
                </a:lnTo>
                <a:lnTo>
                  <a:pt x="27912" y="147957"/>
                </a:lnTo>
                <a:lnTo>
                  <a:pt x="26192" y="149019"/>
                </a:lnTo>
                <a:lnTo>
                  <a:pt x="26088" y="149599"/>
                </a:lnTo>
                <a:lnTo>
                  <a:pt x="26693" y="150209"/>
                </a:lnTo>
                <a:lnTo>
                  <a:pt x="27896" y="150724"/>
                </a:lnTo>
                <a:lnTo>
                  <a:pt x="29563" y="152298"/>
                </a:lnTo>
                <a:lnTo>
                  <a:pt x="30978" y="153285"/>
                </a:lnTo>
                <a:lnTo>
                  <a:pt x="31873" y="154243"/>
                </a:lnTo>
                <a:lnTo>
                  <a:pt x="31865" y="154813"/>
                </a:lnTo>
                <a:lnTo>
                  <a:pt x="31057" y="155823"/>
                </a:lnTo>
                <a:lnTo>
                  <a:pt x="28548" y="155764"/>
                </a:lnTo>
                <a:lnTo>
                  <a:pt x="24752" y="157246"/>
                </a:lnTo>
                <a:lnTo>
                  <a:pt x="24172" y="157713"/>
                </a:lnTo>
                <a:lnTo>
                  <a:pt x="24046" y="158108"/>
                </a:lnTo>
                <a:lnTo>
                  <a:pt x="24391" y="159094"/>
                </a:lnTo>
                <a:lnTo>
                  <a:pt x="25343" y="160617"/>
                </a:lnTo>
                <a:lnTo>
                  <a:pt x="26486" y="161302"/>
                </a:lnTo>
                <a:lnTo>
                  <a:pt x="28182" y="161259"/>
                </a:lnTo>
                <a:lnTo>
                  <a:pt x="28550" y="161693"/>
                </a:lnTo>
                <a:lnTo>
                  <a:pt x="28567" y="162435"/>
                </a:lnTo>
                <a:lnTo>
                  <a:pt x="27311" y="164867"/>
                </a:lnTo>
                <a:lnTo>
                  <a:pt x="27325" y="166962"/>
                </a:lnTo>
                <a:lnTo>
                  <a:pt x="24232" y="172241"/>
                </a:lnTo>
                <a:lnTo>
                  <a:pt x="23294" y="172890"/>
                </a:lnTo>
                <a:lnTo>
                  <a:pt x="20353" y="173421"/>
                </a:lnTo>
                <a:lnTo>
                  <a:pt x="19790" y="173846"/>
                </a:lnTo>
                <a:lnTo>
                  <a:pt x="19361" y="174968"/>
                </a:lnTo>
                <a:lnTo>
                  <a:pt x="19197" y="176278"/>
                </a:lnTo>
                <a:lnTo>
                  <a:pt x="19004" y="181596"/>
                </a:lnTo>
                <a:lnTo>
                  <a:pt x="18420" y="182835"/>
                </a:lnTo>
                <a:lnTo>
                  <a:pt x="17730" y="183067"/>
                </a:lnTo>
                <a:lnTo>
                  <a:pt x="15393" y="182725"/>
                </a:lnTo>
                <a:lnTo>
                  <a:pt x="14825" y="183675"/>
                </a:lnTo>
                <a:lnTo>
                  <a:pt x="15364" y="184416"/>
                </a:lnTo>
                <a:lnTo>
                  <a:pt x="17254" y="185667"/>
                </a:lnTo>
                <a:lnTo>
                  <a:pt x="20998" y="186993"/>
                </a:lnTo>
                <a:lnTo>
                  <a:pt x="21490" y="187633"/>
                </a:lnTo>
                <a:lnTo>
                  <a:pt x="21735" y="188553"/>
                </a:lnTo>
                <a:lnTo>
                  <a:pt x="21695" y="189259"/>
                </a:lnTo>
                <a:lnTo>
                  <a:pt x="21338" y="189994"/>
                </a:lnTo>
                <a:lnTo>
                  <a:pt x="20335" y="191255"/>
                </a:lnTo>
                <a:lnTo>
                  <a:pt x="18425" y="192605"/>
                </a:lnTo>
                <a:lnTo>
                  <a:pt x="15132" y="193782"/>
                </a:lnTo>
                <a:lnTo>
                  <a:pt x="14976" y="194714"/>
                </a:lnTo>
                <a:lnTo>
                  <a:pt x="15924" y="196897"/>
                </a:lnTo>
                <a:lnTo>
                  <a:pt x="15474" y="197837"/>
                </a:lnTo>
                <a:lnTo>
                  <a:pt x="13413" y="198668"/>
                </a:lnTo>
                <a:lnTo>
                  <a:pt x="12464" y="198785"/>
                </a:lnTo>
                <a:lnTo>
                  <a:pt x="11892" y="199177"/>
                </a:lnTo>
                <a:lnTo>
                  <a:pt x="11701" y="199674"/>
                </a:lnTo>
                <a:lnTo>
                  <a:pt x="11792" y="200690"/>
                </a:lnTo>
                <a:lnTo>
                  <a:pt x="12612" y="201701"/>
                </a:lnTo>
                <a:lnTo>
                  <a:pt x="13302" y="202135"/>
                </a:lnTo>
                <a:lnTo>
                  <a:pt x="16513" y="202917"/>
                </a:lnTo>
                <a:lnTo>
                  <a:pt x="17151" y="203647"/>
                </a:lnTo>
                <a:lnTo>
                  <a:pt x="17035" y="204407"/>
                </a:lnTo>
                <a:lnTo>
                  <a:pt x="15239" y="205698"/>
                </a:lnTo>
                <a:lnTo>
                  <a:pt x="14177" y="207045"/>
                </a:lnTo>
                <a:lnTo>
                  <a:pt x="13517" y="208843"/>
                </a:lnTo>
                <a:lnTo>
                  <a:pt x="13428" y="210100"/>
                </a:lnTo>
                <a:lnTo>
                  <a:pt x="14350" y="212535"/>
                </a:lnTo>
                <a:lnTo>
                  <a:pt x="13696" y="216786"/>
                </a:lnTo>
                <a:lnTo>
                  <a:pt x="13868" y="219039"/>
                </a:lnTo>
                <a:lnTo>
                  <a:pt x="13212" y="219857"/>
                </a:lnTo>
                <a:lnTo>
                  <a:pt x="11623" y="220142"/>
                </a:lnTo>
                <a:lnTo>
                  <a:pt x="10082" y="219985"/>
                </a:lnTo>
                <a:lnTo>
                  <a:pt x="7060" y="219040"/>
                </a:lnTo>
                <a:lnTo>
                  <a:pt x="5563" y="219297"/>
                </a:lnTo>
                <a:lnTo>
                  <a:pt x="5063" y="220092"/>
                </a:lnTo>
                <a:lnTo>
                  <a:pt x="4905" y="220965"/>
                </a:lnTo>
                <a:lnTo>
                  <a:pt x="6088" y="223896"/>
                </a:lnTo>
                <a:lnTo>
                  <a:pt x="5897" y="226202"/>
                </a:lnTo>
                <a:lnTo>
                  <a:pt x="6333" y="228790"/>
                </a:lnTo>
                <a:lnTo>
                  <a:pt x="2944" y="230943"/>
                </a:lnTo>
                <a:lnTo>
                  <a:pt x="1197" y="231583"/>
                </a:lnTo>
                <a:lnTo>
                  <a:pt x="90" y="232556"/>
                </a:lnTo>
                <a:lnTo>
                  <a:pt x="0" y="233516"/>
                </a:lnTo>
                <a:lnTo>
                  <a:pt x="1162" y="235190"/>
                </a:lnTo>
                <a:lnTo>
                  <a:pt x="1144" y="235705"/>
                </a:lnTo>
                <a:lnTo>
                  <a:pt x="473" y="236508"/>
                </a:lnTo>
                <a:lnTo>
                  <a:pt x="262" y="236720"/>
                </a:lnTo>
                <a:lnTo>
                  <a:pt x="10744" y="236171"/>
                </a:lnTo>
                <a:lnTo>
                  <a:pt x="12062" y="282967"/>
                </a:lnTo>
                <a:lnTo>
                  <a:pt x="17286" y="285127"/>
                </a:lnTo>
                <a:lnTo>
                  <a:pt x="25790" y="289712"/>
                </a:lnTo>
                <a:lnTo>
                  <a:pt x="31305" y="279950"/>
                </a:lnTo>
                <a:lnTo>
                  <a:pt x="32230" y="277141"/>
                </a:lnTo>
                <a:lnTo>
                  <a:pt x="36758" y="258843"/>
                </a:lnTo>
                <a:lnTo>
                  <a:pt x="39374" y="250984"/>
                </a:lnTo>
                <a:lnTo>
                  <a:pt x="40409" y="240087"/>
                </a:lnTo>
                <a:lnTo>
                  <a:pt x="51170" y="241065"/>
                </a:lnTo>
                <a:lnTo>
                  <a:pt x="51945" y="230996"/>
                </a:lnTo>
                <a:lnTo>
                  <a:pt x="63247" y="232370"/>
                </a:lnTo>
                <a:lnTo>
                  <a:pt x="66573" y="223422"/>
                </a:lnTo>
                <a:lnTo>
                  <a:pt x="66541" y="216255"/>
                </a:lnTo>
                <a:lnTo>
                  <a:pt x="66325" y="213613"/>
                </a:lnTo>
                <a:lnTo>
                  <a:pt x="100290" y="215055"/>
                </a:lnTo>
                <a:lnTo>
                  <a:pt x="110009" y="217148"/>
                </a:lnTo>
                <a:lnTo>
                  <a:pt x="105211" y="230569"/>
                </a:lnTo>
                <a:lnTo>
                  <a:pt x="98368" y="227528"/>
                </a:lnTo>
                <a:lnTo>
                  <a:pt x="87500" y="224751"/>
                </a:lnTo>
                <a:lnTo>
                  <a:pt x="85189" y="234903"/>
                </a:lnTo>
                <a:lnTo>
                  <a:pt x="90428" y="234566"/>
                </a:lnTo>
                <a:lnTo>
                  <a:pt x="99026" y="239023"/>
                </a:lnTo>
                <a:lnTo>
                  <a:pt x="92372" y="249132"/>
                </a:lnTo>
                <a:lnTo>
                  <a:pt x="86200" y="259909"/>
                </a:lnTo>
                <a:lnTo>
                  <a:pt x="95004" y="270825"/>
                </a:lnTo>
                <a:lnTo>
                  <a:pt x="92872" y="294305"/>
                </a:lnTo>
                <a:lnTo>
                  <a:pt x="121346" y="301511"/>
                </a:lnTo>
                <a:lnTo>
                  <a:pt x="138864" y="315285"/>
                </a:lnTo>
                <a:lnTo>
                  <a:pt x="133592" y="321928"/>
                </a:lnTo>
                <a:lnTo>
                  <a:pt x="124977" y="335046"/>
                </a:lnTo>
                <a:lnTo>
                  <a:pt x="129867" y="337570"/>
                </a:lnTo>
                <a:lnTo>
                  <a:pt x="136806" y="340663"/>
                </a:lnTo>
                <a:lnTo>
                  <a:pt x="143514" y="343074"/>
                </a:lnTo>
                <a:lnTo>
                  <a:pt x="148023" y="345867"/>
                </a:lnTo>
                <a:lnTo>
                  <a:pt x="159373" y="349321"/>
                </a:lnTo>
                <a:lnTo>
                  <a:pt x="164512" y="351209"/>
                </a:lnTo>
                <a:lnTo>
                  <a:pt x="177867" y="359102"/>
                </a:lnTo>
                <a:lnTo>
                  <a:pt x="180208" y="353729"/>
                </a:lnTo>
                <a:lnTo>
                  <a:pt x="187043" y="353904"/>
                </a:lnTo>
                <a:lnTo>
                  <a:pt x="193672" y="360404"/>
                </a:lnTo>
                <a:lnTo>
                  <a:pt x="194759" y="359743"/>
                </a:lnTo>
                <a:lnTo>
                  <a:pt x="199176" y="367642"/>
                </a:lnTo>
                <a:lnTo>
                  <a:pt x="202780" y="376644"/>
                </a:lnTo>
                <a:lnTo>
                  <a:pt x="204424" y="385395"/>
                </a:lnTo>
                <a:lnTo>
                  <a:pt x="195584" y="389519"/>
                </a:lnTo>
                <a:lnTo>
                  <a:pt x="195226" y="392258"/>
                </a:lnTo>
                <a:lnTo>
                  <a:pt x="186894" y="411201"/>
                </a:lnTo>
                <a:lnTo>
                  <a:pt x="186103" y="412963"/>
                </a:lnTo>
                <a:lnTo>
                  <a:pt x="184404" y="414646"/>
                </a:lnTo>
                <a:lnTo>
                  <a:pt x="184150" y="417398"/>
                </a:lnTo>
                <a:lnTo>
                  <a:pt x="190589" y="421211"/>
                </a:lnTo>
                <a:lnTo>
                  <a:pt x="191871" y="422240"/>
                </a:lnTo>
                <a:lnTo>
                  <a:pt x="192257" y="422027"/>
                </a:lnTo>
                <a:lnTo>
                  <a:pt x="201179" y="428813"/>
                </a:lnTo>
                <a:lnTo>
                  <a:pt x="208211" y="433560"/>
                </a:lnTo>
                <a:lnTo>
                  <a:pt x="209432" y="433956"/>
                </a:lnTo>
                <a:lnTo>
                  <a:pt x="211421" y="433613"/>
                </a:lnTo>
                <a:lnTo>
                  <a:pt x="207285" y="445823"/>
                </a:lnTo>
                <a:lnTo>
                  <a:pt x="206519" y="451183"/>
                </a:lnTo>
                <a:lnTo>
                  <a:pt x="206967" y="458440"/>
                </a:lnTo>
                <a:lnTo>
                  <a:pt x="206087" y="466596"/>
                </a:lnTo>
                <a:lnTo>
                  <a:pt x="206283" y="473697"/>
                </a:lnTo>
                <a:lnTo>
                  <a:pt x="216026" y="476761"/>
                </a:lnTo>
                <a:lnTo>
                  <a:pt x="214089" y="481539"/>
                </a:lnTo>
                <a:lnTo>
                  <a:pt x="212394" y="490134"/>
                </a:lnTo>
                <a:lnTo>
                  <a:pt x="214917" y="495616"/>
                </a:lnTo>
                <a:lnTo>
                  <a:pt x="257063" y="486406"/>
                </a:lnTo>
                <a:lnTo>
                  <a:pt x="262990" y="489911"/>
                </a:lnTo>
                <a:lnTo>
                  <a:pt x="257530" y="499262"/>
                </a:lnTo>
                <a:lnTo>
                  <a:pt x="263773" y="502731"/>
                </a:lnTo>
                <a:lnTo>
                  <a:pt x="260138" y="512047"/>
                </a:lnTo>
                <a:lnTo>
                  <a:pt x="257634" y="512395"/>
                </a:lnTo>
                <a:lnTo>
                  <a:pt x="250538" y="523297"/>
                </a:lnTo>
                <a:lnTo>
                  <a:pt x="255112" y="528278"/>
                </a:lnTo>
                <a:lnTo>
                  <a:pt x="257603" y="525350"/>
                </a:lnTo>
                <a:lnTo>
                  <a:pt x="265760" y="534590"/>
                </a:lnTo>
                <a:lnTo>
                  <a:pt x="265876" y="537185"/>
                </a:lnTo>
                <a:lnTo>
                  <a:pt x="264507" y="539761"/>
                </a:lnTo>
                <a:lnTo>
                  <a:pt x="262483" y="542836"/>
                </a:lnTo>
                <a:lnTo>
                  <a:pt x="265468" y="543479"/>
                </a:lnTo>
                <a:lnTo>
                  <a:pt x="275297" y="552568"/>
                </a:lnTo>
                <a:lnTo>
                  <a:pt x="277869" y="550379"/>
                </a:lnTo>
                <a:lnTo>
                  <a:pt x="278912" y="549784"/>
                </a:lnTo>
                <a:lnTo>
                  <a:pt x="279459" y="549037"/>
                </a:lnTo>
                <a:lnTo>
                  <a:pt x="279393" y="546928"/>
                </a:lnTo>
                <a:lnTo>
                  <a:pt x="278628" y="544927"/>
                </a:lnTo>
                <a:lnTo>
                  <a:pt x="278879" y="544008"/>
                </a:lnTo>
                <a:lnTo>
                  <a:pt x="279874" y="543369"/>
                </a:lnTo>
                <a:lnTo>
                  <a:pt x="281640" y="543030"/>
                </a:lnTo>
                <a:lnTo>
                  <a:pt x="283062" y="542269"/>
                </a:lnTo>
                <a:lnTo>
                  <a:pt x="283508" y="542829"/>
                </a:lnTo>
                <a:lnTo>
                  <a:pt x="283837" y="542401"/>
                </a:lnTo>
                <a:lnTo>
                  <a:pt x="285121" y="542488"/>
                </a:lnTo>
                <a:lnTo>
                  <a:pt x="285823" y="542012"/>
                </a:lnTo>
                <a:lnTo>
                  <a:pt x="285950" y="542186"/>
                </a:lnTo>
                <a:lnTo>
                  <a:pt x="286729" y="541400"/>
                </a:lnTo>
                <a:lnTo>
                  <a:pt x="286694" y="541085"/>
                </a:lnTo>
                <a:lnTo>
                  <a:pt x="285914" y="540219"/>
                </a:lnTo>
                <a:lnTo>
                  <a:pt x="285851" y="539685"/>
                </a:lnTo>
                <a:lnTo>
                  <a:pt x="287122" y="539097"/>
                </a:lnTo>
                <a:lnTo>
                  <a:pt x="287053" y="538852"/>
                </a:lnTo>
                <a:lnTo>
                  <a:pt x="287676" y="538001"/>
                </a:lnTo>
                <a:lnTo>
                  <a:pt x="288009" y="538082"/>
                </a:lnTo>
                <a:lnTo>
                  <a:pt x="288243" y="537687"/>
                </a:lnTo>
                <a:lnTo>
                  <a:pt x="288741" y="537740"/>
                </a:lnTo>
                <a:lnTo>
                  <a:pt x="288599" y="537348"/>
                </a:lnTo>
                <a:lnTo>
                  <a:pt x="288891" y="536901"/>
                </a:lnTo>
                <a:lnTo>
                  <a:pt x="288607" y="536344"/>
                </a:lnTo>
                <a:lnTo>
                  <a:pt x="288258" y="536299"/>
                </a:lnTo>
                <a:lnTo>
                  <a:pt x="287698" y="534399"/>
                </a:lnTo>
                <a:lnTo>
                  <a:pt x="288007" y="534038"/>
                </a:lnTo>
                <a:lnTo>
                  <a:pt x="287686" y="533776"/>
                </a:lnTo>
                <a:lnTo>
                  <a:pt x="287965" y="533634"/>
                </a:lnTo>
                <a:lnTo>
                  <a:pt x="287847" y="533301"/>
                </a:lnTo>
                <a:lnTo>
                  <a:pt x="288379" y="532536"/>
                </a:lnTo>
                <a:lnTo>
                  <a:pt x="288506" y="531869"/>
                </a:lnTo>
                <a:lnTo>
                  <a:pt x="287893" y="531553"/>
                </a:lnTo>
                <a:lnTo>
                  <a:pt x="287559" y="529963"/>
                </a:lnTo>
                <a:lnTo>
                  <a:pt x="288604" y="528463"/>
                </a:lnTo>
                <a:lnTo>
                  <a:pt x="288536" y="527840"/>
                </a:lnTo>
                <a:lnTo>
                  <a:pt x="288862" y="527416"/>
                </a:lnTo>
                <a:lnTo>
                  <a:pt x="288422" y="526339"/>
                </a:lnTo>
                <a:lnTo>
                  <a:pt x="287929" y="526055"/>
                </a:lnTo>
                <a:lnTo>
                  <a:pt x="287382" y="525150"/>
                </a:lnTo>
                <a:lnTo>
                  <a:pt x="287239" y="524220"/>
                </a:lnTo>
                <a:lnTo>
                  <a:pt x="286409" y="523331"/>
                </a:lnTo>
                <a:lnTo>
                  <a:pt x="285752" y="523087"/>
                </a:lnTo>
                <a:lnTo>
                  <a:pt x="285789" y="521916"/>
                </a:lnTo>
                <a:lnTo>
                  <a:pt x="285632" y="521873"/>
                </a:lnTo>
                <a:lnTo>
                  <a:pt x="285791" y="521464"/>
                </a:lnTo>
                <a:lnTo>
                  <a:pt x="286438" y="521356"/>
                </a:lnTo>
                <a:lnTo>
                  <a:pt x="286678" y="521976"/>
                </a:lnTo>
                <a:lnTo>
                  <a:pt x="287504" y="522521"/>
                </a:lnTo>
                <a:lnTo>
                  <a:pt x="289067" y="522204"/>
                </a:lnTo>
                <a:lnTo>
                  <a:pt x="289373" y="521583"/>
                </a:lnTo>
                <a:lnTo>
                  <a:pt x="289428" y="520351"/>
                </a:lnTo>
                <a:lnTo>
                  <a:pt x="290690" y="519751"/>
                </a:lnTo>
                <a:lnTo>
                  <a:pt x="291235" y="519736"/>
                </a:lnTo>
                <a:lnTo>
                  <a:pt x="291844" y="518810"/>
                </a:lnTo>
                <a:lnTo>
                  <a:pt x="292213" y="518015"/>
                </a:lnTo>
                <a:lnTo>
                  <a:pt x="292239" y="516870"/>
                </a:lnTo>
                <a:lnTo>
                  <a:pt x="292858" y="515873"/>
                </a:lnTo>
                <a:lnTo>
                  <a:pt x="292872" y="514578"/>
                </a:lnTo>
                <a:lnTo>
                  <a:pt x="293147" y="514141"/>
                </a:lnTo>
                <a:lnTo>
                  <a:pt x="294117" y="514207"/>
                </a:lnTo>
                <a:lnTo>
                  <a:pt x="294803" y="514000"/>
                </a:lnTo>
                <a:lnTo>
                  <a:pt x="295034" y="513700"/>
                </a:lnTo>
                <a:lnTo>
                  <a:pt x="296022" y="513809"/>
                </a:lnTo>
                <a:lnTo>
                  <a:pt x="296438" y="513584"/>
                </a:lnTo>
                <a:lnTo>
                  <a:pt x="297518" y="513802"/>
                </a:lnTo>
                <a:lnTo>
                  <a:pt x="297729" y="514140"/>
                </a:lnTo>
                <a:lnTo>
                  <a:pt x="297853" y="513798"/>
                </a:lnTo>
                <a:lnTo>
                  <a:pt x="298656" y="513350"/>
                </a:lnTo>
                <a:lnTo>
                  <a:pt x="298391" y="512552"/>
                </a:lnTo>
                <a:lnTo>
                  <a:pt x="297454" y="511986"/>
                </a:lnTo>
                <a:lnTo>
                  <a:pt x="297415" y="511563"/>
                </a:lnTo>
                <a:lnTo>
                  <a:pt x="297811" y="510955"/>
                </a:lnTo>
                <a:lnTo>
                  <a:pt x="299032" y="510251"/>
                </a:lnTo>
                <a:lnTo>
                  <a:pt x="293251" y="504212"/>
                </a:lnTo>
                <a:lnTo>
                  <a:pt x="293711" y="503232"/>
                </a:lnTo>
                <a:lnTo>
                  <a:pt x="294760" y="503472"/>
                </a:lnTo>
                <a:lnTo>
                  <a:pt x="295325" y="502919"/>
                </a:lnTo>
                <a:lnTo>
                  <a:pt x="295710" y="500845"/>
                </a:lnTo>
                <a:lnTo>
                  <a:pt x="294956" y="499502"/>
                </a:lnTo>
                <a:lnTo>
                  <a:pt x="296412" y="495920"/>
                </a:lnTo>
                <a:lnTo>
                  <a:pt x="298316" y="495347"/>
                </a:lnTo>
                <a:lnTo>
                  <a:pt x="298581" y="492549"/>
                </a:lnTo>
                <a:lnTo>
                  <a:pt x="296553" y="490156"/>
                </a:lnTo>
                <a:lnTo>
                  <a:pt x="295700" y="488534"/>
                </a:lnTo>
                <a:lnTo>
                  <a:pt x="295354" y="487274"/>
                </a:lnTo>
                <a:lnTo>
                  <a:pt x="295620" y="486571"/>
                </a:lnTo>
                <a:lnTo>
                  <a:pt x="296072" y="486372"/>
                </a:lnTo>
                <a:lnTo>
                  <a:pt x="296884" y="486454"/>
                </a:lnTo>
                <a:lnTo>
                  <a:pt x="297258" y="486128"/>
                </a:lnTo>
                <a:lnTo>
                  <a:pt x="297048" y="485443"/>
                </a:lnTo>
                <a:lnTo>
                  <a:pt x="296225" y="484628"/>
                </a:lnTo>
                <a:lnTo>
                  <a:pt x="296151" y="484280"/>
                </a:lnTo>
                <a:lnTo>
                  <a:pt x="298113" y="482227"/>
                </a:lnTo>
                <a:lnTo>
                  <a:pt x="298193" y="480801"/>
                </a:lnTo>
                <a:lnTo>
                  <a:pt x="308196" y="478932"/>
                </a:lnTo>
                <a:lnTo>
                  <a:pt x="307463" y="475124"/>
                </a:lnTo>
                <a:lnTo>
                  <a:pt x="311415" y="474352"/>
                </a:lnTo>
                <a:lnTo>
                  <a:pt x="311402" y="475098"/>
                </a:lnTo>
                <a:lnTo>
                  <a:pt x="311150" y="475350"/>
                </a:lnTo>
                <a:lnTo>
                  <a:pt x="310883" y="476557"/>
                </a:lnTo>
                <a:lnTo>
                  <a:pt x="311087" y="478913"/>
                </a:lnTo>
                <a:lnTo>
                  <a:pt x="311703" y="480557"/>
                </a:lnTo>
                <a:lnTo>
                  <a:pt x="312728" y="481019"/>
                </a:lnTo>
                <a:lnTo>
                  <a:pt x="313281" y="482653"/>
                </a:lnTo>
                <a:lnTo>
                  <a:pt x="312905" y="483801"/>
                </a:lnTo>
                <a:lnTo>
                  <a:pt x="312923" y="485422"/>
                </a:lnTo>
                <a:lnTo>
                  <a:pt x="312701" y="485948"/>
                </a:lnTo>
                <a:lnTo>
                  <a:pt x="312846" y="486800"/>
                </a:lnTo>
                <a:lnTo>
                  <a:pt x="312436" y="487596"/>
                </a:lnTo>
                <a:lnTo>
                  <a:pt x="313137" y="488578"/>
                </a:lnTo>
                <a:lnTo>
                  <a:pt x="313084" y="489414"/>
                </a:lnTo>
                <a:lnTo>
                  <a:pt x="313727" y="489990"/>
                </a:lnTo>
                <a:lnTo>
                  <a:pt x="321369" y="489045"/>
                </a:lnTo>
                <a:lnTo>
                  <a:pt x="325840" y="488900"/>
                </a:lnTo>
                <a:lnTo>
                  <a:pt x="338383" y="487084"/>
                </a:lnTo>
                <a:lnTo>
                  <a:pt x="342178" y="486824"/>
                </a:lnTo>
                <a:lnTo>
                  <a:pt x="347187" y="488834"/>
                </a:lnTo>
                <a:lnTo>
                  <a:pt x="349052" y="489921"/>
                </a:lnTo>
                <a:lnTo>
                  <a:pt x="320047" y="523714"/>
                </a:lnTo>
                <a:lnTo>
                  <a:pt x="322137" y="523267"/>
                </a:lnTo>
                <a:lnTo>
                  <a:pt x="321491" y="524509"/>
                </a:lnTo>
                <a:lnTo>
                  <a:pt x="321471" y="524972"/>
                </a:lnTo>
                <a:lnTo>
                  <a:pt x="321877" y="525356"/>
                </a:lnTo>
                <a:lnTo>
                  <a:pt x="321571" y="525177"/>
                </a:lnTo>
                <a:lnTo>
                  <a:pt x="321534" y="525999"/>
                </a:lnTo>
                <a:lnTo>
                  <a:pt x="320717" y="526117"/>
                </a:lnTo>
                <a:lnTo>
                  <a:pt x="319844" y="525717"/>
                </a:lnTo>
                <a:lnTo>
                  <a:pt x="317584" y="526931"/>
                </a:lnTo>
                <a:lnTo>
                  <a:pt x="334611" y="556313"/>
                </a:lnTo>
                <a:lnTo>
                  <a:pt x="335897" y="554765"/>
                </a:lnTo>
                <a:lnTo>
                  <a:pt x="336929" y="553043"/>
                </a:lnTo>
                <a:lnTo>
                  <a:pt x="337330" y="551802"/>
                </a:lnTo>
                <a:lnTo>
                  <a:pt x="337901" y="551162"/>
                </a:lnTo>
                <a:lnTo>
                  <a:pt x="339537" y="550941"/>
                </a:lnTo>
                <a:lnTo>
                  <a:pt x="341592" y="551324"/>
                </a:lnTo>
                <a:lnTo>
                  <a:pt x="343100" y="550511"/>
                </a:lnTo>
                <a:lnTo>
                  <a:pt x="344571" y="550626"/>
                </a:lnTo>
                <a:lnTo>
                  <a:pt x="345713" y="550010"/>
                </a:lnTo>
                <a:lnTo>
                  <a:pt x="347206" y="549150"/>
                </a:lnTo>
                <a:lnTo>
                  <a:pt x="350142" y="549593"/>
                </a:lnTo>
                <a:lnTo>
                  <a:pt x="351730" y="549265"/>
                </a:lnTo>
                <a:lnTo>
                  <a:pt x="352257" y="548847"/>
                </a:lnTo>
                <a:lnTo>
                  <a:pt x="352715" y="546028"/>
                </a:lnTo>
                <a:lnTo>
                  <a:pt x="356761" y="540968"/>
                </a:lnTo>
                <a:lnTo>
                  <a:pt x="357125" y="540204"/>
                </a:lnTo>
                <a:lnTo>
                  <a:pt x="356989" y="539386"/>
                </a:lnTo>
                <a:lnTo>
                  <a:pt x="356431" y="538422"/>
                </a:lnTo>
                <a:lnTo>
                  <a:pt x="355392" y="536953"/>
                </a:lnTo>
                <a:lnTo>
                  <a:pt x="354711" y="536424"/>
                </a:lnTo>
                <a:lnTo>
                  <a:pt x="354761" y="535698"/>
                </a:lnTo>
                <a:lnTo>
                  <a:pt x="355650" y="534565"/>
                </a:lnTo>
                <a:lnTo>
                  <a:pt x="357735" y="533505"/>
                </a:lnTo>
                <a:lnTo>
                  <a:pt x="358613" y="531963"/>
                </a:lnTo>
                <a:lnTo>
                  <a:pt x="360573" y="530367"/>
                </a:lnTo>
                <a:lnTo>
                  <a:pt x="360852" y="529205"/>
                </a:lnTo>
                <a:lnTo>
                  <a:pt x="360601" y="526907"/>
                </a:lnTo>
                <a:lnTo>
                  <a:pt x="360977" y="526301"/>
                </a:lnTo>
                <a:lnTo>
                  <a:pt x="361724" y="526034"/>
                </a:lnTo>
                <a:lnTo>
                  <a:pt x="363414" y="526859"/>
                </a:lnTo>
                <a:lnTo>
                  <a:pt x="364844" y="526624"/>
                </a:lnTo>
                <a:lnTo>
                  <a:pt x="365576" y="525716"/>
                </a:lnTo>
                <a:lnTo>
                  <a:pt x="366503" y="525267"/>
                </a:lnTo>
                <a:lnTo>
                  <a:pt x="368371" y="523734"/>
                </a:lnTo>
                <a:lnTo>
                  <a:pt x="369528" y="521233"/>
                </a:lnTo>
                <a:lnTo>
                  <a:pt x="370203" y="520480"/>
                </a:lnTo>
                <a:lnTo>
                  <a:pt x="371489" y="519762"/>
                </a:lnTo>
                <a:lnTo>
                  <a:pt x="374578" y="518904"/>
                </a:lnTo>
                <a:lnTo>
                  <a:pt x="377668" y="517351"/>
                </a:lnTo>
                <a:lnTo>
                  <a:pt x="378304" y="516783"/>
                </a:lnTo>
                <a:lnTo>
                  <a:pt x="378794" y="516000"/>
                </a:lnTo>
                <a:lnTo>
                  <a:pt x="378838" y="515177"/>
                </a:lnTo>
                <a:lnTo>
                  <a:pt x="376639" y="513323"/>
                </a:lnTo>
                <a:lnTo>
                  <a:pt x="376074" y="512322"/>
                </a:lnTo>
                <a:lnTo>
                  <a:pt x="376104" y="511825"/>
                </a:lnTo>
                <a:lnTo>
                  <a:pt x="376930" y="510993"/>
                </a:lnTo>
                <a:lnTo>
                  <a:pt x="378298" y="510523"/>
                </a:lnTo>
                <a:lnTo>
                  <a:pt x="379298" y="509869"/>
                </a:lnTo>
                <a:lnTo>
                  <a:pt x="380604" y="506539"/>
                </a:lnTo>
                <a:lnTo>
                  <a:pt x="381411" y="505754"/>
                </a:lnTo>
                <a:lnTo>
                  <a:pt x="385197" y="505288"/>
                </a:lnTo>
                <a:lnTo>
                  <a:pt x="387132" y="505715"/>
                </a:lnTo>
                <a:lnTo>
                  <a:pt x="389711" y="504904"/>
                </a:lnTo>
                <a:lnTo>
                  <a:pt x="390334" y="505387"/>
                </a:lnTo>
                <a:lnTo>
                  <a:pt x="390764" y="505311"/>
                </a:lnTo>
                <a:lnTo>
                  <a:pt x="391404" y="504020"/>
                </a:lnTo>
                <a:lnTo>
                  <a:pt x="391965" y="501949"/>
                </a:lnTo>
                <a:lnTo>
                  <a:pt x="394216" y="498524"/>
                </a:lnTo>
                <a:lnTo>
                  <a:pt x="396457" y="497243"/>
                </a:lnTo>
                <a:lnTo>
                  <a:pt x="398616" y="495056"/>
                </a:lnTo>
                <a:lnTo>
                  <a:pt x="401208" y="494041"/>
                </a:lnTo>
                <a:lnTo>
                  <a:pt x="402865" y="492996"/>
                </a:lnTo>
                <a:lnTo>
                  <a:pt x="405211" y="493231"/>
                </a:lnTo>
                <a:lnTo>
                  <a:pt x="407737" y="492295"/>
                </a:lnTo>
                <a:lnTo>
                  <a:pt x="408780" y="492107"/>
                </a:lnTo>
                <a:lnTo>
                  <a:pt x="409348" y="492268"/>
                </a:lnTo>
                <a:lnTo>
                  <a:pt x="409935" y="491657"/>
                </a:lnTo>
                <a:lnTo>
                  <a:pt x="410155" y="490389"/>
                </a:lnTo>
                <a:lnTo>
                  <a:pt x="411043" y="489383"/>
                </a:lnTo>
                <a:lnTo>
                  <a:pt x="412058" y="489302"/>
                </a:lnTo>
                <a:lnTo>
                  <a:pt x="413042" y="489624"/>
                </a:lnTo>
                <a:lnTo>
                  <a:pt x="415667" y="489796"/>
                </a:lnTo>
                <a:lnTo>
                  <a:pt x="419135" y="489263"/>
                </a:lnTo>
                <a:lnTo>
                  <a:pt x="421787" y="488568"/>
                </a:lnTo>
                <a:lnTo>
                  <a:pt x="424177" y="487127"/>
                </a:lnTo>
                <a:lnTo>
                  <a:pt x="425979" y="484116"/>
                </a:lnTo>
                <a:lnTo>
                  <a:pt x="426850" y="483566"/>
                </a:lnTo>
                <a:lnTo>
                  <a:pt x="427691" y="483560"/>
                </a:lnTo>
                <a:lnTo>
                  <a:pt x="428657" y="484330"/>
                </a:lnTo>
                <a:lnTo>
                  <a:pt x="429656" y="484385"/>
                </a:lnTo>
                <a:lnTo>
                  <a:pt x="430790" y="485887"/>
                </a:lnTo>
                <a:lnTo>
                  <a:pt x="432094" y="485561"/>
                </a:lnTo>
                <a:lnTo>
                  <a:pt x="432555" y="485702"/>
                </a:lnTo>
                <a:lnTo>
                  <a:pt x="432776" y="485998"/>
                </a:lnTo>
                <a:lnTo>
                  <a:pt x="432863" y="487008"/>
                </a:lnTo>
                <a:lnTo>
                  <a:pt x="434048" y="488675"/>
                </a:lnTo>
                <a:lnTo>
                  <a:pt x="436338" y="490063"/>
                </a:lnTo>
                <a:lnTo>
                  <a:pt x="437365" y="489923"/>
                </a:lnTo>
                <a:lnTo>
                  <a:pt x="438378" y="489086"/>
                </a:lnTo>
                <a:lnTo>
                  <a:pt x="439365" y="487236"/>
                </a:lnTo>
                <a:lnTo>
                  <a:pt x="439152" y="484373"/>
                </a:lnTo>
                <a:lnTo>
                  <a:pt x="439582" y="482727"/>
                </a:lnTo>
                <a:lnTo>
                  <a:pt x="439431" y="481414"/>
                </a:lnTo>
                <a:lnTo>
                  <a:pt x="439037" y="480464"/>
                </a:lnTo>
                <a:lnTo>
                  <a:pt x="439522" y="479623"/>
                </a:lnTo>
                <a:lnTo>
                  <a:pt x="440441" y="479075"/>
                </a:lnTo>
                <a:lnTo>
                  <a:pt x="443981" y="478864"/>
                </a:lnTo>
                <a:lnTo>
                  <a:pt x="446600" y="476405"/>
                </a:lnTo>
                <a:lnTo>
                  <a:pt x="447572" y="476542"/>
                </a:lnTo>
                <a:lnTo>
                  <a:pt x="447968" y="476393"/>
                </a:lnTo>
                <a:lnTo>
                  <a:pt x="449706" y="474961"/>
                </a:lnTo>
                <a:lnTo>
                  <a:pt x="451789" y="474382"/>
                </a:lnTo>
                <a:lnTo>
                  <a:pt x="454314" y="472494"/>
                </a:lnTo>
                <a:lnTo>
                  <a:pt x="455285" y="472343"/>
                </a:lnTo>
                <a:lnTo>
                  <a:pt x="456776" y="472583"/>
                </a:lnTo>
                <a:lnTo>
                  <a:pt x="457669" y="472385"/>
                </a:lnTo>
                <a:lnTo>
                  <a:pt x="459119" y="470752"/>
                </a:lnTo>
                <a:lnTo>
                  <a:pt x="460943" y="469800"/>
                </a:lnTo>
                <a:lnTo>
                  <a:pt x="461715" y="469862"/>
                </a:lnTo>
                <a:lnTo>
                  <a:pt x="462007" y="471714"/>
                </a:lnTo>
                <a:lnTo>
                  <a:pt x="463440" y="473591"/>
                </a:lnTo>
                <a:lnTo>
                  <a:pt x="463649" y="474380"/>
                </a:lnTo>
                <a:lnTo>
                  <a:pt x="463193" y="475340"/>
                </a:lnTo>
                <a:lnTo>
                  <a:pt x="463341" y="476418"/>
                </a:lnTo>
                <a:lnTo>
                  <a:pt x="464431" y="478578"/>
                </a:lnTo>
                <a:lnTo>
                  <a:pt x="465206" y="479040"/>
                </a:lnTo>
                <a:lnTo>
                  <a:pt x="467253" y="479745"/>
                </a:lnTo>
                <a:lnTo>
                  <a:pt x="469961" y="479478"/>
                </a:lnTo>
                <a:lnTo>
                  <a:pt x="470975" y="478925"/>
                </a:lnTo>
                <a:lnTo>
                  <a:pt x="470531" y="477656"/>
                </a:lnTo>
                <a:lnTo>
                  <a:pt x="470635" y="476901"/>
                </a:lnTo>
                <a:lnTo>
                  <a:pt x="471333" y="476775"/>
                </a:lnTo>
                <a:lnTo>
                  <a:pt x="472627" y="476995"/>
                </a:lnTo>
                <a:lnTo>
                  <a:pt x="473502" y="476262"/>
                </a:lnTo>
                <a:lnTo>
                  <a:pt x="474744" y="475914"/>
                </a:lnTo>
                <a:lnTo>
                  <a:pt x="475837" y="476407"/>
                </a:lnTo>
                <a:lnTo>
                  <a:pt x="477002" y="477789"/>
                </a:lnTo>
                <a:lnTo>
                  <a:pt x="477966" y="480700"/>
                </a:lnTo>
                <a:lnTo>
                  <a:pt x="480961" y="479472"/>
                </a:lnTo>
                <a:lnTo>
                  <a:pt x="482930" y="479860"/>
                </a:lnTo>
                <a:lnTo>
                  <a:pt x="482652" y="480913"/>
                </a:lnTo>
                <a:lnTo>
                  <a:pt x="482901" y="481682"/>
                </a:lnTo>
                <a:lnTo>
                  <a:pt x="484496" y="482224"/>
                </a:lnTo>
                <a:lnTo>
                  <a:pt x="485798" y="483395"/>
                </a:lnTo>
                <a:lnTo>
                  <a:pt x="486216" y="484061"/>
                </a:lnTo>
                <a:lnTo>
                  <a:pt x="486665" y="485722"/>
                </a:lnTo>
                <a:lnTo>
                  <a:pt x="486491" y="487983"/>
                </a:lnTo>
                <a:lnTo>
                  <a:pt x="486897" y="489989"/>
                </a:lnTo>
                <a:lnTo>
                  <a:pt x="485762" y="491987"/>
                </a:lnTo>
                <a:lnTo>
                  <a:pt x="485707" y="492674"/>
                </a:lnTo>
                <a:lnTo>
                  <a:pt x="487096" y="495219"/>
                </a:lnTo>
                <a:lnTo>
                  <a:pt x="488183" y="496144"/>
                </a:lnTo>
                <a:lnTo>
                  <a:pt x="488995" y="497251"/>
                </a:lnTo>
                <a:lnTo>
                  <a:pt x="490315" y="497575"/>
                </a:lnTo>
                <a:lnTo>
                  <a:pt x="492096" y="495814"/>
                </a:lnTo>
                <a:lnTo>
                  <a:pt x="494722" y="494771"/>
                </a:lnTo>
                <a:lnTo>
                  <a:pt x="498549" y="491277"/>
                </a:lnTo>
                <a:lnTo>
                  <a:pt x="498938" y="490232"/>
                </a:lnTo>
                <a:lnTo>
                  <a:pt x="498946" y="489353"/>
                </a:lnTo>
                <a:lnTo>
                  <a:pt x="498672" y="488990"/>
                </a:lnTo>
                <a:lnTo>
                  <a:pt x="495096" y="488675"/>
                </a:lnTo>
                <a:lnTo>
                  <a:pt x="493247" y="486779"/>
                </a:lnTo>
                <a:lnTo>
                  <a:pt x="494559" y="485357"/>
                </a:lnTo>
                <a:lnTo>
                  <a:pt x="496900" y="484297"/>
                </a:lnTo>
                <a:lnTo>
                  <a:pt x="497814" y="483446"/>
                </a:lnTo>
                <a:lnTo>
                  <a:pt x="497773" y="482616"/>
                </a:lnTo>
                <a:lnTo>
                  <a:pt x="496274" y="478992"/>
                </a:lnTo>
                <a:lnTo>
                  <a:pt x="497678" y="474990"/>
                </a:lnTo>
                <a:lnTo>
                  <a:pt x="498249" y="474747"/>
                </a:lnTo>
                <a:lnTo>
                  <a:pt x="500815" y="475058"/>
                </a:lnTo>
                <a:lnTo>
                  <a:pt x="501841" y="474720"/>
                </a:lnTo>
                <a:lnTo>
                  <a:pt x="502482" y="474163"/>
                </a:lnTo>
                <a:lnTo>
                  <a:pt x="503485" y="472693"/>
                </a:lnTo>
                <a:lnTo>
                  <a:pt x="503162" y="471380"/>
                </a:lnTo>
                <a:lnTo>
                  <a:pt x="503421" y="470488"/>
                </a:lnTo>
                <a:lnTo>
                  <a:pt x="504908" y="469161"/>
                </a:lnTo>
                <a:lnTo>
                  <a:pt x="505808" y="469038"/>
                </a:lnTo>
                <a:lnTo>
                  <a:pt x="506485" y="469854"/>
                </a:lnTo>
                <a:lnTo>
                  <a:pt x="507696" y="470092"/>
                </a:lnTo>
                <a:lnTo>
                  <a:pt x="509096" y="468142"/>
                </a:lnTo>
                <a:lnTo>
                  <a:pt x="509839" y="465960"/>
                </a:lnTo>
                <a:lnTo>
                  <a:pt x="510144" y="465653"/>
                </a:lnTo>
                <a:lnTo>
                  <a:pt x="512442" y="464958"/>
                </a:lnTo>
                <a:lnTo>
                  <a:pt x="514743" y="462618"/>
                </a:lnTo>
                <a:lnTo>
                  <a:pt x="517667" y="462311"/>
                </a:lnTo>
                <a:lnTo>
                  <a:pt x="518651" y="461947"/>
                </a:lnTo>
                <a:lnTo>
                  <a:pt x="519018" y="459257"/>
                </a:lnTo>
                <a:lnTo>
                  <a:pt x="517558" y="457291"/>
                </a:lnTo>
                <a:lnTo>
                  <a:pt x="517454" y="455851"/>
                </a:lnTo>
                <a:lnTo>
                  <a:pt x="519526" y="452642"/>
                </a:lnTo>
                <a:lnTo>
                  <a:pt x="520409" y="449630"/>
                </a:lnTo>
                <a:lnTo>
                  <a:pt x="520789" y="448998"/>
                </a:lnTo>
                <a:lnTo>
                  <a:pt x="521187" y="448753"/>
                </a:lnTo>
                <a:lnTo>
                  <a:pt x="522323" y="448717"/>
                </a:lnTo>
                <a:lnTo>
                  <a:pt x="523389" y="447193"/>
                </a:lnTo>
                <a:lnTo>
                  <a:pt x="524042" y="446645"/>
                </a:lnTo>
                <a:lnTo>
                  <a:pt x="524743" y="446717"/>
                </a:lnTo>
                <a:lnTo>
                  <a:pt x="525670" y="447428"/>
                </a:lnTo>
                <a:lnTo>
                  <a:pt x="527123" y="447625"/>
                </a:lnTo>
                <a:lnTo>
                  <a:pt x="527830" y="446751"/>
                </a:lnTo>
                <a:lnTo>
                  <a:pt x="528484" y="446620"/>
                </a:lnTo>
                <a:lnTo>
                  <a:pt x="530538" y="447065"/>
                </a:lnTo>
                <a:lnTo>
                  <a:pt x="531052" y="447737"/>
                </a:lnTo>
                <a:lnTo>
                  <a:pt x="531483" y="449194"/>
                </a:lnTo>
                <a:lnTo>
                  <a:pt x="532099" y="449519"/>
                </a:lnTo>
                <a:lnTo>
                  <a:pt x="532526" y="449452"/>
                </a:lnTo>
                <a:lnTo>
                  <a:pt x="532896" y="448858"/>
                </a:lnTo>
                <a:lnTo>
                  <a:pt x="533104" y="447374"/>
                </a:lnTo>
                <a:lnTo>
                  <a:pt x="533056" y="445097"/>
                </a:lnTo>
                <a:lnTo>
                  <a:pt x="534245" y="443934"/>
                </a:lnTo>
                <a:lnTo>
                  <a:pt x="534875" y="442492"/>
                </a:lnTo>
                <a:lnTo>
                  <a:pt x="535764" y="441856"/>
                </a:lnTo>
                <a:lnTo>
                  <a:pt x="538031" y="442528"/>
                </a:lnTo>
                <a:lnTo>
                  <a:pt x="539069" y="441788"/>
                </a:lnTo>
                <a:lnTo>
                  <a:pt x="539607" y="441672"/>
                </a:lnTo>
                <a:lnTo>
                  <a:pt x="540712" y="442441"/>
                </a:lnTo>
                <a:lnTo>
                  <a:pt x="541825" y="442642"/>
                </a:lnTo>
                <a:lnTo>
                  <a:pt x="542716" y="443374"/>
                </a:lnTo>
                <a:lnTo>
                  <a:pt x="545873" y="444845"/>
                </a:lnTo>
                <a:lnTo>
                  <a:pt x="546807" y="445527"/>
                </a:lnTo>
                <a:lnTo>
                  <a:pt x="548537" y="444259"/>
                </a:lnTo>
                <a:lnTo>
                  <a:pt x="550041" y="442573"/>
                </a:lnTo>
                <a:lnTo>
                  <a:pt x="551007" y="442210"/>
                </a:lnTo>
                <a:lnTo>
                  <a:pt x="552015" y="442365"/>
                </a:lnTo>
                <a:lnTo>
                  <a:pt x="553338" y="443135"/>
                </a:lnTo>
                <a:lnTo>
                  <a:pt x="557531" y="443932"/>
                </a:lnTo>
                <a:lnTo>
                  <a:pt x="558616" y="444382"/>
                </a:lnTo>
                <a:lnTo>
                  <a:pt x="559032" y="444355"/>
                </a:lnTo>
                <a:lnTo>
                  <a:pt x="559477" y="443913"/>
                </a:lnTo>
                <a:lnTo>
                  <a:pt x="559949" y="442658"/>
                </a:lnTo>
                <a:lnTo>
                  <a:pt x="559756" y="442227"/>
                </a:lnTo>
                <a:lnTo>
                  <a:pt x="557860" y="441372"/>
                </a:lnTo>
                <a:lnTo>
                  <a:pt x="555738" y="441363"/>
                </a:lnTo>
                <a:lnTo>
                  <a:pt x="554556" y="440043"/>
                </a:lnTo>
                <a:lnTo>
                  <a:pt x="552522" y="439015"/>
                </a:lnTo>
                <a:lnTo>
                  <a:pt x="550333" y="436395"/>
                </a:lnTo>
                <a:lnTo>
                  <a:pt x="550466" y="435484"/>
                </a:lnTo>
                <a:lnTo>
                  <a:pt x="551682" y="434442"/>
                </a:lnTo>
                <a:lnTo>
                  <a:pt x="552104" y="432655"/>
                </a:lnTo>
                <a:lnTo>
                  <a:pt x="554382" y="430457"/>
                </a:lnTo>
                <a:lnTo>
                  <a:pt x="554640" y="429821"/>
                </a:lnTo>
                <a:lnTo>
                  <a:pt x="555496" y="429576"/>
                </a:lnTo>
                <a:lnTo>
                  <a:pt x="555978" y="429970"/>
                </a:lnTo>
                <a:lnTo>
                  <a:pt x="555970" y="430687"/>
                </a:lnTo>
                <a:lnTo>
                  <a:pt x="555127" y="431540"/>
                </a:lnTo>
                <a:lnTo>
                  <a:pt x="555356" y="432228"/>
                </a:lnTo>
                <a:lnTo>
                  <a:pt x="555942" y="432363"/>
                </a:lnTo>
                <a:lnTo>
                  <a:pt x="557175" y="431609"/>
                </a:lnTo>
                <a:lnTo>
                  <a:pt x="557286" y="429875"/>
                </a:lnTo>
                <a:lnTo>
                  <a:pt x="556516" y="427926"/>
                </a:lnTo>
                <a:lnTo>
                  <a:pt x="556574" y="426294"/>
                </a:lnTo>
                <a:lnTo>
                  <a:pt x="556641" y="425830"/>
                </a:lnTo>
                <a:lnTo>
                  <a:pt x="557725" y="424326"/>
                </a:lnTo>
                <a:lnTo>
                  <a:pt x="557888" y="423364"/>
                </a:lnTo>
                <a:lnTo>
                  <a:pt x="557538" y="421961"/>
                </a:lnTo>
                <a:lnTo>
                  <a:pt x="556742" y="420573"/>
                </a:lnTo>
                <a:lnTo>
                  <a:pt x="555029" y="419587"/>
                </a:lnTo>
                <a:lnTo>
                  <a:pt x="553221" y="417156"/>
                </a:lnTo>
                <a:lnTo>
                  <a:pt x="551921" y="416009"/>
                </a:lnTo>
                <a:lnTo>
                  <a:pt x="550352" y="415107"/>
                </a:lnTo>
                <a:lnTo>
                  <a:pt x="549519" y="413898"/>
                </a:lnTo>
                <a:lnTo>
                  <a:pt x="548883" y="410694"/>
                </a:lnTo>
                <a:lnTo>
                  <a:pt x="548093" y="409894"/>
                </a:lnTo>
                <a:lnTo>
                  <a:pt x="547687" y="408646"/>
                </a:lnTo>
                <a:lnTo>
                  <a:pt x="547112" y="407832"/>
                </a:lnTo>
                <a:lnTo>
                  <a:pt x="547119" y="407166"/>
                </a:lnTo>
                <a:lnTo>
                  <a:pt x="547934" y="404799"/>
                </a:lnTo>
                <a:lnTo>
                  <a:pt x="548446" y="404270"/>
                </a:lnTo>
                <a:lnTo>
                  <a:pt x="550143" y="404264"/>
                </a:lnTo>
                <a:lnTo>
                  <a:pt x="552774" y="405600"/>
                </a:lnTo>
                <a:lnTo>
                  <a:pt x="554782" y="405021"/>
                </a:lnTo>
                <a:lnTo>
                  <a:pt x="555259" y="404120"/>
                </a:lnTo>
                <a:lnTo>
                  <a:pt x="555552" y="402322"/>
                </a:lnTo>
                <a:lnTo>
                  <a:pt x="556364" y="401332"/>
                </a:lnTo>
                <a:lnTo>
                  <a:pt x="556917" y="401184"/>
                </a:lnTo>
                <a:lnTo>
                  <a:pt x="558491" y="401675"/>
                </a:lnTo>
                <a:lnTo>
                  <a:pt x="559741" y="400786"/>
                </a:lnTo>
                <a:lnTo>
                  <a:pt x="560803" y="399460"/>
                </a:lnTo>
                <a:lnTo>
                  <a:pt x="561993" y="397045"/>
                </a:lnTo>
                <a:lnTo>
                  <a:pt x="562313" y="395791"/>
                </a:lnTo>
                <a:lnTo>
                  <a:pt x="562976" y="395023"/>
                </a:lnTo>
                <a:lnTo>
                  <a:pt x="564401" y="394942"/>
                </a:lnTo>
                <a:lnTo>
                  <a:pt x="565884" y="396312"/>
                </a:lnTo>
                <a:lnTo>
                  <a:pt x="568661" y="396995"/>
                </a:lnTo>
                <a:lnTo>
                  <a:pt x="570820" y="397919"/>
                </a:lnTo>
                <a:lnTo>
                  <a:pt x="571315" y="397193"/>
                </a:lnTo>
                <a:lnTo>
                  <a:pt x="571518" y="395895"/>
                </a:lnTo>
                <a:lnTo>
                  <a:pt x="572382" y="393327"/>
                </a:lnTo>
                <a:lnTo>
                  <a:pt x="572152" y="391829"/>
                </a:lnTo>
                <a:lnTo>
                  <a:pt x="571837" y="391289"/>
                </a:lnTo>
                <a:lnTo>
                  <a:pt x="570969" y="390750"/>
                </a:lnTo>
                <a:lnTo>
                  <a:pt x="570681" y="390153"/>
                </a:lnTo>
                <a:lnTo>
                  <a:pt x="570751" y="389085"/>
                </a:lnTo>
                <a:lnTo>
                  <a:pt x="572356" y="386661"/>
                </a:lnTo>
                <a:lnTo>
                  <a:pt x="575404" y="384999"/>
                </a:lnTo>
                <a:lnTo>
                  <a:pt x="576311" y="381198"/>
                </a:lnTo>
                <a:lnTo>
                  <a:pt x="578728" y="381253"/>
                </a:lnTo>
                <a:lnTo>
                  <a:pt x="580168" y="380789"/>
                </a:lnTo>
                <a:lnTo>
                  <a:pt x="582045" y="379769"/>
                </a:lnTo>
                <a:lnTo>
                  <a:pt x="583462" y="379936"/>
                </a:lnTo>
                <a:lnTo>
                  <a:pt x="584041" y="380234"/>
                </a:lnTo>
                <a:lnTo>
                  <a:pt x="584536" y="380950"/>
                </a:lnTo>
                <a:lnTo>
                  <a:pt x="584528" y="382463"/>
                </a:lnTo>
                <a:lnTo>
                  <a:pt x="584859" y="383183"/>
                </a:lnTo>
                <a:lnTo>
                  <a:pt x="585605" y="383674"/>
                </a:lnTo>
                <a:lnTo>
                  <a:pt x="586258" y="383757"/>
                </a:lnTo>
                <a:lnTo>
                  <a:pt x="587401" y="383128"/>
                </a:lnTo>
                <a:lnTo>
                  <a:pt x="588001" y="382281"/>
                </a:lnTo>
                <a:lnTo>
                  <a:pt x="588900" y="378986"/>
                </a:lnTo>
                <a:lnTo>
                  <a:pt x="589603" y="377387"/>
                </a:lnTo>
                <a:lnTo>
                  <a:pt x="590263" y="376750"/>
                </a:lnTo>
                <a:lnTo>
                  <a:pt x="593982" y="375382"/>
                </a:lnTo>
                <a:lnTo>
                  <a:pt x="595207" y="375435"/>
                </a:lnTo>
                <a:lnTo>
                  <a:pt x="596020" y="374941"/>
                </a:lnTo>
                <a:lnTo>
                  <a:pt x="596968" y="373446"/>
                </a:lnTo>
                <a:lnTo>
                  <a:pt x="597730" y="372750"/>
                </a:lnTo>
                <a:lnTo>
                  <a:pt x="599678" y="372455"/>
                </a:lnTo>
                <a:lnTo>
                  <a:pt x="601052" y="371988"/>
                </a:lnTo>
                <a:lnTo>
                  <a:pt x="603309" y="370285"/>
                </a:lnTo>
                <a:lnTo>
                  <a:pt x="603993" y="370263"/>
                </a:lnTo>
                <a:lnTo>
                  <a:pt x="604268" y="370657"/>
                </a:lnTo>
                <a:lnTo>
                  <a:pt x="603886" y="372750"/>
                </a:lnTo>
                <a:lnTo>
                  <a:pt x="604162" y="373411"/>
                </a:lnTo>
                <a:lnTo>
                  <a:pt x="605141" y="373735"/>
                </a:lnTo>
                <a:lnTo>
                  <a:pt x="606929" y="373159"/>
                </a:lnTo>
                <a:lnTo>
                  <a:pt x="608658" y="372030"/>
                </a:lnTo>
                <a:lnTo>
                  <a:pt x="609544" y="371744"/>
                </a:lnTo>
                <a:lnTo>
                  <a:pt x="610983" y="368856"/>
                </a:lnTo>
                <a:lnTo>
                  <a:pt x="611781" y="368368"/>
                </a:lnTo>
                <a:lnTo>
                  <a:pt x="612461" y="368506"/>
                </a:lnTo>
                <a:lnTo>
                  <a:pt x="613315" y="369188"/>
                </a:lnTo>
                <a:lnTo>
                  <a:pt x="613371" y="370202"/>
                </a:lnTo>
                <a:lnTo>
                  <a:pt x="614159" y="370990"/>
                </a:lnTo>
                <a:lnTo>
                  <a:pt x="614519" y="371161"/>
                </a:lnTo>
                <a:lnTo>
                  <a:pt x="616426" y="371076"/>
                </a:lnTo>
                <a:lnTo>
                  <a:pt x="618044" y="372635"/>
                </a:lnTo>
                <a:lnTo>
                  <a:pt x="618314" y="373923"/>
                </a:lnTo>
                <a:lnTo>
                  <a:pt x="618189" y="375343"/>
                </a:lnTo>
                <a:lnTo>
                  <a:pt x="619283" y="377162"/>
                </a:lnTo>
                <a:lnTo>
                  <a:pt x="619728" y="377333"/>
                </a:lnTo>
                <a:lnTo>
                  <a:pt x="620191" y="376631"/>
                </a:lnTo>
                <a:lnTo>
                  <a:pt x="620501" y="374753"/>
                </a:lnTo>
                <a:lnTo>
                  <a:pt x="620315" y="372510"/>
                </a:lnTo>
                <a:lnTo>
                  <a:pt x="620538" y="370410"/>
                </a:lnTo>
                <a:lnTo>
                  <a:pt x="619994" y="366481"/>
                </a:lnTo>
                <a:lnTo>
                  <a:pt x="621081" y="363460"/>
                </a:lnTo>
                <a:lnTo>
                  <a:pt x="623039" y="360996"/>
                </a:lnTo>
                <a:lnTo>
                  <a:pt x="624523" y="361524"/>
                </a:lnTo>
                <a:lnTo>
                  <a:pt x="624586" y="362129"/>
                </a:lnTo>
                <a:lnTo>
                  <a:pt x="623946" y="364322"/>
                </a:lnTo>
                <a:lnTo>
                  <a:pt x="625195" y="365677"/>
                </a:lnTo>
                <a:lnTo>
                  <a:pt x="627848" y="367647"/>
                </a:lnTo>
                <a:lnTo>
                  <a:pt x="629560" y="368366"/>
                </a:lnTo>
                <a:lnTo>
                  <a:pt x="630420" y="369115"/>
                </a:lnTo>
                <a:lnTo>
                  <a:pt x="632174" y="369881"/>
                </a:lnTo>
                <a:lnTo>
                  <a:pt x="633407" y="370987"/>
                </a:lnTo>
                <a:lnTo>
                  <a:pt x="635447" y="371658"/>
                </a:lnTo>
                <a:lnTo>
                  <a:pt x="637138" y="372069"/>
                </a:lnTo>
                <a:lnTo>
                  <a:pt x="638668" y="371867"/>
                </a:lnTo>
                <a:lnTo>
                  <a:pt x="640684" y="372006"/>
                </a:lnTo>
                <a:lnTo>
                  <a:pt x="641967" y="371631"/>
                </a:lnTo>
                <a:lnTo>
                  <a:pt x="643877" y="372281"/>
                </a:lnTo>
                <a:lnTo>
                  <a:pt x="645075" y="371099"/>
                </a:lnTo>
                <a:lnTo>
                  <a:pt x="646688" y="370520"/>
                </a:lnTo>
                <a:lnTo>
                  <a:pt x="647706" y="370410"/>
                </a:lnTo>
                <a:lnTo>
                  <a:pt x="648281" y="370583"/>
                </a:lnTo>
                <a:lnTo>
                  <a:pt x="649540" y="371630"/>
                </a:lnTo>
                <a:lnTo>
                  <a:pt x="652030" y="373025"/>
                </a:lnTo>
                <a:lnTo>
                  <a:pt x="653522" y="372279"/>
                </a:lnTo>
                <a:lnTo>
                  <a:pt x="654735" y="370510"/>
                </a:lnTo>
                <a:lnTo>
                  <a:pt x="655160" y="370240"/>
                </a:lnTo>
                <a:lnTo>
                  <a:pt x="655945" y="370083"/>
                </a:lnTo>
                <a:lnTo>
                  <a:pt x="656844" y="370405"/>
                </a:lnTo>
                <a:lnTo>
                  <a:pt x="657538" y="370829"/>
                </a:lnTo>
                <a:lnTo>
                  <a:pt x="657752" y="371319"/>
                </a:lnTo>
                <a:lnTo>
                  <a:pt x="657552" y="372965"/>
                </a:lnTo>
                <a:lnTo>
                  <a:pt x="657721" y="374516"/>
                </a:lnTo>
                <a:lnTo>
                  <a:pt x="657448" y="375703"/>
                </a:lnTo>
                <a:lnTo>
                  <a:pt x="656511" y="376629"/>
                </a:lnTo>
                <a:lnTo>
                  <a:pt x="656323" y="377406"/>
                </a:lnTo>
                <a:lnTo>
                  <a:pt x="658596" y="378915"/>
                </a:lnTo>
                <a:lnTo>
                  <a:pt x="660492" y="379446"/>
                </a:lnTo>
                <a:lnTo>
                  <a:pt x="661151" y="379372"/>
                </a:lnTo>
                <a:lnTo>
                  <a:pt x="661781" y="378794"/>
                </a:lnTo>
                <a:lnTo>
                  <a:pt x="661687" y="376561"/>
                </a:lnTo>
                <a:lnTo>
                  <a:pt x="662680" y="373960"/>
                </a:lnTo>
                <a:lnTo>
                  <a:pt x="664431" y="372864"/>
                </a:lnTo>
                <a:lnTo>
                  <a:pt x="665187" y="371019"/>
                </a:lnTo>
                <a:lnTo>
                  <a:pt x="666257" y="369650"/>
                </a:lnTo>
                <a:lnTo>
                  <a:pt x="667041" y="368981"/>
                </a:lnTo>
                <a:lnTo>
                  <a:pt x="668213" y="368715"/>
                </a:lnTo>
                <a:lnTo>
                  <a:pt x="669258" y="368039"/>
                </a:lnTo>
                <a:lnTo>
                  <a:pt x="670522" y="365382"/>
                </a:lnTo>
                <a:lnTo>
                  <a:pt x="671659" y="364859"/>
                </a:lnTo>
                <a:lnTo>
                  <a:pt x="672244" y="364154"/>
                </a:lnTo>
                <a:lnTo>
                  <a:pt x="673373" y="363501"/>
                </a:lnTo>
                <a:lnTo>
                  <a:pt x="673792" y="361831"/>
                </a:lnTo>
                <a:lnTo>
                  <a:pt x="674857" y="360890"/>
                </a:lnTo>
                <a:lnTo>
                  <a:pt x="675061" y="360509"/>
                </a:lnTo>
                <a:lnTo>
                  <a:pt x="675014" y="359797"/>
                </a:lnTo>
                <a:lnTo>
                  <a:pt x="675798" y="359381"/>
                </a:lnTo>
                <a:lnTo>
                  <a:pt x="677166" y="359301"/>
                </a:lnTo>
                <a:lnTo>
                  <a:pt x="679673" y="359617"/>
                </a:lnTo>
                <a:lnTo>
                  <a:pt x="680714" y="360723"/>
                </a:lnTo>
                <a:lnTo>
                  <a:pt x="680580" y="361939"/>
                </a:lnTo>
                <a:lnTo>
                  <a:pt x="680744" y="362507"/>
                </a:lnTo>
                <a:lnTo>
                  <a:pt x="682799" y="364240"/>
                </a:lnTo>
                <a:lnTo>
                  <a:pt x="683586" y="364557"/>
                </a:lnTo>
                <a:lnTo>
                  <a:pt x="684178" y="365654"/>
                </a:lnTo>
                <a:lnTo>
                  <a:pt x="684639" y="365788"/>
                </a:lnTo>
                <a:lnTo>
                  <a:pt x="684542" y="366409"/>
                </a:lnTo>
                <a:lnTo>
                  <a:pt x="684950" y="367810"/>
                </a:lnTo>
                <a:lnTo>
                  <a:pt x="685766" y="367931"/>
                </a:lnTo>
                <a:lnTo>
                  <a:pt x="686387" y="367301"/>
                </a:lnTo>
                <a:lnTo>
                  <a:pt x="686886" y="367237"/>
                </a:lnTo>
                <a:lnTo>
                  <a:pt x="687556" y="367825"/>
                </a:lnTo>
                <a:lnTo>
                  <a:pt x="687844" y="369418"/>
                </a:lnTo>
                <a:lnTo>
                  <a:pt x="688850" y="369807"/>
                </a:lnTo>
                <a:lnTo>
                  <a:pt x="689114" y="370813"/>
                </a:lnTo>
                <a:lnTo>
                  <a:pt x="690136" y="371414"/>
                </a:lnTo>
                <a:lnTo>
                  <a:pt x="691110" y="371420"/>
                </a:lnTo>
                <a:lnTo>
                  <a:pt x="692507" y="370422"/>
                </a:lnTo>
                <a:lnTo>
                  <a:pt x="694931" y="367312"/>
                </a:lnTo>
                <a:lnTo>
                  <a:pt x="695528" y="367471"/>
                </a:lnTo>
                <a:lnTo>
                  <a:pt x="697160" y="365938"/>
                </a:lnTo>
                <a:lnTo>
                  <a:pt x="699495" y="365395"/>
                </a:lnTo>
                <a:lnTo>
                  <a:pt x="700192" y="364880"/>
                </a:lnTo>
                <a:lnTo>
                  <a:pt x="700988" y="361673"/>
                </a:lnTo>
                <a:lnTo>
                  <a:pt x="701988" y="359438"/>
                </a:lnTo>
                <a:lnTo>
                  <a:pt x="702506" y="359010"/>
                </a:lnTo>
                <a:lnTo>
                  <a:pt x="703770" y="358787"/>
                </a:lnTo>
                <a:lnTo>
                  <a:pt x="705454" y="357678"/>
                </a:lnTo>
                <a:lnTo>
                  <a:pt x="705464" y="355695"/>
                </a:lnTo>
                <a:lnTo>
                  <a:pt x="706595" y="353264"/>
                </a:lnTo>
                <a:lnTo>
                  <a:pt x="706202" y="352257"/>
                </a:lnTo>
                <a:lnTo>
                  <a:pt x="704888" y="350739"/>
                </a:lnTo>
                <a:lnTo>
                  <a:pt x="704858" y="350279"/>
                </a:lnTo>
                <a:lnTo>
                  <a:pt x="705432" y="349299"/>
                </a:lnTo>
                <a:lnTo>
                  <a:pt x="706909" y="348709"/>
                </a:lnTo>
                <a:lnTo>
                  <a:pt x="708350" y="349220"/>
                </a:lnTo>
                <a:lnTo>
                  <a:pt x="709535" y="349309"/>
                </a:lnTo>
                <a:lnTo>
                  <a:pt x="711303" y="347767"/>
                </a:lnTo>
                <a:lnTo>
                  <a:pt x="712101" y="347469"/>
                </a:lnTo>
                <a:lnTo>
                  <a:pt x="714047" y="348792"/>
                </a:lnTo>
                <a:lnTo>
                  <a:pt x="715013" y="348430"/>
                </a:lnTo>
                <a:lnTo>
                  <a:pt x="715931" y="347646"/>
                </a:lnTo>
                <a:lnTo>
                  <a:pt x="716056" y="346804"/>
                </a:lnTo>
                <a:lnTo>
                  <a:pt x="714300" y="344521"/>
                </a:lnTo>
                <a:lnTo>
                  <a:pt x="714322" y="343353"/>
                </a:lnTo>
                <a:lnTo>
                  <a:pt x="715729" y="342998"/>
                </a:lnTo>
                <a:lnTo>
                  <a:pt x="717335" y="341999"/>
                </a:lnTo>
                <a:close/>
              </a:path>
            </a:pathLst>
          </a:custGeom>
          <a:solidFill>
            <a:srgbClr val="BACCE4"/>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Freeform 31"/>
          <p:cNvSpPr/>
          <p:nvPr/>
        </p:nvSpPr>
        <p:spPr>
          <a:xfrm>
            <a:off x="2610174" y="3435204"/>
            <a:ext cx="1285639" cy="1312563"/>
          </a:xfrm>
          <a:custGeom>
            <a:avLst/>
            <a:gdLst/>
            <a:ahLst/>
            <a:cxnLst/>
            <a:rect l="l" t="t" r="r" b="b"/>
            <a:pathLst>
              <a:path w="1285639" h="1312563">
                <a:moveTo>
                  <a:pt x="1274552" y="934272"/>
                </a:moveTo>
                <a:lnTo>
                  <a:pt x="1272701" y="931804"/>
                </a:lnTo>
                <a:lnTo>
                  <a:pt x="1268254" y="928208"/>
                </a:lnTo>
                <a:lnTo>
                  <a:pt x="1267990" y="927811"/>
                </a:lnTo>
                <a:lnTo>
                  <a:pt x="1268076" y="927084"/>
                </a:lnTo>
                <a:lnTo>
                  <a:pt x="1267810" y="926711"/>
                </a:lnTo>
                <a:lnTo>
                  <a:pt x="1266105" y="925795"/>
                </a:lnTo>
                <a:lnTo>
                  <a:pt x="1265209" y="925941"/>
                </a:lnTo>
                <a:lnTo>
                  <a:pt x="1261818" y="923657"/>
                </a:lnTo>
                <a:lnTo>
                  <a:pt x="1260266" y="923471"/>
                </a:lnTo>
                <a:lnTo>
                  <a:pt x="1259371" y="924356"/>
                </a:lnTo>
                <a:lnTo>
                  <a:pt x="1258414" y="924456"/>
                </a:lnTo>
                <a:lnTo>
                  <a:pt x="1256981" y="923471"/>
                </a:lnTo>
                <a:lnTo>
                  <a:pt x="1256096" y="923360"/>
                </a:lnTo>
                <a:lnTo>
                  <a:pt x="1255353" y="923892"/>
                </a:lnTo>
                <a:lnTo>
                  <a:pt x="1255014" y="925270"/>
                </a:lnTo>
                <a:lnTo>
                  <a:pt x="1254690" y="925715"/>
                </a:lnTo>
                <a:lnTo>
                  <a:pt x="1252962" y="926451"/>
                </a:lnTo>
                <a:lnTo>
                  <a:pt x="1252127" y="926354"/>
                </a:lnTo>
                <a:lnTo>
                  <a:pt x="1249149" y="923500"/>
                </a:lnTo>
                <a:lnTo>
                  <a:pt x="1248502" y="921090"/>
                </a:lnTo>
                <a:lnTo>
                  <a:pt x="1247351" y="920219"/>
                </a:lnTo>
                <a:lnTo>
                  <a:pt x="1246131" y="918145"/>
                </a:lnTo>
                <a:lnTo>
                  <a:pt x="1245171" y="917020"/>
                </a:lnTo>
                <a:lnTo>
                  <a:pt x="1243600" y="916137"/>
                </a:lnTo>
                <a:lnTo>
                  <a:pt x="1243067" y="914684"/>
                </a:lnTo>
                <a:lnTo>
                  <a:pt x="1242493" y="913931"/>
                </a:lnTo>
                <a:lnTo>
                  <a:pt x="1241938" y="913853"/>
                </a:lnTo>
                <a:lnTo>
                  <a:pt x="1241076" y="914515"/>
                </a:lnTo>
                <a:lnTo>
                  <a:pt x="1238952" y="914725"/>
                </a:lnTo>
                <a:lnTo>
                  <a:pt x="1237978" y="914544"/>
                </a:lnTo>
                <a:lnTo>
                  <a:pt x="1236124" y="913624"/>
                </a:lnTo>
                <a:lnTo>
                  <a:pt x="1235327" y="911300"/>
                </a:lnTo>
                <a:lnTo>
                  <a:pt x="1233032" y="909615"/>
                </a:lnTo>
                <a:lnTo>
                  <a:pt x="1232062" y="908166"/>
                </a:lnTo>
                <a:lnTo>
                  <a:pt x="1231043" y="907282"/>
                </a:lnTo>
                <a:lnTo>
                  <a:pt x="1231105" y="906304"/>
                </a:lnTo>
                <a:lnTo>
                  <a:pt x="1232239" y="905725"/>
                </a:lnTo>
                <a:lnTo>
                  <a:pt x="1231768" y="904609"/>
                </a:lnTo>
                <a:lnTo>
                  <a:pt x="1230242" y="903030"/>
                </a:lnTo>
                <a:lnTo>
                  <a:pt x="1229316" y="901626"/>
                </a:lnTo>
                <a:lnTo>
                  <a:pt x="1227326" y="900966"/>
                </a:lnTo>
                <a:lnTo>
                  <a:pt x="1225655" y="899180"/>
                </a:lnTo>
                <a:lnTo>
                  <a:pt x="1225339" y="898275"/>
                </a:lnTo>
                <a:lnTo>
                  <a:pt x="1224095" y="896286"/>
                </a:lnTo>
                <a:lnTo>
                  <a:pt x="1223284" y="893359"/>
                </a:lnTo>
                <a:lnTo>
                  <a:pt x="1221164" y="892342"/>
                </a:lnTo>
                <a:lnTo>
                  <a:pt x="1219885" y="891124"/>
                </a:lnTo>
                <a:lnTo>
                  <a:pt x="1218825" y="890708"/>
                </a:lnTo>
                <a:lnTo>
                  <a:pt x="1217029" y="890731"/>
                </a:lnTo>
                <a:lnTo>
                  <a:pt x="1215839" y="891741"/>
                </a:lnTo>
                <a:lnTo>
                  <a:pt x="1215227" y="891538"/>
                </a:lnTo>
                <a:lnTo>
                  <a:pt x="1214859" y="888744"/>
                </a:lnTo>
                <a:lnTo>
                  <a:pt x="1215839" y="887405"/>
                </a:lnTo>
                <a:lnTo>
                  <a:pt x="1216452" y="885211"/>
                </a:lnTo>
                <a:lnTo>
                  <a:pt x="1216529" y="884141"/>
                </a:lnTo>
                <a:lnTo>
                  <a:pt x="1214797" y="879293"/>
                </a:lnTo>
                <a:lnTo>
                  <a:pt x="1214110" y="878896"/>
                </a:lnTo>
                <a:lnTo>
                  <a:pt x="1213241" y="878855"/>
                </a:lnTo>
                <a:lnTo>
                  <a:pt x="1212416" y="879204"/>
                </a:lnTo>
                <a:lnTo>
                  <a:pt x="1211088" y="880224"/>
                </a:lnTo>
                <a:lnTo>
                  <a:pt x="1210362" y="880434"/>
                </a:lnTo>
                <a:lnTo>
                  <a:pt x="1208072" y="879851"/>
                </a:lnTo>
                <a:lnTo>
                  <a:pt x="1207240" y="878910"/>
                </a:lnTo>
                <a:lnTo>
                  <a:pt x="1206668" y="877160"/>
                </a:lnTo>
                <a:lnTo>
                  <a:pt x="1204872" y="876213"/>
                </a:lnTo>
                <a:lnTo>
                  <a:pt x="1202562" y="873670"/>
                </a:lnTo>
                <a:lnTo>
                  <a:pt x="1202602" y="872843"/>
                </a:lnTo>
                <a:lnTo>
                  <a:pt x="1203809" y="871558"/>
                </a:lnTo>
                <a:lnTo>
                  <a:pt x="1203881" y="870357"/>
                </a:lnTo>
                <a:lnTo>
                  <a:pt x="1203669" y="869538"/>
                </a:lnTo>
                <a:lnTo>
                  <a:pt x="1203310" y="869341"/>
                </a:lnTo>
                <a:lnTo>
                  <a:pt x="1202531" y="869399"/>
                </a:lnTo>
                <a:lnTo>
                  <a:pt x="1202057" y="868799"/>
                </a:lnTo>
                <a:lnTo>
                  <a:pt x="1200862" y="868145"/>
                </a:lnTo>
                <a:lnTo>
                  <a:pt x="1200341" y="866425"/>
                </a:lnTo>
                <a:lnTo>
                  <a:pt x="1199635" y="865424"/>
                </a:lnTo>
                <a:lnTo>
                  <a:pt x="1198957" y="865430"/>
                </a:lnTo>
                <a:lnTo>
                  <a:pt x="1197570" y="866851"/>
                </a:lnTo>
                <a:lnTo>
                  <a:pt x="1196567" y="866748"/>
                </a:lnTo>
                <a:lnTo>
                  <a:pt x="1196116" y="866366"/>
                </a:lnTo>
                <a:lnTo>
                  <a:pt x="1195522" y="864712"/>
                </a:lnTo>
                <a:lnTo>
                  <a:pt x="1195471" y="862744"/>
                </a:lnTo>
                <a:lnTo>
                  <a:pt x="1193591" y="860973"/>
                </a:lnTo>
                <a:lnTo>
                  <a:pt x="1193432" y="858659"/>
                </a:lnTo>
                <a:lnTo>
                  <a:pt x="1192169" y="854727"/>
                </a:lnTo>
                <a:lnTo>
                  <a:pt x="1191629" y="854115"/>
                </a:lnTo>
                <a:lnTo>
                  <a:pt x="1188420" y="852925"/>
                </a:lnTo>
                <a:lnTo>
                  <a:pt x="1187494" y="852007"/>
                </a:lnTo>
                <a:lnTo>
                  <a:pt x="1187327" y="851568"/>
                </a:lnTo>
                <a:lnTo>
                  <a:pt x="1187646" y="848371"/>
                </a:lnTo>
                <a:lnTo>
                  <a:pt x="1186864" y="847901"/>
                </a:lnTo>
                <a:lnTo>
                  <a:pt x="1185916" y="846759"/>
                </a:lnTo>
                <a:lnTo>
                  <a:pt x="1184766" y="846253"/>
                </a:lnTo>
                <a:lnTo>
                  <a:pt x="1184267" y="843956"/>
                </a:lnTo>
                <a:lnTo>
                  <a:pt x="1182777" y="842742"/>
                </a:lnTo>
                <a:lnTo>
                  <a:pt x="1182002" y="841318"/>
                </a:lnTo>
                <a:lnTo>
                  <a:pt x="1181775" y="840398"/>
                </a:lnTo>
                <a:lnTo>
                  <a:pt x="1182123" y="838483"/>
                </a:lnTo>
                <a:lnTo>
                  <a:pt x="1182343" y="838062"/>
                </a:lnTo>
                <a:lnTo>
                  <a:pt x="1183351" y="837271"/>
                </a:lnTo>
                <a:lnTo>
                  <a:pt x="1183466" y="836734"/>
                </a:lnTo>
                <a:lnTo>
                  <a:pt x="1182866" y="834922"/>
                </a:lnTo>
                <a:lnTo>
                  <a:pt x="1181520" y="832857"/>
                </a:lnTo>
                <a:lnTo>
                  <a:pt x="1180806" y="832481"/>
                </a:lnTo>
                <a:lnTo>
                  <a:pt x="1178693" y="832007"/>
                </a:lnTo>
                <a:lnTo>
                  <a:pt x="1176315" y="831838"/>
                </a:lnTo>
                <a:lnTo>
                  <a:pt x="1175403" y="831299"/>
                </a:lnTo>
                <a:lnTo>
                  <a:pt x="1171688" y="831701"/>
                </a:lnTo>
                <a:lnTo>
                  <a:pt x="1170106" y="831130"/>
                </a:lnTo>
                <a:lnTo>
                  <a:pt x="1168875" y="830324"/>
                </a:lnTo>
                <a:lnTo>
                  <a:pt x="1167757" y="830152"/>
                </a:lnTo>
                <a:lnTo>
                  <a:pt x="1164797" y="828992"/>
                </a:lnTo>
                <a:lnTo>
                  <a:pt x="1164360" y="828327"/>
                </a:lnTo>
                <a:lnTo>
                  <a:pt x="1164121" y="826669"/>
                </a:lnTo>
                <a:lnTo>
                  <a:pt x="1163198" y="823621"/>
                </a:lnTo>
                <a:lnTo>
                  <a:pt x="1163934" y="818300"/>
                </a:lnTo>
                <a:lnTo>
                  <a:pt x="1163547" y="817144"/>
                </a:lnTo>
                <a:lnTo>
                  <a:pt x="1162740" y="816703"/>
                </a:lnTo>
                <a:lnTo>
                  <a:pt x="1161818" y="816637"/>
                </a:lnTo>
                <a:lnTo>
                  <a:pt x="1161410" y="817074"/>
                </a:lnTo>
                <a:lnTo>
                  <a:pt x="1161361" y="817927"/>
                </a:lnTo>
                <a:lnTo>
                  <a:pt x="1160764" y="818633"/>
                </a:lnTo>
                <a:lnTo>
                  <a:pt x="1155529" y="818601"/>
                </a:lnTo>
                <a:lnTo>
                  <a:pt x="1153849" y="817553"/>
                </a:lnTo>
                <a:lnTo>
                  <a:pt x="1152203" y="816157"/>
                </a:lnTo>
                <a:lnTo>
                  <a:pt x="1149421" y="813177"/>
                </a:lnTo>
                <a:lnTo>
                  <a:pt x="1148153" y="810736"/>
                </a:lnTo>
                <a:lnTo>
                  <a:pt x="1147547" y="808583"/>
                </a:lnTo>
                <a:lnTo>
                  <a:pt x="1147031" y="807886"/>
                </a:lnTo>
                <a:lnTo>
                  <a:pt x="1145991" y="807465"/>
                </a:lnTo>
                <a:lnTo>
                  <a:pt x="1143812" y="807928"/>
                </a:lnTo>
                <a:lnTo>
                  <a:pt x="1141894" y="807314"/>
                </a:lnTo>
                <a:lnTo>
                  <a:pt x="1140814" y="806502"/>
                </a:lnTo>
                <a:lnTo>
                  <a:pt x="1140694" y="805979"/>
                </a:lnTo>
                <a:lnTo>
                  <a:pt x="1140929" y="804508"/>
                </a:lnTo>
                <a:lnTo>
                  <a:pt x="1140138" y="803218"/>
                </a:lnTo>
                <a:lnTo>
                  <a:pt x="1138668" y="802717"/>
                </a:lnTo>
                <a:lnTo>
                  <a:pt x="1134712" y="802343"/>
                </a:lnTo>
                <a:lnTo>
                  <a:pt x="1133939" y="802403"/>
                </a:lnTo>
                <a:lnTo>
                  <a:pt x="1133047" y="803045"/>
                </a:lnTo>
                <a:lnTo>
                  <a:pt x="1131883" y="802980"/>
                </a:lnTo>
                <a:lnTo>
                  <a:pt x="1131357" y="801551"/>
                </a:lnTo>
                <a:lnTo>
                  <a:pt x="1129885" y="800789"/>
                </a:lnTo>
                <a:lnTo>
                  <a:pt x="1127909" y="798895"/>
                </a:lnTo>
                <a:lnTo>
                  <a:pt x="1126753" y="796423"/>
                </a:lnTo>
                <a:lnTo>
                  <a:pt x="1124763" y="793163"/>
                </a:lnTo>
                <a:lnTo>
                  <a:pt x="1123107" y="788832"/>
                </a:lnTo>
                <a:lnTo>
                  <a:pt x="1121949" y="787792"/>
                </a:lnTo>
                <a:lnTo>
                  <a:pt x="1120095" y="786598"/>
                </a:lnTo>
                <a:lnTo>
                  <a:pt x="1119300" y="784997"/>
                </a:lnTo>
                <a:lnTo>
                  <a:pt x="1119972" y="778353"/>
                </a:lnTo>
                <a:lnTo>
                  <a:pt x="1119797" y="777844"/>
                </a:lnTo>
                <a:lnTo>
                  <a:pt x="1119009" y="777393"/>
                </a:lnTo>
                <a:lnTo>
                  <a:pt x="1163845" y="684805"/>
                </a:lnTo>
                <a:lnTo>
                  <a:pt x="1198274" y="615674"/>
                </a:lnTo>
                <a:lnTo>
                  <a:pt x="1187780" y="612212"/>
                </a:lnTo>
                <a:lnTo>
                  <a:pt x="1193597" y="594574"/>
                </a:lnTo>
                <a:lnTo>
                  <a:pt x="1190638" y="592416"/>
                </a:lnTo>
                <a:lnTo>
                  <a:pt x="1195582" y="585917"/>
                </a:lnTo>
                <a:lnTo>
                  <a:pt x="1196352" y="586216"/>
                </a:lnTo>
                <a:lnTo>
                  <a:pt x="1203752" y="563741"/>
                </a:lnTo>
                <a:lnTo>
                  <a:pt x="1197038" y="561330"/>
                </a:lnTo>
                <a:lnTo>
                  <a:pt x="1194259" y="554900"/>
                </a:lnTo>
                <a:lnTo>
                  <a:pt x="1199219" y="555643"/>
                </a:lnTo>
                <a:lnTo>
                  <a:pt x="1202290" y="551181"/>
                </a:lnTo>
                <a:lnTo>
                  <a:pt x="1207682" y="551839"/>
                </a:lnTo>
                <a:lnTo>
                  <a:pt x="1216967" y="523401"/>
                </a:lnTo>
                <a:lnTo>
                  <a:pt x="1215825" y="524017"/>
                </a:lnTo>
                <a:lnTo>
                  <a:pt x="1214354" y="523902"/>
                </a:lnTo>
                <a:lnTo>
                  <a:pt x="1212846" y="524715"/>
                </a:lnTo>
                <a:lnTo>
                  <a:pt x="1210791" y="524332"/>
                </a:lnTo>
                <a:lnTo>
                  <a:pt x="1209155" y="524553"/>
                </a:lnTo>
                <a:lnTo>
                  <a:pt x="1208584" y="525193"/>
                </a:lnTo>
                <a:lnTo>
                  <a:pt x="1208183" y="526434"/>
                </a:lnTo>
                <a:lnTo>
                  <a:pt x="1207151" y="528156"/>
                </a:lnTo>
                <a:lnTo>
                  <a:pt x="1205865" y="529704"/>
                </a:lnTo>
                <a:lnTo>
                  <a:pt x="1188838" y="500322"/>
                </a:lnTo>
                <a:lnTo>
                  <a:pt x="1191098" y="499108"/>
                </a:lnTo>
                <a:lnTo>
                  <a:pt x="1191971" y="499508"/>
                </a:lnTo>
                <a:lnTo>
                  <a:pt x="1192788" y="499390"/>
                </a:lnTo>
                <a:lnTo>
                  <a:pt x="1192825" y="498568"/>
                </a:lnTo>
                <a:lnTo>
                  <a:pt x="1193131" y="498747"/>
                </a:lnTo>
                <a:lnTo>
                  <a:pt x="1192725" y="498363"/>
                </a:lnTo>
                <a:lnTo>
                  <a:pt x="1192745" y="497900"/>
                </a:lnTo>
                <a:lnTo>
                  <a:pt x="1193391" y="496658"/>
                </a:lnTo>
                <a:lnTo>
                  <a:pt x="1191301" y="497105"/>
                </a:lnTo>
                <a:lnTo>
                  <a:pt x="1220306" y="463312"/>
                </a:lnTo>
                <a:lnTo>
                  <a:pt x="1218441" y="462225"/>
                </a:lnTo>
                <a:lnTo>
                  <a:pt x="1213432" y="460215"/>
                </a:lnTo>
                <a:lnTo>
                  <a:pt x="1209637" y="460475"/>
                </a:lnTo>
                <a:lnTo>
                  <a:pt x="1197094" y="462291"/>
                </a:lnTo>
                <a:lnTo>
                  <a:pt x="1192623" y="462436"/>
                </a:lnTo>
                <a:lnTo>
                  <a:pt x="1184981" y="463381"/>
                </a:lnTo>
                <a:lnTo>
                  <a:pt x="1184338" y="462805"/>
                </a:lnTo>
                <a:lnTo>
                  <a:pt x="1184391" y="461969"/>
                </a:lnTo>
                <a:lnTo>
                  <a:pt x="1183690" y="460987"/>
                </a:lnTo>
                <a:lnTo>
                  <a:pt x="1184100" y="460191"/>
                </a:lnTo>
                <a:lnTo>
                  <a:pt x="1183955" y="459339"/>
                </a:lnTo>
                <a:lnTo>
                  <a:pt x="1184177" y="458813"/>
                </a:lnTo>
                <a:lnTo>
                  <a:pt x="1184159" y="457192"/>
                </a:lnTo>
                <a:lnTo>
                  <a:pt x="1184535" y="456044"/>
                </a:lnTo>
                <a:lnTo>
                  <a:pt x="1183982" y="454410"/>
                </a:lnTo>
                <a:lnTo>
                  <a:pt x="1182957" y="453948"/>
                </a:lnTo>
                <a:lnTo>
                  <a:pt x="1182341" y="452304"/>
                </a:lnTo>
                <a:lnTo>
                  <a:pt x="1182137" y="449948"/>
                </a:lnTo>
                <a:lnTo>
                  <a:pt x="1182404" y="448741"/>
                </a:lnTo>
                <a:lnTo>
                  <a:pt x="1182656" y="448489"/>
                </a:lnTo>
                <a:lnTo>
                  <a:pt x="1182669" y="447743"/>
                </a:lnTo>
                <a:lnTo>
                  <a:pt x="1178717" y="448515"/>
                </a:lnTo>
                <a:lnTo>
                  <a:pt x="1179450" y="452323"/>
                </a:lnTo>
                <a:lnTo>
                  <a:pt x="1169447" y="454192"/>
                </a:lnTo>
                <a:lnTo>
                  <a:pt x="1169367" y="455618"/>
                </a:lnTo>
                <a:lnTo>
                  <a:pt x="1167405" y="457671"/>
                </a:lnTo>
                <a:lnTo>
                  <a:pt x="1167479" y="458019"/>
                </a:lnTo>
                <a:lnTo>
                  <a:pt x="1168302" y="458834"/>
                </a:lnTo>
                <a:lnTo>
                  <a:pt x="1168512" y="459519"/>
                </a:lnTo>
                <a:lnTo>
                  <a:pt x="1168138" y="459845"/>
                </a:lnTo>
                <a:lnTo>
                  <a:pt x="1167326" y="459763"/>
                </a:lnTo>
                <a:lnTo>
                  <a:pt x="1166874" y="459962"/>
                </a:lnTo>
                <a:lnTo>
                  <a:pt x="1166608" y="460665"/>
                </a:lnTo>
                <a:lnTo>
                  <a:pt x="1166954" y="461925"/>
                </a:lnTo>
                <a:lnTo>
                  <a:pt x="1167807" y="463547"/>
                </a:lnTo>
                <a:lnTo>
                  <a:pt x="1169835" y="465940"/>
                </a:lnTo>
                <a:lnTo>
                  <a:pt x="1169570" y="468738"/>
                </a:lnTo>
                <a:lnTo>
                  <a:pt x="1167666" y="469311"/>
                </a:lnTo>
                <a:lnTo>
                  <a:pt x="1166210" y="472893"/>
                </a:lnTo>
                <a:lnTo>
                  <a:pt x="1166964" y="474236"/>
                </a:lnTo>
                <a:lnTo>
                  <a:pt x="1166579" y="476310"/>
                </a:lnTo>
                <a:lnTo>
                  <a:pt x="1166014" y="476863"/>
                </a:lnTo>
                <a:lnTo>
                  <a:pt x="1164965" y="476623"/>
                </a:lnTo>
                <a:lnTo>
                  <a:pt x="1164505" y="477603"/>
                </a:lnTo>
                <a:lnTo>
                  <a:pt x="1170286" y="483642"/>
                </a:lnTo>
                <a:lnTo>
                  <a:pt x="1169065" y="484346"/>
                </a:lnTo>
                <a:lnTo>
                  <a:pt x="1168669" y="484954"/>
                </a:lnTo>
                <a:lnTo>
                  <a:pt x="1168708" y="485377"/>
                </a:lnTo>
                <a:lnTo>
                  <a:pt x="1169645" y="485943"/>
                </a:lnTo>
                <a:lnTo>
                  <a:pt x="1169910" y="486741"/>
                </a:lnTo>
                <a:lnTo>
                  <a:pt x="1169107" y="487189"/>
                </a:lnTo>
                <a:lnTo>
                  <a:pt x="1168983" y="487531"/>
                </a:lnTo>
                <a:lnTo>
                  <a:pt x="1168772" y="487193"/>
                </a:lnTo>
                <a:lnTo>
                  <a:pt x="1167692" y="486975"/>
                </a:lnTo>
                <a:lnTo>
                  <a:pt x="1167276" y="487200"/>
                </a:lnTo>
                <a:lnTo>
                  <a:pt x="1166288" y="487091"/>
                </a:lnTo>
                <a:lnTo>
                  <a:pt x="1166057" y="487391"/>
                </a:lnTo>
                <a:lnTo>
                  <a:pt x="1165371" y="487598"/>
                </a:lnTo>
                <a:lnTo>
                  <a:pt x="1164401" y="487532"/>
                </a:lnTo>
                <a:lnTo>
                  <a:pt x="1164126" y="487969"/>
                </a:lnTo>
                <a:lnTo>
                  <a:pt x="1164112" y="489264"/>
                </a:lnTo>
                <a:lnTo>
                  <a:pt x="1163493" y="490261"/>
                </a:lnTo>
                <a:lnTo>
                  <a:pt x="1163467" y="491406"/>
                </a:lnTo>
                <a:lnTo>
                  <a:pt x="1163098" y="492201"/>
                </a:lnTo>
                <a:lnTo>
                  <a:pt x="1162489" y="493127"/>
                </a:lnTo>
                <a:lnTo>
                  <a:pt x="1161944" y="493142"/>
                </a:lnTo>
                <a:lnTo>
                  <a:pt x="1160682" y="493742"/>
                </a:lnTo>
                <a:lnTo>
                  <a:pt x="1160627" y="494974"/>
                </a:lnTo>
                <a:lnTo>
                  <a:pt x="1160321" y="495595"/>
                </a:lnTo>
                <a:lnTo>
                  <a:pt x="1158758" y="495912"/>
                </a:lnTo>
                <a:lnTo>
                  <a:pt x="1157932" y="495367"/>
                </a:lnTo>
                <a:lnTo>
                  <a:pt x="1157692" y="494747"/>
                </a:lnTo>
                <a:lnTo>
                  <a:pt x="1157045" y="494855"/>
                </a:lnTo>
                <a:lnTo>
                  <a:pt x="1156886" y="495264"/>
                </a:lnTo>
                <a:lnTo>
                  <a:pt x="1157043" y="495307"/>
                </a:lnTo>
                <a:lnTo>
                  <a:pt x="1157006" y="496478"/>
                </a:lnTo>
                <a:lnTo>
                  <a:pt x="1157663" y="496722"/>
                </a:lnTo>
                <a:lnTo>
                  <a:pt x="1158493" y="497611"/>
                </a:lnTo>
                <a:lnTo>
                  <a:pt x="1158636" y="498541"/>
                </a:lnTo>
                <a:lnTo>
                  <a:pt x="1159183" y="499446"/>
                </a:lnTo>
                <a:lnTo>
                  <a:pt x="1159676" y="499730"/>
                </a:lnTo>
                <a:lnTo>
                  <a:pt x="1160116" y="500807"/>
                </a:lnTo>
                <a:lnTo>
                  <a:pt x="1159790" y="501231"/>
                </a:lnTo>
                <a:lnTo>
                  <a:pt x="1159858" y="501854"/>
                </a:lnTo>
                <a:lnTo>
                  <a:pt x="1158813" y="503354"/>
                </a:lnTo>
                <a:lnTo>
                  <a:pt x="1159147" y="504944"/>
                </a:lnTo>
                <a:lnTo>
                  <a:pt x="1159760" y="505260"/>
                </a:lnTo>
                <a:lnTo>
                  <a:pt x="1159633" y="505927"/>
                </a:lnTo>
                <a:lnTo>
                  <a:pt x="1159101" y="506692"/>
                </a:lnTo>
                <a:lnTo>
                  <a:pt x="1159219" y="507025"/>
                </a:lnTo>
                <a:lnTo>
                  <a:pt x="1158940" y="507167"/>
                </a:lnTo>
                <a:lnTo>
                  <a:pt x="1159261" y="507429"/>
                </a:lnTo>
                <a:lnTo>
                  <a:pt x="1158952" y="507790"/>
                </a:lnTo>
                <a:lnTo>
                  <a:pt x="1159512" y="509690"/>
                </a:lnTo>
                <a:lnTo>
                  <a:pt x="1159861" y="509735"/>
                </a:lnTo>
                <a:lnTo>
                  <a:pt x="1160145" y="510292"/>
                </a:lnTo>
                <a:lnTo>
                  <a:pt x="1159853" y="510739"/>
                </a:lnTo>
                <a:lnTo>
                  <a:pt x="1159995" y="511131"/>
                </a:lnTo>
                <a:lnTo>
                  <a:pt x="1159497" y="511078"/>
                </a:lnTo>
                <a:lnTo>
                  <a:pt x="1159263" y="511473"/>
                </a:lnTo>
                <a:lnTo>
                  <a:pt x="1158930" y="511392"/>
                </a:lnTo>
                <a:lnTo>
                  <a:pt x="1158307" y="512243"/>
                </a:lnTo>
                <a:lnTo>
                  <a:pt x="1158376" y="512488"/>
                </a:lnTo>
                <a:lnTo>
                  <a:pt x="1157105" y="513076"/>
                </a:lnTo>
                <a:lnTo>
                  <a:pt x="1157168" y="513610"/>
                </a:lnTo>
                <a:lnTo>
                  <a:pt x="1157948" y="514476"/>
                </a:lnTo>
                <a:lnTo>
                  <a:pt x="1157983" y="514791"/>
                </a:lnTo>
                <a:lnTo>
                  <a:pt x="1157204" y="515577"/>
                </a:lnTo>
                <a:lnTo>
                  <a:pt x="1157077" y="515403"/>
                </a:lnTo>
                <a:lnTo>
                  <a:pt x="1156375" y="515879"/>
                </a:lnTo>
                <a:lnTo>
                  <a:pt x="1155091" y="515792"/>
                </a:lnTo>
                <a:lnTo>
                  <a:pt x="1154762" y="516220"/>
                </a:lnTo>
                <a:lnTo>
                  <a:pt x="1154316" y="515660"/>
                </a:lnTo>
                <a:lnTo>
                  <a:pt x="1152894" y="516421"/>
                </a:lnTo>
                <a:lnTo>
                  <a:pt x="1151128" y="516760"/>
                </a:lnTo>
                <a:lnTo>
                  <a:pt x="1150133" y="517399"/>
                </a:lnTo>
                <a:lnTo>
                  <a:pt x="1149882" y="518318"/>
                </a:lnTo>
                <a:lnTo>
                  <a:pt x="1150647" y="520319"/>
                </a:lnTo>
                <a:lnTo>
                  <a:pt x="1150713" y="522428"/>
                </a:lnTo>
                <a:lnTo>
                  <a:pt x="1150166" y="523175"/>
                </a:lnTo>
                <a:lnTo>
                  <a:pt x="1149123" y="523770"/>
                </a:lnTo>
                <a:lnTo>
                  <a:pt x="1146551" y="525959"/>
                </a:lnTo>
                <a:lnTo>
                  <a:pt x="1136722" y="516870"/>
                </a:lnTo>
                <a:lnTo>
                  <a:pt x="1133737" y="516227"/>
                </a:lnTo>
                <a:lnTo>
                  <a:pt x="1135761" y="513152"/>
                </a:lnTo>
                <a:lnTo>
                  <a:pt x="1137130" y="510576"/>
                </a:lnTo>
                <a:lnTo>
                  <a:pt x="1137014" y="507981"/>
                </a:lnTo>
                <a:lnTo>
                  <a:pt x="1128857" y="498741"/>
                </a:lnTo>
                <a:lnTo>
                  <a:pt x="1126366" y="501669"/>
                </a:lnTo>
                <a:lnTo>
                  <a:pt x="1121792" y="496688"/>
                </a:lnTo>
                <a:lnTo>
                  <a:pt x="1128888" y="485786"/>
                </a:lnTo>
                <a:lnTo>
                  <a:pt x="1131392" y="485438"/>
                </a:lnTo>
                <a:lnTo>
                  <a:pt x="1135027" y="476122"/>
                </a:lnTo>
                <a:lnTo>
                  <a:pt x="1128784" y="472653"/>
                </a:lnTo>
                <a:lnTo>
                  <a:pt x="1134244" y="463302"/>
                </a:lnTo>
                <a:lnTo>
                  <a:pt x="1128317" y="459797"/>
                </a:lnTo>
                <a:lnTo>
                  <a:pt x="1086171" y="469007"/>
                </a:lnTo>
                <a:lnTo>
                  <a:pt x="1083648" y="463525"/>
                </a:lnTo>
                <a:lnTo>
                  <a:pt x="1085343" y="454930"/>
                </a:lnTo>
                <a:lnTo>
                  <a:pt x="1087280" y="450152"/>
                </a:lnTo>
                <a:lnTo>
                  <a:pt x="1077537" y="447088"/>
                </a:lnTo>
                <a:lnTo>
                  <a:pt x="1077341" y="439987"/>
                </a:lnTo>
                <a:lnTo>
                  <a:pt x="1078221" y="431831"/>
                </a:lnTo>
                <a:lnTo>
                  <a:pt x="1077773" y="424574"/>
                </a:lnTo>
                <a:lnTo>
                  <a:pt x="1078539" y="419214"/>
                </a:lnTo>
                <a:lnTo>
                  <a:pt x="1082675" y="407004"/>
                </a:lnTo>
                <a:lnTo>
                  <a:pt x="1080686" y="407347"/>
                </a:lnTo>
                <a:lnTo>
                  <a:pt x="1079465" y="406951"/>
                </a:lnTo>
                <a:lnTo>
                  <a:pt x="1072433" y="402204"/>
                </a:lnTo>
                <a:lnTo>
                  <a:pt x="1063511" y="395418"/>
                </a:lnTo>
                <a:lnTo>
                  <a:pt x="1063125" y="395631"/>
                </a:lnTo>
                <a:lnTo>
                  <a:pt x="1061843" y="394602"/>
                </a:lnTo>
                <a:lnTo>
                  <a:pt x="1055404" y="390789"/>
                </a:lnTo>
                <a:lnTo>
                  <a:pt x="1055658" y="388037"/>
                </a:lnTo>
                <a:lnTo>
                  <a:pt x="1057357" y="386354"/>
                </a:lnTo>
                <a:lnTo>
                  <a:pt x="1058148" y="384592"/>
                </a:lnTo>
                <a:lnTo>
                  <a:pt x="1066480" y="365649"/>
                </a:lnTo>
                <a:lnTo>
                  <a:pt x="1066838" y="362910"/>
                </a:lnTo>
                <a:lnTo>
                  <a:pt x="1075678" y="358786"/>
                </a:lnTo>
                <a:lnTo>
                  <a:pt x="1074034" y="350035"/>
                </a:lnTo>
                <a:lnTo>
                  <a:pt x="1070430" y="341033"/>
                </a:lnTo>
                <a:lnTo>
                  <a:pt x="1066013" y="333134"/>
                </a:lnTo>
                <a:lnTo>
                  <a:pt x="1064926" y="333795"/>
                </a:lnTo>
                <a:lnTo>
                  <a:pt x="1058297" y="327295"/>
                </a:lnTo>
                <a:lnTo>
                  <a:pt x="1051462" y="327120"/>
                </a:lnTo>
                <a:lnTo>
                  <a:pt x="1049121" y="332493"/>
                </a:lnTo>
                <a:lnTo>
                  <a:pt x="1035766" y="324600"/>
                </a:lnTo>
                <a:lnTo>
                  <a:pt x="1030627" y="322712"/>
                </a:lnTo>
                <a:lnTo>
                  <a:pt x="1019277" y="319258"/>
                </a:lnTo>
                <a:lnTo>
                  <a:pt x="1014768" y="316465"/>
                </a:lnTo>
                <a:lnTo>
                  <a:pt x="1008060" y="314054"/>
                </a:lnTo>
                <a:lnTo>
                  <a:pt x="1001121" y="310961"/>
                </a:lnTo>
                <a:lnTo>
                  <a:pt x="996231" y="308437"/>
                </a:lnTo>
                <a:lnTo>
                  <a:pt x="1004846" y="295319"/>
                </a:lnTo>
                <a:lnTo>
                  <a:pt x="1010118" y="288676"/>
                </a:lnTo>
                <a:lnTo>
                  <a:pt x="992600" y="274902"/>
                </a:lnTo>
                <a:lnTo>
                  <a:pt x="964126" y="267696"/>
                </a:lnTo>
                <a:lnTo>
                  <a:pt x="966258" y="244216"/>
                </a:lnTo>
                <a:lnTo>
                  <a:pt x="957454" y="233300"/>
                </a:lnTo>
                <a:lnTo>
                  <a:pt x="963626" y="222523"/>
                </a:lnTo>
                <a:lnTo>
                  <a:pt x="970280" y="212414"/>
                </a:lnTo>
                <a:lnTo>
                  <a:pt x="961682" y="207957"/>
                </a:lnTo>
                <a:lnTo>
                  <a:pt x="956443" y="208294"/>
                </a:lnTo>
                <a:lnTo>
                  <a:pt x="958754" y="198142"/>
                </a:lnTo>
                <a:lnTo>
                  <a:pt x="969622" y="200919"/>
                </a:lnTo>
                <a:lnTo>
                  <a:pt x="976465" y="203960"/>
                </a:lnTo>
                <a:lnTo>
                  <a:pt x="981263" y="190539"/>
                </a:lnTo>
                <a:lnTo>
                  <a:pt x="971544" y="188446"/>
                </a:lnTo>
                <a:lnTo>
                  <a:pt x="937579" y="187004"/>
                </a:lnTo>
                <a:lnTo>
                  <a:pt x="937795" y="189646"/>
                </a:lnTo>
                <a:lnTo>
                  <a:pt x="937827" y="196813"/>
                </a:lnTo>
                <a:lnTo>
                  <a:pt x="934501" y="205761"/>
                </a:lnTo>
                <a:lnTo>
                  <a:pt x="923199" y="204387"/>
                </a:lnTo>
                <a:lnTo>
                  <a:pt x="922424" y="214456"/>
                </a:lnTo>
                <a:lnTo>
                  <a:pt x="911663" y="213478"/>
                </a:lnTo>
                <a:lnTo>
                  <a:pt x="910628" y="224375"/>
                </a:lnTo>
                <a:lnTo>
                  <a:pt x="908012" y="232234"/>
                </a:lnTo>
                <a:lnTo>
                  <a:pt x="903484" y="250532"/>
                </a:lnTo>
                <a:lnTo>
                  <a:pt x="902559" y="253341"/>
                </a:lnTo>
                <a:lnTo>
                  <a:pt x="897044" y="263103"/>
                </a:lnTo>
                <a:lnTo>
                  <a:pt x="888540" y="258518"/>
                </a:lnTo>
                <a:lnTo>
                  <a:pt x="883316" y="256358"/>
                </a:lnTo>
                <a:lnTo>
                  <a:pt x="881998" y="209562"/>
                </a:lnTo>
                <a:lnTo>
                  <a:pt x="871516" y="210111"/>
                </a:lnTo>
                <a:lnTo>
                  <a:pt x="871727" y="209899"/>
                </a:lnTo>
                <a:lnTo>
                  <a:pt x="871143" y="210258"/>
                </a:lnTo>
                <a:lnTo>
                  <a:pt x="869662" y="210372"/>
                </a:lnTo>
                <a:lnTo>
                  <a:pt x="868305" y="211051"/>
                </a:lnTo>
                <a:lnTo>
                  <a:pt x="867823" y="212092"/>
                </a:lnTo>
                <a:lnTo>
                  <a:pt x="868030" y="213489"/>
                </a:lnTo>
                <a:lnTo>
                  <a:pt x="867832" y="214435"/>
                </a:lnTo>
                <a:lnTo>
                  <a:pt x="867074" y="214882"/>
                </a:lnTo>
                <a:lnTo>
                  <a:pt x="866035" y="214286"/>
                </a:lnTo>
                <a:lnTo>
                  <a:pt x="865286" y="213231"/>
                </a:lnTo>
                <a:lnTo>
                  <a:pt x="864444" y="213044"/>
                </a:lnTo>
                <a:lnTo>
                  <a:pt x="863918" y="213410"/>
                </a:lnTo>
                <a:lnTo>
                  <a:pt x="863651" y="214171"/>
                </a:lnTo>
                <a:lnTo>
                  <a:pt x="864159" y="215947"/>
                </a:lnTo>
                <a:lnTo>
                  <a:pt x="863951" y="221297"/>
                </a:lnTo>
                <a:lnTo>
                  <a:pt x="863489" y="222098"/>
                </a:lnTo>
                <a:lnTo>
                  <a:pt x="861898" y="223631"/>
                </a:lnTo>
                <a:lnTo>
                  <a:pt x="861167" y="225992"/>
                </a:lnTo>
                <a:lnTo>
                  <a:pt x="860385" y="226708"/>
                </a:lnTo>
                <a:lnTo>
                  <a:pt x="858332" y="227121"/>
                </a:lnTo>
                <a:lnTo>
                  <a:pt x="856919" y="227013"/>
                </a:lnTo>
                <a:lnTo>
                  <a:pt x="854481" y="225226"/>
                </a:lnTo>
                <a:lnTo>
                  <a:pt x="852005" y="224465"/>
                </a:lnTo>
                <a:lnTo>
                  <a:pt x="849632" y="222996"/>
                </a:lnTo>
                <a:lnTo>
                  <a:pt x="848953" y="222771"/>
                </a:lnTo>
                <a:lnTo>
                  <a:pt x="848590" y="222913"/>
                </a:lnTo>
                <a:lnTo>
                  <a:pt x="847779" y="223764"/>
                </a:lnTo>
                <a:lnTo>
                  <a:pt x="847035" y="226414"/>
                </a:lnTo>
                <a:lnTo>
                  <a:pt x="846090" y="227339"/>
                </a:lnTo>
                <a:lnTo>
                  <a:pt x="844547" y="227570"/>
                </a:lnTo>
                <a:lnTo>
                  <a:pt x="843144" y="227257"/>
                </a:lnTo>
                <a:lnTo>
                  <a:pt x="841985" y="226649"/>
                </a:lnTo>
                <a:lnTo>
                  <a:pt x="841143" y="226840"/>
                </a:lnTo>
                <a:lnTo>
                  <a:pt x="840444" y="229028"/>
                </a:lnTo>
                <a:lnTo>
                  <a:pt x="839745" y="229590"/>
                </a:lnTo>
                <a:lnTo>
                  <a:pt x="838602" y="230037"/>
                </a:lnTo>
                <a:lnTo>
                  <a:pt x="838107" y="230691"/>
                </a:lnTo>
                <a:lnTo>
                  <a:pt x="838206" y="231758"/>
                </a:lnTo>
                <a:lnTo>
                  <a:pt x="839179" y="233294"/>
                </a:lnTo>
                <a:lnTo>
                  <a:pt x="839182" y="233909"/>
                </a:lnTo>
                <a:lnTo>
                  <a:pt x="838723" y="234662"/>
                </a:lnTo>
                <a:lnTo>
                  <a:pt x="836353" y="236648"/>
                </a:lnTo>
                <a:lnTo>
                  <a:pt x="835489" y="236850"/>
                </a:lnTo>
                <a:lnTo>
                  <a:pt x="833708" y="236546"/>
                </a:lnTo>
                <a:lnTo>
                  <a:pt x="833009" y="236811"/>
                </a:lnTo>
                <a:lnTo>
                  <a:pt x="832901" y="237517"/>
                </a:lnTo>
                <a:lnTo>
                  <a:pt x="833524" y="239347"/>
                </a:lnTo>
                <a:lnTo>
                  <a:pt x="833660" y="241446"/>
                </a:lnTo>
                <a:lnTo>
                  <a:pt x="833609" y="242174"/>
                </a:lnTo>
                <a:lnTo>
                  <a:pt x="833067" y="243203"/>
                </a:lnTo>
                <a:lnTo>
                  <a:pt x="832479" y="243539"/>
                </a:lnTo>
                <a:lnTo>
                  <a:pt x="831462" y="243523"/>
                </a:lnTo>
                <a:lnTo>
                  <a:pt x="829621" y="242416"/>
                </a:lnTo>
                <a:lnTo>
                  <a:pt x="827697" y="242747"/>
                </a:lnTo>
                <a:lnTo>
                  <a:pt x="826892" y="243186"/>
                </a:lnTo>
                <a:lnTo>
                  <a:pt x="825813" y="245820"/>
                </a:lnTo>
                <a:lnTo>
                  <a:pt x="824984" y="246292"/>
                </a:lnTo>
                <a:lnTo>
                  <a:pt x="824234" y="246323"/>
                </a:lnTo>
                <a:lnTo>
                  <a:pt x="822362" y="245655"/>
                </a:lnTo>
                <a:lnTo>
                  <a:pt x="821849" y="245673"/>
                </a:lnTo>
                <a:lnTo>
                  <a:pt x="819388" y="246548"/>
                </a:lnTo>
                <a:lnTo>
                  <a:pt x="816351" y="246885"/>
                </a:lnTo>
                <a:lnTo>
                  <a:pt x="815645" y="247361"/>
                </a:lnTo>
                <a:lnTo>
                  <a:pt x="814994" y="248655"/>
                </a:lnTo>
                <a:lnTo>
                  <a:pt x="815160" y="250684"/>
                </a:lnTo>
                <a:lnTo>
                  <a:pt x="813208" y="251816"/>
                </a:lnTo>
                <a:lnTo>
                  <a:pt x="811623" y="253238"/>
                </a:lnTo>
                <a:lnTo>
                  <a:pt x="808856" y="254551"/>
                </a:lnTo>
                <a:lnTo>
                  <a:pt x="808256" y="255515"/>
                </a:lnTo>
                <a:lnTo>
                  <a:pt x="808414" y="256441"/>
                </a:lnTo>
                <a:lnTo>
                  <a:pt x="809493" y="257792"/>
                </a:lnTo>
                <a:lnTo>
                  <a:pt x="809792" y="258761"/>
                </a:lnTo>
                <a:lnTo>
                  <a:pt x="809716" y="259481"/>
                </a:lnTo>
                <a:lnTo>
                  <a:pt x="809146" y="260337"/>
                </a:lnTo>
                <a:lnTo>
                  <a:pt x="807321" y="261317"/>
                </a:lnTo>
                <a:lnTo>
                  <a:pt x="807041" y="261839"/>
                </a:lnTo>
                <a:lnTo>
                  <a:pt x="807030" y="263426"/>
                </a:lnTo>
                <a:lnTo>
                  <a:pt x="807658" y="265232"/>
                </a:lnTo>
                <a:lnTo>
                  <a:pt x="807215" y="266660"/>
                </a:lnTo>
                <a:lnTo>
                  <a:pt x="806848" y="267099"/>
                </a:lnTo>
                <a:lnTo>
                  <a:pt x="805077" y="267973"/>
                </a:lnTo>
                <a:lnTo>
                  <a:pt x="804047" y="268980"/>
                </a:lnTo>
                <a:lnTo>
                  <a:pt x="803797" y="269728"/>
                </a:lnTo>
                <a:lnTo>
                  <a:pt x="803935" y="270289"/>
                </a:lnTo>
                <a:lnTo>
                  <a:pt x="804866" y="271612"/>
                </a:lnTo>
                <a:lnTo>
                  <a:pt x="804894" y="272279"/>
                </a:lnTo>
                <a:lnTo>
                  <a:pt x="804587" y="272993"/>
                </a:lnTo>
                <a:lnTo>
                  <a:pt x="803929" y="273607"/>
                </a:lnTo>
                <a:lnTo>
                  <a:pt x="801544" y="274728"/>
                </a:lnTo>
                <a:lnTo>
                  <a:pt x="800532" y="275499"/>
                </a:lnTo>
                <a:lnTo>
                  <a:pt x="800240" y="275908"/>
                </a:lnTo>
                <a:lnTo>
                  <a:pt x="800068" y="276903"/>
                </a:lnTo>
                <a:lnTo>
                  <a:pt x="800342" y="278239"/>
                </a:lnTo>
                <a:lnTo>
                  <a:pt x="800208" y="278925"/>
                </a:lnTo>
                <a:lnTo>
                  <a:pt x="799291" y="279350"/>
                </a:lnTo>
                <a:lnTo>
                  <a:pt x="797538" y="279179"/>
                </a:lnTo>
                <a:lnTo>
                  <a:pt x="796745" y="279622"/>
                </a:lnTo>
                <a:lnTo>
                  <a:pt x="796094" y="280399"/>
                </a:lnTo>
                <a:lnTo>
                  <a:pt x="795759" y="282371"/>
                </a:lnTo>
                <a:lnTo>
                  <a:pt x="795331" y="283145"/>
                </a:lnTo>
                <a:lnTo>
                  <a:pt x="794751" y="283545"/>
                </a:lnTo>
                <a:lnTo>
                  <a:pt x="793452" y="283870"/>
                </a:lnTo>
                <a:lnTo>
                  <a:pt x="792545" y="284572"/>
                </a:lnTo>
                <a:lnTo>
                  <a:pt x="792207" y="285158"/>
                </a:lnTo>
                <a:lnTo>
                  <a:pt x="791197" y="289291"/>
                </a:lnTo>
                <a:lnTo>
                  <a:pt x="788679" y="293362"/>
                </a:lnTo>
                <a:lnTo>
                  <a:pt x="787787" y="293642"/>
                </a:lnTo>
                <a:lnTo>
                  <a:pt x="785661" y="293489"/>
                </a:lnTo>
                <a:lnTo>
                  <a:pt x="783784" y="293926"/>
                </a:lnTo>
                <a:lnTo>
                  <a:pt x="782851" y="294433"/>
                </a:lnTo>
                <a:lnTo>
                  <a:pt x="781448" y="295797"/>
                </a:lnTo>
                <a:lnTo>
                  <a:pt x="779062" y="296220"/>
                </a:lnTo>
                <a:lnTo>
                  <a:pt x="774938" y="299027"/>
                </a:lnTo>
                <a:lnTo>
                  <a:pt x="773977" y="299466"/>
                </a:lnTo>
                <a:lnTo>
                  <a:pt x="773075" y="299451"/>
                </a:lnTo>
                <a:lnTo>
                  <a:pt x="772083" y="298948"/>
                </a:lnTo>
                <a:lnTo>
                  <a:pt x="770735" y="298672"/>
                </a:lnTo>
                <a:lnTo>
                  <a:pt x="767409" y="299589"/>
                </a:lnTo>
                <a:lnTo>
                  <a:pt x="765945" y="299431"/>
                </a:lnTo>
                <a:lnTo>
                  <a:pt x="764470" y="299736"/>
                </a:lnTo>
                <a:lnTo>
                  <a:pt x="762292" y="299520"/>
                </a:lnTo>
                <a:lnTo>
                  <a:pt x="759007" y="298753"/>
                </a:lnTo>
                <a:lnTo>
                  <a:pt x="758036" y="298877"/>
                </a:lnTo>
                <a:lnTo>
                  <a:pt x="756797" y="298113"/>
                </a:lnTo>
                <a:lnTo>
                  <a:pt x="755905" y="298114"/>
                </a:lnTo>
                <a:lnTo>
                  <a:pt x="753664" y="299862"/>
                </a:lnTo>
                <a:lnTo>
                  <a:pt x="751790" y="300266"/>
                </a:lnTo>
                <a:lnTo>
                  <a:pt x="750654" y="300831"/>
                </a:lnTo>
                <a:lnTo>
                  <a:pt x="748465" y="302974"/>
                </a:lnTo>
                <a:lnTo>
                  <a:pt x="748082" y="304034"/>
                </a:lnTo>
                <a:lnTo>
                  <a:pt x="748315" y="305449"/>
                </a:lnTo>
                <a:lnTo>
                  <a:pt x="750239" y="307302"/>
                </a:lnTo>
                <a:lnTo>
                  <a:pt x="750771" y="308255"/>
                </a:lnTo>
                <a:lnTo>
                  <a:pt x="750469" y="312779"/>
                </a:lnTo>
                <a:lnTo>
                  <a:pt x="751745" y="316051"/>
                </a:lnTo>
                <a:lnTo>
                  <a:pt x="751532" y="316911"/>
                </a:lnTo>
                <a:lnTo>
                  <a:pt x="750406" y="318449"/>
                </a:lnTo>
                <a:lnTo>
                  <a:pt x="750083" y="321153"/>
                </a:lnTo>
                <a:lnTo>
                  <a:pt x="748756" y="321263"/>
                </a:lnTo>
                <a:lnTo>
                  <a:pt x="747637" y="322775"/>
                </a:lnTo>
                <a:lnTo>
                  <a:pt x="743785" y="325524"/>
                </a:lnTo>
                <a:lnTo>
                  <a:pt x="739037" y="330207"/>
                </a:lnTo>
                <a:lnTo>
                  <a:pt x="738280" y="330661"/>
                </a:lnTo>
                <a:lnTo>
                  <a:pt x="737691" y="330833"/>
                </a:lnTo>
                <a:lnTo>
                  <a:pt x="736294" y="329941"/>
                </a:lnTo>
                <a:lnTo>
                  <a:pt x="735299" y="329726"/>
                </a:lnTo>
                <a:lnTo>
                  <a:pt x="734853" y="329921"/>
                </a:lnTo>
                <a:lnTo>
                  <a:pt x="734165" y="330905"/>
                </a:lnTo>
                <a:lnTo>
                  <a:pt x="733204" y="331481"/>
                </a:lnTo>
                <a:lnTo>
                  <a:pt x="730449" y="331350"/>
                </a:lnTo>
                <a:lnTo>
                  <a:pt x="728044" y="331900"/>
                </a:lnTo>
                <a:lnTo>
                  <a:pt x="726765" y="331012"/>
                </a:lnTo>
                <a:lnTo>
                  <a:pt x="724548" y="328502"/>
                </a:lnTo>
                <a:lnTo>
                  <a:pt x="723264" y="327894"/>
                </a:lnTo>
                <a:lnTo>
                  <a:pt x="720564" y="327738"/>
                </a:lnTo>
                <a:lnTo>
                  <a:pt x="718564" y="329409"/>
                </a:lnTo>
                <a:lnTo>
                  <a:pt x="717863" y="329294"/>
                </a:lnTo>
                <a:lnTo>
                  <a:pt x="716744" y="328493"/>
                </a:lnTo>
                <a:lnTo>
                  <a:pt x="715577" y="328352"/>
                </a:lnTo>
                <a:lnTo>
                  <a:pt x="714518" y="330448"/>
                </a:lnTo>
                <a:lnTo>
                  <a:pt x="713934" y="331194"/>
                </a:lnTo>
                <a:lnTo>
                  <a:pt x="713394" y="331406"/>
                </a:lnTo>
                <a:lnTo>
                  <a:pt x="709453" y="329705"/>
                </a:lnTo>
                <a:lnTo>
                  <a:pt x="707560" y="328229"/>
                </a:lnTo>
                <a:lnTo>
                  <a:pt x="704172" y="328193"/>
                </a:lnTo>
                <a:lnTo>
                  <a:pt x="703291" y="327793"/>
                </a:lnTo>
                <a:lnTo>
                  <a:pt x="702316" y="326644"/>
                </a:lnTo>
                <a:lnTo>
                  <a:pt x="700984" y="326071"/>
                </a:lnTo>
                <a:lnTo>
                  <a:pt x="695900" y="325361"/>
                </a:lnTo>
                <a:lnTo>
                  <a:pt x="693672" y="325788"/>
                </a:lnTo>
                <a:lnTo>
                  <a:pt x="691770" y="326811"/>
                </a:lnTo>
                <a:lnTo>
                  <a:pt x="689124" y="326660"/>
                </a:lnTo>
                <a:lnTo>
                  <a:pt x="687133" y="326078"/>
                </a:lnTo>
                <a:lnTo>
                  <a:pt x="685487" y="326137"/>
                </a:lnTo>
                <a:lnTo>
                  <a:pt x="684844" y="326633"/>
                </a:lnTo>
                <a:lnTo>
                  <a:pt x="683307" y="328698"/>
                </a:lnTo>
                <a:lnTo>
                  <a:pt x="681812" y="329687"/>
                </a:lnTo>
                <a:lnTo>
                  <a:pt x="680736" y="330073"/>
                </a:lnTo>
                <a:lnTo>
                  <a:pt x="679194" y="330037"/>
                </a:lnTo>
                <a:lnTo>
                  <a:pt x="677173" y="328497"/>
                </a:lnTo>
                <a:lnTo>
                  <a:pt x="676287" y="328257"/>
                </a:lnTo>
                <a:lnTo>
                  <a:pt x="675042" y="328478"/>
                </a:lnTo>
                <a:lnTo>
                  <a:pt x="673461" y="329612"/>
                </a:lnTo>
                <a:lnTo>
                  <a:pt x="672944" y="329726"/>
                </a:lnTo>
                <a:lnTo>
                  <a:pt x="670724" y="329351"/>
                </a:lnTo>
                <a:lnTo>
                  <a:pt x="669543" y="329410"/>
                </a:lnTo>
                <a:lnTo>
                  <a:pt x="665474" y="330935"/>
                </a:lnTo>
                <a:lnTo>
                  <a:pt x="663175" y="333223"/>
                </a:lnTo>
                <a:lnTo>
                  <a:pt x="662059" y="333584"/>
                </a:lnTo>
                <a:lnTo>
                  <a:pt x="660001" y="333400"/>
                </a:lnTo>
                <a:lnTo>
                  <a:pt x="657035" y="334509"/>
                </a:lnTo>
                <a:lnTo>
                  <a:pt x="655614" y="333817"/>
                </a:lnTo>
                <a:lnTo>
                  <a:pt x="654304" y="332275"/>
                </a:lnTo>
                <a:lnTo>
                  <a:pt x="653481" y="331973"/>
                </a:lnTo>
                <a:lnTo>
                  <a:pt x="651648" y="331845"/>
                </a:lnTo>
                <a:lnTo>
                  <a:pt x="648980" y="330631"/>
                </a:lnTo>
                <a:lnTo>
                  <a:pt x="647862" y="330641"/>
                </a:lnTo>
                <a:lnTo>
                  <a:pt x="646272" y="331198"/>
                </a:lnTo>
                <a:lnTo>
                  <a:pt x="643571" y="330465"/>
                </a:lnTo>
                <a:lnTo>
                  <a:pt x="641321" y="330685"/>
                </a:lnTo>
                <a:lnTo>
                  <a:pt x="639167" y="330560"/>
                </a:lnTo>
                <a:lnTo>
                  <a:pt x="638538" y="330197"/>
                </a:lnTo>
                <a:lnTo>
                  <a:pt x="635490" y="327196"/>
                </a:lnTo>
                <a:lnTo>
                  <a:pt x="634260" y="325021"/>
                </a:lnTo>
                <a:lnTo>
                  <a:pt x="633373" y="324355"/>
                </a:lnTo>
                <a:lnTo>
                  <a:pt x="631964" y="324326"/>
                </a:lnTo>
                <a:lnTo>
                  <a:pt x="630788" y="325166"/>
                </a:lnTo>
                <a:lnTo>
                  <a:pt x="629767" y="325511"/>
                </a:lnTo>
                <a:lnTo>
                  <a:pt x="628461" y="325084"/>
                </a:lnTo>
                <a:lnTo>
                  <a:pt x="624384" y="323033"/>
                </a:lnTo>
                <a:lnTo>
                  <a:pt x="622705" y="322852"/>
                </a:lnTo>
                <a:lnTo>
                  <a:pt x="620850" y="323053"/>
                </a:lnTo>
                <a:lnTo>
                  <a:pt x="618876" y="324149"/>
                </a:lnTo>
                <a:lnTo>
                  <a:pt x="616060" y="326176"/>
                </a:lnTo>
                <a:lnTo>
                  <a:pt x="615040" y="326632"/>
                </a:lnTo>
                <a:lnTo>
                  <a:pt x="612806" y="326564"/>
                </a:lnTo>
                <a:lnTo>
                  <a:pt x="611631" y="326822"/>
                </a:lnTo>
                <a:lnTo>
                  <a:pt x="611226" y="327431"/>
                </a:lnTo>
                <a:lnTo>
                  <a:pt x="611439" y="329804"/>
                </a:lnTo>
                <a:lnTo>
                  <a:pt x="611092" y="330438"/>
                </a:lnTo>
                <a:lnTo>
                  <a:pt x="610622" y="330732"/>
                </a:lnTo>
                <a:lnTo>
                  <a:pt x="607901" y="330300"/>
                </a:lnTo>
                <a:lnTo>
                  <a:pt x="606809" y="330554"/>
                </a:lnTo>
                <a:lnTo>
                  <a:pt x="604908" y="333510"/>
                </a:lnTo>
                <a:lnTo>
                  <a:pt x="603577" y="334602"/>
                </a:lnTo>
                <a:lnTo>
                  <a:pt x="602642" y="334775"/>
                </a:lnTo>
                <a:lnTo>
                  <a:pt x="600222" y="334602"/>
                </a:lnTo>
                <a:lnTo>
                  <a:pt x="598544" y="334734"/>
                </a:lnTo>
                <a:lnTo>
                  <a:pt x="596598" y="335391"/>
                </a:lnTo>
                <a:lnTo>
                  <a:pt x="595648" y="336262"/>
                </a:lnTo>
                <a:lnTo>
                  <a:pt x="595206" y="337900"/>
                </a:lnTo>
                <a:lnTo>
                  <a:pt x="594182" y="340201"/>
                </a:lnTo>
                <a:lnTo>
                  <a:pt x="592487" y="341491"/>
                </a:lnTo>
                <a:lnTo>
                  <a:pt x="592697" y="340594"/>
                </a:lnTo>
                <a:lnTo>
                  <a:pt x="591589" y="337390"/>
                </a:lnTo>
                <a:lnTo>
                  <a:pt x="591529" y="335428"/>
                </a:lnTo>
                <a:lnTo>
                  <a:pt x="590957" y="334068"/>
                </a:lnTo>
                <a:lnTo>
                  <a:pt x="591555" y="332521"/>
                </a:lnTo>
                <a:lnTo>
                  <a:pt x="592202" y="331942"/>
                </a:lnTo>
                <a:lnTo>
                  <a:pt x="591821" y="330753"/>
                </a:lnTo>
                <a:lnTo>
                  <a:pt x="587880" y="329888"/>
                </a:lnTo>
                <a:lnTo>
                  <a:pt x="586393" y="329034"/>
                </a:lnTo>
                <a:lnTo>
                  <a:pt x="585969" y="328062"/>
                </a:lnTo>
                <a:lnTo>
                  <a:pt x="587034" y="325885"/>
                </a:lnTo>
                <a:lnTo>
                  <a:pt x="586214" y="324676"/>
                </a:lnTo>
                <a:lnTo>
                  <a:pt x="585004" y="323499"/>
                </a:lnTo>
                <a:lnTo>
                  <a:pt x="583112" y="322746"/>
                </a:lnTo>
                <a:lnTo>
                  <a:pt x="582892" y="322351"/>
                </a:lnTo>
                <a:lnTo>
                  <a:pt x="584674" y="320354"/>
                </a:lnTo>
                <a:lnTo>
                  <a:pt x="585017" y="319176"/>
                </a:lnTo>
                <a:lnTo>
                  <a:pt x="584869" y="318546"/>
                </a:lnTo>
                <a:lnTo>
                  <a:pt x="583219" y="316292"/>
                </a:lnTo>
                <a:lnTo>
                  <a:pt x="584132" y="313992"/>
                </a:lnTo>
                <a:lnTo>
                  <a:pt x="584118" y="312991"/>
                </a:lnTo>
                <a:lnTo>
                  <a:pt x="584388" y="312453"/>
                </a:lnTo>
                <a:lnTo>
                  <a:pt x="583140" y="311548"/>
                </a:lnTo>
                <a:lnTo>
                  <a:pt x="582373" y="310557"/>
                </a:lnTo>
                <a:lnTo>
                  <a:pt x="582076" y="309291"/>
                </a:lnTo>
                <a:lnTo>
                  <a:pt x="581705" y="308762"/>
                </a:lnTo>
                <a:lnTo>
                  <a:pt x="581327" y="306308"/>
                </a:lnTo>
                <a:lnTo>
                  <a:pt x="581650" y="304728"/>
                </a:lnTo>
                <a:lnTo>
                  <a:pt x="583981" y="303387"/>
                </a:lnTo>
                <a:lnTo>
                  <a:pt x="584239" y="302745"/>
                </a:lnTo>
                <a:lnTo>
                  <a:pt x="583258" y="299156"/>
                </a:lnTo>
                <a:lnTo>
                  <a:pt x="583333" y="296748"/>
                </a:lnTo>
                <a:lnTo>
                  <a:pt x="583809" y="295041"/>
                </a:lnTo>
                <a:lnTo>
                  <a:pt x="583478" y="292850"/>
                </a:lnTo>
                <a:lnTo>
                  <a:pt x="583540" y="290937"/>
                </a:lnTo>
                <a:lnTo>
                  <a:pt x="583190" y="289456"/>
                </a:lnTo>
                <a:lnTo>
                  <a:pt x="581401" y="287244"/>
                </a:lnTo>
                <a:lnTo>
                  <a:pt x="580642" y="286726"/>
                </a:lnTo>
                <a:lnTo>
                  <a:pt x="580143" y="285903"/>
                </a:lnTo>
                <a:lnTo>
                  <a:pt x="579893" y="284793"/>
                </a:lnTo>
                <a:lnTo>
                  <a:pt x="580061" y="281991"/>
                </a:lnTo>
                <a:lnTo>
                  <a:pt x="579191" y="279726"/>
                </a:lnTo>
                <a:lnTo>
                  <a:pt x="579199" y="278643"/>
                </a:lnTo>
                <a:lnTo>
                  <a:pt x="580136" y="276127"/>
                </a:lnTo>
                <a:lnTo>
                  <a:pt x="580068" y="274316"/>
                </a:lnTo>
                <a:lnTo>
                  <a:pt x="580708" y="271029"/>
                </a:lnTo>
                <a:lnTo>
                  <a:pt x="580718" y="267186"/>
                </a:lnTo>
                <a:lnTo>
                  <a:pt x="581876" y="265722"/>
                </a:lnTo>
                <a:lnTo>
                  <a:pt x="584838" y="265685"/>
                </a:lnTo>
                <a:lnTo>
                  <a:pt x="585357" y="265326"/>
                </a:lnTo>
                <a:lnTo>
                  <a:pt x="586873" y="262496"/>
                </a:lnTo>
                <a:lnTo>
                  <a:pt x="589123" y="259593"/>
                </a:lnTo>
                <a:lnTo>
                  <a:pt x="589421" y="259429"/>
                </a:lnTo>
                <a:lnTo>
                  <a:pt x="590671" y="259756"/>
                </a:lnTo>
                <a:lnTo>
                  <a:pt x="591525" y="259495"/>
                </a:lnTo>
                <a:lnTo>
                  <a:pt x="592089" y="258282"/>
                </a:lnTo>
                <a:lnTo>
                  <a:pt x="592211" y="257141"/>
                </a:lnTo>
                <a:lnTo>
                  <a:pt x="591959" y="254880"/>
                </a:lnTo>
                <a:lnTo>
                  <a:pt x="592406" y="253961"/>
                </a:lnTo>
                <a:lnTo>
                  <a:pt x="594052" y="251904"/>
                </a:lnTo>
                <a:lnTo>
                  <a:pt x="595087" y="249114"/>
                </a:lnTo>
                <a:lnTo>
                  <a:pt x="597564" y="247488"/>
                </a:lnTo>
                <a:lnTo>
                  <a:pt x="598521" y="246460"/>
                </a:lnTo>
                <a:lnTo>
                  <a:pt x="600209" y="243039"/>
                </a:lnTo>
                <a:lnTo>
                  <a:pt x="600619" y="241371"/>
                </a:lnTo>
                <a:lnTo>
                  <a:pt x="601240" y="240948"/>
                </a:lnTo>
                <a:lnTo>
                  <a:pt x="602531" y="240616"/>
                </a:lnTo>
                <a:lnTo>
                  <a:pt x="605057" y="238797"/>
                </a:lnTo>
                <a:lnTo>
                  <a:pt x="605346" y="236782"/>
                </a:lnTo>
                <a:lnTo>
                  <a:pt x="607100" y="234527"/>
                </a:lnTo>
                <a:lnTo>
                  <a:pt x="607390" y="232021"/>
                </a:lnTo>
                <a:lnTo>
                  <a:pt x="608543" y="229644"/>
                </a:lnTo>
                <a:lnTo>
                  <a:pt x="608327" y="226028"/>
                </a:lnTo>
                <a:lnTo>
                  <a:pt x="608888" y="224397"/>
                </a:lnTo>
                <a:lnTo>
                  <a:pt x="609366" y="223448"/>
                </a:lnTo>
                <a:lnTo>
                  <a:pt x="609954" y="222861"/>
                </a:lnTo>
                <a:lnTo>
                  <a:pt x="611341" y="222193"/>
                </a:lnTo>
                <a:lnTo>
                  <a:pt x="612363" y="221064"/>
                </a:lnTo>
                <a:lnTo>
                  <a:pt x="613754" y="218952"/>
                </a:lnTo>
                <a:lnTo>
                  <a:pt x="614076" y="217668"/>
                </a:lnTo>
                <a:lnTo>
                  <a:pt x="615068" y="216257"/>
                </a:lnTo>
                <a:lnTo>
                  <a:pt x="614920" y="215536"/>
                </a:lnTo>
                <a:lnTo>
                  <a:pt x="614223" y="214855"/>
                </a:lnTo>
                <a:lnTo>
                  <a:pt x="613436" y="214616"/>
                </a:lnTo>
                <a:lnTo>
                  <a:pt x="612185" y="215179"/>
                </a:lnTo>
                <a:lnTo>
                  <a:pt x="611764" y="214911"/>
                </a:lnTo>
                <a:lnTo>
                  <a:pt x="611371" y="214058"/>
                </a:lnTo>
                <a:lnTo>
                  <a:pt x="609993" y="213206"/>
                </a:lnTo>
                <a:lnTo>
                  <a:pt x="608814" y="212035"/>
                </a:lnTo>
                <a:lnTo>
                  <a:pt x="608767" y="211333"/>
                </a:lnTo>
                <a:lnTo>
                  <a:pt x="610656" y="210214"/>
                </a:lnTo>
                <a:lnTo>
                  <a:pt x="611359" y="209399"/>
                </a:lnTo>
                <a:lnTo>
                  <a:pt x="611749" y="207933"/>
                </a:lnTo>
                <a:lnTo>
                  <a:pt x="611375" y="207325"/>
                </a:lnTo>
                <a:lnTo>
                  <a:pt x="609609" y="206731"/>
                </a:lnTo>
                <a:lnTo>
                  <a:pt x="608304" y="204501"/>
                </a:lnTo>
                <a:lnTo>
                  <a:pt x="608638" y="203798"/>
                </a:lnTo>
                <a:lnTo>
                  <a:pt x="610318" y="202583"/>
                </a:lnTo>
                <a:lnTo>
                  <a:pt x="610763" y="201692"/>
                </a:lnTo>
                <a:lnTo>
                  <a:pt x="610742" y="200829"/>
                </a:lnTo>
                <a:lnTo>
                  <a:pt x="610088" y="198689"/>
                </a:lnTo>
                <a:lnTo>
                  <a:pt x="609550" y="198034"/>
                </a:lnTo>
                <a:lnTo>
                  <a:pt x="607789" y="196714"/>
                </a:lnTo>
                <a:lnTo>
                  <a:pt x="607614" y="196042"/>
                </a:lnTo>
                <a:lnTo>
                  <a:pt x="609458" y="193189"/>
                </a:lnTo>
                <a:lnTo>
                  <a:pt x="609756" y="192226"/>
                </a:lnTo>
                <a:lnTo>
                  <a:pt x="609804" y="190562"/>
                </a:lnTo>
                <a:lnTo>
                  <a:pt x="611044" y="188833"/>
                </a:lnTo>
                <a:lnTo>
                  <a:pt x="611055" y="187935"/>
                </a:lnTo>
                <a:lnTo>
                  <a:pt x="610605" y="187095"/>
                </a:lnTo>
                <a:lnTo>
                  <a:pt x="606601" y="183889"/>
                </a:lnTo>
                <a:lnTo>
                  <a:pt x="605802" y="183118"/>
                </a:lnTo>
                <a:lnTo>
                  <a:pt x="605464" y="182431"/>
                </a:lnTo>
                <a:lnTo>
                  <a:pt x="605258" y="180624"/>
                </a:lnTo>
                <a:lnTo>
                  <a:pt x="604685" y="179006"/>
                </a:lnTo>
                <a:lnTo>
                  <a:pt x="606303" y="177974"/>
                </a:lnTo>
                <a:lnTo>
                  <a:pt x="606693" y="177459"/>
                </a:lnTo>
                <a:lnTo>
                  <a:pt x="606755" y="174158"/>
                </a:lnTo>
                <a:lnTo>
                  <a:pt x="606163" y="173345"/>
                </a:lnTo>
                <a:lnTo>
                  <a:pt x="605429" y="172957"/>
                </a:lnTo>
                <a:lnTo>
                  <a:pt x="602882" y="172782"/>
                </a:lnTo>
                <a:lnTo>
                  <a:pt x="602276" y="171892"/>
                </a:lnTo>
                <a:lnTo>
                  <a:pt x="602066" y="170909"/>
                </a:lnTo>
                <a:lnTo>
                  <a:pt x="603161" y="168473"/>
                </a:lnTo>
                <a:lnTo>
                  <a:pt x="602591" y="166260"/>
                </a:lnTo>
                <a:lnTo>
                  <a:pt x="603160" y="164359"/>
                </a:lnTo>
                <a:lnTo>
                  <a:pt x="602871" y="163533"/>
                </a:lnTo>
                <a:lnTo>
                  <a:pt x="602080" y="163165"/>
                </a:lnTo>
                <a:lnTo>
                  <a:pt x="600643" y="163867"/>
                </a:lnTo>
                <a:lnTo>
                  <a:pt x="599746" y="164654"/>
                </a:lnTo>
                <a:lnTo>
                  <a:pt x="599124" y="165572"/>
                </a:lnTo>
                <a:lnTo>
                  <a:pt x="598737" y="166710"/>
                </a:lnTo>
                <a:lnTo>
                  <a:pt x="597908" y="167375"/>
                </a:lnTo>
                <a:lnTo>
                  <a:pt x="596961" y="167527"/>
                </a:lnTo>
                <a:lnTo>
                  <a:pt x="595831" y="166858"/>
                </a:lnTo>
                <a:lnTo>
                  <a:pt x="595773" y="165728"/>
                </a:lnTo>
                <a:lnTo>
                  <a:pt x="596502" y="163935"/>
                </a:lnTo>
                <a:lnTo>
                  <a:pt x="597234" y="163035"/>
                </a:lnTo>
                <a:lnTo>
                  <a:pt x="599033" y="161673"/>
                </a:lnTo>
                <a:lnTo>
                  <a:pt x="599368" y="161037"/>
                </a:lnTo>
                <a:lnTo>
                  <a:pt x="599177" y="159978"/>
                </a:lnTo>
                <a:lnTo>
                  <a:pt x="598751" y="159379"/>
                </a:lnTo>
                <a:lnTo>
                  <a:pt x="597780" y="158736"/>
                </a:lnTo>
                <a:lnTo>
                  <a:pt x="596987" y="158608"/>
                </a:lnTo>
                <a:lnTo>
                  <a:pt x="595345" y="158994"/>
                </a:lnTo>
                <a:lnTo>
                  <a:pt x="594526" y="158682"/>
                </a:lnTo>
                <a:lnTo>
                  <a:pt x="594230" y="158175"/>
                </a:lnTo>
                <a:lnTo>
                  <a:pt x="594287" y="154873"/>
                </a:lnTo>
                <a:lnTo>
                  <a:pt x="593072" y="151537"/>
                </a:lnTo>
                <a:lnTo>
                  <a:pt x="592328" y="150222"/>
                </a:lnTo>
                <a:lnTo>
                  <a:pt x="590780" y="148465"/>
                </a:lnTo>
                <a:lnTo>
                  <a:pt x="587056" y="146464"/>
                </a:lnTo>
                <a:lnTo>
                  <a:pt x="586359" y="145813"/>
                </a:lnTo>
                <a:lnTo>
                  <a:pt x="585815" y="142834"/>
                </a:lnTo>
                <a:lnTo>
                  <a:pt x="586126" y="141822"/>
                </a:lnTo>
                <a:lnTo>
                  <a:pt x="587568" y="139589"/>
                </a:lnTo>
                <a:lnTo>
                  <a:pt x="587783" y="138552"/>
                </a:lnTo>
                <a:lnTo>
                  <a:pt x="587590" y="136948"/>
                </a:lnTo>
                <a:lnTo>
                  <a:pt x="586766" y="136372"/>
                </a:lnTo>
                <a:lnTo>
                  <a:pt x="585341" y="136094"/>
                </a:lnTo>
                <a:lnTo>
                  <a:pt x="583834" y="137541"/>
                </a:lnTo>
                <a:lnTo>
                  <a:pt x="583102" y="137777"/>
                </a:lnTo>
                <a:lnTo>
                  <a:pt x="582338" y="137406"/>
                </a:lnTo>
                <a:lnTo>
                  <a:pt x="582113" y="136606"/>
                </a:lnTo>
                <a:lnTo>
                  <a:pt x="582366" y="135611"/>
                </a:lnTo>
                <a:lnTo>
                  <a:pt x="583129" y="134375"/>
                </a:lnTo>
                <a:lnTo>
                  <a:pt x="583576" y="132719"/>
                </a:lnTo>
                <a:lnTo>
                  <a:pt x="584182" y="131978"/>
                </a:lnTo>
                <a:lnTo>
                  <a:pt x="586668" y="132013"/>
                </a:lnTo>
                <a:lnTo>
                  <a:pt x="587860" y="131730"/>
                </a:lnTo>
                <a:lnTo>
                  <a:pt x="588555" y="131243"/>
                </a:lnTo>
                <a:lnTo>
                  <a:pt x="588928" y="130421"/>
                </a:lnTo>
                <a:lnTo>
                  <a:pt x="588712" y="129536"/>
                </a:lnTo>
                <a:lnTo>
                  <a:pt x="587296" y="127916"/>
                </a:lnTo>
                <a:lnTo>
                  <a:pt x="585679" y="125374"/>
                </a:lnTo>
                <a:lnTo>
                  <a:pt x="584630" y="123241"/>
                </a:lnTo>
                <a:lnTo>
                  <a:pt x="581356" y="120427"/>
                </a:lnTo>
                <a:lnTo>
                  <a:pt x="579153" y="120203"/>
                </a:lnTo>
                <a:lnTo>
                  <a:pt x="578583" y="119412"/>
                </a:lnTo>
                <a:lnTo>
                  <a:pt x="578481" y="117443"/>
                </a:lnTo>
                <a:lnTo>
                  <a:pt x="580101" y="116012"/>
                </a:lnTo>
                <a:lnTo>
                  <a:pt x="580553" y="115013"/>
                </a:lnTo>
                <a:lnTo>
                  <a:pt x="579161" y="111950"/>
                </a:lnTo>
                <a:lnTo>
                  <a:pt x="579400" y="111103"/>
                </a:lnTo>
                <a:lnTo>
                  <a:pt x="580111" y="110577"/>
                </a:lnTo>
                <a:lnTo>
                  <a:pt x="583092" y="110767"/>
                </a:lnTo>
                <a:lnTo>
                  <a:pt x="583966" y="110359"/>
                </a:lnTo>
                <a:lnTo>
                  <a:pt x="584697" y="109361"/>
                </a:lnTo>
                <a:lnTo>
                  <a:pt x="584881" y="107700"/>
                </a:lnTo>
                <a:lnTo>
                  <a:pt x="584381" y="106893"/>
                </a:lnTo>
                <a:lnTo>
                  <a:pt x="583742" y="106557"/>
                </a:lnTo>
                <a:lnTo>
                  <a:pt x="582710" y="106603"/>
                </a:lnTo>
                <a:lnTo>
                  <a:pt x="581872" y="107178"/>
                </a:lnTo>
                <a:lnTo>
                  <a:pt x="581121" y="108807"/>
                </a:lnTo>
                <a:lnTo>
                  <a:pt x="580505" y="109331"/>
                </a:lnTo>
                <a:lnTo>
                  <a:pt x="579534" y="109653"/>
                </a:lnTo>
                <a:lnTo>
                  <a:pt x="577354" y="109277"/>
                </a:lnTo>
                <a:lnTo>
                  <a:pt x="576327" y="106646"/>
                </a:lnTo>
                <a:lnTo>
                  <a:pt x="576921" y="105850"/>
                </a:lnTo>
                <a:lnTo>
                  <a:pt x="578306" y="105021"/>
                </a:lnTo>
                <a:lnTo>
                  <a:pt x="578851" y="104363"/>
                </a:lnTo>
                <a:lnTo>
                  <a:pt x="578435" y="103375"/>
                </a:lnTo>
                <a:lnTo>
                  <a:pt x="577618" y="102799"/>
                </a:lnTo>
                <a:lnTo>
                  <a:pt x="575126" y="104166"/>
                </a:lnTo>
                <a:lnTo>
                  <a:pt x="574101" y="103825"/>
                </a:lnTo>
                <a:lnTo>
                  <a:pt x="573648" y="102910"/>
                </a:lnTo>
                <a:lnTo>
                  <a:pt x="574608" y="100087"/>
                </a:lnTo>
                <a:lnTo>
                  <a:pt x="574469" y="99195"/>
                </a:lnTo>
                <a:lnTo>
                  <a:pt x="574021" y="98563"/>
                </a:lnTo>
                <a:lnTo>
                  <a:pt x="573280" y="97942"/>
                </a:lnTo>
                <a:lnTo>
                  <a:pt x="572571" y="97847"/>
                </a:lnTo>
                <a:lnTo>
                  <a:pt x="570558" y="98938"/>
                </a:lnTo>
                <a:lnTo>
                  <a:pt x="568831" y="98720"/>
                </a:lnTo>
                <a:lnTo>
                  <a:pt x="568153" y="97884"/>
                </a:lnTo>
                <a:lnTo>
                  <a:pt x="567890" y="97054"/>
                </a:lnTo>
                <a:lnTo>
                  <a:pt x="566554" y="95005"/>
                </a:lnTo>
                <a:lnTo>
                  <a:pt x="565671" y="92573"/>
                </a:lnTo>
                <a:lnTo>
                  <a:pt x="564707" y="90783"/>
                </a:lnTo>
                <a:lnTo>
                  <a:pt x="565067" y="89377"/>
                </a:lnTo>
                <a:lnTo>
                  <a:pt x="565933" y="88171"/>
                </a:lnTo>
                <a:lnTo>
                  <a:pt x="566015" y="87456"/>
                </a:lnTo>
                <a:lnTo>
                  <a:pt x="565737" y="86858"/>
                </a:lnTo>
                <a:lnTo>
                  <a:pt x="564843" y="86506"/>
                </a:lnTo>
                <a:lnTo>
                  <a:pt x="564208" y="86647"/>
                </a:lnTo>
                <a:lnTo>
                  <a:pt x="563564" y="87282"/>
                </a:lnTo>
                <a:lnTo>
                  <a:pt x="562066" y="87627"/>
                </a:lnTo>
                <a:lnTo>
                  <a:pt x="561358" y="87421"/>
                </a:lnTo>
                <a:lnTo>
                  <a:pt x="560891" y="86439"/>
                </a:lnTo>
                <a:lnTo>
                  <a:pt x="560886" y="85536"/>
                </a:lnTo>
                <a:lnTo>
                  <a:pt x="561347" y="84713"/>
                </a:lnTo>
                <a:lnTo>
                  <a:pt x="562555" y="84347"/>
                </a:lnTo>
                <a:lnTo>
                  <a:pt x="563332" y="83403"/>
                </a:lnTo>
                <a:lnTo>
                  <a:pt x="564992" y="82406"/>
                </a:lnTo>
                <a:lnTo>
                  <a:pt x="565439" y="81345"/>
                </a:lnTo>
                <a:lnTo>
                  <a:pt x="562845" y="81662"/>
                </a:lnTo>
                <a:lnTo>
                  <a:pt x="562169" y="81138"/>
                </a:lnTo>
                <a:lnTo>
                  <a:pt x="562111" y="80134"/>
                </a:lnTo>
                <a:lnTo>
                  <a:pt x="561461" y="79632"/>
                </a:lnTo>
                <a:lnTo>
                  <a:pt x="559562" y="79775"/>
                </a:lnTo>
                <a:lnTo>
                  <a:pt x="558620" y="79278"/>
                </a:lnTo>
                <a:lnTo>
                  <a:pt x="556735" y="76244"/>
                </a:lnTo>
                <a:lnTo>
                  <a:pt x="557455" y="75196"/>
                </a:lnTo>
                <a:lnTo>
                  <a:pt x="558325" y="72225"/>
                </a:lnTo>
                <a:lnTo>
                  <a:pt x="557827" y="71625"/>
                </a:lnTo>
                <a:lnTo>
                  <a:pt x="556833" y="71340"/>
                </a:lnTo>
                <a:lnTo>
                  <a:pt x="554954" y="71808"/>
                </a:lnTo>
                <a:lnTo>
                  <a:pt x="554260" y="72321"/>
                </a:lnTo>
                <a:lnTo>
                  <a:pt x="553440" y="71555"/>
                </a:lnTo>
                <a:lnTo>
                  <a:pt x="552842" y="69673"/>
                </a:lnTo>
                <a:lnTo>
                  <a:pt x="550519" y="67710"/>
                </a:lnTo>
                <a:lnTo>
                  <a:pt x="550173" y="66949"/>
                </a:lnTo>
                <a:lnTo>
                  <a:pt x="550624" y="66053"/>
                </a:lnTo>
                <a:lnTo>
                  <a:pt x="552732" y="65191"/>
                </a:lnTo>
                <a:lnTo>
                  <a:pt x="553500" y="63942"/>
                </a:lnTo>
                <a:lnTo>
                  <a:pt x="553764" y="61640"/>
                </a:lnTo>
                <a:lnTo>
                  <a:pt x="553645" y="60854"/>
                </a:lnTo>
                <a:lnTo>
                  <a:pt x="553119" y="60138"/>
                </a:lnTo>
                <a:lnTo>
                  <a:pt x="552247" y="59771"/>
                </a:lnTo>
                <a:lnTo>
                  <a:pt x="550116" y="61160"/>
                </a:lnTo>
                <a:lnTo>
                  <a:pt x="548821" y="61128"/>
                </a:lnTo>
                <a:lnTo>
                  <a:pt x="548062" y="60589"/>
                </a:lnTo>
                <a:lnTo>
                  <a:pt x="547521" y="59573"/>
                </a:lnTo>
                <a:lnTo>
                  <a:pt x="547555" y="58986"/>
                </a:lnTo>
                <a:lnTo>
                  <a:pt x="548103" y="58461"/>
                </a:lnTo>
                <a:lnTo>
                  <a:pt x="548056" y="57619"/>
                </a:lnTo>
                <a:lnTo>
                  <a:pt x="547252" y="57156"/>
                </a:lnTo>
                <a:lnTo>
                  <a:pt x="546935" y="56424"/>
                </a:lnTo>
                <a:lnTo>
                  <a:pt x="547141" y="55730"/>
                </a:lnTo>
                <a:lnTo>
                  <a:pt x="547708" y="55225"/>
                </a:lnTo>
                <a:lnTo>
                  <a:pt x="547653" y="54495"/>
                </a:lnTo>
                <a:lnTo>
                  <a:pt x="546223" y="52646"/>
                </a:lnTo>
                <a:lnTo>
                  <a:pt x="545493" y="52788"/>
                </a:lnTo>
                <a:lnTo>
                  <a:pt x="544882" y="52495"/>
                </a:lnTo>
                <a:lnTo>
                  <a:pt x="544770" y="51766"/>
                </a:lnTo>
                <a:lnTo>
                  <a:pt x="545559" y="50177"/>
                </a:lnTo>
                <a:lnTo>
                  <a:pt x="545084" y="49184"/>
                </a:lnTo>
                <a:lnTo>
                  <a:pt x="542092" y="48294"/>
                </a:lnTo>
                <a:lnTo>
                  <a:pt x="541238" y="47070"/>
                </a:lnTo>
                <a:lnTo>
                  <a:pt x="540464" y="46686"/>
                </a:lnTo>
                <a:lnTo>
                  <a:pt x="540043" y="45942"/>
                </a:lnTo>
                <a:lnTo>
                  <a:pt x="540981" y="44011"/>
                </a:lnTo>
                <a:lnTo>
                  <a:pt x="541090" y="42191"/>
                </a:lnTo>
                <a:lnTo>
                  <a:pt x="540705" y="41489"/>
                </a:lnTo>
                <a:lnTo>
                  <a:pt x="538446" y="40499"/>
                </a:lnTo>
                <a:lnTo>
                  <a:pt x="536627" y="40013"/>
                </a:lnTo>
                <a:lnTo>
                  <a:pt x="535478" y="37640"/>
                </a:lnTo>
                <a:lnTo>
                  <a:pt x="532443" y="37147"/>
                </a:lnTo>
                <a:lnTo>
                  <a:pt x="532051" y="35816"/>
                </a:lnTo>
                <a:lnTo>
                  <a:pt x="531510" y="34855"/>
                </a:lnTo>
                <a:lnTo>
                  <a:pt x="530750" y="34135"/>
                </a:lnTo>
                <a:lnTo>
                  <a:pt x="527633" y="33223"/>
                </a:lnTo>
                <a:lnTo>
                  <a:pt x="526056" y="31491"/>
                </a:lnTo>
                <a:lnTo>
                  <a:pt x="526306" y="29947"/>
                </a:lnTo>
                <a:lnTo>
                  <a:pt x="526046" y="28962"/>
                </a:lnTo>
                <a:lnTo>
                  <a:pt x="525711" y="28581"/>
                </a:lnTo>
                <a:lnTo>
                  <a:pt x="524445" y="28443"/>
                </a:lnTo>
                <a:lnTo>
                  <a:pt x="523981" y="27987"/>
                </a:lnTo>
                <a:lnTo>
                  <a:pt x="523634" y="26502"/>
                </a:lnTo>
                <a:lnTo>
                  <a:pt x="522963" y="25107"/>
                </a:lnTo>
                <a:lnTo>
                  <a:pt x="521932" y="24231"/>
                </a:lnTo>
                <a:lnTo>
                  <a:pt x="521226" y="24183"/>
                </a:lnTo>
                <a:lnTo>
                  <a:pt x="520362" y="23426"/>
                </a:lnTo>
                <a:lnTo>
                  <a:pt x="518042" y="22749"/>
                </a:lnTo>
                <a:lnTo>
                  <a:pt x="516439" y="23782"/>
                </a:lnTo>
                <a:lnTo>
                  <a:pt x="515697" y="23269"/>
                </a:lnTo>
                <a:lnTo>
                  <a:pt x="515171" y="21872"/>
                </a:lnTo>
                <a:lnTo>
                  <a:pt x="513636" y="20086"/>
                </a:lnTo>
                <a:lnTo>
                  <a:pt x="512754" y="20209"/>
                </a:lnTo>
                <a:lnTo>
                  <a:pt x="512347" y="21324"/>
                </a:lnTo>
                <a:lnTo>
                  <a:pt x="511637" y="22396"/>
                </a:lnTo>
                <a:lnTo>
                  <a:pt x="510511" y="22646"/>
                </a:lnTo>
                <a:lnTo>
                  <a:pt x="507269" y="19053"/>
                </a:lnTo>
                <a:lnTo>
                  <a:pt x="506915" y="18222"/>
                </a:lnTo>
                <a:lnTo>
                  <a:pt x="505745" y="17601"/>
                </a:lnTo>
                <a:lnTo>
                  <a:pt x="502860" y="17893"/>
                </a:lnTo>
                <a:lnTo>
                  <a:pt x="501535" y="18578"/>
                </a:lnTo>
                <a:lnTo>
                  <a:pt x="500617" y="17831"/>
                </a:lnTo>
                <a:lnTo>
                  <a:pt x="499648" y="15024"/>
                </a:lnTo>
                <a:lnTo>
                  <a:pt x="498173" y="14592"/>
                </a:lnTo>
                <a:lnTo>
                  <a:pt x="496447" y="13452"/>
                </a:lnTo>
                <a:lnTo>
                  <a:pt x="496236" y="12331"/>
                </a:lnTo>
                <a:lnTo>
                  <a:pt x="496692" y="11536"/>
                </a:lnTo>
                <a:lnTo>
                  <a:pt x="496732" y="10354"/>
                </a:lnTo>
                <a:lnTo>
                  <a:pt x="496085" y="9923"/>
                </a:lnTo>
                <a:lnTo>
                  <a:pt x="494037" y="10119"/>
                </a:lnTo>
                <a:lnTo>
                  <a:pt x="493272" y="9767"/>
                </a:lnTo>
                <a:lnTo>
                  <a:pt x="492971" y="7456"/>
                </a:lnTo>
                <a:lnTo>
                  <a:pt x="488982" y="6830"/>
                </a:lnTo>
                <a:lnTo>
                  <a:pt x="487616" y="3451"/>
                </a:lnTo>
                <a:lnTo>
                  <a:pt x="484371" y="1323"/>
                </a:lnTo>
                <a:lnTo>
                  <a:pt x="483015" y="0"/>
                </a:lnTo>
                <a:lnTo>
                  <a:pt x="485376" y="76475"/>
                </a:lnTo>
                <a:lnTo>
                  <a:pt x="487590" y="149083"/>
                </a:lnTo>
                <a:lnTo>
                  <a:pt x="489823" y="221358"/>
                </a:lnTo>
                <a:lnTo>
                  <a:pt x="492025" y="294495"/>
                </a:lnTo>
                <a:lnTo>
                  <a:pt x="494460" y="366041"/>
                </a:lnTo>
                <a:lnTo>
                  <a:pt x="496887" y="443360"/>
                </a:lnTo>
                <a:lnTo>
                  <a:pt x="499357" y="517501"/>
                </a:lnTo>
                <a:lnTo>
                  <a:pt x="501502" y="588875"/>
                </a:lnTo>
                <a:lnTo>
                  <a:pt x="500080" y="588561"/>
                </a:lnTo>
                <a:lnTo>
                  <a:pt x="497686" y="588680"/>
                </a:lnTo>
                <a:lnTo>
                  <a:pt x="494218" y="590514"/>
                </a:lnTo>
                <a:lnTo>
                  <a:pt x="492281" y="590962"/>
                </a:lnTo>
                <a:lnTo>
                  <a:pt x="489551" y="592093"/>
                </a:lnTo>
                <a:lnTo>
                  <a:pt x="488115" y="592082"/>
                </a:lnTo>
                <a:lnTo>
                  <a:pt x="486877" y="591570"/>
                </a:lnTo>
                <a:lnTo>
                  <a:pt x="485924" y="591474"/>
                </a:lnTo>
                <a:lnTo>
                  <a:pt x="484236" y="591835"/>
                </a:lnTo>
                <a:lnTo>
                  <a:pt x="483788" y="592138"/>
                </a:lnTo>
                <a:lnTo>
                  <a:pt x="482505" y="594150"/>
                </a:lnTo>
                <a:lnTo>
                  <a:pt x="480964" y="594230"/>
                </a:lnTo>
                <a:lnTo>
                  <a:pt x="480147" y="594690"/>
                </a:lnTo>
                <a:lnTo>
                  <a:pt x="479125" y="596552"/>
                </a:lnTo>
                <a:lnTo>
                  <a:pt x="479320" y="598088"/>
                </a:lnTo>
                <a:lnTo>
                  <a:pt x="478468" y="599208"/>
                </a:lnTo>
                <a:lnTo>
                  <a:pt x="477122" y="601724"/>
                </a:lnTo>
                <a:lnTo>
                  <a:pt x="475536" y="602682"/>
                </a:lnTo>
                <a:lnTo>
                  <a:pt x="473587" y="602495"/>
                </a:lnTo>
                <a:lnTo>
                  <a:pt x="472069" y="601712"/>
                </a:lnTo>
                <a:lnTo>
                  <a:pt x="470709" y="601722"/>
                </a:lnTo>
                <a:lnTo>
                  <a:pt x="469322" y="600460"/>
                </a:lnTo>
                <a:lnTo>
                  <a:pt x="467899" y="599803"/>
                </a:lnTo>
                <a:lnTo>
                  <a:pt x="464817" y="599411"/>
                </a:lnTo>
                <a:lnTo>
                  <a:pt x="463611" y="599802"/>
                </a:lnTo>
                <a:lnTo>
                  <a:pt x="462025" y="601102"/>
                </a:lnTo>
                <a:lnTo>
                  <a:pt x="460947" y="602935"/>
                </a:lnTo>
                <a:lnTo>
                  <a:pt x="459055" y="604737"/>
                </a:lnTo>
                <a:lnTo>
                  <a:pt x="455754" y="605547"/>
                </a:lnTo>
                <a:lnTo>
                  <a:pt x="455444" y="606759"/>
                </a:lnTo>
                <a:lnTo>
                  <a:pt x="455097" y="607048"/>
                </a:lnTo>
                <a:lnTo>
                  <a:pt x="454543" y="607004"/>
                </a:lnTo>
                <a:lnTo>
                  <a:pt x="453764" y="606130"/>
                </a:lnTo>
                <a:lnTo>
                  <a:pt x="451688" y="605393"/>
                </a:lnTo>
                <a:lnTo>
                  <a:pt x="449969" y="604237"/>
                </a:lnTo>
                <a:lnTo>
                  <a:pt x="448859" y="604019"/>
                </a:lnTo>
                <a:lnTo>
                  <a:pt x="447426" y="604363"/>
                </a:lnTo>
                <a:lnTo>
                  <a:pt x="446239" y="605313"/>
                </a:lnTo>
                <a:lnTo>
                  <a:pt x="444877" y="605765"/>
                </a:lnTo>
                <a:lnTo>
                  <a:pt x="443318" y="607171"/>
                </a:lnTo>
                <a:lnTo>
                  <a:pt x="442406" y="607191"/>
                </a:lnTo>
                <a:lnTo>
                  <a:pt x="441518" y="606742"/>
                </a:lnTo>
                <a:lnTo>
                  <a:pt x="440525" y="607009"/>
                </a:lnTo>
                <a:lnTo>
                  <a:pt x="437817" y="609727"/>
                </a:lnTo>
                <a:lnTo>
                  <a:pt x="437760" y="610348"/>
                </a:lnTo>
                <a:lnTo>
                  <a:pt x="438114" y="611335"/>
                </a:lnTo>
                <a:lnTo>
                  <a:pt x="437593" y="614634"/>
                </a:lnTo>
                <a:lnTo>
                  <a:pt x="436656" y="616721"/>
                </a:lnTo>
                <a:lnTo>
                  <a:pt x="434800" y="617337"/>
                </a:lnTo>
                <a:lnTo>
                  <a:pt x="432568" y="618584"/>
                </a:lnTo>
                <a:lnTo>
                  <a:pt x="432174" y="619115"/>
                </a:lnTo>
                <a:lnTo>
                  <a:pt x="431770" y="620278"/>
                </a:lnTo>
                <a:lnTo>
                  <a:pt x="432081" y="623681"/>
                </a:lnTo>
                <a:lnTo>
                  <a:pt x="431357" y="624869"/>
                </a:lnTo>
                <a:lnTo>
                  <a:pt x="431178" y="625822"/>
                </a:lnTo>
                <a:lnTo>
                  <a:pt x="431232" y="628643"/>
                </a:lnTo>
                <a:lnTo>
                  <a:pt x="430890" y="629931"/>
                </a:lnTo>
                <a:lnTo>
                  <a:pt x="430888" y="631822"/>
                </a:lnTo>
                <a:lnTo>
                  <a:pt x="429304" y="633163"/>
                </a:lnTo>
                <a:lnTo>
                  <a:pt x="427553" y="636207"/>
                </a:lnTo>
                <a:lnTo>
                  <a:pt x="424295" y="638270"/>
                </a:lnTo>
                <a:lnTo>
                  <a:pt x="422580" y="638675"/>
                </a:lnTo>
                <a:lnTo>
                  <a:pt x="420562" y="640395"/>
                </a:lnTo>
                <a:lnTo>
                  <a:pt x="418792" y="641477"/>
                </a:lnTo>
                <a:lnTo>
                  <a:pt x="416439" y="641069"/>
                </a:lnTo>
                <a:lnTo>
                  <a:pt x="415422" y="641707"/>
                </a:lnTo>
                <a:lnTo>
                  <a:pt x="414732" y="641699"/>
                </a:lnTo>
                <a:lnTo>
                  <a:pt x="411360" y="642744"/>
                </a:lnTo>
                <a:lnTo>
                  <a:pt x="408887" y="641723"/>
                </a:lnTo>
                <a:lnTo>
                  <a:pt x="408034" y="641673"/>
                </a:lnTo>
                <a:lnTo>
                  <a:pt x="406761" y="642012"/>
                </a:lnTo>
                <a:lnTo>
                  <a:pt x="404548" y="641202"/>
                </a:lnTo>
                <a:lnTo>
                  <a:pt x="403508" y="641370"/>
                </a:lnTo>
                <a:lnTo>
                  <a:pt x="399737" y="643132"/>
                </a:lnTo>
                <a:lnTo>
                  <a:pt x="398292" y="645922"/>
                </a:lnTo>
                <a:lnTo>
                  <a:pt x="397910" y="648221"/>
                </a:lnTo>
                <a:lnTo>
                  <a:pt x="396801" y="650591"/>
                </a:lnTo>
                <a:lnTo>
                  <a:pt x="396039" y="653390"/>
                </a:lnTo>
                <a:lnTo>
                  <a:pt x="395992" y="654603"/>
                </a:lnTo>
                <a:lnTo>
                  <a:pt x="396489" y="656931"/>
                </a:lnTo>
                <a:lnTo>
                  <a:pt x="396910" y="657817"/>
                </a:lnTo>
                <a:lnTo>
                  <a:pt x="397601" y="658454"/>
                </a:lnTo>
                <a:lnTo>
                  <a:pt x="397764" y="659603"/>
                </a:lnTo>
                <a:lnTo>
                  <a:pt x="398699" y="661706"/>
                </a:lnTo>
                <a:lnTo>
                  <a:pt x="400347" y="663847"/>
                </a:lnTo>
                <a:lnTo>
                  <a:pt x="400852" y="664008"/>
                </a:lnTo>
                <a:lnTo>
                  <a:pt x="402377" y="663867"/>
                </a:lnTo>
                <a:lnTo>
                  <a:pt x="403625" y="664615"/>
                </a:lnTo>
                <a:lnTo>
                  <a:pt x="404551" y="665985"/>
                </a:lnTo>
                <a:lnTo>
                  <a:pt x="404509" y="667394"/>
                </a:lnTo>
                <a:lnTo>
                  <a:pt x="403923" y="668550"/>
                </a:lnTo>
                <a:lnTo>
                  <a:pt x="402760" y="669847"/>
                </a:lnTo>
                <a:lnTo>
                  <a:pt x="398760" y="668822"/>
                </a:lnTo>
                <a:lnTo>
                  <a:pt x="397374" y="668981"/>
                </a:lnTo>
                <a:lnTo>
                  <a:pt x="396392" y="669890"/>
                </a:lnTo>
                <a:lnTo>
                  <a:pt x="395520" y="670353"/>
                </a:lnTo>
                <a:lnTo>
                  <a:pt x="394893" y="671334"/>
                </a:lnTo>
                <a:lnTo>
                  <a:pt x="394534" y="672446"/>
                </a:lnTo>
                <a:lnTo>
                  <a:pt x="390826" y="676387"/>
                </a:lnTo>
                <a:lnTo>
                  <a:pt x="387416" y="678139"/>
                </a:lnTo>
                <a:lnTo>
                  <a:pt x="386208" y="678378"/>
                </a:lnTo>
                <a:lnTo>
                  <a:pt x="385044" y="679008"/>
                </a:lnTo>
                <a:lnTo>
                  <a:pt x="383765" y="679267"/>
                </a:lnTo>
                <a:lnTo>
                  <a:pt x="382285" y="678932"/>
                </a:lnTo>
                <a:lnTo>
                  <a:pt x="381413" y="679446"/>
                </a:lnTo>
                <a:lnTo>
                  <a:pt x="380963" y="680013"/>
                </a:lnTo>
                <a:lnTo>
                  <a:pt x="379987" y="680421"/>
                </a:lnTo>
                <a:lnTo>
                  <a:pt x="376986" y="679946"/>
                </a:lnTo>
                <a:lnTo>
                  <a:pt x="374982" y="679126"/>
                </a:lnTo>
                <a:lnTo>
                  <a:pt x="373340" y="678843"/>
                </a:lnTo>
                <a:lnTo>
                  <a:pt x="372617" y="677693"/>
                </a:lnTo>
                <a:lnTo>
                  <a:pt x="371418" y="676877"/>
                </a:lnTo>
                <a:lnTo>
                  <a:pt x="370954" y="676143"/>
                </a:lnTo>
                <a:lnTo>
                  <a:pt x="368866" y="674729"/>
                </a:lnTo>
                <a:lnTo>
                  <a:pt x="366960" y="674364"/>
                </a:lnTo>
                <a:lnTo>
                  <a:pt x="365056" y="674856"/>
                </a:lnTo>
                <a:lnTo>
                  <a:pt x="364206" y="674571"/>
                </a:lnTo>
                <a:lnTo>
                  <a:pt x="363712" y="673754"/>
                </a:lnTo>
                <a:lnTo>
                  <a:pt x="363341" y="671525"/>
                </a:lnTo>
                <a:lnTo>
                  <a:pt x="362307" y="669608"/>
                </a:lnTo>
                <a:lnTo>
                  <a:pt x="362179" y="668680"/>
                </a:lnTo>
                <a:lnTo>
                  <a:pt x="361654" y="667894"/>
                </a:lnTo>
                <a:lnTo>
                  <a:pt x="360898" y="667570"/>
                </a:lnTo>
                <a:lnTo>
                  <a:pt x="360083" y="666430"/>
                </a:lnTo>
                <a:lnTo>
                  <a:pt x="358600" y="665336"/>
                </a:lnTo>
                <a:lnTo>
                  <a:pt x="357004" y="665237"/>
                </a:lnTo>
                <a:lnTo>
                  <a:pt x="353335" y="663409"/>
                </a:lnTo>
                <a:lnTo>
                  <a:pt x="352016" y="663158"/>
                </a:lnTo>
                <a:lnTo>
                  <a:pt x="348972" y="663311"/>
                </a:lnTo>
                <a:lnTo>
                  <a:pt x="347829" y="662799"/>
                </a:lnTo>
                <a:lnTo>
                  <a:pt x="346181" y="662687"/>
                </a:lnTo>
                <a:lnTo>
                  <a:pt x="344331" y="662138"/>
                </a:lnTo>
                <a:lnTo>
                  <a:pt x="343904" y="662314"/>
                </a:lnTo>
                <a:lnTo>
                  <a:pt x="341899" y="661803"/>
                </a:lnTo>
                <a:lnTo>
                  <a:pt x="340443" y="662627"/>
                </a:lnTo>
                <a:lnTo>
                  <a:pt x="339114" y="662548"/>
                </a:lnTo>
                <a:lnTo>
                  <a:pt x="338439" y="662043"/>
                </a:lnTo>
                <a:lnTo>
                  <a:pt x="337331" y="661791"/>
                </a:lnTo>
                <a:lnTo>
                  <a:pt x="336788" y="661868"/>
                </a:lnTo>
                <a:lnTo>
                  <a:pt x="336013" y="662418"/>
                </a:lnTo>
                <a:lnTo>
                  <a:pt x="333264" y="662001"/>
                </a:lnTo>
                <a:lnTo>
                  <a:pt x="332876" y="661645"/>
                </a:lnTo>
                <a:lnTo>
                  <a:pt x="332225" y="661628"/>
                </a:lnTo>
                <a:lnTo>
                  <a:pt x="331123" y="662264"/>
                </a:lnTo>
                <a:lnTo>
                  <a:pt x="329946" y="661551"/>
                </a:lnTo>
                <a:lnTo>
                  <a:pt x="328974" y="661782"/>
                </a:lnTo>
                <a:lnTo>
                  <a:pt x="326905" y="660769"/>
                </a:lnTo>
                <a:lnTo>
                  <a:pt x="324081" y="660497"/>
                </a:lnTo>
                <a:lnTo>
                  <a:pt x="322166" y="660995"/>
                </a:lnTo>
                <a:lnTo>
                  <a:pt x="321421" y="661553"/>
                </a:lnTo>
                <a:lnTo>
                  <a:pt x="321165" y="661442"/>
                </a:lnTo>
                <a:lnTo>
                  <a:pt x="321080" y="661760"/>
                </a:lnTo>
                <a:lnTo>
                  <a:pt x="318325" y="662441"/>
                </a:lnTo>
                <a:lnTo>
                  <a:pt x="315827" y="662412"/>
                </a:lnTo>
                <a:lnTo>
                  <a:pt x="314337" y="662937"/>
                </a:lnTo>
                <a:lnTo>
                  <a:pt x="311827" y="662371"/>
                </a:lnTo>
                <a:lnTo>
                  <a:pt x="309709" y="662633"/>
                </a:lnTo>
                <a:lnTo>
                  <a:pt x="309220" y="662857"/>
                </a:lnTo>
                <a:lnTo>
                  <a:pt x="308459" y="663761"/>
                </a:lnTo>
                <a:lnTo>
                  <a:pt x="306509" y="664933"/>
                </a:lnTo>
                <a:lnTo>
                  <a:pt x="304380" y="665556"/>
                </a:lnTo>
                <a:lnTo>
                  <a:pt x="301308" y="665564"/>
                </a:lnTo>
                <a:lnTo>
                  <a:pt x="300636" y="666009"/>
                </a:lnTo>
                <a:lnTo>
                  <a:pt x="297170" y="667201"/>
                </a:lnTo>
                <a:lnTo>
                  <a:pt x="296372" y="667654"/>
                </a:lnTo>
                <a:lnTo>
                  <a:pt x="295545" y="669086"/>
                </a:lnTo>
                <a:lnTo>
                  <a:pt x="293696" y="671125"/>
                </a:lnTo>
                <a:lnTo>
                  <a:pt x="292774" y="671349"/>
                </a:lnTo>
                <a:lnTo>
                  <a:pt x="290641" y="670904"/>
                </a:lnTo>
                <a:lnTo>
                  <a:pt x="289563" y="670366"/>
                </a:lnTo>
                <a:lnTo>
                  <a:pt x="287840" y="670385"/>
                </a:lnTo>
                <a:lnTo>
                  <a:pt x="286576" y="670836"/>
                </a:lnTo>
                <a:lnTo>
                  <a:pt x="285483" y="671861"/>
                </a:lnTo>
                <a:lnTo>
                  <a:pt x="284721" y="672259"/>
                </a:lnTo>
                <a:lnTo>
                  <a:pt x="281243" y="673509"/>
                </a:lnTo>
                <a:lnTo>
                  <a:pt x="280425" y="673497"/>
                </a:lnTo>
                <a:lnTo>
                  <a:pt x="278677" y="672926"/>
                </a:lnTo>
                <a:lnTo>
                  <a:pt x="277136" y="673111"/>
                </a:lnTo>
                <a:lnTo>
                  <a:pt x="273209" y="672668"/>
                </a:lnTo>
                <a:lnTo>
                  <a:pt x="272497" y="672370"/>
                </a:lnTo>
                <a:lnTo>
                  <a:pt x="271575" y="671246"/>
                </a:lnTo>
                <a:lnTo>
                  <a:pt x="270758" y="670734"/>
                </a:lnTo>
                <a:lnTo>
                  <a:pt x="268856" y="671339"/>
                </a:lnTo>
                <a:lnTo>
                  <a:pt x="267893" y="671133"/>
                </a:lnTo>
                <a:lnTo>
                  <a:pt x="263785" y="671686"/>
                </a:lnTo>
                <a:lnTo>
                  <a:pt x="258474" y="671089"/>
                </a:lnTo>
                <a:lnTo>
                  <a:pt x="257938" y="671473"/>
                </a:lnTo>
                <a:lnTo>
                  <a:pt x="257628" y="672967"/>
                </a:lnTo>
                <a:lnTo>
                  <a:pt x="257141" y="673818"/>
                </a:lnTo>
                <a:lnTo>
                  <a:pt x="256367" y="674108"/>
                </a:lnTo>
                <a:lnTo>
                  <a:pt x="253289" y="673665"/>
                </a:lnTo>
                <a:lnTo>
                  <a:pt x="252327" y="673781"/>
                </a:lnTo>
                <a:lnTo>
                  <a:pt x="249842" y="676543"/>
                </a:lnTo>
                <a:lnTo>
                  <a:pt x="248820" y="677373"/>
                </a:lnTo>
                <a:lnTo>
                  <a:pt x="248153" y="677492"/>
                </a:lnTo>
                <a:lnTo>
                  <a:pt x="247064" y="676808"/>
                </a:lnTo>
                <a:lnTo>
                  <a:pt x="246101" y="675557"/>
                </a:lnTo>
                <a:lnTo>
                  <a:pt x="244279" y="674650"/>
                </a:lnTo>
                <a:lnTo>
                  <a:pt x="242079" y="673966"/>
                </a:lnTo>
                <a:lnTo>
                  <a:pt x="240312" y="674554"/>
                </a:lnTo>
                <a:lnTo>
                  <a:pt x="239423" y="674506"/>
                </a:lnTo>
                <a:lnTo>
                  <a:pt x="237039" y="673185"/>
                </a:lnTo>
                <a:lnTo>
                  <a:pt x="235457" y="671827"/>
                </a:lnTo>
                <a:lnTo>
                  <a:pt x="232916" y="670875"/>
                </a:lnTo>
                <a:lnTo>
                  <a:pt x="232166" y="670834"/>
                </a:lnTo>
                <a:lnTo>
                  <a:pt x="229524" y="672051"/>
                </a:lnTo>
                <a:lnTo>
                  <a:pt x="228733" y="672068"/>
                </a:lnTo>
                <a:lnTo>
                  <a:pt x="227710" y="671707"/>
                </a:lnTo>
                <a:lnTo>
                  <a:pt x="225972" y="669764"/>
                </a:lnTo>
                <a:lnTo>
                  <a:pt x="224704" y="667355"/>
                </a:lnTo>
                <a:lnTo>
                  <a:pt x="224106" y="666899"/>
                </a:lnTo>
                <a:lnTo>
                  <a:pt x="223680" y="666883"/>
                </a:lnTo>
                <a:lnTo>
                  <a:pt x="222992" y="666270"/>
                </a:lnTo>
                <a:lnTo>
                  <a:pt x="222534" y="665551"/>
                </a:lnTo>
                <a:lnTo>
                  <a:pt x="222588" y="664498"/>
                </a:lnTo>
                <a:lnTo>
                  <a:pt x="221215" y="663073"/>
                </a:lnTo>
                <a:lnTo>
                  <a:pt x="220691" y="662897"/>
                </a:lnTo>
                <a:lnTo>
                  <a:pt x="219766" y="661647"/>
                </a:lnTo>
                <a:lnTo>
                  <a:pt x="218962" y="661167"/>
                </a:lnTo>
                <a:lnTo>
                  <a:pt x="218512" y="661380"/>
                </a:lnTo>
                <a:lnTo>
                  <a:pt x="218125" y="661238"/>
                </a:lnTo>
                <a:lnTo>
                  <a:pt x="216957" y="659263"/>
                </a:lnTo>
                <a:lnTo>
                  <a:pt x="215221" y="657920"/>
                </a:lnTo>
                <a:lnTo>
                  <a:pt x="214340" y="657894"/>
                </a:lnTo>
                <a:lnTo>
                  <a:pt x="212712" y="658709"/>
                </a:lnTo>
                <a:lnTo>
                  <a:pt x="211356" y="658503"/>
                </a:lnTo>
                <a:lnTo>
                  <a:pt x="210927" y="658116"/>
                </a:lnTo>
                <a:lnTo>
                  <a:pt x="210830" y="657444"/>
                </a:lnTo>
                <a:lnTo>
                  <a:pt x="209927" y="655679"/>
                </a:lnTo>
                <a:lnTo>
                  <a:pt x="209242" y="655054"/>
                </a:lnTo>
                <a:lnTo>
                  <a:pt x="208664" y="654865"/>
                </a:lnTo>
                <a:lnTo>
                  <a:pt x="207919" y="655082"/>
                </a:lnTo>
                <a:lnTo>
                  <a:pt x="207264" y="656279"/>
                </a:lnTo>
                <a:lnTo>
                  <a:pt x="205984" y="655646"/>
                </a:lnTo>
                <a:lnTo>
                  <a:pt x="203390" y="655091"/>
                </a:lnTo>
                <a:lnTo>
                  <a:pt x="196065" y="654987"/>
                </a:lnTo>
                <a:lnTo>
                  <a:pt x="194898" y="654121"/>
                </a:lnTo>
                <a:lnTo>
                  <a:pt x="192767" y="654098"/>
                </a:lnTo>
                <a:lnTo>
                  <a:pt x="189352" y="654821"/>
                </a:lnTo>
                <a:lnTo>
                  <a:pt x="187820" y="654296"/>
                </a:lnTo>
                <a:lnTo>
                  <a:pt x="186048" y="652810"/>
                </a:lnTo>
                <a:lnTo>
                  <a:pt x="184690" y="652152"/>
                </a:lnTo>
                <a:lnTo>
                  <a:pt x="183734" y="652586"/>
                </a:lnTo>
                <a:lnTo>
                  <a:pt x="182898" y="654930"/>
                </a:lnTo>
                <a:lnTo>
                  <a:pt x="182295" y="655520"/>
                </a:lnTo>
                <a:lnTo>
                  <a:pt x="181188" y="655640"/>
                </a:lnTo>
                <a:lnTo>
                  <a:pt x="179803" y="653738"/>
                </a:lnTo>
                <a:lnTo>
                  <a:pt x="179243" y="653345"/>
                </a:lnTo>
                <a:lnTo>
                  <a:pt x="178336" y="653248"/>
                </a:lnTo>
                <a:lnTo>
                  <a:pt x="177382" y="653592"/>
                </a:lnTo>
                <a:lnTo>
                  <a:pt x="176732" y="654227"/>
                </a:lnTo>
                <a:lnTo>
                  <a:pt x="175787" y="656056"/>
                </a:lnTo>
                <a:lnTo>
                  <a:pt x="174949" y="656936"/>
                </a:lnTo>
                <a:lnTo>
                  <a:pt x="173167" y="657932"/>
                </a:lnTo>
                <a:lnTo>
                  <a:pt x="170486" y="658317"/>
                </a:lnTo>
                <a:lnTo>
                  <a:pt x="167278" y="656790"/>
                </a:lnTo>
                <a:lnTo>
                  <a:pt x="166826" y="656761"/>
                </a:lnTo>
                <a:lnTo>
                  <a:pt x="166962" y="657031"/>
                </a:lnTo>
                <a:lnTo>
                  <a:pt x="166518" y="657053"/>
                </a:lnTo>
                <a:lnTo>
                  <a:pt x="165998" y="656447"/>
                </a:lnTo>
                <a:lnTo>
                  <a:pt x="164847" y="654197"/>
                </a:lnTo>
                <a:lnTo>
                  <a:pt x="165225" y="651293"/>
                </a:lnTo>
                <a:lnTo>
                  <a:pt x="165149" y="650516"/>
                </a:lnTo>
                <a:lnTo>
                  <a:pt x="164700" y="649944"/>
                </a:lnTo>
                <a:lnTo>
                  <a:pt x="164733" y="648817"/>
                </a:lnTo>
                <a:lnTo>
                  <a:pt x="162997" y="645955"/>
                </a:lnTo>
                <a:lnTo>
                  <a:pt x="161664" y="645081"/>
                </a:lnTo>
                <a:lnTo>
                  <a:pt x="160299" y="645181"/>
                </a:lnTo>
                <a:lnTo>
                  <a:pt x="158607" y="644720"/>
                </a:lnTo>
                <a:lnTo>
                  <a:pt x="156796" y="645323"/>
                </a:lnTo>
                <a:lnTo>
                  <a:pt x="156556" y="645585"/>
                </a:lnTo>
                <a:lnTo>
                  <a:pt x="156505" y="646462"/>
                </a:lnTo>
                <a:lnTo>
                  <a:pt x="155007" y="647405"/>
                </a:lnTo>
                <a:lnTo>
                  <a:pt x="152413" y="647261"/>
                </a:lnTo>
                <a:lnTo>
                  <a:pt x="148528" y="646465"/>
                </a:lnTo>
                <a:lnTo>
                  <a:pt x="147762" y="646521"/>
                </a:lnTo>
                <a:lnTo>
                  <a:pt x="146590" y="647045"/>
                </a:lnTo>
                <a:lnTo>
                  <a:pt x="145183" y="648577"/>
                </a:lnTo>
                <a:lnTo>
                  <a:pt x="143699" y="648187"/>
                </a:lnTo>
                <a:lnTo>
                  <a:pt x="142604" y="649163"/>
                </a:lnTo>
                <a:lnTo>
                  <a:pt x="140849" y="650047"/>
                </a:lnTo>
                <a:lnTo>
                  <a:pt x="139365" y="651534"/>
                </a:lnTo>
                <a:lnTo>
                  <a:pt x="138288" y="651844"/>
                </a:lnTo>
                <a:lnTo>
                  <a:pt x="137679" y="651626"/>
                </a:lnTo>
                <a:lnTo>
                  <a:pt x="137194" y="650964"/>
                </a:lnTo>
                <a:lnTo>
                  <a:pt x="136519" y="650535"/>
                </a:lnTo>
                <a:lnTo>
                  <a:pt x="137317" y="647522"/>
                </a:lnTo>
                <a:lnTo>
                  <a:pt x="136633" y="643541"/>
                </a:lnTo>
                <a:lnTo>
                  <a:pt x="136840" y="642937"/>
                </a:lnTo>
                <a:lnTo>
                  <a:pt x="138255" y="641062"/>
                </a:lnTo>
                <a:lnTo>
                  <a:pt x="138436" y="640074"/>
                </a:lnTo>
                <a:lnTo>
                  <a:pt x="137953" y="637464"/>
                </a:lnTo>
                <a:lnTo>
                  <a:pt x="138503" y="635733"/>
                </a:lnTo>
                <a:lnTo>
                  <a:pt x="138590" y="634277"/>
                </a:lnTo>
                <a:lnTo>
                  <a:pt x="138331" y="633379"/>
                </a:lnTo>
                <a:lnTo>
                  <a:pt x="137521" y="632032"/>
                </a:lnTo>
                <a:lnTo>
                  <a:pt x="138439" y="629256"/>
                </a:lnTo>
                <a:lnTo>
                  <a:pt x="138307" y="627817"/>
                </a:lnTo>
                <a:lnTo>
                  <a:pt x="137970" y="627133"/>
                </a:lnTo>
                <a:lnTo>
                  <a:pt x="137166" y="626490"/>
                </a:lnTo>
                <a:lnTo>
                  <a:pt x="135520" y="626086"/>
                </a:lnTo>
                <a:lnTo>
                  <a:pt x="133509" y="626636"/>
                </a:lnTo>
                <a:lnTo>
                  <a:pt x="132241" y="627647"/>
                </a:lnTo>
                <a:lnTo>
                  <a:pt x="131587" y="627662"/>
                </a:lnTo>
                <a:lnTo>
                  <a:pt x="130960" y="627353"/>
                </a:lnTo>
                <a:lnTo>
                  <a:pt x="130338" y="626268"/>
                </a:lnTo>
                <a:lnTo>
                  <a:pt x="130269" y="622179"/>
                </a:lnTo>
                <a:lnTo>
                  <a:pt x="130116" y="622474"/>
                </a:lnTo>
                <a:lnTo>
                  <a:pt x="129320" y="619732"/>
                </a:lnTo>
                <a:lnTo>
                  <a:pt x="128607" y="618659"/>
                </a:lnTo>
                <a:lnTo>
                  <a:pt x="128493" y="617988"/>
                </a:lnTo>
                <a:lnTo>
                  <a:pt x="127396" y="617060"/>
                </a:lnTo>
                <a:lnTo>
                  <a:pt x="125533" y="616582"/>
                </a:lnTo>
                <a:lnTo>
                  <a:pt x="124714" y="615923"/>
                </a:lnTo>
                <a:lnTo>
                  <a:pt x="123462" y="612688"/>
                </a:lnTo>
                <a:lnTo>
                  <a:pt x="123701" y="610883"/>
                </a:lnTo>
                <a:lnTo>
                  <a:pt x="124171" y="609481"/>
                </a:lnTo>
                <a:lnTo>
                  <a:pt x="124094" y="608978"/>
                </a:lnTo>
                <a:lnTo>
                  <a:pt x="125164" y="607662"/>
                </a:lnTo>
                <a:lnTo>
                  <a:pt x="125349" y="606698"/>
                </a:lnTo>
                <a:lnTo>
                  <a:pt x="126270" y="606296"/>
                </a:lnTo>
                <a:lnTo>
                  <a:pt x="130454" y="606094"/>
                </a:lnTo>
                <a:lnTo>
                  <a:pt x="131984" y="604561"/>
                </a:lnTo>
                <a:lnTo>
                  <a:pt x="133703" y="599893"/>
                </a:lnTo>
                <a:lnTo>
                  <a:pt x="134093" y="596121"/>
                </a:lnTo>
                <a:lnTo>
                  <a:pt x="133477" y="595283"/>
                </a:lnTo>
                <a:lnTo>
                  <a:pt x="132554" y="592773"/>
                </a:lnTo>
                <a:lnTo>
                  <a:pt x="130978" y="590705"/>
                </a:lnTo>
                <a:lnTo>
                  <a:pt x="129087" y="589033"/>
                </a:lnTo>
                <a:lnTo>
                  <a:pt x="128172" y="587583"/>
                </a:lnTo>
                <a:lnTo>
                  <a:pt x="128387" y="585842"/>
                </a:lnTo>
                <a:lnTo>
                  <a:pt x="129010" y="584272"/>
                </a:lnTo>
                <a:lnTo>
                  <a:pt x="128845" y="583380"/>
                </a:lnTo>
                <a:lnTo>
                  <a:pt x="127091" y="580708"/>
                </a:lnTo>
                <a:lnTo>
                  <a:pt x="125831" y="580120"/>
                </a:lnTo>
                <a:lnTo>
                  <a:pt x="125190" y="578620"/>
                </a:lnTo>
                <a:lnTo>
                  <a:pt x="124656" y="576505"/>
                </a:lnTo>
                <a:lnTo>
                  <a:pt x="122888" y="574218"/>
                </a:lnTo>
                <a:lnTo>
                  <a:pt x="122190" y="573822"/>
                </a:lnTo>
                <a:lnTo>
                  <a:pt x="121855" y="572970"/>
                </a:lnTo>
                <a:lnTo>
                  <a:pt x="121294" y="572521"/>
                </a:lnTo>
                <a:lnTo>
                  <a:pt x="117637" y="572458"/>
                </a:lnTo>
                <a:lnTo>
                  <a:pt x="117000" y="572831"/>
                </a:lnTo>
                <a:lnTo>
                  <a:pt x="114258" y="575801"/>
                </a:lnTo>
                <a:lnTo>
                  <a:pt x="113622" y="576091"/>
                </a:lnTo>
                <a:lnTo>
                  <a:pt x="112967" y="576065"/>
                </a:lnTo>
                <a:lnTo>
                  <a:pt x="111201" y="575204"/>
                </a:lnTo>
                <a:lnTo>
                  <a:pt x="110335" y="575052"/>
                </a:lnTo>
                <a:lnTo>
                  <a:pt x="109634" y="575282"/>
                </a:lnTo>
                <a:lnTo>
                  <a:pt x="108226" y="576777"/>
                </a:lnTo>
                <a:lnTo>
                  <a:pt x="106967" y="577318"/>
                </a:lnTo>
                <a:lnTo>
                  <a:pt x="105827" y="577318"/>
                </a:lnTo>
                <a:lnTo>
                  <a:pt x="104624" y="576966"/>
                </a:lnTo>
                <a:lnTo>
                  <a:pt x="101710" y="573877"/>
                </a:lnTo>
                <a:lnTo>
                  <a:pt x="100555" y="572102"/>
                </a:lnTo>
                <a:lnTo>
                  <a:pt x="99666" y="570079"/>
                </a:lnTo>
                <a:lnTo>
                  <a:pt x="99773" y="568209"/>
                </a:lnTo>
                <a:lnTo>
                  <a:pt x="99589" y="566764"/>
                </a:lnTo>
                <a:lnTo>
                  <a:pt x="100733" y="561669"/>
                </a:lnTo>
                <a:lnTo>
                  <a:pt x="100989" y="558114"/>
                </a:lnTo>
                <a:lnTo>
                  <a:pt x="100657" y="557289"/>
                </a:lnTo>
                <a:lnTo>
                  <a:pt x="100590" y="555671"/>
                </a:lnTo>
                <a:lnTo>
                  <a:pt x="100164" y="554696"/>
                </a:lnTo>
                <a:lnTo>
                  <a:pt x="99266" y="553757"/>
                </a:lnTo>
                <a:lnTo>
                  <a:pt x="98273" y="553281"/>
                </a:lnTo>
                <a:lnTo>
                  <a:pt x="96455" y="553618"/>
                </a:lnTo>
                <a:lnTo>
                  <a:pt x="95519" y="553269"/>
                </a:lnTo>
                <a:lnTo>
                  <a:pt x="93300" y="553041"/>
                </a:lnTo>
                <a:lnTo>
                  <a:pt x="92390" y="552673"/>
                </a:lnTo>
                <a:lnTo>
                  <a:pt x="91346" y="551515"/>
                </a:lnTo>
                <a:lnTo>
                  <a:pt x="90346" y="548623"/>
                </a:lnTo>
                <a:lnTo>
                  <a:pt x="85789" y="544597"/>
                </a:lnTo>
                <a:lnTo>
                  <a:pt x="84840" y="544241"/>
                </a:lnTo>
                <a:lnTo>
                  <a:pt x="83921" y="543461"/>
                </a:lnTo>
                <a:lnTo>
                  <a:pt x="83462" y="543438"/>
                </a:lnTo>
                <a:lnTo>
                  <a:pt x="82548" y="543784"/>
                </a:lnTo>
                <a:lnTo>
                  <a:pt x="81786" y="545112"/>
                </a:lnTo>
                <a:lnTo>
                  <a:pt x="79619" y="546279"/>
                </a:lnTo>
                <a:lnTo>
                  <a:pt x="76044" y="546705"/>
                </a:lnTo>
                <a:lnTo>
                  <a:pt x="75417" y="547002"/>
                </a:lnTo>
                <a:lnTo>
                  <a:pt x="74821" y="547917"/>
                </a:lnTo>
                <a:lnTo>
                  <a:pt x="74233" y="549579"/>
                </a:lnTo>
                <a:lnTo>
                  <a:pt x="73708" y="550376"/>
                </a:lnTo>
                <a:lnTo>
                  <a:pt x="73004" y="550869"/>
                </a:lnTo>
                <a:lnTo>
                  <a:pt x="72166" y="550788"/>
                </a:lnTo>
                <a:lnTo>
                  <a:pt x="71247" y="550231"/>
                </a:lnTo>
                <a:lnTo>
                  <a:pt x="70715" y="549287"/>
                </a:lnTo>
                <a:lnTo>
                  <a:pt x="69804" y="548649"/>
                </a:lnTo>
                <a:lnTo>
                  <a:pt x="68656" y="548452"/>
                </a:lnTo>
                <a:lnTo>
                  <a:pt x="66864" y="550869"/>
                </a:lnTo>
                <a:lnTo>
                  <a:pt x="66102" y="551373"/>
                </a:lnTo>
                <a:lnTo>
                  <a:pt x="64949" y="551451"/>
                </a:lnTo>
                <a:lnTo>
                  <a:pt x="62377" y="550567"/>
                </a:lnTo>
                <a:lnTo>
                  <a:pt x="58982" y="550957"/>
                </a:lnTo>
                <a:lnTo>
                  <a:pt x="58118" y="551597"/>
                </a:lnTo>
                <a:lnTo>
                  <a:pt x="57897" y="552432"/>
                </a:lnTo>
                <a:lnTo>
                  <a:pt x="56461" y="553872"/>
                </a:lnTo>
                <a:lnTo>
                  <a:pt x="55911" y="555593"/>
                </a:lnTo>
                <a:lnTo>
                  <a:pt x="56426" y="557608"/>
                </a:lnTo>
                <a:lnTo>
                  <a:pt x="56974" y="558014"/>
                </a:lnTo>
                <a:lnTo>
                  <a:pt x="57279" y="558866"/>
                </a:lnTo>
                <a:lnTo>
                  <a:pt x="57441" y="561979"/>
                </a:lnTo>
                <a:lnTo>
                  <a:pt x="57263" y="563191"/>
                </a:lnTo>
                <a:lnTo>
                  <a:pt x="56787" y="563928"/>
                </a:lnTo>
                <a:lnTo>
                  <a:pt x="57040" y="565913"/>
                </a:lnTo>
                <a:lnTo>
                  <a:pt x="57537" y="567495"/>
                </a:lnTo>
                <a:lnTo>
                  <a:pt x="56777" y="568414"/>
                </a:lnTo>
                <a:lnTo>
                  <a:pt x="55178" y="569101"/>
                </a:lnTo>
                <a:lnTo>
                  <a:pt x="54089" y="567764"/>
                </a:lnTo>
                <a:lnTo>
                  <a:pt x="51425" y="566599"/>
                </a:lnTo>
                <a:lnTo>
                  <a:pt x="50576" y="566503"/>
                </a:lnTo>
                <a:lnTo>
                  <a:pt x="49429" y="566957"/>
                </a:lnTo>
                <a:lnTo>
                  <a:pt x="49012" y="567447"/>
                </a:lnTo>
                <a:lnTo>
                  <a:pt x="48863" y="568261"/>
                </a:lnTo>
                <a:lnTo>
                  <a:pt x="49437" y="569664"/>
                </a:lnTo>
                <a:lnTo>
                  <a:pt x="50448" y="570760"/>
                </a:lnTo>
                <a:lnTo>
                  <a:pt x="51507" y="571129"/>
                </a:lnTo>
                <a:lnTo>
                  <a:pt x="52518" y="571836"/>
                </a:lnTo>
                <a:lnTo>
                  <a:pt x="53433" y="573113"/>
                </a:lnTo>
                <a:lnTo>
                  <a:pt x="53372" y="573994"/>
                </a:lnTo>
                <a:lnTo>
                  <a:pt x="52269" y="574766"/>
                </a:lnTo>
                <a:lnTo>
                  <a:pt x="50138" y="575133"/>
                </a:lnTo>
                <a:lnTo>
                  <a:pt x="48287" y="575165"/>
                </a:lnTo>
                <a:lnTo>
                  <a:pt x="46960" y="574696"/>
                </a:lnTo>
                <a:lnTo>
                  <a:pt x="46453" y="575020"/>
                </a:lnTo>
                <a:lnTo>
                  <a:pt x="45941" y="576087"/>
                </a:lnTo>
                <a:lnTo>
                  <a:pt x="46032" y="576924"/>
                </a:lnTo>
                <a:lnTo>
                  <a:pt x="46563" y="577899"/>
                </a:lnTo>
                <a:lnTo>
                  <a:pt x="48448" y="578811"/>
                </a:lnTo>
                <a:lnTo>
                  <a:pt x="49414" y="579612"/>
                </a:lnTo>
                <a:lnTo>
                  <a:pt x="49697" y="581066"/>
                </a:lnTo>
                <a:lnTo>
                  <a:pt x="49689" y="582673"/>
                </a:lnTo>
                <a:lnTo>
                  <a:pt x="49463" y="583469"/>
                </a:lnTo>
                <a:lnTo>
                  <a:pt x="48887" y="584289"/>
                </a:lnTo>
                <a:lnTo>
                  <a:pt x="48191" y="584684"/>
                </a:lnTo>
                <a:lnTo>
                  <a:pt x="46348" y="584681"/>
                </a:lnTo>
                <a:lnTo>
                  <a:pt x="44998" y="584050"/>
                </a:lnTo>
                <a:lnTo>
                  <a:pt x="43235" y="582419"/>
                </a:lnTo>
                <a:lnTo>
                  <a:pt x="42507" y="582270"/>
                </a:lnTo>
                <a:lnTo>
                  <a:pt x="40240" y="582971"/>
                </a:lnTo>
                <a:lnTo>
                  <a:pt x="39526" y="584650"/>
                </a:lnTo>
                <a:lnTo>
                  <a:pt x="39333" y="587556"/>
                </a:lnTo>
                <a:lnTo>
                  <a:pt x="39880" y="589343"/>
                </a:lnTo>
                <a:lnTo>
                  <a:pt x="41565" y="591195"/>
                </a:lnTo>
                <a:lnTo>
                  <a:pt x="43582" y="592299"/>
                </a:lnTo>
                <a:lnTo>
                  <a:pt x="45092" y="596154"/>
                </a:lnTo>
                <a:lnTo>
                  <a:pt x="46885" y="597370"/>
                </a:lnTo>
                <a:lnTo>
                  <a:pt x="47804" y="598147"/>
                </a:lnTo>
                <a:lnTo>
                  <a:pt x="48031" y="598618"/>
                </a:lnTo>
                <a:lnTo>
                  <a:pt x="47269" y="599078"/>
                </a:lnTo>
                <a:lnTo>
                  <a:pt x="45396" y="601873"/>
                </a:lnTo>
                <a:lnTo>
                  <a:pt x="42788" y="604407"/>
                </a:lnTo>
                <a:lnTo>
                  <a:pt x="42617" y="606468"/>
                </a:lnTo>
                <a:lnTo>
                  <a:pt x="44025" y="610317"/>
                </a:lnTo>
                <a:lnTo>
                  <a:pt x="44264" y="611640"/>
                </a:lnTo>
                <a:lnTo>
                  <a:pt x="43293" y="613516"/>
                </a:lnTo>
                <a:lnTo>
                  <a:pt x="41786" y="614331"/>
                </a:lnTo>
                <a:lnTo>
                  <a:pt x="40745" y="615402"/>
                </a:lnTo>
                <a:lnTo>
                  <a:pt x="38738" y="620436"/>
                </a:lnTo>
                <a:lnTo>
                  <a:pt x="36725" y="621631"/>
                </a:lnTo>
                <a:lnTo>
                  <a:pt x="34266" y="621242"/>
                </a:lnTo>
                <a:lnTo>
                  <a:pt x="33578" y="620332"/>
                </a:lnTo>
                <a:lnTo>
                  <a:pt x="33430" y="618409"/>
                </a:lnTo>
                <a:lnTo>
                  <a:pt x="32942" y="617546"/>
                </a:lnTo>
                <a:lnTo>
                  <a:pt x="31852" y="616955"/>
                </a:lnTo>
                <a:lnTo>
                  <a:pt x="31033" y="616980"/>
                </a:lnTo>
                <a:lnTo>
                  <a:pt x="29805" y="617422"/>
                </a:lnTo>
                <a:lnTo>
                  <a:pt x="22809" y="622318"/>
                </a:lnTo>
                <a:lnTo>
                  <a:pt x="22342" y="623084"/>
                </a:lnTo>
                <a:lnTo>
                  <a:pt x="22011" y="625265"/>
                </a:lnTo>
                <a:lnTo>
                  <a:pt x="20437" y="627360"/>
                </a:lnTo>
                <a:lnTo>
                  <a:pt x="19094" y="628233"/>
                </a:lnTo>
                <a:lnTo>
                  <a:pt x="16728" y="628839"/>
                </a:lnTo>
                <a:lnTo>
                  <a:pt x="13102" y="630330"/>
                </a:lnTo>
                <a:lnTo>
                  <a:pt x="10467" y="631821"/>
                </a:lnTo>
                <a:lnTo>
                  <a:pt x="8769" y="632197"/>
                </a:lnTo>
                <a:lnTo>
                  <a:pt x="8254" y="632579"/>
                </a:lnTo>
                <a:lnTo>
                  <a:pt x="6541" y="632775"/>
                </a:lnTo>
                <a:lnTo>
                  <a:pt x="6272" y="633292"/>
                </a:lnTo>
                <a:lnTo>
                  <a:pt x="4675" y="633517"/>
                </a:lnTo>
                <a:lnTo>
                  <a:pt x="3585" y="633957"/>
                </a:lnTo>
                <a:lnTo>
                  <a:pt x="3325" y="634363"/>
                </a:lnTo>
                <a:lnTo>
                  <a:pt x="1838" y="635368"/>
                </a:lnTo>
                <a:lnTo>
                  <a:pt x="1578" y="636961"/>
                </a:lnTo>
                <a:lnTo>
                  <a:pt x="310" y="638510"/>
                </a:lnTo>
                <a:lnTo>
                  <a:pt x="0" y="641755"/>
                </a:lnTo>
                <a:lnTo>
                  <a:pt x="267" y="643158"/>
                </a:lnTo>
                <a:lnTo>
                  <a:pt x="159" y="644974"/>
                </a:lnTo>
                <a:lnTo>
                  <a:pt x="4452" y="647465"/>
                </a:lnTo>
                <a:lnTo>
                  <a:pt x="5569" y="648573"/>
                </a:lnTo>
                <a:lnTo>
                  <a:pt x="5868" y="648479"/>
                </a:lnTo>
                <a:lnTo>
                  <a:pt x="5991" y="648748"/>
                </a:lnTo>
                <a:lnTo>
                  <a:pt x="6377" y="648836"/>
                </a:lnTo>
                <a:lnTo>
                  <a:pt x="6826" y="649530"/>
                </a:lnTo>
                <a:lnTo>
                  <a:pt x="7882" y="649877"/>
                </a:lnTo>
                <a:lnTo>
                  <a:pt x="8220" y="650818"/>
                </a:lnTo>
                <a:lnTo>
                  <a:pt x="9093" y="650456"/>
                </a:lnTo>
                <a:lnTo>
                  <a:pt x="9138" y="650697"/>
                </a:lnTo>
                <a:lnTo>
                  <a:pt x="8704" y="651170"/>
                </a:lnTo>
                <a:lnTo>
                  <a:pt x="8860" y="651581"/>
                </a:lnTo>
                <a:lnTo>
                  <a:pt x="9608" y="652036"/>
                </a:lnTo>
                <a:lnTo>
                  <a:pt x="9622" y="652660"/>
                </a:lnTo>
                <a:lnTo>
                  <a:pt x="10054" y="653191"/>
                </a:lnTo>
                <a:lnTo>
                  <a:pt x="10398" y="653152"/>
                </a:lnTo>
                <a:lnTo>
                  <a:pt x="10716" y="653529"/>
                </a:lnTo>
                <a:lnTo>
                  <a:pt x="10994" y="653533"/>
                </a:lnTo>
                <a:lnTo>
                  <a:pt x="11009" y="653997"/>
                </a:lnTo>
                <a:lnTo>
                  <a:pt x="12041" y="654545"/>
                </a:lnTo>
                <a:lnTo>
                  <a:pt x="12221" y="655613"/>
                </a:lnTo>
                <a:lnTo>
                  <a:pt x="12541" y="655714"/>
                </a:lnTo>
                <a:lnTo>
                  <a:pt x="12669" y="656164"/>
                </a:lnTo>
                <a:lnTo>
                  <a:pt x="13610" y="656588"/>
                </a:lnTo>
                <a:lnTo>
                  <a:pt x="14178" y="656268"/>
                </a:lnTo>
                <a:lnTo>
                  <a:pt x="14999" y="656639"/>
                </a:lnTo>
                <a:lnTo>
                  <a:pt x="15487" y="657073"/>
                </a:lnTo>
                <a:lnTo>
                  <a:pt x="15426" y="657622"/>
                </a:lnTo>
                <a:lnTo>
                  <a:pt x="16139" y="657599"/>
                </a:lnTo>
                <a:lnTo>
                  <a:pt x="16642" y="658024"/>
                </a:lnTo>
                <a:lnTo>
                  <a:pt x="17054" y="658853"/>
                </a:lnTo>
                <a:lnTo>
                  <a:pt x="17871" y="659342"/>
                </a:lnTo>
                <a:lnTo>
                  <a:pt x="17724" y="659913"/>
                </a:lnTo>
                <a:lnTo>
                  <a:pt x="18263" y="661254"/>
                </a:lnTo>
                <a:lnTo>
                  <a:pt x="17981" y="661970"/>
                </a:lnTo>
                <a:lnTo>
                  <a:pt x="18238" y="661967"/>
                </a:lnTo>
                <a:lnTo>
                  <a:pt x="18261" y="662161"/>
                </a:lnTo>
                <a:lnTo>
                  <a:pt x="17977" y="662318"/>
                </a:lnTo>
                <a:lnTo>
                  <a:pt x="17791" y="663329"/>
                </a:lnTo>
                <a:lnTo>
                  <a:pt x="17086" y="664068"/>
                </a:lnTo>
                <a:lnTo>
                  <a:pt x="16962" y="664931"/>
                </a:lnTo>
                <a:lnTo>
                  <a:pt x="17312" y="665548"/>
                </a:lnTo>
                <a:lnTo>
                  <a:pt x="17547" y="665312"/>
                </a:lnTo>
                <a:lnTo>
                  <a:pt x="17854" y="665485"/>
                </a:lnTo>
                <a:lnTo>
                  <a:pt x="17535" y="665854"/>
                </a:lnTo>
                <a:lnTo>
                  <a:pt x="17988" y="666067"/>
                </a:lnTo>
                <a:lnTo>
                  <a:pt x="18293" y="665962"/>
                </a:lnTo>
                <a:lnTo>
                  <a:pt x="18671" y="666383"/>
                </a:lnTo>
                <a:lnTo>
                  <a:pt x="18617" y="667148"/>
                </a:lnTo>
                <a:lnTo>
                  <a:pt x="18941" y="667673"/>
                </a:lnTo>
                <a:lnTo>
                  <a:pt x="18748" y="668700"/>
                </a:lnTo>
                <a:lnTo>
                  <a:pt x="19165" y="669285"/>
                </a:lnTo>
                <a:lnTo>
                  <a:pt x="19030" y="670030"/>
                </a:lnTo>
                <a:lnTo>
                  <a:pt x="19632" y="669930"/>
                </a:lnTo>
                <a:lnTo>
                  <a:pt x="20374" y="670893"/>
                </a:lnTo>
                <a:lnTo>
                  <a:pt x="20396" y="671973"/>
                </a:lnTo>
                <a:lnTo>
                  <a:pt x="20705" y="672652"/>
                </a:lnTo>
                <a:lnTo>
                  <a:pt x="20261" y="673303"/>
                </a:lnTo>
                <a:lnTo>
                  <a:pt x="20498" y="673901"/>
                </a:lnTo>
                <a:lnTo>
                  <a:pt x="20456" y="674607"/>
                </a:lnTo>
                <a:lnTo>
                  <a:pt x="20910" y="675143"/>
                </a:lnTo>
                <a:lnTo>
                  <a:pt x="20901" y="675670"/>
                </a:lnTo>
                <a:lnTo>
                  <a:pt x="21389" y="675784"/>
                </a:lnTo>
                <a:lnTo>
                  <a:pt x="21438" y="676149"/>
                </a:lnTo>
                <a:lnTo>
                  <a:pt x="22795" y="676972"/>
                </a:lnTo>
                <a:lnTo>
                  <a:pt x="22650" y="677628"/>
                </a:lnTo>
                <a:lnTo>
                  <a:pt x="23422" y="679702"/>
                </a:lnTo>
                <a:lnTo>
                  <a:pt x="23396" y="680812"/>
                </a:lnTo>
                <a:lnTo>
                  <a:pt x="23648" y="681360"/>
                </a:lnTo>
                <a:lnTo>
                  <a:pt x="24060" y="681581"/>
                </a:lnTo>
                <a:lnTo>
                  <a:pt x="23835" y="681869"/>
                </a:lnTo>
                <a:lnTo>
                  <a:pt x="23862" y="682747"/>
                </a:lnTo>
                <a:lnTo>
                  <a:pt x="24477" y="683186"/>
                </a:lnTo>
                <a:lnTo>
                  <a:pt x="25216" y="682857"/>
                </a:lnTo>
                <a:lnTo>
                  <a:pt x="25872" y="683095"/>
                </a:lnTo>
                <a:lnTo>
                  <a:pt x="27922" y="684882"/>
                </a:lnTo>
                <a:lnTo>
                  <a:pt x="28856" y="684994"/>
                </a:lnTo>
                <a:lnTo>
                  <a:pt x="31977" y="686517"/>
                </a:lnTo>
                <a:lnTo>
                  <a:pt x="33289" y="687739"/>
                </a:lnTo>
                <a:lnTo>
                  <a:pt x="34867" y="688627"/>
                </a:lnTo>
                <a:lnTo>
                  <a:pt x="35535" y="689598"/>
                </a:lnTo>
                <a:lnTo>
                  <a:pt x="36556" y="690188"/>
                </a:lnTo>
                <a:lnTo>
                  <a:pt x="36908" y="691512"/>
                </a:lnTo>
                <a:lnTo>
                  <a:pt x="37305" y="691732"/>
                </a:lnTo>
                <a:lnTo>
                  <a:pt x="37746" y="692580"/>
                </a:lnTo>
                <a:lnTo>
                  <a:pt x="38015" y="693590"/>
                </a:lnTo>
                <a:lnTo>
                  <a:pt x="37864" y="694427"/>
                </a:lnTo>
                <a:lnTo>
                  <a:pt x="38680" y="695018"/>
                </a:lnTo>
                <a:lnTo>
                  <a:pt x="38877" y="696459"/>
                </a:lnTo>
                <a:lnTo>
                  <a:pt x="39793" y="696507"/>
                </a:lnTo>
                <a:lnTo>
                  <a:pt x="40479" y="698139"/>
                </a:lnTo>
                <a:lnTo>
                  <a:pt x="41048" y="698110"/>
                </a:lnTo>
                <a:lnTo>
                  <a:pt x="41607" y="698394"/>
                </a:lnTo>
                <a:lnTo>
                  <a:pt x="41829" y="699975"/>
                </a:lnTo>
                <a:lnTo>
                  <a:pt x="41734" y="700647"/>
                </a:lnTo>
                <a:lnTo>
                  <a:pt x="41431" y="701007"/>
                </a:lnTo>
                <a:lnTo>
                  <a:pt x="41425" y="702355"/>
                </a:lnTo>
                <a:lnTo>
                  <a:pt x="42414" y="702938"/>
                </a:lnTo>
                <a:lnTo>
                  <a:pt x="42672" y="703991"/>
                </a:lnTo>
                <a:lnTo>
                  <a:pt x="45102" y="706754"/>
                </a:lnTo>
                <a:lnTo>
                  <a:pt x="45227" y="707413"/>
                </a:lnTo>
                <a:lnTo>
                  <a:pt x="46003" y="708492"/>
                </a:lnTo>
                <a:lnTo>
                  <a:pt x="47034" y="708892"/>
                </a:lnTo>
                <a:lnTo>
                  <a:pt x="47476" y="709304"/>
                </a:lnTo>
                <a:lnTo>
                  <a:pt x="47971" y="709231"/>
                </a:lnTo>
                <a:lnTo>
                  <a:pt x="50617" y="710756"/>
                </a:lnTo>
                <a:lnTo>
                  <a:pt x="52983" y="713132"/>
                </a:lnTo>
                <a:lnTo>
                  <a:pt x="53468" y="713209"/>
                </a:lnTo>
                <a:lnTo>
                  <a:pt x="53616" y="713604"/>
                </a:lnTo>
                <a:lnTo>
                  <a:pt x="54241" y="713981"/>
                </a:lnTo>
                <a:lnTo>
                  <a:pt x="54408" y="714465"/>
                </a:lnTo>
                <a:lnTo>
                  <a:pt x="54732" y="714482"/>
                </a:lnTo>
                <a:lnTo>
                  <a:pt x="56289" y="716096"/>
                </a:lnTo>
                <a:lnTo>
                  <a:pt x="56590" y="716874"/>
                </a:lnTo>
                <a:lnTo>
                  <a:pt x="56071" y="717477"/>
                </a:lnTo>
                <a:lnTo>
                  <a:pt x="56271" y="718185"/>
                </a:lnTo>
                <a:lnTo>
                  <a:pt x="55913" y="718856"/>
                </a:lnTo>
                <a:lnTo>
                  <a:pt x="56396" y="719223"/>
                </a:lnTo>
                <a:lnTo>
                  <a:pt x="56177" y="719659"/>
                </a:lnTo>
                <a:lnTo>
                  <a:pt x="57035" y="720276"/>
                </a:lnTo>
                <a:lnTo>
                  <a:pt x="57451" y="721126"/>
                </a:lnTo>
                <a:lnTo>
                  <a:pt x="57523" y="722607"/>
                </a:lnTo>
                <a:lnTo>
                  <a:pt x="58828" y="725218"/>
                </a:lnTo>
                <a:lnTo>
                  <a:pt x="58931" y="725927"/>
                </a:lnTo>
                <a:lnTo>
                  <a:pt x="59670" y="726873"/>
                </a:lnTo>
                <a:lnTo>
                  <a:pt x="59017" y="727239"/>
                </a:lnTo>
                <a:lnTo>
                  <a:pt x="59173" y="728182"/>
                </a:lnTo>
                <a:lnTo>
                  <a:pt x="59802" y="728776"/>
                </a:lnTo>
                <a:lnTo>
                  <a:pt x="59779" y="729551"/>
                </a:lnTo>
                <a:lnTo>
                  <a:pt x="60394" y="729762"/>
                </a:lnTo>
                <a:lnTo>
                  <a:pt x="60804" y="730740"/>
                </a:lnTo>
                <a:lnTo>
                  <a:pt x="60717" y="731715"/>
                </a:lnTo>
                <a:lnTo>
                  <a:pt x="61150" y="733125"/>
                </a:lnTo>
                <a:lnTo>
                  <a:pt x="60916" y="733842"/>
                </a:lnTo>
                <a:lnTo>
                  <a:pt x="60336" y="734488"/>
                </a:lnTo>
                <a:lnTo>
                  <a:pt x="60361" y="734945"/>
                </a:lnTo>
                <a:lnTo>
                  <a:pt x="61249" y="736293"/>
                </a:lnTo>
                <a:lnTo>
                  <a:pt x="61564" y="736593"/>
                </a:lnTo>
                <a:lnTo>
                  <a:pt x="61859" y="736527"/>
                </a:lnTo>
                <a:lnTo>
                  <a:pt x="61721" y="737400"/>
                </a:lnTo>
                <a:lnTo>
                  <a:pt x="62833" y="738527"/>
                </a:lnTo>
                <a:lnTo>
                  <a:pt x="62989" y="738949"/>
                </a:lnTo>
                <a:lnTo>
                  <a:pt x="62847" y="739551"/>
                </a:lnTo>
                <a:lnTo>
                  <a:pt x="63546" y="739506"/>
                </a:lnTo>
                <a:lnTo>
                  <a:pt x="64808" y="740406"/>
                </a:lnTo>
                <a:lnTo>
                  <a:pt x="65334" y="743130"/>
                </a:lnTo>
                <a:lnTo>
                  <a:pt x="65047" y="743471"/>
                </a:lnTo>
                <a:lnTo>
                  <a:pt x="65657" y="743491"/>
                </a:lnTo>
                <a:lnTo>
                  <a:pt x="65877" y="744261"/>
                </a:lnTo>
                <a:lnTo>
                  <a:pt x="66455" y="744497"/>
                </a:lnTo>
                <a:lnTo>
                  <a:pt x="66933" y="745446"/>
                </a:lnTo>
                <a:lnTo>
                  <a:pt x="66622" y="747529"/>
                </a:lnTo>
                <a:lnTo>
                  <a:pt x="67022" y="748324"/>
                </a:lnTo>
                <a:lnTo>
                  <a:pt x="67750" y="748839"/>
                </a:lnTo>
                <a:lnTo>
                  <a:pt x="68198" y="749603"/>
                </a:lnTo>
                <a:lnTo>
                  <a:pt x="68851" y="749864"/>
                </a:lnTo>
                <a:lnTo>
                  <a:pt x="69498" y="750549"/>
                </a:lnTo>
                <a:lnTo>
                  <a:pt x="69696" y="751545"/>
                </a:lnTo>
                <a:lnTo>
                  <a:pt x="70416" y="752530"/>
                </a:lnTo>
                <a:lnTo>
                  <a:pt x="70955" y="752627"/>
                </a:lnTo>
                <a:lnTo>
                  <a:pt x="71446" y="753108"/>
                </a:lnTo>
                <a:lnTo>
                  <a:pt x="71432" y="753985"/>
                </a:lnTo>
                <a:lnTo>
                  <a:pt x="71900" y="754741"/>
                </a:lnTo>
                <a:lnTo>
                  <a:pt x="72751" y="755670"/>
                </a:lnTo>
                <a:lnTo>
                  <a:pt x="73258" y="755778"/>
                </a:lnTo>
                <a:lnTo>
                  <a:pt x="74159" y="756497"/>
                </a:lnTo>
                <a:lnTo>
                  <a:pt x="74286" y="757354"/>
                </a:lnTo>
                <a:lnTo>
                  <a:pt x="75426" y="757993"/>
                </a:lnTo>
                <a:lnTo>
                  <a:pt x="75591" y="758659"/>
                </a:lnTo>
                <a:lnTo>
                  <a:pt x="76465" y="759881"/>
                </a:lnTo>
                <a:lnTo>
                  <a:pt x="76429" y="761911"/>
                </a:lnTo>
                <a:lnTo>
                  <a:pt x="76837" y="762535"/>
                </a:lnTo>
                <a:lnTo>
                  <a:pt x="76972" y="764343"/>
                </a:lnTo>
                <a:lnTo>
                  <a:pt x="77437" y="764982"/>
                </a:lnTo>
                <a:lnTo>
                  <a:pt x="77445" y="765737"/>
                </a:lnTo>
                <a:lnTo>
                  <a:pt x="78175" y="765976"/>
                </a:lnTo>
                <a:lnTo>
                  <a:pt x="78695" y="766786"/>
                </a:lnTo>
                <a:lnTo>
                  <a:pt x="78775" y="767322"/>
                </a:lnTo>
                <a:lnTo>
                  <a:pt x="79339" y="767515"/>
                </a:lnTo>
                <a:lnTo>
                  <a:pt x="79876" y="768416"/>
                </a:lnTo>
                <a:lnTo>
                  <a:pt x="80559" y="768960"/>
                </a:lnTo>
                <a:lnTo>
                  <a:pt x="80591" y="769411"/>
                </a:lnTo>
                <a:lnTo>
                  <a:pt x="80915" y="769654"/>
                </a:lnTo>
                <a:lnTo>
                  <a:pt x="80785" y="769883"/>
                </a:lnTo>
                <a:lnTo>
                  <a:pt x="81243" y="770244"/>
                </a:lnTo>
                <a:lnTo>
                  <a:pt x="81033" y="770401"/>
                </a:lnTo>
                <a:lnTo>
                  <a:pt x="81122" y="772188"/>
                </a:lnTo>
                <a:lnTo>
                  <a:pt x="81460" y="772590"/>
                </a:lnTo>
                <a:lnTo>
                  <a:pt x="81488" y="773160"/>
                </a:lnTo>
                <a:lnTo>
                  <a:pt x="81782" y="773343"/>
                </a:lnTo>
                <a:lnTo>
                  <a:pt x="81976" y="774315"/>
                </a:lnTo>
                <a:lnTo>
                  <a:pt x="82606" y="774512"/>
                </a:lnTo>
                <a:lnTo>
                  <a:pt x="82393" y="774795"/>
                </a:lnTo>
                <a:lnTo>
                  <a:pt x="82654" y="775327"/>
                </a:lnTo>
                <a:lnTo>
                  <a:pt x="82519" y="776411"/>
                </a:lnTo>
                <a:lnTo>
                  <a:pt x="83042" y="777273"/>
                </a:lnTo>
                <a:lnTo>
                  <a:pt x="83072" y="777780"/>
                </a:lnTo>
                <a:lnTo>
                  <a:pt x="83744" y="778468"/>
                </a:lnTo>
                <a:lnTo>
                  <a:pt x="83569" y="778846"/>
                </a:lnTo>
                <a:lnTo>
                  <a:pt x="83851" y="780469"/>
                </a:lnTo>
                <a:lnTo>
                  <a:pt x="83672" y="780656"/>
                </a:lnTo>
                <a:lnTo>
                  <a:pt x="85089" y="781743"/>
                </a:lnTo>
                <a:lnTo>
                  <a:pt x="85244" y="782389"/>
                </a:lnTo>
                <a:lnTo>
                  <a:pt x="84984" y="782946"/>
                </a:lnTo>
                <a:lnTo>
                  <a:pt x="85480" y="783118"/>
                </a:lnTo>
                <a:lnTo>
                  <a:pt x="85982" y="783844"/>
                </a:lnTo>
                <a:lnTo>
                  <a:pt x="85709" y="784804"/>
                </a:lnTo>
                <a:lnTo>
                  <a:pt x="85939" y="786446"/>
                </a:lnTo>
                <a:lnTo>
                  <a:pt x="86640" y="787252"/>
                </a:lnTo>
                <a:lnTo>
                  <a:pt x="86836" y="788215"/>
                </a:lnTo>
                <a:lnTo>
                  <a:pt x="87241" y="788676"/>
                </a:lnTo>
                <a:lnTo>
                  <a:pt x="87417" y="790193"/>
                </a:lnTo>
                <a:lnTo>
                  <a:pt x="86688" y="790784"/>
                </a:lnTo>
                <a:lnTo>
                  <a:pt x="86741" y="791136"/>
                </a:lnTo>
                <a:lnTo>
                  <a:pt x="86303" y="791093"/>
                </a:lnTo>
                <a:lnTo>
                  <a:pt x="86303" y="791480"/>
                </a:lnTo>
                <a:lnTo>
                  <a:pt x="87482" y="793266"/>
                </a:lnTo>
                <a:lnTo>
                  <a:pt x="88873" y="794643"/>
                </a:lnTo>
                <a:lnTo>
                  <a:pt x="89801" y="796373"/>
                </a:lnTo>
                <a:lnTo>
                  <a:pt x="90870" y="797189"/>
                </a:lnTo>
                <a:lnTo>
                  <a:pt x="91723" y="798488"/>
                </a:lnTo>
                <a:lnTo>
                  <a:pt x="91960" y="799738"/>
                </a:lnTo>
                <a:lnTo>
                  <a:pt x="91594" y="800163"/>
                </a:lnTo>
                <a:lnTo>
                  <a:pt x="91991" y="800840"/>
                </a:lnTo>
                <a:lnTo>
                  <a:pt x="91854" y="801447"/>
                </a:lnTo>
                <a:lnTo>
                  <a:pt x="92318" y="802767"/>
                </a:lnTo>
                <a:lnTo>
                  <a:pt x="92384" y="803844"/>
                </a:lnTo>
                <a:lnTo>
                  <a:pt x="93150" y="805309"/>
                </a:lnTo>
                <a:lnTo>
                  <a:pt x="93876" y="807545"/>
                </a:lnTo>
                <a:lnTo>
                  <a:pt x="94761" y="808234"/>
                </a:lnTo>
                <a:lnTo>
                  <a:pt x="95449" y="810033"/>
                </a:lnTo>
                <a:lnTo>
                  <a:pt x="95734" y="811377"/>
                </a:lnTo>
                <a:lnTo>
                  <a:pt x="95447" y="811790"/>
                </a:lnTo>
                <a:lnTo>
                  <a:pt x="95283" y="813182"/>
                </a:lnTo>
                <a:lnTo>
                  <a:pt x="95471" y="813428"/>
                </a:lnTo>
                <a:lnTo>
                  <a:pt x="95893" y="813382"/>
                </a:lnTo>
                <a:lnTo>
                  <a:pt x="96192" y="813849"/>
                </a:lnTo>
                <a:lnTo>
                  <a:pt x="96084" y="815021"/>
                </a:lnTo>
                <a:lnTo>
                  <a:pt x="96410" y="815563"/>
                </a:lnTo>
                <a:lnTo>
                  <a:pt x="96480" y="816336"/>
                </a:lnTo>
                <a:lnTo>
                  <a:pt x="96105" y="817674"/>
                </a:lnTo>
                <a:lnTo>
                  <a:pt x="96236" y="818864"/>
                </a:lnTo>
                <a:lnTo>
                  <a:pt x="96501" y="818971"/>
                </a:lnTo>
                <a:lnTo>
                  <a:pt x="96724" y="819582"/>
                </a:lnTo>
                <a:lnTo>
                  <a:pt x="96587" y="820598"/>
                </a:lnTo>
                <a:lnTo>
                  <a:pt x="97163" y="821675"/>
                </a:lnTo>
                <a:lnTo>
                  <a:pt x="97243" y="822345"/>
                </a:lnTo>
                <a:lnTo>
                  <a:pt x="98084" y="823098"/>
                </a:lnTo>
                <a:lnTo>
                  <a:pt x="97938" y="823527"/>
                </a:lnTo>
                <a:lnTo>
                  <a:pt x="98878" y="824993"/>
                </a:lnTo>
                <a:lnTo>
                  <a:pt x="98827" y="825594"/>
                </a:lnTo>
                <a:lnTo>
                  <a:pt x="99371" y="826124"/>
                </a:lnTo>
                <a:lnTo>
                  <a:pt x="99119" y="827501"/>
                </a:lnTo>
                <a:lnTo>
                  <a:pt x="100026" y="828408"/>
                </a:lnTo>
                <a:lnTo>
                  <a:pt x="100160" y="829428"/>
                </a:lnTo>
                <a:lnTo>
                  <a:pt x="99942" y="829652"/>
                </a:lnTo>
                <a:lnTo>
                  <a:pt x="99281" y="829642"/>
                </a:lnTo>
                <a:lnTo>
                  <a:pt x="99298" y="829991"/>
                </a:lnTo>
                <a:lnTo>
                  <a:pt x="99608" y="830187"/>
                </a:lnTo>
                <a:lnTo>
                  <a:pt x="99738" y="830941"/>
                </a:lnTo>
                <a:lnTo>
                  <a:pt x="100013" y="830960"/>
                </a:lnTo>
                <a:lnTo>
                  <a:pt x="100141" y="831840"/>
                </a:lnTo>
                <a:lnTo>
                  <a:pt x="100439" y="832093"/>
                </a:lnTo>
                <a:lnTo>
                  <a:pt x="100674" y="832868"/>
                </a:lnTo>
                <a:lnTo>
                  <a:pt x="101508" y="833972"/>
                </a:lnTo>
                <a:lnTo>
                  <a:pt x="101849" y="835977"/>
                </a:lnTo>
                <a:lnTo>
                  <a:pt x="103119" y="836984"/>
                </a:lnTo>
                <a:lnTo>
                  <a:pt x="103515" y="838286"/>
                </a:lnTo>
                <a:lnTo>
                  <a:pt x="104109" y="838440"/>
                </a:lnTo>
                <a:lnTo>
                  <a:pt x="103816" y="839276"/>
                </a:lnTo>
                <a:lnTo>
                  <a:pt x="104047" y="840180"/>
                </a:lnTo>
                <a:lnTo>
                  <a:pt x="103681" y="841116"/>
                </a:lnTo>
                <a:lnTo>
                  <a:pt x="104485" y="841518"/>
                </a:lnTo>
                <a:lnTo>
                  <a:pt x="104496" y="842328"/>
                </a:lnTo>
                <a:lnTo>
                  <a:pt x="105273" y="843170"/>
                </a:lnTo>
                <a:lnTo>
                  <a:pt x="105141" y="843689"/>
                </a:lnTo>
                <a:lnTo>
                  <a:pt x="105527" y="845787"/>
                </a:lnTo>
                <a:lnTo>
                  <a:pt x="106201" y="845944"/>
                </a:lnTo>
                <a:lnTo>
                  <a:pt x="106064" y="846670"/>
                </a:lnTo>
                <a:lnTo>
                  <a:pt x="106633" y="847779"/>
                </a:lnTo>
                <a:lnTo>
                  <a:pt x="106445" y="848578"/>
                </a:lnTo>
                <a:lnTo>
                  <a:pt x="106746" y="848926"/>
                </a:lnTo>
                <a:lnTo>
                  <a:pt x="107543" y="849094"/>
                </a:lnTo>
                <a:lnTo>
                  <a:pt x="108009" y="849727"/>
                </a:lnTo>
                <a:lnTo>
                  <a:pt x="107939" y="850205"/>
                </a:lnTo>
                <a:lnTo>
                  <a:pt x="108920" y="850710"/>
                </a:lnTo>
                <a:lnTo>
                  <a:pt x="110077" y="852256"/>
                </a:lnTo>
                <a:lnTo>
                  <a:pt x="110465" y="853302"/>
                </a:lnTo>
                <a:lnTo>
                  <a:pt x="110808" y="853441"/>
                </a:lnTo>
                <a:lnTo>
                  <a:pt x="111061" y="854408"/>
                </a:lnTo>
                <a:lnTo>
                  <a:pt x="111657" y="854797"/>
                </a:lnTo>
                <a:lnTo>
                  <a:pt x="112619" y="856373"/>
                </a:lnTo>
                <a:lnTo>
                  <a:pt x="112881" y="857519"/>
                </a:lnTo>
                <a:lnTo>
                  <a:pt x="112596" y="857768"/>
                </a:lnTo>
                <a:lnTo>
                  <a:pt x="112520" y="858258"/>
                </a:lnTo>
                <a:lnTo>
                  <a:pt x="113114" y="859143"/>
                </a:lnTo>
                <a:lnTo>
                  <a:pt x="113342" y="859963"/>
                </a:lnTo>
                <a:lnTo>
                  <a:pt x="113153" y="860097"/>
                </a:lnTo>
                <a:lnTo>
                  <a:pt x="113167" y="860603"/>
                </a:lnTo>
                <a:lnTo>
                  <a:pt x="112857" y="860670"/>
                </a:lnTo>
                <a:lnTo>
                  <a:pt x="112920" y="860954"/>
                </a:lnTo>
                <a:lnTo>
                  <a:pt x="113593" y="861826"/>
                </a:lnTo>
                <a:lnTo>
                  <a:pt x="113648" y="862191"/>
                </a:lnTo>
                <a:lnTo>
                  <a:pt x="113395" y="862394"/>
                </a:lnTo>
                <a:lnTo>
                  <a:pt x="113727" y="862422"/>
                </a:lnTo>
                <a:lnTo>
                  <a:pt x="113802" y="862917"/>
                </a:lnTo>
                <a:lnTo>
                  <a:pt x="114105" y="862848"/>
                </a:lnTo>
                <a:lnTo>
                  <a:pt x="114070" y="864428"/>
                </a:lnTo>
                <a:lnTo>
                  <a:pt x="114859" y="865081"/>
                </a:lnTo>
                <a:lnTo>
                  <a:pt x="115308" y="866351"/>
                </a:lnTo>
                <a:lnTo>
                  <a:pt x="115948" y="866656"/>
                </a:lnTo>
                <a:lnTo>
                  <a:pt x="115821" y="867360"/>
                </a:lnTo>
                <a:lnTo>
                  <a:pt x="116218" y="868722"/>
                </a:lnTo>
                <a:lnTo>
                  <a:pt x="116567" y="869071"/>
                </a:lnTo>
                <a:lnTo>
                  <a:pt x="116351" y="869546"/>
                </a:lnTo>
                <a:lnTo>
                  <a:pt x="116520" y="870782"/>
                </a:lnTo>
                <a:lnTo>
                  <a:pt x="116768" y="871091"/>
                </a:lnTo>
                <a:lnTo>
                  <a:pt x="116605" y="871455"/>
                </a:lnTo>
                <a:lnTo>
                  <a:pt x="117146" y="872194"/>
                </a:lnTo>
                <a:lnTo>
                  <a:pt x="117122" y="872825"/>
                </a:lnTo>
                <a:lnTo>
                  <a:pt x="117383" y="872923"/>
                </a:lnTo>
                <a:lnTo>
                  <a:pt x="116987" y="873382"/>
                </a:lnTo>
                <a:lnTo>
                  <a:pt x="116943" y="873843"/>
                </a:lnTo>
                <a:lnTo>
                  <a:pt x="117349" y="874288"/>
                </a:lnTo>
                <a:lnTo>
                  <a:pt x="117388" y="875375"/>
                </a:lnTo>
                <a:lnTo>
                  <a:pt x="118192" y="875262"/>
                </a:lnTo>
                <a:lnTo>
                  <a:pt x="118128" y="875582"/>
                </a:lnTo>
                <a:lnTo>
                  <a:pt x="117913" y="875594"/>
                </a:lnTo>
                <a:lnTo>
                  <a:pt x="118433" y="875856"/>
                </a:lnTo>
                <a:lnTo>
                  <a:pt x="118342" y="876420"/>
                </a:lnTo>
                <a:lnTo>
                  <a:pt x="118590" y="876341"/>
                </a:lnTo>
                <a:lnTo>
                  <a:pt x="118100" y="876906"/>
                </a:lnTo>
                <a:lnTo>
                  <a:pt x="118630" y="878027"/>
                </a:lnTo>
                <a:lnTo>
                  <a:pt x="118638" y="878864"/>
                </a:lnTo>
                <a:lnTo>
                  <a:pt x="118886" y="879154"/>
                </a:lnTo>
                <a:lnTo>
                  <a:pt x="119177" y="879094"/>
                </a:lnTo>
                <a:lnTo>
                  <a:pt x="118986" y="880742"/>
                </a:lnTo>
                <a:lnTo>
                  <a:pt x="119141" y="880867"/>
                </a:lnTo>
                <a:lnTo>
                  <a:pt x="119674" y="880470"/>
                </a:lnTo>
                <a:lnTo>
                  <a:pt x="119993" y="881635"/>
                </a:lnTo>
                <a:lnTo>
                  <a:pt x="120335" y="881759"/>
                </a:lnTo>
                <a:lnTo>
                  <a:pt x="120811" y="882845"/>
                </a:lnTo>
                <a:lnTo>
                  <a:pt x="121102" y="882853"/>
                </a:lnTo>
                <a:lnTo>
                  <a:pt x="121621" y="883634"/>
                </a:lnTo>
                <a:lnTo>
                  <a:pt x="122438" y="883895"/>
                </a:lnTo>
                <a:lnTo>
                  <a:pt x="123357" y="885221"/>
                </a:lnTo>
                <a:lnTo>
                  <a:pt x="123230" y="886996"/>
                </a:lnTo>
                <a:lnTo>
                  <a:pt x="123534" y="888874"/>
                </a:lnTo>
                <a:lnTo>
                  <a:pt x="123695" y="889441"/>
                </a:lnTo>
                <a:lnTo>
                  <a:pt x="123992" y="889175"/>
                </a:lnTo>
                <a:lnTo>
                  <a:pt x="124368" y="889430"/>
                </a:lnTo>
                <a:lnTo>
                  <a:pt x="124934" y="891072"/>
                </a:lnTo>
                <a:lnTo>
                  <a:pt x="125083" y="891034"/>
                </a:lnTo>
                <a:lnTo>
                  <a:pt x="124864" y="892737"/>
                </a:lnTo>
                <a:lnTo>
                  <a:pt x="125129" y="892967"/>
                </a:lnTo>
                <a:lnTo>
                  <a:pt x="125069" y="893397"/>
                </a:lnTo>
                <a:lnTo>
                  <a:pt x="125764" y="893704"/>
                </a:lnTo>
                <a:lnTo>
                  <a:pt x="125545" y="894758"/>
                </a:lnTo>
                <a:lnTo>
                  <a:pt x="125992" y="894946"/>
                </a:lnTo>
                <a:lnTo>
                  <a:pt x="126334" y="895830"/>
                </a:lnTo>
                <a:lnTo>
                  <a:pt x="126885" y="896334"/>
                </a:lnTo>
                <a:lnTo>
                  <a:pt x="127049" y="897374"/>
                </a:lnTo>
                <a:lnTo>
                  <a:pt x="127490" y="897441"/>
                </a:lnTo>
                <a:lnTo>
                  <a:pt x="127688" y="898076"/>
                </a:lnTo>
                <a:lnTo>
                  <a:pt x="128414" y="898600"/>
                </a:lnTo>
                <a:lnTo>
                  <a:pt x="129059" y="899622"/>
                </a:lnTo>
                <a:lnTo>
                  <a:pt x="129326" y="900534"/>
                </a:lnTo>
                <a:lnTo>
                  <a:pt x="128896" y="901084"/>
                </a:lnTo>
                <a:lnTo>
                  <a:pt x="129426" y="901939"/>
                </a:lnTo>
                <a:lnTo>
                  <a:pt x="129285" y="902175"/>
                </a:lnTo>
                <a:lnTo>
                  <a:pt x="129424" y="902432"/>
                </a:lnTo>
                <a:lnTo>
                  <a:pt x="130017" y="902603"/>
                </a:lnTo>
                <a:lnTo>
                  <a:pt x="130345" y="904201"/>
                </a:lnTo>
                <a:lnTo>
                  <a:pt x="130868" y="904558"/>
                </a:lnTo>
                <a:lnTo>
                  <a:pt x="131059" y="905456"/>
                </a:lnTo>
                <a:lnTo>
                  <a:pt x="130795" y="906154"/>
                </a:lnTo>
                <a:lnTo>
                  <a:pt x="131243" y="906151"/>
                </a:lnTo>
                <a:lnTo>
                  <a:pt x="131480" y="907281"/>
                </a:lnTo>
                <a:lnTo>
                  <a:pt x="130919" y="907914"/>
                </a:lnTo>
                <a:lnTo>
                  <a:pt x="131209" y="908533"/>
                </a:lnTo>
                <a:lnTo>
                  <a:pt x="131952" y="908978"/>
                </a:lnTo>
                <a:lnTo>
                  <a:pt x="131902" y="909229"/>
                </a:lnTo>
                <a:lnTo>
                  <a:pt x="131409" y="909450"/>
                </a:lnTo>
                <a:lnTo>
                  <a:pt x="131552" y="909918"/>
                </a:lnTo>
                <a:lnTo>
                  <a:pt x="131380" y="910280"/>
                </a:lnTo>
                <a:lnTo>
                  <a:pt x="132016" y="910730"/>
                </a:lnTo>
                <a:lnTo>
                  <a:pt x="131721" y="911147"/>
                </a:lnTo>
                <a:lnTo>
                  <a:pt x="131721" y="912088"/>
                </a:lnTo>
                <a:lnTo>
                  <a:pt x="132142" y="912228"/>
                </a:lnTo>
                <a:lnTo>
                  <a:pt x="132604" y="913136"/>
                </a:lnTo>
                <a:lnTo>
                  <a:pt x="132627" y="913804"/>
                </a:lnTo>
                <a:lnTo>
                  <a:pt x="133316" y="914057"/>
                </a:lnTo>
                <a:lnTo>
                  <a:pt x="133926" y="914970"/>
                </a:lnTo>
                <a:lnTo>
                  <a:pt x="134110" y="915549"/>
                </a:lnTo>
                <a:lnTo>
                  <a:pt x="133870" y="915886"/>
                </a:lnTo>
                <a:lnTo>
                  <a:pt x="134272" y="915997"/>
                </a:lnTo>
                <a:lnTo>
                  <a:pt x="135322" y="917575"/>
                </a:lnTo>
                <a:lnTo>
                  <a:pt x="135925" y="917762"/>
                </a:lnTo>
                <a:lnTo>
                  <a:pt x="137077" y="918745"/>
                </a:lnTo>
                <a:lnTo>
                  <a:pt x="137177" y="919237"/>
                </a:lnTo>
                <a:lnTo>
                  <a:pt x="136977" y="919525"/>
                </a:lnTo>
                <a:lnTo>
                  <a:pt x="137308" y="920380"/>
                </a:lnTo>
                <a:lnTo>
                  <a:pt x="137239" y="920929"/>
                </a:lnTo>
                <a:lnTo>
                  <a:pt x="138777" y="922389"/>
                </a:lnTo>
                <a:lnTo>
                  <a:pt x="138923" y="922893"/>
                </a:lnTo>
                <a:lnTo>
                  <a:pt x="139395" y="923077"/>
                </a:lnTo>
                <a:lnTo>
                  <a:pt x="139296" y="923505"/>
                </a:lnTo>
                <a:lnTo>
                  <a:pt x="140670" y="925765"/>
                </a:lnTo>
                <a:lnTo>
                  <a:pt x="140727" y="926310"/>
                </a:lnTo>
                <a:lnTo>
                  <a:pt x="141261" y="926795"/>
                </a:lnTo>
                <a:lnTo>
                  <a:pt x="141647" y="927581"/>
                </a:lnTo>
                <a:lnTo>
                  <a:pt x="142451" y="928155"/>
                </a:lnTo>
                <a:lnTo>
                  <a:pt x="142320" y="928911"/>
                </a:lnTo>
                <a:lnTo>
                  <a:pt x="142800" y="930199"/>
                </a:lnTo>
                <a:lnTo>
                  <a:pt x="143120" y="930596"/>
                </a:lnTo>
                <a:lnTo>
                  <a:pt x="143623" y="930377"/>
                </a:lnTo>
                <a:lnTo>
                  <a:pt x="144158" y="930735"/>
                </a:lnTo>
                <a:lnTo>
                  <a:pt x="144084" y="931229"/>
                </a:lnTo>
                <a:lnTo>
                  <a:pt x="143537" y="931614"/>
                </a:lnTo>
                <a:lnTo>
                  <a:pt x="143975" y="932389"/>
                </a:lnTo>
                <a:lnTo>
                  <a:pt x="144759" y="932780"/>
                </a:lnTo>
                <a:lnTo>
                  <a:pt x="145132" y="933757"/>
                </a:lnTo>
                <a:lnTo>
                  <a:pt x="144669" y="934183"/>
                </a:lnTo>
                <a:lnTo>
                  <a:pt x="145171" y="934545"/>
                </a:lnTo>
                <a:lnTo>
                  <a:pt x="145121" y="934981"/>
                </a:lnTo>
                <a:lnTo>
                  <a:pt x="145459" y="935048"/>
                </a:lnTo>
                <a:lnTo>
                  <a:pt x="145425" y="935445"/>
                </a:lnTo>
                <a:lnTo>
                  <a:pt x="145867" y="935414"/>
                </a:lnTo>
                <a:lnTo>
                  <a:pt x="146251" y="935754"/>
                </a:lnTo>
                <a:lnTo>
                  <a:pt x="145945" y="936245"/>
                </a:lnTo>
                <a:lnTo>
                  <a:pt x="146597" y="936751"/>
                </a:lnTo>
                <a:lnTo>
                  <a:pt x="146850" y="937668"/>
                </a:lnTo>
                <a:lnTo>
                  <a:pt x="147789" y="938226"/>
                </a:lnTo>
                <a:lnTo>
                  <a:pt x="148710" y="939726"/>
                </a:lnTo>
                <a:lnTo>
                  <a:pt x="150258" y="941223"/>
                </a:lnTo>
                <a:lnTo>
                  <a:pt x="150524" y="941985"/>
                </a:lnTo>
                <a:lnTo>
                  <a:pt x="151314" y="942369"/>
                </a:lnTo>
                <a:lnTo>
                  <a:pt x="151408" y="943176"/>
                </a:lnTo>
                <a:lnTo>
                  <a:pt x="152184" y="943623"/>
                </a:lnTo>
                <a:lnTo>
                  <a:pt x="151901" y="944186"/>
                </a:lnTo>
                <a:lnTo>
                  <a:pt x="152226" y="945106"/>
                </a:lnTo>
                <a:lnTo>
                  <a:pt x="153408" y="946466"/>
                </a:lnTo>
                <a:lnTo>
                  <a:pt x="153113" y="947624"/>
                </a:lnTo>
                <a:lnTo>
                  <a:pt x="154697" y="949077"/>
                </a:lnTo>
                <a:lnTo>
                  <a:pt x="157803" y="952901"/>
                </a:lnTo>
                <a:lnTo>
                  <a:pt x="158013" y="953648"/>
                </a:lnTo>
                <a:lnTo>
                  <a:pt x="157682" y="953862"/>
                </a:lnTo>
                <a:lnTo>
                  <a:pt x="157528" y="955095"/>
                </a:lnTo>
                <a:lnTo>
                  <a:pt x="156964" y="955650"/>
                </a:lnTo>
                <a:lnTo>
                  <a:pt x="157033" y="956213"/>
                </a:lnTo>
                <a:lnTo>
                  <a:pt x="156567" y="956857"/>
                </a:lnTo>
                <a:lnTo>
                  <a:pt x="158472" y="958007"/>
                </a:lnTo>
                <a:lnTo>
                  <a:pt x="158563" y="958600"/>
                </a:lnTo>
                <a:lnTo>
                  <a:pt x="158778" y="958540"/>
                </a:lnTo>
                <a:lnTo>
                  <a:pt x="158996" y="958877"/>
                </a:lnTo>
                <a:lnTo>
                  <a:pt x="159171" y="959993"/>
                </a:lnTo>
                <a:lnTo>
                  <a:pt x="160156" y="960595"/>
                </a:lnTo>
                <a:lnTo>
                  <a:pt x="160999" y="961492"/>
                </a:lnTo>
                <a:lnTo>
                  <a:pt x="161238" y="961974"/>
                </a:lnTo>
                <a:lnTo>
                  <a:pt x="160996" y="962291"/>
                </a:lnTo>
                <a:lnTo>
                  <a:pt x="161074" y="962769"/>
                </a:lnTo>
                <a:lnTo>
                  <a:pt x="161339" y="963530"/>
                </a:lnTo>
                <a:lnTo>
                  <a:pt x="161536" y="963525"/>
                </a:lnTo>
                <a:lnTo>
                  <a:pt x="161417" y="963729"/>
                </a:lnTo>
                <a:lnTo>
                  <a:pt x="161697" y="963692"/>
                </a:lnTo>
                <a:lnTo>
                  <a:pt x="162443" y="964858"/>
                </a:lnTo>
                <a:lnTo>
                  <a:pt x="162314" y="964975"/>
                </a:lnTo>
                <a:lnTo>
                  <a:pt x="162621" y="965645"/>
                </a:lnTo>
                <a:lnTo>
                  <a:pt x="162400" y="966070"/>
                </a:lnTo>
                <a:lnTo>
                  <a:pt x="162462" y="966607"/>
                </a:lnTo>
                <a:lnTo>
                  <a:pt x="162792" y="966905"/>
                </a:lnTo>
                <a:lnTo>
                  <a:pt x="163441" y="966982"/>
                </a:lnTo>
                <a:lnTo>
                  <a:pt x="164415" y="968675"/>
                </a:lnTo>
                <a:lnTo>
                  <a:pt x="164810" y="968714"/>
                </a:lnTo>
                <a:lnTo>
                  <a:pt x="165091" y="969157"/>
                </a:lnTo>
                <a:lnTo>
                  <a:pt x="166092" y="969731"/>
                </a:lnTo>
                <a:lnTo>
                  <a:pt x="167193" y="971172"/>
                </a:lnTo>
                <a:lnTo>
                  <a:pt x="169209" y="973119"/>
                </a:lnTo>
                <a:lnTo>
                  <a:pt x="170343" y="974690"/>
                </a:lnTo>
                <a:lnTo>
                  <a:pt x="171097" y="976294"/>
                </a:lnTo>
                <a:lnTo>
                  <a:pt x="171599" y="978793"/>
                </a:lnTo>
                <a:lnTo>
                  <a:pt x="171858" y="978752"/>
                </a:lnTo>
                <a:lnTo>
                  <a:pt x="171815" y="979059"/>
                </a:lnTo>
                <a:lnTo>
                  <a:pt x="171994" y="979098"/>
                </a:lnTo>
                <a:lnTo>
                  <a:pt x="172169" y="981273"/>
                </a:lnTo>
                <a:lnTo>
                  <a:pt x="175069" y="985955"/>
                </a:lnTo>
                <a:lnTo>
                  <a:pt x="175355" y="986646"/>
                </a:lnTo>
                <a:lnTo>
                  <a:pt x="175317" y="987501"/>
                </a:lnTo>
                <a:lnTo>
                  <a:pt x="176786" y="989086"/>
                </a:lnTo>
                <a:lnTo>
                  <a:pt x="177142" y="990088"/>
                </a:lnTo>
                <a:lnTo>
                  <a:pt x="177630" y="990503"/>
                </a:lnTo>
                <a:lnTo>
                  <a:pt x="177651" y="991181"/>
                </a:lnTo>
                <a:lnTo>
                  <a:pt x="177956" y="991708"/>
                </a:lnTo>
                <a:lnTo>
                  <a:pt x="178652" y="992083"/>
                </a:lnTo>
                <a:lnTo>
                  <a:pt x="178795" y="992432"/>
                </a:lnTo>
                <a:lnTo>
                  <a:pt x="178530" y="993039"/>
                </a:lnTo>
                <a:lnTo>
                  <a:pt x="178529" y="993926"/>
                </a:lnTo>
                <a:lnTo>
                  <a:pt x="178967" y="994388"/>
                </a:lnTo>
                <a:lnTo>
                  <a:pt x="179106" y="995164"/>
                </a:lnTo>
                <a:lnTo>
                  <a:pt x="179416" y="995280"/>
                </a:lnTo>
                <a:lnTo>
                  <a:pt x="179709" y="996200"/>
                </a:lnTo>
                <a:lnTo>
                  <a:pt x="180005" y="996299"/>
                </a:lnTo>
                <a:lnTo>
                  <a:pt x="180050" y="997084"/>
                </a:lnTo>
                <a:lnTo>
                  <a:pt x="180573" y="997514"/>
                </a:lnTo>
                <a:lnTo>
                  <a:pt x="180480" y="997840"/>
                </a:lnTo>
                <a:lnTo>
                  <a:pt x="180917" y="998165"/>
                </a:lnTo>
                <a:lnTo>
                  <a:pt x="181121" y="998895"/>
                </a:lnTo>
                <a:lnTo>
                  <a:pt x="181750" y="999170"/>
                </a:lnTo>
                <a:lnTo>
                  <a:pt x="181737" y="1000551"/>
                </a:lnTo>
                <a:lnTo>
                  <a:pt x="182297" y="1000815"/>
                </a:lnTo>
                <a:lnTo>
                  <a:pt x="182470" y="1001549"/>
                </a:lnTo>
                <a:lnTo>
                  <a:pt x="182880" y="1001699"/>
                </a:lnTo>
                <a:lnTo>
                  <a:pt x="183066" y="1003153"/>
                </a:lnTo>
                <a:lnTo>
                  <a:pt x="184042" y="1003417"/>
                </a:lnTo>
                <a:lnTo>
                  <a:pt x="185278" y="1004523"/>
                </a:lnTo>
                <a:lnTo>
                  <a:pt x="186188" y="1005846"/>
                </a:lnTo>
                <a:lnTo>
                  <a:pt x="186823" y="1006205"/>
                </a:lnTo>
                <a:lnTo>
                  <a:pt x="187269" y="1007437"/>
                </a:lnTo>
                <a:lnTo>
                  <a:pt x="187746" y="1007716"/>
                </a:lnTo>
                <a:lnTo>
                  <a:pt x="188019" y="1008298"/>
                </a:lnTo>
                <a:lnTo>
                  <a:pt x="188500" y="1008415"/>
                </a:lnTo>
                <a:lnTo>
                  <a:pt x="189096" y="1009040"/>
                </a:lnTo>
                <a:lnTo>
                  <a:pt x="189399" y="1009800"/>
                </a:lnTo>
                <a:lnTo>
                  <a:pt x="190212" y="1010179"/>
                </a:lnTo>
                <a:lnTo>
                  <a:pt x="190705" y="1010732"/>
                </a:lnTo>
                <a:lnTo>
                  <a:pt x="190789" y="1011269"/>
                </a:lnTo>
                <a:lnTo>
                  <a:pt x="191124" y="1011455"/>
                </a:lnTo>
                <a:lnTo>
                  <a:pt x="191224" y="1012027"/>
                </a:lnTo>
                <a:lnTo>
                  <a:pt x="191831" y="1012828"/>
                </a:lnTo>
                <a:lnTo>
                  <a:pt x="191705" y="1013402"/>
                </a:lnTo>
                <a:lnTo>
                  <a:pt x="192336" y="1013556"/>
                </a:lnTo>
                <a:lnTo>
                  <a:pt x="193211" y="1014876"/>
                </a:lnTo>
                <a:lnTo>
                  <a:pt x="194378" y="1016046"/>
                </a:lnTo>
                <a:lnTo>
                  <a:pt x="194360" y="1016400"/>
                </a:lnTo>
                <a:lnTo>
                  <a:pt x="194665" y="1016478"/>
                </a:lnTo>
                <a:lnTo>
                  <a:pt x="194728" y="1017358"/>
                </a:lnTo>
                <a:lnTo>
                  <a:pt x="195660" y="1018513"/>
                </a:lnTo>
                <a:lnTo>
                  <a:pt x="195823" y="1019027"/>
                </a:lnTo>
                <a:lnTo>
                  <a:pt x="195516" y="1019512"/>
                </a:lnTo>
                <a:lnTo>
                  <a:pt x="195620" y="1020210"/>
                </a:lnTo>
                <a:lnTo>
                  <a:pt x="196367" y="1020701"/>
                </a:lnTo>
                <a:lnTo>
                  <a:pt x="196580" y="1021946"/>
                </a:lnTo>
                <a:lnTo>
                  <a:pt x="197247" y="1022570"/>
                </a:lnTo>
                <a:lnTo>
                  <a:pt x="197832" y="1024354"/>
                </a:lnTo>
                <a:lnTo>
                  <a:pt x="198515" y="1025046"/>
                </a:lnTo>
                <a:lnTo>
                  <a:pt x="198276" y="1026580"/>
                </a:lnTo>
                <a:lnTo>
                  <a:pt x="199206" y="1027070"/>
                </a:lnTo>
                <a:lnTo>
                  <a:pt x="199795" y="1028362"/>
                </a:lnTo>
                <a:lnTo>
                  <a:pt x="200925" y="1029454"/>
                </a:lnTo>
                <a:lnTo>
                  <a:pt x="200820" y="1029810"/>
                </a:lnTo>
                <a:lnTo>
                  <a:pt x="201195" y="1030368"/>
                </a:lnTo>
                <a:lnTo>
                  <a:pt x="201166" y="1031010"/>
                </a:lnTo>
                <a:lnTo>
                  <a:pt x="202055" y="1031546"/>
                </a:lnTo>
                <a:lnTo>
                  <a:pt x="202084" y="1031985"/>
                </a:lnTo>
                <a:lnTo>
                  <a:pt x="203371" y="1033794"/>
                </a:lnTo>
                <a:lnTo>
                  <a:pt x="203176" y="1035413"/>
                </a:lnTo>
                <a:lnTo>
                  <a:pt x="203668" y="1036015"/>
                </a:lnTo>
                <a:lnTo>
                  <a:pt x="203966" y="1035916"/>
                </a:lnTo>
                <a:lnTo>
                  <a:pt x="204653" y="1036237"/>
                </a:lnTo>
                <a:lnTo>
                  <a:pt x="204230" y="1037289"/>
                </a:lnTo>
                <a:lnTo>
                  <a:pt x="204380" y="1037507"/>
                </a:lnTo>
                <a:lnTo>
                  <a:pt x="204901" y="1037515"/>
                </a:lnTo>
                <a:lnTo>
                  <a:pt x="205214" y="1038696"/>
                </a:lnTo>
                <a:lnTo>
                  <a:pt x="205873" y="1039118"/>
                </a:lnTo>
                <a:lnTo>
                  <a:pt x="206445" y="1039956"/>
                </a:lnTo>
                <a:lnTo>
                  <a:pt x="208882" y="1040528"/>
                </a:lnTo>
                <a:lnTo>
                  <a:pt x="217274" y="1043364"/>
                </a:lnTo>
                <a:lnTo>
                  <a:pt x="213352" y="1030024"/>
                </a:lnTo>
                <a:lnTo>
                  <a:pt x="216481" y="1026655"/>
                </a:lnTo>
                <a:lnTo>
                  <a:pt x="222210" y="1021194"/>
                </a:lnTo>
                <a:lnTo>
                  <a:pt x="223587" y="1021091"/>
                </a:lnTo>
                <a:lnTo>
                  <a:pt x="224315" y="1019456"/>
                </a:lnTo>
                <a:lnTo>
                  <a:pt x="228570" y="1016179"/>
                </a:lnTo>
                <a:lnTo>
                  <a:pt x="226015" y="1012457"/>
                </a:lnTo>
                <a:lnTo>
                  <a:pt x="221322" y="1006427"/>
                </a:lnTo>
                <a:lnTo>
                  <a:pt x="221440" y="1002437"/>
                </a:lnTo>
                <a:lnTo>
                  <a:pt x="226118" y="1002320"/>
                </a:lnTo>
                <a:lnTo>
                  <a:pt x="228875" y="1001007"/>
                </a:lnTo>
                <a:lnTo>
                  <a:pt x="234065" y="1000188"/>
                </a:lnTo>
                <a:lnTo>
                  <a:pt x="237056" y="1000826"/>
                </a:lnTo>
                <a:lnTo>
                  <a:pt x="236422" y="984815"/>
                </a:lnTo>
                <a:lnTo>
                  <a:pt x="237802" y="980237"/>
                </a:lnTo>
                <a:lnTo>
                  <a:pt x="244817" y="977583"/>
                </a:lnTo>
                <a:lnTo>
                  <a:pt x="248073" y="978706"/>
                </a:lnTo>
                <a:lnTo>
                  <a:pt x="249243" y="979138"/>
                </a:lnTo>
                <a:lnTo>
                  <a:pt x="256568" y="985250"/>
                </a:lnTo>
                <a:lnTo>
                  <a:pt x="260834" y="988365"/>
                </a:lnTo>
                <a:lnTo>
                  <a:pt x="263659" y="986005"/>
                </a:lnTo>
                <a:lnTo>
                  <a:pt x="265775" y="985354"/>
                </a:lnTo>
                <a:lnTo>
                  <a:pt x="264182" y="982961"/>
                </a:lnTo>
                <a:lnTo>
                  <a:pt x="266675" y="981944"/>
                </a:lnTo>
                <a:lnTo>
                  <a:pt x="268925" y="983235"/>
                </a:lnTo>
                <a:lnTo>
                  <a:pt x="272121" y="984444"/>
                </a:lnTo>
                <a:lnTo>
                  <a:pt x="273759" y="982881"/>
                </a:lnTo>
                <a:lnTo>
                  <a:pt x="280054" y="970316"/>
                </a:lnTo>
                <a:lnTo>
                  <a:pt x="287334" y="956679"/>
                </a:lnTo>
                <a:lnTo>
                  <a:pt x="286820" y="945818"/>
                </a:lnTo>
                <a:lnTo>
                  <a:pt x="292241" y="935138"/>
                </a:lnTo>
                <a:lnTo>
                  <a:pt x="287094" y="924461"/>
                </a:lnTo>
                <a:lnTo>
                  <a:pt x="296336" y="932364"/>
                </a:lnTo>
                <a:lnTo>
                  <a:pt x="307934" y="947185"/>
                </a:lnTo>
                <a:lnTo>
                  <a:pt x="301916" y="933824"/>
                </a:lnTo>
                <a:lnTo>
                  <a:pt x="303903" y="921248"/>
                </a:lnTo>
                <a:lnTo>
                  <a:pt x="313259" y="918551"/>
                </a:lnTo>
                <a:lnTo>
                  <a:pt x="326037" y="938365"/>
                </a:lnTo>
                <a:lnTo>
                  <a:pt x="340521" y="939539"/>
                </a:lnTo>
                <a:lnTo>
                  <a:pt x="346101" y="948483"/>
                </a:lnTo>
                <a:lnTo>
                  <a:pt x="346221" y="955367"/>
                </a:lnTo>
                <a:lnTo>
                  <a:pt x="356088" y="962926"/>
                </a:lnTo>
                <a:lnTo>
                  <a:pt x="368633" y="966854"/>
                </a:lnTo>
                <a:lnTo>
                  <a:pt x="370677" y="986321"/>
                </a:lnTo>
                <a:lnTo>
                  <a:pt x="359029" y="990179"/>
                </a:lnTo>
                <a:lnTo>
                  <a:pt x="365996" y="994550"/>
                </a:lnTo>
                <a:lnTo>
                  <a:pt x="374568" y="998999"/>
                </a:lnTo>
                <a:lnTo>
                  <a:pt x="364728" y="1004740"/>
                </a:lnTo>
                <a:lnTo>
                  <a:pt x="364028" y="1014893"/>
                </a:lnTo>
                <a:lnTo>
                  <a:pt x="365392" y="1017905"/>
                </a:lnTo>
                <a:lnTo>
                  <a:pt x="370642" y="1026077"/>
                </a:lnTo>
                <a:lnTo>
                  <a:pt x="371524" y="1039405"/>
                </a:lnTo>
                <a:lnTo>
                  <a:pt x="371094" y="1046097"/>
                </a:lnTo>
                <a:lnTo>
                  <a:pt x="374463" y="1053556"/>
                </a:lnTo>
                <a:lnTo>
                  <a:pt x="381045" y="1056699"/>
                </a:lnTo>
                <a:lnTo>
                  <a:pt x="376858" y="1064853"/>
                </a:lnTo>
                <a:lnTo>
                  <a:pt x="381410" y="1067053"/>
                </a:lnTo>
                <a:lnTo>
                  <a:pt x="384102" y="1070081"/>
                </a:lnTo>
                <a:lnTo>
                  <a:pt x="384625" y="1072097"/>
                </a:lnTo>
                <a:lnTo>
                  <a:pt x="384403" y="1072266"/>
                </a:lnTo>
                <a:lnTo>
                  <a:pt x="384253" y="1074238"/>
                </a:lnTo>
                <a:lnTo>
                  <a:pt x="386021" y="1075709"/>
                </a:lnTo>
                <a:lnTo>
                  <a:pt x="385452" y="1082062"/>
                </a:lnTo>
                <a:lnTo>
                  <a:pt x="383894" y="1084996"/>
                </a:lnTo>
                <a:lnTo>
                  <a:pt x="383332" y="1087782"/>
                </a:lnTo>
                <a:lnTo>
                  <a:pt x="381562" y="1089908"/>
                </a:lnTo>
                <a:lnTo>
                  <a:pt x="382379" y="1090265"/>
                </a:lnTo>
                <a:lnTo>
                  <a:pt x="383281" y="1089577"/>
                </a:lnTo>
                <a:lnTo>
                  <a:pt x="383838" y="1088712"/>
                </a:lnTo>
                <a:lnTo>
                  <a:pt x="386514" y="1090760"/>
                </a:lnTo>
                <a:lnTo>
                  <a:pt x="390088" y="1090526"/>
                </a:lnTo>
                <a:lnTo>
                  <a:pt x="391566" y="1091616"/>
                </a:lnTo>
                <a:lnTo>
                  <a:pt x="392583" y="1091865"/>
                </a:lnTo>
                <a:lnTo>
                  <a:pt x="388272" y="1099408"/>
                </a:lnTo>
                <a:lnTo>
                  <a:pt x="388814" y="1099753"/>
                </a:lnTo>
                <a:lnTo>
                  <a:pt x="391296" y="1099543"/>
                </a:lnTo>
                <a:lnTo>
                  <a:pt x="392895" y="1099119"/>
                </a:lnTo>
                <a:lnTo>
                  <a:pt x="393780" y="1103227"/>
                </a:lnTo>
                <a:lnTo>
                  <a:pt x="391210" y="1107562"/>
                </a:lnTo>
                <a:lnTo>
                  <a:pt x="392516" y="1110593"/>
                </a:lnTo>
                <a:lnTo>
                  <a:pt x="391952" y="1114428"/>
                </a:lnTo>
                <a:lnTo>
                  <a:pt x="389387" y="1115079"/>
                </a:lnTo>
                <a:lnTo>
                  <a:pt x="389900" y="1117882"/>
                </a:lnTo>
                <a:lnTo>
                  <a:pt x="391107" y="1120814"/>
                </a:lnTo>
                <a:lnTo>
                  <a:pt x="392746" y="1122711"/>
                </a:lnTo>
                <a:lnTo>
                  <a:pt x="393421" y="1124653"/>
                </a:lnTo>
                <a:lnTo>
                  <a:pt x="395415" y="1127709"/>
                </a:lnTo>
                <a:lnTo>
                  <a:pt x="395050" y="1129706"/>
                </a:lnTo>
                <a:lnTo>
                  <a:pt x="394274" y="1129798"/>
                </a:lnTo>
                <a:lnTo>
                  <a:pt x="393573" y="1129301"/>
                </a:lnTo>
                <a:lnTo>
                  <a:pt x="392514" y="1129711"/>
                </a:lnTo>
                <a:lnTo>
                  <a:pt x="391663" y="1130402"/>
                </a:lnTo>
                <a:lnTo>
                  <a:pt x="391533" y="1132324"/>
                </a:lnTo>
                <a:lnTo>
                  <a:pt x="391700" y="1132804"/>
                </a:lnTo>
                <a:lnTo>
                  <a:pt x="392273" y="1133248"/>
                </a:lnTo>
                <a:lnTo>
                  <a:pt x="393032" y="1132916"/>
                </a:lnTo>
                <a:lnTo>
                  <a:pt x="393201" y="1133922"/>
                </a:lnTo>
                <a:lnTo>
                  <a:pt x="394066" y="1133504"/>
                </a:lnTo>
                <a:lnTo>
                  <a:pt x="394696" y="1134725"/>
                </a:lnTo>
                <a:lnTo>
                  <a:pt x="393703" y="1134837"/>
                </a:lnTo>
                <a:lnTo>
                  <a:pt x="393522" y="1136197"/>
                </a:lnTo>
                <a:lnTo>
                  <a:pt x="392715" y="1136460"/>
                </a:lnTo>
                <a:lnTo>
                  <a:pt x="392317" y="1137216"/>
                </a:lnTo>
                <a:lnTo>
                  <a:pt x="391094" y="1137619"/>
                </a:lnTo>
                <a:lnTo>
                  <a:pt x="390921" y="1138322"/>
                </a:lnTo>
                <a:lnTo>
                  <a:pt x="390284" y="1138623"/>
                </a:lnTo>
                <a:lnTo>
                  <a:pt x="390272" y="1139576"/>
                </a:lnTo>
                <a:lnTo>
                  <a:pt x="389396" y="1140721"/>
                </a:lnTo>
                <a:lnTo>
                  <a:pt x="389016" y="1140856"/>
                </a:lnTo>
                <a:lnTo>
                  <a:pt x="388240" y="1140641"/>
                </a:lnTo>
                <a:lnTo>
                  <a:pt x="387163" y="1141508"/>
                </a:lnTo>
                <a:lnTo>
                  <a:pt x="387109" y="1141842"/>
                </a:lnTo>
                <a:lnTo>
                  <a:pt x="387487" y="1142466"/>
                </a:lnTo>
                <a:lnTo>
                  <a:pt x="386729" y="1143088"/>
                </a:lnTo>
                <a:lnTo>
                  <a:pt x="387636" y="1143935"/>
                </a:lnTo>
                <a:lnTo>
                  <a:pt x="387471" y="1144872"/>
                </a:lnTo>
                <a:lnTo>
                  <a:pt x="387933" y="1145525"/>
                </a:lnTo>
                <a:lnTo>
                  <a:pt x="387338" y="1146187"/>
                </a:lnTo>
                <a:lnTo>
                  <a:pt x="387560" y="1147033"/>
                </a:lnTo>
                <a:lnTo>
                  <a:pt x="386805" y="1147492"/>
                </a:lnTo>
                <a:lnTo>
                  <a:pt x="387028" y="1148031"/>
                </a:lnTo>
                <a:lnTo>
                  <a:pt x="386906" y="1148411"/>
                </a:lnTo>
                <a:lnTo>
                  <a:pt x="388083" y="1148300"/>
                </a:lnTo>
                <a:lnTo>
                  <a:pt x="391298" y="1148838"/>
                </a:lnTo>
                <a:lnTo>
                  <a:pt x="394689" y="1150225"/>
                </a:lnTo>
                <a:lnTo>
                  <a:pt x="395223" y="1150867"/>
                </a:lnTo>
                <a:lnTo>
                  <a:pt x="398469" y="1151408"/>
                </a:lnTo>
                <a:lnTo>
                  <a:pt x="399735" y="1152808"/>
                </a:lnTo>
                <a:lnTo>
                  <a:pt x="401471" y="1152646"/>
                </a:lnTo>
                <a:lnTo>
                  <a:pt x="403018" y="1153470"/>
                </a:lnTo>
                <a:lnTo>
                  <a:pt x="403414" y="1153206"/>
                </a:lnTo>
                <a:lnTo>
                  <a:pt x="404142" y="1151944"/>
                </a:lnTo>
                <a:lnTo>
                  <a:pt x="404888" y="1151398"/>
                </a:lnTo>
                <a:lnTo>
                  <a:pt x="405298" y="1151366"/>
                </a:lnTo>
                <a:lnTo>
                  <a:pt x="407191" y="1152933"/>
                </a:lnTo>
                <a:lnTo>
                  <a:pt x="410910" y="1151981"/>
                </a:lnTo>
                <a:lnTo>
                  <a:pt x="412721" y="1158877"/>
                </a:lnTo>
                <a:lnTo>
                  <a:pt x="417064" y="1153203"/>
                </a:lnTo>
                <a:lnTo>
                  <a:pt x="422979" y="1144789"/>
                </a:lnTo>
                <a:lnTo>
                  <a:pt x="422027" y="1154320"/>
                </a:lnTo>
                <a:lnTo>
                  <a:pt x="420266" y="1161431"/>
                </a:lnTo>
                <a:lnTo>
                  <a:pt x="422098" y="1163609"/>
                </a:lnTo>
                <a:lnTo>
                  <a:pt x="423694" y="1161196"/>
                </a:lnTo>
                <a:lnTo>
                  <a:pt x="428418" y="1164184"/>
                </a:lnTo>
                <a:lnTo>
                  <a:pt x="429486" y="1168616"/>
                </a:lnTo>
                <a:lnTo>
                  <a:pt x="432778" y="1170961"/>
                </a:lnTo>
                <a:lnTo>
                  <a:pt x="434237" y="1173306"/>
                </a:lnTo>
                <a:lnTo>
                  <a:pt x="436596" y="1172366"/>
                </a:lnTo>
                <a:lnTo>
                  <a:pt x="438560" y="1168677"/>
                </a:lnTo>
                <a:lnTo>
                  <a:pt x="442787" y="1171124"/>
                </a:lnTo>
                <a:lnTo>
                  <a:pt x="448766" y="1177625"/>
                </a:lnTo>
                <a:lnTo>
                  <a:pt x="450459" y="1177555"/>
                </a:lnTo>
                <a:lnTo>
                  <a:pt x="451352" y="1178061"/>
                </a:lnTo>
                <a:lnTo>
                  <a:pt x="451682" y="1180490"/>
                </a:lnTo>
                <a:lnTo>
                  <a:pt x="451196" y="1184070"/>
                </a:lnTo>
                <a:lnTo>
                  <a:pt x="451953" y="1185255"/>
                </a:lnTo>
                <a:lnTo>
                  <a:pt x="454324" y="1179514"/>
                </a:lnTo>
                <a:lnTo>
                  <a:pt x="455565" y="1184155"/>
                </a:lnTo>
                <a:lnTo>
                  <a:pt x="454696" y="1185910"/>
                </a:lnTo>
                <a:lnTo>
                  <a:pt x="452361" y="1186667"/>
                </a:lnTo>
                <a:lnTo>
                  <a:pt x="450294" y="1189356"/>
                </a:lnTo>
                <a:lnTo>
                  <a:pt x="451608" y="1191741"/>
                </a:lnTo>
                <a:lnTo>
                  <a:pt x="450986" y="1192773"/>
                </a:lnTo>
                <a:lnTo>
                  <a:pt x="452064" y="1192096"/>
                </a:lnTo>
                <a:lnTo>
                  <a:pt x="454094" y="1194620"/>
                </a:lnTo>
                <a:lnTo>
                  <a:pt x="453028" y="1197670"/>
                </a:lnTo>
                <a:lnTo>
                  <a:pt x="454377" y="1198720"/>
                </a:lnTo>
                <a:lnTo>
                  <a:pt x="453303" y="1199288"/>
                </a:lnTo>
                <a:lnTo>
                  <a:pt x="453755" y="1200314"/>
                </a:lnTo>
                <a:lnTo>
                  <a:pt x="453606" y="1201365"/>
                </a:lnTo>
                <a:lnTo>
                  <a:pt x="452318" y="1203694"/>
                </a:lnTo>
                <a:lnTo>
                  <a:pt x="452604" y="1204700"/>
                </a:lnTo>
                <a:lnTo>
                  <a:pt x="453655" y="1205123"/>
                </a:lnTo>
                <a:lnTo>
                  <a:pt x="453270" y="1206218"/>
                </a:lnTo>
                <a:lnTo>
                  <a:pt x="442192" y="1212809"/>
                </a:lnTo>
                <a:lnTo>
                  <a:pt x="445579" y="1224857"/>
                </a:lnTo>
                <a:lnTo>
                  <a:pt x="446289" y="1225241"/>
                </a:lnTo>
                <a:lnTo>
                  <a:pt x="446238" y="1226043"/>
                </a:lnTo>
                <a:lnTo>
                  <a:pt x="447504" y="1228427"/>
                </a:lnTo>
                <a:lnTo>
                  <a:pt x="448948" y="1229911"/>
                </a:lnTo>
                <a:lnTo>
                  <a:pt x="449858" y="1231821"/>
                </a:lnTo>
                <a:lnTo>
                  <a:pt x="450611" y="1232617"/>
                </a:lnTo>
                <a:lnTo>
                  <a:pt x="450992" y="1233652"/>
                </a:lnTo>
                <a:lnTo>
                  <a:pt x="451685" y="1234642"/>
                </a:lnTo>
                <a:lnTo>
                  <a:pt x="451852" y="1235950"/>
                </a:lnTo>
                <a:lnTo>
                  <a:pt x="452846" y="1236759"/>
                </a:lnTo>
                <a:lnTo>
                  <a:pt x="454275" y="1240278"/>
                </a:lnTo>
                <a:lnTo>
                  <a:pt x="455186" y="1241884"/>
                </a:lnTo>
                <a:lnTo>
                  <a:pt x="455604" y="1242115"/>
                </a:lnTo>
                <a:lnTo>
                  <a:pt x="456311" y="1241717"/>
                </a:lnTo>
                <a:lnTo>
                  <a:pt x="456781" y="1241732"/>
                </a:lnTo>
                <a:lnTo>
                  <a:pt x="458128" y="1243731"/>
                </a:lnTo>
                <a:lnTo>
                  <a:pt x="455295" y="1245940"/>
                </a:lnTo>
                <a:lnTo>
                  <a:pt x="454618" y="1256670"/>
                </a:lnTo>
                <a:lnTo>
                  <a:pt x="456608" y="1264105"/>
                </a:lnTo>
                <a:lnTo>
                  <a:pt x="460968" y="1273787"/>
                </a:lnTo>
                <a:lnTo>
                  <a:pt x="468836" y="1269399"/>
                </a:lnTo>
                <a:lnTo>
                  <a:pt x="471130" y="1266367"/>
                </a:lnTo>
                <a:lnTo>
                  <a:pt x="471689" y="1256221"/>
                </a:lnTo>
                <a:lnTo>
                  <a:pt x="470888" y="1252842"/>
                </a:lnTo>
                <a:lnTo>
                  <a:pt x="473251" y="1245780"/>
                </a:lnTo>
                <a:lnTo>
                  <a:pt x="472421" y="1240753"/>
                </a:lnTo>
                <a:lnTo>
                  <a:pt x="476726" y="1235473"/>
                </a:lnTo>
                <a:lnTo>
                  <a:pt x="478626" y="1237978"/>
                </a:lnTo>
                <a:lnTo>
                  <a:pt x="480275" y="1239326"/>
                </a:lnTo>
                <a:lnTo>
                  <a:pt x="482922" y="1237706"/>
                </a:lnTo>
                <a:lnTo>
                  <a:pt x="487035" y="1235682"/>
                </a:lnTo>
                <a:lnTo>
                  <a:pt x="483779" y="1232248"/>
                </a:lnTo>
                <a:lnTo>
                  <a:pt x="486982" y="1230496"/>
                </a:lnTo>
                <a:lnTo>
                  <a:pt x="487555" y="1226515"/>
                </a:lnTo>
                <a:lnTo>
                  <a:pt x="491469" y="1230498"/>
                </a:lnTo>
                <a:lnTo>
                  <a:pt x="496630" y="1227515"/>
                </a:lnTo>
                <a:lnTo>
                  <a:pt x="498492" y="1222142"/>
                </a:lnTo>
                <a:lnTo>
                  <a:pt x="502855" y="1222879"/>
                </a:lnTo>
                <a:lnTo>
                  <a:pt x="506289" y="1225493"/>
                </a:lnTo>
                <a:lnTo>
                  <a:pt x="514941" y="1224247"/>
                </a:lnTo>
                <a:lnTo>
                  <a:pt x="518976" y="1219803"/>
                </a:lnTo>
                <a:lnTo>
                  <a:pt x="523815" y="1216332"/>
                </a:lnTo>
                <a:lnTo>
                  <a:pt x="528293" y="1210795"/>
                </a:lnTo>
                <a:lnTo>
                  <a:pt x="530091" y="1203634"/>
                </a:lnTo>
                <a:lnTo>
                  <a:pt x="534363" y="1202844"/>
                </a:lnTo>
                <a:lnTo>
                  <a:pt x="536009" y="1203110"/>
                </a:lnTo>
                <a:lnTo>
                  <a:pt x="536402" y="1201887"/>
                </a:lnTo>
                <a:lnTo>
                  <a:pt x="537580" y="1199825"/>
                </a:lnTo>
                <a:lnTo>
                  <a:pt x="538354" y="1196723"/>
                </a:lnTo>
                <a:lnTo>
                  <a:pt x="541014" y="1193628"/>
                </a:lnTo>
                <a:lnTo>
                  <a:pt x="543161" y="1192627"/>
                </a:lnTo>
                <a:lnTo>
                  <a:pt x="547137" y="1192174"/>
                </a:lnTo>
                <a:lnTo>
                  <a:pt x="545377" y="1199150"/>
                </a:lnTo>
                <a:lnTo>
                  <a:pt x="555551" y="1198300"/>
                </a:lnTo>
                <a:lnTo>
                  <a:pt x="557844" y="1212175"/>
                </a:lnTo>
                <a:lnTo>
                  <a:pt x="552587" y="1211100"/>
                </a:lnTo>
                <a:lnTo>
                  <a:pt x="545673" y="1219019"/>
                </a:lnTo>
                <a:lnTo>
                  <a:pt x="546786" y="1223788"/>
                </a:lnTo>
                <a:lnTo>
                  <a:pt x="541761" y="1230425"/>
                </a:lnTo>
                <a:lnTo>
                  <a:pt x="534474" y="1226827"/>
                </a:lnTo>
                <a:lnTo>
                  <a:pt x="537213" y="1239511"/>
                </a:lnTo>
                <a:lnTo>
                  <a:pt x="537417" y="1243734"/>
                </a:lnTo>
                <a:lnTo>
                  <a:pt x="541266" y="1252303"/>
                </a:lnTo>
                <a:lnTo>
                  <a:pt x="540241" y="1254467"/>
                </a:lnTo>
                <a:lnTo>
                  <a:pt x="543492" y="1260921"/>
                </a:lnTo>
                <a:lnTo>
                  <a:pt x="544262" y="1266168"/>
                </a:lnTo>
                <a:lnTo>
                  <a:pt x="549876" y="1269910"/>
                </a:lnTo>
                <a:lnTo>
                  <a:pt x="551379" y="1272704"/>
                </a:lnTo>
                <a:lnTo>
                  <a:pt x="551191" y="1283476"/>
                </a:lnTo>
                <a:lnTo>
                  <a:pt x="555645" y="1288496"/>
                </a:lnTo>
                <a:lnTo>
                  <a:pt x="560930" y="1290732"/>
                </a:lnTo>
                <a:lnTo>
                  <a:pt x="566754" y="1291405"/>
                </a:lnTo>
                <a:lnTo>
                  <a:pt x="572715" y="1299726"/>
                </a:lnTo>
                <a:lnTo>
                  <a:pt x="574858" y="1300670"/>
                </a:lnTo>
                <a:lnTo>
                  <a:pt x="575884" y="1304158"/>
                </a:lnTo>
                <a:lnTo>
                  <a:pt x="576019" y="1308153"/>
                </a:lnTo>
                <a:lnTo>
                  <a:pt x="578168" y="1306647"/>
                </a:lnTo>
                <a:lnTo>
                  <a:pt x="586323" y="1312552"/>
                </a:lnTo>
                <a:lnTo>
                  <a:pt x="594575" y="1312563"/>
                </a:lnTo>
                <a:lnTo>
                  <a:pt x="602680" y="1302571"/>
                </a:lnTo>
                <a:lnTo>
                  <a:pt x="607103" y="1309765"/>
                </a:lnTo>
                <a:lnTo>
                  <a:pt x="606910" y="1312426"/>
                </a:lnTo>
                <a:lnTo>
                  <a:pt x="611234" y="1312332"/>
                </a:lnTo>
                <a:lnTo>
                  <a:pt x="614952" y="1310700"/>
                </a:lnTo>
                <a:lnTo>
                  <a:pt x="615043" y="1310476"/>
                </a:lnTo>
                <a:lnTo>
                  <a:pt x="626084" y="1312220"/>
                </a:lnTo>
                <a:lnTo>
                  <a:pt x="627702" y="1307012"/>
                </a:lnTo>
                <a:lnTo>
                  <a:pt x="635002" y="1303898"/>
                </a:lnTo>
                <a:lnTo>
                  <a:pt x="639246" y="1291340"/>
                </a:lnTo>
                <a:lnTo>
                  <a:pt x="638810" y="1286075"/>
                </a:lnTo>
                <a:lnTo>
                  <a:pt x="633389" y="1278250"/>
                </a:lnTo>
                <a:lnTo>
                  <a:pt x="632956" y="1274433"/>
                </a:lnTo>
                <a:lnTo>
                  <a:pt x="637373" y="1271631"/>
                </a:lnTo>
                <a:lnTo>
                  <a:pt x="640120" y="1266396"/>
                </a:lnTo>
                <a:lnTo>
                  <a:pt x="656188" y="1262262"/>
                </a:lnTo>
                <a:lnTo>
                  <a:pt x="666387" y="1263585"/>
                </a:lnTo>
                <a:lnTo>
                  <a:pt x="669546" y="1264538"/>
                </a:lnTo>
                <a:lnTo>
                  <a:pt x="674194" y="1264028"/>
                </a:lnTo>
                <a:lnTo>
                  <a:pt x="682612" y="1259953"/>
                </a:lnTo>
                <a:lnTo>
                  <a:pt x="680150" y="1253711"/>
                </a:lnTo>
                <a:lnTo>
                  <a:pt x="685541" y="1240542"/>
                </a:lnTo>
                <a:lnTo>
                  <a:pt x="686368" y="1239617"/>
                </a:lnTo>
                <a:lnTo>
                  <a:pt x="687608" y="1239066"/>
                </a:lnTo>
                <a:lnTo>
                  <a:pt x="692047" y="1233069"/>
                </a:lnTo>
                <a:lnTo>
                  <a:pt x="697239" y="1230882"/>
                </a:lnTo>
                <a:lnTo>
                  <a:pt x="698841" y="1229140"/>
                </a:lnTo>
                <a:lnTo>
                  <a:pt x="701631" y="1223088"/>
                </a:lnTo>
                <a:lnTo>
                  <a:pt x="701326" y="1219046"/>
                </a:lnTo>
                <a:lnTo>
                  <a:pt x="708399" y="1221185"/>
                </a:lnTo>
                <a:lnTo>
                  <a:pt x="715906" y="1217361"/>
                </a:lnTo>
                <a:lnTo>
                  <a:pt x="718866" y="1218329"/>
                </a:lnTo>
                <a:lnTo>
                  <a:pt x="720673" y="1215019"/>
                </a:lnTo>
                <a:lnTo>
                  <a:pt x="724962" y="1211167"/>
                </a:lnTo>
                <a:lnTo>
                  <a:pt x="730923" y="1211942"/>
                </a:lnTo>
                <a:lnTo>
                  <a:pt x="735166" y="1210220"/>
                </a:lnTo>
                <a:lnTo>
                  <a:pt x="735732" y="1209483"/>
                </a:lnTo>
                <a:lnTo>
                  <a:pt x="736687" y="1208238"/>
                </a:lnTo>
                <a:lnTo>
                  <a:pt x="734851" y="1204423"/>
                </a:lnTo>
                <a:lnTo>
                  <a:pt x="732854" y="1194563"/>
                </a:lnTo>
                <a:lnTo>
                  <a:pt x="734617" y="1194402"/>
                </a:lnTo>
                <a:lnTo>
                  <a:pt x="738658" y="1193203"/>
                </a:lnTo>
                <a:lnTo>
                  <a:pt x="740810" y="1192427"/>
                </a:lnTo>
                <a:lnTo>
                  <a:pt x="742439" y="1191225"/>
                </a:lnTo>
                <a:lnTo>
                  <a:pt x="747649" y="1190971"/>
                </a:lnTo>
                <a:lnTo>
                  <a:pt x="750585" y="1194566"/>
                </a:lnTo>
                <a:lnTo>
                  <a:pt x="751762" y="1196453"/>
                </a:lnTo>
                <a:lnTo>
                  <a:pt x="754228" y="1197255"/>
                </a:lnTo>
                <a:lnTo>
                  <a:pt x="756848" y="1193384"/>
                </a:lnTo>
                <a:lnTo>
                  <a:pt x="760141" y="1190139"/>
                </a:lnTo>
                <a:lnTo>
                  <a:pt x="761598" y="1193363"/>
                </a:lnTo>
                <a:lnTo>
                  <a:pt x="765293" y="1193545"/>
                </a:lnTo>
                <a:lnTo>
                  <a:pt x="764954" y="1195420"/>
                </a:lnTo>
                <a:lnTo>
                  <a:pt x="766414" y="1197407"/>
                </a:lnTo>
                <a:lnTo>
                  <a:pt x="776687" y="1201175"/>
                </a:lnTo>
                <a:lnTo>
                  <a:pt x="779299" y="1201300"/>
                </a:lnTo>
                <a:lnTo>
                  <a:pt x="783042" y="1200324"/>
                </a:lnTo>
                <a:lnTo>
                  <a:pt x="783398" y="1197986"/>
                </a:lnTo>
                <a:lnTo>
                  <a:pt x="783780" y="1197399"/>
                </a:lnTo>
                <a:lnTo>
                  <a:pt x="786157" y="1198832"/>
                </a:lnTo>
                <a:lnTo>
                  <a:pt x="787629" y="1192522"/>
                </a:lnTo>
                <a:lnTo>
                  <a:pt x="792407" y="1191404"/>
                </a:lnTo>
                <a:lnTo>
                  <a:pt x="795748" y="1189185"/>
                </a:lnTo>
                <a:lnTo>
                  <a:pt x="796250" y="1189655"/>
                </a:lnTo>
                <a:lnTo>
                  <a:pt x="796704" y="1184548"/>
                </a:lnTo>
                <a:lnTo>
                  <a:pt x="798305" y="1174876"/>
                </a:lnTo>
                <a:lnTo>
                  <a:pt x="805497" y="1169484"/>
                </a:lnTo>
                <a:lnTo>
                  <a:pt x="808430" y="1179879"/>
                </a:lnTo>
                <a:lnTo>
                  <a:pt x="812395" y="1168655"/>
                </a:lnTo>
                <a:lnTo>
                  <a:pt x="814283" y="1166603"/>
                </a:lnTo>
                <a:lnTo>
                  <a:pt x="808695" y="1163719"/>
                </a:lnTo>
                <a:lnTo>
                  <a:pt x="805947" y="1159259"/>
                </a:lnTo>
                <a:lnTo>
                  <a:pt x="808763" y="1156504"/>
                </a:lnTo>
                <a:lnTo>
                  <a:pt x="807900" y="1152222"/>
                </a:lnTo>
                <a:lnTo>
                  <a:pt x="805346" y="1146626"/>
                </a:lnTo>
                <a:lnTo>
                  <a:pt x="809298" y="1144157"/>
                </a:lnTo>
                <a:lnTo>
                  <a:pt x="809413" y="1140327"/>
                </a:lnTo>
                <a:lnTo>
                  <a:pt x="809221" y="1139125"/>
                </a:lnTo>
                <a:lnTo>
                  <a:pt x="808757" y="1138423"/>
                </a:lnTo>
                <a:lnTo>
                  <a:pt x="807993" y="1137914"/>
                </a:lnTo>
                <a:lnTo>
                  <a:pt x="806914" y="1136400"/>
                </a:lnTo>
                <a:lnTo>
                  <a:pt x="806932" y="1135259"/>
                </a:lnTo>
                <a:lnTo>
                  <a:pt x="806666" y="1135217"/>
                </a:lnTo>
                <a:lnTo>
                  <a:pt x="806323" y="1134445"/>
                </a:lnTo>
                <a:lnTo>
                  <a:pt x="806148" y="1133038"/>
                </a:lnTo>
                <a:lnTo>
                  <a:pt x="811256" y="1134203"/>
                </a:lnTo>
                <a:lnTo>
                  <a:pt x="813462" y="1137647"/>
                </a:lnTo>
                <a:lnTo>
                  <a:pt x="818309" y="1138994"/>
                </a:lnTo>
                <a:lnTo>
                  <a:pt x="819533" y="1127337"/>
                </a:lnTo>
                <a:lnTo>
                  <a:pt x="817164" y="1125606"/>
                </a:lnTo>
                <a:lnTo>
                  <a:pt x="823503" y="1122699"/>
                </a:lnTo>
                <a:lnTo>
                  <a:pt x="823119" y="1118166"/>
                </a:lnTo>
                <a:lnTo>
                  <a:pt x="827557" y="1108283"/>
                </a:lnTo>
                <a:lnTo>
                  <a:pt x="829182" y="1102097"/>
                </a:lnTo>
                <a:lnTo>
                  <a:pt x="830585" y="1101725"/>
                </a:lnTo>
                <a:lnTo>
                  <a:pt x="832179" y="1090456"/>
                </a:lnTo>
                <a:lnTo>
                  <a:pt x="837584" y="1088920"/>
                </a:lnTo>
                <a:lnTo>
                  <a:pt x="843543" y="1092368"/>
                </a:lnTo>
                <a:lnTo>
                  <a:pt x="854382" y="1097496"/>
                </a:lnTo>
                <a:lnTo>
                  <a:pt x="863064" y="1102559"/>
                </a:lnTo>
                <a:lnTo>
                  <a:pt x="872592" y="1103663"/>
                </a:lnTo>
                <a:lnTo>
                  <a:pt x="872846" y="1109328"/>
                </a:lnTo>
                <a:lnTo>
                  <a:pt x="880157" y="1111090"/>
                </a:lnTo>
                <a:lnTo>
                  <a:pt x="878856" y="1113544"/>
                </a:lnTo>
                <a:lnTo>
                  <a:pt x="874714" y="1124156"/>
                </a:lnTo>
                <a:lnTo>
                  <a:pt x="879780" y="1126889"/>
                </a:lnTo>
                <a:lnTo>
                  <a:pt x="882097" y="1126948"/>
                </a:lnTo>
                <a:lnTo>
                  <a:pt x="882010" y="1126354"/>
                </a:lnTo>
                <a:lnTo>
                  <a:pt x="882280" y="1125714"/>
                </a:lnTo>
                <a:lnTo>
                  <a:pt x="882563" y="1125578"/>
                </a:lnTo>
                <a:lnTo>
                  <a:pt x="883508" y="1125773"/>
                </a:lnTo>
                <a:lnTo>
                  <a:pt x="883805" y="1125469"/>
                </a:lnTo>
                <a:lnTo>
                  <a:pt x="884084" y="1125649"/>
                </a:lnTo>
                <a:lnTo>
                  <a:pt x="884260" y="1126313"/>
                </a:lnTo>
                <a:lnTo>
                  <a:pt x="884812" y="1126640"/>
                </a:lnTo>
                <a:lnTo>
                  <a:pt x="896266" y="1122932"/>
                </a:lnTo>
                <a:lnTo>
                  <a:pt x="899397" y="1127428"/>
                </a:lnTo>
                <a:lnTo>
                  <a:pt x="902114" y="1132124"/>
                </a:lnTo>
                <a:lnTo>
                  <a:pt x="908737" y="1128963"/>
                </a:lnTo>
                <a:lnTo>
                  <a:pt x="913337" y="1125805"/>
                </a:lnTo>
                <a:lnTo>
                  <a:pt x="915573" y="1132755"/>
                </a:lnTo>
                <a:lnTo>
                  <a:pt x="919339" y="1134992"/>
                </a:lnTo>
                <a:lnTo>
                  <a:pt x="926450" y="1132871"/>
                </a:lnTo>
                <a:lnTo>
                  <a:pt x="929473" y="1132502"/>
                </a:lnTo>
                <a:lnTo>
                  <a:pt x="938141" y="1135103"/>
                </a:lnTo>
                <a:lnTo>
                  <a:pt x="942101" y="1137210"/>
                </a:lnTo>
                <a:lnTo>
                  <a:pt x="940048" y="1140369"/>
                </a:lnTo>
                <a:lnTo>
                  <a:pt x="940133" y="1145110"/>
                </a:lnTo>
                <a:lnTo>
                  <a:pt x="940989" y="1147525"/>
                </a:lnTo>
                <a:lnTo>
                  <a:pt x="942666" y="1147346"/>
                </a:lnTo>
                <a:lnTo>
                  <a:pt x="944988" y="1150300"/>
                </a:lnTo>
                <a:lnTo>
                  <a:pt x="946488" y="1151159"/>
                </a:lnTo>
                <a:lnTo>
                  <a:pt x="947270" y="1148405"/>
                </a:lnTo>
                <a:lnTo>
                  <a:pt x="949260" y="1148304"/>
                </a:lnTo>
                <a:lnTo>
                  <a:pt x="952080" y="1146912"/>
                </a:lnTo>
                <a:lnTo>
                  <a:pt x="952802" y="1145552"/>
                </a:lnTo>
                <a:lnTo>
                  <a:pt x="953777" y="1145008"/>
                </a:lnTo>
                <a:lnTo>
                  <a:pt x="956396" y="1141512"/>
                </a:lnTo>
                <a:lnTo>
                  <a:pt x="964485" y="1134633"/>
                </a:lnTo>
                <a:lnTo>
                  <a:pt x="963727" y="1131157"/>
                </a:lnTo>
                <a:lnTo>
                  <a:pt x="968819" y="1124911"/>
                </a:lnTo>
                <a:lnTo>
                  <a:pt x="968928" y="1118952"/>
                </a:lnTo>
                <a:lnTo>
                  <a:pt x="969294" y="1118124"/>
                </a:lnTo>
                <a:lnTo>
                  <a:pt x="974244" y="1111173"/>
                </a:lnTo>
                <a:lnTo>
                  <a:pt x="980103" y="1108043"/>
                </a:lnTo>
                <a:lnTo>
                  <a:pt x="985889" y="1108642"/>
                </a:lnTo>
                <a:lnTo>
                  <a:pt x="988641" y="1108467"/>
                </a:lnTo>
                <a:lnTo>
                  <a:pt x="987891" y="1106183"/>
                </a:lnTo>
                <a:lnTo>
                  <a:pt x="989895" y="1101775"/>
                </a:lnTo>
                <a:lnTo>
                  <a:pt x="990825" y="1103366"/>
                </a:lnTo>
                <a:lnTo>
                  <a:pt x="1000891" y="1106626"/>
                </a:lnTo>
                <a:lnTo>
                  <a:pt x="1004718" y="1107035"/>
                </a:lnTo>
                <a:lnTo>
                  <a:pt x="1006304" y="1104848"/>
                </a:lnTo>
                <a:lnTo>
                  <a:pt x="1011682" y="1104411"/>
                </a:lnTo>
                <a:lnTo>
                  <a:pt x="1014416" y="1100073"/>
                </a:lnTo>
                <a:lnTo>
                  <a:pt x="1017805" y="1098001"/>
                </a:lnTo>
                <a:lnTo>
                  <a:pt x="1020613" y="1099708"/>
                </a:lnTo>
                <a:lnTo>
                  <a:pt x="1027397" y="1098001"/>
                </a:lnTo>
                <a:lnTo>
                  <a:pt x="1031035" y="1097582"/>
                </a:lnTo>
                <a:lnTo>
                  <a:pt x="1033702" y="1098785"/>
                </a:lnTo>
                <a:lnTo>
                  <a:pt x="1036747" y="1105394"/>
                </a:lnTo>
                <a:lnTo>
                  <a:pt x="1039637" y="1105605"/>
                </a:lnTo>
                <a:lnTo>
                  <a:pt x="1044901" y="1108346"/>
                </a:lnTo>
                <a:lnTo>
                  <a:pt x="1048467" y="1108486"/>
                </a:lnTo>
                <a:lnTo>
                  <a:pt x="1049306" y="1110761"/>
                </a:lnTo>
                <a:lnTo>
                  <a:pt x="1043932" y="1116307"/>
                </a:lnTo>
                <a:lnTo>
                  <a:pt x="1047873" y="1116984"/>
                </a:lnTo>
                <a:lnTo>
                  <a:pt x="1046803" y="1118973"/>
                </a:lnTo>
                <a:lnTo>
                  <a:pt x="1047973" y="1119465"/>
                </a:lnTo>
                <a:lnTo>
                  <a:pt x="1053593" y="1127553"/>
                </a:lnTo>
                <a:lnTo>
                  <a:pt x="1055713" y="1128049"/>
                </a:lnTo>
                <a:lnTo>
                  <a:pt x="1058714" y="1125670"/>
                </a:lnTo>
                <a:lnTo>
                  <a:pt x="1058984" y="1121387"/>
                </a:lnTo>
                <a:lnTo>
                  <a:pt x="1063220" y="1117842"/>
                </a:lnTo>
                <a:lnTo>
                  <a:pt x="1063580" y="1114012"/>
                </a:lnTo>
                <a:lnTo>
                  <a:pt x="1065667" y="1108530"/>
                </a:lnTo>
                <a:lnTo>
                  <a:pt x="1065198" y="1107123"/>
                </a:lnTo>
                <a:lnTo>
                  <a:pt x="1076736" y="1107127"/>
                </a:lnTo>
                <a:lnTo>
                  <a:pt x="1074291" y="1109583"/>
                </a:lnTo>
                <a:lnTo>
                  <a:pt x="1074212" y="1110901"/>
                </a:lnTo>
                <a:lnTo>
                  <a:pt x="1076220" y="1116877"/>
                </a:lnTo>
                <a:lnTo>
                  <a:pt x="1078003" y="1118265"/>
                </a:lnTo>
                <a:lnTo>
                  <a:pt x="1080045" y="1123272"/>
                </a:lnTo>
                <a:lnTo>
                  <a:pt x="1084353" y="1120942"/>
                </a:lnTo>
                <a:lnTo>
                  <a:pt x="1091263" y="1120311"/>
                </a:lnTo>
                <a:lnTo>
                  <a:pt x="1090573" y="1116880"/>
                </a:lnTo>
                <a:lnTo>
                  <a:pt x="1092531" y="1112520"/>
                </a:lnTo>
                <a:lnTo>
                  <a:pt x="1101394" y="1113702"/>
                </a:lnTo>
                <a:lnTo>
                  <a:pt x="1103346" y="1114450"/>
                </a:lnTo>
                <a:lnTo>
                  <a:pt x="1104476" y="1115790"/>
                </a:lnTo>
                <a:lnTo>
                  <a:pt x="1107204" y="1116810"/>
                </a:lnTo>
                <a:lnTo>
                  <a:pt x="1107287" y="1115081"/>
                </a:lnTo>
                <a:lnTo>
                  <a:pt x="1109513" y="1116576"/>
                </a:lnTo>
                <a:lnTo>
                  <a:pt x="1111793" y="1115480"/>
                </a:lnTo>
                <a:lnTo>
                  <a:pt x="1113692" y="1114167"/>
                </a:lnTo>
                <a:lnTo>
                  <a:pt x="1114664" y="1112826"/>
                </a:lnTo>
                <a:lnTo>
                  <a:pt x="1114991" y="1109978"/>
                </a:lnTo>
                <a:lnTo>
                  <a:pt x="1117199" y="1108339"/>
                </a:lnTo>
                <a:lnTo>
                  <a:pt x="1128575" y="1108023"/>
                </a:lnTo>
                <a:lnTo>
                  <a:pt x="1127119" y="1104299"/>
                </a:lnTo>
                <a:lnTo>
                  <a:pt x="1131047" y="1108187"/>
                </a:lnTo>
                <a:lnTo>
                  <a:pt x="1135002" y="1107217"/>
                </a:lnTo>
                <a:lnTo>
                  <a:pt x="1140005" y="1107293"/>
                </a:lnTo>
                <a:lnTo>
                  <a:pt x="1141089" y="1106998"/>
                </a:lnTo>
                <a:lnTo>
                  <a:pt x="1141574" y="1097290"/>
                </a:lnTo>
                <a:lnTo>
                  <a:pt x="1142380" y="1090718"/>
                </a:lnTo>
                <a:lnTo>
                  <a:pt x="1139779" y="1085036"/>
                </a:lnTo>
                <a:lnTo>
                  <a:pt x="1142643" y="1081351"/>
                </a:lnTo>
                <a:lnTo>
                  <a:pt x="1143840" y="1075624"/>
                </a:lnTo>
                <a:lnTo>
                  <a:pt x="1141973" y="1073706"/>
                </a:lnTo>
                <a:lnTo>
                  <a:pt x="1144998" y="1071940"/>
                </a:lnTo>
                <a:lnTo>
                  <a:pt x="1147425" y="1071147"/>
                </a:lnTo>
                <a:lnTo>
                  <a:pt x="1148681" y="1062359"/>
                </a:lnTo>
                <a:lnTo>
                  <a:pt x="1148627" y="1060990"/>
                </a:lnTo>
                <a:lnTo>
                  <a:pt x="1152636" y="1057880"/>
                </a:lnTo>
                <a:lnTo>
                  <a:pt x="1162168" y="1055433"/>
                </a:lnTo>
                <a:lnTo>
                  <a:pt x="1167653" y="1058186"/>
                </a:lnTo>
                <a:lnTo>
                  <a:pt x="1168445" y="1059625"/>
                </a:lnTo>
                <a:lnTo>
                  <a:pt x="1170346" y="1058085"/>
                </a:lnTo>
                <a:lnTo>
                  <a:pt x="1179251" y="1056468"/>
                </a:lnTo>
                <a:lnTo>
                  <a:pt x="1184376" y="1051203"/>
                </a:lnTo>
                <a:lnTo>
                  <a:pt x="1187217" y="1052677"/>
                </a:lnTo>
                <a:lnTo>
                  <a:pt x="1189155" y="1054044"/>
                </a:lnTo>
                <a:lnTo>
                  <a:pt x="1189519" y="1053988"/>
                </a:lnTo>
                <a:lnTo>
                  <a:pt x="1189331" y="1051205"/>
                </a:lnTo>
                <a:lnTo>
                  <a:pt x="1188210" y="1046678"/>
                </a:lnTo>
                <a:lnTo>
                  <a:pt x="1194568" y="1044390"/>
                </a:lnTo>
                <a:lnTo>
                  <a:pt x="1194758" y="1044877"/>
                </a:lnTo>
                <a:lnTo>
                  <a:pt x="1197960" y="1044382"/>
                </a:lnTo>
                <a:lnTo>
                  <a:pt x="1199363" y="1045500"/>
                </a:lnTo>
                <a:lnTo>
                  <a:pt x="1200528" y="1044655"/>
                </a:lnTo>
                <a:lnTo>
                  <a:pt x="1201485" y="1041974"/>
                </a:lnTo>
                <a:lnTo>
                  <a:pt x="1203126" y="1039922"/>
                </a:lnTo>
                <a:lnTo>
                  <a:pt x="1209402" y="1036368"/>
                </a:lnTo>
                <a:lnTo>
                  <a:pt x="1214772" y="1036902"/>
                </a:lnTo>
                <a:lnTo>
                  <a:pt x="1216704" y="1037440"/>
                </a:lnTo>
                <a:lnTo>
                  <a:pt x="1218802" y="1034867"/>
                </a:lnTo>
                <a:lnTo>
                  <a:pt x="1220301" y="1036338"/>
                </a:lnTo>
                <a:lnTo>
                  <a:pt x="1222573" y="1035895"/>
                </a:lnTo>
                <a:lnTo>
                  <a:pt x="1224587" y="1033793"/>
                </a:lnTo>
                <a:lnTo>
                  <a:pt x="1226740" y="1032708"/>
                </a:lnTo>
                <a:lnTo>
                  <a:pt x="1229781" y="1033335"/>
                </a:lnTo>
                <a:lnTo>
                  <a:pt x="1230146" y="1031413"/>
                </a:lnTo>
                <a:lnTo>
                  <a:pt x="1232247" y="1032725"/>
                </a:lnTo>
                <a:lnTo>
                  <a:pt x="1233175" y="1031994"/>
                </a:lnTo>
                <a:lnTo>
                  <a:pt x="1233472" y="1030011"/>
                </a:lnTo>
                <a:lnTo>
                  <a:pt x="1235318" y="1028602"/>
                </a:lnTo>
                <a:lnTo>
                  <a:pt x="1236143" y="1028948"/>
                </a:lnTo>
                <a:lnTo>
                  <a:pt x="1237040" y="1028899"/>
                </a:lnTo>
                <a:lnTo>
                  <a:pt x="1237724" y="1027241"/>
                </a:lnTo>
                <a:lnTo>
                  <a:pt x="1236997" y="1026750"/>
                </a:lnTo>
                <a:lnTo>
                  <a:pt x="1237930" y="1025210"/>
                </a:lnTo>
                <a:lnTo>
                  <a:pt x="1239148" y="1024949"/>
                </a:lnTo>
                <a:lnTo>
                  <a:pt x="1239700" y="1025257"/>
                </a:lnTo>
                <a:lnTo>
                  <a:pt x="1239872" y="1025726"/>
                </a:lnTo>
                <a:lnTo>
                  <a:pt x="1245969" y="1028876"/>
                </a:lnTo>
                <a:lnTo>
                  <a:pt x="1245804" y="1029907"/>
                </a:lnTo>
                <a:lnTo>
                  <a:pt x="1248113" y="1030348"/>
                </a:lnTo>
                <a:lnTo>
                  <a:pt x="1248911" y="1028759"/>
                </a:lnTo>
                <a:lnTo>
                  <a:pt x="1257704" y="1032476"/>
                </a:lnTo>
                <a:lnTo>
                  <a:pt x="1259707" y="1030892"/>
                </a:lnTo>
                <a:lnTo>
                  <a:pt x="1262138" y="1029605"/>
                </a:lnTo>
                <a:lnTo>
                  <a:pt x="1261647" y="1027449"/>
                </a:lnTo>
                <a:lnTo>
                  <a:pt x="1261013" y="1026541"/>
                </a:lnTo>
                <a:lnTo>
                  <a:pt x="1262040" y="1018849"/>
                </a:lnTo>
                <a:lnTo>
                  <a:pt x="1263963" y="1015608"/>
                </a:lnTo>
                <a:lnTo>
                  <a:pt x="1266371" y="1016234"/>
                </a:lnTo>
                <a:lnTo>
                  <a:pt x="1270705" y="1010784"/>
                </a:lnTo>
                <a:lnTo>
                  <a:pt x="1271843" y="1007436"/>
                </a:lnTo>
                <a:lnTo>
                  <a:pt x="1269738" y="1004547"/>
                </a:lnTo>
                <a:lnTo>
                  <a:pt x="1271743" y="1003400"/>
                </a:lnTo>
                <a:lnTo>
                  <a:pt x="1273208" y="1003502"/>
                </a:lnTo>
                <a:lnTo>
                  <a:pt x="1276430" y="1000673"/>
                </a:lnTo>
                <a:lnTo>
                  <a:pt x="1278551" y="995951"/>
                </a:lnTo>
                <a:lnTo>
                  <a:pt x="1276229" y="995753"/>
                </a:lnTo>
                <a:lnTo>
                  <a:pt x="1275002" y="993304"/>
                </a:lnTo>
                <a:lnTo>
                  <a:pt x="1274913" y="992126"/>
                </a:lnTo>
                <a:lnTo>
                  <a:pt x="1277455" y="989554"/>
                </a:lnTo>
                <a:lnTo>
                  <a:pt x="1279957" y="987658"/>
                </a:lnTo>
                <a:lnTo>
                  <a:pt x="1279340" y="986785"/>
                </a:lnTo>
                <a:lnTo>
                  <a:pt x="1279621" y="985473"/>
                </a:lnTo>
                <a:lnTo>
                  <a:pt x="1279126" y="983990"/>
                </a:lnTo>
                <a:lnTo>
                  <a:pt x="1279943" y="983265"/>
                </a:lnTo>
                <a:lnTo>
                  <a:pt x="1280458" y="982154"/>
                </a:lnTo>
                <a:lnTo>
                  <a:pt x="1281020" y="978952"/>
                </a:lnTo>
                <a:lnTo>
                  <a:pt x="1280837" y="979130"/>
                </a:lnTo>
                <a:lnTo>
                  <a:pt x="1279729" y="978404"/>
                </a:lnTo>
                <a:lnTo>
                  <a:pt x="1278669" y="976752"/>
                </a:lnTo>
                <a:lnTo>
                  <a:pt x="1274631" y="973781"/>
                </a:lnTo>
                <a:lnTo>
                  <a:pt x="1276600" y="970581"/>
                </a:lnTo>
                <a:lnTo>
                  <a:pt x="1281700" y="967970"/>
                </a:lnTo>
                <a:lnTo>
                  <a:pt x="1285639" y="961232"/>
                </a:lnTo>
                <a:lnTo>
                  <a:pt x="1285447" y="961040"/>
                </a:lnTo>
                <a:lnTo>
                  <a:pt x="1282225" y="962061"/>
                </a:lnTo>
                <a:lnTo>
                  <a:pt x="1279961" y="960806"/>
                </a:lnTo>
                <a:lnTo>
                  <a:pt x="1279491" y="959973"/>
                </a:lnTo>
                <a:lnTo>
                  <a:pt x="1276912" y="960090"/>
                </a:lnTo>
                <a:lnTo>
                  <a:pt x="1276056" y="959173"/>
                </a:lnTo>
                <a:lnTo>
                  <a:pt x="1276054" y="956094"/>
                </a:lnTo>
                <a:lnTo>
                  <a:pt x="1275250" y="953501"/>
                </a:lnTo>
                <a:lnTo>
                  <a:pt x="1275717" y="952672"/>
                </a:lnTo>
                <a:lnTo>
                  <a:pt x="1275630" y="951008"/>
                </a:lnTo>
                <a:lnTo>
                  <a:pt x="1275299" y="950190"/>
                </a:lnTo>
                <a:lnTo>
                  <a:pt x="1273691" y="950012"/>
                </a:lnTo>
                <a:lnTo>
                  <a:pt x="1273727" y="948954"/>
                </a:lnTo>
                <a:lnTo>
                  <a:pt x="1274297" y="948032"/>
                </a:lnTo>
                <a:lnTo>
                  <a:pt x="1273959" y="944757"/>
                </a:lnTo>
                <a:lnTo>
                  <a:pt x="1273475" y="943760"/>
                </a:lnTo>
                <a:lnTo>
                  <a:pt x="1273908" y="942870"/>
                </a:lnTo>
                <a:lnTo>
                  <a:pt x="1275116" y="942114"/>
                </a:lnTo>
                <a:lnTo>
                  <a:pt x="1274829" y="941447"/>
                </a:lnTo>
                <a:lnTo>
                  <a:pt x="1275051" y="941111"/>
                </a:lnTo>
                <a:lnTo>
                  <a:pt x="1273542" y="940141"/>
                </a:lnTo>
                <a:lnTo>
                  <a:pt x="1273287" y="939604"/>
                </a:lnTo>
                <a:lnTo>
                  <a:pt x="1273047" y="936311"/>
                </a:lnTo>
                <a:lnTo>
                  <a:pt x="1273905" y="934890"/>
                </a:lnTo>
                <a:lnTo>
                  <a:pt x="1274552" y="934272"/>
                </a:lnTo>
                <a:close/>
              </a:path>
            </a:pathLst>
          </a:custGeom>
          <a:solidFill>
            <a:srgbClr val="E3EBF6"/>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Freeform 32"/>
          <p:cNvSpPr/>
          <p:nvPr/>
        </p:nvSpPr>
        <p:spPr>
          <a:xfrm>
            <a:off x="3068810" y="5033038"/>
            <a:ext cx="1082" cy="631"/>
          </a:xfrm>
          <a:custGeom>
            <a:avLst/>
            <a:gdLst/>
            <a:ahLst/>
            <a:cxnLst/>
            <a:rect l="l" t="t" r="r" b="b"/>
            <a:pathLst>
              <a:path w="1082" h="631">
                <a:moveTo>
                  <a:pt x="1082" y="0"/>
                </a:moveTo>
                <a:lnTo>
                  <a:pt x="676" y="416"/>
                </a:lnTo>
                <a:lnTo>
                  <a:pt x="0" y="280"/>
                </a:lnTo>
                <a:lnTo>
                  <a:pt x="356" y="631"/>
                </a:lnTo>
                <a:lnTo>
                  <a:pt x="737" y="555"/>
                </a:lnTo>
                <a:lnTo>
                  <a:pt x="1052" y="350"/>
                </a:lnTo>
                <a:lnTo>
                  <a:pt x="1082" y="0"/>
                </a:lnTo>
                <a:close/>
              </a:path>
            </a:pathLst>
          </a:custGeom>
          <a:solidFill>
            <a:srgbClr val="809CC7"/>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Freeform 33"/>
          <p:cNvSpPr/>
          <p:nvPr/>
        </p:nvSpPr>
        <p:spPr>
          <a:xfrm>
            <a:off x="3069016" y="5031666"/>
            <a:ext cx="1543" cy="1381"/>
          </a:xfrm>
          <a:custGeom>
            <a:avLst/>
            <a:gdLst/>
            <a:ahLst/>
            <a:cxnLst/>
            <a:rect l="l" t="t" r="r" b="b"/>
            <a:pathLst>
              <a:path w="1543" h="1381">
                <a:moveTo>
                  <a:pt x="914" y="0"/>
                </a:moveTo>
                <a:lnTo>
                  <a:pt x="640" y="118"/>
                </a:lnTo>
                <a:lnTo>
                  <a:pt x="848" y="356"/>
                </a:lnTo>
                <a:lnTo>
                  <a:pt x="0" y="975"/>
                </a:lnTo>
                <a:lnTo>
                  <a:pt x="303" y="1381"/>
                </a:lnTo>
                <a:lnTo>
                  <a:pt x="1543" y="310"/>
                </a:lnTo>
                <a:lnTo>
                  <a:pt x="914" y="0"/>
                </a:lnTo>
                <a:close/>
              </a:path>
            </a:pathLst>
          </a:custGeom>
          <a:solidFill>
            <a:srgbClr val="809CC7"/>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Freeform 34"/>
          <p:cNvSpPr/>
          <p:nvPr/>
        </p:nvSpPr>
        <p:spPr>
          <a:xfrm>
            <a:off x="2921109" y="4895000"/>
            <a:ext cx="3608" cy="4863"/>
          </a:xfrm>
          <a:custGeom>
            <a:avLst/>
            <a:gdLst/>
            <a:ahLst/>
            <a:cxnLst/>
            <a:rect l="l" t="t" r="r" b="b"/>
            <a:pathLst>
              <a:path w="3608" h="4863">
                <a:moveTo>
                  <a:pt x="1550" y="0"/>
                </a:moveTo>
                <a:lnTo>
                  <a:pt x="661" y="122"/>
                </a:lnTo>
                <a:lnTo>
                  <a:pt x="0" y="1993"/>
                </a:lnTo>
                <a:lnTo>
                  <a:pt x="641" y="3265"/>
                </a:lnTo>
                <a:lnTo>
                  <a:pt x="646" y="3998"/>
                </a:lnTo>
                <a:lnTo>
                  <a:pt x="2043" y="4863"/>
                </a:lnTo>
                <a:lnTo>
                  <a:pt x="3377" y="4389"/>
                </a:lnTo>
                <a:lnTo>
                  <a:pt x="3608" y="3541"/>
                </a:lnTo>
                <a:lnTo>
                  <a:pt x="3399" y="3570"/>
                </a:lnTo>
                <a:lnTo>
                  <a:pt x="3341" y="2945"/>
                </a:lnTo>
                <a:lnTo>
                  <a:pt x="2530" y="1868"/>
                </a:lnTo>
                <a:lnTo>
                  <a:pt x="2555" y="1447"/>
                </a:lnTo>
                <a:lnTo>
                  <a:pt x="2878" y="1329"/>
                </a:lnTo>
                <a:lnTo>
                  <a:pt x="2478" y="1388"/>
                </a:lnTo>
                <a:lnTo>
                  <a:pt x="2418" y="1033"/>
                </a:lnTo>
                <a:lnTo>
                  <a:pt x="2930" y="1160"/>
                </a:lnTo>
                <a:lnTo>
                  <a:pt x="2712" y="939"/>
                </a:lnTo>
                <a:lnTo>
                  <a:pt x="2165" y="1066"/>
                </a:lnTo>
                <a:lnTo>
                  <a:pt x="2222" y="350"/>
                </a:lnTo>
                <a:lnTo>
                  <a:pt x="1550" y="0"/>
                </a:lnTo>
                <a:close/>
              </a:path>
            </a:pathLst>
          </a:custGeom>
          <a:solidFill>
            <a:srgbClr val="809CC7"/>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Freeform 35"/>
          <p:cNvSpPr/>
          <p:nvPr/>
        </p:nvSpPr>
        <p:spPr>
          <a:xfrm>
            <a:off x="2879454" y="4836314"/>
            <a:ext cx="3727" cy="3370"/>
          </a:xfrm>
          <a:custGeom>
            <a:avLst/>
            <a:gdLst/>
            <a:ahLst/>
            <a:cxnLst/>
            <a:rect l="l" t="t" r="r" b="b"/>
            <a:pathLst>
              <a:path w="3727" h="3370">
                <a:moveTo>
                  <a:pt x="279" y="0"/>
                </a:moveTo>
                <a:lnTo>
                  <a:pt x="0" y="162"/>
                </a:lnTo>
                <a:lnTo>
                  <a:pt x="269" y="875"/>
                </a:lnTo>
                <a:lnTo>
                  <a:pt x="1841" y="2520"/>
                </a:lnTo>
                <a:lnTo>
                  <a:pt x="1451" y="3096"/>
                </a:lnTo>
                <a:lnTo>
                  <a:pt x="2078" y="3370"/>
                </a:lnTo>
                <a:lnTo>
                  <a:pt x="2687" y="3243"/>
                </a:lnTo>
                <a:lnTo>
                  <a:pt x="2883" y="2853"/>
                </a:lnTo>
                <a:lnTo>
                  <a:pt x="3685" y="2917"/>
                </a:lnTo>
                <a:lnTo>
                  <a:pt x="3727" y="2673"/>
                </a:lnTo>
                <a:lnTo>
                  <a:pt x="3326" y="2315"/>
                </a:lnTo>
                <a:lnTo>
                  <a:pt x="3472" y="1871"/>
                </a:lnTo>
                <a:lnTo>
                  <a:pt x="2719" y="1341"/>
                </a:lnTo>
                <a:lnTo>
                  <a:pt x="2354" y="46"/>
                </a:lnTo>
                <a:lnTo>
                  <a:pt x="2160" y="57"/>
                </a:lnTo>
                <a:lnTo>
                  <a:pt x="1999" y="700"/>
                </a:lnTo>
                <a:lnTo>
                  <a:pt x="1554" y="904"/>
                </a:lnTo>
                <a:lnTo>
                  <a:pt x="722" y="605"/>
                </a:lnTo>
                <a:lnTo>
                  <a:pt x="279" y="0"/>
                </a:lnTo>
                <a:close/>
              </a:path>
            </a:pathLst>
          </a:custGeom>
          <a:solidFill>
            <a:srgbClr val="809CC7"/>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Freeform 36"/>
          <p:cNvSpPr/>
          <p:nvPr/>
        </p:nvSpPr>
        <p:spPr>
          <a:xfrm>
            <a:off x="2864573" y="4794834"/>
            <a:ext cx="911" cy="590"/>
          </a:xfrm>
          <a:custGeom>
            <a:avLst/>
            <a:gdLst/>
            <a:ahLst/>
            <a:cxnLst/>
            <a:rect l="l" t="t" r="r" b="b"/>
            <a:pathLst>
              <a:path w="911" h="590">
                <a:moveTo>
                  <a:pt x="911" y="0"/>
                </a:moveTo>
                <a:lnTo>
                  <a:pt x="152" y="38"/>
                </a:lnTo>
                <a:lnTo>
                  <a:pt x="0" y="255"/>
                </a:lnTo>
                <a:lnTo>
                  <a:pt x="852" y="590"/>
                </a:lnTo>
                <a:lnTo>
                  <a:pt x="911" y="0"/>
                </a:lnTo>
                <a:close/>
              </a:path>
            </a:pathLst>
          </a:custGeom>
          <a:solidFill>
            <a:srgbClr val="809CC7"/>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Freeform 37"/>
          <p:cNvSpPr/>
          <p:nvPr/>
        </p:nvSpPr>
        <p:spPr>
          <a:xfrm>
            <a:off x="2866115" y="4793992"/>
            <a:ext cx="402" cy="372"/>
          </a:xfrm>
          <a:custGeom>
            <a:avLst/>
            <a:gdLst/>
            <a:ahLst/>
            <a:cxnLst/>
            <a:rect l="l" t="t" r="r" b="b"/>
            <a:pathLst>
              <a:path w="402" h="372">
                <a:moveTo>
                  <a:pt x="235" y="0"/>
                </a:moveTo>
                <a:lnTo>
                  <a:pt x="0" y="131"/>
                </a:lnTo>
                <a:lnTo>
                  <a:pt x="77" y="372"/>
                </a:lnTo>
                <a:lnTo>
                  <a:pt x="402" y="149"/>
                </a:lnTo>
                <a:lnTo>
                  <a:pt x="235" y="0"/>
                </a:lnTo>
                <a:close/>
              </a:path>
            </a:pathLst>
          </a:custGeom>
          <a:solidFill>
            <a:srgbClr val="809CC7"/>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Freeform 38"/>
          <p:cNvSpPr/>
          <p:nvPr/>
        </p:nvSpPr>
        <p:spPr>
          <a:xfrm>
            <a:off x="2869290" y="4784512"/>
            <a:ext cx="1161" cy="1067"/>
          </a:xfrm>
          <a:custGeom>
            <a:avLst/>
            <a:gdLst/>
            <a:ahLst/>
            <a:cxnLst/>
            <a:rect l="l" t="t" r="r" b="b"/>
            <a:pathLst>
              <a:path w="1161" h="1067">
                <a:moveTo>
                  <a:pt x="410" y="0"/>
                </a:moveTo>
                <a:lnTo>
                  <a:pt x="13" y="344"/>
                </a:lnTo>
                <a:lnTo>
                  <a:pt x="0" y="842"/>
                </a:lnTo>
                <a:lnTo>
                  <a:pt x="212" y="1067"/>
                </a:lnTo>
                <a:lnTo>
                  <a:pt x="822" y="1038"/>
                </a:lnTo>
                <a:lnTo>
                  <a:pt x="1161" y="428"/>
                </a:lnTo>
                <a:lnTo>
                  <a:pt x="410" y="0"/>
                </a:lnTo>
                <a:close/>
              </a:path>
            </a:pathLst>
          </a:custGeom>
          <a:solidFill>
            <a:srgbClr val="809CC7"/>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Freeform 39"/>
          <p:cNvSpPr/>
          <p:nvPr/>
        </p:nvSpPr>
        <p:spPr>
          <a:xfrm>
            <a:off x="2867553" y="4783944"/>
            <a:ext cx="768" cy="403"/>
          </a:xfrm>
          <a:custGeom>
            <a:avLst/>
            <a:gdLst/>
            <a:ahLst/>
            <a:cxnLst/>
            <a:rect l="l" t="t" r="r" b="b"/>
            <a:pathLst>
              <a:path w="768" h="403">
                <a:moveTo>
                  <a:pt x="219" y="0"/>
                </a:moveTo>
                <a:lnTo>
                  <a:pt x="0" y="121"/>
                </a:lnTo>
                <a:lnTo>
                  <a:pt x="144" y="397"/>
                </a:lnTo>
                <a:lnTo>
                  <a:pt x="768" y="403"/>
                </a:lnTo>
                <a:lnTo>
                  <a:pt x="700" y="137"/>
                </a:lnTo>
                <a:lnTo>
                  <a:pt x="219" y="0"/>
                </a:lnTo>
                <a:close/>
              </a:path>
            </a:pathLst>
          </a:custGeom>
          <a:solidFill>
            <a:srgbClr val="809CC7"/>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Freeform 40"/>
          <p:cNvSpPr/>
          <p:nvPr/>
        </p:nvSpPr>
        <p:spPr>
          <a:xfrm>
            <a:off x="2860101" y="4783709"/>
            <a:ext cx="1226" cy="1161"/>
          </a:xfrm>
          <a:custGeom>
            <a:avLst/>
            <a:gdLst/>
            <a:ahLst/>
            <a:cxnLst/>
            <a:rect l="l" t="t" r="r" b="b"/>
            <a:pathLst>
              <a:path w="1226" h="1161">
                <a:moveTo>
                  <a:pt x="366" y="0"/>
                </a:moveTo>
                <a:lnTo>
                  <a:pt x="28" y="94"/>
                </a:lnTo>
                <a:lnTo>
                  <a:pt x="0" y="433"/>
                </a:lnTo>
                <a:lnTo>
                  <a:pt x="566" y="1161"/>
                </a:lnTo>
                <a:lnTo>
                  <a:pt x="1140" y="960"/>
                </a:lnTo>
                <a:lnTo>
                  <a:pt x="1226" y="431"/>
                </a:lnTo>
                <a:lnTo>
                  <a:pt x="873" y="82"/>
                </a:lnTo>
                <a:lnTo>
                  <a:pt x="366" y="0"/>
                </a:lnTo>
                <a:close/>
              </a:path>
            </a:pathLst>
          </a:custGeom>
          <a:solidFill>
            <a:srgbClr val="809CC7"/>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Freeform 41"/>
          <p:cNvSpPr/>
          <p:nvPr/>
        </p:nvSpPr>
        <p:spPr>
          <a:xfrm>
            <a:off x="2856135" y="4779157"/>
            <a:ext cx="852" cy="714"/>
          </a:xfrm>
          <a:custGeom>
            <a:avLst/>
            <a:gdLst/>
            <a:ahLst/>
            <a:cxnLst/>
            <a:rect l="l" t="t" r="r" b="b"/>
            <a:pathLst>
              <a:path w="852" h="714">
                <a:moveTo>
                  <a:pt x="249" y="0"/>
                </a:moveTo>
                <a:lnTo>
                  <a:pt x="0" y="486"/>
                </a:lnTo>
                <a:lnTo>
                  <a:pt x="433" y="714"/>
                </a:lnTo>
                <a:lnTo>
                  <a:pt x="852" y="337"/>
                </a:lnTo>
                <a:lnTo>
                  <a:pt x="571" y="12"/>
                </a:lnTo>
                <a:lnTo>
                  <a:pt x="249" y="0"/>
                </a:lnTo>
                <a:close/>
              </a:path>
            </a:pathLst>
          </a:custGeom>
          <a:solidFill>
            <a:srgbClr val="809CC7"/>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Freeform 42"/>
          <p:cNvSpPr/>
          <p:nvPr/>
        </p:nvSpPr>
        <p:spPr>
          <a:xfrm>
            <a:off x="2816619" y="4353755"/>
            <a:ext cx="894390" cy="700179"/>
          </a:xfrm>
          <a:custGeom>
            <a:avLst/>
            <a:gdLst/>
            <a:ahLst/>
            <a:cxnLst/>
            <a:rect l="l" t="t" r="r" b="b"/>
            <a:pathLst>
              <a:path w="894390" h="700179">
                <a:moveTo>
                  <a:pt x="884818" y="201760"/>
                </a:moveTo>
                <a:lnTo>
                  <a:pt x="877908" y="202391"/>
                </a:lnTo>
                <a:lnTo>
                  <a:pt x="873600" y="204721"/>
                </a:lnTo>
                <a:lnTo>
                  <a:pt x="871558" y="199714"/>
                </a:lnTo>
                <a:lnTo>
                  <a:pt x="869775" y="198326"/>
                </a:lnTo>
                <a:lnTo>
                  <a:pt x="867767" y="192350"/>
                </a:lnTo>
                <a:lnTo>
                  <a:pt x="867846" y="191032"/>
                </a:lnTo>
                <a:lnTo>
                  <a:pt x="870291" y="188576"/>
                </a:lnTo>
                <a:lnTo>
                  <a:pt x="858753" y="188572"/>
                </a:lnTo>
                <a:lnTo>
                  <a:pt x="859222" y="189979"/>
                </a:lnTo>
                <a:lnTo>
                  <a:pt x="857135" y="195461"/>
                </a:lnTo>
                <a:lnTo>
                  <a:pt x="856775" y="199291"/>
                </a:lnTo>
                <a:lnTo>
                  <a:pt x="852539" y="202836"/>
                </a:lnTo>
                <a:lnTo>
                  <a:pt x="852269" y="207119"/>
                </a:lnTo>
                <a:lnTo>
                  <a:pt x="849268" y="209498"/>
                </a:lnTo>
                <a:lnTo>
                  <a:pt x="847148" y="209002"/>
                </a:lnTo>
                <a:lnTo>
                  <a:pt x="841528" y="200914"/>
                </a:lnTo>
                <a:lnTo>
                  <a:pt x="840358" y="200422"/>
                </a:lnTo>
                <a:lnTo>
                  <a:pt x="841428" y="198433"/>
                </a:lnTo>
                <a:lnTo>
                  <a:pt x="837487" y="197756"/>
                </a:lnTo>
                <a:lnTo>
                  <a:pt x="842861" y="192210"/>
                </a:lnTo>
                <a:lnTo>
                  <a:pt x="842022" y="189935"/>
                </a:lnTo>
                <a:lnTo>
                  <a:pt x="838456" y="189795"/>
                </a:lnTo>
                <a:lnTo>
                  <a:pt x="833192" y="187054"/>
                </a:lnTo>
                <a:lnTo>
                  <a:pt x="830302" y="186843"/>
                </a:lnTo>
                <a:lnTo>
                  <a:pt x="827257" y="180234"/>
                </a:lnTo>
                <a:lnTo>
                  <a:pt x="824590" y="179031"/>
                </a:lnTo>
                <a:lnTo>
                  <a:pt x="820952" y="179450"/>
                </a:lnTo>
                <a:lnTo>
                  <a:pt x="814168" y="181157"/>
                </a:lnTo>
                <a:lnTo>
                  <a:pt x="811360" y="179450"/>
                </a:lnTo>
                <a:lnTo>
                  <a:pt x="807971" y="181522"/>
                </a:lnTo>
                <a:lnTo>
                  <a:pt x="805237" y="185860"/>
                </a:lnTo>
                <a:lnTo>
                  <a:pt x="799859" y="186297"/>
                </a:lnTo>
                <a:lnTo>
                  <a:pt x="798273" y="188484"/>
                </a:lnTo>
                <a:lnTo>
                  <a:pt x="794446" y="188075"/>
                </a:lnTo>
                <a:lnTo>
                  <a:pt x="784380" y="184815"/>
                </a:lnTo>
                <a:lnTo>
                  <a:pt x="783450" y="183224"/>
                </a:lnTo>
                <a:lnTo>
                  <a:pt x="781446" y="187632"/>
                </a:lnTo>
                <a:lnTo>
                  <a:pt x="782196" y="189916"/>
                </a:lnTo>
                <a:lnTo>
                  <a:pt x="779444" y="190091"/>
                </a:lnTo>
                <a:lnTo>
                  <a:pt x="773658" y="189492"/>
                </a:lnTo>
                <a:lnTo>
                  <a:pt x="767799" y="192622"/>
                </a:lnTo>
                <a:lnTo>
                  <a:pt x="762849" y="199573"/>
                </a:lnTo>
                <a:lnTo>
                  <a:pt x="762483" y="200401"/>
                </a:lnTo>
                <a:lnTo>
                  <a:pt x="762374" y="206360"/>
                </a:lnTo>
                <a:lnTo>
                  <a:pt x="757282" y="212606"/>
                </a:lnTo>
                <a:lnTo>
                  <a:pt x="758040" y="216082"/>
                </a:lnTo>
                <a:lnTo>
                  <a:pt x="749951" y="222961"/>
                </a:lnTo>
                <a:lnTo>
                  <a:pt x="747332" y="226457"/>
                </a:lnTo>
                <a:lnTo>
                  <a:pt x="746357" y="227001"/>
                </a:lnTo>
                <a:lnTo>
                  <a:pt x="745635" y="228361"/>
                </a:lnTo>
                <a:lnTo>
                  <a:pt x="742815" y="229753"/>
                </a:lnTo>
                <a:lnTo>
                  <a:pt x="740825" y="229854"/>
                </a:lnTo>
                <a:lnTo>
                  <a:pt x="740043" y="232608"/>
                </a:lnTo>
                <a:lnTo>
                  <a:pt x="738543" y="231749"/>
                </a:lnTo>
                <a:lnTo>
                  <a:pt x="736221" y="228795"/>
                </a:lnTo>
                <a:lnTo>
                  <a:pt x="734544" y="228974"/>
                </a:lnTo>
                <a:lnTo>
                  <a:pt x="733688" y="226559"/>
                </a:lnTo>
                <a:lnTo>
                  <a:pt x="733603" y="221818"/>
                </a:lnTo>
                <a:lnTo>
                  <a:pt x="735656" y="218659"/>
                </a:lnTo>
                <a:lnTo>
                  <a:pt x="731696" y="216552"/>
                </a:lnTo>
                <a:lnTo>
                  <a:pt x="723028" y="213951"/>
                </a:lnTo>
                <a:lnTo>
                  <a:pt x="720005" y="214320"/>
                </a:lnTo>
                <a:lnTo>
                  <a:pt x="712894" y="216441"/>
                </a:lnTo>
                <a:lnTo>
                  <a:pt x="709128" y="214204"/>
                </a:lnTo>
                <a:lnTo>
                  <a:pt x="706892" y="207254"/>
                </a:lnTo>
                <a:lnTo>
                  <a:pt x="702292" y="210412"/>
                </a:lnTo>
                <a:lnTo>
                  <a:pt x="695669" y="213573"/>
                </a:lnTo>
                <a:lnTo>
                  <a:pt x="692952" y="208877"/>
                </a:lnTo>
                <a:lnTo>
                  <a:pt x="689821" y="204381"/>
                </a:lnTo>
                <a:lnTo>
                  <a:pt x="678367" y="208089"/>
                </a:lnTo>
                <a:lnTo>
                  <a:pt x="677815" y="207762"/>
                </a:lnTo>
                <a:lnTo>
                  <a:pt x="677639" y="207098"/>
                </a:lnTo>
                <a:lnTo>
                  <a:pt x="677360" y="206918"/>
                </a:lnTo>
                <a:lnTo>
                  <a:pt x="677063" y="207222"/>
                </a:lnTo>
                <a:lnTo>
                  <a:pt x="676118" y="207027"/>
                </a:lnTo>
                <a:lnTo>
                  <a:pt x="675835" y="207163"/>
                </a:lnTo>
                <a:lnTo>
                  <a:pt x="675565" y="207803"/>
                </a:lnTo>
                <a:lnTo>
                  <a:pt x="675652" y="208397"/>
                </a:lnTo>
                <a:lnTo>
                  <a:pt x="673335" y="208338"/>
                </a:lnTo>
                <a:lnTo>
                  <a:pt x="668269" y="205605"/>
                </a:lnTo>
                <a:lnTo>
                  <a:pt x="672411" y="194993"/>
                </a:lnTo>
                <a:lnTo>
                  <a:pt x="673712" y="192539"/>
                </a:lnTo>
                <a:lnTo>
                  <a:pt x="666401" y="190777"/>
                </a:lnTo>
                <a:lnTo>
                  <a:pt x="666147" y="185112"/>
                </a:lnTo>
                <a:lnTo>
                  <a:pt x="656619" y="184008"/>
                </a:lnTo>
                <a:lnTo>
                  <a:pt x="647937" y="178945"/>
                </a:lnTo>
                <a:lnTo>
                  <a:pt x="637098" y="173817"/>
                </a:lnTo>
                <a:lnTo>
                  <a:pt x="631139" y="170369"/>
                </a:lnTo>
                <a:lnTo>
                  <a:pt x="625734" y="171905"/>
                </a:lnTo>
                <a:lnTo>
                  <a:pt x="624140" y="183174"/>
                </a:lnTo>
                <a:lnTo>
                  <a:pt x="622737" y="183546"/>
                </a:lnTo>
                <a:lnTo>
                  <a:pt x="621112" y="189732"/>
                </a:lnTo>
                <a:lnTo>
                  <a:pt x="616674" y="199615"/>
                </a:lnTo>
                <a:lnTo>
                  <a:pt x="617058" y="204148"/>
                </a:lnTo>
                <a:lnTo>
                  <a:pt x="610719" y="207055"/>
                </a:lnTo>
                <a:lnTo>
                  <a:pt x="613088" y="208786"/>
                </a:lnTo>
                <a:lnTo>
                  <a:pt x="611864" y="220443"/>
                </a:lnTo>
                <a:lnTo>
                  <a:pt x="607017" y="219096"/>
                </a:lnTo>
                <a:lnTo>
                  <a:pt x="604811" y="215652"/>
                </a:lnTo>
                <a:lnTo>
                  <a:pt x="599703" y="214487"/>
                </a:lnTo>
                <a:lnTo>
                  <a:pt x="599878" y="215894"/>
                </a:lnTo>
                <a:lnTo>
                  <a:pt x="600221" y="216666"/>
                </a:lnTo>
                <a:lnTo>
                  <a:pt x="600487" y="216708"/>
                </a:lnTo>
                <a:lnTo>
                  <a:pt x="600469" y="217849"/>
                </a:lnTo>
                <a:lnTo>
                  <a:pt x="601548" y="219363"/>
                </a:lnTo>
                <a:lnTo>
                  <a:pt x="602312" y="219872"/>
                </a:lnTo>
                <a:lnTo>
                  <a:pt x="602776" y="220574"/>
                </a:lnTo>
                <a:lnTo>
                  <a:pt x="602968" y="221776"/>
                </a:lnTo>
                <a:lnTo>
                  <a:pt x="602853" y="225606"/>
                </a:lnTo>
                <a:lnTo>
                  <a:pt x="598901" y="228075"/>
                </a:lnTo>
                <a:lnTo>
                  <a:pt x="601455" y="233671"/>
                </a:lnTo>
                <a:lnTo>
                  <a:pt x="602318" y="237953"/>
                </a:lnTo>
                <a:lnTo>
                  <a:pt x="599502" y="240708"/>
                </a:lnTo>
                <a:lnTo>
                  <a:pt x="602250" y="245168"/>
                </a:lnTo>
                <a:lnTo>
                  <a:pt x="607838" y="248052"/>
                </a:lnTo>
                <a:lnTo>
                  <a:pt x="605950" y="250104"/>
                </a:lnTo>
                <a:lnTo>
                  <a:pt x="601985" y="261328"/>
                </a:lnTo>
                <a:lnTo>
                  <a:pt x="599052" y="250933"/>
                </a:lnTo>
                <a:lnTo>
                  <a:pt x="591860" y="256325"/>
                </a:lnTo>
                <a:lnTo>
                  <a:pt x="590259" y="265997"/>
                </a:lnTo>
                <a:lnTo>
                  <a:pt x="589805" y="271104"/>
                </a:lnTo>
                <a:lnTo>
                  <a:pt x="589303" y="270634"/>
                </a:lnTo>
                <a:lnTo>
                  <a:pt x="585962" y="272853"/>
                </a:lnTo>
                <a:lnTo>
                  <a:pt x="581184" y="273971"/>
                </a:lnTo>
                <a:lnTo>
                  <a:pt x="579712" y="280281"/>
                </a:lnTo>
                <a:lnTo>
                  <a:pt x="577335" y="278848"/>
                </a:lnTo>
                <a:lnTo>
                  <a:pt x="576953" y="279435"/>
                </a:lnTo>
                <a:lnTo>
                  <a:pt x="576597" y="281773"/>
                </a:lnTo>
                <a:lnTo>
                  <a:pt x="572854" y="282749"/>
                </a:lnTo>
                <a:lnTo>
                  <a:pt x="570242" y="282624"/>
                </a:lnTo>
                <a:lnTo>
                  <a:pt x="559969" y="278856"/>
                </a:lnTo>
                <a:lnTo>
                  <a:pt x="558509" y="276869"/>
                </a:lnTo>
                <a:lnTo>
                  <a:pt x="558848" y="274994"/>
                </a:lnTo>
                <a:lnTo>
                  <a:pt x="555153" y="274812"/>
                </a:lnTo>
                <a:lnTo>
                  <a:pt x="553696" y="271588"/>
                </a:lnTo>
                <a:lnTo>
                  <a:pt x="550403" y="274833"/>
                </a:lnTo>
                <a:lnTo>
                  <a:pt x="547783" y="278704"/>
                </a:lnTo>
                <a:lnTo>
                  <a:pt x="545317" y="277902"/>
                </a:lnTo>
                <a:lnTo>
                  <a:pt x="544140" y="276015"/>
                </a:lnTo>
                <a:lnTo>
                  <a:pt x="541204" y="272420"/>
                </a:lnTo>
                <a:lnTo>
                  <a:pt x="535994" y="272674"/>
                </a:lnTo>
                <a:lnTo>
                  <a:pt x="534365" y="273876"/>
                </a:lnTo>
                <a:lnTo>
                  <a:pt x="532213" y="274652"/>
                </a:lnTo>
                <a:lnTo>
                  <a:pt x="528172" y="275851"/>
                </a:lnTo>
                <a:lnTo>
                  <a:pt x="526409" y="276012"/>
                </a:lnTo>
                <a:lnTo>
                  <a:pt x="528406" y="285872"/>
                </a:lnTo>
                <a:lnTo>
                  <a:pt x="530242" y="289687"/>
                </a:lnTo>
                <a:lnTo>
                  <a:pt x="529287" y="290932"/>
                </a:lnTo>
                <a:lnTo>
                  <a:pt x="528721" y="291669"/>
                </a:lnTo>
                <a:lnTo>
                  <a:pt x="524478" y="293391"/>
                </a:lnTo>
                <a:lnTo>
                  <a:pt x="518517" y="292616"/>
                </a:lnTo>
                <a:lnTo>
                  <a:pt x="514228" y="296468"/>
                </a:lnTo>
                <a:lnTo>
                  <a:pt x="512421" y="299778"/>
                </a:lnTo>
                <a:lnTo>
                  <a:pt x="509461" y="298810"/>
                </a:lnTo>
                <a:lnTo>
                  <a:pt x="501954" y="302634"/>
                </a:lnTo>
                <a:lnTo>
                  <a:pt x="494881" y="300495"/>
                </a:lnTo>
                <a:lnTo>
                  <a:pt x="495186" y="304537"/>
                </a:lnTo>
                <a:lnTo>
                  <a:pt x="492396" y="310589"/>
                </a:lnTo>
                <a:lnTo>
                  <a:pt x="490794" y="312331"/>
                </a:lnTo>
                <a:lnTo>
                  <a:pt x="485602" y="314518"/>
                </a:lnTo>
                <a:lnTo>
                  <a:pt x="481163" y="320515"/>
                </a:lnTo>
                <a:lnTo>
                  <a:pt x="479923" y="321066"/>
                </a:lnTo>
                <a:lnTo>
                  <a:pt x="479096" y="321991"/>
                </a:lnTo>
                <a:lnTo>
                  <a:pt x="473705" y="335160"/>
                </a:lnTo>
                <a:lnTo>
                  <a:pt x="476167" y="341402"/>
                </a:lnTo>
                <a:lnTo>
                  <a:pt x="467749" y="345477"/>
                </a:lnTo>
                <a:lnTo>
                  <a:pt x="463101" y="345987"/>
                </a:lnTo>
                <a:lnTo>
                  <a:pt x="459942" y="345034"/>
                </a:lnTo>
                <a:lnTo>
                  <a:pt x="449743" y="343711"/>
                </a:lnTo>
                <a:lnTo>
                  <a:pt x="433675" y="347845"/>
                </a:lnTo>
                <a:lnTo>
                  <a:pt x="430928" y="353080"/>
                </a:lnTo>
                <a:lnTo>
                  <a:pt x="426511" y="355882"/>
                </a:lnTo>
                <a:lnTo>
                  <a:pt x="426944" y="359699"/>
                </a:lnTo>
                <a:lnTo>
                  <a:pt x="432365" y="367524"/>
                </a:lnTo>
                <a:lnTo>
                  <a:pt x="432801" y="372789"/>
                </a:lnTo>
                <a:lnTo>
                  <a:pt x="428557" y="385347"/>
                </a:lnTo>
                <a:lnTo>
                  <a:pt x="421257" y="388461"/>
                </a:lnTo>
                <a:lnTo>
                  <a:pt x="419639" y="393669"/>
                </a:lnTo>
                <a:lnTo>
                  <a:pt x="408598" y="391925"/>
                </a:lnTo>
                <a:lnTo>
                  <a:pt x="408507" y="392149"/>
                </a:lnTo>
                <a:lnTo>
                  <a:pt x="404789" y="393781"/>
                </a:lnTo>
                <a:lnTo>
                  <a:pt x="400465" y="393875"/>
                </a:lnTo>
                <a:lnTo>
                  <a:pt x="400658" y="391214"/>
                </a:lnTo>
                <a:lnTo>
                  <a:pt x="396235" y="384020"/>
                </a:lnTo>
                <a:lnTo>
                  <a:pt x="388130" y="394012"/>
                </a:lnTo>
                <a:lnTo>
                  <a:pt x="379878" y="394001"/>
                </a:lnTo>
                <a:lnTo>
                  <a:pt x="371723" y="388096"/>
                </a:lnTo>
                <a:lnTo>
                  <a:pt x="369574" y="389602"/>
                </a:lnTo>
                <a:lnTo>
                  <a:pt x="369439" y="385607"/>
                </a:lnTo>
                <a:lnTo>
                  <a:pt x="368413" y="382119"/>
                </a:lnTo>
                <a:lnTo>
                  <a:pt x="366270" y="381175"/>
                </a:lnTo>
                <a:lnTo>
                  <a:pt x="360309" y="372854"/>
                </a:lnTo>
                <a:lnTo>
                  <a:pt x="354485" y="372181"/>
                </a:lnTo>
                <a:lnTo>
                  <a:pt x="349200" y="369945"/>
                </a:lnTo>
                <a:lnTo>
                  <a:pt x="344746" y="364925"/>
                </a:lnTo>
                <a:lnTo>
                  <a:pt x="344934" y="354153"/>
                </a:lnTo>
                <a:lnTo>
                  <a:pt x="343431" y="351359"/>
                </a:lnTo>
                <a:lnTo>
                  <a:pt x="337817" y="347617"/>
                </a:lnTo>
                <a:lnTo>
                  <a:pt x="337047" y="342370"/>
                </a:lnTo>
                <a:lnTo>
                  <a:pt x="333796" y="335916"/>
                </a:lnTo>
                <a:lnTo>
                  <a:pt x="334821" y="333752"/>
                </a:lnTo>
                <a:lnTo>
                  <a:pt x="330972" y="325183"/>
                </a:lnTo>
                <a:lnTo>
                  <a:pt x="330768" y="320960"/>
                </a:lnTo>
                <a:lnTo>
                  <a:pt x="328029" y="308276"/>
                </a:lnTo>
                <a:lnTo>
                  <a:pt x="335316" y="311874"/>
                </a:lnTo>
                <a:lnTo>
                  <a:pt x="340341" y="305237"/>
                </a:lnTo>
                <a:lnTo>
                  <a:pt x="339228" y="300468"/>
                </a:lnTo>
                <a:lnTo>
                  <a:pt x="346142" y="292549"/>
                </a:lnTo>
                <a:lnTo>
                  <a:pt x="351399" y="293624"/>
                </a:lnTo>
                <a:lnTo>
                  <a:pt x="349106" y="279749"/>
                </a:lnTo>
                <a:lnTo>
                  <a:pt x="338932" y="280599"/>
                </a:lnTo>
                <a:lnTo>
                  <a:pt x="340692" y="273623"/>
                </a:lnTo>
                <a:lnTo>
                  <a:pt x="336716" y="274076"/>
                </a:lnTo>
                <a:lnTo>
                  <a:pt x="334569" y="275077"/>
                </a:lnTo>
                <a:lnTo>
                  <a:pt x="331909" y="278172"/>
                </a:lnTo>
                <a:lnTo>
                  <a:pt x="331135" y="281274"/>
                </a:lnTo>
                <a:lnTo>
                  <a:pt x="329957" y="283336"/>
                </a:lnTo>
                <a:lnTo>
                  <a:pt x="329564" y="284559"/>
                </a:lnTo>
                <a:lnTo>
                  <a:pt x="327918" y="284293"/>
                </a:lnTo>
                <a:lnTo>
                  <a:pt x="323646" y="285083"/>
                </a:lnTo>
                <a:lnTo>
                  <a:pt x="321848" y="292244"/>
                </a:lnTo>
                <a:lnTo>
                  <a:pt x="317370" y="297781"/>
                </a:lnTo>
                <a:lnTo>
                  <a:pt x="312531" y="301252"/>
                </a:lnTo>
                <a:lnTo>
                  <a:pt x="308496" y="305696"/>
                </a:lnTo>
                <a:lnTo>
                  <a:pt x="299844" y="306942"/>
                </a:lnTo>
                <a:lnTo>
                  <a:pt x="296410" y="304328"/>
                </a:lnTo>
                <a:lnTo>
                  <a:pt x="292047" y="303591"/>
                </a:lnTo>
                <a:lnTo>
                  <a:pt x="290185" y="308964"/>
                </a:lnTo>
                <a:lnTo>
                  <a:pt x="285024" y="311947"/>
                </a:lnTo>
                <a:lnTo>
                  <a:pt x="281110" y="307964"/>
                </a:lnTo>
                <a:lnTo>
                  <a:pt x="280537" y="311945"/>
                </a:lnTo>
                <a:lnTo>
                  <a:pt x="277334" y="313697"/>
                </a:lnTo>
                <a:lnTo>
                  <a:pt x="280590" y="317131"/>
                </a:lnTo>
                <a:lnTo>
                  <a:pt x="276477" y="319155"/>
                </a:lnTo>
                <a:lnTo>
                  <a:pt x="273830" y="320775"/>
                </a:lnTo>
                <a:lnTo>
                  <a:pt x="272181" y="319427"/>
                </a:lnTo>
                <a:lnTo>
                  <a:pt x="270281" y="316922"/>
                </a:lnTo>
                <a:lnTo>
                  <a:pt x="265976" y="322202"/>
                </a:lnTo>
                <a:lnTo>
                  <a:pt x="266806" y="327229"/>
                </a:lnTo>
                <a:lnTo>
                  <a:pt x="264443" y="334291"/>
                </a:lnTo>
                <a:lnTo>
                  <a:pt x="265244" y="337670"/>
                </a:lnTo>
                <a:lnTo>
                  <a:pt x="264685" y="347816"/>
                </a:lnTo>
                <a:lnTo>
                  <a:pt x="262391" y="350848"/>
                </a:lnTo>
                <a:lnTo>
                  <a:pt x="254523" y="355236"/>
                </a:lnTo>
                <a:lnTo>
                  <a:pt x="250163" y="345554"/>
                </a:lnTo>
                <a:lnTo>
                  <a:pt x="248173" y="338119"/>
                </a:lnTo>
                <a:lnTo>
                  <a:pt x="248850" y="327389"/>
                </a:lnTo>
                <a:lnTo>
                  <a:pt x="251683" y="325180"/>
                </a:lnTo>
                <a:lnTo>
                  <a:pt x="250336" y="323181"/>
                </a:lnTo>
                <a:lnTo>
                  <a:pt x="249866" y="323166"/>
                </a:lnTo>
                <a:lnTo>
                  <a:pt x="249159" y="323564"/>
                </a:lnTo>
                <a:lnTo>
                  <a:pt x="248741" y="323333"/>
                </a:lnTo>
                <a:lnTo>
                  <a:pt x="247830" y="321727"/>
                </a:lnTo>
                <a:lnTo>
                  <a:pt x="246401" y="318208"/>
                </a:lnTo>
                <a:lnTo>
                  <a:pt x="245407" y="317399"/>
                </a:lnTo>
                <a:lnTo>
                  <a:pt x="245240" y="316091"/>
                </a:lnTo>
                <a:lnTo>
                  <a:pt x="244547" y="315101"/>
                </a:lnTo>
                <a:lnTo>
                  <a:pt x="244166" y="314066"/>
                </a:lnTo>
                <a:lnTo>
                  <a:pt x="243413" y="313270"/>
                </a:lnTo>
                <a:lnTo>
                  <a:pt x="242503" y="311360"/>
                </a:lnTo>
                <a:lnTo>
                  <a:pt x="241059" y="309876"/>
                </a:lnTo>
                <a:lnTo>
                  <a:pt x="239793" y="307492"/>
                </a:lnTo>
                <a:lnTo>
                  <a:pt x="239844" y="306690"/>
                </a:lnTo>
                <a:lnTo>
                  <a:pt x="239134" y="306306"/>
                </a:lnTo>
                <a:lnTo>
                  <a:pt x="235747" y="294258"/>
                </a:lnTo>
                <a:lnTo>
                  <a:pt x="246825" y="287667"/>
                </a:lnTo>
                <a:lnTo>
                  <a:pt x="247210" y="286572"/>
                </a:lnTo>
                <a:lnTo>
                  <a:pt x="246159" y="286149"/>
                </a:lnTo>
                <a:lnTo>
                  <a:pt x="245873" y="285143"/>
                </a:lnTo>
                <a:lnTo>
                  <a:pt x="247161" y="282814"/>
                </a:lnTo>
                <a:lnTo>
                  <a:pt x="247310" y="281763"/>
                </a:lnTo>
                <a:lnTo>
                  <a:pt x="246858" y="280737"/>
                </a:lnTo>
                <a:lnTo>
                  <a:pt x="247932" y="280169"/>
                </a:lnTo>
                <a:lnTo>
                  <a:pt x="246583" y="279119"/>
                </a:lnTo>
                <a:lnTo>
                  <a:pt x="247649" y="276069"/>
                </a:lnTo>
                <a:lnTo>
                  <a:pt x="245619" y="273545"/>
                </a:lnTo>
                <a:lnTo>
                  <a:pt x="244541" y="274222"/>
                </a:lnTo>
                <a:lnTo>
                  <a:pt x="245163" y="273190"/>
                </a:lnTo>
                <a:lnTo>
                  <a:pt x="243849" y="270805"/>
                </a:lnTo>
                <a:lnTo>
                  <a:pt x="245916" y="268116"/>
                </a:lnTo>
                <a:lnTo>
                  <a:pt x="248251" y="267359"/>
                </a:lnTo>
                <a:lnTo>
                  <a:pt x="249120" y="265604"/>
                </a:lnTo>
                <a:lnTo>
                  <a:pt x="247879" y="260963"/>
                </a:lnTo>
                <a:lnTo>
                  <a:pt x="245508" y="266704"/>
                </a:lnTo>
                <a:lnTo>
                  <a:pt x="244751" y="265519"/>
                </a:lnTo>
                <a:lnTo>
                  <a:pt x="245237" y="261939"/>
                </a:lnTo>
                <a:lnTo>
                  <a:pt x="244907" y="259510"/>
                </a:lnTo>
                <a:lnTo>
                  <a:pt x="244014" y="259004"/>
                </a:lnTo>
                <a:lnTo>
                  <a:pt x="242321" y="259074"/>
                </a:lnTo>
                <a:lnTo>
                  <a:pt x="236342" y="252573"/>
                </a:lnTo>
                <a:lnTo>
                  <a:pt x="232115" y="250126"/>
                </a:lnTo>
                <a:lnTo>
                  <a:pt x="230151" y="253815"/>
                </a:lnTo>
                <a:lnTo>
                  <a:pt x="227792" y="254755"/>
                </a:lnTo>
                <a:lnTo>
                  <a:pt x="226333" y="252410"/>
                </a:lnTo>
                <a:lnTo>
                  <a:pt x="223041" y="250065"/>
                </a:lnTo>
                <a:lnTo>
                  <a:pt x="221973" y="245633"/>
                </a:lnTo>
                <a:lnTo>
                  <a:pt x="217249" y="242645"/>
                </a:lnTo>
                <a:lnTo>
                  <a:pt x="215653" y="245058"/>
                </a:lnTo>
                <a:lnTo>
                  <a:pt x="213821" y="242880"/>
                </a:lnTo>
                <a:lnTo>
                  <a:pt x="215582" y="235769"/>
                </a:lnTo>
                <a:lnTo>
                  <a:pt x="216534" y="226238"/>
                </a:lnTo>
                <a:lnTo>
                  <a:pt x="210619" y="234652"/>
                </a:lnTo>
                <a:lnTo>
                  <a:pt x="206276" y="240326"/>
                </a:lnTo>
                <a:lnTo>
                  <a:pt x="204465" y="233430"/>
                </a:lnTo>
                <a:lnTo>
                  <a:pt x="200746" y="234382"/>
                </a:lnTo>
                <a:lnTo>
                  <a:pt x="198853" y="232815"/>
                </a:lnTo>
                <a:lnTo>
                  <a:pt x="198443" y="232847"/>
                </a:lnTo>
                <a:lnTo>
                  <a:pt x="197697" y="233393"/>
                </a:lnTo>
                <a:lnTo>
                  <a:pt x="196969" y="234655"/>
                </a:lnTo>
                <a:lnTo>
                  <a:pt x="196573" y="234919"/>
                </a:lnTo>
                <a:lnTo>
                  <a:pt x="195026" y="234095"/>
                </a:lnTo>
                <a:lnTo>
                  <a:pt x="193290" y="234257"/>
                </a:lnTo>
                <a:lnTo>
                  <a:pt x="192024" y="232857"/>
                </a:lnTo>
                <a:lnTo>
                  <a:pt x="188778" y="232316"/>
                </a:lnTo>
                <a:lnTo>
                  <a:pt x="188244" y="231674"/>
                </a:lnTo>
                <a:lnTo>
                  <a:pt x="184853" y="230287"/>
                </a:lnTo>
                <a:lnTo>
                  <a:pt x="181638" y="229749"/>
                </a:lnTo>
                <a:lnTo>
                  <a:pt x="180461" y="229860"/>
                </a:lnTo>
                <a:lnTo>
                  <a:pt x="180583" y="229480"/>
                </a:lnTo>
                <a:lnTo>
                  <a:pt x="180360" y="228941"/>
                </a:lnTo>
                <a:lnTo>
                  <a:pt x="181115" y="228482"/>
                </a:lnTo>
                <a:lnTo>
                  <a:pt x="180893" y="227636"/>
                </a:lnTo>
                <a:lnTo>
                  <a:pt x="181488" y="226974"/>
                </a:lnTo>
                <a:lnTo>
                  <a:pt x="181026" y="226321"/>
                </a:lnTo>
                <a:lnTo>
                  <a:pt x="181191" y="225384"/>
                </a:lnTo>
                <a:lnTo>
                  <a:pt x="180284" y="224537"/>
                </a:lnTo>
                <a:lnTo>
                  <a:pt x="181042" y="223915"/>
                </a:lnTo>
                <a:lnTo>
                  <a:pt x="180664" y="223291"/>
                </a:lnTo>
                <a:lnTo>
                  <a:pt x="180718" y="222957"/>
                </a:lnTo>
                <a:lnTo>
                  <a:pt x="181795" y="222090"/>
                </a:lnTo>
                <a:lnTo>
                  <a:pt x="182571" y="222305"/>
                </a:lnTo>
                <a:lnTo>
                  <a:pt x="182951" y="222170"/>
                </a:lnTo>
                <a:lnTo>
                  <a:pt x="183827" y="221025"/>
                </a:lnTo>
                <a:lnTo>
                  <a:pt x="183839" y="220072"/>
                </a:lnTo>
                <a:lnTo>
                  <a:pt x="184476" y="219771"/>
                </a:lnTo>
                <a:lnTo>
                  <a:pt x="184649" y="219068"/>
                </a:lnTo>
                <a:lnTo>
                  <a:pt x="185872" y="218665"/>
                </a:lnTo>
                <a:lnTo>
                  <a:pt x="186270" y="217909"/>
                </a:lnTo>
                <a:lnTo>
                  <a:pt x="187077" y="217646"/>
                </a:lnTo>
                <a:lnTo>
                  <a:pt x="187258" y="216286"/>
                </a:lnTo>
                <a:lnTo>
                  <a:pt x="188251" y="216174"/>
                </a:lnTo>
                <a:lnTo>
                  <a:pt x="187621" y="214953"/>
                </a:lnTo>
                <a:lnTo>
                  <a:pt x="186756" y="215371"/>
                </a:lnTo>
                <a:lnTo>
                  <a:pt x="186587" y="214365"/>
                </a:lnTo>
                <a:lnTo>
                  <a:pt x="185828" y="214697"/>
                </a:lnTo>
                <a:lnTo>
                  <a:pt x="185255" y="214253"/>
                </a:lnTo>
                <a:lnTo>
                  <a:pt x="185088" y="213773"/>
                </a:lnTo>
                <a:lnTo>
                  <a:pt x="185218" y="211851"/>
                </a:lnTo>
                <a:lnTo>
                  <a:pt x="186069" y="211160"/>
                </a:lnTo>
                <a:lnTo>
                  <a:pt x="187128" y="210750"/>
                </a:lnTo>
                <a:lnTo>
                  <a:pt x="187829" y="211247"/>
                </a:lnTo>
                <a:lnTo>
                  <a:pt x="188605" y="211155"/>
                </a:lnTo>
                <a:lnTo>
                  <a:pt x="188970" y="209158"/>
                </a:lnTo>
                <a:lnTo>
                  <a:pt x="186976" y="206102"/>
                </a:lnTo>
                <a:lnTo>
                  <a:pt x="186301" y="204160"/>
                </a:lnTo>
                <a:lnTo>
                  <a:pt x="184662" y="202263"/>
                </a:lnTo>
                <a:lnTo>
                  <a:pt x="183455" y="199331"/>
                </a:lnTo>
                <a:lnTo>
                  <a:pt x="182942" y="196528"/>
                </a:lnTo>
                <a:lnTo>
                  <a:pt x="185507" y="195877"/>
                </a:lnTo>
                <a:lnTo>
                  <a:pt x="186071" y="192042"/>
                </a:lnTo>
                <a:lnTo>
                  <a:pt x="184765" y="189011"/>
                </a:lnTo>
                <a:lnTo>
                  <a:pt x="187335" y="184676"/>
                </a:lnTo>
                <a:lnTo>
                  <a:pt x="186450" y="180568"/>
                </a:lnTo>
                <a:lnTo>
                  <a:pt x="184851" y="180992"/>
                </a:lnTo>
                <a:lnTo>
                  <a:pt x="182369" y="181202"/>
                </a:lnTo>
                <a:lnTo>
                  <a:pt x="181827" y="180857"/>
                </a:lnTo>
                <a:lnTo>
                  <a:pt x="186138" y="173314"/>
                </a:lnTo>
                <a:lnTo>
                  <a:pt x="185121" y="173065"/>
                </a:lnTo>
                <a:lnTo>
                  <a:pt x="183643" y="171975"/>
                </a:lnTo>
                <a:lnTo>
                  <a:pt x="180069" y="172209"/>
                </a:lnTo>
                <a:lnTo>
                  <a:pt x="177393" y="170161"/>
                </a:lnTo>
                <a:lnTo>
                  <a:pt x="176836" y="171026"/>
                </a:lnTo>
                <a:lnTo>
                  <a:pt x="175934" y="171714"/>
                </a:lnTo>
                <a:lnTo>
                  <a:pt x="175117" y="171357"/>
                </a:lnTo>
                <a:lnTo>
                  <a:pt x="176887" y="169231"/>
                </a:lnTo>
                <a:lnTo>
                  <a:pt x="177449" y="166445"/>
                </a:lnTo>
                <a:lnTo>
                  <a:pt x="179007" y="163511"/>
                </a:lnTo>
                <a:lnTo>
                  <a:pt x="179576" y="157158"/>
                </a:lnTo>
                <a:lnTo>
                  <a:pt x="177808" y="155687"/>
                </a:lnTo>
                <a:lnTo>
                  <a:pt x="177958" y="153715"/>
                </a:lnTo>
                <a:lnTo>
                  <a:pt x="178180" y="153546"/>
                </a:lnTo>
                <a:lnTo>
                  <a:pt x="177657" y="151530"/>
                </a:lnTo>
                <a:lnTo>
                  <a:pt x="174965" y="148502"/>
                </a:lnTo>
                <a:lnTo>
                  <a:pt x="170413" y="146302"/>
                </a:lnTo>
                <a:lnTo>
                  <a:pt x="174600" y="138148"/>
                </a:lnTo>
                <a:lnTo>
                  <a:pt x="168018" y="135005"/>
                </a:lnTo>
                <a:lnTo>
                  <a:pt x="164649" y="127546"/>
                </a:lnTo>
                <a:lnTo>
                  <a:pt x="165079" y="120854"/>
                </a:lnTo>
                <a:lnTo>
                  <a:pt x="164197" y="107526"/>
                </a:lnTo>
                <a:lnTo>
                  <a:pt x="158947" y="99354"/>
                </a:lnTo>
                <a:lnTo>
                  <a:pt x="157583" y="96342"/>
                </a:lnTo>
                <a:lnTo>
                  <a:pt x="158283" y="86189"/>
                </a:lnTo>
                <a:lnTo>
                  <a:pt x="168123" y="80448"/>
                </a:lnTo>
                <a:lnTo>
                  <a:pt x="159551" y="75999"/>
                </a:lnTo>
                <a:lnTo>
                  <a:pt x="152584" y="71628"/>
                </a:lnTo>
                <a:lnTo>
                  <a:pt x="164232" y="67770"/>
                </a:lnTo>
                <a:lnTo>
                  <a:pt x="162188" y="48303"/>
                </a:lnTo>
                <a:lnTo>
                  <a:pt x="149643" y="44375"/>
                </a:lnTo>
                <a:lnTo>
                  <a:pt x="139776" y="36816"/>
                </a:lnTo>
                <a:lnTo>
                  <a:pt x="139656" y="29932"/>
                </a:lnTo>
                <a:lnTo>
                  <a:pt x="134076" y="20988"/>
                </a:lnTo>
                <a:lnTo>
                  <a:pt x="119592" y="19814"/>
                </a:lnTo>
                <a:lnTo>
                  <a:pt x="106814" y="0"/>
                </a:lnTo>
                <a:lnTo>
                  <a:pt x="97458" y="2697"/>
                </a:lnTo>
                <a:lnTo>
                  <a:pt x="95471" y="15273"/>
                </a:lnTo>
                <a:lnTo>
                  <a:pt x="101489" y="28634"/>
                </a:lnTo>
                <a:lnTo>
                  <a:pt x="89891" y="13813"/>
                </a:lnTo>
                <a:lnTo>
                  <a:pt x="80649" y="5910"/>
                </a:lnTo>
                <a:lnTo>
                  <a:pt x="85796" y="16587"/>
                </a:lnTo>
                <a:lnTo>
                  <a:pt x="80375" y="27267"/>
                </a:lnTo>
                <a:lnTo>
                  <a:pt x="80889" y="38128"/>
                </a:lnTo>
                <a:lnTo>
                  <a:pt x="73609" y="51765"/>
                </a:lnTo>
                <a:lnTo>
                  <a:pt x="67314" y="64330"/>
                </a:lnTo>
                <a:lnTo>
                  <a:pt x="65676" y="65893"/>
                </a:lnTo>
                <a:lnTo>
                  <a:pt x="62480" y="64684"/>
                </a:lnTo>
                <a:lnTo>
                  <a:pt x="60230" y="63393"/>
                </a:lnTo>
                <a:lnTo>
                  <a:pt x="57737" y="64410"/>
                </a:lnTo>
                <a:lnTo>
                  <a:pt x="59330" y="66803"/>
                </a:lnTo>
                <a:lnTo>
                  <a:pt x="57214" y="67454"/>
                </a:lnTo>
                <a:lnTo>
                  <a:pt x="54389" y="69814"/>
                </a:lnTo>
                <a:lnTo>
                  <a:pt x="50123" y="66699"/>
                </a:lnTo>
                <a:lnTo>
                  <a:pt x="42798" y="60587"/>
                </a:lnTo>
                <a:lnTo>
                  <a:pt x="41628" y="60155"/>
                </a:lnTo>
                <a:lnTo>
                  <a:pt x="38372" y="59032"/>
                </a:lnTo>
                <a:lnTo>
                  <a:pt x="31357" y="61686"/>
                </a:lnTo>
                <a:lnTo>
                  <a:pt x="29977" y="66264"/>
                </a:lnTo>
                <a:lnTo>
                  <a:pt x="30611" y="82275"/>
                </a:lnTo>
                <a:lnTo>
                  <a:pt x="27620" y="81637"/>
                </a:lnTo>
                <a:lnTo>
                  <a:pt x="22430" y="82456"/>
                </a:lnTo>
                <a:lnTo>
                  <a:pt x="19673" y="83769"/>
                </a:lnTo>
                <a:lnTo>
                  <a:pt x="14995" y="83886"/>
                </a:lnTo>
                <a:lnTo>
                  <a:pt x="14877" y="87876"/>
                </a:lnTo>
                <a:lnTo>
                  <a:pt x="19570" y="93906"/>
                </a:lnTo>
                <a:lnTo>
                  <a:pt x="22125" y="97628"/>
                </a:lnTo>
                <a:lnTo>
                  <a:pt x="17870" y="100905"/>
                </a:lnTo>
                <a:lnTo>
                  <a:pt x="17142" y="102540"/>
                </a:lnTo>
                <a:lnTo>
                  <a:pt x="15765" y="102643"/>
                </a:lnTo>
                <a:lnTo>
                  <a:pt x="10036" y="108104"/>
                </a:lnTo>
                <a:lnTo>
                  <a:pt x="6907" y="111473"/>
                </a:lnTo>
                <a:lnTo>
                  <a:pt x="10829" y="124813"/>
                </a:lnTo>
                <a:lnTo>
                  <a:pt x="2437" y="121977"/>
                </a:lnTo>
                <a:lnTo>
                  <a:pt x="0" y="121405"/>
                </a:lnTo>
                <a:lnTo>
                  <a:pt x="749" y="122104"/>
                </a:lnTo>
                <a:lnTo>
                  <a:pt x="731" y="122605"/>
                </a:lnTo>
                <a:lnTo>
                  <a:pt x="1639" y="123374"/>
                </a:lnTo>
                <a:lnTo>
                  <a:pt x="2467" y="124744"/>
                </a:lnTo>
                <a:lnTo>
                  <a:pt x="3551" y="125488"/>
                </a:lnTo>
                <a:lnTo>
                  <a:pt x="4361" y="126742"/>
                </a:lnTo>
                <a:lnTo>
                  <a:pt x="5215" y="127524"/>
                </a:lnTo>
                <a:lnTo>
                  <a:pt x="5386" y="128481"/>
                </a:lnTo>
                <a:lnTo>
                  <a:pt x="5928" y="129195"/>
                </a:lnTo>
                <a:lnTo>
                  <a:pt x="6438" y="129233"/>
                </a:lnTo>
                <a:lnTo>
                  <a:pt x="7119" y="130326"/>
                </a:lnTo>
                <a:lnTo>
                  <a:pt x="8013" y="130901"/>
                </a:lnTo>
                <a:lnTo>
                  <a:pt x="8205" y="131346"/>
                </a:lnTo>
                <a:lnTo>
                  <a:pt x="8794" y="131563"/>
                </a:lnTo>
                <a:lnTo>
                  <a:pt x="8896" y="132326"/>
                </a:lnTo>
                <a:lnTo>
                  <a:pt x="9628" y="132399"/>
                </a:lnTo>
                <a:lnTo>
                  <a:pt x="11937" y="134110"/>
                </a:lnTo>
                <a:lnTo>
                  <a:pt x="13056" y="135477"/>
                </a:lnTo>
                <a:lnTo>
                  <a:pt x="14615" y="136616"/>
                </a:lnTo>
                <a:lnTo>
                  <a:pt x="15533" y="137653"/>
                </a:lnTo>
                <a:lnTo>
                  <a:pt x="16220" y="138919"/>
                </a:lnTo>
                <a:lnTo>
                  <a:pt x="16120" y="139145"/>
                </a:lnTo>
                <a:lnTo>
                  <a:pt x="16301" y="139043"/>
                </a:lnTo>
                <a:lnTo>
                  <a:pt x="16308" y="139345"/>
                </a:lnTo>
                <a:lnTo>
                  <a:pt x="16523" y="139396"/>
                </a:lnTo>
                <a:lnTo>
                  <a:pt x="16433" y="139686"/>
                </a:lnTo>
                <a:lnTo>
                  <a:pt x="17203" y="140271"/>
                </a:lnTo>
                <a:lnTo>
                  <a:pt x="17638" y="140953"/>
                </a:lnTo>
                <a:lnTo>
                  <a:pt x="17633" y="141432"/>
                </a:lnTo>
                <a:lnTo>
                  <a:pt x="18231" y="141897"/>
                </a:lnTo>
                <a:lnTo>
                  <a:pt x="18334" y="142566"/>
                </a:lnTo>
                <a:lnTo>
                  <a:pt x="18060" y="143004"/>
                </a:lnTo>
                <a:lnTo>
                  <a:pt x="18383" y="143197"/>
                </a:lnTo>
                <a:lnTo>
                  <a:pt x="18184" y="143600"/>
                </a:lnTo>
                <a:lnTo>
                  <a:pt x="18490" y="143783"/>
                </a:lnTo>
                <a:lnTo>
                  <a:pt x="18376" y="144103"/>
                </a:lnTo>
                <a:lnTo>
                  <a:pt x="18652" y="144621"/>
                </a:lnTo>
                <a:lnTo>
                  <a:pt x="18125" y="144803"/>
                </a:lnTo>
                <a:lnTo>
                  <a:pt x="18294" y="145010"/>
                </a:lnTo>
                <a:lnTo>
                  <a:pt x="17857" y="145562"/>
                </a:lnTo>
                <a:lnTo>
                  <a:pt x="17908" y="145992"/>
                </a:lnTo>
                <a:lnTo>
                  <a:pt x="18312" y="146054"/>
                </a:lnTo>
                <a:lnTo>
                  <a:pt x="18073" y="146665"/>
                </a:lnTo>
                <a:lnTo>
                  <a:pt x="18380" y="146847"/>
                </a:lnTo>
                <a:lnTo>
                  <a:pt x="18160" y="146979"/>
                </a:lnTo>
                <a:lnTo>
                  <a:pt x="18145" y="147476"/>
                </a:lnTo>
                <a:lnTo>
                  <a:pt x="19216" y="148381"/>
                </a:lnTo>
                <a:lnTo>
                  <a:pt x="19319" y="148931"/>
                </a:lnTo>
                <a:lnTo>
                  <a:pt x="19837" y="149290"/>
                </a:lnTo>
                <a:lnTo>
                  <a:pt x="20187" y="150103"/>
                </a:lnTo>
                <a:lnTo>
                  <a:pt x="21280" y="151252"/>
                </a:lnTo>
                <a:lnTo>
                  <a:pt x="21460" y="152576"/>
                </a:lnTo>
                <a:lnTo>
                  <a:pt x="22345" y="153061"/>
                </a:lnTo>
                <a:lnTo>
                  <a:pt x="22671" y="153799"/>
                </a:lnTo>
                <a:lnTo>
                  <a:pt x="23151" y="153992"/>
                </a:lnTo>
                <a:lnTo>
                  <a:pt x="23166" y="154345"/>
                </a:lnTo>
                <a:lnTo>
                  <a:pt x="23652" y="154828"/>
                </a:lnTo>
                <a:lnTo>
                  <a:pt x="24190" y="154946"/>
                </a:lnTo>
                <a:lnTo>
                  <a:pt x="25386" y="155999"/>
                </a:lnTo>
                <a:lnTo>
                  <a:pt x="26010" y="157180"/>
                </a:lnTo>
                <a:lnTo>
                  <a:pt x="26258" y="157189"/>
                </a:lnTo>
                <a:lnTo>
                  <a:pt x="26455" y="157674"/>
                </a:lnTo>
                <a:lnTo>
                  <a:pt x="27048" y="158183"/>
                </a:lnTo>
                <a:lnTo>
                  <a:pt x="27060" y="158675"/>
                </a:lnTo>
                <a:lnTo>
                  <a:pt x="28119" y="159825"/>
                </a:lnTo>
                <a:lnTo>
                  <a:pt x="28094" y="160292"/>
                </a:lnTo>
                <a:lnTo>
                  <a:pt x="28562" y="160934"/>
                </a:lnTo>
                <a:lnTo>
                  <a:pt x="29586" y="161677"/>
                </a:lnTo>
                <a:lnTo>
                  <a:pt x="30078" y="162465"/>
                </a:lnTo>
                <a:lnTo>
                  <a:pt x="31403" y="163313"/>
                </a:lnTo>
                <a:lnTo>
                  <a:pt x="32009" y="164329"/>
                </a:lnTo>
                <a:lnTo>
                  <a:pt x="32805" y="165025"/>
                </a:lnTo>
                <a:lnTo>
                  <a:pt x="32778" y="165270"/>
                </a:lnTo>
                <a:lnTo>
                  <a:pt x="33478" y="165689"/>
                </a:lnTo>
                <a:lnTo>
                  <a:pt x="33433" y="166172"/>
                </a:lnTo>
                <a:lnTo>
                  <a:pt x="33628" y="166059"/>
                </a:lnTo>
                <a:lnTo>
                  <a:pt x="34126" y="166558"/>
                </a:lnTo>
                <a:lnTo>
                  <a:pt x="34062" y="166753"/>
                </a:lnTo>
                <a:lnTo>
                  <a:pt x="34468" y="167085"/>
                </a:lnTo>
                <a:lnTo>
                  <a:pt x="35204" y="168536"/>
                </a:lnTo>
                <a:lnTo>
                  <a:pt x="36134" y="169095"/>
                </a:lnTo>
                <a:lnTo>
                  <a:pt x="37448" y="171338"/>
                </a:lnTo>
                <a:lnTo>
                  <a:pt x="38538" y="172086"/>
                </a:lnTo>
                <a:lnTo>
                  <a:pt x="39412" y="173306"/>
                </a:lnTo>
                <a:lnTo>
                  <a:pt x="40159" y="173782"/>
                </a:lnTo>
                <a:lnTo>
                  <a:pt x="40173" y="174056"/>
                </a:lnTo>
                <a:lnTo>
                  <a:pt x="40925" y="174352"/>
                </a:lnTo>
                <a:lnTo>
                  <a:pt x="40899" y="174898"/>
                </a:lnTo>
                <a:lnTo>
                  <a:pt x="41571" y="175317"/>
                </a:lnTo>
                <a:lnTo>
                  <a:pt x="41641" y="175836"/>
                </a:lnTo>
                <a:lnTo>
                  <a:pt x="42080" y="175948"/>
                </a:lnTo>
                <a:lnTo>
                  <a:pt x="42374" y="176960"/>
                </a:lnTo>
                <a:lnTo>
                  <a:pt x="42628" y="176945"/>
                </a:lnTo>
                <a:lnTo>
                  <a:pt x="43122" y="177547"/>
                </a:lnTo>
                <a:lnTo>
                  <a:pt x="43429" y="177552"/>
                </a:lnTo>
                <a:lnTo>
                  <a:pt x="43485" y="177991"/>
                </a:lnTo>
                <a:lnTo>
                  <a:pt x="44095" y="178219"/>
                </a:lnTo>
                <a:lnTo>
                  <a:pt x="44383" y="178840"/>
                </a:lnTo>
                <a:lnTo>
                  <a:pt x="45792" y="179636"/>
                </a:lnTo>
                <a:lnTo>
                  <a:pt x="50442" y="184594"/>
                </a:lnTo>
                <a:lnTo>
                  <a:pt x="52371" y="186985"/>
                </a:lnTo>
                <a:lnTo>
                  <a:pt x="53397" y="188754"/>
                </a:lnTo>
                <a:lnTo>
                  <a:pt x="53226" y="189226"/>
                </a:lnTo>
                <a:lnTo>
                  <a:pt x="53459" y="189605"/>
                </a:lnTo>
                <a:lnTo>
                  <a:pt x="53355" y="190419"/>
                </a:lnTo>
                <a:lnTo>
                  <a:pt x="53016" y="190728"/>
                </a:lnTo>
                <a:lnTo>
                  <a:pt x="53325" y="190796"/>
                </a:lnTo>
                <a:lnTo>
                  <a:pt x="53279" y="191053"/>
                </a:lnTo>
                <a:lnTo>
                  <a:pt x="53780" y="191111"/>
                </a:lnTo>
                <a:lnTo>
                  <a:pt x="53637" y="191644"/>
                </a:lnTo>
                <a:lnTo>
                  <a:pt x="54279" y="191749"/>
                </a:lnTo>
                <a:lnTo>
                  <a:pt x="55198" y="192604"/>
                </a:lnTo>
                <a:lnTo>
                  <a:pt x="55301" y="193074"/>
                </a:lnTo>
                <a:lnTo>
                  <a:pt x="55668" y="193388"/>
                </a:lnTo>
                <a:lnTo>
                  <a:pt x="55578" y="194286"/>
                </a:lnTo>
                <a:lnTo>
                  <a:pt x="56040" y="194611"/>
                </a:lnTo>
                <a:lnTo>
                  <a:pt x="55887" y="194878"/>
                </a:lnTo>
                <a:lnTo>
                  <a:pt x="56861" y="195616"/>
                </a:lnTo>
                <a:lnTo>
                  <a:pt x="56787" y="195916"/>
                </a:lnTo>
                <a:lnTo>
                  <a:pt x="57016" y="195902"/>
                </a:lnTo>
                <a:lnTo>
                  <a:pt x="57164" y="196475"/>
                </a:lnTo>
                <a:lnTo>
                  <a:pt x="57798" y="197010"/>
                </a:lnTo>
                <a:lnTo>
                  <a:pt x="57827" y="197760"/>
                </a:lnTo>
                <a:lnTo>
                  <a:pt x="58381" y="198665"/>
                </a:lnTo>
                <a:lnTo>
                  <a:pt x="58294" y="199027"/>
                </a:lnTo>
                <a:lnTo>
                  <a:pt x="58729" y="199475"/>
                </a:lnTo>
                <a:lnTo>
                  <a:pt x="58634" y="199647"/>
                </a:lnTo>
                <a:lnTo>
                  <a:pt x="59043" y="199750"/>
                </a:lnTo>
                <a:lnTo>
                  <a:pt x="59594" y="200328"/>
                </a:lnTo>
                <a:lnTo>
                  <a:pt x="61558" y="203408"/>
                </a:lnTo>
                <a:lnTo>
                  <a:pt x="62303" y="203938"/>
                </a:lnTo>
                <a:lnTo>
                  <a:pt x="63041" y="205261"/>
                </a:lnTo>
                <a:lnTo>
                  <a:pt x="63453" y="205598"/>
                </a:lnTo>
                <a:lnTo>
                  <a:pt x="63676" y="206757"/>
                </a:lnTo>
                <a:lnTo>
                  <a:pt x="64196" y="206690"/>
                </a:lnTo>
                <a:lnTo>
                  <a:pt x="66157" y="209246"/>
                </a:lnTo>
                <a:lnTo>
                  <a:pt x="67181" y="211129"/>
                </a:lnTo>
                <a:lnTo>
                  <a:pt x="68062" y="212090"/>
                </a:lnTo>
                <a:lnTo>
                  <a:pt x="68191" y="212638"/>
                </a:lnTo>
                <a:lnTo>
                  <a:pt x="69133" y="213471"/>
                </a:lnTo>
                <a:lnTo>
                  <a:pt x="69096" y="213985"/>
                </a:lnTo>
                <a:lnTo>
                  <a:pt x="69392" y="214166"/>
                </a:lnTo>
                <a:lnTo>
                  <a:pt x="69558" y="215004"/>
                </a:lnTo>
                <a:lnTo>
                  <a:pt x="69057" y="215560"/>
                </a:lnTo>
                <a:lnTo>
                  <a:pt x="69424" y="215891"/>
                </a:lnTo>
                <a:lnTo>
                  <a:pt x="69026" y="216092"/>
                </a:lnTo>
                <a:lnTo>
                  <a:pt x="69149" y="216414"/>
                </a:lnTo>
                <a:lnTo>
                  <a:pt x="69531" y="216556"/>
                </a:lnTo>
                <a:lnTo>
                  <a:pt x="69416" y="216950"/>
                </a:lnTo>
                <a:lnTo>
                  <a:pt x="69833" y="219147"/>
                </a:lnTo>
                <a:lnTo>
                  <a:pt x="70227" y="220113"/>
                </a:lnTo>
                <a:lnTo>
                  <a:pt x="70565" y="220294"/>
                </a:lnTo>
                <a:lnTo>
                  <a:pt x="70920" y="221563"/>
                </a:lnTo>
                <a:lnTo>
                  <a:pt x="70907" y="221894"/>
                </a:lnTo>
                <a:lnTo>
                  <a:pt x="70429" y="222367"/>
                </a:lnTo>
                <a:lnTo>
                  <a:pt x="71427" y="224388"/>
                </a:lnTo>
                <a:lnTo>
                  <a:pt x="71321" y="224889"/>
                </a:lnTo>
                <a:lnTo>
                  <a:pt x="70743" y="225105"/>
                </a:lnTo>
                <a:lnTo>
                  <a:pt x="71200" y="225191"/>
                </a:lnTo>
                <a:lnTo>
                  <a:pt x="70984" y="225685"/>
                </a:lnTo>
                <a:lnTo>
                  <a:pt x="71521" y="226004"/>
                </a:lnTo>
                <a:lnTo>
                  <a:pt x="75744" y="232079"/>
                </a:lnTo>
                <a:lnTo>
                  <a:pt x="77055" y="234466"/>
                </a:lnTo>
                <a:lnTo>
                  <a:pt x="78261" y="237830"/>
                </a:lnTo>
                <a:lnTo>
                  <a:pt x="78121" y="238667"/>
                </a:lnTo>
                <a:lnTo>
                  <a:pt x="78338" y="239472"/>
                </a:lnTo>
                <a:lnTo>
                  <a:pt x="78023" y="240149"/>
                </a:lnTo>
                <a:lnTo>
                  <a:pt x="77360" y="240241"/>
                </a:lnTo>
                <a:lnTo>
                  <a:pt x="77865" y="241370"/>
                </a:lnTo>
                <a:lnTo>
                  <a:pt x="77811" y="242946"/>
                </a:lnTo>
                <a:lnTo>
                  <a:pt x="77423" y="243509"/>
                </a:lnTo>
                <a:lnTo>
                  <a:pt x="76537" y="243701"/>
                </a:lnTo>
                <a:lnTo>
                  <a:pt x="76591" y="244581"/>
                </a:lnTo>
                <a:lnTo>
                  <a:pt x="76995" y="245983"/>
                </a:lnTo>
                <a:lnTo>
                  <a:pt x="78083" y="247632"/>
                </a:lnTo>
                <a:lnTo>
                  <a:pt x="79736" y="251481"/>
                </a:lnTo>
                <a:lnTo>
                  <a:pt x="79903" y="252225"/>
                </a:lnTo>
                <a:lnTo>
                  <a:pt x="79691" y="252661"/>
                </a:lnTo>
                <a:lnTo>
                  <a:pt x="79337" y="252805"/>
                </a:lnTo>
                <a:lnTo>
                  <a:pt x="79325" y="253374"/>
                </a:lnTo>
                <a:lnTo>
                  <a:pt x="80882" y="255853"/>
                </a:lnTo>
                <a:lnTo>
                  <a:pt x="81271" y="256864"/>
                </a:lnTo>
                <a:lnTo>
                  <a:pt x="81101" y="257731"/>
                </a:lnTo>
                <a:lnTo>
                  <a:pt x="83341" y="262377"/>
                </a:lnTo>
                <a:lnTo>
                  <a:pt x="84330" y="265389"/>
                </a:lnTo>
                <a:lnTo>
                  <a:pt x="84520" y="266534"/>
                </a:lnTo>
                <a:lnTo>
                  <a:pt x="84385" y="267520"/>
                </a:lnTo>
                <a:lnTo>
                  <a:pt x="83751" y="268465"/>
                </a:lnTo>
                <a:lnTo>
                  <a:pt x="83262" y="268515"/>
                </a:lnTo>
                <a:lnTo>
                  <a:pt x="83202" y="268792"/>
                </a:lnTo>
                <a:lnTo>
                  <a:pt x="82527" y="269184"/>
                </a:lnTo>
                <a:lnTo>
                  <a:pt x="82543" y="269491"/>
                </a:lnTo>
                <a:lnTo>
                  <a:pt x="82912" y="269547"/>
                </a:lnTo>
                <a:lnTo>
                  <a:pt x="82827" y="269720"/>
                </a:lnTo>
                <a:lnTo>
                  <a:pt x="83016" y="269790"/>
                </a:lnTo>
                <a:lnTo>
                  <a:pt x="82903" y="270180"/>
                </a:lnTo>
                <a:lnTo>
                  <a:pt x="83161" y="270427"/>
                </a:lnTo>
                <a:lnTo>
                  <a:pt x="82996" y="270588"/>
                </a:lnTo>
                <a:lnTo>
                  <a:pt x="83222" y="270972"/>
                </a:lnTo>
                <a:lnTo>
                  <a:pt x="83137" y="271237"/>
                </a:lnTo>
                <a:lnTo>
                  <a:pt x="82831" y="271274"/>
                </a:lnTo>
                <a:lnTo>
                  <a:pt x="83140" y="271576"/>
                </a:lnTo>
                <a:lnTo>
                  <a:pt x="82773" y="272334"/>
                </a:lnTo>
                <a:lnTo>
                  <a:pt x="82977" y="272390"/>
                </a:lnTo>
                <a:lnTo>
                  <a:pt x="83370" y="273750"/>
                </a:lnTo>
                <a:lnTo>
                  <a:pt x="83393" y="275136"/>
                </a:lnTo>
                <a:lnTo>
                  <a:pt x="83650" y="275554"/>
                </a:lnTo>
                <a:lnTo>
                  <a:pt x="83529" y="275808"/>
                </a:lnTo>
                <a:lnTo>
                  <a:pt x="83998" y="278277"/>
                </a:lnTo>
                <a:lnTo>
                  <a:pt x="84675" y="279693"/>
                </a:lnTo>
                <a:lnTo>
                  <a:pt x="84721" y="280714"/>
                </a:lnTo>
                <a:lnTo>
                  <a:pt x="84494" y="280991"/>
                </a:lnTo>
                <a:lnTo>
                  <a:pt x="84870" y="281406"/>
                </a:lnTo>
                <a:lnTo>
                  <a:pt x="84654" y="281626"/>
                </a:lnTo>
                <a:lnTo>
                  <a:pt x="84775" y="282331"/>
                </a:lnTo>
                <a:lnTo>
                  <a:pt x="85032" y="282431"/>
                </a:lnTo>
                <a:lnTo>
                  <a:pt x="86430" y="285147"/>
                </a:lnTo>
                <a:lnTo>
                  <a:pt x="86955" y="286572"/>
                </a:lnTo>
                <a:lnTo>
                  <a:pt x="87077" y="287298"/>
                </a:lnTo>
                <a:lnTo>
                  <a:pt x="86829" y="287656"/>
                </a:lnTo>
                <a:lnTo>
                  <a:pt x="88790" y="292902"/>
                </a:lnTo>
                <a:lnTo>
                  <a:pt x="90239" y="299018"/>
                </a:lnTo>
                <a:lnTo>
                  <a:pt x="90308" y="300459"/>
                </a:lnTo>
                <a:lnTo>
                  <a:pt x="90022" y="303036"/>
                </a:lnTo>
                <a:lnTo>
                  <a:pt x="89523" y="304300"/>
                </a:lnTo>
                <a:lnTo>
                  <a:pt x="89173" y="304648"/>
                </a:lnTo>
                <a:lnTo>
                  <a:pt x="88224" y="304639"/>
                </a:lnTo>
                <a:lnTo>
                  <a:pt x="87589" y="305024"/>
                </a:lnTo>
                <a:lnTo>
                  <a:pt x="86676" y="304528"/>
                </a:lnTo>
                <a:lnTo>
                  <a:pt x="86328" y="304930"/>
                </a:lnTo>
                <a:lnTo>
                  <a:pt x="86868" y="307595"/>
                </a:lnTo>
                <a:lnTo>
                  <a:pt x="86697" y="308173"/>
                </a:lnTo>
                <a:lnTo>
                  <a:pt x="88388" y="313583"/>
                </a:lnTo>
                <a:lnTo>
                  <a:pt x="89532" y="319426"/>
                </a:lnTo>
                <a:lnTo>
                  <a:pt x="90389" y="328470"/>
                </a:lnTo>
                <a:lnTo>
                  <a:pt x="90294" y="333211"/>
                </a:lnTo>
                <a:lnTo>
                  <a:pt x="89511" y="339879"/>
                </a:lnTo>
                <a:lnTo>
                  <a:pt x="88277" y="345102"/>
                </a:lnTo>
                <a:lnTo>
                  <a:pt x="87272" y="348318"/>
                </a:lnTo>
                <a:lnTo>
                  <a:pt x="84246" y="355978"/>
                </a:lnTo>
                <a:lnTo>
                  <a:pt x="80182" y="363408"/>
                </a:lnTo>
                <a:lnTo>
                  <a:pt x="77915" y="366196"/>
                </a:lnTo>
                <a:lnTo>
                  <a:pt x="73995" y="369607"/>
                </a:lnTo>
                <a:lnTo>
                  <a:pt x="69979" y="376155"/>
                </a:lnTo>
                <a:lnTo>
                  <a:pt x="66322" y="379399"/>
                </a:lnTo>
                <a:lnTo>
                  <a:pt x="64930" y="380140"/>
                </a:lnTo>
                <a:lnTo>
                  <a:pt x="63880" y="380233"/>
                </a:lnTo>
                <a:lnTo>
                  <a:pt x="62715" y="380729"/>
                </a:lnTo>
                <a:lnTo>
                  <a:pt x="62198" y="380731"/>
                </a:lnTo>
                <a:lnTo>
                  <a:pt x="61865" y="380418"/>
                </a:lnTo>
                <a:lnTo>
                  <a:pt x="61671" y="380714"/>
                </a:lnTo>
                <a:lnTo>
                  <a:pt x="61014" y="380904"/>
                </a:lnTo>
                <a:lnTo>
                  <a:pt x="60455" y="380407"/>
                </a:lnTo>
                <a:lnTo>
                  <a:pt x="59920" y="380919"/>
                </a:lnTo>
                <a:lnTo>
                  <a:pt x="59404" y="380406"/>
                </a:lnTo>
                <a:lnTo>
                  <a:pt x="59053" y="380459"/>
                </a:lnTo>
                <a:lnTo>
                  <a:pt x="59241" y="380276"/>
                </a:lnTo>
                <a:lnTo>
                  <a:pt x="58554" y="380569"/>
                </a:lnTo>
                <a:lnTo>
                  <a:pt x="58194" y="380332"/>
                </a:lnTo>
                <a:lnTo>
                  <a:pt x="57068" y="381064"/>
                </a:lnTo>
                <a:lnTo>
                  <a:pt x="55052" y="381708"/>
                </a:lnTo>
                <a:lnTo>
                  <a:pt x="54385" y="380252"/>
                </a:lnTo>
                <a:lnTo>
                  <a:pt x="53046" y="378950"/>
                </a:lnTo>
                <a:lnTo>
                  <a:pt x="51526" y="378041"/>
                </a:lnTo>
                <a:lnTo>
                  <a:pt x="51069" y="377337"/>
                </a:lnTo>
                <a:lnTo>
                  <a:pt x="49127" y="376450"/>
                </a:lnTo>
                <a:lnTo>
                  <a:pt x="48638" y="375352"/>
                </a:lnTo>
                <a:lnTo>
                  <a:pt x="49157" y="375373"/>
                </a:lnTo>
                <a:lnTo>
                  <a:pt x="49181" y="374893"/>
                </a:lnTo>
                <a:lnTo>
                  <a:pt x="46520" y="373891"/>
                </a:lnTo>
                <a:lnTo>
                  <a:pt x="46542" y="373722"/>
                </a:lnTo>
                <a:lnTo>
                  <a:pt x="46467" y="373868"/>
                </a:lnTo>
                <a:lnTo>
                  <a:pt x="46112" y="373507"/>
                </a:lnTo>
                <a:lnTo>
                  <a:pt x="45354" y="373422"/>
                </a:lnTo>
                <a:lnTo>
                  <a:pt x="45358" y="373119"/>
                </a:lnTo>
                <a:lnTo>
                  <a:pt x="45311" y="373419"/>
                </a:lnTo>
                <a:lnTo>
                  <a:pt x="44990" y="373372"/>
                </a:lnTo>
                <a:lnTo>
                  <a:pt x="44118" y="372786"/>
                </a:lnTo>
                <a:lnTo>
                  <a:pt x="43613" y="372154"/>
                </a:lnTo>
                <a:lnTo>
                  <a:pt x="43542" y="371685"/>
                </a:lnTo>
                <a:lnTo>
                  <a:pt x="44162" y="371125"/>
                </a:lnTo>
                <a:lnTo>
                  <a:pt x="43834" y="370381"/>
                </a:lnTo>
                <a:lnTo>
                  <a:pt x="44119" y="369605"/>
                </a:lnTo>
                <a:lnTo>
                  <a:pt x="44408" y="369413"/>
                </a:lnTo>
                <a:lnTo>
                  <a:pt x="43216" y="369539"/>
                </a:lnTo>
                <a:lnTo>
                  <a:pt x="42379" y="368841"/>
                </a:lnTo>
                <a:lnTo>
                  <a:pt x="42475" y="369685"/>
                </a:lnTo>
                <a:lnTo>
                  <a:pt x="41658" y="371193"/>
                </a:lnTo>
                <a:lnTo>
                  <a:pt x="41132" y="371814"/>
                </a:lnTo>
                <a:lnTo>
                  <a:pt x="40012" y="372492"/>
                </a:lnTo>
                <a:lnTo>
                  <a:pt x="38931" y="372343"/>
                </a:lnTo>
                <a:lnTo>
                  <a:pt x="38801" y="372098"/>
                </a:lnTo>
                <a:lnTo>
                  <a:pt x="39046" y="371830"/>
                </a:lnTo>
                <a:lnTo>
                  <a:pt x="38784" y="371417"/>
                </a:lnTo>
                <a:lnTo>
                  <a:pt x="37533" y="372212"/>
                </a:lnTo>
                <a:lnTo>
                  <a:pt x="36210" y="371262"/>
                </a:lnTo>
                <a:lnTo>
                  <a:pt x="36084" y="371671"/>
                </a:lnTo>
                <a:lnTo>
                  <a:pt x="36578" y="372204"/>
                </a:lnTo>
                <a:lnTo>
                  <a:pt x="36352" y="372826"/>
                </a:lnTo>
                <a:lnTo>
                  <a:pt x="36457" y="373193"/>
                </a:lnTo>
                <a:lnTo>
                  <a:pt x="35986" y="373650"/>
                </a:lnTo>
                <a:lnTo>
                  <a:pt x="35732" y="373595"/>
                </a:lnTo>
                <a:lnTo>
                  <a:pt x="35172" y="374772"/>
                </a:lnTo>
                <a:lnTo>
                  <a:pt x="34657" y="375059"/>
                </a:lnTo>
                <a:lnTo>
                  <a:pt x="34015" y="374943"/>
                </a:lnTo>
                <a:lnTo>
                  <a:pt x="32934" y="376050"/>
                </a:lnTo>
                <a:lnTo>
                  <a:pt x="33165" y="376649"/>
                </a:lnTo>
                <a:lnTo>
                  <a:pt x="32959" y="377116"/>
                </a:lnTo>
                <a:lnTo>
                  <a:pt x="34064" y="378201"/>
                </a:lnTo>
                <a:lnTo>
                  <a:pt x="34761" y="380137"/>
                </a:lnTo>
                <a:lnTo>
                  <a:pt x="35040" y="383223"/>
                </a:lnTo>
                <a:lnTo>
                  <a:pt x="34790" y="384703"/>
                </a:lnTo>
                <a:lnTo>
                  <a:pt x="34333" y="385619"/>
                </a:lnTo>
                <a:lnTo>
                  <a:pt x="32795" y="386645"/>
                </a:lnTo>
                <a:lnTo>
                  <a:pt x="32120" y="386579"/>
                </a:lnTo>
                <a:lnTo>
                  <a:pt x="31949" y="385755"/>
                </a:lnTo>
                <a:lnTo>
                  <a:pt x="31777" y="385818"/>
                </a:lnTo>
                <a:lnTo>
                  <a:pt x="31917" y="386897"/>
                </a:lnTo>
                <a:lnTo>
                  <a:pt x="31609" y="387499"/>
                </a:lnTo>
                <a:lnTo>
                  <a:pt x="30911" y="387590"/>
                </a:lnTo>
                <a:lnTo>
                  <a:pt x="30329" y="387993"/>
                </a:lnTo>
                <a:lnTo>
                  <a:pt x="29835" y="387557"/>
                </a:lnTo>
                <a:lnTo>
                  <a:pt x="29784" y="387981"/>
                </a:lnTo>
                <a:lnTo>
                  <a:pt x="29407" y="387906"/>
                </a:lnTo>
                <a:lnTo>
                  <a:pt x="29538" y="388240"/>
                </a:lnTo>
                <a:lnTo>
                  <a:pt x="29314" y="388544"/>
                </a:lnTo>
                <a:lnTo>
                  <a:pt x="28877" y="388438"/>
                </a:lnTo>
                <a:lnTo>
                  <a:pt x="28744" y="388699"/>
                </a:lnTo>
                <a:lnTo>
                  <a:pt x="28557" y="388467"/>
                </a:lnTo>
                <a:lnTo>
                  <a:pt x="28162" y="388579"/>
                </a:lnTo>
                <a:lnTo>
                  <a:pt x="28198" y="388272"/>
                </a:lnTo>
                <a:lnTo>
                  <a:pt x="28016" y="388237"/>
                </a:lnTo>
                <a:lnTo>
                  <a:pt x="28087" y="388631"/>
                </a:lnTo>
                <a:lnTo>
                  <a:pt x="27848" y="388332"/>
                </a:lnTo>
                <a:lnTo>
                  <a:pt x="27664" y="388728"/>
                </a:lnTo>
                <a:lnTo>
                  <a:pt x="27681" y="389398"/>
                </a:lnTo>
                <a:lnTo>
                  <a:pt x="27270" y="389214"/>
                </a:lnTo>
                <a:lnTo>
                  <a:pt x="27241" y="389668"/>
                </a:lnTo>
                <a:lnTo>
                  <a:pt x="26946" y="389780"/>
                </a:lnTo>
                <a:lnTo>
                  <a:pt x="26759" y="389577"/>
                </a:lnTo>
                <a:lnTo>
                  <a:pt x="26707" y="389784"/>
                </a:lnTo>
                <a:lnTo>
                  <a:pt x="27028" y="389971"/>
                </a:lnTo>
                <a:lnTo>
                  <a:pt x="26860" y="390031"/>
                </a:lnTo>
                <a:lnTo>
                  <a:pt x="26931" y="390350"/>
                </a:lnTo>
                <a:lnTo>
                  <a:pt x="27335" y="390149"/>
                </a:lnTo>
                <a:lnTo>
                  <a:pt x="27245" y="390692"/>
                </a:lnTo>
                <a:lnTo>
                  <a:pt x="27536" y="391051"/>
                </a:lnTo>
                <a:lnTo>
                  <a:pt x="28053" y="391058"/>
                </a:lnTo>
                <a:lnTo>
                  <a:pt x="28211" y="391264"/>
                </a:lnTo>
                <a:lnTo>
                  <a:pt x="28367" y="391129"/>
                </a:lnTo>
                <a:lnTo>
                  <a:pt x="28365" y="391624"/>
                </a:lnTo>
                <a:lnTo>
                  <a:pt x="28591" y="391501"/>
                </a:lnTo>
                <a:lnTo>
                  <a:pt x="28535" y="391889"/>
                </a:lnTo>
                <a:lnTo>
                  <a:pt x="28808" y="391853"/>
                </a:lnTo>
                <a:lnTo>
                  <a:pt x="28632" y="392052"/>
                </a:lnTo>
                <a:lnTo>
                  <a:pt x="28915" y="391826"/>
                </a:lnTo>
                <a:lnTo>
                  <a:pt x="29265" y="391968"/>
                </a:lnTo>
                <a:lnTo>
                  <a:pt x="28904" y="392457"/>
                </a:lnTo>
                <a:lnTo>
                  <a:pt x="29076" y="392629"/>
                </a:lnTo>
                <a:lnTo>
                  <a:pt x="29905" y="392292"/>
                </a:lnTo>
                <a:lnTo>
                  <a:pt x="30494" y="392851"/>
                </a:lnTo>
                <a:lnTo>
                  <a:pt x="30786" y="392788"/>
                </a:lnTo>
                <a:lnTo>
                  <a:pt x="31135" y="393064"/>
                </a:lnTo>
                <a:lnTo>
                  <a:pt x="30939" y="393389"/>
                </a:lnTo>
                <a:lnTo>
                  <a:pt x="31634" y="393523"/>
                </a:lnTo>
                <a:lnTo>
                  <a:pt x="31949" y="394094"/>
                </a:lnTo>
                <a:lnTo>
                  <a:pt x="31903" y="395055"/>
                </a:lnTo>
                <a:lnTo>
                  <a:pt x="32339" y="395473"/>
                </a:lnTo>
                <a:lnTo>
                  <a:pt x="32359" y="395905"/>
                </a:lnTo>
                <a:lnTo>
                  <a:pt x="32058" y="396051"/>
                </a:lnTo>
                <a:lnTo>
                  <a:pt x="32053" y="396391"/>
                </a:lnTo>
                <a:lnTo>
                  <a:pt x="32485" y="396435"/>
                </a:lnTo>
                <a:lnTo>
                  <a:pt x="32680" y="397220"/>
                </a:lnTo>
                <a:lnTo>
                  <a:pt x="32351" y="398621"/>
                </a:lnTo>
                <a:lnTo>
                  <a:pt x="31901" y="399234"/>
                </a:lnTo>
                <a:lnTo>
                  <a:pt x="31641" y="399161"/>
                </a:lnTo>
                <a:lnTo>
                  <a:pt x="31306" y="399446"/>
                </a:lnTo>
                <a:lnTo>
                  <a:pt x="30574" y="399332"/>
                </a:lnTo>
                <a:lnTo>
                  <a:pt x="30028" y="399758"/>
                </a:lnTo>
                <a:lnTo>
                  <a:pt x="30307" y="400191"/>
                </a:lnTo>
                <a:lnTo>
                  <a:pt x="29920" y="400309"/>
                </a:lnTo>
                <a:lnTo>
                  <a:pt x="29940" y="400487"/>
                </a:lnTo>
                <a:lnTo>
                  <a:pt x="30597" y="400639"/>
                </a:lnTo>
                <a:lnTo>
                  <a:pt x="30675" y="400978"/>
                </a:lnTo>
                <a:lnTo>
                  <a:pt x="30394" y="401123"/>
                </a:lnTo>
                <a:lnTo>
                  <a:pt x="30350" y="401444"/>
                </a:lnTo>
                <a:lnTo>
                  <a:pt x="29971" y="401515"/>
                </a:lnTo>
                <a:lnTo>
                  <a:pt x="30035" y="401879"/>
                </a:lnTo>
                <a:lnTo>
                  <a:pt x="29781" y="402153"/>
                </a:lnTo>
                <a:lnTo>
                  <a:pt x="29169" y="402518"/>
                </a:lnTo>
                <a:lnTo>
                  <a:pt x="29529" y="402771"/>
                </a:lnTo>
                <a:lnTo>
                  <a:pt x="29500" y="403417"/>
                </a:lnTo>
                <a:lnTo>
                  <a:pt x="30079" y="403552"/>
                </a:lnTo>
                <a:lnTo>
                  <a:pt x="30567" y="403217"/>
                </a:lnTo>
                <a:lnTo>
                  <a:pt x="30727" y="403499"/>
                </a:lnTo>
                <a:lnTo>
                  <a:pt x="31099" y="403559"/>
                </a:lnTo>
                <a:lnTo>
                  <a:pt x="31259" y="404178"/>
                </a:lnTo>
                <a:lnTo>
                  <a:pt x="32289" y="404572"/>
                </a:lnTo>
                <a:lnTo>
                  <a:pt x="33116" y="406331"/>
                </a:lnTo>
                <a:lnTo>
                  <a:pt x="33600" y="409159"/>
                </a:lnTo>
                <a:lnTo>
                  <a:pt x="33107" y="410238"/>
                </a:lnTo>
                <a:lnTo>
                  <a:pt x="32538" y="410446"/>
                </a:lnTo>
                <a:lnTo>
                  <a:pt x="32645" y="410714"/>
                </a:lnTo>
                <a:lnTo>
                  <a:pt x="33010" y="410675"/>
                </a:lnTo>
                <a:lnTo>
                  <a:pt x="33368" y="411092"/>
                </a:lnTo>
                <a:lnTo>
                  <a:pt x="33379" y="411753"/>
                </a:lnTo>
                <a:lnTo>
                  <a:pt x="33047" y="411769"/>
                </a:lnTo>
                <a:lnTo>
                  <a:pt x="33040" y="411959"/>
                </a:lnTo>
                <a:lnTo>
                  <a:pt x="33738" y="411759"/>
                </a:lnTo>
                <a:lnTo>
                  <a:pt x="33895" y="411930"/>
                </a:lnTo>
                <a:lnTo>
                  <a:pt x="33589" y="412244"/>
                </a:lnTo>
                <a:lnTo>
                  <a:pt x="33697" y="413065"/>
                </a:lnTo>
                <a:lnTo>
                  <a:pt x="33414" y="413149"/>
                </a:lnTo>
                <a:lnTo>
                  <a:pt x="33560" y="413654"/>
                </a:lnTo>
                <a:lnTo>
                  <a:pt x="32789" y="413775"/>
                </a:lnTo>
                <a:lnTo>
                  <a:pt x="33842" y="414086"/>
                </a:lnTo>
                <a:lnTo>
                  <a:pt x="32592" y="415050"/>
                </a:lnTo>
                <a:lnTo>
                  <a:pt x="32566" y="415910"/>
                </a:lnTo>
                <a:lnTo>
                  <a:pt x="32049" y="416141"/>
                </a:lnTo>
                <a:lnTo>
                  <a:pt x="31963" y="416476"/>
                </a:lnTo>
                <a:lnTo>
                  <a:pt x="32344" y="416895"/>
                </a:lnTo>
                <a:lnTo>
                  <a:pt x="32140" y="417598"/>
                </a:lnTo>
                <a:lnTo>
                  <a:pt x="32824" y="417813"/>
                </a:lnTo>
                <a:lnTo>
                  <a:pt x="32732" y="418261"/>
                </a:lnTo>
                <a:lnTo>
                  <a:pt x="32999" y="418552"/>
                </a:lnTo>
                <a:lnTo>
                  <a:pt x="33447" y="418579"/>
                </a:lnTo>
                <a:lnTo>
                  <a:pt x="33756" y="417814"/>
                </a:lnTo>
                <a:lnTo>
                  <a:pt x="34468" y="417799"/>
                </a:lnTo>
                <a:lnTo>
                  <a:pt x="35677" y="418495"/>
                </a:lnTo>
                <a:lnTo>
                  <a:pt x="36458" y="419833"/>
                </a:lnTo>
                <a:lnTo>
                  <a:pt x="36534" y="420855"/>
                </a:lnTo>
                <a:lnTo>
                  <a:pt x="36117" y="421842"/>
                </a:lnTo>
                <a:lnTo>
                  <a:pt x="35688" y="422153"/>
                </a:lnTo>
                <a:lnTo>
                  <a:pt x="35099" y="421721"/>
                </a:lnTo>
                <a:lnTo>
                  <a:pt x="34685" y="421826"/>
                </a:lnTo>
                <a:lnTo>
                  <a:pt x="35817" y="423239"/>
                </a:lnTo>
                <a:lnTo>
                  <a:pt x="35345" y="424040"/>
                </a:lnTo>
                <a:lnTo>
                  <a:pt x="35608" y="424175"/>
                </a:lnTo>
                <a:lnTo>
                  <a:pt x="36460" y="423855"/>
                </a:lnTo>
                <a:lnTo>
                  <a:pt x="36803" y="424440"/>
                </a:lnTo>
                <a:lnTo>
                  <a:pt x="36767" y="424933"/>
                </a:lnTo>
                <a:lnTo>
                  <a:pt x="37553" y="425193"/>
                </a:lnTo>
                <a:lnTo>
                  <a:pt x="37795" y="425717"/>
                </a:lnTo>
                <a:lnTo>
                  <a:pt x="39731" y="423977"/>
                </a:lnTo>
                <a:lnTo>
                  <a:pt x="41454" y="423289"/>
                </a:lnTo>
                <a:lnTo>
                  <a:pt x="41176" y="422662"/>
                </a:lnTo>
                <a:lnTo>
                  <a:pt x="40731" y="422406"/>
                </a:lnTo>
                <a:lnTo>
                  <a:pt x="40834" y="421946"/>
                </a:lnTo>
                <a:lnTo>
                  <a:pt x="41259" y="421527"/>
                </a:lnTo>
                <a:lnTo>
                  <a:pt x="42468" y="421219"/>
                </a:lnTo>
                <a:lnTo>
                  <a:pt x="43285" y="421343"/>
                </a:lnTo>
                <a:lnTo>
                  <a:pt x="43777" y="421861"/>
                </a:lnTo>
                <a:lnTo>
                  <a:pt x="43915" y="421661"/>
                </a:lnTo>
                <a:lnTo>
                  <a:pt x="44385" y="421735"/>
                </a:lnTo>
                <a:lnTo>
                  <a:pt x="45502" y="422409"/>
                </a:lnTo>
                <a:lnTo>
                  <a:pt x="45907" y="422982"/>
                </a:lnTo>
                <a:lnTo>
                  <a:pt x="45810" y="423541"/>
                </a:lnTo>
                <a:lnTo>
                  <a:pt x="45500" y="423819"/>
                </a:lnTo>
                <a:lnTo>
                  <a:pt x="45101" y="423680"/>
                </a:lnTo>
                <a:lnTo>
                  <a:pt x="44980" y="423829"/>
                </a:lnTo>
                <a:lnTo>
                  <a:pt x="45537" y="424254"/>
                </a:lnTo>
                <a:lnTo>
                  <a:pt x="45880" y="424164"/>
                </a:lnTo>
                <a:lnTo>
                  <a:pt x="46234" y="423236"/>
                </a:lnTo>
                <a:lnTo>
                  <a:pt x="46099" y="422600"/>
                </a:lnTo>
                <a:lnTo>
                  <a:pt x="44944" y="421724"/>
                </a:lnTo>
                <a:lnTo>
                  <a:pt x="44754" y="420819"/>
                </a:lnTo>
                <a:lnTo>
                  <a:pt x="44131" y="421370"/>
                </a:lnTo>
                <a:lnTo>
                  <a:pt x="43625" y="420920"/>
                </a:lnTo>
                <a:lnTo>
                  <a:pt x="42584" y="420508"/>
                </a:lnTo>
                <a:lnTo>
                  <a:pt x="42432" y="419931"/>
                </a:lnTo>
                <a:lnTo>
                  <a:pt x="42749" y="419815"/>
                </a:lnTo>
                <a:lnTo>
                  <a:pt x="42694" y="419152"/>
                </a:lnTo>
                <a:lnTo>
                  <a:pt x="42912" y="418822"/>
                </a:lnTo>
                <a:lnTo>
                  <a:pt x="42200" y="418265"/>
                </a:lnTo>
                <a:lnTo>
                  <a:pt x="42384" y="417805"/>
                </a:lnTo>
                <a:lnTo>
                  <a:pt x="43268" y="417058"/>
                </a:lnTo>
                <a:lnTo>
                  <a:pt x="45097" y="416368"/>
                </a:lnTo>
                <a:lnTo>
                  <a:pt x="47841" y="416205"/>
                </a:lnTo>
                <a:lnTo>
                  <a:pt x="48959" y="416771"/>
                </a:lnTo>
                <a:lnTo>
                  <a:pt x="48202" y="418863"/>
                </a:lnTo>
                <a:lnTo>
                  <a:pt x="48446" y="418909"/>
                </a:lnTo>
                <a:lnTo>
                  <a:pt x="47666" y="420951"/>
                </a:lnTo>
                <a:lnTo>
                  <a:pt x="47490" y="422050"/>
                </a:lnTo>
                <a:lnTo>
                  <a:pt x="48803" y="418227"/>
                </a:lnTo>
                <a:lnTo>
                  <a:pt x="49166" y="418037"/>
                </a:lnTo>
                <a:lnTo>
                  <a:pt x="50142" y="418290"/>
                </a:lnTo>
                <a:lnTo>
                  <a:pt x="50659" y="417958"/>
                </a:lnTo>
                <a:lnTo>
                  <a:pt x="50937" y="418074"/>
                </a:lnTo>
                <a:lnTo>
                  <a:pt x="52175" y="418810"/>
                </a:lnTo>
                <a:lnTo>
                  <a:pt x="53731" y="420392"/>
                </a:lnTo>
                <a:lnTo>
                  <a:pt x="54786" y="422630"/>
                </a:lnTo>
                <a:lnTo>
                  <a:pt x="54900" y="423099"/>
                </a:lnTo>
                <a:lnTo>
                  <a:pt x="54701" y="423589"/>
                </a:lnTo>
                <a:lnTo>
                  <a:pt x="55420" y="423919"/>
                </a:lnTo>
                <a:lnTo>
                  <a:pt x="55687" y="424573"/>
                </a:lnTo>
                <a:lnTo>
                  <a:pt x="55488" y="425187"/>
                </a:lnTo>
                <a:lnTo>
                  <a:pt x="55718" y="425865"/>
                </a:lnTo>
                <a:lnTo>
                  <a:pt x="55517" y="427512"/>
                </a:lnTo>
                <a:lnTo>
                  <a:pt x="53965" y="430116"/>
                </a:lnTo>
                <a:lnTo>
                  <a:pt x="54352" y="430934"/>
                </a:lnTo>
                <a:lnTo>
                  <a:pt x="54231" y="432305"/>
                </a:lnTo>
                <a:lnTo>
                  <a:pt x="54721" y="433028"/>
                </a:lnTo>
                <a:lnTo>
                  <a:pt x="54732" y="433448"/>
                </a:lnTo>
                <a:lnTo>
                  <a:pt x="55727" y="434367"/>
                </a:lnTo>
                <a:lnTo>
                  <a:pt x="56952" y="434899"/>
                </a:lnTo>
                <a:lnTo>
                  <a:pt x="57504" y="435819"/>
                </a:lnTo>
                <a:lnTo>
                  <a:pt x="58242" y="436095"/>
                </a:lnTo>
                <a:lnTo>
                  <a:pt x="58777" y="437142"/>
                </a:lnTo>
                <a:lnTo>
                  <a:pt x="62955" y="439140"/>
                </a:lnTo>
                <a:lnTo>
                  <a:pt x="63400" y="440455"/>
                </a:lnTo>
                <a:lnTo>
                  <a:pt x="63616" y="440754"/>
                </a:lnTo>
                <a:lnTo>
                  <a:pt x="63784" y="440547"/>
                </a:lnTo>
                <a:lnTo>
                  <a:pt x="64030" y="440717"/>
                </a:lnTo>
                <a:lnTo>
                  <a:pt x="63988" y="440942"/>
                </a:lnTo>
                <a:lnTo>
                  <a:pt x="63793" y="440769"/>
                </a:lnTo>
                <a:lnTo>
                  <a:pt x="63608" y="440965"/>
                </a:lnTo>
                <a:lnTo>
                  <a:pt x="63008" y="442535"/>
                </a:lnTo>
                <a:lnTo>
                  <a:pt x="63281" y="442728"/>
                </a:lnTo>
                <a:lnTo>
                  <a:pt x="63689" y="442561"/>
                </a:lnTo>
                <a:lnTo>
                  <a:pt x="63499" y="442799"/>
                </a:lnTo>
                <a:lnTo>
                  <a:pt x="63937" y="443142"/>
                </a:lnTo>
                <a:lnTo>
                  <a:pt x="63798" y="443281"/>
                </a:lnTo>
                <a:lnTo>
                  <a:pt x="63039" y="443018"/>
                </a:lnTo>
                <a:lnTo>
                  <a:pt x="62943" y="443487"/>
                </a:lnTo>
                <a:lnTo>
                  <a:pt x="62932" y="442980"/>
                </a:lnTo>
                <a:lnTo>
                  <a:pt x="62666" y="442693"/>
                </a:lnTo>
                <a:lnTo>
                  <a:pt x="62094" y="442799"/>
                </a:lnTo>
                <a:lnTo>
                  <a:pt x="61937" y="443196"/>
                </a:lnTo>
                <a:lnTo>
                  <a:pt x="62434" y="444119"/>
                </a:lnTo>
                <a:lnTo>
                  <a:pt x="63714" y="444540"/>
                </a:lnTo>
                <a:lnTo>
                  <a:pt x="64877" y="444497"/>
                </a:lnTo>
                <a:lnTo>
                  <a:pt x="64885" y="444862"/>
                </a:lnTo>
                <a:lnTo>
                  <a:pt x="65323" y="444820"/>
                </a:lnTo>
                <a:lnTo>
                  <a:pt x="64885" y="445149"/>
                </a:lnTo>
                <a:lnTo>
                  <a:pt x="65402" y="445654"/>
                </a:lnTo>
                <a:lnTo>
                  <a:pt x="65962" y="445807"/>
                </a:lnTo>
                <a:lnTo>
                  <a:pt x="66197" y="445815"/>
                </a:lnTo>
                <a:lnTo>
                  <a:pt x="66089" y="445601"/>
                </a:lnTo>
                <a:lnTo>
                  <a:pt x="65495" y="445430"/>
                </a:lnTo>
                <a:lnTo>
                  <a:pt x="65941" y="444899"/>
                </a:lnTo>
                <a:lnTo>
                  <a:pt x="66117" y="445048"/>
                </a:lnTo>
                <a:lnTo>
                  <a:pt x="66923" y="444841"/>
                </a:lnTo>
                <a:lnTo>
                  <a:pt x="67797" y="444927"/>
                </a:lnTo>
                <a:lnTo>
                  <a:pt x="68064" y="445933"/>
                </a:lnTo>
                <a:lnTo>
                  <a:pt x="67774" y="446823"/>
                </a:lnTo>
                <a:lnTo>
                  <a:pt x="67229" y="447470"/>
                </a:lnTo>
                <a:lnTo>
                  <a:pt x="65835" y="448170"/>
                </a:lnTo>
                <a:lnTo>
                  <a:pt x="65814" y="448516"/>
                </a:lnTo>
                <a:lnTo>
                  <a:pt x="64598" y="448978"/>
                </a:lnTo>
                <a:lnTo>
                  <a:pt x="64062" y="448893"/>
                </a:lnTo>
                <a:lnTo>
                  <a:pt x="63333" y="448096"/>
                </a:lnTo>
                <a:lnTo>
                  <a:pt x="63256" y="447678"/>
                </a:lnTo>
                <a:lnTo>
                  <a:pt x="63522" y="447323"/>
                </a:lnTo>
                <a:lnTo>
                  <a:pt x="63346" y="446707"/>
                </a:lnTo>
                <a:lnTo>
                  <a:pt x="61961" y="445510"/>
                </a:lnTo>
                <a:lnTo>
                  <a:pt x="60892" y="445326"/>
                </a:lnTo>
                <a:lnTo>
                  <a:pt x="60334" y="444759"/>
                </a:lnTo>
                <a:lnTo>
                  <a:pt x="59748" y="444580"/>
                </a:lnTo>
                <a:lnTo>
                  <a:pt x="58919" y="443313"/>
                </a:lnTo>
                <a:lnTo>
                  <a:pt x="57547" y="442361"/>
                </a:lnTo>
                <a:lnTo>
                  <a:pt x="57394" y="441757"/>
                </a:lnTo>
                <a:lnTo>
                  <a:pt x="57573" y="441224"/>
                </a:lnTo>
                <a:lnTo>
                  <a:pt x="56284" y="441109"/>
                </a:lnTo>
                <a:lnTo>
                  <a:pt x="55036" y="440203"/>
                </a:lnTo>
                <a:lnTo>
                  <a:pt x="54097" y="439839"/>
                </a:lnTo>
                <a:lnTo>
                  <a:pt x="53845" y="439300"/>
                </a:lnTo>
                <a:lnTo>
                  <a:pt x="54788" y="437671"/>
                </a:lnTo>
                <a:lnTo>
                  <a:pt x="54728" y="437167"/>
                </a:lnTo>
                <a:lnTo>
                  <a:pt x="54119" y="436710"/>
                </a:lnTo>
                <a:lnTo>
                  <a:pt x="52692" y="436414"/>
                </a:lnTo>
                <a:lnTo>
                  <a:pt x="52335" y="436138"/>
                </a:lnTo>
                <a:lnTo>
                  <a:pt x="52390" y="434718"/>
                </a:lnTo>
                <a:lnTo>
                  <a:pt x="52197" y="433809"/>
                </a:lnTo>
                <a:lnTo>
                  <a:pt x="51699" y="432912"/>
                </a:lnTo>
                <a:lnTo>
                  <a:pt x="52107" y="432067"/>
                </a:lnTo>
                <a:lnTo>
                  <a:pt x="50902" y="431621"/>
                </a:lnTo>
                <a:lnTo>
                  <a:pt x="50366" y="431856"/>
                </a:lnTo>
                <a:lnTo>
                  <a:pt x="49046" y="431678"/>
                </a:lnTo>
                <a:lnTo>
                  <a:pt x="47839" y="432156"/>
                </a:lnTo>
                <a:lnTo>
                  <a:pt x="47823" y="431775"/>
                </a:lnTo>
                <a:lnTo>
                  <a:pt x="48215" y="431246"/>
                </a:lnTo>
                <a:lnTo>
                  <a:pt x="48967" y="431289"/>
                </a:lnTo>
                <a:lnTo>
                  <a:pt x="49885" y="430904"/>
                </a:lnTo>
                <a:lnTo>
                  <a:pt x="50812" y="430857"/>
                </a:lnTo>
                <a:lnTo>
                  <a:pt x="50389" y="429829"/>
                </a:lnTo>
                <a:lnTo>
                  <a:pt x="50770" y="429712"/>
                </a:lnTo>
                <a:lnTo>
                  <a:pt x="50767" y="429371"/>
                </a:lnTo>
                <a:lnTo>
                  <a:pt x="49469" y="429213"/>
                </a:lnTo>
                <a:lnTo>
                  <a:pt x="49391" y="428801"/>
                </a:lnTo>
                <a:lnTo>
                  <a:pt x="49634" y="428382"/>
                </a:lnTo>
                <a:lnTo>
                  <a:pt x="49403" y="428048"/>
                </a:lnTo>
                <a:lnTo>
                  <a:pt x="48741" y="428315"/>
                </a:lnTo>
                <a:lnTo>
                  <a:pt x="48503" y="427950"/>
                </a:lnTo>
                <a:lnTo>
                  <a:pt x="48262" y="428052"/>
                </a:lnTo>
                <a:lnTo>
                  <a:pt x="47157" y="427595"/>
                </a:lnTo>
                <a:lnTo>
                  <a:pt x="46271" y="427855"/>
                </a:lnTo>
                <a:lnTo>
                  <a:pt x="46880" y="428521"/>
                </a:lnTo>
                <a:lnTo>
                  <a:pt x="46502" y="429060"/>
                </a:lnTo>
                <a:lnTo>
                  <a:pt x="46863" y="430065"/>
                </a:lnTo>
                <a:lnTo>
                  <a:pt x="47195" y="430000"/>
                </a:lnTo>
                <a:lnTo>
                  <a:pt x="47452" y="430434"/>
                </a:lnTo>
                <a:lnTo>
                  <a:pt x="47352" y="431768"/>
                </a:lnTo>
                <a:lnTo>
                  <a:pt x="46883" y="432430"/>
                </a:lnTo>
                <a:lnTo>
                  <a:pt x="46274" y="432229"/>
                </a:lnTo>
                <a:lnTo>
                  <a:pt x="46330" y="432544"/>
                </a:lnTo>
                <a:lnTo>
                  <a:pt x="45754" y="432978"/>
                </a:lnTo>
                <a:lnTo>
                  <a:pt x="44930" y="432408"/>
                </a:lnTo>
                <a:lnTo>
                  <a:pt x="44635" y="432430"/>
                </a:lnTo>
                <a:lnTo>
                  <a:pt x="44433" y="432918"/>
                </a:lnTo>
                <a:lnTo>
                  <a:pt x="44697" y="433472"/>
                </a:lnTo>
                <a:lnTo>
                  <a:pt x="44238" y="433611"/>
                </a:lnTo>
                <a:lnTo>
                  <a:pt x="43868" y="434097"/>
                </a:lnTo>
                <a:lnTo>
                  <a:pt x="44347" y="434829"/>
                </a:lnTo>
                <a:lnTo>
                  <a:pt x="45035" y="434994"/>
                </a:lnTo>
                <a:lnTo>
                  <a:pt x="45285" y="435315"/>
                </a:lnTo>
                <a:lnTo>
                  <a:pt x="45891" y="435207"/>
                </a:lnTo>
                <a:lnTo>
                  <a:pt x="46798" y="435900"/>
                </a:lnTo>
                <a:lnTo>
                  <a:pt x="47393" y="437492"/>
                </a:lnTo>
                <a:lnTo>
                  <a:pt x="47180" y="437517"/>
                </a:lnTo>
                <a:lnTo>
                  <a:pt x="47105" y="438003"/>
                </a:lnTo>
                <a:lnTo>
                  <a:pt x="46601" y="438088"/>
                </a:lnTo>
                <a:lnTo>
                  <a:pt x="46622" y="438975"/>
                </a:lnTo>
                <a:lnTo>
                  <a:pt x="47230" y="439271"/>
                </a:lnTo>
                <a:lnTo>
                  <a:pt x="47616" y="439777"/>
                </a:lnTo>
                <a:lnTo>
                  <a:pt x="48759" y="439741"/>
                </a:lnTo>
                <a:lnTo>
                  <a:pt x="49486" y="440128"/>
                </a:lnTo>
                <a:lnTo>
                  <a:pt x="50434" y="440198"/>
                </a:lnTo>
                <a:lnTo>
                  <a:pt x="50624" y="440743"/>
                </a:lnTo>
                <a:lnTo>
                  <a:pt x="51423" y="440516"/>
                </a:lnTo>
                <a:lnTo>
                  <a:pt x="52904" y="441636"/>
                </a:lnTo>
                <a:lnTo>
                  <a:pt x="53907" y="442738"/>
                </a:lnTo>
                <a:lnTo>
                  <a:pt x="55651" y="443925"/>
                </a:lnTo>
                <a:lnTo>
                  <a:pt x="59353" y="447298"/>
                </a:lnTo>
                <a:lnTo>
                  <a:pt x="62746" y="450885"/>
                </a:lnTo>
                <a:lnTo>
                  <a:pt x="65963" y="454723"/>
                </a:lnTo>
                <a:lnTo>
                  <a:pt x="69783" y="460300"/>
                </a:lnTo>
                <a:lnTo>
                  <a:pt x="73559" y="467676"/>
                </a:lnTo>
                <a:lnTo>
                  <a:pt x="73974" y="468975"/>
                </a:lnTo>
                <a:lnTo>
                  <a:pt x="74101" y="470805"/>
                </a:lnTo>
                <a:lnTo>
                  <a:pt x="73629" y="470967"/>
                </a:lnTo>
                <a:lnTo>
                  <a:pt x="73217" y="471496"/>
                </a:lnTo>
                <a:lnTo>
                  <a:pt x="72429" y="471409"/>
                </a:lnTo>
                <a:lnTo>
                  <a:pt x="72218" y="471928"/>
                </a:lnTo>
                <a:lnTo>
                  <a:pt x="72625" y="472593"/>
                </a:lnTo>
                <a:lnTo>
                  <a:pt x="72412" y="472780"/>
                </a:lnTo>
                <a:lnTo>
                  <a:pt x="72989" y="472661"/>
                </a:lnTo>
                <a:lnTo>
                  <a:pt x="73319" y="472965"/>
                </a:lnTo>
                <a:lnTo>
                  <a:pt x="74074" y="474243"/>
                </a:lnTo>
                <a:lnTo>
                  <a:pt x="74624" y="474503"/>
                </a:lnTo>
                <a:lnTo>
                  <a:pt x="74679" y="474922"/>
                </a:lnTo>
                <a:lnTo>
                  <a:pt x="75116" y="474881"/>
                </a:lnTo>
                <a:lnTo>
                  <a:pt x="76029" y="475651"/>
                </a:lnTo>
                <a:lnTo>
                  <a:pt x="77606" y="476362"/>
                </a:lnTo>
                <a:lnTo>
                  <a:pt x="81579" y="478745"/>
                </a:lnTo>
                <a:lnTo>
                  <a:pt x="85315" y="481603"/>
                </a:lnTo>
                <a:lnTo>
                  <a:pt x="90394" y="486488"/>
                </a:lnTo>
                <a:lnTo>
                  <a:pt x="93303" y="489900"/>
                </a:lnTo>
                <a:lnTo>
                  <a:pt x="94768" y="492132"/>
                </a:lnTo>
                <a:lnTo>
                  <a:pt x="95131" y="492069"/>
                </a:lnTo>
                <a:lnTo>
                  <a:pt x="95178" y="493143"/>
                </a:lnTo>
                <a:lnTo>
                  <a:pt x="95848" y="494068"/>
                </a:lnTo>
                <a:lnTo>
                  <a:pt x="95650" y="494469"/>
                </a:lnTo>
                <a:lnTo>
                  <a:pt x="95937" y="494656"/>
                </a:lnTo>
                <a:lnTo>
                  <a:pt x="96393" y="494398"/>
                </a:lnTo>
                <a:lnTo>
                  <a:pt x="96509" y="494582"/>
                </a:lnTo>
                <a:lnTo>
                  <a:pt x="96390" y="495046"/>
                </a:lnTo>
                <a:lnTo>
                  <a:pt x="96148" y="495149"/>
                </a:lnTo>
                <a:lnTo>
                  <a:pt x="96377" y="495713"/>
                </a:lnTo>
                <a:lnTo>
                  <a:pt x="96048" y="496141"/>
                </a:lnTo>
                <a:lnTo>
                  <a:pt x="96979" y="496780"/>
                </a:lnTo>
                <a:lnTo>
                  <a:pt x="97286" y="497517"/>
                </a:lnTo>
                <a:lnTo>
                  <a:pt x="97433" y="497478"/>
                </a:lnTo>
                <a:lnTo>
                  <a:pt x="97242" y="497273"/>
                </a:lnTo>
                <a:lnTo>
                  <a:pt x="97872" y="497694"/>
                </a:lnTo>
                <a:lnTo>
                  <a:pt x="97774" y="498141"/>
                </a:lnTo>
                <a:lnTo>
                  <a:pt x="97475" y="498123"/>
                </a:lnTo>
                <a:lnTo>
                  <a:pt x="97432" y="498488"/>
                </a:lnTo>
                <a:lnTo>
                  <a:pt x="97196" y="498402"/>
                </a:lnTo>
                <a:lnTo>
                  <a:pt x="96967" y="498640"/>
                </a:lnTo>
                <a:lnTo>
                  <a:pt x="96859" y="499641"/>
                </a:lnTo>
                <a:lnTo>
                  <a:pt x="96575" y="500050"/>
                </a:lnTo>
                <a:lnTo>
                  <a:pt x="97105" y="501454"/>
                </a:lnTo>
                <a:lnTo>
                  <a:pt x="96261" y="501620"/>
                </a:lnTo>
                <a:lnTo>
                  <a:pt x="96477" y="502410"/>
                </a:lnTo>
                <a:lnTo>
                  <a:pt x="96039" y="502722"/>
                </a:lnTo>
                <a:lnTo>
                  <a:pt x="95968" y="503851"/>
                </a:lnTo>
                <a:lnTo>
                  <a:pt x="96477" y="505046"/>
                </a:lnTo>
                <a:lnTo>
                  <a:pt x="95887" y="505533"/>
                </a:lnTo>
                <a:lnTo>
                  <a:pt x="96078" y="505452"/>
                </a:lnTo>
                <a:lnTo>
                  <a:pt x="96346" y="506094"/>
                </a:lnTo>
                <a:lnTo>
                  <a:pt x="97287" y="506454"/>
                </a:lnTo>
                <a:lnTo>
                  <a:pt x="97592" y="506969"/>
                </a:lnTo>
                <a:lnTo>
                  <a:pt x="98261" y="507054"/>
                </a:lnTo>
                <a:lnTo>
                  <a:pt x="98401" y="506237"/>
                </a:lnTo>
                <a:lnTo>
                  <a:pt x="99079" y="506482"/>
                </a:lnTo>
                <a:lnTo>
                  <a:pt x="99249" y="506060"/>
                </a:lnTo>
                <a:lnTo>
                  <a:pt x="99715" y="505991"/>
                </a:lnTo>
                <a:lnTo>
                  <a:pt x="100429" y="506507"/>
                </a:lnTo>
                <a:lnTo>
                  <a:pt x="100526" y="506203"/>
                </a:lnTo>
                <a:lnTo>
                  <a:pt x="101005" y="506288"/>
                </a:lnTo>
                <a:lnTo>
                  <a:pt x="102386" y="507392"/>
                </a:lnTo>
                <a:lnTo>
                  <a:pt x="103275" y="508940"/>
                </a:lnTo>
                <a:lnTo>
                  <a:pt x="103299" y="509217"/>
                </a:lnTo>
                <a:lnTo>
                  <a:pt x="103000" y="509412"/>
                </a:lnTo>
                <a:lnTo>
                  <a:pt x="103428" y="509681"/>
                </a:lnTo>
                <a:lnTo>
                  <a:pt x="103106" y="510432"/>
                </a:lnTo>
                <a:lnTo>
                  <a:pt x="102780" y="510601"/>
                </a:lnTo>
                <a:lnTo>
                  <a:pt x="104296" y="510687"/>
                </a:lnTo>
                <a:lnTo>
                  <a:pt x="105138" y="511897"/>
                </a:lnTo>
                <a:lnTo>
                  <a:pt x="104893" y="512506"/>
                </a:lnTo>
                <a:lnTo>
                  <a:pt x="105710" y="513669"/>
                </a:lnTo>
                <a:lnTo>
                  <a:pt x="106575" y="513693"/>
                </a:lnTo>
                <a:lnTo>
                  <a:pt x="106870" y="514079"/>
                </a:lnTo>
                <a:lnTo>
                  <a:pt x="107662" y="514013"/>
                </a:lnTo>
                <a:lnTo>
                  <a:pt x="108221" y="514333"/>
                </a:lnTo>
                <a:lnTo>
                  <a:pt x="111828" y="519678"/>
                </a:lnTo>
                <a:lnTo>
                  <a:pt x="112777" y="521534"/>
                </a:lnTo>
                <a:lnTo>
                  <a:pt x="113030" y="522278"/>
                </a:lnTo>
                <a:lnTo>
                  <a:pt x="112408" y="522692"/>
                </a:lnTo>
                <a:lnTo>
                  <a:pt x="113055" y="522264"/>
                </a:lnTo>
                <a:lnTo>
                  <a:pt x="113393" y="522969"/>
                </a:lnTo>
                <a:lnTo>
                  <a:pt x="112168" y="522832"/>
                </a:lnTo>
                <a:lnTo>
                  <a:pt x="113398" y="522979"/>
                </a:lnTo>
                <a:lnTo>
                  <a:pt x="113439" y="523283"/>
                </a:lnTo>
                <a:lnTo>
                  <a:pt x="113582" y="523146"/>
                </a:lnTo>
                <a:lnTo>
                  <a:pt x="113455" y="523308"/>
                </a:lnTo>
                <a:lnTo>
                  <a:pt x="114503" y="525184"/>
                </a:lnTo>
                <a:lnTo>
                  <a:pt x="115536" y="528525"/>
                </a:lnTo>
                <a:lnTo>
                  <a:pt x="115570" y="529419"/>
                </a:lnTo>
                <a:lnTo>
                  <a:pt x="115299" y="530549"/>
                </a:lnTo>
                <a:lnTo>
                  <a:pt x="114462" y="531479"/>
                </a:lnTo>
                <a:lnTo>
                  <a:pt x="114532" y="532179"/>
                </a:lnTo>
                <a:lnTo>
                  <a:pt x="115429" y="533928"/>
                </a:lnTo>
                <a:lnTo>
                  <a:pt x="115596" y="535648"/>
                </a:lnTo>
                <a:lnTo>
                  <a:pt x="116239" y="537897"/>
                </a:lnTo>
                <a:lnTo>
                  <a:pt x="118157" y="541869"/>
                </a:lnTo>
                <a:lnTo>
                  <a:pt x="118027" y="542350"/>
                </a:lnTo>
                <a:lnTo>
                  <a:pt x="119304" y="543503"/>
                </a:lnTo>
                <a:lnTo>
                  <a:pt x="121208" y="546705"/>
                </a:lnTo>
                <a:lnTo>
                  <a:pt x="122641" y="550466"/>
                </a:lnTo>
                <a:lnTo>
                  <a:pt x="122884" y="553412"/>
                </a:lnTo>
                <a:lnTo>
                  <a:pt x="122405" y="556641"/>
                </a:lnTo>
                <a:lnTo>
                  <a:pt x="122140" y="556809"/>
                </a:lnTo>
                <a:lnTo>
                  <a:pt x="121026" y="559507"/>
                </a:lnTo>
                <a:lnTo>
                  <a:pt x="120708" y="559561"/>
                </a:lnTo>
                <a:lnTo>
                  <a:pt x="120082" y="560262"/>
                </a:lnTo>
                <a:lnTo>
                  <a:pt x="118574" y="560369"/>
                </a:lnTo>
                <a:lnTo>
                  <a:pt x="117301" y="559296"/>
                </a:lnTo>
                <a:lnTo>
                  <a:pt x="116385" y="558983"/>
                </a:lnTo>
                <a:lnTo>
                  <a:pt x="116579" y="559178"/>
                </a:lnTo>
                <a:lnTo>
                  <a:pt x="116397" y="559401"/>
                </a:lnTo>
                <a:lnTo>
                  <a:pt x="116593" y="559194"/>
                </a:lnTo>
                <a:lnTo>
                  <a:pt x="117348" y="559352"/>
                </a:lnTo>
                <a:lnTo>
                  <a:pt x="117196" y="559604"/>
                </a:lnTo>
                <a:lnTo>
                  <a:pt x="118641" y="560884"/>
                </a:lnTo>
                <a:lnTo>
                  <a:pt x="118196" y="561325"/>
                </a:lnTo>
                <a:lnTo>
                  <a:pt x="117964" y="561138"/>
                </a:lnTo>
                <a:lnTo>
                  <a:pt x="118199" y="561362"/>
                </a:lnTo>
                <a:lnTo>
                  <a:pt x="117915" y="561262"/>
                </a:lnTo>
                <a:lnTo>
                  <a:pt x="118014" y="561578"/>
                </a:lnTo>
                <a:lnTo>
                  <a:pt x="117609" y="561246"/>
                </a:lnTo>
                <a:lnTo>
                  <a:pt x="117874" y="561224"/>
                </a:lnTo>
                <a:lnTo>
                  <a:pt x="117740" y="561044"/>
                </a:lnTo>
                <a:lnTo>
                  <a:pt x="116184" y="559920"/>
                </a:lnTo>
                <a:lnTo>
                  <a:pt x="116204" y="559601"/>
                </a:lnTo>
                <a:lnTo>
                  <a:pt x="116163" y="559948"/>
                </a:lnTo>
                <a:lnTo>
                  <a:pt x="115909" y="559903"/>
                </a:lnTo>
                <a:lnTo>
                  <a:pt x="117477" y="560948"/>
                </a:lnTo>
                <a:lnTo>
                  <a:pt x="117271" y="561246"/>
                </a:lnTo>
                <a:lnTo>
                  <a:pt x="116636" y="560744"/>
                </a:lnTo>
                <a:lnTo>
                  <a:pt x="117281" y="561269"/>
                </a:lnTo>
                <a:lnTo>
                  <a:pt x="117132" y="561418"/>
                </a:lnTo>
                <a:lnTo>
                  <a:pt x="117464" y="561718"/>
                </a:lnTo>
                <a:lnTo>
                  <a:pt x="116978" y="561779"/>
                </a:lnTo>
                <a:lnTo>
                  <a:pt x="117023" y="561465"/>
                </a:lnTo>
                <a:lnTo>
                  <a:pt x="116436" y="561070"/>
                </a:lnTo>
                <a:lnTo>
                  <a:pt x="116942" y="561512"/>
                </a:lnTo>
                <a:lnTo>
                  <a:pt x="116678" y="561768"/>
                </a:lnTo>
                <a:lnTo>
                  <a:pt x="114646" y="560141"/>
                </a:lnTo>
                <a:lnTo>
                  <a:pt x="115286" y="559467"/>
                </a:lnTo>
                <a:lnTo>
                  <a:pt x="115695" y="559694"/>
                </a:lnTo>
                <a:lnTo>
                  <a:pt x="115515" y="559495"/>
                </a:lnTo>
                <a:lnTo>
                  <a:pt x="115750" y="559381"/>
                </a:lnTo>
                <a:lnTo>
                  <a:pt x="115282" y="559150"/>
                </a:lnTo>
                <a:lnTo>
                  <a:pt x="114867" y="559079"/>
                </a:lnTo>
                <a:lnTo>
                  <a:pt x="115023" y="559291"/>
                </a:lnTo>
                <a:lnTo>
                  <a:pt x="114422" y="559923"/>
                </a:lnTo>
                <a:lnTo>
                  <a:pt x="114524" y="559503"/>
                </a:lnTo>
                <a:lnTo>
                  <a:pt x="114038" y="559710"/>
                </a:lnTo>
                <a:lnTo>
                  <a:pt x="114154" y="560027"/>
                </a:lnTo>
                <a:lnTo>
                  <a:pt x="113904" y="559865"/>
                </a:lnTo>
                <a:lnTo>
                  <a:pt x="113764" y="560019"/>
                </a:lnTo>
                <a:lnTo>
                  <a:pt x="114005" y="560177"/>
                </a:lnTo>
                <a:lnTo>
                  <a:pt x="113542" y="560048"/>
                </a:lnTo>
                <a:lnTo>
                  <a:pt x="114131" y="559597"/>
                </a:lnTo>
                <a:lnTo>
                  <a:pt x="113941" y="559546"/>
                </a:lnTo>
                <a:lnTo>
                  <a:pt x="114004" y="559287"/>
                </a:lnTo>
                <a:lnTo>
                  <a:pt x="114227" y="559465"/>
                </a:lnTo>
                <a:lnTo>
                  <a:pt x="114049" y="559278"/>
                </a:lnTo>
                <a:lnTo>
                  <a:pt x="114232" y="559091"/>
                </a:lnTo>
                <a:lnTo>
                  <a:pt x="114445" y="559273"/>
                </a:lnTo>
                <a:lnTo>
                  <a:pt x="114262" y="559067"/>
                </a:lnTo>
                <a:lnTo>
                  <a:pt x="114488" y="558810"/>
                </a:lnTo>
                <a:lnTo>
                  <a:pt x="114747" y="559038"/>
                </a:lnTo>
                <a:lnTo>
                  <a:pt x="114648" y="558679"/>
                </a:lnTo>
                <a:lnTo>
                  <a:pt x="115744" y="558143"/>
                </a:lnTo>
                <a:lnTo>
                  <a:pt x="113648" y="559033"/>
                </a:lnTo>
                <a:lnTo>
                  <a:pt x="113103" y="558600"/>
                </a:lnTo>
                <a:lnTo>
                  <a:pt x="113074" y="558789"/>
                </a:lnTo>
                <a:lnTo>
                  <a:pt x="112791" y="558682"/>
                </a:lnTo>
                <a:lnTo>
                  <a:pt x="113158" y="558512"/>
                </a:lnTo>
                <a:lnTo>
                  <a:pt x="112743" y="558476"/>
                </a:lnTo>
                <a:lnTo>
                  <a:pt x="110931" y="558843"/>
                </a:lnTo>
                <a:lnTo>
                  <a:pt x="110911" y="559781"/>
                </a:lnTo>
                <a:lnTo>
                  <a:pt x="109827" y="560434"/>
                </a:lnTo>
                <a:lnTo>
                  <a:pt x="109325" y="561723"/>
                </a:lnTo>
                <a:lnTo>
                  <a:pt x="108272" y="562438"/>
                </a:lnTo>
                <a:lnTo>
                  <a:pt x="108452" y="563154"/>
                </a:lnTo>
                <a:lnTo>
                  <a:pt x="108005" y="563597"/>
                </a:lnTo>
                <a:lnTo>
                  <a:pt x="108410" y="564296"/>
                </a:lnTo>
                <a:lnTo>
                  <a:pt x="108453" y="564916"/>
                </a:lnTo>
                <a:lnTo>
                  <a:pt x="108184" y="565465"/>
                </a:lnTo>
                <a:lnTo>
                  <a:pt x="107735" y="565471"/>
                </a:lnTo>
                <a:lnTo>
                  <a:pt x="107672" y="565679"/>
                </a:lnTo>
                <a:lnTo>
                  <a:pt x="107785" y="566050"/>
                </a:lnTo>
                <a:lnTo>
                  <a:pt x="108548" y="566341"/>
                </a:lnTo>
                <a:lnTo>
                  <a:pt x="108694" y="566792"/>
                </a:lnTo>
                <a:lnTo>
                  <a:pt x="108340" y="567551"/>
                </a:lnTo>
                <a:lnTo>
                  <a:pt x="108148" y="567421"/>
                </a:lnTo>
                <a:lnTo>
                  <a:pt x="108573" y="568272"/>
                </a:lnTo>
                <a:lnTo>
                  <a:pt x="107940" y="568489"/>
                </a:lnTo>
                <a:lnTo>
                  <a:pt x="108082" y="569556"/>
                </a:lnTo>
                <a:lnTo>
                  <a:pt x="107780" y="569947"/>
                </a:lnTo>
                <a:lnTo>
                  <a:pt x="107856" y="570823"/>
                </a:lnTo>
                <a:lnTo>
                  <a:pt x="107130" y="571648"/>
                </a:lnTo>
                <a:lnTo>
                  <a:pt x="106879" y="571674"/>
                </a:lnTo>
                <a:lnTo>
                  <a:pt x="106685" y="572186"/>
                </a:lnTo>
                <a:lnTo>
                  <a:pt x="106392" y="572080"/>
                </a:lnTo>
                <a:lnTo>
                  <a:pt x="106063" y="572629"/>
                </a:lnTo>
                <a:lnTo>
                  <a:pt x="105790" y="572651"/>
                </a:lnTo>
                <a:lnTo>
                  <a:pt x="105645" y="573029"/>
                </a:lnTo>
                <a:lnTo>
                  <a:pt x="104964" y="573022"/>
                </a:lnTo>
                <a:lnTo>
                  <a:pt x="104930" y="573338"/>
                </a:lnTo>
                <a:lnTo>
                  <a:pt x="104427" y="573832"/>
                </a:lnTo>
                <a:lnTo>
                  <a:pt x="104530" y="574756"/>
                </a:lnTo>
                <a:lnTo>
                  <a:pt x="104184" y="575402"/>
                </a:lnTo>
                <a:lnTo>
                  <a:pt x="104356" y="575834"/>
                </a:lnTo>
                <a:lnTo>
                  <a:pt x="104212" y="576034"/>
                </a:lnTo>
                <a:lnTo>
                  <a:pt x="103830" y="575924"/>
                </a:lnTo>
                <a:lnTo>
                  <a:pt x="104140" y="576095"/>
                </a:lnTo>
                <a:lnTo>
                  <a:pt x="104194" y="576585"/>
                </a:lnTo>
                <a:lnTo>
                  <a:pt x="103257" y="577084"/>
                </a:lnTo>
                <a:lnTo>
                  <a:pt x="103458" y="577407"/>
                </a:lnTo>
                <a:lnTo>
                  <a:pt x="103202" y="578217"/>
                </a:lnTo>
                <a:lnTo>
                  <a:pt x="102909" y="578421"/>
                </a:lnTo>
                <a:lnTo>
                  <a:pt x="103073" y="578965"/>
                </a:lnTo>
                <a:lnTo>
                  <a:pt x="101784" y="579666"/>
                </a:lnTo>
                <a:lnTo>
                  <a:pt x="100243" y="579823"/>
                </a:lnTo>
                <a:lnTo>
                  <a:pt x="101161" y="580177"/>
                </a:lnTo>
                <a:lnTo>
                  <a:pt x="100733" y="581168"/>
                </a:lnTo>
                <a:lnTo>
                  <a:pt x="100026" y="581424"/>
                </a:lnTo>
                <a:lnTo>
                  <a:pt x="99870" y="581742"/>
                </a:lnTo>
                <a:lnTo>
                  <a:pt x="100359" y="582328"/>
                </a:lnTo>
                <a:lnTo>
                  <a:pt x="101654" y="582678"/>
                </a:lnTo>
                <a:lnTo>
                  <a:pt x="102178" y="583101"/>
                </a:lnTo>
                <a:lnTo>
                  <a:pt x="102366" y="583891"/>
                </a:lnTo>
                <a:lnTo>
                  <a:pt x="103002" y="584305"/>
                </a:lnTo>
                <a:lnTo>
                  <a:pt x="102928" y="584614"/>
                </a:lnTo>
                <a:lnTo>
                  <a:pt x="103081" y="584474"/>
                </a:lnTo>
                <a:lnTo>
                  <a:pt x="104488" y="585078"/>
                </a:lnTo>
                <a:lnTo>
                  <a:pt x="105498" y="584058"/>
                </a:lnTo>
                <a:lnTo>
                  <a:pt x="105753" y="583377"/>
                </a:lnTo>
                <a:lnTo>
                  <a:pt x="105471" y="583850"/>
                </a:lnTo>
                <a:lnTo>
                  <a:pt x="105049" y="583441"/>
                </a:lnTo>
                <a:lnTo>
                  <a:pt x="105507" y="582806"/>
                </a:lnTo>
                <a:lnTo>
                  <a:pt x="105622" y="583308"/>
                </a:lnTo>
                <a:lnTo>
                  <a:pt x="105571" y="582575"/>
                </a:lnTo>
                <a:lnTo>
                  <a:pt x="106639" y="582426"/>
                </a:lnTo>
                <a:lnTo>
                  <a:pt x="107292" y="582939"/>
                </a:lnTo>
                <a:lnTo>
                  <a:pt x="107408" y="583909"/>
                </a:lnTo>
                <a:lnTo>
                  <a:pt x="108318" y="585100"/>
                </a:lnTo>
                <a:lnTo>
                  <a:pt x="107753" y="586711"/>
                </a:lnTo>
                <a:lnTo>
                  <a:pt x="106620" y="587420"/>
                </a:lnTo>
                <a:lnTo>
                  <a:pt x="106682" y="588441"/>
                </a:lnTo>
                <a:lnTo>
                  <a:pt x="106418" y="588822"/>
                </a:lnTo>
                <a:lnTo>
                  <a:pt x="106706" y="589090"/>
                </a:lnTo>
                <a:lnTo>
                  <a:pt x="106000" y="589704"/>
                </a:lnTo>
                <a:lnTo>
                  <a:pt x="106453" y="590536"/>
                </a:lnTo>
                <a:lnTo>
                  <a:pt x="106904" y="590849"/>
                </a:lnTo>
                <a:lnTo>
                  <a:pt x="107161" y="592133"/>
                </a:lnTo>
                <a:lnTo>
                  <a:pt x="106490" y="595319"/>
                </a:lnTo>
                <a:lnTo>
                  <a:pt x="105873" y="596046"/>
                </a:lnTo>
                <a:lnTo>
                  <a:pt x="104891" y="595645"/>
                </a:lnTo>
                <a:lnTo>
                  <a:pt x="104049" y="597105"/>
                </a:lnTo>
                <a:lnTo>
                  <a:pt x="102786" y="597484"/>
                </a:lnTo>
                <a:lnTo>
                  <a:pt x="102528" y="597960"/>
                </a:lnTo>
                <a:lnTo>
                  <a:pt x="102920" y="598065"/>
                </a:lnTo>
                <a:lnTo>
                  <a:pt x="102300" y="598626"/>
                </a:lnTo>
                <a:lnTo>
                  <a:pt x="102356" y="599156"/>
                </a:lnTo>
                <a:lnTo>
                  <a:pt x="102991" y="600408"/>
                </a:lnTo>
                <a:lnTo>
                  <a:pt x="103616" y="600718"/>
                </a:lnTo>
                <a:lnTo>
                  <a:pt x="105159" y="603606"/>
                </a:lnTo>
                <a:lnTo>
                  <a:pt x="105914" y="604026"/>
                </a:lnTo>
                <a:lnTo>
                  <a:pt x="106275" y="603503"/>
                </a:lnTo>
                <a:lnTo>
                  <a:pt x="107114" y="603513"/>
                </a:lnTo>
                <a:lnTo>
                  <a:pt x="108552" y="604656"/>
                </a:lnTo>
                <a:lnTo>
                  <a:pt x="109667" y="606466"/>
                </a:lnTo>
                <a:lnTo>
                  <a:pt x="109978" y="607260"/>
                </a:lnTo>
                <a:lnTo>
                  <a:pt x="109608" y="607684"/>
                </a:lnTo>
                <a:lnTo>
                  <a:pt x="109787" y="608782"/>
                </a:lnTo>
                <a:lnTo>
                  <a:pt x="111058" y="611934"/>
                </a:lnTo>
                <a:lnTo>
                  <a:pt x="110854" y="613514"/>
                </a:lnTo>
                <a:lnTo>
                  <a:pt x="111403" y="614520"/>
                </a:lnTo>
                <a:lnTo>
                  <a:pt x="111566" y="615357"/>
                </a:lnTo>
                <a:lnTo>
                  <a:pt x="111197" y="615610"/>
                </a:lnTo>
                <a:lnTo>
                  <a:pt x="111826" y="616079"/>
                </a:lnTo>
                <a:lnTo>
                  <a:pt x="111511" y="616548"/>
                </a:lnTo>
                <a:lnTo>
                  <a:pt x="111546" y="616941"/>
                </a:lnTo>
                <a:lnTo>
                  <a:pt x="112117" y="617788"/>
                </a:lnTo>
                <a:lnTo>
                  <a:pt x="111515" y="618406"/>
                </a:lnTo>
                <a:lnTo>
                  <a:pt x="111527" y="618782"/>
                </a:lnTo>
                <a:lnTo>
                  <a:pt x="112122" y="619191"/>
                </a:lnTo>
                <a:lnTo>
                  <a:pt x="112807" y="619305"/>
                </a:lnTo>
                <a:lnTo>
                  <a:pt x="113357" y="620792"/>
                </a:lnTo>
                <a:lnTo>
                  <a:pt x="113976" y="621154"/>
                </a:lnTo>
                <a:lnTo>
                  <a:pt x="115181" y="623510"/>
                </a:lnTo>
                <a:lnTo>
                  <a:pt x="115092" y="624052"/>
                </a:lnTo>
                <a:lnTo>
                  <a:pt x="114651" y="624344"/>
                </a:lnTo>
                <a:lnTo>
                  <a:pt x="115394" y="624731"/>
                </a:lnTo>
                <a:lnTo>
                  <a:pt x="115718" y="625198"/>
                </a:lnTo>
                <a:lnTo>
                  <a:pt x="116617" y="625574"/>
                </a:lnTo>
                <a:lnTo>
                  <a:pt x="116847" y="625792"/>
                </a:lnTo>
                <a:lnTo>
                  <a:pt x="116690" y="626289"/>
                </a:lnTo>
                <a:lnTo>
                  <a:pt x="117549" y="626608"/>
                </a:lnTo>
                <a:lnTo>
                  <a:pt x="117540" y="627052"/>
                </a:lnTo>
                <a:lnTo>
                  <a:pt x="118542" y="627833"/>
                </a:lnTo>
                <a:lnTo>
                  <a:pt x="119054" y="627878"/>
                </a:lnTo>
                <a:lnTo>
                  <a:pt x="120634" y="628728"/>
                </a:lnTo>
                <a:lnTo>
                  <a:pt x="121339" y="628520"/>
                </a:lnTo>
                <a:lnTo>
                  <a:pt x="122436" y="628804"/>
                </a:lnTo>
                <a:lnTo>
                  <a:pt x="122817" y="629329"/>
                </a:lnTo>
                <a:lnTo>
                  <a:pt x="122785" y="629747"/>
                </a:lnTo>
                <a:lnTo>
                  <a:pt x="123773" y="630263"/>
                </a:lnTo>
                <a:lnTo>
                  <a:pt x="124649" y="631301"/>
                </a:lnTo>
                <a:lnTo>
                  <a:pt x="124620" y="631899"/>
                </a:lnTo>
                <a:lnTo>
                  <a:pt x="125590" y="631605"/>
                </a:lnTo>
                <a:lnTo>
                  <a:pt x="125844" y="631158"/>
                </a:lnTo>
                <a:lnTo>
                  <a:pt x="128088" y="631560"/>
                </a:lnTo>
                <a:lnTo>
                  <a:pt x="127766" y="631098"/>
                </a:lnTo>
                <a:lnTo>
                  <a:pt x="126682" y="630424"/>
                </a:lnTo>
                <a:lnTo>
                  <a:pt x="126827" y="630369"/>
                </a:lnTo>
                <a:lnTo>
                  <a:pt x="126603" y="630122"/>
                </a:lnTo>
                <a:lnTo>
                  <a:pt x="125952" y="630123"/>
                </a:lnTo>
                <a:lnTo>
                  <a:pt x="124944" y="629185"/>
                </a:lnTo>
                <a:lnTo>
                  <a:pt x="124428" y="629028"/>
                </a:lnTo>
                <a:lnTo>
                  <a:pt x="123789" y="627778"/>
                </a:lnTo>
                <a:lnTo>
                  <a:pt x="123763" y="627077"/>
                </a:lnTo>
                <a:lnTo>
                  <a:pt x="123427" y="626386"/>
                </a:lnTo>
                <a:lnTo>
                  <a:pt x="122903" y="626053"/>
                </a:lnTo>
                <a:lnTo>
                  <a:pt x="122772" y="625697"/>
                </a:lnTo>
                <a:lnTo>
                  <a:pt x="122815" y="625344"/>
                </a:lnTo>
                <a:lnTo>
                  <a:pt x="123335" y="625086"/>
                </a:lnTo>
                <a:lnTo>
                  <a:pt x="122698" y="624303"/>
                </a:lnTo>
                <a:lnTo>
                  <a:pt x="123001" y="623928"/>
                </a:lnTo>
                <a:lnTo>
                  <a:pt x="123049" y="623065"/>
                </a:lnTo>
                <a:lnTo>
                  <a:pt x="123465" y="622249"/>
                </a:lnTo>
                <a:lnTo>
                  <a:pt x="123305" y="621417"/>
                </a:lnTo>
                <a:lnTo>
                  <a:pt x="124340" y="619030"/>
                </a:lnTo>
                <a:lnTo>
                  <a:pt x="124272" y="618579"/>
                </a:lnTo>
                <a:lnTo>
                  <a:pt x="123332" y="617901"/>
                </a:lnTo>
                <a:lnTo>
                  <a:pt x="123129" y="617057"/>
                </a:lnTo>
                <a:lnTo>
                  <a:pt x="123538" y="616221"/>
                </a:lnTo>
                <a:lnTo>
                  <a:pt x="123877" y="616115"/>
                </a:lnTo>
                <a:lnTo>
                  <a:pt x="124488" y="615232"/>
                </a:lnTo>
                <a:lnTo>
                  <a:pt x="124296" y="615086"/>
                </a:lnTo>
                <a:lnTo>
                  <a:pt x="124008" y="613167"/>
                </a:lnTo>
                <a:lnTo>
                  <a:pt x="124435" y="612768"/>
                </a:lnTo>
                <a:lnTo>
                  <a:pt x="124096" y="612616"/>
                </a:lnTo>
                <a:lnTo>
                  <a:pt x="123969" y="612201"/>
                </a:lnTo>
                <a:lnTo>
                  <a:pt x="123983" y="611769"/>
                </a:lnTo>
                <a:lnTo>
                  <a:pt x="124241" y="611675"/>
                </a:lnTo>
                <a:lnTo>
                  <a:pt x="124000" y="611352"/>
                </a:lnTo>
                <a:lnTo>
                  <a:pt x="123546" y="611318"/>
                </a:lnTo>
                <a:lnTo>
                  <a:pt x="122896" y="610564"/>
                </a:lnTo>
                <a:lnTo>
                  <a:pt x="122067" y="608123"/>
                </a:lnTo>
                <a:lnTo>
                  <a:pt x="121475" y="607528"/>
                </a:lnTo>
                <a:lnTo>
                  <a:pt x="121348" y="606907"/>
                </a:lnTo>
                <a:lnTo>
                  <a:pt x="120874" y="606250"/>
                </a:lnTo>
                <a:lnTo>
                  <a:pt x="120581" y="606301"/>
                </a:lnTo>
                <a:lnTo>
                  <a:pt x="120383" y="605859"/>
                </a:lnTo>
                <a:lnTo>
                  <a:pt x="119822" y="605705"/>
                </a:lnTo>
                <a:lnTo>
                  <a:pt x="119209" y="604679"/>
                </a:lnTo>
                <a:lnTo>
                  <a:pt x="118583" y="604246"/>
                </a:lnTo>
                <a:lnTo>
                  <a:pt x="118571" y="604472"/>
                </a:lnTo>
                <a:lnTo>
                  <a:pt x="118974" y="604638"/>
                </a:lnTo>
                <a:lnTo>
                  <a:pt x="118841" y="604788"/>
                </a:lnTo>
                <a:lnTo>
                  <a:pt x="119182" y="604714"/>
                </a:lnTo>
                <a:lnTo>
                  <a:pt x="119316" y="605149"/>
                </a:lnTo>
                <a:lnTo>
                  <a:pt x="118933" y="605273"/>
                </a:lnTo>
                <a:lnTo>
                  <a:pt x="118666" y="604855"/>
                </a:lnTo>
                <a:lnTo>
                  <a:pt x="118490" y="605000"/>
                </a:lnTo>
                <a:lnTo>
                  <a:pt x="118642" y="605230"/>
                </a:lnTo>
                <a:lnTo>
                  <a:pt x="118295" y="605245"/>
                </a:lnTo>
                <a:lnTo>
                  <a:pt x="118452" y="605028"/>
                </a:lnTo>
                <a:lnTo>
                  <a:pt x="118282" y="605237"/>
                </a:lnTo>
                <a:lnTo>
                  <a:pt x="118110" y="604841"/>
                </a:lnTo>
                <a:lnTo>
                  <a:pt x="118429" y="604511"/>
                </a:lnTo>
                <a:lnTo>
                  <a:pt x="118059" y="604819"/>
                </a:lnTo>
                <a:lnTo>
                  <a:pt x="118258" y="605241"/>
                </a:lnTo>
                <a:lnTo>
                  <a:pt x="117955" y="605574"/>
                </a:lnTo>
                <a:lnTo>
                  <a:pt x="117386" y="605388"/>
                </a:lnTo>
                <a:lnTo>
                  <a:pt x="117003" y="604656"/>
                </a:lnTo>
                <a:lnTo>
                  <a:pt x="116960" y="603249"/>
                </a:lnTo>
                <a:lnTo>
                  <a:pt x="117815" y="601266"/>
                </a:lnTo>
                <a:lnTo>
                  <a:pt x="117493" y="600410"/>
                </a:lnTo>
                <a:lnTo>
                  <a:pt x="117715" y="600010"/>
                </a:lnTo>
                <a:lnTo>
                  <a:pt x="118023" y="599944"/>
                </a:lnTo>
                <a:lnTo>
                  <a:pt x="118585" y="598647"/>
                </a:lnTo>
                <a:lnTo>
                  <a:pt x="118208" y="597725"/>
                </a:lnTo>
                <a:lnTo>
                  <a:pt x="117458" y="597282"/>
                </a:lnTo>
                <a:lnTo>
                  <a:pt x="118142" y="595965"/>
                </a:lnTo>
                <a:lnTo>
                  <a:pt x="118413" y="595765"/>
                </a:lnTo>
                <a:lnTo>
                  <a:pt x="119450" y="595770"/>
                </a:lnTo>
                <a:lnTo>
                  <a:pt x="119929" y="595110"/>
                </a:lnTo>
                <a:lnTo>
                  <a:pt x="119510" y="595251"/>
                </a:lnTo>
                <a:lnTo>
                  <a:pt x="119550" y="594994"/>
                </a:lnTo>
                <a:lnTo>
                  <a:pt x="119855" y="595077"/>
                </a:lnTo>
                <a:lnTo>
                  <a:pt x="119670" y="594873"/>
                </a:lnTo>
                <a:lnTo>
                  <a:pt x="121843" y="592648"/>
                </a:lnTo>
                <a:lnTo>
                  <a:pt x="122056" y="591973"/>
                </a:lnTo>
                <a:lnTo>
                  <a:pt x="123613" y="591085"/>
                </a:lnTo>
                <a:lnTo>
                  <a:pt x="126594" y="589801"/>
                </a:lnTo>
                <a:lnTo>
                  <a:pt x="131162" y="588450"/>
                </a:lnTo>
                <a:lnTo>
                  <a:pt x="133298" y="588128"/>
                </a:lnTo>
                <a:lnTo>
                  <a:pt x="137885" y="586392"/>
                </a:lnTo>
                <a:lnTo>
                  <a:pt x="140992" y="585598"/>
                </a:lnTo>
                <a:lnTo>
                  <a:pt x="142273" y="585585"/>
                </a:lnTo>
                <a:lnTo>
                  <a:pt x="143507" y="585159"/>
                </a:lnTo>
                <a:lnTo>
                  <a:pt x="145657" y="584982"/>
                </a:lnTo>
                <a:lnTo>
                  <a:pt x="147708" y="584869"/>
                </a:lnTo>
                <a:lnTo>
                  <a:pt x="150936" y="585066"/>
                </a:lnTo>
                <a:lnTo>
                  <a:pt x="151492" y="584943"/>
                </a:lnTo>
                <a:lnTo>
                  <a:pt x="151263" y="584942"/>
                </a:lnTo>
                <a:lnTo>
                  <a:pt x="151336" y="584690"/>
                </a:lnTo>
                <a:lnTo>
                  <a:pt x="152056" y="584587"/>
                </a:lnTo>
                <a:lnTo>
                  <a:pt x="154678" y="584602"/>
                </a:lnTo>
                <a:lnTo>
                  <a:pt x="158295" y="584884"/>
                </a:lnTo>
                <a:lnTo>
                  <a:pt x="162699" y="585873"/>
                </a:lnTo>
                <a:lnTo>
                  <a:pt x="168125" y="588394"/>
                </a:lnTo>
                <a:lnTo>
                  <a:pt x="169289" y="589863"/>
                </a:lnTo>
                <a:lnTo>
                  <a:pt x="169624" y="590866"/>
                </a:lnTo>
                <a:lnTo>
                  <a:pt x="170625" y="591613"/>
                </a:lnTo>
                <a:lnTo>
                  <a:pt x="170799" y="592191"/>
                </a:lnTo>
                <a:lnTo>
                  <a:pt x="171866" y="593156"/>
                </a:lnTo>
                <a:lnTo>
                  <a:pt x="173074" y="594863"/>
                </a:lnTo>
                <a:lnTo>
                  <a:pt x="174128" y="595901"/>
                </a:lnTo>
                <a:lnTo>
                  <a:pt x="174236" y="596475"/>
                </a:lnTo>
                <a:lnTo>
                  <a:pt x="174446" y="596283"/>
                </a:lnTo>
                <a:lnTo>
                  <a:pt x="174260" y="595929"/>
                </a:lnTo>
                <a:lnTo>
                  <a:pt x="174757" y="596173"/>
                </a:lnTo>
                <a:lnTo>
                  <a:pt x="174601" y="596505"/>
                </a:lnTo>
                <a:lnTo>
                  <a:pt x="174366" y="596470"/>
                </a:lnTo>
                <a:lnTo>
                  <a:pt x="174596" y="596553"/>
                </a:lnTo>
                <a:lnTo>
                  <a:pt x="174786" y="596407"/>
                </a:lnTo>
                <a:lnTo>
                  <a:pt x="175207" y="596878"/>
                </a:lnTo>
                <a:lnTo>
                  <a:pt x="175652" y="596947"/>
                </a:lnTo>
                <a:lnTo>
                  <a:pt x="175968" y="597536"/>
                </a:lnTo>
                <a:lnTo>
                  <a:pt x="175973" y="597791"/>
                </a:lnTo>
                <a:lnTo>
                  <a:pt x="175385" y="598232"/>
                </a:lnTo>
                <a:lnTo>
                  <a:pt x="174706" y="598290"/>
                </a:lnTo>
                <a:lnTo>
                  <a:pt x="174959" y="598381"/>
                </a:lnTo>
                <a:lnTo>
                  <a:pt x="174821" y="598560"/>
                </a:lnTo>
                <a:lnTo>
                  <a:pt x="174629" y="598223"/>
                </a:lnTo>
                <a:lnTo>
                  <a:pt x="174759" y="598711"/>
                </a:lnTo>
                <a:lnTo>
                  <a:pt x="172078" y="599807"/>
                </a:lnTo>
                <a:lnTo>
                  <a:pt x="171115" y="600499"/>
                </a:lnTo>
                <a:lnTo>
                  <a:pt x="169910" y="601677"/>
                </a:lnTo>
                <a:lnTo>
                  <a:pt x="169550" y="602795"/>
                </a:lnTo>
                <a:lnTo>
                  <a:pt x="169619" y="603474"/>
                </a:lnTo>
                <a:lnTo>
                  <a:pt x="169942" y="603381"/>
                </a:lnTo>
                <a:lnTo>
                  <a:pt x="169808" y="603677"/>
                </a:lnTo>
                <a:lnTo>
                  <a:pt x="170978" y="605089"/>
                </a:lnTo>
                <a:lnTo>
                  <a:pt x="171216" y="605111"/>
                </a:lnTo>
                <a:lnTo>
                  <a:pt x="171493" y="605970"/>
                </a:lnTo>
                <a:lnTo>
                  <a:pt x="171778" y="606191"/>
                </a:lnTo>
                <a:lnTo>
                  <a:pt x="171355" y="607085"/>
                </a:lnTo>
                <a:lnTo>
                  <a:pt x="171944" y="607392"/>
                </a:lnTo>
                <a:lnTo>
                  <a:pt x="171771" y="607675"/>
                </a:lnTo>
                <a:lnTo>
                  <a:pt x="172782" y="608320"/>
                </a:lnTo>
                <a:lnTo>
                  <a:pt x="174529" y="610321"/>
                </a:lnTo>
                <a:lnTo>
                  <a:pt x="174540" y="611348"/>
                </a:lnTo>
                <a:lnTo>
                  <a:pt x="174865" y="611612"/>
                </a:lnTo>
                <a:lnTo>
                  <a:pt x="174771" y="612057"/>
                </a:lnTo>
                <a:lnTo>
                  <a:pt x="175063" y="612592"/>
                </a:lnTo>
                <a:lnTo>
                  <a:pt x="174513" y="614804"/>
                </a:lnTo>
                <a:lnTo>
                  <a:pt x="173441" y="615696"/>
                </a:lnTo>
                <a:lnTo>
                  <a:pt x="171835" y="616275"/>
                </a:lnTo>
                <a:lnTo>
                  <a:pt x="171604" y="616591"/>
                </a:lnTo>
                <a:lnTo>
                  <a:pt x="171006" y="617945"/>
                </a:lnTo>
                <a:lnTo>
                  <a:pt x="171050" y="618368"/>
                </a:lnTo>
                <a:lnTo>
                  <a:pt x="170568" y="619035"/>
                </a:lnTo>
                <a:lnTo>
                  <a:pt x="170983" y="620282"/>
                </a:lnTo>
                <a:lnTo>
                  <a:pt x="170765" y="620468"/>
                </a:lnTo>
                <a:lnTo>
                  <a:pt x="170514" y="620085"/>
                </a:lnTo>
                <a:lnTo>
                  <a:pt x="169974" y="620103"/>
                </a:lnTo>
                <a:lnTo>
                  <a:pt x="169727" y="619847"/>
                </a:lnTo>
                <a:lnTo>
                  <a:pt x="169539" y="620303"/>
                </a:lnTo>
                <a:lnTo>
                  <a:pt x="169749" y="620520"/>
                </a:lnTo>
                <a:lnTo>
                  <a:pt x="169643" y="620942"/>
                </a:lnTo>
                <a:lnTo>
                  <a:pt x="169937" y="621180"/>
                </a:lnTo>
                <a:lnTo>
                  <a:pt x="169689" y="621252"/>
                </a:lnTo>
                <a:lnTo>
                  <a:pt x="170004" y="621422"/>
                </a:lnTo>
                <a:lnTo>
                  <a:pt x="169445" y="621990"/>
                </a:lnTo>
                <a:lnTo>
                  <a:pt x="169857" y="622507"/>
                </a:lnTo>
                <a:lnTo>
                  <a:pt x="170105" y="622238"/>
                </a:lnTo>
                <a:lnTo>
                  <a:pt x="170600" y="622275"/>
                </a:lnTo>
                <a:lnTo>
                  <a:pt x="170523" y="622743"/>
                </a:lnTo>
                <a:lnTo>
                  <a:pt x="170198" y="622852"/>
                </a:lnTo>
                <a:lnTo>
                  <a:pt x="170381" y="623142"/>
                </a:lnTo>
                <a:lnTo>
                  <a:pt x="170177" y="623360"/>
                </a:lnTo>
                <a:lnTo>
                  <a:pt x="170580" y="623721"/>
                </a:lnTo>
                <a:lnTo>
                  <a:pt x="170609" y="624310"/>
                </a:lnTo>
                <a:lnTo>
                  <a:pt x="171026" y="624506"/>
                </a:lnTo>
                <a:lnTo>
                  <a:pt x="170916" y="625440"/>
                </a:lnTo>
                <a:lnTo>
                  <a:pt x="171556" y="626349"/>
                </a:lnTo>
                <a:lnTo>
                  <a:pt x="172507" y="626634"/>
                </a:lnTo>
                <a:lnTo>
                  <a:pt x="172190" y="627717"/>
                </a:lnTo>
                <a:lnTo>
                  <a:pt x="171766" y="627888"/>
                </a:lnTo>
                <a:lnTo>
                  <a:pt x="171265" y="627742"/>
                </a:lnTo>
                <a:lnTo>
                  <a:pt x="170591" y="628142"/>
                </a:lnTo>
                <a:lnTo>
                  <a:pt x="169905" y="627995"/>
                </a:lnTo>
                <a:lnTo>
                  <a:pt x="169614" y="628331"/>
                </a:lnTo>
                <a:lnTo>
                  <a:pt x="170785" y="629675"/>
                </a:lnTo>
                <a:lnTo>
                  <a:pt x="170550" y="629858"/>
                </a:lnTo>
                <a:lnTo>
                  <a:pt x="170483" y="630805"/>
                </a:lnTo>
                <a:lnTo>
                  <a:pt x="171003" y="631100"/>
                </a:lnTo>
                <a:lnTo>
                  <a:pt x="170769" y="631462"/>
                </a:lnTo>
                <a:lnTo>
                  <a:pt x="171147" y="631790"/>
                </a:lnTo>
                <a:lnTo>
                  <a:pt x="171066" y="632201"/>
                </a:lnTo>
                <a:lnTo>
                  <a:pt x="171883" y="632203"/>
                </a:lnTo>
                <a:lnTo>
                  <a:pt x="172177" y="632579"/>
                </a:lnTo>
                <a:lnTo>
                  <a:pt x="172125" y="633356"/>
                </a:lnTo>
                <a:lnTo>
                  <a:pt x="171500" y="633472"/>
                </a:lnTo>
                <a:lnTo>
                  <a:pt x="171666" y="633854"/>
                </a:lnTo>
                <a:lnTo>
                  <a:pt x="172171" y="633866"/>
                </a:lnTo>
                <a:lnTo>
                  <a:pt x="172125" y="634560"/>
                </a:lnTo>
                <a:lnTo>
                  <a:pt x="173465" y="634510"/>
                </a:lnTo>
                <a:lnTo>
                  <a:pt x="173586" y="634237"/>
                </a:lnTo>
                <a:lnTo>
                  <a:pt x="172835" y="633544"/>
                </a:lnTo>
                <a:lnTo>
                  <a:pt x="172869" y="633298"/>
                </a:lnTo>
                <a:lnTo>
                  <a:pt x="173124" y="633279"/>
                </a:lnTo>
                <a:lnTo>
                  <a:pt x="173296" y="632948"/>
                </a:lnTo>
                <a:lnTo>
                  <a:pt x="173945" y="633138"/>
                </a:lnTo>
                <a:lnTo>
                  <a:pt x="174347" y="632846"/>
                </a:lnTo>
                <a:lnTo>
                  <a:pt x="175063" y="633290"/>
                </a:lnTo>
                <a:lnTo>
                  <a:pt x="175272" y="633749"/>
                </a:lnTo>
                <a:lnTo>
                  <a:pt x="175973" y="633680"/>
                </a:lnTo>
                <a:lnTo>
                  <a:pt x="175659" y="634474"/>
                </a:lnTo>
                <a:lnTo>
                  <a:pt x="176023" y="634904"/>
                </a:lnTo>
                <a:lnTo>
                  <a:pt x="176164" y="634459"/>
                </a:lnTo>
                <a:lnTo>
                  <a:pt x="176923" y="634497"/>
                </a:lnTo>
                <a:lnTo>
                  <a:pt x="176910" y="634180"/>
                </a:lnTo>
                <a:lnTo>
                  <a:pt x="176222" y="633267"/>
                </a:lnTo>
                <a:lnTo>
                  <a:pt x="176331" y="632849"/>
                </a:lnTo>
                <a:lnTo>
                  <a:pt x="176126" y="632705"/>
                </a:lnTo>
                <a:lnTo>
                  <a:pt x="176402" y="632229"/>
                </a:lnTo>
                <a:lnTo>
                  <a:pt x="176753" y="632278"/>
                </a:lnTo>
                <a:lnTo>
                  <a:pt x="177127" y="631680"/>
                </a:lnTo>
                <a:lnTo>
                  <a:pt x="178438" y="631242"/>
                </a:lnTo>
                <a:lnTo>
                  <a:pt x="179897" y="632069"/>
                </a:lnTo>
                <a:lnTo>
                  <a:pt x="179867" y="631745"/>
                </a:lnTo>
                <a:lnTo>
                  <a:pt x="180299" y="631727"/>
                </a:lnTo>
                <a:lnTo>
                  <a:pt x="180961" y="632245"/>
                </a:lnTo>
                <a:lnTo>
                  <a:pt x="181527" y="631949"/>
                </a:lnTo>
                <a:lnTo>
                  <a:pt x="181095" y="631573"/>
                </a:lnTo>
                <a:lnTo>
                  <a:pt x="181383" y="630909"/>
                </a:lnTo>
                <a:lnTo>
                  <a:pt x="181991" y="631033"/>
                </a:lnTo>
                <a:lnTo>
                  <a:pt x="181995" y="630506"/>
                </a:lnTo>
                <a:lnTo>
                  <a:pt x="182587" y="630120"/>
                </a:lnTo>
                <a:lnTo>
                  <a:pt x="182538" y="629643"/>
                </a:lnTo>
                <a:lnTo>
                  <a:pt x="183276" y="629191"/>
                </a:lnTo>
                <a:lnTo>
                  <a:pt x="184491" y="629038"/>
                </a:lnTo>
                <a:lnTo>
                  <a:pt x="185004" y="629388"/>
                </a:lnTo>
                <a:lnTo>
                  <a:pt x="185437" y="629144"/>
                </a:lnTo>
                <a:lnTo>
                  <a:pt x="186029" y="629235"/>
                </a:lnTo>
                <a:lnTo>
                  <a:pt x="186365" y="628757"/>
                </a:lnTo>
                <a:lnTo>
                  <a:pt x="187654" y="629201"/>
                </a:lnTo>
                <a:lnTo>
                  <a:pt x="188453" y="629142"/>
                </a:lnTo>
                <a:lnTo>
                  <a:pt x="188618" y="629444"/>
                </a:lnTo>
                <a:lnTo>
                  <a:pt x="190551" y="629734"/>
                </a:lnTo>
                <a:lnTo>
                  <a:pt x="190882" y="629617"/>
                </a:lnTo>
                <a:lnTo>
                  <a:pt x="190703" y="629378"/>
                </a:lnTo>
                <a:lnTo>
                  <a:pt x="191221" y="629127"/>
                </a:lnTo>
                <a:lnTo>
                  <a:pt x="191957" y="629109"/>
                </a:lnTo>
                <a:lnTo>
                  <a:pt x="192376" y="628210"/>
                </a:lnTo>
                <a:lnTo>
                  <a:pt x="193145" y="627772"/>
                </a:lnTo>
                <a:lnTo>
                  <a:pt x="193275" y="627338"/>
                </a:lnTo>
                <a:lnTo>
                  <a:pt x="194847" y="626442"/>
                </a:lnTo>
                <a:lnTo>
                  <a:pt x="195650" y="626839"/>
                </a:lnTo>
                <a:lnTo>
                  <a:pt x="196758" y="626738"/>
                </a:lnTo>
                <a:lnTo>
                  <a:pt x="196722" y="626918"/>
                </a:lnTo>
                <a:lnTo>
                  <a:pt x="197091" y="626964"/>
                </a:lnTo>
                <a:lnTo>
                  <a:pt x="197625" y="626618"/>
                </a:lnTo>
                <a:lnTo>
                  <a:pt x="199103" y="626410"/>
                </a:lnTo>
                <a:lnTo>
                  <a:pt x="199577" y="626439"/>
                </a:lnTo>
                <a:lnTo>
                  <a:pt x="199701" y="626693"/>
                </a:lnTo>
                <a:lnTo>
                  <a:pt x="199983" y="625939"/>
                </a:lnTo>
                <a:lnTo>
                  <a:pt x="200668" y="625785"/>
                </a:lnTo>
                <a:lnTo>
                  <a:pt x="204306" y="627262"/>
                </a:lnTo>
                <a:lnTo>
                  <a:pt x="207231" y="629060"/>
                </a:lnTo>
                <a:lnTo>
                  <a:pt x="208939" y="630441"/>
                </a:lnTo>
                <a:lnTo>
                  <a:pt x="211122" y="632638"/>
                </a:lnTo>
                <a:lnTo>
                  <a:pt x="212007" y="633960"/>
                </a:lnTo>
                <a:lnTo>
                  <a:pt x="212162" y="634761"/>
                </a:lnTo>
                <a:lnTo>
                  <a:pt x="211162" y="635589"/>
                </a:lnTo>
                <a:lnTo>
                  <a:pt x="211326" y="635685"/>
                </a:lnTo>
                <a:lnTo>
                  <a:pt x="211223" y="636304"/>
                </a:lnTo>
                <a:lnTo>
                  <a:pt x="211964" y="636842"/>
                </a:lnTo>
                <a:lnTo>
                  <a:pt x="211672" y="637372"/>
                </a:lnTo>
                <a:lnTo>
                  <a:pt x="212014" y="637289"/>
                </a:lnTo>
                <a:lnTo>
                  <a:pt x="212294" y="637691"/>
                </a:lnTo>
                <a:lnTo>
                  <a:pt x="213674" y="637673"/>
                </a:lnTo>
                <a:lnTo>
                  <a:pt x="213610" y="637969"/>
                </a:lnTo>
                <a:lnTo>
                  <a:pt x="214261" y="637993"/>
                </a:lnTo>
                <a:lnTo>
                  <a:pt x="214613" y="638496"/>
                </a:lnTo>
                <a:lnTo>
                  <a:pt x="215254" y="638122"/>
                </a:lnTo>
                <a:lnTo>
                  <a:pt x="216280" y="638180"/>
                </a:lnTo>
                <a:lnTo>
                  <a:pt x="216931" y="637584"/>
                </a:lnTo>
                <a:lnTo>
                  <a:pt x="217492" y="637606"/>
                </a:lnTo>
                <a:lnTo>
                  <a:pt x="218348" y="637126"/>
                </a:lnTo>
                <a:lnTo>
                  <a:pt x="218589" y="637280"/>
                </a:lnTo>
                <a:lnTo>
                  <a:pt x="218617" y="637824"/>
                </a:lnTo>
                <a:lnTo>
                  <a:pt x="219838" y="637685"/>
                </a:lnTo>
                <a:lnTo>
                  <a:pt x="220060" y="638006"/>
                </a:lnTo>
                <a:lnTo>
                  <a:pt x="220878" y="638254"/>
                </a:lnTo>
                <a:lnTo>
                  <a:pt x="220972" y="638731"/>
                </a:lnTo>
                <a:lnTo>
                  <a:pt x="221512" y="639168"/>
                </a:lnTo>
                <a:lnTo>
                  <a:pt x="222866" y="638917"/>
                </a:lnTo>
                <a:lnTo>
                  <a:pt x="222866" y="640089"/>
                </a:lnTo>
                <a:lnTo>
                  <a:pt x="223189" y="639990"/>
                </a:lnTo>
                <a:lnTo>
                  <a:pt x="223428" y="640249"/>
                </a:lnTo>
                <a:lnTo>
                  <a:pt x="224898" y="640411"/>
                </a:lnTo>
                <a:lnTo>
                  <a:pt x="225843" y="639991"/>
                </a:lnTo>
                <a:lnTo>
                  <a:pt x="226173" y="639616"/>
                </a:lnTo>
                <a:lnTo>
                  <a:pt x="225724" y="639634"/>
                </a:lnTo>
                <a:lnTo>
                  <a:pt x="226016" y="639069"/>
                </a:lnTo>
                <a:lnTo>
                  <a:pt x="226413" y="639013"/>
                </a:lnTo>
                <a:lnTo>
                  <a:pt x="226719" y="638468"/>
                </a:lnTo>
                <a:lnTo>
                  <a:pt x="227039" y="638389"/>
                </a:lnTo>
                <a:lnTo>
                  <a:pt x="227165" y="637874"/>
                </a:lnTo>
                <a:lnTo>
                  <a:pt x="227479" y="637659"/>
                </a:lnTo>
                <a:lnTo>
                  <a:pt x="228014" y="637945"/>
                </a:lnTo>
                <a:lnTo>
                  <a:pt x="228227" y="637825"/>
                </a:lnTo>
                <a:lnTo>
                  <a:pt x="228127" y="637496"/>
                </a:lnTo>
                <a:lnTo>
                  <a:pt x="228356" y="637093"/>
                </a:lnTo>
                <a:lnTo>
                  <a:pt x="228938" y="636777"/>
                </a:lnTo>
                <a:lnTo>
                  <a:pt x="229200" y="636288"/>
                </a:lnTo>
                <a:lnTo>
                  <a:pt x="229427" y="636165"/>
                </a:lnTo>
                <a:lnTo>
                  <a:pt x="229605" y="636370"/>
                </a:lnTo>
                <a:lnTo>
                  <a:pt x="230763" y="635927"/>
                </a:lnTo>
                <a:lnTo>
                  <a:pt x="231253" y="635457"/>
                </a:lnTo>
                <a:lnTo>
                  <a:pt x="231593" y="635619"/>
                </a:lnTo>
                <a:lnTo>
                  <a:pt x="232286" y="635438"/>
                </a:lnTo>
                <a:lnTo>
                  <a:pt x="232666" y="635898"/>
                </a:lnTo>
                <a:lnTo>
                  <a:pt x="232917" y="635759"/>
                </a:lnTo>
                <a:lnTo>
                  <a:pt x="233234" y="636061"/>
                </a:lnTo>
                <a:lnTo>
                  <a:pt x="234088" y="636260"/>
                </a:lnTo>
                <a:lnTo>
                  <a:pt x="237408" y="638829"/>
                </a:lnTo>
                <a:lnTo>
                  <a:pt x="241438" y="643489"/>
                </a:lnTo>
                <a:lnTo>
                  <a:pt x="243796" y="647233"/>
                </a:lnTo>
                <a:lnTo>
                  <a:pt x="245086" y="649898"/>
                </a:lnTo>
                <a:lnTo>
                  <a:pt x="245864" y="651922"/>
                </a:lnTo>
                <a:lnTo>
                  <a:pt x="245801" y="652604"/>
                </a:lnTo>
                <a:lnTo>
                  <a:pt x="246348" y="653643"/>
                </a:lnTo>
                <a:lnTo>
                  <a:pt x="246516" y="655097"/>
                </a:lnTo>
                <a:lnTo>
                  <a:pt x="247043" y="656373"/>
                </a:lnTo>
                <a:lnTo>
                  <a:pt x="246965" y="656846"/>
                </a:lnTo>
                <a:lnTo>
                  <a:pt x="246033" y="657189"/>
                </a:lnTo>
                <a:lnTo>
                  <a:pt x="246255" y="657375"/>
                </a:lnTo>
                <a:lnTo>
                  <a:pt x="245314" y="658014"/>
                </a:lnTo>
                <a:lnTo>
                  <a:pt x="245107" y="658583"/>
                </a:lnTo>
                <a:lnTo>
                  <a:pt x="244306" y="658724"/>
                </a:lnTo>
                <a:lnTo>
                  <a:pt x="244338" y="659025"/>
                </a:lnTo>
                <a:lnTo>
                  <a:pt x="243920" y="658993"/>
                </a:lnTo>
                <a:lnTo>
                  <a:pt x="243664" y="659233"/>
                </a:lnTo>
                <a:lnTo>
                  <a:pt x="243531" y="660263"/>
                </a:lnTo>
                <a:lnTo>
                  <a:pt x="243933" y="660186"/>
                </a:lnTo>
                <a:lnTo>
                  <a:pt x="243079" y="661055"/>
                </a:lnTo>
                <a:lnTo>
                  <a:pt x="243013" y="661475"/>
                </a:lnTo>
                <a:lnTo>
                  <a:pt x="242442" y="662209"/>
                </a:lnTo>
                <a:lnTo>
                  <a:pt x="242446" y="662522"/>
                </a:lnTo>
                <a:lnTo>
                  <a:pt x="242978" y="662910"/>
                </a:lnTo>
                <a:lnTo>
                  <a:pt x="242700" y="663161"/>
                </a:lnTo>
                <a:lnTo>
                  <a:pt x="242913" y="663318"/>
                </a:lnTo>
                <a:lnTo>
                  <a:pt x="242834" y="663556"/>
                </a:lnTo>
                <a:lnTo>
                  <a:pt x="242049" y="663844"/>
                </a:lnTo>
                <a:lnTo>
                  <a:pt x="242055" y="663413"/>
                </a:lnTo>
                <a:lnTo>
                  <a:pt x="241881" y="664377"/>
                </a:lnTo>
                <a:lnTo>
                  <a:pt x="241478" y="664986"/>
                </a:lnTo>
                <a:lnTo>
                  <a:pt x="240758" y="667195"/>
                </a:lnTo>
                <a:lnTo>
                  <a:pt x="240129" y="667631"/>
                </a:lnTo>
                <a:lnTo>
                  <a:pt x="239864" y="667457"/>
                </a:lnTo>
                <a:lnTo>
                  <a:pt x="239007" y="667820"/>
                </a:lnTo>
                <a:lnTo>
                  <a:pt x="238481" y="667720"/>
                </a:lnTo>
                <a:lnTo>
                  <a:pt x="238227" y="668128"/>
                </a:lnTo>
                <a:lnTo>
                  <a:pt x="237267" y="668676"/>
                </a:lnTo>
                <a:lnTo>
                  <a:pt x="237218" y="668982"/>
                </a:lnTo>
                <a:lnTo>
                  <a:pt x="237463" y="669049"/>
                </a:lnTo>
                <a:lnTo>
                  <a:pt x="237183" y="669623"/>
                </a:lnTo>
                <a:lnTo>
                  <a:pt x="236976" y="669926"/>
                </a:lnTo>
                <a:lnTo>
                  <a:pt x="236462" y="670015"/>
                </a:lnTo>
                <a:lnTo>
                  <a:pt x="236533" y="670193"/>
                </a:lnTo>
                <a:lnTo>
                  <a:pt x="235998" y="670832"/>
                </a:lnTo>
                <a:lnTo>
                  <a:pt x="235979" y="671101"/>
                </a:lnTo>
                <a:lnTo>
                  <a:pt x="236332" y="671082"/>
                </a:lnTo>
                <a:lnTo>
                  <a:pt x="236449" y="670925"/>
                </a:lnTo>
                <a:lnTo>
                  <a:pt x="236233" y="670771"/>
                </a:lnTo>
                <a:lnTo>
                  <a:pt x="236705" y="670736"/>
                </a:lnTo>
                <a:lnTo>
                  <a:pt x="236507" y="670953"/>
                </a:lnTo>
                <a:lnTo>
                  <a:pt x="236834" y="671109"/>
                </a:lnTo>
                <a:lnTo>
                  <a:pt x="236300" y="671405"/>
                </a:lnTo>
                <a:lnTo>
                  <a:pt x="236634" y="671503"/>
                </a:lnTo>
                <a:lnTo>
                  <a:pt x="236951" y="671227"/>
                </a:lnTo>
                <a:lnTo>
                  <a:pt x="237331" y="671493"/>
                </a:lnTo>
                <a:lnTo>
                  <a:pt x="237570" y="671111"/>
                </a:lnTo>
                <a:lnTo>
                  <a:pt x="237968" y="671286"/>
                </a:lnTo>
                <a:lnTo>
                  <a:pt x="238388" y="670549"/>
                </a:lnTo>
                <a:lnTo>
                  <a:pt x="238882" y="670534"/>
                </a:lnTo>
                <a:lnTo>
                  <a:pt x="239292" y="669590"/>
                </a:lnTo>
                <a:lnTo>
                  <a:pt x="239679" y="669726"/>
                </a:lnTo>
                <a:lnTo>
                  <a:pt x="239722" y="669999"/>
                </a:lnTo>
                <a:lnTo>
                  <a:pt x="240087" y="669876"/>
                </a:lnTo>
                <a:lnTo>
                  <a:pt x="240335" y="670104"/>
                </a:lnTo>
                <a:lnTo>
                  <a:pt x="241301" y="669718"/>
                </a:lnTo>
                <a:lnTo>
                  <a:pt x="242489" y="670209"/>
                </a:lnTo>
                <a:lnTo>
                  <a:pt x="243155" y="669881"/>
                </a:lnTo>
                <a:lnTo>
                  <a:pt x="243520" y="669989"/>
                </a:lnTo>
                <a:lnTo>
                  <a:pt x="244202" y="669195"/>
                </a:lnTo>
                <a:lnTo>
                  <a:pt x="244186" y="668706"/>
                </a:lnTo>
                <a:lnTo>
                  <a:pt x="244634" y="668185"/>
                </a:lnTo>
                <a:lnTo>
                  <a:pt x="245169" y="668064"/>
                </a:lnTo>
                <a:lnTo>
                  <a:pt x="245505" y="668307"/>
                </a:lnTo>
                <a:lnTo>
                  <a:pt x="246006" y="668270"/>
                </a:lnTo>
                <a:lnTo>
                  <a:pt x="246365" y="667820"/>
                </a:lnTo>
                <a:lnTo>
                  <a:pt x="246975" y="668029"/>
                </a:lnTo>
                <a:lnTo>
                  <a:pt x="246633" y="667760"/>
                </a:lnTo>
                <a:lnTo>
                  <a:pt x="247388" y="667991"/>
                </a:lnTo>
                <a:lnTo>
                  <a:pt x="247340" y="667620"/>
                </a:lnTo>
                <a:lnTo>
                  <a:pt x="247470" y="667830"/>
                </a:lnTo>
                <a:lnTo>
                  <a:pt x="248324" y="667964"/>
                </a:lnTo>
                <a:lnTo>
                  <a:pt x="248656" y="667371"/>
                </a:lnTo>
                <a:lnTo>
                  <a:pt x="250495" y="666510"/>
                </a:lnTo>
                <a:lnTo>
                  <a:pt x="251863" y="666579"/>
                </a:lnTo>
                <a:lnTo>
                  <a:pt x="253222" y="667292"/>
                </a:lnTo>
                <a:lnTo>
                  <a:pt x="255263" y="669688"/>
                </a:lnTo>
                <a:lnTo>
                  <a:pt x="255713" y="670404"/>
                </a:lnTo>
                <a:lnTo>
                  <a:pt x="256777" y="673407"/>
                </a:lnTo>
                <a:lnTo>
                  <a:pt x="257351" y="674131"/>
                </a:lnTo>
                <a:lnTo>
                  <a:pt x="260310" y="674850"/>
                </a:lnTo>
                <a:lnTo>
                  <a:pt x="260853" y="675186"/>
                </a:lnTo>
                <a:lnTo>
                  <a:pt x="260628" y="675459"/>
                </a:lnTo>
                <a:lnTo>
                  <a:pt x="260771" y="675619"/>
                </a:lnTo>
                <a:lnTo>
                  <a:pt x="261143" y="675452"/>
                </a:lnTo>
                <a:lnTo>
                  <a:pt x="261095" y="675177"/>
                </a:lnTo>
                <a:lnTo>
                  <a:pt x="262503" y="675223"/>
                </a:lnTo>
                <a:lnTo>
                  <a:pt x="262835" y="675494"/>
                </a:lnTo>
                <a:lnTo>
                  <a:pt x="262563" y="675572"/>
                </a:lnTo>
                <a:lnTo>
                  <a:pt x="262770" y="675882"/>
                </a:lnTo>
                <a:lnTo>
                  <a:pt x="262968" y="675801"/>
                </a:lnTo>
                <a:lnTo>
                  <a:pt x="262908" y="676019"/>
                </a:lnTo>
                <a:lnTo>
                  <a:pt x="263445" y="675690"/>
                </a:lnTo>
                <a:lnTo>
                  <a:pt x="263649" y="675820"/>
                </a:lnTo>
                <a:lnTo>
                  <a:pt x="263171" y="676400"/>
                </a:lnTo>
                <a:lnTo>
                  <a:pt x="263376" y="676550"/>
                </a:lnTo>
                <a:lnTo>
                  <a:pt x="263880" y="676178"/>
                </a:lnTo>
                <a:lnTo>
                  <a:pt x="263720" y="676520"/>
                </a:lnTo>
                <a:lnTo>
                  <a:pt x="264370" y="676316"/>
                </a:lnTo>
                <a:lnTo>
                  <a:pt x="265192" y="676534"/>
                </a:lnTo>
                <a:lnTo>
                  <a:pt x="266071" y="676062"/>
                </a:lnTo>
                <a:lnTo>
                  <a:pt x="266802" y="676293"/>
                </a:lnTo>
                <a:lnTo>
                  <a:pt x="268069" y="677173"/>
                </a:lnTo>
                <a:lnTo>
                  <a:pt x="268467" y="677750"/>
                </a:lnTo>
                <a:lnTo>
                  <a:pt x="268509" y="678338"/>
                </a:lnTo>
                <a:lnTo>
                  <a:pt x="268237" y="678221"/>
                </a:lnTo>
                <a:lnTo>
                  <a:pt x="268109" y="678428"/>
                </a:lnTo>
                <a:lnTo>
                  <a:pt x="268208" y="679203"/>
                </a:lnTo>
                <a:lnTo>
                  <a:pt x="269095" y="679234"/>
                </a:lnTo>
                <a:lnTo>
                  <a:pt x="269173" y="679569"/>
                </a:lnTo>
                <a:lnTo>
                  <a:pt x="269717" y="679455"/>
                </a:lnTo>
                <a:lnTo>
                  <a:pt x="269572" y="680014"/>
                </a:lnTo>
                <a:lnTo>
                  <a:pt x="270320" y="680332"/>
                </a:lnTo>
                <a:lnTo>
                  <a:pt x="270136" y="681141"/>
                </a:lnTo>
                <a:lnTo>
                  <a:pt x="271026" y="682705"/>
                </a:lnTo>
                <a:lnTo>
                  <a:pt x="271398" y="682849"/>
                </a:lnTo>
                <a:lnTo>
                  <a:pt x="271834" y="682676"/>
                </a:lnTo>
                <a:lnTo>
                  <a:pt x="271858" y="682960"/>
                </a:lnTo>
                <a:lnTo>
                  <a:pt x="272162" y="682754"/>
                </a:lnTo>
                <a:lnTo>
                  <a:pt x="272638" y="682897"/>
                </a:lnTo>
                <a:lnTo>
                  <a:pt x="273298" y="683535"/>
                </a:lnTo>
                <a:lnTo>
                  <a:pt x="273193" y="683840"/>
                </a:lnTo>
                <a:lnTo>
                  <a:pt x="274153" y="683832"/>
                </a:lnTo>
                <a:lnTo>
                  <a:pt x="274154" y="684034"/>
                </a:lnTo>
                <a:lnTo>
                  <a:pt x="274458" y="684023"/>
                </a:lnTo>
                <a:lnTo>
                  <a:pt x="274228" y="684236"/>
                </a:lnTo>
                <a:lnTo>
                  <a:pt x="274343" y="684465"/>
                </a:lnTo>
                <a:lnTo>
                  <a:pt x="274097" y="684342"/>
                </a:lnTo>
                <a:lnTo>
                  <a:pt x="273632" y="684761"/>
                </a:lnTo>
                <a:lnTo>
                  <a:pt x="274209" y="685177"/>
                </a:lnTo>
                <a:lnTo>
                  <a:pt x="275939" y="685205"/>
                </a:lnTo>
                <a:lnTo>
                  <a:pt x="276058" y="684481"/>
                </a:lnTo>
                <a:lnTo>
                  <a:pt x="276641" y="684693"/>
                </a:lnTo>
                <a:lnTo>
                  <a:pt x="277067" y="685528"/>
                </a:lnTo>
                <a:lnTo>
                  <a:pt x="276797" y="686050"/>
                </a:lnTo>
                <a:lnTo>
                  <a:pt x="276967" y="686293"/>
                </a:lnTo>
                <a:lnTo>
                  <a:pt x="277473" y="686041"/>
                </a:lnTo>
                <a:lnTo>
                  <a:pt x="277675" y="686527"/>
                </a:lnTo>
                <a:lnTo>
                  <a:pt x="277526" y="686706"/>
                </a:lnTo>
                <a:lnTo>
                  <a:pt x="277752" y="686707"/>
                </a:lnTo>
                <a:lnTo>
                  <a:pt x="277377" y="688042"/>
                </a:lnTo>
                <a:lnTo>
                  <a:pt x="277889" y="688145"/>
                </a:lnTo>
                <a:lnTo>
                  <a:pt x="278386" y="687938"/>
                </a:lnTo>
                <a:lnTo>
                  <a:pt x="277792" y="688348"/>
                </a:lnTo>
                <a:lnTo>
                  <a:pt x="277959" y="688664"/>
                </a:lnTo>
                <a:lnTo>
                  <a:pt x="278747" y="688704"/>
                </a:lnTo>
                <a:lnTo>
                  <a:pt x="278867" y="689248"/>
                </a:lnTo>
                <a:lnTo>
                  <a:pt x="279432" y="689679"/>
                </a:lnTo>
                <a:lnTo>
                  <a:pt x="280054" y="689677"/>
                </a:lnTo>
                <a:lnTo>
                  <a:pt x="281368" y="688908"/>
                </a:lnTo>
                <a:lnTo>
                  <a:pt x="282236" y="689197"/>
                </a:lnTo>
                <a:lnTo>
                  <a:pt x="283570" y="691540"/>
                </a:lnTo>
                <a:lnTo>
                  <a:pt x="283574" y="692753"/>
                </a:lnTo>
                <a:lnTo>
                  <a:pt x="282744" y="693317"/>
                </a:lnTo>
                <a:lnTo>
                  <a:pt x="283248" y="693594"/>
                </a:lnTo>
                <a:lnTo>
                  <a:pt x="283665" y="693695"/>
                </a:lnTo>
                <a:lnTo>
                  <a:pt x="284300" y="693242"/>
                </a:lnTo>
                <a:lnTo>
                  <a:pt x="284183" y="693658"/>
                </a:lnTo>
                <a:lnTo>
                  <a:pt x="284971" y="694096"/>
                </a:lnTo>
                <a:lnTo>
                  <a:pt x="285596" y="694034"/>
                </a:lnTo>
                <a:lnTo>
                  <a:pt x="285271" y="693794"/>
                </a:lnTo>
                <a:lnTo>
                  <a:pt x="285542" y="693608"/>
                </a:lnTo>
                <a:lnTo>
                  <a:pt x="285849" y="693592"/>
                </a:lnTo>
                <a:lnTo>
                  <a:pt x="285967" y="693808"/>
                </a:lnTo>
                <a:lnTo>
                  <a:pt x="286695" y="693711"/>
                </a:lnTo>
                <a:lnTo>
                  <a:pt x="286327" y="694004"/>
                </a:lnTo>
                <a:lnTo>
                  <a:pt x="286298" y="694306"/>
                </a:lnTo>
                <a:lnTo>
                  <a:pt x="286559" y="694398"/>
                </a:lnTo>
                <a:lnTo>
                  <a:pt x="286810" y="693839"/>
                </a:lnTo>
                <a:lnTo>
                  <a:pt x="288483" y="693469"/>
                </a:lnTo>
                <a:lnTo>
                  <a:pt x="287726" y="692524"/>
                </a:lnTo>
                <a:lnTo>
                  <a:pt x="289034" y="691617"/>
                </a:lnTo>
                <a:lnTo>
                  <a:pt x="289275" y="690632"/>
                </a:lnTo>
                <a:lnTo>
                  <a:pt x="291024" y="690070"/>
                </a:lnTo>
                <a:lnTo>
                  <a:pt x="291512" y="690310"/>
                </a:lnTo>
                <a:lnTo>
                  <a:pt x="292875" y="690206"/>
                </a:lnTo>
                <a:lnTo>
                  <a:pt x="295268" y="690904"/>
                </a:lnTo>
                <a:lnTo>
                  <a:pt x="296807" y="690878"/>
                </a:lnTo>
                <a:lnTo>
                  <a:pt x="297592" y="691294"/>
                </a:lnTo>
                <a:lnTo>
                  <a:pt x="297906" y="691000"/>
                </a:lnTo>
                <a:lnTo>
                  <a:pt x="298553" y="691140"/>
                </a:lnTo>
                <a:lnTo>
                  <a:pt x="299589" y="690336"/>
                </a:lnTo>
                <a:lnTo>
                  <a:pt x="300384" y="690086"/>
                </a:lnTo>
                <a:lnTo>
                  <a:pt x="302698" y="690087"/>
                </a:lnTo>
                <a:lnTo>
                  <a:pt x="304463" y="690482"/>
                </a:lnTo>
                <a:lnTo>
                  <a:pt x="305375" y="690055"/>
                </a:lnTo>
                <a:lnTo>
                  <a:pt x="305618" y="690163"/>
                </a:lnTo>
                <a:lnTo>
                  <a:pt x="305790" y="689779"/>
                </a:lnTo>
                <a:lnTo>
                  <a:pt x="307710" y="689418"/>
                </a:lnTo>
                <a:lnTo>
                  <a:pt x="307978" y="689483"/>
                </a:lnTo>
                <a:lnTo>
                  <a:pt x="308100" y="689874"/>
                </a:lnTo>
                <a:lnTo>
                  <a:pt x="309350" y="689821"/>
                </a:lnTo>
                <a:lnTo>
                  <a:pt x="311342" y="690367"/>
                </a:lnTo>
                <a:lnTo>
                  <a:pt x="312274" y="689802"/>
                </a:lnTo>
                <a:lnTo>
                  <a:pt x="312878" y="690016"/>
                </a:lnTo>
                <a:lnTo>
                  <a:pt x="313143" y="689850"/>
                </a:lnTo>
                <a:lnTo>
                  <a:pt x="313198" y="690130"/>
                </a:lnTo>
                <a:lnTo>
                  <a:pt x="313265" y="689927"/>
                </a:lnTo>
                <a:lnTo>
                  <a:pt x="313471" y="690092"/>
                </a:lnTo>
                <a:lnTo>
                  <a:pt x="314253" y="689791"/>
                </a:lnTo>
                <a:lnTo>
                  <a:pt x="316074" y="690831"/>
                </a:lnTo>
                <a:lnTo>
                  <a:pt x="316715" y="692320"/>
                </a:lnTo>
                <a:lnTo>
                  <a:pt x="318505" y="692575"/>
                </a:lnTo>
                <a:lnTo>
                  <a:pt x="321162" y="694439"/>
                </a:lnTo>
                <a:lnTo>
                  <a:pt x="322974" y="696276"/>
                </a:lnTo>
                <a:lnTo>
                  <a:pt x="323136" y="696715"/>
                </a:lnTo>
                <a:lnTo>
                  <a:pt x="323565" y="696890"/>
                </a:lnTo>
                <a:lnTo>
                  <a:pt x="323954" y="697549"/>
                </a:lnTo>
                <a:lnTo>
                  <a:pt x="324356" y="697170"/>
                </a:lnTo>
                <a:lnTo>
                  <a:pt x="325046" y="697394"/>
                </a:lnTo>
                <a:lnTo>
                  <a:pt x="325625" y="697270"/>
                </a:lnTo>
                <a:lnTo>
                  <a:pt x="325788" y="697909"/>
                </a:lnTo>
                <a:lnTo>
                  <a:pt x="326145" y="698230"/>
                </a:lnTo>
                <a:lnTo>
                  <a:pt x="326986" y="698283"/>
                </a:lnTo>
                <a:lnTo>
                  <a:pt x="327325" y="698622"/>
                </a:lnTo>
                <a:lnTo>
                  <a:pt x="326873" y="699204"/>
                </a:lnTo>
                <a:lnTo>
                  <a:pt x="327568" y="698738"/>
                </a:lnTo>
                <a:lnTo>
                  <a:pt x="328105" y="698747"/>
                </a:lnTo>
                <a:lnTo>
                  <a:pt x="328625" y="699270"/>
                </a:lnTo>
                <a:lnTo>
                  <a:pt x="329632" y="699563"/>
                </a:lnTo>
                <a:lnTo>
                  <a:pt x="329401" y="699787"/>
                </a:lnTo>
                <a:lnTo>
                  <a:pt x="329746" y="699757"/>
                </a:lnTo>
                <a:lnTo>
                  <a:pt x="329808" y="700014"/>
                </a:lnTo>
                <a:lnTo>
                  <a:pt x="331107" y="699917"/>
                </a:lnTo>
                <a:lnTo>
                  <a:pt x="331466" y="700179"/>
                </a:lnTo>
                <a:lnTo>
                  <a:pt x="332267" y="699959"/>
                </a:lnTo>
                <a:lnTo>
                  <a:pt x="332434" y="700135"/>
                </a:lnTo>
                <a:lnTo>
                  <a:pt x="332860" y="699728"/>
                </a:lnTo>
                <a:lnTo>
                  <a:pt x="333581" y="699699"/>
                </a:lnTo>
                <a:lnTo>
                  <a:pt x="333263" y="699266"/>
                </a:lnTo>
                <a:lnTo>
                  <a:pt x="333823" y="698929"/>
                </a:lnTo>
                <a:lnTo>
                  <a:pt x="333869" y="698498"/>
                </a:lnTo>
                <a:lnTo>
                  <a:pt x="335269" y="698543"/>
                </a:lnTo>
                <a:lnTo>
                  <a:pt x="335444" y="697890"/>
                </a:lnTo>
                <a:lnTo>
                  <a:pt x="335319" y="697330"/>
                </a:lnTo>
                <a:lnTo>
                  <a:pt x="335619" y="696841"/>
                </a:lnTo>
                <a:lnTo>
                  <a:pt x="338625" y="696765"/>
                </a:lnTo>
                <a:lnTo>
                  <a:pt x="339276" y="696346"/>
                </a:lnTo>
                <a:lnTo>
                  <a:pt x="339240" y="695829"/>
                </a:lnTo>
                <a:lnTo>
                  <a:pt x="339976" y="695356"/>
                </a:lnTo>
                <a:lnTo>
                  <a:pt x="339994" y="694758"/>
                </a:lnTo>
                <a:lnTo>
                  <a:pt x="339761" y="694526"/>
                </a:lnTo>
                <a:lnTo>
                  <a:pt x="339225" y="694516"/>
                </a:lnTo>
                <a:lnTo>
                  <a:pt x="338930" y="694174"/>
                </a:lnTo>
                <a:lnTo>
                  <a:pt x="338446" y="694230"/>
                </a:lnTo>
                <a:lnTo>
                  <a:pt x="337856" y="693237"/>
                </a:lnTo>
                <a:lnTo>
                  <a:pt x="337560" y="692378"/>
                </a:lnTo>
                <a:lnTo>
                  <a:pt x="337667" y="690405"/>
                </a:lnTo>
                <a:lnTo>
                  <a:pt x="338843" y="687562"/>
                </a:lnTo>
                <a:lnTo>
                  <a:pt x="341680" y="684134"/>
                </a:lnTo>
                <a:lnTo>
                  <a:pt x="343948" y="682246"/>
                </a:lnTo>
                <a:lnTo>
                  <a:pt x="346847" y="680401"/>
                </a:lnTo>
                <a:lnTo>
                  <a:pt x="353136" y="677260"/>
                </a:lnTo>
                <a:lnTo>
                  <a:pt x="356405" y="676280"/>
                </a:lnTo>
                <a:lnTo>
                  <a:pt x="359349" y="675954"/>
                </a:lnTo>
                <a:lnTo>
                  <a:pt x="359680" y="675749"/>
                </a:lnTo>
                <a:lnTo>
                  <a:pt x="361580" y="675882"/>
                </a:lnTo>
                <a:lnTo>
                  <a:pt x="362251" y="676242"/>
                </a:lnTo>
                <a:lnTo>
                  <a:pt x="362246" y="675758"/>
                </a:lnTo>
                <a:lnTo>
                  <a:pt x="361872" y="675397"/>
                </a:lnTo>
                <a:lnTo>
                  <a:pt x="361982" y="674872"/>
                </a:lnTo>
                <a:lnTo>
                  <a:pt x="361768" y="674752"/>
                </a:lnTo>
                <a:lnTo>
                  <a:pt x="361978" y="674401"/>
                </a:lnTo>
                <a:lnTo>
                  <a:pt x="361603" y="674149"/>
                </a:lnTo>
                <a:lnTo>
                  <a:pt x="361781" y="673906"/>
                </a:lnTo>
                <a:lnTo>
                  <a:pt x="361596" y="673833"/>
                </a:lnTo>
                <a:lnTo>
                  <a:pt x="361710" y="673117"/>
                </a:lnTo>
                <a:lnTo>
                  <a:pt x="362045" y="672693"/>
                </a:lnTo>
                <a:lnTo>
                  <a:pt x="361636" y="672405"/>
                </a:lnTo>
                <a:lnTo>
                  <a:pt x="361625" y="671473"/>
                </a:lnTo>
                <a:lnTo>
                  <a:pt x="362236" y="670211"/>
                </a:lnTo>
                <a:lnTo>
                  <a:pt x="363416" y="668796"/>
                </a:lnTo>
                <a:lnTo>
                  <a:pt x="366102" y="666889"/>
                </a:lnTo>
                <a:lnTo>
                  <a:pt x="368567" y="665627"/>
                </a:lnTo>
                <a:lnTo>
                  <a:pt x="369739" y="665369"/>
                </a:lnTo>
                <a:lnTo>
                  <a:pt x="374160" y="662802"/>
                </a:lnTo>
                <a:lnTo>
                  <a:pt x="375596" y="660296"/>
                </a:lnTo>
                <a:lnTo>
                  <a:pt x="376526" y="659485"/>
                </a:lnTo>
                <a:lnTo>
                  <a:pt x="381605" y="656781"/>
                </a:lnTo>
                <a:lnTo>
                  <a:pt x="382945" y="656474"/>
                </a:lnTo>
                <a:lnTo>
                  <a:pt x="383068" y="656115"/>
                </a:lnTo>
                <a:lnTo>
                  <a:pt x="383322" y="656276"/>
                </a:lnTo>
                <a:lnTo>
                  <a:pt x="383307" y="655996"/>
                </a:lnTo>
                <a:lnTo>
                  <a:pt x="384324" y="654958"/>
                </a:lnTo>
                <a:lnTo>
                  <a:pt x="384580" y="654521"/>
                </a:lnTo>
                <a:lnTo>
                  <a:pt x="384522" y="654104"/>
                </a:lnTo>
                <a:lnTo>
                  <a:pt x="385075" y="653512"/>
                </a:lnTo>
                <a:lnTo>
                  <a:pt x="385049" y="652993"/>
                </a:lnTo>
                <a:lnTo>
                  <a:pt x="386319" y="649797"/>
                </a:lnTo>
                <a:lnTo>
                  <a:pt x="389068" y="646347"/>
                </a:lnTo>
                <a:lnTo>
                  <a:pt x="393358" y="643116"/>
                </a:lnTo>
                <a:lnTo>
                  <a:pt x="395956" y="641633"/>
                </a:lnTo>
                <a:lnTo>
                  <a:pt x="399529" y="640208"/>
                </a:lnTo>
                <a:lnTo>
                  <a:pt x="400227" y="639644"/>
                </a:lnTo>
                <a:lnTo>
                  <a:pt x="402523" y="638828"/>
                </a:lnTo>
                <a:lnTo>
                  <a:pt x="403571" y="638732"/>
                </a:lnTo>
                <a:lnTo>
                  <a:pt x="404019" y="638304"/>
                </a:lnTo>
                <a:lnTo>
                  <a:pt x="404691" y="638301"/>
                </a:lnTo>
                <a:lnTo>
                  <a:pt x="405043" y="637961"/>
                </a:lnTo>
                <a:lnTo>
                  <a:pt x="406400" y="637726"/>
                </a:lnTo>
                <a:lnTo>
                  <a:pt x="406503" y="637490"/>
                </a:lnTo>
                <a:lnTo>
                  <a:pt x="407150" y="637328"/>
                </a:lnTo>
                <a:lnTo>
                  <a:pt x="407532" y="637467"/>
                </a:lnTo>
                <a:lnTo>
                  <a:pt x="407726" y="637193"/>
                </a:lnTo>
                <a:lnTo>
                  <a:pt x="409192" y="636837"/>
                </a:lnTo>
                <a:lnTo>
                  <a:pt x="410600" y="636752"/>
                </a:lnTo>
                <a:lnTo>
                  <a:pt x="411703" y="636225"/>
                </a:lnTo>
                <a:lnTo>
                  <a:pt x="416843" y="635720"/>
                </a:lnTo>
                <a:lnTo>
                  <a:pt x="419557" y="635940"/>
                </a:lnTo>
                <a:lnTo>
                  <a:pt x="419687" y="635774"/>
                </a:lnTo>
                <a:lnTo>
                  <a:pt x="420008" y="636079"/>
                </a:lnTo>
                <a:lnTo>
                  <a:pt x="420565" y="636172"/>
                </a:lnTo>
                <a:lnTo>
                  <a:pt x="421270" y="636014"/>
                </a:lnTo>
                <a:lnTo>
                  <a:pt x="421625" y="635683"/>
                </a:lnTo>
                <a:lnTo>
                  <a:pt x="422266" y="635707"/>
                </a:lnTo>
                <a:lnTo>
                  <a:pt x="424682" y="636216"/>
                </a:lnTo>
                <a:lnTo>
                  <a:pt x="425298" y="636004"/>
                </a:lnTo>
                <a:lnTo>
                  <a:pt x="426209" y="636314"/>
                </a:lnTo>
                <a:lnTo>
                  <a:pt x="426883" y="636009"/>
                </a:lnTo>
                <a:lnTo>
                  <a:pt x="426949" y="635682"/>
                </a:lnTo>
                <a:lnTo>
                  <a:pt x="427802" y="636402"/>
                </a:lnTo>
                <a:lnTo>
                  <a:pt x="429868" y="636410"/>
                </a:lnTo>
                <a:lnTo>
                  <a:pt x="432635" y="637183"/>
                </a:lnTo>
                <a:lnTo>
                  <a:pt x="433787" y="637077"/>
                </a:lnTo>
                <a:lnTo>
                  <a:pt x="435438" y="637485"/>
                </a:lnTo>
                <a:lnTo>
                  <a:pt x="435931" y="637940"/>
                </a:lnTo>
                <a:lnTo>
                  <a:pt x="438412" y="638238"/>
                </a:lnTo>
                <a:lnTo>
                  <a:pt x="439053" y="638704"/>
                </a:lnTo>
                <a:lnTo>
                  <a:pt x="441459" y="638358"/>
                </a:lnTo>
                <a:lnTo>
                  <a:pt x="442666" y="639069"/>
                </a:lnTo>
                <a:lnTo>
                  <a:pt x="442728" y="638588"/>
                </a:lnTo>
                <a:lnTo>
                  <a:pt x="443429" y="638404"/>
                </a:lnTo>
                <a:lnTo>
                  <a:pt x="443212" y="637879"/>
                </a:lnTo>
                <a:lnTo>
                  <a:pt x="443779" y="637411"/>
                </a:lnTo>
                <a:lnTo>
                  <a:pt x="445528" y="637553"/>
                </a:lnTo>
                <a:lnTo>
                  <a:pt x="445553" y="637241"/>
                </a:lnTo>
                <a:lnTo>
                  <a:pt x="444927" y="636440"/>
                </a:lnTo>
                <a:lnTo>
                  <a:pt x="445807" y="635130"/>
                </a:lnTo>
                <a:lnTo>
                  <a:pt x="445409" y="634880"/>
                </a:lnTo>
                <a:lnTo>
                  <a:pt x="445721" y="634658"/>
                </a:lnTo>
                <a:lnTo>
                  <a:pt x="445515" y="634206"/>
                </a:lnTo>
                <a:lnTo>
                  <a:pt x="445516" y="632988"/>
                </a:lnTo>
                <a:lnTo>
                  <a:pt x="445112" y="632203"/>
                </a:lnTo>
                <a:lnTo>
                  <a:pt x="445377" y="631680"/>
                </a:lnTo>
                <a:lnTo>
                  <a:pt x="444928" y="631077"/>
                </a:lnTo>
                <a:lnTo>
                  <a:pt x="443704" y="630690"/>
                </a:lnTo>
                <a:lnTo>
                  <a:pt x="443131" y="629077"/>
                </a:lnTo>
                <a:lnTo>
                  <a:pt x="442452" y="628416"/>
                </a:lnTo>
                <a:lnTo>
                  <a:pt x="442857" y="627152"/>
                </a:lnTo>
                <a:lnTo>
                  <a:pt x="443217" y="626668"/>
                </a:lnTo>
                <a:lnTo>
                  <a:pt x="448193" y="623068"/>
                </a:lnTo>
                <a:lnTo>
                  <a:pt x="453573" y="621271"/>
                </a:lnTo>
                <a:lnTo>
                  <a:pt x="462658" y="620881"/>
                </a:lnTo>
                <a:lnTo>
                  <a:pt x="462750" y="621114"/>
                </a:lnTo>
                <a:lnTo>
                  <a:pt x="463436" y="621235"/>
                </a:lnTo>
                <a:lnTo>
                  <a:pt x="464931" y="621188"/>
                </a:lnTo>
                <a:lnTo>
                  <a:pt x="468005" y="621773"/>
                </a:lnTo>
                <a:lnTo>
                  <a:pt x="468820" y="621493"/>
                </a:lnTo>
                <a:lnTo>
                  <a:pt x="476203" y="622461"/>
                </a:lnTo>
                <a:lnTo>
                  <a:pt x="478088" y="623028"/>
                </a:lnTo>
                <a:lnTo>
                  <a:pt x="480421" y="623396"/>
                </a:lnTo>
                <a:lnTo>
                  <a:pt x="486637" y="625369"/>
                </a:lnTo>
                <a:lnTo>
                  <a:pt x="490174" y="626808"/>
                </a:lnTo>
                <a:lnTo>
                  <a:pt x="490530" y="627115"/>
                </a:lnTo>
                <a:lnTo>
                  <a:pt x="490573" y="627533"/>
                </a:lnTo>
                <a:lnTo>
                  <a:pt x="491244" y="627556"/>
                </a:lnTo>
                <a:lnTo>
                  <a:pt x="492135" y="628436"/>
                </a:lnTo>
                <a:lnTo>
                  <a:pt x="492423" y="628241"/>
                </a:lnTo>
                <a:lnTo>
                  <a:pt x="492840" y="628636"/>
                </a:lnTo>
                <a:lnTo>
                  <a:pt x="493278" y="628693"/>
                </a:lnTo>
                <a:lnTo>
                  <a:pt x="493722" y="628371"/>
                </a:lnTo>
                <a:lnTo>
                  <a:pt x="494322" y="628952"/>
                </a:lnTo>
                <a:lnTo>
                  <a:pt x="495689" y="628808"/>
                </a:lnTo>
                <a:lnTo>
                  <a:pt x="495828" y="629181"/>
                </a:lnTo>
                <a:lnTo>
                  <a:pt x="495985" y="629052"/>
                </a:lnTo>
                <a:lnTo>
                  <a:pt x="497130" y="629411"/>
                </a:lnTo>
                <a:lnTo>
                  <a:pt x="499357" y="630596"/>
                </a:lnTo>
                <a:lnTo>
                  <a:pt x="499943" y="630427"/>
                </a:lnTo>
                <a:lnTo>
                  <a:pt x="501633" y="631525"/>
                </a:lnTo>
                <a:lnTo>
                  <a:pt x="501726" y="631354"/>
                </a:lnTo>
                <a:lnTo>
                  <a:pt x="502617" y="631474"/>
                </a:lnTo>
                <a:lnTo>
                  <a:pt x="502852" y="631833"/>
                </a:lnTo>
                <a:lnTo>
                  <a:pt x="504383" y="631615"/>
                </a:lnTo>
                <a:lnTo>
                  <a:pt x="504799" y="630982"/>
                </a:lnTo>
                <a:lnTo>
                  <a:pt x="505449" y="630836"/>
                </a:lnTo>
                <a:lnTo>
                  <a:pt x="505576" y="630513"/>
                </a:lnTo>
                <a:lnTo>
                  <a:pt x="507283" y="631118"/>
                </a:lnTo>
                <a:lnTo>
                  <a:pt x="507779" y="630817"/>
                </a:lnTo>
                <a:lnTo>
                  <a:pt x="507697" y="630260"/>
                </a:lnTo>
                <a:lnTo>
                  <a:pt x="508039" y="629707"/>
                </a:lnTo>
                <a:lnTo>
                  <a:pt x="508724" y="629798"/>
                </a:lnTo>
                <a:lnTo>
                  <a:pt x="510094" y="628509"/>
                </a:lnTo>
                <a:lnTo>
                  <a:pt x="511007" y="628548"/>
                </a:lnTo>
                <a:lnTo>
                  <a:pt x="511301" y="628767"/>
                </a:lnTo>
                <a:lnTo>
                  <a:pt x="511683" y="628649"/>
                </a:lnTo>
                <a:lnTo>
                  <a:pt x="512162" y="629095"/>
                </a:lnTo>
                <a:lnTo>
                  <a:pt x="512524" y="629050"/>
                </a:lnTo>
                <a:lnTo>
                  <a:pt x="513818" y="627102"/>
                </a:lnTo>
                <a:lnTo>
                  <a:pt x="514534" y="626661"/>
                </a:lnTo>
                <a:lnTo>
                  <a:pt x="515603" y="626944"/>
                </a:lnTo>
                <a:lnTo>
                  <a:pt x="516140" y="626116"/>
                </a:lnTo>
                <a:lnTo>
                  <a:pt x="517893" y="625440"/>
                </a:lnTo>
                <a:lnTo>
                  <a:pt x="518072" y="625023"/>
                </a:lnTo>
                <a:lnTo>
                  <a:pt x="517849" y="624980"/>
                </a:lnTo>
                <a:lnTo>
                  <a:pt x="517802" y="624617"/>
                </a:lnTo>
                <a:lnTo>
                  <a:pt x="518064" y="624551"/>
                </a:lnTo>
                <a:lnTo>
                  <a:pt x="518073" y="624208"/>
                </a:lnTo>
                <a:lnTo>
                  <a:pt x="518431" y="623845"/>
                </a:lnTo>
                <a:lnTo>
                  <a:pt x="518829" y="623952"/>
                </a:lnTo>
                <a:lnTo>
                  <a:pt x="519314" y="623669"/>
                </a:lnTo>
                <a:lnTo>
                  <a:pt x="520014" y="624298"/>
                </a:lnTo>
                <a:lnTo>
                  <a:pt x="520122" y="623640"/>
                </a:lnTo>
                <a:lnTo>
                  <a:pt x="519745" y="623016"/>
                </a:lnTo>
                <a:lnTo>
                  <a:pt x="519194" y="622753"/>
                </a:lnTo>
                <a:lnTo>
                  <a:pt x="519070" y="621911"/>
                </a:lnTo>
                <a:lnTo>
                  <a:pt x="520300" y="620765"/>
                </a:lnTo>
                <a:lnTo>
                  <a:pt x="522907" y="619869"/>
                </a:lnTo>
                <a:lnTo>
                  <a:pt x="523132" y="619996"/>
                </a:lnTo>
                <a:lnTo>
                  <a:pt x="526067" y="619567"/>
                </a:lnTo>
                <a:lnTo>
                  <a:pt x="526980" y="619818"/>
                </a:lnTo>
                <a:lnTo>
                  <a:pt x="528351" y="619585"/>
                </a:lnTo>
                <a:lnTo>
                  <a:pt x="530686" y="618461"/>
                </a:lnTo>
                <a:lnTo>
                  <a:pt x="531565" y="618685"/>
                </a:lnTo>
                <a:lnTo>
                  <a:pt x="532363" y="618019"/>
                </a:lnTo>
                <a:lnTo>
                  <a:pt x="534072" y="617849"/>
                </a:lnTo>
                <a:lnTo>
                  <a:pt x="536198" y="618591"/>
                </a:lnTo>
                <a:lnTo>
                  <a:pt x="537873" y="618434"/>
                </a:lnTo>
                <a:lnTo>
                  <a:pt x="539224" y="619008"/>
                </a:lnTo>
                <a:lnTo>
                  <a:pt x="540169" y="618788"/>
                </a:lnTo>
                <a:lnTo>
                  <a:pt x="540804" y="619233"/>
                </a:lnTo>
                <a:lnTo>
                  <a:pt x="544378" y="620299"/>
                </a:lnTo>
                <a:lnTo>
                  <a:pt x="546888" y="621430"/>
                </a:lnTo>
                <a:lnTo>
                  <a:pt x="547091" y="621301"/>
                </a:lnTo>
                <a:lnTo>
                  <a:pt x="547322" y="621640"/>
                </a:lnTo>
                <a:lnTo>
                  <a:pt x="548521" y="621589"/>
                </a:lnTo>
                <a:lnTo>
                  <a:pt x="551043" y="622529"/>
                </a:lnTo>
                <a:lnTo>
                  <a:pt x="551769" y="622335"/>
                </a:lnTo>
                <a:lnTo>
                  <a:pt x="552184" y="622677"/>
                </a:lnTo>
                <a:lnTo>
                  <a:pt x="553004" y="622681"/>
                </a:lnTo>
                <a:lnTo>
                  <a:pt x="554124" y="623271"/>
                </a:lnTo>
                <a:lnTo>
                  <a:pt x="555127" y="623089"/>
                </a:lnTo>
                <a:lnTo>
                  <a:pt x="555706" y="623641"/>
                </a:lnTo>
                <a:lnTo>
                  <a:pt x="557145" y="623449"/>
                </a:lnTo>
                <a:lnTo>
                  <a:pt x="557438" y="623623"/>
                </a:lnTo>
                <a:lnTo>
                  <a:pt x="558136" y="623277"/>
                </a:lnTo>
                <a:lnTo>
                  <a:pt x="558877" y="623681"/>
                </a:lnTo>
                <a:lnTo>
                  <a:pt x="559203" y="623284"/>
                </a:lnTo>
                <a:lnTo>
                  <a:pt x="560174" y="623692"/>
                </a:lnTo>
                <a:lnTo>
                  <a:pt x="560406" y="623371"/>
                </a:lnTo>
                <a:lnTo>
                  <a:pt x="560898" y="623426"/>
                </a:lnTo>
                <a:lnTo>
                  <a:pt x="561135" y="622598"/>
                </a:lnTo>
                <a:lnTo>
                  <a:pt x="561812" y="622174"/>
                </a:lnTo>
                <a:lnTo>
                  <a:pt x="563588" y="622177"/>
                </a:lnTo>
                <a:lnTo>
                  <a:pt x="564374" y="621732"/>
                </a:lnTo>
                <a:lnTo>
                  <a:pt x="565100" y="621906"/>
                </a:lnTo>
                <a:lnTo>
                  <a:pt x="568779" y="621185"/>
                </a:lnTo>
                <a:lnTo>
                  <a:pt x="569277" y="621509"/>
                </a:lnTo>
                <a:lnTo>
                  <a:pt x="569651" y="621166"/>
                </a:lnTo>
                <a:lnTo>
                  <a:pt x="570190" y="621224"/>
                </a:lnTo>
                <a:lnTo>
                  <a:pt x="570358" y="620845"/>
                </a:lnTo>
                <a:lnTo>
                  <a:pt x="571199" y="621028"/>
                </a:lnTo>
                <a:lnTo>
                  <a:pt x="572001" y="620458"/>
                </a:lnTo>
                <a:lnTo>
                  <a:pt x="573610" y="620329"/>
                </a:lnTo>
                <a:lnTo>
                  <a:pt x="574041" y="619987"/>
                </a:lnTo>
                <a:lnTo>
                  <a:pt x="574271" y="620125"/>
                </a:lnTo>
                <a:lnTo>
                  <a:pt x="576249" y="619175"/>
                </a:lnTo>
                <a:lnTo>
                  <a:pt x="577344" y="618047"/>
                </a:lnTo>
                <a:lnTo>
                  <a:pt x="579045" y="618016"/>
                </a:lnTo>
                <a:lnTo>
                  <a:pt x="579411" y="617370"/>
                </a:lnTo>
                <a:lnTo>
                  <a:pt x="580723" y="616452"/>
                </a:lnTo>
                <a:lnTo>
                  <a:pt x="580641" y="615614"/>
                </a:lnTo>
                <a:lnTo>
                  <a:pt x="581061" y="614853"/>
                </a:lnTo>
                <a:lnTo>
                  <a:pt x="581443" y="615044"/>
                </a:lnTo>
                <a:lnTo>
                  <a:pt x="583281" y="615023"/>
                </a:lnTo>
                <a:lnTo>
                  <a:pt x="584715" y="614070"/>
                </a:lnTo>
                <a:lnTo>
                  <a:pt x="583611" y="613502"/>
                </a:lnTo>
                <a:lnTo>
                  <a:pt x="583314" y="613099"/>
                </a:lnTo>
                <a:lnTo>
                  <a:pt x="583380" y="611926"/>
                </a:lnTo>
                <a:lnTo>
                  <a:pt x="583812" y="610944"/>
                </a:lnTo>
                <a:lnTo>
                  <a:pt x="585065" y="609650"/>
                </a:lnTo>
                <a:lnTo>
                  <a:pt x="586651" y="608790"/>
                </a:lnTo>
                <a:lnTo>
                  <a:pt x="586844" y="608460"/>
                </a:lnTo>
                <a:lnTo>
                  <a:pt x="587572" y="608624"/>
                </a:lnTo>
                <a:lnTo>
                  <a:pt x="588076" y="607966"/>
                </a:lnTo>
                <a:lnTo>
                  <a:pt x="588449" y="608204"/>
                </a:lnTo>
                <a:lnTo>
                  <a:pt x="588772" y="608006"/>
                </a:lnTo>
                <a:lnTo>
                  <a:pt x="588817" y="607626"/>
                </a:lnTo>
                <a:lnTo>
                  <a:pt x="588388" y="607762"/>
                </a:lnTo>
                <a:lnTo>
                  <a:pt x="587698" y="607341"/>
                </a:lnTo>
                <a:lnTo>
                  <a:pt x="587508" y="606898"/>
                </a:lnTo>
                <a:lnTo>
                  <a:pt x="584646" y="606409"/>
                </a:lnTo>
                <a:lnTo>
                  <a:pt x="584226" y="605356"/>
                </a:lnTo>
                <a:lnTo>
                  <a:pt x="584223" y="603620"/>
                </a:lnTo>
                <a:lnTo>
                  <a:pt x="584917" y="601512"/>
                </a:lnTo>
                <a:lnTo>
                  <a:pt x="586162" y="599700"/>
                </a:lnTo>
                <a:lnTo>
                  <a:pt x="590034" y="596333"/>
                </a:lnTo>
                <a:lnTo>
                  <a:pt x="593441" y="594520"/>
                </a:lnTo>
                <a:lnTo>
                  <a:pt x="597107" y="593338"/>
                </a:lnTo>
                <a:lnTo>
                  <a:pt x="602107" y="592434"/>
                </a:lnTo>
                <a:lnTo>
                  <a:pt x="604380" y="592240"/>
                </a:lnTo>
                <a:lnTo>
                  <a:pt x="605679" y="592323"/>
                </a:lnTo>
                <a:lnTo>
                  <a:pt x="606529" y="592780"/>
                </a:lnTo>
                <a:lnTo>
                  <a:pt x="607771" y="592876"/>
                </a:lnTo>
                <a:lnTo>
                  <a:pt x="608600" y="591852"/>
                </a:lnTo>
                <a:lnTo>
                  <a:pt x="609093" y="592052"/>
                </a:lnTo>
                <a:lnTo>
                  <a:pt x="610823" y="591944"/>
                </a:lnTo>
                <a:lnTo>
                  <a:pt x="611192" y="591665"/>
                </a:lnTo>
                <a:lnTo>
                  <a:pt x="612983" y="591237"/>
                </a:lnTo>
                <a:lnTo>
                  <a:pt x="613408" y="590889"/>
                </a:lnTo>
                <a:lnTo>
                  <a:pt x="614276" y="590770"/>
                </a:lnTo>
                <a:lnTo>
                  <a:pt x="614560" y="590342"/>
                </a:lnTo>
                <a:lnTo>
                  <a:pt x="615094" y="590728"/>
                </a:lnTo>
                <a:lnTo>
                  <a:pt x="615365" y="590108"/>
                </a:lnTo>
                <a:lnTo>
                  <a:pt x="615528" y="590255"/>
                </a:lnTo>
                <a:lnTo>
                  <a:pt x="616057" y="589980"/>
                </a:lnTo>
                <a:lnTo>
                  <a:pt x="616242" y="589212"/>
                </a:lnTo>
                <a:lnTo>
                  <a:pt x="617029" y="589025"/>
                </a:lnTo>
                <a:lnTo>
                  <a:pt x="617256" y="589275"/>
                </a:lnTo>
                <a:lnTo>
                  <a:pt x="616887" y="588193"/>
                </a:lnTo>
                <a:lnTo>
                  <a:pt x="615859" y="587937"/>
                </a:lnTo>
                <a:lnTo>
                  <a:pt x="615425" y="587255"/>
                </a:lnTo>
                <a:lnTo>
                  <a:pt x="615681" y="587837"/>
                </a:lnTo>
                <a:lnTo>
                  <a:pt x="615559" y="588244"/>
                </a:lnTo>
                <a:lnTo>
                  <a:pt x="615513" y="587977"/>
                </a:lnTo>
                <a:lnTo>
                  <a:pt x="615330" y="588182"/>
                </a:lnTo>
                <a:lnTo>
                  <a:pt x="615030" y="587880"/>
                </a:lnTo>
                <a:lnTo>
                  <a:pt x="615204" y="587432"/>
                </a:lnTo>
                <a:lnTo>
                  <a:pt x="614519" y="587986"/>
                </a:lnTo>
                <a:lnTo>
                  <a:pt x="613978" y="587112"/>
                </a:lnTo>
                <a:lnTo>
                  <a:pt x="612936" y="586795"/>
                </a:lnTo>
                <a:lnTo>
                  <a:pt x="612625" y="586466"/>
                </a:lnTo>
                <a:lnTo>
                  <a:pt x="612252" y="586496"/>
                </a:lnTo>
                <a:lnTo>
                  <a:pt x="611995" y="586037"/>
                </a:lnTo>
                <a:lnTo>
                  <a:pt x="610759" y="585671"/>
                </a:lnTo>
                <a:lnTo>
                  <a:pt x="610544" y="584427"/>
                </a:lnTo>
                <a:lnTo>
                  <a:pt x="610683" y="581915"/>
                </a:lnTo>
                <a:lnTo>
                  <a:pt x="612177" y="578076"/>
                </a:lnTo>
                <a:lnTo>
                  <a:pt x="612870" y="576937"/>
                </a:lnTo>
                <a:lnTo>
                  <a:pt x="615739" y="573556"/>
                </a:lnTo>
                <a:lnTo>
                  <a:pt x="616812" y="572623"/>
                </a:lnTo>
                <a:lnTo>
                  <a:pt x="622220" y="569909"/>
                </a:lnTo>
                <a:lnTo>
                  <a:pt x="625916" y="568545"/>
                </a:lnTo>
                <a:lnTo>
                  <a:pt x="631672" y="567346"/>
                </a:lnTo>
                <a:lnTo>
                  <a:pt x="636929" y="567023"/>
                </a:lnTo>
                <a:lnTo>
                  <a:pt x="639775" y="567144"/>
                </a:lnTo>
                <a:lnTo>
                  <a:pt x="641543" y="567540"/>
                </a:lnTo>
                <a:lnTo>
                  <a:pt x="642886" y="567454"/>
                </a:lnTo>
                <a:lnTo>
                  <a:pt x="644236" y="568094"/>
                </a:lnTo>
                <a:lnTo>
                  <a:pt x="644933" y="568259"/>
                </a:lnTo>
                <a:lnTo>
                  <a:pt x="645406" y="568116"/>
                </a:lnTo>
                <a:lnTo>
                  <a:pt x="646430" y="568592"/>
                </a:lnTo>
                <a:lnTo>
                  <a:pt x="646835" y="568345"/>
                </a:lnTo>
                <a:lnTo>
                  <a:pt x="647032" y="568450"/>
                </a:lnTo>
                <a:lnTo>
                  <a:pt x="647241" y="567756"/>
                </a:lnTo>
                <a:lnTo>
                  <a:pt x="647854" y="567441"/>
                </a:lnTo>
                <a:lnTo>
                  <a:pt x="648169" y="567471"/>
                </a:lnTo>
                <a:lnTo>
                  <a:pt x="648358" y="567926"/>
                </a:lnTo>
                <a:lnTo>
                  <a:pt x="649366" y="567585"/>
                </a:lnTo>
                <a:lnTo>
                  <a:pt x="650055" y="567886"/>
                </a:lnTo>
                <a:lnTo>
                  <a:pt x="651726" y="567933"/>
                </a:lnTo>
                <a:lnTo>
                  <a:pt x="652316" y="568245"/>
                </a:lnTo>
                <a:lnTo>
                  <a:pt x="652796" y="567676"/>
                </a:lnTo>
                <a:lnTo>
                  <a:pt x="653410" y="568115"/>
                </a:lnTo>
                <a:lnTo>
                  <a:pt x="653664" y="567766"/>
                </a:lnTo>
                <a:lnTo>
                  <a:pt x="653561" y="567528"/>
                </a:lnTo>
                <a:lnTo>
                  <a:pt x="654543" y="568032"/>
                </a:lnTo>
                <a:lnTo>
                  <a:pt x="655275" y="567594"/>
                </a:lnTo>
                <a:lnTo>
                  <a:pt x="655507" y="567668"/>
                </a:lnTo>
                <a:lnTo>
                  <a:pt x="655669" y="567364"/>
                </a:lnTo>
                <a:lnTo>
                  <a:pt x="655884" y="567634"/>
                </a:lnTo>
                <a:lnTo>
                  <a:pt x="657118" y="566561"/>
                </a:lnTo>
                <a:lnTo>
                  <a:pt x="658016" y="566262"/>
                </a:lnTo>
                <a:lnTo>
                  <a:pt x="658447" y="566647"/>
                </a:lnTo>
                <a:lnTo>
                  <a:pt x="658888" y="566287"/>
                </a:lnTo>
                <a:lnTo>
                  <a:pt x="660323" y="566787"/>
                </a:lnTo>
                <a:lnTo>
                  <a:pt x="660934" y="565733"/>
                </a:lnTo>
                <a:lnTo>
                  <a:pt x="661906" y="565389"/>
                </a:lnTo>
                <a:lnTo>
                  <a:pt x="662211" y="564849"/>
                </a:lnTo>
                <a:lnTo>
                  <a:pt x="662176" y="564369"/>
                </a:lnTo>
                <a:lnTo>
                  <a:pt x="663480" y="564078"/>
                </a:lnTo>
                <a:lnTo>
                  <a:pt x="664009" y="562953"/>
                </a:lnTo>
                <a:lnTo>
                  <a:pt x="664745" y="562853"/>
                </a:lnTo>
                <a:lnTo>
                  <a:pt x="665227" y="562386"/>
                </a:lnTo>
                <a:lnTo>
                  <a:pt x="665701" y="562360"/>
                </a:lnTo>
                <a:lnTo>
                  <a:pt x="666005" y="561880"/>
                </a:lnTo>
                <a:lnTo>
                  <a:pt x="667772" y="561291"/>
                </a:lnTo>
                <a:lnTo>
                  <a:pt x="668111" y="560601"/>
                </a:lnTo>
                <a:lnTo>
                  <a:pt x="668846" y="559915"/>
                </a:lnTo>
                <a:lnTo>
                  <a:pt x="668753" y="559012"/>
                </a:lnTo>
                <a:lnTo>
                  <a:pt x="669289" y="559185"/>
                </a:lnTo>
                <a:lnTo>
                  <a:pt x="669852" y="558892"/>
                </a:lnTo>
                <a:lnTo>
                  <a:pt x="669963" y="557999"/>
                </a:lnTo>
                <a:lnTo>
                  <a:pt x="670381" y="558180"/>
                </a:lnTo>
                <a:lnTo>
                  <a:pt x="670857" y="557736"/>
                </a:lnTo>
                <a:lnTo>
                  <a:pt x="673089" y="557627"/>
                </a:lnTo>
                <a:lnTo>
                  <a:pt x="685186" y="559677"/>
                </a:lnTo>
                <a:lnTo>
                  <a:pt x="692464" y="561687"/>
                </a:lnTo>
                <a:lnTo>
                  <a:pt x="697763" y="563624"/>
                </a:lnTo>
                <a:lnTo>
                  <a:pt x="697970" y="564089"/>
                </a:lnTo>
                <a:lnTo>
                  <a:pt x="698221" y="563854"/>
                </a:lnTo>
                <a:lnTo>
                  <a:pt x="697930" y="563513"/>
                </a:lnTo>
                <a:lnTo>
                  <a:pt x="697955" y="563172"/>
                </a:lnTo>
                <a:lnTo>
                  <a:pt x="698402" y="562571"/>
                </a:lnTo>
                <a:lnTo>
                  <a:pt x="698964" y="562381"/>
                </a:lnTo>
                <a:lnTo>
                  <a:pt x="702141" y="563007"/>
                </a:lnTo>
                <a:lnTo>
                  <a:pt x="703464" y="563814"/>
                </a:lnTo>
                <a:lnTo>
                  <a:pt x="707852" y="565567"/>
                </a:lnTo>
                <a:lnTo>
                  <a:pt x="711536" y="566271"/>
                </a:lnTo>
                <a:lnTo>
                  <a:pt x="714231" y="567018"/>
                </a:lnTo>
                <a:lnTo>
                  <a:pt x="714309" y="567218"/>
                </a:lnTo>
                <a:lnTo>
                  <a:pt x="714737" y="567160"/>
                </a:lnTo>
                <a:lnTo>
                  <a:pt x="720443" y="569136"/>
                </a:lnTo>
                <a:lnTo>
                  <a:pt x="723365" y="570534"/>
                </a:lnTo>
                <a:lnTo>
                  <a:pt x="723940" y="571020"/>
                </a:lnTo>
                <a:lnTo>
                  <a:pt x="724262" y="571911"/>
                </a:lnTo>
                <a:lnTo>
                  <a:pt x="724534" y="571489"/>
                </a:lnTo>
                <a:lnTo>
                  <a:pt x="725624" y="571628"/>
                </a:lnTo>
                <a:lnTo>
                  <a:pt x="726159" y="572407"/>
                </a:lnTo>
                <a:lnTo>
                  <a:pt x="726599" y="572342"/>
                </a:lnTo>
                <a:lnTo>
                  <a:pt x="726921" y="572894"/>
                </a:lnTo>
                <a:lnTo>
                  <a:pt x="726273" y="571543"/>
                </a:lnTo>
                <a:lnTo>
                  <a:pt x="726763" y="570430"/>
                </a:lnTo>
                <a:lnTo>
                  <a:pt x="728167" y="569666"/>
                </a:lnTo>
                <a:lnTo>
                  <a:pt x="730744" y="569319"/>
                </a:lnTo>
                <a:lnTo>
                  <a:pt x="732096" y="569571"/>
                </a:lnTo>
                <a:lnTo>
                  <a:pt x="732226" y="569795"/>
                </a:lnTo>
                <a:lnTo>
                  <a:pt x="733862" y="569941"/>
                </a:lnTo>
                <a:lnTo>
                  <a:pt x="734261" y="570188"/>
                </a:lnTo>
                <a:lnTo>
                  <a:pt x="734125" y="570498"/>
                </a:lnTo>
                <a:lnTo>
                  <a:pt x="734346" y="570297"/>
                </a:lnTo>
                <a:lnTo>
                  <a:pt x="734563" y="570510"/>
                </a:lnTo>
                <a:lnTo>
                  <a:pt x="734711" y="570255"/>
                </a:lnTo>
                <a:lnTo>
                  <a:pt x="735138" y="570457"/>
                </a:lnTo>
                <a:lnTo>
                  <a:pt x="735307" y="571242"/>
                </a:lnTo>
                <a:lnTo>
                  <a:pt x="736138" y="571253"/>
                </a:lnTo>
                <a:lnTo>
                  <a:pt x="736220" y="571053"/>
                </a:lnTo>
                <a:lnTo>
                  <a:pt x="736369" y="571290"/>
                </a:lnTo>
                <a:lnTo>
                  <a:pt x="737075" y="571458"/>
                </a:lnTo>
                <a:lnTo>
                  <a:pt x="737262" y="571033"/>
                </a:lnTo>
                <a:lnTo>
                  <a:pt x="738177" y="570840"/>
                </a:lnTo>
                <a:lnTo>
                  <a:pt x="738327" y="571252"/>
                </a:lnTo>
                <a:lnTo>
                  <a:pt x="738659" y="570977"/>
                </a:lnTo>
                <a:lnTo>
                  <a:pt x="738976" y="571158"/>
                </a:lnTo>
                <a:lnTo>
                  <a:pt x="739118" y="570959"/>
                </a:lnTo>
                <a:lnTo>
                  <a:pt x="739649" y="570946"/>
                </a:lnTo>
                <a:lnTo>
                  <a:pt x="739849" y="571139"/>
                </a:lnTo>
                <a:lnTo>
                  <a:pt x="740042" y="570907"/>
                </a:lnTo>
                <a:lnTo>
                  <a:pt x="741204" y="571586"/>
                </a:lnTo>
                <a:lnTo>
                  <a:pt x="741202" y="571048"/>
                </a:lnTo>
                <a:lnTo>
                  <a:pt x="741690" y="571059"/>
                </a:lnTo>
                <a:lnTo>
                  <a:pt x="742433" y="570653"/>
                </a:lnTo>
                <a:lnTo>
                  <a:pt x="742769" y="570886"/>
                </a:lnTo>
                <a:lnTo>
                  <a:pt x="743111" y="570339"/>
                </a:lnTo>
                <a:lnTo>
                  <a:pt x="743462" y="570750"/>
                </a:lnTo>
                <a:lnTo>
                  <a:pt x="743692" y="570602"/>
                </a:lnTo>
                <a:lnTo>
                  <a:pt x="744316" y="570870"/>
                </a:lnTo>
                <a:lnTo>
                  <a:pt x="745064" y="570561"/>
                </a:lnTo>
                <a:lnTo>
                  <a:pt x="745462" y="570532"/>
                </a:lnTo>
                <a:lnTo>
                  <a:pt x="745749" y="570835"/>
                </a:lnTo>
                <a:lnTo>
                  <a:pt x="745902" y="570616"/>
                </a:lnTo>
                <a:lnTo>
                  <a:pt x="747099" y="570551"/>
                </a:lnTo>
                <a:lnTo>
                  <a:pt x="747310" y="570985"/>
                </a:lnTo>
                <a:lnTo>
                  <a:pt x="747544" y="570901"/>
                </a:lnTo>
                <a:lnTo>
                  <a:pt x="748108" y="571567"/>
                </a:lnTo>
                <a:lnTo>
                  <a:pt x="748324" y="571376"/>
                </a:lnTo>
                <a:lnTo>
                  <a:pt x="748417" y="571626"/>
                </a:lnTo>
                <a:lnTo>
                  <a:pt x="748572" y="571274"/>
                </a:lnTo>
                <a:lnTo>
                  <a:pt x="748946" y="571461"/>
                </a:lnTo>
                <a:lnTo>
                  <a:pt x="749318" y="571144"/>
                </a:lnTo>
                <a:lnTo>
                  <a:pt x="749778" y="571110"/>
                </a:lnTo>
                <a:lnTo>
                  <a:pt x="750073" y="571342"/>
                </a:lnTo>
                <a:lnTo>
                  <a:pt x="750617" y="571070"/>
                </a:lnTo>
                <a:lnTo>
                  <a:pt x="750844" y="571298"/>
                </a:lnTo>
                <a:lnTo>
                  <a:pt x="751054" y="571014"/>
                </a:lnTo>
                <a:lnTo>
                  <a:pt x="751598" y="570880"/>
                </a:lnTo>
                <a:lnTo>
                  <a:pt x="751662" y="571153"/>
                </a:lnTo>
                <a:lnTo>
                  <a:pt x="752021" y="570864"/>
                </a:lnTo>
                <a:lnTo>
                  <a:pt x="752263" y="571441"/>
                </a:lnTo>
                <a:lnTo>
                  <a:pt x="752784" y="571635"/>
                </a:lnTo>
                <a:lnTo>
                  <a:pt x="753039" y="571246"/>
                </a:lnTo>
                <a:lnTo>
                  <a:pt x="753412" y="571473"/>
                </a:lnTo>
                <a:lnTo>
                  <a:pt x="753721" y="571187"/>
                </a:lnTo>
                <a:lnTo>
                  <a:pt x="754623" y="571301"/>
                </a:lnTo>
                <a:lnTo>
                  <a:pt x="754941" y="571105"/>
                </a:lnTo>
                <a:lnTo>
                  <a:pt x="755323" y="571423"/>
                </a:lnTo>
                <a:lnTo>
                  <a:pt x="756340" y="571150"/>
                </a:lnTo>
                <a:lnTo>
                  <a:pt x="756526" y="571645"/>
                </a:lnTo>
                <a:lnTo>
                  <a:pt x="756849" y="571389"/>
                </a:lnTo>
                <a:lnTo>
                  <a:pt x="757162" y="571557"/>
                </a:lnTo>
                <a:lnTo>
                  <a:pt x="757651" y="571438"/>
                </a:lnTo>
                <a:lnTo>
                  <a:pt x="758450" y="572204"/>
                </a:lnTo>
                <a:lnTo>
                  <a:pt x="758720" y="571786"/>
                </a:lnTo>
                <a:lnTo>
                  <a:pt x="758988" y="571971"/>
                </a:lnTo>
                <a:lnTo>
                  <a:pt x="758946" y="571734"/>
                </a:lnTo>
                <a:lnTo>
                  <a:pt x="759379" y="571601"/>
                </a:lnTo>
                <a:lnTo>
                  <a:pt x="759491" y="571820"/>
                </a:lnTo>
                <a:lnTo>
                  <a:pt x="759788" y="571501"/>
                </a:lnTo>
                <a:lnTo>
                  <a:pt x="760414" y="571890"/>
                </a:lnTo>
                <a:lnTo>
                  <a:pt x="761223" y="571891"/>
                </a:lnTo>
                <a:lnTo>
                  <a:pt x="762315" y="572687"/>
                </a:lnTo>
                <a:lnTo>
                  <a:pt x="762608" y="572252"/>
                </a:lnTo>
                <a:lnTo>
                  <a:pt x="763097" y="572730"/>
                </a:lnTo>
                <a:lnTo>
                  <a:pt x="764184" y="572304"/>
                </a:lnTo>
                <a:lnTo>
                  <a:pt x="764326" y="572620"/>
                </a:lnTo>
                <a:lnTo>
                  <a:pt x="764643" y="572491"/>
                </a:lnTo>
                <a:lnTo>
                  <a:pt x="765173" y="572793"/>
                </a:lnTo>
                <a:lnTo>
                  <a:pt x="765041" y="573180"/>
                </a:lnTo>
                <a:lnTo>
                  <a:pt x="765497" y="572973"/>
                </a:lnTo>
                <a:lnTo>
                  <a:pt x="765559" y="573350"/>
                </a:lnTo>
                <a:lnTo>
                  <a:pt x="765936" y="573539"/>
                </a:lnTo>
                <a:lnTo>
                  <a:pt x="767075" y="573305"/>
                </a:lnTo>
                <a:lnTo>
                  <a:pt x="767201" y="573570"/>
                </a:lnTo>
                <a:lnTo>
                  <a:pt x="768072" y="573833"/>
                </a:lnTo>
                <a:lnTo>
                  <a:pt x="768859" y="573478"/>
                </a:lnTo>
                <a:lnTo>
                  <a:pt x="769025" y="573840"/>
                </a:lnTo>
                <a:lnTo>
                  <a:pt x="770596" y="573770"/>
                </a:lnTo>
                <a:lnTo>
                  <a:pt x="770817" y="574066"/>
                </a:lnTo>
                <a:lnTo>
                  <a:pt x="771831" y="574012"/>
                </a:lnTo>
                <a:lnTo>
                  <a:pt x="772820" y="573423"/>
                </a:lnTo>
                <a:lnTo>
                  <a:pt x="773799" y="573923"/>
                </a:lnTo>
                <a:lnTo>
                  <a:pt x="774825" y="573603"/>
                </a:lnTo>
                <a:lnTo>
                  <a:pt x="775404" y="573831"/>
                </a:lnTo>
                <a:lnTo>
                  <a:pt x="775940" y="573593"/>
                </a:lnTo>
                <a:lnTo>
                  <a:pt x="776088" y="573893"/>
                </a:lnTo>
                <a:lnTo>
                  <a:pt x="776684" y="573996"/>
                </a:lnTo>
                <a:lnTo>
                  <a:pt x="776737" y="574243"/>
                </a:lnTo>
                <a:lnTo>
                  <a:pt x="777410" y="574276"/>
                </a:lnTo>
                <a:lnTo>
                  <a:pt x="777723" y="574546"/>
                </a:lnTo>
                <a:lnTo>
                  <a:pt x="778605" y="574374"/>
                </a:lnTo>
                <a:lnTo>
                  <a:pt x="779354" y="573678"/>
                </a:lnTo>
                <a:lnTo>
                  <a:pt x="781039" y="573793"/>
                </a:lnTo>
                <a:lnTo>
                  <a:pt x="781686" y="574344"/>
                </a:lnTo>
                <a:lnTo>
                  <a:pt x="781771" y="574662"/>
                </a:lnTo>
                <a:lnTo>
                  <a:pt x="781423" y="574781"/>
                </a:lnTo>
                <a:lnTo>
                  <a:pt x="781515" y="574915"/>
                </a:lnTo>
                <a:lnTo>
                  <a:pt x="782082" y="574796"/>
                </a:lnTo>
                <a:lnTo>
                  <a:pt x="782074" y="574327"/>
                </a:lnTo>
                <a:lnTo>
                  <a:pt x="784256" y="575305"/>
                </a:lnTo>
                <a:lnTo>
                  <a:pt x="784363" y="575015"/>
                </a:lnTo>
                <a:lnTo>
                  <a:pt x="784957" y="574946"/>
                </a:lnTo>
                <a:lnTo>
                  <a:pt x="785003" y="574600"/>
                </a:lnTo>
                <a:lnTo>
                  <a:pt x="784379" y="574481"/>
                </a:lnTo>
                <a:lnTo>
                  <a:pt x="782955" y="573587"/>
                </a:lnTo>
                <a:lnTo>
                  <a:pt x="781011" y="573565"/>
                </a:lnTo>
                <a:lnTo>
                  <a:pt x="780030" y="573194"/>
                </a:lnTo>
                <a:lnTo>
                  <a:pt x="779480" y="571256"/>
                </a:lnTo>
                <a:lnTo>
                  <a:pt x="779473" y="570073"/>
                </a:lnTo>
                <a:lnTo>
                  <a:pt x="780136" y="568183"/>
                </a:lnTo>
                <a:lnTo>
                  <a:pt x="780739" y="567195"/>
                </a:lnTo>
                <a:lnTo>
                  <a:pt x="780364" y="567107"/>
                </a:lnTo>
                <a:lnTo>
                  <a:pt x="780363" y="566296"/>
                </a:lnTo>
                <a:lnTo>
                  <a:pt x="780760" y="566000"/>
                </a:lnTo>
                <a:lnTo>
                  <a:pt x="780415" y="566000"/>
                </a:lnTo>
                <a:lnTo>
                  <a:pt x="780300" y="565668"/>
                </a:lnTo>
                <a:lnTo>
                  <a:pt x="781176" y="563852"/>
                </a:lnTo>
                <a:lnTo>
                  <a:pt x="782793" y="562194"/>
                </a:lnTo>
                <a:lnTo>
                  <a:pt x="784905" y="560504"/>
                </a:lnTo>
                <a:lnTo>
                  <a:pt x="787428" y="559128"/>
                </a:lnTo>
                <a:lnTo>
                  <a:pt x="790262" y="558172"/>
                </a:lnTo>
                <a:lnTo>
                  <a:pt x="792458" y="557917"/>
                </a:lnTo>
                <a:lnTo>
                  <a:pt x="792688" y="557690"/>
                </a:lnTo>
                <a:lnTo>
                  <a:pt x="793583" y="557941"/>
                </a:lnTo>
                <a:lnTo>
                  <a:pt x="794520" y="557691"/>
                </a:lnTo>
                <a:lnTo>
                  <a:pt x="794817" y="557994"/>
                </a:lnTo>
                <a:lnTo>
                  <a:pt x="795111" y="557736"/>
                </a:lnTo>
                <a:lnTo>
                  <a:pt x="795555" y="557848"/>
                </a:lnTo>
                <a:lnTo>
                  <a:pt x="795762" y="558163"/>
                </a:lnTo>
                <a:lnTo>
                  <a:pt x="795723" y="557937"/>
                </a:lnTo>
                <a:lnTo>
                  <a:pt x="796250" y="557427"/>
                </a:lnTo>
                <a:lnTo>
                  <a:pt x="797767" y="557451"/>
                </a:lnTo>
                <a:lnTo>
                  <a:pt x="798283" y="557674"/>
                </a:lnTo>
                <a:lnTo>
                  <a:pt x="798375" y="557484"/>
                </a:lnTo>
                <a:lnTo>
                  <a:pt x="799226" y="557583"/>
                </a:lnTo>
                <a:lnTo>
                  <a:pt x="800455" y="557350"/>
                </a:lnTo>
                <a:lnTo>
                  <a:pt x="800790" y="557092"/>
                </a:lnTo>
                <a:lnTo>
                  <a:pt x="801115" y="556093"/>
                </a:lnTo>
                <a:lnTo>
                  <a:pt x="801525" y="555653"/>
                </a:lnTo>
                <a:lnTo>
                  <a:pt x="801978" y="555863"/>
                </a:lnTo>
                <a:lnTo>
                  <a:pt x="802923" y="555569"/>
                </a:lnTo>
                <a:lnTo>
                  <a:pt x="803218" y="554976"/>
                </a:lnTo>
                <a:lnTo>
                  <a:pt x="804241" y="554538"/>
                </a:lnTo>
                <a:lnTo>
                  <a:pt x="806741" y="554366"/>
                </a:lnTo>
                <a:lnTo>
                  <a:pt x="807186" y="554846"/>
                </a:lnTo>
                <a:lnTo>
                  <a:pt x="808964" y="554594"/>
                </a:lnTo>
                <a:lnTo>
                  <a:pt x="809969" y="554073"/>
                </a:lnTo>
                <a:lnTo>
                  <a:pt x="811479" y="554210"/>
                </a:lnTo>
                <a:lnTo>
                  <a:pt x="812371" y="553906"/>
                </a:lnTo>
                <a:lnTo>
                  <a:pt x="812566" y="554203"/>
                </a:lnTo>
                <a:lnTo>
                  <a:pt x="814152" y="554280"/>
                </a:lnTo>
                <a:lnTo>
                  <a:pt x="814873" y="554548"/>
                </a:lnTo>
                <a:lnTo>
                  <a:pt x="816022" y="554060"/>
                </a:lnTo>
                <a:lnTo>
                  <a:pt x="816405" y="554149"/>
                </a:lnTo>
                <a:lnTo>
                  <a:pt x="816464" y="553609"/>
                </a:lnTo>
                <a:lnTo>
                  <a:pt x="816183" y="553384"/>
                </a:lnTo>
                <a:lnTo>
                  <a:pt x="816459" y="552883"/>
                </a:lnTo>
                <a:lnTo>
                  <a:pt x="816049" y="551461"/>
                </a:lnTo>
                <a:lnTo>
                  <a:pt x="816245" y="551240"/>
                </a:lnTo>
                <a:lnTo>
                  <a:pt x="815570" y="550006"/>
                </a:lnTo>
                <a:lnTo>
                  <a:pt x="815141" y="550081"/>
                </a:lnTo>
                <a:lnTo>
                  <a:pt x="814719" y="549573"/>
                </a:lnTo>
                <a:lnTo>
                  <a:pt x="814782" y="547638"/>
                </a:lnTo>
                <a:lnTo>
                  <a:pt x="815241" y="547184"/>
                </a:lnTo>
                <a:lnTo>
                  <a:pt x="815029" y="546776"/>
                </a:lnTo>
                <a:lnTo>
                  <a:pt x="815522" y="546545"/>
                </a:lnTo>
                <a:lnTo>
                  <a:pt x="815428" y="546192"/>
                </a:lnTo>
                <a:lnTo>
                  <a:pt x="815870" y="546326"/>
                </a:lnTo>
                <a:lnTo>
                  <a:pt x="816072" y="546134"/>
                </a:lnTo>
                <a:lnTo>
                  <a:pt x="815964" y="545626"/>
                </a:lnTo>
                <a:lnTo>
                  <a:pt x="815430" y="545098"/>
                </a:lnTo>
                <a:lnTo>
                  <a:pt x="815866" y="544794"/>
                </a:lnTo>
                <a:lnTo>
                  <a:pt x="815803" y="544393"/>
                </a:lnTo>
                <a:lnTo>
                  <a:pt x="815073" y="543296"/>
                </a:lnTo>
                <a:lnTo>
                  <a:pt x="815405" y="542769"/>
                </a:lnTo>
                <a:lnTo>
                  <a:pt x="817082" y="542745"/>
                </a:lnTo>
                <a:lnTo>
                  <a:pt x="817685" y="542314"/>
                </a:lnTo>
                <a:lnTo>
                  <a:pt x="817796" y="541980"/>
                </a:lnTo>
                <a:lnTo>
                  <a:pt x="817443" y="541799"/>
                </a:lnTo>
                <a:lnTo>
                  <a:pt x="817694" y="541559"/>
                </a:lnTo>
                <a:lnTo>
                  <a:pt x="816724" y="541035"/>
                </a:lnTo>
                <a:lnTo>
                  <a:pt x="816663" y="540730"/>
                </a:lnTo>
                <a:lnTo>
                  <a:pt x="816433" y="540677"/>
                </a:lnTo>
                <a:lnTo>
                  <a:pt x="816594" y="540320"/>
                </a:lnTo>
                <a:lnTo>
                  <a:pt x="816406" y="540044"/>
                </a:lnTo>
                <a:lnTo>
                  <a:pt x="816977" y="540035"/>
                </a:lnTo>
                <a:lnTo>
                  <a:pt x="817546" y="539088"/>
                </a:lnTo>
                <a:lnTo>
                  <a:pt x="817828" y="539226"/>
                </a:lnTo>
                <a:lnTo>
                  <a:pt x="818991" y="538732"/>
                </a:lnTo>
                <a:lnTo>
                  <a:pt x="819336" y="538857"/>
                </a:lnTo>
                <a:lnTo>
                  <a:pt x="819576" y="538539"/>
                </a:lnTo>
                <a:lnTo>
                  <a:pt x="821192" y="538622"/>
                </a:lnTo>
                <a:lnTo>
                  <a:pt x="821879" y="537807"/>
                </a:lnTo>
                <a:lnTo>
                  <a:pt x="822703" y="536040"/>
                </a:lnTo>
                <a:lnTo>
                  <a:pt x="823555" y="535943"/>
                </a:lnTo>
                <a:lnTo>
                  <a:pt x="823916" y="535409"/>
                </a:lnTo>
                <a:lnTo>
                  <a:pt x="812732" y="532095"/>
                </a:lnTo>
                <a:lnTo>
                  <a:pt x="811083" y="530444"/>
                </a:lnTo>
                <a:lnTo>
                  <a:pt x="804873" y="529824"/>
                </a:lnTo>
                <a:lnTo>
                  <a:pt x="803784" y="524592"/>
                </a:lnTo>
                <a:lnTo>
                  <a:pt x="804231" y="524117"/>
                </a:lnTo>
                <a:lnTo>
                  <a:pt x="799034" y="522323"/>
                </a:lnTo>
                <a:lnTo>
                  <a:pt x="798915" y="522886"/>
                </a:lnTo>
                <a:lnTo>
                  <a:pt x="794889" y="523846"/>
                </a:lnTo>
                <a:lnTo>
                  <a:pt x="795045" y="526422"/>
                </a:lnTo>
                <a:lnTo>
                  <a:pt x="792216" y="526427"/>
                </a:lnTo>
                <a:lnTo>
                  <a:pt x="790349" y="525751"/>
                </a:lnTo>
                <a:lnTo>
                  <a:pt x="786779" y="525099"/>
                </a:lnTo>
                <a:lnTo>
                  <a:pt x="785332" y="524399"/>
                </a:lnTo>
                <a:lnTo>
                  <a:pt x="782373" y="524089"/>
                </a:lnTo>
                <a:lnTo>
                  <a:pt x="787064" y="519103"/>
                </a:lnTo>
                <a:lnTo>
                  <a:pt x="788356" y="511967"/>
                </a:lnTo>
                <a:lnTo>
                  <a:pt x="793130" y="511989"/>
                </a:lnTo>
                <a:lnTo>
                  <a:pt x="802001" y="509041"/>
                </a:lnTo>
                <a:lnTo>
                  <a:pt x="802044" y="506384"/>
                </a:lnTo>
                <a:lnTo>
                  <a:pt x="803906" y="504762"/>
                </a:lnTo>
                <a:lnTo>
                  <a:pt x="804025" y="501319"/>
                </a:lnTo>
                <a:lnTo>
                  <a:pt x="808001" y="504714"/>
                </a:lnTo>
                <a:lnTo>
                  <a:pt x="813781" y="504145"/>
                </a:lnTo>
                <a:lnTo>
                  <a:pt x="819401" y="504648"/>
                </a:lnTo>
                <a:lnTo>
                  <a:pt x="819990" y="497143"/>
                </a:lnTo>
                <a:lnTo>
                  <a:pt x="812538" y="491639"/>
                </a:lnTo>
                <a:lnTo>
                  <a:pt x="812105" y="488120"/>
                </a:lnTo>
                <a:lnTo>
                  <a:pt x="809329" y="488602"/>
                </a:lnTo>
                <a:lnTo>
                  <a:pt x="809832" y="481365"/>
                </a:lnTo>
                <a:lnTo>
                  <a:pt x="810631" y="477481"/>
                </a:lnTo>
                <a:lnTo>
                  <a:pt x="810338" y="476365"/>
                </a:lnTo>
                <a:lnTo>
                  <a:pt x="806902" y="474654"/>
                </a:lnTo>
                <a:lnTo>
                  <a:pt x="806957" y="474493"/>
                </a:lnTo>
                <a:lnTo>
                  <a:pt x="798177" y="471000"/>
                </a:lnTo>
                <a:lnTo>
                  <a:pt x="795655" y="467909"/>
                </a:lnTo>
                <a:lnTo>
                  <a:pt x="791872" y="468680"/>
                </a:lnTo>
                <a:lnTo>
                  <a:pt x="785871" y="467717"/>
                </a:lnTo>
                <a:lnTo>
                  <a:pt x="781835" y="468334"/>
                </a:lnTo>
                <a:lnTo>
                  <a:pt x="779186" y="468301"/>
                </a:lnTo>
                <a:lnTo>
                  <a:pt x="776627" y="467635"/>
                </a:lnTo>
                <a:lnTo>
                  <a:pt x="777889" y="470936"/>
                </a:lnTo>
                <a:lnTo>
                  <a:pt x="771610" y="462090"/>
                </a:lnTo>
                <a:lnTo>
                  <a:pt x="768765" y="459236"/>
                </a:lnTo>
                <a:lnTo>
                  <a:pt x="754998" y="458922"/>
                </a:lnTo>
                <a:lnTo>
                  <a:pt x="746807" y="459216"/>
                </a:lnTo>
                <a:lnTo>
                  <a:pt x="743861" y="461357"/>
                </a:lnTo>
                <a:lnTo>
                  <a:pt x="737576" y="461315"/>
                </a:lnTo>
                <a:lnTo>
                  <a:pt x="719817" y="466106"/>
                </a:lnTo>
                <a:lnTo>
                  <a:pt x="705668" y="464620"/>
                </a:lnTo>
                <a:lnTo>
                  <a:pt x="698122" y="464801"/>
                </a:lnTo>
                <a:lnTo>
                  <a:pt x="699476" y="464111"/>
                </a:lnTo>
                <a:lnTo>
                  <a:pt x="692844" y="460843"/>
                </a:lnTo>
                <a:lnTo>
                  <a:pt x="693189" y="449461"/>
                </a:lnTo>
                <a:lnTo>
                  <a:pt x="697811" y="449779"/>
                </a:lnTo>
                <a:lnTo>
                  <a:pt x="697853" y="447009"/>
                </a:lnTo>
                <a:lnTo>
                  <a:pt x="700061" y="446711"/>
                </a:lnTo>
                <a:lnTo>
                  <a:pt x="706675" y="432645"/>
                </a:lnTo>
                <a:lnTo>
                  <a:pt x="711631" y="427249"/>
                </a:lnTo>
                <a:lnTo>
                  <a:pt x="713600" y="419949"/>
                </a:lnTo>
                <a:lnTo>
                  <a:pt x="722044" y="408864"/>
                </a:lnTo>
                <a:lnTo>
                  <a:pt x="722346" y="404348"/>
                </a:lnTo>
                <a:lnTo>
                  <a:pt x="719083" y="400615"/>
                </a:lnTo>
                <a:lnTo>
                  <a:pt x="719222" y="399228"/>
                </a:lnTo>
                <a:lnTo>
                  <a:pt x="723815" y="396026"/>
                </a:lnTo>
                <a:lnTo>
                  <a:pt x="720964" y="389086"/>
                </a:lnTo>
                <a:lnTo>
                  <a:pt x="728353" y="380703"/>
                </a:lnTo>
                <a:lnTo>
                  <a:pt x="728828" y="376606"/>
                </a:lnTo>
                <a:lnTo>
                  <a:pt x="741148" y="376649"/>
                </a:lnTo>
                <a:lnTo>
                  <a:pt x="743632" y="374107"/>
                </a:lnTo>
                <a:lnTo>
                  <a:pt x="739868" y="364678"/>
                </a:lnTo>
                <a:lnTo>
                  <a:pt x="747996" y="359407"/>
                </a:lnTo>
                <a:lnTo>
                  <a:pt x="753190" y="359482"/>
                </a:lnTo>
                <a:lnTo>
                  <a:pt x="755067" y="362351"/>
                </a:lnTo>
                <a:lnTo>
                  <a:pt x="761784" y="362827"/>
                </a:lnTo>
                <a:lnTo>
                  <a:pt x="769261" y="366145"/>
                </a:lnTo>
                <a:lnTo>
                  <a:pt x="779273" y="368585"/>
                </a:lnTo>
                <a:lnTo>
                  <a:pt x="781820" y="358680"/>
                </a:lnTo>
                <a:lnTo>
                  <a:pt x="775537" y="358762"/>
                </a:lnTo>
                <a:lnTo>
                  <a:pt x="775764" y="353239"/>
                </a:lnTo>
                <a:lnTo>
                  <a:pt x="772927" y="349102"/>
                </a:lnTo>
                <a:lnTo>
                  <a:pt x="764268" y="343987"/>
                </a:lnTo>
                <a:lnTo>
                  <a:pt x="768575" y="340796"/>
                </a:lnTo>
                <a:lnTo>
                  <a:pt x="769350" y="334334"/>
                </a:lnTo>
                <a:lnTo>
                  <a:pt x="766677" y="324638"/>
                </a:lnTo>
                <a:lnTo>
                  <a:pt x="760672" y="318568"/>
                </a:lnTo>
                <a:lnTo>
                  <a:pt x="761039" y="310866"/>
                </a:lnTo>
                <a:lnTo>
                  <a:pt x="757451" y="304411"/>
                </a:lnTo>
                <a:lnTo>
                  <a:pt x="764332" y="300449"/>
                </a:lnTo>
                <a:lnTo>
                  <a:pt x="766396" y="301001"/>
                </a:lnTo>
                <a:lnTo>
                  <a:pt x="769138" y="299658"/>
                </a:lnTo>
                <a:lnTo>
                  <a:pt x="772611" y="292440"/>
                </a:lnTo>
                <a:lnTo>
                  <a:pt x="774841" y="294561"/>
                </a:lnTo>
                <a:lnTo>
                  <a:pt x="783149" y="298504"/>
                </a:lnTo>
                <a:lnTo>
                  <a:pt x="785145" y="293195"/>
                </a:lnTo>
                <a:lnTo>
                  <a:pt x="788444" y="287879"/>
                </a:lnTo>
                <a:lnTo>
                  <a:pt x="798659" y="288719"/>
                </a:lnTo>
                <a:lnTo>
                  <a:pt x="803023" y="289766"/>
                </a:lnTo>
                <a:lnTo>
                  <a:pt x="807995" y="290616"/>
                </a:lnTo>
                <a:lnTo>
                  <a:pt x="818034" y="291141"/>
                </a:lnTo>
                <a:lnTo>
                  <a:pt x="819835" y="288705"/>
                </a:lnTo>
                <a:lnTo>
                  <a:pt x="816890" y="284659"/>
                </a:lnTo>
                <a:lnTo>
                  <a:pt x="815784" y="283718"/>
                </a:lnTo>
                <a:lnTo>
                  <a:pt x="818708" y="274008"/>
                </a:lnTo>
                <a:lnTo>
                  <a:pt x="821714" y="273323"/>
                </a:lnTo>
                <a:lnTo>
                  <a:pt x="823866" y="271017"/>
                </a:lnTo>
                <a:lnTo>
                  <a:pt x="826315" y="269291"/>
                </a:lnTo>
                <a:lnTo>
                  <a:pt x="829188" y="268035"/>
                </a:lnTo>
                <a:lnTo>
                  <a:pt x="831806" y="264501"/>
                </a:lnTo>
                <a:lnTo>
                  <a:pt x="836143" y="266960"/>
                </a:lnTo>
                <a:lnTo>
                  <a:pt x="843447" y="274739"/>
                </a:lnTo>
                <a:lnTo>
                  <a:pt x="845279" y="275778"/>
                </a:lnTo>
                <a:lnTo>
                  <a:pt x="849094" y="276731"/>
                </a:lnTo>
                <a:lnTo>
                  <a:pt x="853015" y="273267"/>
                </a:lnTo>
                <a:lnTo>
                  <a:pt x="854987" y="273026"/>
                </a:lnTo>
                <a:lnTo>
                  <a:pt x="857402" y="270539"/>
                </a:lnTo>
                <a:lnTo>
                  <a:pt x="858518" y="268939"/>
                </a:lnTo>
                <a:lnTo>
                  <a:pt x="861744" y="267633"/>
                </a:lnTo>
                <a:lnTo>
                  <a:pt x="861711" y="267308"/>
                </a:lnTo>
                <a:lnTo>
                  <a:pt x="861899" y="267541"/>
                </a:lnTo>
                <a:lnTo>
                  <a:pt x="868024" y="266842"/>
                </a:lnTo>
                <a:lnTo>
                  <a:pt x="869877" y="264981"/>
                </a:lnTo>
                <a:lnTo>
                  <a:pt x="869053" y="261159"/>
                </a:lnTo>
                <a:lnTo>
                  <a:pt x="873327" y="261478"/>
                </a:lnTo>
                <a:lnTo>
                  <a:pt x="875929" y="262079"/>
                </a:lnTo>
                <a:lnTo>
                  <a:pt x="877564" y="262108"/>
                </a:lnTo>
                <a:lnTo>
                  <a:pt x="879321" y="260008"/>
                </a:lnTo>
                <a:lnTo>
                  <a:pt x="877855" y="259669"/>
                </a:lnTo>
                <a:lnTo>
                  <a:pt x="879959" y="257483"/>
                </a:lnTo>
                <a:lnTo>
                  <a:pt x="881713" y="256961"/>
                </a:lnTo>
                <a:lnTo>
                  <a:pt x="882424" y="255543"/>
                </a:lnTo>
                <a:lnTo>
                  <a:pt x="882416" y="251479"/>
                </a:lnTo>
                <a:lnTo>
                  <a:pt x="878885" y="249294"/>
                </a:lnTo>
                <a:lnTo>
                  <a:pt x="877263" y="253550"/>
                </a:lnTo>
                <a:lnTo>
                  <a:pt x="877267" y="249434"/>
                </a:lnTo>
                <a:lnTo>
                  <a:pt x="877951" y="246978"/>
                </a:lnTo>
                <a:lnTo>
                  <a:pt x="878168" y="246616"/>
                </a:lnTo>
                <a:lnTo>
                  <a:pt x="879283" y="247001"/>
                </a:lnTo>
                <a:lnTo>
                  <a:pt x="879187" y="245652"/>
                </a:lnTo>
                <a:lnTo>
                  <a:pt x="880757" y="244736"/>
                </a:lnTo>
                <a:lnTo>
                  <a:pt x="882337" y="245424"/>
                </a:lnTo>
                <a:lnTo>
                  <a:pt x="883198" y="244004"/>
                </a:lnTo>
                <a:lnTo>
                  <a:pt x="881490" y="242376"/>
                </a:lnTo>
                <a:lnTo>
                  <a:pt x="883179" y="237629"/>
                </a:lnTo>
                <a:lnTo>
                  <a:pt x="887790" y="238958"/>
                </a:lnTo>
                <a:lnTo>
                  <a:pt x="887843" y="237771"/>
                </a:lnTo>
                <a:lnTo>
                  <a:pt x="889841" y="237725"/>
                </a:lnTo>
                <a:lnTo>
                  <a:pt x="889622" y="237070"/>
                </a:lnTo>
                <a:lnTo>
                  <a:pt x="890438" y="236532"/>
                </a:lnTo>
                <a:lnTo>
                  <a:pt x="888970" y="235101"/>
                </a:lnTo>
                <a:lnTo>
                  <a:pt x="894390" y="228630"/>
                </a:lnTo>
                <a:lnTo>
                  <a:pt x="892062" y="226383"/>
                </a:lnTo>
                <a:lnTo>
                  <a:pt x="891290" y="226524"/>
                </a:lnTo>
                <a:lnTo>
                  <a:pt x="889675" y="225084"/>
                </a:lnTo>
                <a:lnTo>
                  <a:pt x="890104" y="223981"/>
                </a:lnTo>
                <a:lnTo>
                  <a:pt x="890936" y="223455"/>
                </a:lnTo>
                <a:lnTo>
                  <a:pt x="886407" y="220059"/>
                </a:lnTo>
                <a:lnTo>
                  <a:pt x="883991" y="219162"/>
                </a:lnTo>
                <a:lnTo>
                  <a:pt x="884017" y="220101"/>
                </a:lnTo>
                <a:lnTo>
                  <a:pt x="882895" y="220542"/>
                </a:lnTo>
                <a:lnTo>
                  <a:pt x="878323" y="220764"/>
                </a:lnTo>
                <a:lnTo>
                  <a:pt x="878239" y="217542"/>
                </a:lnTo>
                <a:lnTo>
                  <a:pt x="878727" y="217435"/>
                </a:lnTo>
                <a:lnTo>
                  <a:pt x="880838" y="211171"/>
                </a:lnTo>
                <a:lnTo>
                  <a:pt x="884922" y="212420"/>
                </a:lnTo>
                <a:lnTo>
                  <a:pt x="885137" y="207206"/>
                </a:lnTo>
                <a:lnTo>
                  <a:pt x="885816" y="207313"/>
                </a:lnTo>
                <a:lnTo>
                  <a:pt x="888565" y="206714"/>
                </a:lnTo>
                <a:lnTo>
                  <a:pt x="889110" y="205732"/>
                </a:lnTo>
                <a:lnTo>
                  <a:pt x="885074" y="203320"/>
                </a:lnTo>
                <a:lnTo>
                  <a:pt x="884818" y="201760"/>
                </a:lnTo>
                <a:close/>
              </a:path>
            </a:pathLst>
          </a:custGeom>
          <a:solidFill>
            <a:srgbClr val="809CC7"/>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165975" y="3914885"/>
            <a:ext cx="1572768" cy="393192"/>
          </a:xfrm>
          <a:prstGeom prst="rect">
            <a:avLst/>
          </a:prstGeom>
          <a:solidFill>
            <a:srgbClr val="FFFFFF"/>
          </a:solidFill>
        </p:spPr>
        <p:txBody>
          <a:bodyPr wrap="square" lIns="22860" rIns="22860" tIns="0" bIns="0">
            <a:spAutoFit/>
          </a:bodyPr>
          <a:lstStyle/>
          <a:p>
            <a:pPr>
              <a:spcAft>
                <a:spcPts val="300"/>
              </a:spcAft>
              <a:defRPr sz="900" b="1">
                <a:solidFill>
                  <a:srgbClr val="0A2373"/>
                </a:solidFill>
                <a:latin typeface="Lato"/>
              </a:defRPr>
            </a:pPr>
            <a:r>
              <a:t>Galp / IPG GIMTL</a:t>
            </a:r>
          </a:p>
          <a:p>
            <a:pPr>
              <a:spcAft>
                <a:spcPts val="300"/>
              </a:spcAft>
              <a:defRPr sz="900" b="1">
                <a:solidFill>
                  <a:srgbClr val="0A2373"/>
                </a:solidFill>
                <a:latin typeface="Lato"/>
              </a:defRPr>
            </a:pPr>
            <a:r>
              <a:t>60k m³ petrol/diesel</a:t>
            </a:r>
          </a:p>
        </p:txBody>
      </p:sp>
      <p:sp>
        <p:nvSpPr>
          <p:cNvPr id="31" name="TextBox 30"/>
          <p:cNvSpPr txBox="1"/>
          <p:nvPr/>
        </p:nvSpPr>
        <p:spPr>
          <a:xfrm>
            <a:off x="970265" y="3569455"/>
            <a:ext cx="1572768" cy="393192"/>
          </a:xfrm>
          <a:prstGeom prst="rect">
            <a:avLst/>
          </a:prstGeom>
          <a:solidFill>
            <a:srgbClr val="FFFFFF"/>
          </a:solidFill>
        </p:spPr>
        <p:txBody>
          <a:bodyPr wrap="square" lIns="22860" rIns="22860" tIns="0" bIns="0">
            <a:spAutoFit/>
          </a:bodyPr>
          <a:lstStyle/>
          <a:p>
            <a:pPr>
              <a:spcAft>
                <a:spcPts val="300"/>
              </a:spcAft>
              <a:defRPr sz="900" b="1">
                <a:solidFill>
                  <a:srgbClr val="0A2373"/>
                </a:solidFill>
                <a:latin typeface="Lato"/>
              </a:defRPr>
            </a:pPr>
            <a:r>
              <a:t>NAMCOR NOSF</a:t>
            </a:r>
          </a:p>
          <a:p>
            <a:pPr>
              <a:spcAft>
                <a:spcPts val="300"/>
              </a:spcAft>
              <a:defRPr sz="900" b="1">
                <a:solidFill>
                  <a:srgbClr val="0A2373"/>
                </a:solidFill>
                <a:latin typeface="Lato"/>
              </a:defRPr>
            </a:pPr>
            <a:r>
              <a:t>65k m³ petrol/diesel</a:t>
            </a:r>
          </a:p>
        </p:txBody>
      </p:sp>
      <p:sp>
        <p:nvSpPr>
          <p:cNvPr id="32" name="TextBox 31"/>
          <p:cNvSpPr txBox="1"/>
          <p:nvPr/>
        </p:nvSpPr>
        <p:spPr>
          <a:xfrm>
            <a:off x="457200" y="2039112"/>
            <a:ext cx="6446520" cy="164592"/>
          </a:xfrm>
          <a:prstGeom prst="rect">
            <a:avLst/>
          </a:prstGeom>
          <a:noFill/>
        </p:spPr>
        <p:txBody>
          <a:bodyPr wrap="square" lIns="22860" rIns="22860" tIns="0" bIns="0">
            <a:spAutoFit/>
          </a:bodyPr>
          <a:lstStyle/>
          <a:p>
            <a:pPr>
              <a:spcAft>
                <a:spcPts val="300"/>
              </a:spcAft>
              <a:defRPr sz="900" b="1">
                <a:solidFill>
                  <a:srgbClr val="0A2373"/>
                </a:solidFill>
                <a:latin typeface="Lato"/>
              </a:defRPr>
            </a:pPr>
            <a:r>
              <a:t>Shading: provincial petrol + diesel sales, 2022 (bn litres/year)</a:t>
            </a:r>
          </a:p>
        </p:txBody>
      </p:sp>
      <p:sp>
        <p:nvSpPr>
          <p:cNvPr id="33" name="TextBox 32"/>
          <p:cNvSpPr txBox="1"/>
          <p:nvPr/>
        </p:nvSpPr>
        <p:spPr>
          <a:xfrm>
            <a:off x="2248406" y="2640223"/>
            <a:ext cx="1325880" cy="228600"/>
          </a:xfrm>
          <a:prstGeom prst="rect">
            <a:avLst/>
          </a:prstGeom>
          <a:noFill/>
        </p:spPr>
        <p:txBody>
          <a:bodyPr wrap="square" lIns="22860" rIns="22860" tIns="0" bIns="0">
            <a:spAutoFit/>
          </a:bodyPr>
          <a:lstStyle/>
          <a:p>
            <a:pPr>
              <a:spcAft>
                <a:spcPts val="300"/>
              </a:spcAft>
              <a:defRPr sz="900" b="1">
                <a:solidFill>
                  <a:srgbClr val="000000"/>
                </a:solidFill>
                <a:latin typeface="Lato"/>
              </a:defRPr>
            </a:pPr>
            <a:r>
              <a:t>NAMIBIA</a:t>
            </a:r>
          </a:p>
        </p:txBody>
      </p:sp>
      <p:sp>
        <p:nvSpPr>
          <p:cNvPr id="34" name="TextBox 33"/>
          <p:cNvSpPr txBox="1"/>
          <p:nvPr/>
        </p:nvSpPr>
        <p:spPr>
          <a:xfrm>
            <a:off x="3253837" y="2660825"/>
            <a:ext cx="1325880" cy="228600"/>
          </a:xfrm>
          <a:prstGeom prst="rect">
            <a:avLst/>
          </a:prstGeom>
          <a:noFill/>
        </p:spPr>
        <p:txBody>
          <a:bodyPr wrap="square" lIns="22860" rIns="22860" tIns="0" bIns="0">
            <a:spAutoFit/>
          </a:bodyPr>
          <a:lstStyle/>
          <a:p>
            <a:pPr>
              <a:spcAft>
                <a:spcPts val="300"/>
              </a:spcAft>
              <a:defRPr sz="900" b="1">
                <a:solidFill>
                  <a:srgbClr val="000000"/>
                </a:solidFill>
                <a:latin typeface="Lato"/>
              </a:defRPr>
            </a:pPr>
            <a:r>
              <a:t>BOTSWANA</a:t>
            </a:r>
          </a:p>
        </p:txBody>
      </p:sp>
      <p:sp>
        <p:nvSpPr>
          <p:cNvPr id="35" name="TextBox 34"/>
          <p:cNvSpPr txBox="1"/>
          <p:nvPr/>
        </p:nvSpPr>
        <p:spPr>
          <a:xfrm>
            <a:off x="3342719" y="4267890"/>
            <a:ext cx="1325880" cy="228600"/>
          </a:xfrm>
          <a:prstGeom prst="rect">
            <a:avLst/>
          </a:prstGeom>
          <a:noFill/>
        </p:spPr>
        <p:txBody>
          <a:bodyPr wrap="square" lIns="22860" rIns="22860" tIns="0" bIns="0">
            <a:spAutoFit/>
          </a:bodyPr>
          <a:lstStyle/>
          <a:p>
            <a:pPr>
              <a:spcAft>
                <a:spcPts val="300"/>
              </a:spcAft>
              <a:defRPr sz="900" b="1">
                <a:solidFill>
                  <a:srgbClr val="000000"/>
                </a:solidFill>
                <a:latin typeface="Lato"/>
              </a:defRPr>
            </a:pPr>
            <a:r>
              <a:t>SOUTH AFRICA</a:t>
            </a:r>
          </a:p>
        </p:txBody>
      </p:sp>
      <p:sp>
        <p:nvSpPr>
          <p:cNvPr id="36" name="TextBox 35"/>
          <p:cNvSpPr txBox="1"/>
          <p:nvPr/>
        </p:nvSpPr>
        <p:spPr>
          <a:xfrm>
            <a:off x="4591126" y="2700516"/>
            <a:ext cx="1325880" cy="228600"/>
          </a:xfrm>
          <a:prstGeom prst="rect">
            <a:avLst/>
          </a:prstGeom>
          <a:noFill/>
        </p:spPr>
        <p:txBody>
          <a:bodyPr wrap="square" lIns="22860" rIns="22860" tIns="0" bIns="0">
            <a:spAutoFit/>
          </a:bodyPr>
          <a:lstStyle/>
          <a:p>
            <a:pPr>
              <a:spcAft>
                <a:spcPts val="300"/>
              </a:spcAft>
              <a:defRPr sz="900" b="1">
                <a:solidFill>
                  <a:srgbClr val="000000"/>
                </a:solidFill>
                <a:latin typeface="Lato"/>
              </a:defRPr>
            </a:pPr>
            <a:r>
              <a:t>MOZAMBIQUE</a:t>
            </a:r>
          </a:p>
        </p:txBody>
      </p:sp>
      <p:cxnSp>
        <p:nvCxnSpPr>
          <p:cNvPr id="37" name="Connector 36"/>
          <p:cNvCxnSpPr/>
          <p:nvPr/>
        </p:nvCxnSpPr>
        <p:spPr>
          <a:xfrm flipV="1">
            <a:off x="2268713" y="3100387"/>
            <a:ext cx="379034" cy="85020"/>
          </a:xfrm>
          <a:prstGeom prst="line">
            <a:avLst/>
          </a:prstGeom>
          <a:ln w="2032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V="1">
            <a:off x="2647747" y="3068316"/>
            <a:ext cx="281049" cy="32071"/>
          </a:xfrm>
          <a:prstGeom prst="line">
            <a:avLst/>
          </a:prstGeom>
          <a:ln w="2032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V="1">
            <a:off x="2928796" y="2936674"/>
            <a:ext cx="398400" cy="131642"/>
          </a:xfrm>
          <a:prstGeom prst="line">
            <a:avLst/>
          </a:prstGeom>
          <a:ln w="2032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3327196" y="2936674"/>
            <a:ext cx="347373" cy="430636"/>
          </a:xfrm>
          <a:prstGeom prst="line">
            <a:avLst/>
          </a:prstGeom>
          <a:ln w="2032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3674569" y="3367310"/>
            <a:ext cx="286567" cy="42254"/>
          </a:xfrm>
          <a:prstGeom prst="line">
            <a:avLst/>
          </a:prstGeom>
          <a:ln w="2032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H="1">
            <a:off x="3929051" y="3409564"/>
            <a:ext cx="32085" cy="96026"/>
          </a:xfrm>
          <a:prstGeom prst="line">
            <a:avLst/>
          </a:prstGeom>
          <a:ln w="2032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3929051" y="3505590"/>
            <a:ext cx="223461" cy="71847"/>
          </a:xfrm>
          <a:prstGeom prst="line">
            <a:avLst/>
          </a:prstGeom>
          <a:ln w="2032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4152512" y="3577437"/>
            <a:ext cx="113838" cy="88530"/>
          </a:xfrm>
          <a:prstGeom prst="line">
            <a:avLst/>
          </a:prstGeom>
          <a:ln w="2032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H="1" flipV="1">
            <a:off x="4839746" y="3570387"/>
            <a:ext cx="70197" cy="88466"/>
          </a:xfrm>
          <a:prstGeom prst="line">
            <a:avLst/>
          </a:prstGeom>
          <a:ln w="2032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H="1" flipV="1">
            <a:off x="4699795" y="3567064"/>
            <a:ext cx="139951" cy="3323"/>
          </a:xfrm>
          <a:prstGeom prst="line">
            <a:avLst/>
          </a:prstGeom>
          <a:ln w="2032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H="1">
            <a:off x="4442350" y="3567064"/>
            <a:ext cx="257445" cy="52162"/>
          </a:xfrm>
          <a:prstGeom prst="line">
            <a:avLst/>
          </a:prstGeom>
          <a:ln w="2032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H="1">
            <a:off x="4266350" y="3619226"/>
            <a:ext cx="176000" cy="46741"/>
          </a:xfrm>
          <a:prstGeom prst="line">
            <a:avLst/>
          </a:prstGeom>
          <a:ln w="2032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H="1" flipV="1">
            <a:off x="4467547" y="4221305"/>
            <a:ext cx="197928" cy="55261"/>
          </a:xfrm>
          <a:prstGeom prst="line">
            <a:avLst/>
          </a:prstGeom>
          <a:ln w="2032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V="1">
            <a:off x="4467547" y="4052060"/>
            <a:ext cx="34894" cy="169245"/>
          </a:xfrm>
          <a:prstGeom prst="line">
            <a:avLst/>
          </a:prstGeom>
          <a:ln w="2032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H="1" flipV="1">
            <a:off x="4389351" y="4003686"/>
            <a:ext cx="113090" cy="48374"/>
          </a:xfrm>
          <a:prstGeom prst="line">
            <a:avLst/>
          </a:prstGeom>
          <a:ln w="2032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H="1" flipV="1">
            <a:off x="4315753" y="3706237"/>
            <a:ext cx="73598" cy="297449"/>
          </a:xfrm>
          <a:prstGeom prst="line">
            <a:avLst/>
          </a:prstGeom>
          <a:ln w="2032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H="1" flipV="1">
            <a:off x="4266350" y="3665967"/>
            <a:ext cx="49403" cy="40270"/>
          </a:xfrm>
          <a:prstGeom prst="line">
            <a:avLst/>
          </a:prstGeom>
          <a:ln w="2032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H="1" flipV="1">
            <a:off x="4510851" y="4199138"/>
            <a:ext cx="154624" cy="77428"/>
          </a:xfrm>
          <a:prstGeom prst="line">
            <a:avLst/>
          </a:prstGeom>
          <a:ln w="12700">
            <a:solidFill>
              <a:srgbClr val="0A2373"/>
            </a:solidFill>
            <a:prstDash val="dash"/>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H="1" flipV="1">
            <a:off x="4504166" y="4045693"/>
            <a:ext cx="6685" cy="153445"/>
          </a:xfrm>
          <a:prstGeom prst="line">
            <a:avLst/>
          </a:prstGeom>
          <a:ln w="12700">
            <a:solidFill>
              <a:srgbClr val="0A2373"/>
            </a:solidFill>
            <a:prstDash val="dash"/>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H="1" flipV="1">
            <a:off x="4356051" y="3830059"/>
            <a:ext cx="148115" cy="215634"/>
          </a:xfrm>
          <a:prstGeom prst="line">
            <a:avLst/>
          </a:prstGeom>
          <a:ln w="12700">
            <a:solidFill>
              <a:srgbClr val="0A2373"/>
            </a:solidFill>
            <a:prstDash val="dash"/>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H="1" flipV="1">
            <a:off x="4315753" y="3706237"/>
            <a:ext cx="40298" cy="123822"/>
          </a:xfrm>
          <a:prstGeom prst="line">
            <a:avLst/>
          </a:prstGeom>
          <a:ln w="12700">
            <a:solidFill>
              <a:srgbClr val="0A2373"/>
            </a:solidFill>
            <a:prstDash val="dash"/>
          </a:ln>
        </p:spPr>
        <p:style>
          <a:lnRef idx="2">
            <a:schemeClr val="accent1"/>
          </a:lnRef>
          <a:fillRef idx="0">
            <a:schemeClr val="accent1"/>
          </a:fillRef>
          <a:effectRef idx="1">
            <a:schemeClr val="accent1"/>
          </a:effectRef>
          <a:fontRef idx="minor">
            <a:schemeClr val="tx1"/>
          </a:fontRef>
        </p:style>
      </p:cxnSp>
      <p:sp>
        <p:nvSpPr>
          <p:cNvPr id="58" name="Rectangle 57"/>
          <p:cNvSpPr/>
          <p:nvPr/>
        </p:nvSpPr>
        <p:spPr>
          <a:xfrm>
            <a:off x="2232137" y="3148831"/>
            <a:ext cx="73152" cy="73152"/>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1125713" y="3276847"/>
            <a:ext cx="1024128" cy="256032"/>
          </a:xfrm>
          <a:prstGeom prst="rect">
            <a:avLst/>
          </a:prstGeom>
          <a:solidFill>
            <a:srgbClr val="FFFFFF"/>
          </a:solidFill>
        </p:spPr>
        <p:txBody>
          <a:bodyPr wrap="square" lIns="22860" rIns="22860" tIns="0" bIns="0">
            <a:spAutoFit/>
          </a:bodyPr>
          <a:lstStyle/>
          <a:p>
            <a:pPr>
              <a:spcAft>
                <a:spcPts val="300"/>
              </a:spcAft>
              <a:defRPr sz="1100" b="1">
                <a:solidFill>
                  <a:srgbClr val="0A2373"/>
                </a:solidFill>
                <a:latin typeface="Lato"/>
              </a:defRPr>
            </a:pPr>
            <a:r>
              <a:t>Walvis Bay</a:t>
            </a:r>
          </a:p>
        </p:txBody>
      </p:sp>
      <p:sp>
        <p:nvSpPr>
          <p:cNvPr id="60" name="Oval 59"/>
          <p:cNvSpPr/>
          <p:nvPr/>
        </p:nvSpPr>
        <p:spPr>
          <a:xfrm>
            <a:off x="2611171" y="3063811"/>
            <a:ext cx="73152" cy="73152"/>
          </a:xfrm>
          <a:prstGeom prst="ellipse">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2281987" y="2807779"/>
            <a:ext cx="1024128" cy="256032"/>
          </a:xfrm>
          <a:prstGeom prst="rect">
            <a:avLst/>
          </a:prstGeom>
          <a:solidFill>
            <a:srgbClr val="FFFFFF"/>
          </a:solidFill>
        </p:spPr>
        <p:txBody>
          <a:bodyPr wrap="square" lIns="22860" rIns="22860" tIns="0" bIns="0">
            <a:spAutoFit/>
          </a:bodyPr>
          <a:lstStyle/>
          <a:p>
            <a:pPr>
              <a:spcAft>
                <a:spcPts val="300"/>
              </a:spcAft>
              <a:defRPr sz="1100" b="1">
                <a:solidFill>
                  <a:srgbClr val="0A2373"/>
                </a:solidFill>
                <a:latin typeface="Lato"/>
              </a:defRPr>
            </a:pPr>
            <a:r>
              <a:t>Windhoek</a:t>
            </a:r>
          </a:p>
        </p:txBody>
      </p:sp>
      <p:sp>
        <p:nvSpPr>
          <p:cNvPr id="62" name="Oval 61"/>
          <p:cNvSpPr/>
          <p:nvPr/>
        </p:nvSpPr>
        <p:spPr>
          <a:xfrm>
            <a:off x="3924560" y="3372988"/>
            <a:ext cx="73152" cy="73152"/>
          </a:xfrm>
          <a:prstGeom prst="ellipse">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3366776" y="3089524"/>
            <a:ext cx="1024128" cy="256032"/>
          </a:xfrm>
          <a:prstGeom prst="rect">
            <a:avLst/>
          </a:prstGeom>
          <a:solidFill>
            <a:srgbClr val="FFFFFF"/>
          </a:solidFill>
        </p:spPr>
        <p:txBody>
          <a:bodyPr wrap="square" lIns="22860" rIns="22860" tIns="0" bIns="0">
            <a:spAutoFit/>
          </a:bodyPr>
          <a:lstStyle/>
          <a:p>
            <a:pPr>
              <a:spcAft>
                <a:spcPts val="300"/>
              </a:spcAft>
              <a:defRPr sz="1100" b="1">
                <a:solidFill>
                  <a:srgbClr val="0A2373"/>
                </a:solidFill>
                <a:latin typeface="Lato"/>
              </a:defRPr>
            </a:pPr>
            <a:r>
              <a:t>Gaborone</a:t>
            </a:r>
          </a:p>
        </p:txBody>
      </p:sp>
      <p:sp>
        <p:nvSpPr>
          <p:cNvPr id="64" name="Rectangle 63"/>
          <p:cNvSpPr/>
          <p:nvPr/>
        </p:nvSpPr>
        <p:spPr>
          <a:xfrm>
            <a:off x="4873367" y="3622277"/>
            <a:ext cx="73152" cy="73152"/>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5001383" y="3613133"/>
            <a:ext cx="1417320" cy="256032"/>
          </a:xfrm>
          <a:prstGeom prst="rect">
            <a:avLst/>
          </a:prstGeom>
          <a:solidFill>
            <a:srgbClr val="FFFFFF"/>
          </a:solidFill>
        </p:spPr>
        <p:txBody>
          <a:bodyPr wrap="square" lIns="22860" rIns="22860" tIns="0" bIns="0">
            <a:spAutoFit/>
          </a:bodyPr>
          <a:lstStyle/>
          <a:p>
            <a:pPr>
              <a:spcAft>
                <a:spcPts val="300"/>
              </a:spcAft>
              <a:defRPr sz="1100" b="1">
                <a:solidFill>
                  <a:srgbClr val="0A2373"/>
                </a:solidFill>
                <a:latin typeface="Lato"/>
              </a:defRPr>
            </a:pPr>
            <a:r>
              <a:t>Matola / Maputo</a:t>
            </a:r>
          </a:p>
        </p:txBody>
      </p:sp>
      <p:sp>
        <p:nvSpPr>
          <p:cNvPr id="66" name="Oval 65"/>
          <p:cNvSpPr/>
          <p:nvPr/>
        </p:nvSpPr>
        <p:spPr>
          <a:xfrm>
            <a:off x="4663219" y="3530488"/>
            <a:ext cx="73152" cy="73152"/>
          </a:xfrm>
          <a:prstGeom prst="ellipse">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4334035" y="3201304"/>
            <a:ext cx="1024128" cy="256032"/>
          </a:xfrm>
          <a:prstGeom prst="rect">
            <a:avLst/>
          </a:prstGeom>
          <a:solidFill>
            <a:srgbClr val="FFFFFF"/>
          </a:solidFill>
        </p:spPr>
        <p:txBody>
          <a:bodyPr wrap="square" lIns="22860" rIns="22860" tIns="0" bIns="0">
            <a:spAutoFit/>
          </a:bodyPr>
          <a:lstStyle/>
          <a:p>
            <a:pPr>
              <a:spcAft>
                <a:spcPts val="300"/>
              </a:spcAft>
              <a:defRPr sz="1100" b="1">
                <a:solidFill>
                  <a:srgbClr val="0A2373"/>
                </a:solidFill>
                <a:latin typeface="Lato"/>
              </a:defRPr>
            </a:pPr>
            <a:r>
              <a:t>Mbombela</a:t>
            </a:r>
          </a:p>
        </p:txBody>
      </p:sp>
      <p:sp>
        <p:nvSpPr>
          <p:cNvPr id="68" name="Oval 67"/>
          <p:cNvSpPr/>
          <p:nvPr/>
        </p:nvSpPr>
        <p:spPr>
          <a:xfrm>
            <a:off x="4229774" y="3629391"/>
            <a:ext cx="73152" cy="73152"/>
          </a:xfrm>
          <a:prstGeom prst="ellipse">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3260510" y="3665967"/>
            <a:ext cx="1024128" cy="256032"/>
          </a:xfrm>
          <a:prstGeom prst="rect">
            <a:avLst/>
          </a:prstGeom>
          <a:solidFill>
            <a:srgbClr val="FFFFFF"/>
          </a:solidFill>
        </p:spPr>
        <p:txBody>
          <a:bodyPr wrap="square" lIns="22860" rIns="22860" tIns="0" bIns="0">
            <a:spAutoFit/>
          </a:bodyPr>
          <a:lstStyle/>
          <a:p>
            <a:pPr>
              <a:spcAft>
                <a:spcPts val="300"/>
              </a:spcAft>
              <a:defRPr sz="1100" b="1">
                <a:solidFill>
                  <a:srgbClr val="0A2373"/>
                </a:solidFill>
                <a:latin typeface="Lato"/>
              </a:defRPr>
            </a:pPr>
            <a:r>
              <a:t>Gauteng</a:t>
            </a:r>
          </a:p>
        </p:txBody>
      </p:sp>
      <p:sp>
        <p:nvSpPr>
          <p:cNvPr id="70" name="Diamond 69"/>
          <p:cNvSpPr/>
          <p:nvPr/>
        </p:nvSpPr>
        <p:spPr>
          <a:xfrm>
            <a:off x="4279177" y="3669661"/>
            <a:ext cx="73152" cy="73152"/>
          </a:xfrm>
          <a:prstGeom prst="diamond">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3812833" y="3980557"/>
            <a:ext cx="1024128" cy="256032"/>
          </a:xfrm>
          <a:prstGeom prst="rect">
            <a:avLst/>
          </a:prstGeom>
          <a:solidFill>
            <a:srgbClr val="FFFFFF"/>
          </a:solidFill>
        </p:spPr>
        <p:txBody>
          <a:bodyPr wrap="square" lIns="22860" rIns="22860" tIns="0" bIns="0">
            <a:spAutoFit/>
          </a:bodyPr>
          <a:lstStyle/>
          <a:p>
            <a:pPr>
              <a:spcAft>
                <a:spcPts val="300"/>
              </a:spcAft>
              <a:defRPr sz="1100" b="1">
                <a:solidFill>
                  <a:srgbClr val="0A2373"/>
                </a:solidFill>
                <a:latin typeface="Lato"/>
              </a:defRPr>
            </a:pPr>
            <a:r>
              <a:t>Lesedi*</a:t>
            </a:r>
          </a:p>
        </p:txBody>
      </p:sp>
      <p:sp>
        <p:nvSpPr>
          <p:cNvPr id="72" name="Diamond 71"/>
          <p:cNvSpPr/>
          <p:nvPr/>
        </p:nvSpPr>
        <p:spPr>
          <a:xfrm>
            <a:off x="4628899" y="4239990"/>
            <a:ext cx="73152" cy="73152"/>
          </a:xfrm>
          <a:prstGeom prst="diamond">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4756915" y="4441158"/>
            <a:ext cx="1024128" cy="256032"/>
          </a:xfrm>
          <a:prstGeom prst="rect">
            <a:avLst/>
          </a:prstGeom>
          <a:solidFill>
            <a:srgbClr val="FFFFFF"/>
          </a:solidFill>
        </p:spPr>
        <p:txBody>
          <a:bodyPr wrap="square" lIns="22860" rIns="22860" tIns="0" bIns="0">
            <a:spAutoFit/>
          </a:bodyPr>
          <a:lstStyle/>
          <a:p>
            <a:pPr>
              <a:spcAft>
                <a:spcPts val="300"/>
              </a:spcAft>
              <a:defRPr sz="1100" b="1">
                <a:solidFill>
                  <a:srgbClr val="0A2373"/>
                </a:solidFill>
                <a:latin typeface="Lato"/>
              </a:defRPr>
            </a:pPr>
            <a:r>
              <a:t>Durban</a:t>
            </a:r>
          </a:p>
        </p:txBody>
      </p:sp>
      <p:sp>
        <p:nvSpPr>
          <p:cNvPr id="74" name="TextBox 73"/>
          <p:cNvSpPr txBox="1"/>
          <p:nvPr/>
        </p:nvSpPr>
        <p:spPr>
          <a:xfrm>
            <a:off x="612648" y="2377440"/>
            <a:ext cx="201168" cy="210312"/>
          </a:xfrm>
          <a:prstGeom prst="rect">
            <a:avLst/>
          </a:prstGeom>
          <a:noFill/>
        </p:spPr>
        <p:txBody>
          <a:bodyPr wrap="square" lIns="22860" rIns="22860" tIns="0" bIns="0">
            <a:spAutoFit/>
          </a:bodyPr>
          <a:lstStyle/>
          <a:p>
            <a:pPr>
              <a:spcAft>
                <a:spcPts val="300"/>
              </a:spcAft>
              <a:defRPr sz="1100" b="1">
                <a:solidFill>
                  <a:srgbClr val="000000"/>
                </a:solidFill>
                <a:latin typeface="Lato"/>
              </a:defRPr>
            </a:pPr>
            <a:r>
              <a:t>N</a:t>
            </a:r>
          </a:p>
        </p:txBody>
      </p:sp>
      <p:cxnSp>
        <p:nvCxnSpPr>
          <p:cNvPr id="75" name="Connector 74"/>
          <p:cNvCxnSpPr/>
          <p:nvPr/>
        </p:nvCxnSpPr>
        <p:spPr>
          <a:xfrm flipV="1">
            <a:off x="713232" y="2651760"/>
            <a:ext cx="0" cy="201168"/>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flipH="1">
            <a:off x="676656" y="2651760"/>
            <a:ext cx="36576" cy="73152"/>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a:off x="713232" y="2651760"/>
            <a:ext cx="36576" cy="73152"/>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a:off x="640080" y="5129784"/>
            <a:ext cx="725723" cy="0"/>
          </a:xfrm>
          <a:prstGeom prst="line">
            <a:avLst/>
          </a:prstGeom>
          <a:ln w="19050">
            <a:solidFill>
              <a:srgbClr val="000000"/>
            </a:solidFill>
          </a:ln>
        </p:spPr>
        <p:style>
          <a:lnRef idx="2">
            <a:schemeClr val="accent1"/>
          </a:lnRef>
          <a:fillRef idx="0">
            <a:schemeClr val="accent1"/>
          </a:fillRef>
          <a:effectRef idx="1">
            <a:schemeClr val="accent1"/>
          </a:effectRef>
          <a:fontRef idx="minor">
            <a:schemeClr val="tx1"/>
          </a:fontRef>
        </p:style>
      </p:cxnSp>
      <p:sp>
        <p:nvSpPr>
          <p:cNvPr id="79" name="TextBox 78"/>
          <p:cNvSpPr txBox="1"/>
          <p:nvPr/>
        </p:nvSpPr>
        <p:spPr>
          <a:xfrm>
            <a:off x="640080" y="4919472"/>
            <a:ext cx="182880" cy="201168"/>
          </a:xfrm>
          <a:prstGeom prst="rect">
            <a:avLst/>
          </a:prstGeom>
          <a:noFill/>
        </p:spPr>
        <p:txBody>
          <a:bodyPr wrap="square" lIns="22860" rIns="22860" tIns="0" bIns="0">
            <a:spAutoFit/>
          </a:bodyPr>
          <a:lstStyle/>
          <a:p>
            <a:pPr>
              <a:spcAft>
                <a:spcPts val="300"/>
              </a:spcAft>
              <a:defRPr sz="900" b="0">
                <a:solidFill>
                  <a:srgbClr val="000000"/>
                </a:solidFill>
                <a:latin typeface="Lato"/>
              </a:defRPr>
            </a:pPr>
            <a:r>
              <a:t>0</a:t>
            </a:r>
          </a:p>
        </p:txBody>
      </p:sp>
      <p:sp>
        <p:nvSpPr>
          <p:cNvPr id="80" name="TextBox 79"/>
          <p:cNvSpPr txBox="1"/>
          <p:nvPr/>
        </p:nvSpPr>
        <p:spPr>
          <a:xfrm>
            <a:off x="1228643" y="4919472"/>
            <a:ext cx="594360" cy="201168"/>
          </a:xfrm>
          <a:prstGeom prst="rect">
            <a:avLst/>
          </a:prstGeom>
          <a:noFill/>
        </p:spPr>
        <p:txBody>
          <a:bodyPr wrap="square" lIns="22860" rIns="22860" tIns="0" bIns="0">
            <a:spAutoFit/>
          </a:bodyPr>
          <a:lstStyle/>
          <a:p>
            <a:pPr>
              <a:spcAft>
                <a:spcPts val="300"/>
              </a:spcAft>
              <a:defRPr sz="900" b="0">
                <a:solidFill>
                  <a:srgbClr val="000000"/>
                </a:solidFill>
                <a:latin typeface="Lato"/>
              </a:defRPr>
            </a:pPr>
            <a:r>
              <a:t>500 km</a:t>
            </a:r>
          </a:p>
        </p:txBody>
      </p:sp>
      <p:sp>
        <p:nvSpPr>
          <p:cNvPr id="81" name="Rectangle 80"/>
          <p:cNvSpPr/>
          <p:nvPr/>
        </p:nvSpPr>
        <p:spPr>
          <a:xfrm>
            <a:off x="457200" y="5477256"/>
            <a:ext cx="137160" cy="137160"/>
          </a:xfrm>
          <a:prstGeom prst="rect">
            <a:avLst/>
          </a:prstGeom>
          <a:solidFill>
            <a:srgbClr val="E3EBF6"/>
          </a:solidFill>
          <a:ln w="381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667512" y="5422392"/>
            <a:ext cx="777240" cy="219456"/>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&lt;1</a:t>
            </a:r>
          </a:p>
        </p:txBody>
      </p:sp>
      <p:sp>
        <p:nvSpPr>
          <p:cNvPr id="83" name="Rectangle 82"/>
          <p:cNvSpPr/>
          <p:nvPr/>
        </p:nvSpPr>
        <p:spPr>
          <a:xfrm>
            <a:off x="1490472" y="5477256"/>
            <a:ext cx="137160" cy="137160"/>
          </a:xfrm>
          <a:prstGeom prst="rect">
            <a:avLst/>
          </a:prstGeom>
          <a:solidFill>
            <a:srgbClr val="BACCE4"/>
          </a:solidFill>
          <a:ln w="381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1700784" y="5422392"/>
            <a:ext cx="777240" cy="219456"/>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1–2</a:t>
            </a:r>
          </a:p>
        </p:txBody>
      </p:sp>
      <p:sp>
        <p:nvSpPr>
          <p:cNvPr id="85" name="Rectangle 84"/>
          <p:cNvSpPr/>
          <p:nvPr/>
        </p:nvSpPr>
        <p:spPr>
          <a:xfrm>
            <a:off x="2523744" y="5477256"/>
            <a:ext cx="137160" cy="137160"/>
          </a:xfrm>
          <a:prstGeom prst="rect">
            <a:avLst/>
          </a:prstGeom>
          <a:solidFill>
            <a:srgbClr val="809CC7"/>
          </a:solidFill>
          <a:ln w="381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2734056" y="5422392"/>
            <a:ext cx="777240" cy="219456"/>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2–4</a:t>
            </a:r>
          </a:p>
        </p:txBody>
      </p:sp>
      <p:sp>
        <p:nvSpPr>
          <p:cNvPr id="87" name="Rectangle 86"/>
          <p:cNvSpPr/>
          <p:nvPr/>
        </p:nvSpPr>
        <p:spPr>
          <a:xfrm>
            <a:off x="3557015" y="5477256"/>
            <a:ext cx="137160" cy="137160"/>
          </a:xfrm>
          <a:prstGeom prst="rect">
            <a:avLst/>
          </a:prstGeom>
          <a:solidFill>
            <a:srgbClr val="3D619D"/>
          </a:solidFill>
          <a:ln w="381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3767328" y="5422392"/>
            <a:ext cx="777240" cy="219456"/>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4–6</a:t>
            </a:r>
          </a:p>
        </p:txBody>
      </p:sp>
      <p:sp>
        <p:nvSpPr>
          <p:cNvPr id="89" name="Rectangle 88"/>
          <p:cNvSpPr/>
          <p:nvPr/>
        </p:nvSpPr>
        <p:spPr>
          <a:xfrm>
            <a:off x="4590288" y="5477256"/>
            <a:ext cx="137160" cy="137160"/>
          </a:xfrm>
          <a:prstGeom prst="rect">
            <a:avLst/>
          </a:prstGeom>
          <a:solidFill>
            <a:srgbClr val="0A2373"/>
          </a:solidFill>
          <a:ln w="381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extBox 89"/>
          <p:cNvSpPr txBox="1"/>
          <p:nvPr/>
        </p:nvSpPr>
        <p:spPr>
          <a:xfrm>
            <a:off x="4800600" y="5422392"/>
            <a:ext cx="777240" cy="219456"/>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6+</a:t>
            </a:r>
          </a:p>
        </p:txBody>
      </p:sp>
      <p:sp>
        <p:nvSpPr>
          <p:cNvPr id="91" name="Rectangle 90"/>
          <p:cNvSpPr/>
          <p:nvPr/>
        </p:nvSpPr>
        <p:spPr>
          <a:xfrm>
            <a:off x="5623559" y="5477256"/>
            <a:ext cx="137160" cy="137160"/>
          </a:xfrm>
          <a:prstGeom prst="rect">
            <a:avLst/>
          </a:prstGeom>
          <a:solidFill>
            <a:srgbClr val="EEEEEE"/>
          </a:solidFill>
          <a:ln w="381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TextBox 91"/>
          <p:cNvSpPr txBox="1"/>
          <p:nvPr/>
        </p:nvSpPr>
        <p:spPr>
          <a:xfrm>
            <a:off x="5833872" y="5422392"/>
            <a:ext cx="1051560" cy="219456"/>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Unassessed</a:t>
            </a:r>
          </a:p>
        </p:txBody>
      </p:sp>
      <p:sp>
        <p:nvSpPr>
          <p:cNvPr id="93" name="Diamond 92"/>
          <p:cNvSpPr/>
          <p:nvPr/>
        </p:nvSpPr>
        <p:spPr>
          <a:xfrm>
            <a:off x="484632" y="5760720"/>
            <a:ext cx="91440" cy="91440"/>
          </a:xfrm>
          <a:prstGeom prst="diamond">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TextBox 93"/>
          <p:cNvSpPr txBox="1"/>
          <p:nvPr/>
        </p:nvSpPr>
        <p:spPr>
          <a:xfrm>
            <a:off x="667512" y="5696712"/>
            <a:ext cx="1874519" cy="228600"/>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Vopak facility</a:t>
            </a:r>
          </a:p>
        </p:txBody>
      </p:sp>
      <p:sp>
        <p:nvSpPr>
          <p:cNvPr id="95" name="Rectangle 94"/>
          <p:cNvSpPr/>
          <p:nvPr/>
        </p:nvSpPr>
        <p:spPr>
          <a:xfrm>
            <a:off x="2633472" y="5760720"/>
            <a:ext cx="91440" cy="91440"/>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TextBox 95"/>
          <p:cNvSpPr txBox="1"/>
          <p:nvPr/>
        </p:nvSpPr>
        <p:spPr>
          <a:xfrm>
            <a:off x="2816352" y="5696712"/>
            <a:ext cx="1874519" cy="228600"/>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Port / fuel storage</a:t>
            </a:r>
          </a:p>
        </p:txBody>
      </p:sp>
      <p:sp>
        <p:nvSpPr>
          <p:cNvPr id="97" name="Oval 96"/>
          <p:cNvSpPr/>
          <p:nvPr/>
        </p:nvSpPr>
        <p:spPr>
          <a:xfrm>
            <a:off x="4873752" y="5760720"/>
            <a:ext cx="91440" cy="91440"/>
          </a:xfrm>
          <a:prstGeom prst="ellipse">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TextBox 97"/>
          <p:cNvSpPr txBox="1"/>
          <p:nvPr/>
        </p:nvSpPr>
        <p:spPr>
          <a:xfrm>
            <a:off x="5056632" y="5696712"/>
            <a:ext cx="1874519" cy="228600"/>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Route waypoint</a:t>
            </a:r>
          </a:p>
        </p:txBody>
      </p:sp>
      <p:cxnSp>
        <p:nvCxnSpPr>
          <p:cNvPr id="99" name="Connector 98"/>
          <p:cNvCxnSpPr/>
          <p:nvPr/>
        </p:nvCxnSpPr>
        <p:spPr>
          <a:xfrm>
            <a:off x="457200" y="6062472"/>
            <a:ext cx="347472" cy="0"/>
          </a:xfrm>
          <a:prstGeom prst="line">
            <a:avLst/>
          </a:prstGeom>
          <a:ln w="20320">
            <a:solidFill>
              <a:srgbClr val="0A2373"/>
            </a:solidFill>
          </a:ln>
        </p:spPr>
        <p:style>
          <a:lnRef idx="2">
            <a:schemeClr val="accent1"/>
          </a:lnRef>
          <a:fillRef idx="0">
            <a:schemeClr val="accent1"/>
          </a:fillRef>
          <a:effectRef idx="1">
            <a:schemeClr val="accent1"/>
          </a:effectRef>
          <a:fontRef idx="minor">
            <a:schemeClr val="tx1"/>
          </a:fontRef>
        </p:style>
      </p:cxnSp>
      <p:sp>
        <p:nvSpPr>
          <p:cNvPr id="100" name="TextBox 99"/>
          <p:cNvSpPr txBox="1"/>
          <p:nvPr/>
        </p:nvSpPr>
        <p:spPr>
          <a:xfrm>
            <a:off x="896112" y="5971032"/>
            <a:ext cx="2743200" cy="210312"/>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Road: Durban–Gauteng</a:t>
            </a:r>
          </a:p>
        </p:txBody>
      </p:sp>
      <p:cxnSp>
        <p:nvCxnSpPr>
          <p:cNvPr id="101" name="Connector 100"/>
          <p:cNvCxnSpPr/>
          <p:nvPr/>
        </p:nvCxnSpPr>
        <p:spPr>
          <a:xfrm>
            <a:off x="3703320" y="6062472"/>
            <a:ext cx="347471" cy="0"/>
          </a:xfrm>
          <a:prstGeom prst="line">
            <a:avLst/>
          </a:prstGeom>
          <a:ln w="20320">
            <a:solidFill>
              <a:srgbClr val="000000"/>
            </a:solidFill>
          </a:ln>
        </p:spPr>
        <p:style>
          <a:lnRef idx="2">
            <a:schemeClr val="accent1"/>
          </a:lnRef>
          <a:fillRef idx="0">
            <a:schemeClr val="accent1"/>
          </a:fillRef>
          <a:effectRef idx="1">
            <a:schemeClr val="accent1"/>
          </a:effectRef>
          <a:fontRef idx="minor">
            <a:schemeClr val="tx1"/>
          </a:fontRef>
        </p:style>
      </p:cxnSp>
      <p:sp>
        <p:nvSpPr>
          <p:cNvPr id="102" name="TextBox 101"/>
          <p:cNvSpPr txBox="1"/>
          <p:nvPr/>
        </p:nvSpPr>
        <p:spPr>
          <a:xfrm>
            <a:off x="4142231" y="5971032"/>
            <a:ext cx="2743200" cy="210312"/>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Road: Matola–Gauteng (N4)</a:t>
            </a:r>
          </a:p>
        </p:txBody>
      </p:sp>
      <p:cxnSp>
        <p:nvCxnSpPr>
          <p:cNvPr id="103" name="Connector 102"/>
          <p:cNvCxnSpPr/>
          <p:nvPr/>
        </p:nvCxnSpPr>
        <p:spPr>
          <a:xfrm>
            <a:off x="457200" y="6309360"/>
            <a:ext cx="347472" cy="0"/>
          </a:xfrm>
          <a:prstGeom prst="line">
            <a:avLst/>
          </a:prstGeom>
          <a:ln w="20320">
            <a:solidFill>
              <a:srgbClr val="0A2373"/>
            </a:solidFill>
            <a:prstDash val="dash"/>
          </a:ln>
        </p:spPr>
        <p:style>
          <a:lnRef idx="2">
            <a:schemeClr val="accent1"/>
          </a:lnRef>
          <a:fillRef idx="0">
            <a:schemeClr val="accent1"/>
          </a:fillRef>
          <a:effectRef idx="1">
            <a:schemeClr val="accent1"/>
          </a:effectRef>
          <a:fontRef idx="minor">
            <a:schemeClr val="tx1"/>
          </a:fontRef>
        </p:style>
      </p:cxnSp>
      <p:sp>
        <p:nvSpPr>
          <p:cNvPr id="104" name="TextBox 103"/>
          <p:cNvSpPr txBox="1"/>
          <p:nvPr/>
        </p:nvSpPr>
        <p:spPr>
          <a:xfrm>
            <a:off x="896112" y="6217920"/>
            <a:ext cx="2743200" cy="210312"/>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Pipeline: NMPP</a:t>
            </a:r>
          </a:p>
        </p:txBody>
      </p:sp>
      <p:cxnSp>
        <p:nvCxnSpPr>
          <p:cNvPr id="105" name="Connector 104"/>
          <p:cNvCxnSpPr/>
          <p:nvPr/>
        </p:nvCxnSpPr>
        <p:spPr>
          <a:xfrm>
            <a:off x="3703320" y="6309360"/>
            <a:ext cx="347471" cy="0"/>
          </a:xfrm>
          <a:prstGeom prst="line">
            <a:avLst/>
          </a:prstGeom>
          <a:ln w="20320">
            <a:solidFill>
              <a:srgbClr val="546CA2"/>
            </a:solidFill>
            <a:prstDash val="dash"/>
          </a:ln>
        </p:spPr>
        <p:style>
          <a:lnRef idx="2">
            <a:schemeClr val="accent1"/>
          </a:lnRef>
          <a:fillRef idx="0">
            <a:schemeClr val="accent1"/>
          </a:fillRef>
          <a:effectRef idx="1">
            <a:schemeClr val="accent1"/>
          </a:effectRef>
          <a:fontRef idx="minor">
            <a:schemeClr val="tx1"/>
          </a:fontRef>
        </p:style>
      </p:cxnSp>
      <p:sp>
        <p:nvSpPr>
          <p:cNvPr id="106" name="TextBox 105"/>
          <p:cNvSpPr txBox="1"/>
          <p:nvPr/>
        </p:nvSpPr>
        <p:spPr>
          <a:xfrm>
            <a:off x="4142231" y="6217920"/>
            <a:ext cx="2743200" cy="210312"/>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Walvis–Gauteng (Trans-Kalahari)</a:t>
            </a:r>
          </a:p>
        </p:txBody>
      </p:sp>
      <p:cxnSp>
        <p:nvCxnSpPr>
          <p:cNvPr id="115" name="Connector 114"/>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118" name="TextBox 117"/>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What the evidence shows</a:t>
            </a:r>
          </a:p>
        </p:txBody>
      </p:sp>
      <p:sp>
        <p:nvSpPr>
          <p:cNvPr id="119" name="TextBox 118"/>
          <p:cNvSpPr txBox="1"/>
          <p:nvPr/>
        </p:nvSpPr>
        <p:spPr>
          <a:xfrm>
            <a:off x="7424927" y="218541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01 | Vopak has a South African footprint</a:t>
            </a:r>
          </a:p>
        </p:txBody>
      </p:sp>
      <p:sp>
        <p:nvSpPr>
          <p:cNvPr id="120" name="TextBox 119"/>
          <p:cNvSpPr txBox="1"/>
          <p:nvPr/>
        </p:nvSpPr>
        <p:spPr>
          <a:xfrm>
            <a:off x="7424927" y="256946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Durban and Lesedi are highlighted against 2022 provincial sales. Colour shows sales totals; it does not establish Vopak market dominance.</a:t>
            </a:r>
          </a:p>
        </p:txBody>
      </p:sp>
      <p:sp>
        <p:nvSpPr>
          <p:cNvPr id="121" name="TextBox 120"/>
          <p:cNvSpPr txBox="1"/>
          <p:nvPr/>
        </p:nvSpPr>
        <p:spPr>
          <a:xfrm>
            <a:off x="7424927" y="314553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02 | Matola has published fuel storage</a:t>
            </a:r>
          </a:p>
        </p:txBody>
      </p:sp>
      <p:sp>
        <p:nvSpPr>
          <p:cNvPr id="122" name="TextBox 121"/>
          <p:cNvSpPr txBox="1"/>
          <p:nvPr/>
        </p:nvSpPr>
        <p:spPr>
          <a:xfrm>
            <a:off x="7424927" y="3529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Galp/IPG GIMTL lists 60,000 m³ of petrol/diesel tanks, plus 6,000 m³ LPG excluded here. N4 is the eastern inland comparison route.</a:t>
            </a:r>
          </a:p>
        </p:txBody>
      </p:sp>
      <p:sp>
        <p:nvSpPr>
          <p:cNvPr id="123" name="TextBox 122"/>
          <p:cNvSpPr txBox="1"/>
          <p:nvPr/>
        </p:nvSpPr>
        <p:spPr>
          <a:xfrm>
            <a:off x="7424927" y="410565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03 | Walvis has storage and handling</a:t>
            </a:r>
          </a:p>
        </p:txBody>
      </p:sp>
      <p:sp>
        <p:nvSpPr>
          <p:cNvPr id="124" name="TextBox 123"/>
          <p:cNvSpPr txBox="1"/>
          <p:nvPr/>
        </p:nvSpPr>
        <p:spPr>
          <a:xfrm>
            <a:off x="7424927" y="448970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NAMCOR NOSF lists 75,000 m³ in total, including 65,000 m³ petrol/diesel. Trans-Kalahari is the western inland comparator.</a:t>
            </a:r>
          </a:p>
        </p:txBody>
      </p:sp>
      <p:cxnSp>
        <p:nvCxnSpPr>
          <p:cNvPr id="125" name="Connector 124"/>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126" name="TextBox 125"/>
          <p:cNvSpPr txBox="1"/>
          <p:nvPr/>
        </p:nvSpPr>
        <p:spPr>
          <a:xfrm>
            <a:off x="7424927" y="5321808"/>
            <a:ext cx="3685032"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To resolve next</a:t>
            </a:r>
          </a:p>
        </p:txBody>
      </p:sp>
      <p:sp>
        <p:nvSpPr>
          <p:cNvPr id="127" name="TextBox 126"/>
          <p:cNvSpPr txBox="1"/>
          <p:nvPr/>
        </p:nvSpPr>
        <p:spPr>
          <a:xfrm>
            <a:off x="7424927" y="5687568"/>
            <a:ext cx="3685032" cy="62179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Manish: verify available tanks, customer access and full delivered costs. Source Namibia/Mozambique demand before extending the heatmap; grey means unassessed.</a:t>
            </a:r>
          </a:p>
        </p:txBody>
      </p:sp>
      <p:sp>
        <p:nvSpPr>
          <p:cNvPr id="128" name="SCR divider marker: circle"/>
          <p:cNvSpPr/>
          <p:nvPr/>
        </p:nvSpPr>
        <p:spPr>
          <a:xfrm>
            <a:off x="7086600" y="1828800"/>
            <a:ext cx="237744" cy="237744"/>
          </a:xfrm>
          <a:prstGeom prst="ellipse">
            <a:avLst/>
          </a:prstGeom>
          <a:solidFill>
            <a:srgbClr val="0A2373"/>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29" name="SCR divider marker: arrow"/>
          <p:cNvCxnSpPr/>
          <p:nvPr/>
        </p:nvCxnSpPr>
        <p:spPr>
          <a:xfrm>
            <a:off x="7173468" y="1888236"/>
            <a:ext cx="64008" cy="59436"/>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30" name="SCR divider marker: arrow"/>
          <p:cNvCxnSpPr/>
          <p:nvPr/>
        </p:nvCxnSpPr>
        <p:spPr>
          <a:xfrm flipH="1">
            <a:off x="7173468" y="1947672"/>
            <a:ext cx="64008" cy="59435"/>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sp>
        <p:nvSpPr>
          <p:cNvPr id="131"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R6. Separate market demand, accessible volume and unique Vopak deliveries</a:t>
            </a:r>
          </a:p>
        </p:txBody>
      </p:sp>
      <p:sp>
        <p:nvSpPr>
          <p:cNvPr id="3" name="Slide Number Placeholder"/>
          <p:cNvSpPr>
            <a:spLocks noGrp="1"/>
          </p:cNvSpPr>
          <p:nvPr>
            <p:ph type="sldNum" sz="quarter" idx="12"/>
          </p:nvPr>
        </p:nvSpPr>
        <p:spPr/>
        <p:txBody>
          <a:bodyPr/>
          <a:lstStyle/>
          <a:p>
            <a:fld id="{85B775BA-8643-4C9E-8C12-5812EF8EBFE2}" type="slidenum">
              <a:rPr lang="en-US"/>
              <a:t>‹#›</a:t>
            </a:fld>
          </a:p>
        </p:txBody>
      </p:sp>
      <p:sp>
        <p:nvSpPr>
          <p:cNvPr id="4" name="Section navigation 1">
            <a:hlinkClick action="ppaction://hlinksldjump" r:id="rId3"/>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1  Overview</a:t>
            </a:r>
          </a:p>
        </p:txBody>
      </p:sp>
      <p:sp>
        <p:nvSpPr>
          <p:cNvPr id="5" name="Section navigation 2">
            <a:hlinkClick action="ppaction://hlinksldjump" r:id="rId4"/>
          </p:cNvPr>
          <p:cNvSpPr/>
          <p:nvPr/>
        </p:nvSpPr>
        <p:spPr>
          <a:xfrm>
            <a:off x="3136392"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2  Market baseline</a:t>
            </a:r>
          </a:p>
        </p:txBody>
      </p:sp>
      <p:sp>
        <p:nvSpPr>
          <p:cNvPr id="6" name="Section navigation 3">
            <a:hlinkClick action="ppaction://hlinksldjump" r:id="rId5"/>
          </p:cNvPr>
          <p:cNvSpPr/>
          <p:nvPr/>
        </p:nvSpPr>
        <p:spPr>
          <a:xfrm>
            <a:off x="5815584"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3  Market changes</a:t>
            </a:r>
          </a:p>
        </p:txBody>
      </p:sp>
      <p:sp>
        <p:nvSpPr>
          <p:cNvPr id="7" name="Section navigation 4">
            <a:hlinkClick action="ppaction://hlinksldjump" r:id="rId6"/>
          </p:cNvPr>
          <p:cNvSpPr/>
          <p:nvPr/>
        </p:nvSpPr>
        <p:spPr>
          <a:xfrm>
            <a:off x="8494776"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1">
                <a:solidFill>
                  <a:srgbClr val="FFFFFF"/>
                </a:solidFill>
                <a:latin typeface="Lato"/>
              </a:defRPr>
            </a:pPr>
            <a:r>
              <a:rPr sz="1050"/>
              <a:t>4  Vopak outlook</a:t>
            </a:r>
          </a:p>
        </p:txBody>
      </p:sp>
      <p:sp>
        <p:nvSpPr>
          <p:cNvPr id="8"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b="0">
                <a:solidFill>
                  <a:srgbClr val="000000"/>
                </a:solidFill>
                <a:latin typeface="Lato"/>
              </a:defRPr>
            </a:pPr>
            <a:r>
              <a:rPr sz="750"/>
              <a:t>Source: Existing illustrative market catchment and transfer examples. Not reported sales or actual Vopak flows.</a:t>
            </a:r>
          </a:p>
        </p:txBody>
      </p:sp>
      <p:sp>
        <p:nvSpPr>
          <p:cNvPr id="111" name="TextBox 110"/>
          <p:cNvSpPr txBox="1"/>
          <p:nvPr/>
        </p:nvSpPr>
        <p:spPr>
          <a:xfrm>
            <a:off x="457200" y="1627632"/>
            <a:ext cx="6446520" cy="384048"/>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Market screens | illustrative bn litres/year</a:t>
            </a:r>
          </a:p>
        </p:txBody>
      </p:sp>
      <p:cxnSp>
        <p:nvCxnSpPr>
          <p:cNvPr id="112" name="Connector 111"/>
          <p:cNvCxnSpPr/>
          <p:nvPr/>
        </p:nvCxnSpPr>
        <p:spPr>
          <a:xfrm>
            <a:off x="457200" y="1947672"/>
            <a:ext cx="644652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3" name="Connector 112"/>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4" name="Connector 113"/>
          <p:cNvCxnSpPr/>
          <p:nvPr/>
        </p:nvCxnSpPr>
        <p:spPr>
          <a:xfrm>
            <a:off x="7424927" y="1947672"/>
            <a:ext cx="3685033"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115" name="TextBox 114"/>
          <p:cNvSpPr txBox="1"/>
          <p:nvPr/>
        </p:nvSpPr>
        <p:spPr>
          <a:xfrm>
            <a:off x="457200" y="2167128"/>
            <a:ext cx="6446520" cy="256032"/>
          </a:xfrm>
          <a:prstGeom prst="rect">
            <a:avLst/>
          </a:prstGeom>
          <a:noFill/>
        </p:spPr>
        <p:txBody>
          <a:bodyPr wrap="square" lIns="22860" rIns="22860" tIns="0" bIns="0">
            <a:spAutoFit/>
          </a:bodyPr>
          <a:lstStyle/>
          <a:p>
            <a:pPr>
              <a:spcAft>
                <a:spcPts val="300"/>
              </a:spcAft>
              <a:defRPr sz="1100" b="1">
                <a:solidFill>
                  <a:srgbClr val="0A2373"/>
                </a:solidFill>
                <a:latin typeface="Lato"/>
              </a:defRPr>
            </a:pPr>
            <a:r>
              <a:t>Successive screens; these volumes are illustrative</a:t>
            </a:r>
          </a:p>
        </p:txBody>
      </p:sp>
      <p:sp>
        <p:nvSpPr>
          <p:cNvPr id="116" name="TextBox 115"/>
          <p:cNvSpPr txBox="1"/>
          <p:nvPr/>
        </p:nvSpPr>
        <p:spPr>
          <a:xfrm>
            <a:off x="457200" y="2697480"/>
            <a:ext cx="2057400" cy="292608"/>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Catchment demand</a:t>
            </a:r>
          </a:p>
        </p:txBody>
      </p:sp>
      <p:sp>
        <p:nvSpPr>
          <p:cNvPr id="117" name="Rectangle 116"/>
          <p:cNvSpPr/>
          <p:nvPr/>
        </p:nvSpPr>
        <p:spPr>
          <a:xfrm>
            <a:off x="2606040" y="2743200"/>
            <a:ext cx="3703320" cy="274320"/>
          </a:xfrm>
          <a:prstGeom prst="rect">
            <a:avLst/>
          </a:prstGeom>
          <a:solidFill>
            <a:srgbClr val="546C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TextBox 117"/>
          <p:cNvSpPr txBox="1"/>
          <p:nvPr/>
        </p:nvSpPr>
        <p:spPr>
          <a:xfrm>
            <a:off x="6364224" y="2697480"/>
            <a:ext cx="548640" cy="274320"/>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14.5</a:t>
            </a:r>
          </a:p>
        </p:txBody>
      </p:sp>
      <p:sp>
        <p:nvSpPr>
          <p:cNvPr id="119" name="TextBox 118"/>
          <p:cNvSpPr txBox="1"/>
          <p:nvPr/>
        </p:nvSpPr>
        <p:spPr>
          <a:xfrm>
            <a:off x="457200" y="3273552"/>
            <a:ext cx="2057400" cy="292608"/>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Physically feasible</a:t>
            </a:r>
          </a:p>
        </p:txBody>
      </p:sp>
      <p:sp>
        <p:nvSpPr>
          <p:cNvPr id="120" name="Rectangle 119"/>
          <p:cNvSpPr/>
          <p:nvPr/>
        </p:nvSpPr>
        <p:spPr>
          <a:xfrm>
            <a:off x="2606040" y="3319272"/>
            <a:ext cx="3064816" cy="274320"/>
          </a:xfrm>
          <a:prstGeom prst="rect">
            <a:avLst/>
          </a:prstGeom>
          <a:solidFill>
            <a:srgbClr val="546C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TextBox 120"/>
          <p:cNvSpPr txBox="1"/>
          <p:nvPr/>
        </p:nvSpPr>
        <p:spPr>
          <a:xfrm>
            <a:off x="5725720" y="3273552"/>
            <a:ext cx="548640" cy="274320"/>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12.0</a:t>
            </a:r>
          </a:p>
        </p:txBody>
      </p:sp>
      <p:sp>
        <p:nvSpPr>
          <p:cNvPr id="122" name="TextBox 121"/>
          <p:cNvSpPr txBox="1"/>
          <p:nvPr/>
        </p:nvSpPr>
        <p:spPr>
          <a:xfrm>
            <a:off x="457200" y="3849624"/>
            <a:ext cx="2057400" cy="292608"/>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Commercial envelope</a:t>
            </a:r>
          </a:p>
        </p:txBody>
      </p:sp>
      <p:sp>
        <p:nvSpPr>
          <p:cNvPr id="123" name="Rectangle 122"/>
          <p:cNvSpPr/>
          <p:nvPr/>
        </p:nvSpPr>
        <p:spPr>
          <a:xfrm>
            <a:off x="2606040" y="3895344"/>
            <a:ext cx="2170911" cy="274320"/>
          </a:xfrm>
          <a:prstGeom prst="rect">
            <a:avLst/>
          </a:prstGeom>
          <a:solidFill>
            <a:srgbClr val="546C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TextBox 123"/>
          <p:cNvSpPr txBox="1"/>
          <p:nvPr/>
        </p:nvSpPr>
        <p:spPr>
          <a:xfrm>
            <a:off x="4831815" y="3849624"/>
            <a:ext cx="548640" cy="274320"/>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8.5</a:t>
            </a:r>
          </a:p>
        </p:txBody>
      </p:sp>
      <p:sp>
        <p:nvSpPr>
          <p:cNvPr id="125" name="TextBox 124"/>
          <p:cNvSpPr txBox="1"/>
          <p:nvPr/>
        </p:nvSpPr>
        <p:spPr>
          <a:xfrm>
            <a:off x="457200" y="4425696"/>
            <a:ext cx="2057400" cy="292608"/>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Current unique deliveries</a:t>
            </a:r>
          </a:p>
        </p:txBody>
      </p:sp>
      <p:sp>
        <p:nvSpPr>
          <p:cNvPr id="126" name="Rectangle 125"/>
          <p:cNvSpPr/>
          <p:nvPr/>
        </p:nvSpPr>
        <p:spPr>
          <a:xfrm>
            <a:off x="2606040" y="4471416"/>
            <a:ext cx="766204" cy="274320"/>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TextBox 126"/>
          <p:cNvSpPr txBox="1"/>
          <p:nvPr/>
        </p:nvSpPr>
        <p:spPr>
          <a:xfrm>
            <a:off x="3427108" y="4425696"/>
            <a:ext cx="548640" cy="274320"/>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3.0</a:t>
            </a:r>
          </a:p>
        </p:txBody>
      </p:sp>
      <p:sp>
        <p:nvSpPr>
          <p:cNvPr id="128" name="TextBox 127"/>
          <p:cNvSpPr txBox="1"/>
          <p:nvPr/>
        </p:nvSpPr>
        <p:spPr>
          <a:xfrm>
            <a:off x="457200" y="5212080"/>
            <a:ext cx="6446520" cy="301752"/>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Count Durban–Lesedi transfers once</a:t>
            </a:r>
          </a:p>
        </p:txBody>
      </p:sp>
      <p:sp>
        <p:nvSpPr>
          <p:cNvPr id="129" name="TextBox 128"/>
          <p:cNvSpPr txBox="1"/>
          <p:nvPr/>
        </p:nvSpPr>
        <p:spPr>
          <a:xfrm>
            <a:off x="457200" y="5632704"/>
            <a:ext cx="6446520" cy="320040"/>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Durban 2.8 + Lesedi 2.0 − shared transfer 1.8 = unique 3.0</a:t>
            </a:r>
          </a:p>
        </p:txBody>
      </p:sp>
      <p:sp>
        <p:nvSpPr>
          <p:cNvPr id="130" name="TextBox 129"/>
          <p:cNvSpPr txBox="1"/>
          <p:nvPr/>
        </p:nvSpPr>
        <p:spPr>
          <a:xfrm>
            <a:off x="457200" y="6126480"/>
            <a:ext cx="6446520" cy="256032"/>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Demand ≠ terminal receipts ≠ storage capacity. Incremental opportunity is on page 14.</a:t>
            </a:r>
          </a:p>
        </p:txBody>
      </p:sp>
      <p:sp>
        <p:nvSpPr>
          <p:cNvPr id="131" name="TextBox 130"/>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What the evidence shows</a:t>
            </a:r>
          </a:p>
        </p:txBody>
      </p:sp>
      <p:sp>
        <p:nvSpPr>
          <p:cNvPr id="132" name="TextBox 131"/>
          <p:cNvSpPr txBox="1"/>
          <p:nvPr/>
        </p:nvSpPr>
        <p:spPr>
          <a:xfrm>
            <a:off x="7424927" y="218541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01 | Count customer demand once</a:t>
            </a:r>
          </a:p>
        </p:txBody>
      </p:sp>
      <p:sp>
        <p:nvSpPr>
          <p:cNvPr id="133" name="TextBox 132"/>
          <p:cNvSpPr txBox="1"/>
          <p:nvPr/>
        </p:nvSpPr>
        <p:spPr>
          <a:xfrm>
            <a:off x="7424927" y="256946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Example receipts of 2.8 at Durban and 2.0 at Lesedi include a shared 1.8 transfer. Unique demand served is therefore 3.0 bn litres.</a:t>
            </a:r>
          </a:p>
        </p:txBody>
      </p:sp>
      <p:sp>
        <p:nvSpPr>
          <p:cNvPr id="134" name="TextBox 133"/>
          <p:cNvSpPr txBox="1"/>
          <p:nvPr/>
        </p:nvSpPr>
        <p:spPr>
          <a:xfrm>
            <a:off x="7424927" y="314553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02 | Accessibility precedes opportunity sizing</a:t>
            </a:r>
          </a:p>
        </p:txBody>
      </p:sp>
      <p:sp>
        <p:nvSpPr>
          <p:cNvPr id="135" name="TextBox 134"/>
          <p:cNvSpPr txBox="1"/>
          <p:nvPr/>
        </p:nvSpPr>
        <p:spPr>
          <a:xfrm>
            <a:off x="7424927" y="3529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Example catchment demand 14.5 → physically feasible 12.0 → commercial envelope 8.5. Each screen requires evidence.</a:t>
            </a:r>
          </a:p>
        </p:txBody>
      </p:sp>
      <p:sp>
        <p:nvSpPr>
          <p:cNvPr id="136" name="TextBox 135"/>
          <p:cNvSpPr txBox="1"/>
          <p:nvPr/>
        </p:nvSpPr>
        <p:spPr>
          <a:xfrm>
            <a:off x="7424927" y="410565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03 | Examples are separate from sales</a:t>
            </a:r>
          </a:p>
        </p:txBody>
      </p:sp>
      <p:sp>
        <p:nvSpPr>
          <p:cNvPr id="137" name="TextBox 136"/>
          <p:cNvSpPr txBox="1"/>
          <p:nvPr/>
        </p:nvSpPr>
        <p:spPr>
          <a:xfrm>
            <a:off x="7424927" y="448970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These market volumes illustrate the calculation. They are not the reported 2022 regional totals or actual Vopak deliveries.</a:t>
            </a:r>
          </a:p>
        </p:txBody>
      </p:sp>
      <p:cxnSp>
        <p:nvCxnSpPr>
          <p:cNvPr id="138" name="Connector 137"/>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139" name="TextBox 138"/>
          <p:cNvSpPr txBox="1"/>
          <p:nvPr/>
        </p:nvSpPr>
        <p:spPr>
          <a:xfrm>
            <a:off x="7424927" y="5321808"/>
            <a:ext cx="3685032"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To resolve next</a:t>
            </a:r>
          </a:p>
        </p:txBody>
      </p:sp>
      <p:sp>
        <p:nvSpPr>
          <p:cNvPr id="140" name="TextBox 139"/>
          <p:cNvSpPr txBox="1"/>
          <p:nvPr/>
        </p:nvSpPr>
        <p:spPr>
          <a:xfrm>
            <a:off x="7424927" y="5687568"/>
            <a:ext cx="3685032" cy="62179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Nigel: request customer deliveries, destinations and transfer records. Manish: calculate unique served demand before estimating additional access.</a:t>
            </a:r>
          </a:p>
        </p:txBody>
      </p:sp>
      <p:sp>
        <p:nvSpPr>
          <p:cNvPr id="141" name="SCR divider marker: circle"/>
          <p:cNvSpPr/>
          <p:nvPr/>
        </p:nvSpPr>
        <p:spPr>
          <a:xfrm>
            <a:off x="7086600" y="1828800"/>
            <a:ext cx="237744" cy="237744"/>
          </a:xfrm>
          <a:prstGeom prst="ellipse">
            <a:avLst/>
          </a:prstGeom>
          <a:solidFill>
            <a:srgbClr val="0A2373"/>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42" name="SCR divider marker: arrow"/>
          <p:cNvCxnSpPr/>
          <p:nvPr/>
        </p:nvCxnSpPr>
        <p:spPr>
          <a:xfrm>
            <a:off x="7173468" y="1888236"/>
            <a:ext cx="64008" cy="59436"/>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43" name="SCR divider marker: arrow"/>
          <p:cNvCxnSpPr/>
          <p:nvPr/>
        </p:nvCxnSpPr>
        <p:spPr>
          <a:xfrm flipH="1">
            <a:off x="7173468" y="1947672"/>
            <a:ext cx="64008" cy="59435"/>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sp>
        <p:nvSpPr>
          <p:cNvPr id="144"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R6. Compare regional demand with Vopak’s published storage footprint</a:t>
            </a:r>
          </a:p>
        </p:txBody>
      </p:sp>
      <p:sp>
        <p:nvSpPr>
          <p:cNvPr id="3" name="Slide Number Placeholder"/>
          <p:cNvSpPr>
            <a:spLocks noGrp="1"/>
          </p:cNvSpPr>
          <p:nvPr>
            <p:ph type="sldNum" sz="quarter" idx="12"/>
          </p:nvPr>
        </p:nvSpPr>
        <p:spPr/>
        <p:txBody>
          <a:bodyPr/>
          <a:lstStyle/>
          <a:p>
            <a:fld id="{7E7F711C-97BA-40E3-9241-F847592EEE63}" type="slidenum">
              <a:rPr lang="en-US"/>
              <a:t>‹#›</a:t>
            </a:fld>
          </a:p>
        </p:txBody>
      </p:sp>
      <p:sp>
        <p:nvSpPr>
          <p:cNvPr id="4" name="Section navigation 1">
            <a:hlinkClick action="ppaction://hlinksldjump" r:id="rId10"/>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1  Overview</a:t>
            </a:r>
          </a:p>
        </p:txBody>
      </p:sp>
      <p:sp>
        <p:nvSpPr>
          <p:cNvPr id="5" name="Section navigation 2">
            <a:hlinkClick action="ppaction://hlinksldjump" r:id="rId11"/>
          </p:cNvPr>
          <p:cNvSpPr/>
          <p:nvPr/>
        </p:nvSpPr>
        <p:spPr>
          <a:xfrm>
            <a:off x="3136392"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2  Market baseline</a:t>
            </a:r>
          </a:p>
        </p:txBody>
      </p:sp>
      <p:sp>
        <p:nvSpPr>
          <p:cNvPr id="6" name="Section navigation 3">
            <a:hlinkClick action="ppaction://hlinksldjump" r:id="rId12"/>
          </p:cNvPr>
          <p:cNvSpPr/>
          <p:nvPr/>
        </p:nvSpPr>
        <p:spPr>
          <a:xfrm>
            <a:off x="5815584"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3  Market changes</a:t>
            </a:r>
          </a:p>
        </p:txBody>
      </p:sp>
      <p:sp>
        <p:nvSpPr>
          <p:cNvPr id="7" name="Section navigation 4">
            <a:hlinkClick action="ppaction://hlinksldjump" r:id="rId13"/>
          </p:cNvPr>
          <p:cNvSpPr/>
          <p:nvPr/>
        </p:nvSpPr>
        <p:spPr>
          <a:xfrm>
            <a:off x="8494776"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1">
                <a:solidFill>
                  <a:srgbClr val="FFFFFF"/>
                </a:solidFill>
                <a:latin typeface="Lato"/>
              </a:defRPr>
            </a:pPr>
            <a:r>
              <a:rPr sz="1050"/>
              <a:t>4  Vopak outlook</a:t>
            </a:r>
          </a:p>
        </p:txBody>
      </p:sp>
      <p:sp>
        <p:nvSpPr>
          <p:cNvPr id="8" name="Unified source footer"/>
          <p:cNvSpPr txBox="1"/>
          <p:nvPr/>
        </p:nvSpPr>
        <p:spPr>
          <a:xfrm>
            <a:off x="457200" y="6601968"/>
            <a:ext cx="9326880" cy="118872"/>
          </a:xfrm>
          <a:prstGeom prst="rect">
            <a:avLst/>
          </a:prstGeom>
          <a:noFill/>
        </p:spPr>
        <p:txBody>
          <a:bodyPr wrap="square" lIns="0" rIns="0" tIns="0" bIns="0">
            <a:spAutoFit/>
          </a:bodyPr>
          <a:lstStyle/>
          <a:p>
            <a:pPr>
              <a:lnSpc>
                <a:spcPts val="900"/>
              </a:lnSpc>
              <a:spcBef>
                <a:spcPts val="0"/>
              </a:spcBef>
              <a:spcAft>
                <a:spcPts val="0"/>
              </a:spcAft>
              <a:defRPr sz="750" b="0">
                <a:solidFill>
                  <a:srgbClr val="000000"/>
                </a:solidFill>
                <a:latin typeface="Lato"/>
              </a:defRPr>
            </a:pPr>
            <a:r>
              <a:rPr sz="750"/>
              <a:t>Source: DMPR 2022 provincial petrol/diesel sales; public operator sources [1-7], checked 6 Oct 2026. Share not established.</a:t>
            </a:r>
          </a:p>
        </p:txBody>
      </p:sp>
      <p:sp>
        <p:nvSpPr>
          <p:cNvPr id="9" name="TextBox 8"/>
          <p:cNvSpPr txBox="1"/>
          <p:nvPr/>
        </p:nvSpPr>
        <p:spPr>
          <a:xfrm>
            <a:off x="457200" y="1627632"/>
            <a:ext cx="6446520"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All four regions | reported 2022 demand, bn litres/year</a:t>
            </a:r>
          </a:p>
        </p:txBody>
      </p:sp>
      <p:cxnSp>
        <p:nvCxnSpPr>
          <p:cNvPr id="10" name="Connector 9"/>
          <p:cNvCxnSpPr/>
          <p:nvPr/>
        </p:nvCxnSpPr>
        <p:spPr>
          <a:xfrm>
            <a:off x="457200" y="1947672"/>
            <a:ext cx="6446520"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Regional competitor evidence</a:t>
            </a:r>
          </a:p>
        </p:txBody>
      </p:sp>
      <p:cxnSp>
        <p:nvCxnSpPr>
          <p:cNvPr id="13" name="Connector 12"/>
          <p:cNvCxnSpPr/>
          <p:nvPr/>
        </p:nvCxnSpPr>
        <p:spPr>
          <a:xfrm>
            <a:off x="7424927" y="1947672"/>
            <a:ext cx="3685033"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457200" y="2176272"/>
            <a:ext cx="6446520" cy="246888"/>
          </a:xfrm>
          <a:prstGeom prst="rect">
            <a:avLst/>
          </a:prstGeom>
          <a:noFill/>
        </p:spPr>
        <p:txBody>
          <a:bodyPr wrap="square" lIns="22860" rIns="22860" tIns="0" bIns="0">
            <a:spAutoFit/>
          </a:bodyPr>
          <a:lstStyle/>
          <a:p>
            <a:pPr>
              <a:spcAft>
                <a:spcPts val="300"/>
              </a:spcAft>
              <a:defRPr sz="1100" b="1">
                <a:solidFill>
                  <a:srgbClr val="0A2373"/>
                </a:solidFill>
                <a:latin typeface="Lato"/>
              </a:defRPr>
            </a:pPr>
            <a:r>
              <a:t>National total 21.90 bn L | petrol + diesel; jet excluded</a:t>
            </a:r>
          </a:p>
        </p:txBody>
      </p:sp>
      <p:sp>
        <p:nvSpPr>
          <p:cNvPr id="15" name="TextBox 14"/>
          <p:cNvSpPr txBox="1"/>
          <p:nvPr/>
        </p:nvSpPr>
        <p:spPr>
          <a:xfrm>
            <a:off x="457200" y="2624328"/>
            <a:ext cx="1298448" cy="512064"/>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Region / provinces</a:t>
            </a:r>
          </a:p>
        </p:txBody>
      </p:sp>
      <p:sp>
        <p:nvSpPr>
          <p:cNvPr id="16" name="TextBox 15"/>
          <p:cNvSpPr txBox="1"/>
          <p:nvPr/>
        </p:nvSpPr>
        <p:spPr>
          <a:xfrm>
            <a:off x="1847088" y="2624328"/>
            <a:ext cx="2542032"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Reported demand</a:t>
            </a:r>
          </a:p>
        </p:txBody>
      </p:sp>
      <p:sp>
        <p:nvSpPr>
          <p:cNvPr id="17" name="TextBox 16"/>
          <p:cNvSpPr txBox="1"/>
          <p:nvPr/>
        </p:nvSpPr>
        <p:spPr>
          <a:xfrm>
            <a:off x="4553712" y="2624328"/>
            <a:ext cx="1051560" cy="512064"/>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Vopak tanks</a:t>
            </a:r>
          </a:p>
          <a:p>
            <a:pPr>
              <a:spcAft>
                <a:spcPts val="300"/>
              </a:spcAft>
              <a:defRPr sz="1200" b="1">
                <a:solidFill>
                  <a:srgbClr val="000000"/>
                </a:solidFill>
                <a:latin typeface="Lato"/>
              </a:defRPr>
            </a:pPr>
            <a:r>
              <a:t>000 m³</a:t>
            </a:r>
          </a:p>
        </p:txBody>
      </p:sp>
      <p:sp>
        <p:nvSpPr>
          <p:cNvPr id="18" name="TextBox 17"/>
          <p:cNvSpPr txBox="1"/>
          <p:nvPr/>
        </p:nvSpPr>
        <p:spPr>
          <a:xfrm>
            <a:off x="5760720" y="2624328"/>
            <a:ext cx="1143000" cy="512064"/>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Other tanks</a:t>
            </a:r>
          </a:p>
          <a:p>
            <a:pPr>
              <a:spcAft>
                <a:spcPts val="300"/>
              </a:spcAft>
              <a:defRPr sz="1200" b="1">
                <a:solidFill>
                  <a:srgbClr val="000000"/>
                </a:solidFill>
                <a:latin typeface="Lato"/>
              </a:defRPr>
            </a:pPr>
            <a:r>
              <a:t>000 m³</a:t>
            </a:r>
          </a:p>
        </p:txBody>
      </p:sp>
      <p:sp>
        <p:nvSpPr>
          <p:cNvPr id="19" name="TextBox 18"/>
          <p:cNvSpPr txBox="1"/>
          <p:nvPr/>
        </p:nvSpPr>
        <p:spPr>
          <a:xfrm>
            <a:off x="1755648" y="3035808"/>
            <a:ext cx="365760"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0</a:t>
            </a:r>
          </a:p>
        </p:txBody>
      </p:sp>
      <p:cxnSp>
        <p:nvCxnSpPr>
          <p:cNvPr id="20" name="Connector 19"/>
          <p:cNvCxnSpPr/>
          <p:nvPr/>
        </p:nvCxnSpPr>
        <p:spPr>
          <a:xfrm>
            <a:off x="1847088" y="3300984"/>
            <a:ext cx="0" cy="212140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2401824" y="3035808"/>
            <a:ext cx="365760"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4</a:t>
            </a:r>
          </a:p>
        </p:txBody>
      </p:sp>
      <p:cxnSp>
        <p:nvCxnSpPr>
          <p:cNvPr id="22" name="Connector 21"/>
          <p:cNvCxnSpPr/>
          <p:nvPr/>
        </p:nvCxnSpPr>
        <p:spPr>
          <a:xfrm>
            <a:off x="2493264" y="3300984"/>
            <a:ext cx="0" cy="212140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3048000" y="3035808"/>
            <a:ext cx="365760"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8</a:t>
            </a:r>
          </a:p>
        </p:txBody>
      </p:sp>
      <p:cxnSp>
        <p:nvCxnSpPr>
          <p:cNvPr id="24" name="Connector 23"/>
          <p:cNvCxnSpPr/>
          <p:nvPr/>
        </p:nvCxnSpPr>
        <p:spPr>
          <a:xfrm>
            <a:off x="3139440" y="3300984"/>
            <a:ext cx="0" cy="212140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3694176" y="3035808"/>
            <a:ext cx="365760"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12</a:t>
            </a:r>
          </a:p>
        </p:txBody>
      </p:sp>
      <p:cxnSp>
        <p:nvCxnSpPr>
          <p:cNvPr id="26" name="Connector 25"/>
          <p:cNvCxnSpPr/>
          <p:nvPr/>
        </p:nvCxnSpPr>
        <p:spPr>
          <a:xfrm>
            <a:off x="3785616" y="3300984"/>
            <a:ext cx="0" cy="212140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457200" y="3374136"/>
            <a:ext cx="134416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Eastern coast</a:t>
            </a:r>
          </a:p>
        </p:txBody>
      </p:sp>
      <p:sp>
        <p:nvSpPr>
          <p:cNvPr id="28" name="TextBox 27"/>
          <p:cNvSpPr txBox="1"/>
          <p:nvPr/>
        </p:nvSpPr>
        <p:spPr>
          <a:xfrm>
            <a:off x="457200" y="3639312"/>
            <a:ext cx="1344168"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EC/KZN</a:t>
            </a:r>
          </a:p>
        </p:txBody>
      </p:sp>
      <p:sp>
        <p:nvSpPr>
          <p:cNvPr id="29" name="Reported 2022 petrol/diesel demand: Eastern coastal: 6.019977323 bn L"/>
          <p:cNvSpPr/>
          <p:nvPr/>
        </p:nvSpPr>
        <p:spPr>
          <a:xfrm>
            <a:off x="1847088" y="3447288"/>
            <a:ext cx="972491"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2883587" y="3447288"/>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6.02</a:t>
            </a:r>
          </a:p>
        </p:txBody>
      </p:sp>
      <p:sp>
        <p:nvSpPr>
          <p:cNvPr id="31" name="TextBox 30"/>
          <p:cNvSpPr txBox="1"/>
          <p:nvPr/>
        </p:nvSpPr>
        <p:spPr>
          <a:xfrm>
            <a:off x="4553712" y="3392424"/>
            <a:ext cx="1097280" cy="448056"/>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t>360.2</a:t>
            </a:r>
          </a:p>
        </p:txBody>
      </p:sp>
      <p:sp>
        <p:nvSpPr>
          <p:cNvPr id="32" name="TextBox 31"/>
          <p:cNvSpPr txBox="1"/>
          <p:nvPr/>
        </p:nvSpPr>
        <p:spPr>
          <a:xfrm>
            <a:off x="5760720" y="3392424"/>
            <a:ext cx="1097280" cy="448056"/>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t>923.1</a:t>
            </a:r>
          </a:p>
        </p:txBody>
      </p:sp>
      <p:sp>
        <p:nvSpPr>
          <p:cNvPr id="33" name="TextBox 32"/>
          <p:cNvSpPr txBox="1"/>
          <p:nvPr/>
        </p:nvSpPr>
        <p:spPr>
          <a:xfrm>
            <a:off x="457200" y="3913632"/>
            <a:ext cx="134416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Inland</a:t>
            </a:r>
          </a:p>
        </p:txBody>
      </p:sp>
      <p:sp>
        <p:nvSpPr>
          <p:cNvPr id="34" name="TextBox 33"/>
          <p:cNvSpPr txBox="1"/>
          <p:nvPr/>
        </p:nvSpPr>
        <p:spPr>
          <a:xfrm>
            <a:off x="457200" y="4178808"/>
            <a:ext cx="1344168"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GP/FS/LP/MP/NW</a:t>
            </a:r>
          </a:p>
        </p:txBody>
      </p:sp>
      <p:sp>
        <p:nvSpPr>
          <p:cNvPr id="35" name="Reported 2022 petrol/diesel demand: Inland: 11.499633855 bn L"/>
          <p:cNvSpPr/>
          <p:nvPr/>
        </p:nvSpPr>
        <p:spPr>
          <a:xfrm>
            <a:off x="1847088" y="3986784"/>
            <a:ext cx="1857696"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3768792" y="3986784"/>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11.50</a:t>
            </a:r>
          </a:p>
        </p:txBody>
      </p:sp>
      <p:sp>
        <p:nvSpPr>
          <p:cNvPr id="37" name="TextBox 36"/>
          <p:cNvSpPr txBox="1"/>
          <p:nvPr/>
        </p:nvSpPr>
        <p:spPr>
          <a:xfrm>
            <a:off x="4553712" y="3931920"/>
            <a:ext cx="1097280" cy="448056"/>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t>140.0</a:t>
            </a:r>
          </a:p>
        </p:txBody>
      </p:sp>
      <p:sp>
        <p:nvSpPr>
          <p:cNvPr id="38" name="TextBox 37"/>
          <p:cNvSpPr txBox="1"/>
          <p:nvPr/>
        </p:nvSpPr>
        <p:spPr>
          <a:xfrm>
            <a:off x="5760720" y="3931920"/>
            <a:ext cx="1097280" cy="448056"/>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t>32.5</a:t>
            </a:r>
          </a:p>
        </p:txBody>
      </p:sp>
      <p:sp>
        <p:nvSpPr>
          <p:cNvPr id="39" name="TextBox 38"/>
          <p:cNvSpPr txBox="1"/>
          <p:nvPr/>
        </p:nvSpPr>
        <p:spPr>
          <a:xfrm>
            <a:off x="457200" y="4453128"/>
            <a:ext cx="134416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Western coast</a:t>
            </a:r>
          </a:p>
        </p:txBody>
      </p:sp>
      <p:sp>
        <p:nvSpPr>
          <p:cNvPr id="40" name="TextBox 39"/>
          <p:cNvSpPr txBox="1"/>
          <p:nvPr/>
        </p:nvSpPr>
        <p:spPr>
          <a:xfrm>
            <a:off x="457200" y="4718304"/>
            <a:ext cx="1344168"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WC</a:t>
            </a:r>
          </a:p>
        </p:txBody>
      </p:sp>
      <p:sp>
        <p:nvSpPr>
          <p:cNvPr id="41" name="Reported 2022 petrol/diesel demand: Western coastal: 3.930775007 bn L"/>
          <p:cNvSpPr/>
          <p:nvPr/>
        </p:nvSpPr>
        <p:spPr>
          <a:xfrm>
            <a:off x="1847088" y="4526280"/>
            <a:ext cx="634993"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2546089" y="4526280"/>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3.93</a:t>
            </a:r>
          </a:p>
        </p:txBody>
      </p:sp>
      <p:sp>
        <p:nvSpPr>
          <p:cNvPr id="43" name="TextBox 42"/>
          <p:cNvSpPr txBox="1"/>
          <p:nvPr/>
        </p:nvSpPr>
        <p:spPr>
          <a:xfrm>
            <a:off x="4553712" y="4471416"/>
            <a:ext cx="1097280" cy="448056"/>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t>No listed</a:t>
            </a:r>
          </a:p>
          <a:p>
            <a:pPr>
              <a:spcAft>
                <a:spcPts val="300"/>
              </a:spcAft>
              <a:defRPr sz="1200" b="0">
                <a:solidFill>
                  <a:srgbClr val="000000"/>
                </a:solidFill>
                <a:latin typeface="Lato"/>
              </a:defRPr>
            </a:pPr>
            <a:r>
              <a:t>Vopak site</a:t>
            </a:r>
          </a:p>
        </p:txBody>
      </p:sp>
      <p:sp>
        <p:nvSpPr>
          <p:cNvPr id="44" name="TextBox 43"/>
          <p:cNvSpPr txBox="1"/>
          <p:nvPr/>
        </p:nvSpPr>
        <p:spPr>
          <a:xfrm>
            <a:off x="5760720" y="4471416"/>
            <a:ext cx="1097280" cy="448056"/>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t>122.0</a:t>
            </a:r>
          </a:p>
        </p:txBody>
      </p:sp>
      <p:sp>
        <p:nvSpPr>
          <p:cNvPr id="45" name="TextBox 44"/>
          <p:cNvSpPr txBox="1"/>
          <p:nvPr/>
        </p:nvSpPr>
        <p:spPr>
          <a:xfrm>
            <a:off x="457200" y="4992624"/>
            <a:ext cx="134416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Other</a:t>
            </a:r>
          </a:p>
        </p:txBody>
      </p:sp>
      <p:sp>
        <p:nvSpPr>
          <p:cNvPr id="46" name="TextBox 45"/>
          <p:cNvSpPr txBox="1"/>
          <p:nvPr/>
        </p:nvSpPr>
        <p:spPr>
          <a:xfrm>
            <a:off x="457200" y="5257800"/>
            <a:ext cx="1344168"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Northern Cape</a:t>
            </a:r>
          </a:p>
        </p:txBody>
      </p:sp>
      <p:sp>
        <p:nvSpPr>
          <p:cNvPr id="47" name="Reported 2022 petrol/diesel demand: Other / Northern Cape: 0.451810049 bn L"/>
          <p:cNvSpPr/>
          <p:nvPr/>
        </p:nvSpPr>
        <p:spPr>
          <a:xfrm>
            <a:off x="1847088" y="5065776"/>
            <a:ext cx="72987"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1984083" y="5065776"/>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0.45</a:t>
            </a:r>
          </a:p>
        </p:txBody>
      </p:sp>
      <p:sp>
        <p:nvSpPr>
          <p:cNvPr id="49" name="TextBox 48"/>
          <p:cNvSpPr txBox="1"/>
          <p:nvPr/>
        </p:nvSpPr>
        <p:spPr>
          <a:xfrm>
            <a:off x="4553712" y="5010912"/>
            <a:ext cx="1097280" cy="448056"/>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t>No listed</a:t>
            </a:r>
          </a:p>
          <a:p>
            <a:pPr>
              <a:spcAft>
                <a:spcPts val="300"/>
              </a:spcAft>
              <a:defRPr sz="1200" b="0">
                <a:solidFill>
                  <a:srgbClr val="000000"/>
                </a:solidFill>
                <a:latin typeface="Lato"/>
              </a:defRPr>
            </a:pPr>
            <a:r>
              <a:t>Vopak site</a:t>
            </a:r>
          </a:p>
        </p:txBody>
      </p:sp>
      <p:sp>
        <p:nvSpPr>
          <p:cNvPr id="50" name="TextBox 49"/>
          <p:cNvSpPr txBox="1"/>
          <p:nvPr/>
        </p:nvSpPr>
        <p:spPr>
          <a:xfrm>
            <a:off x="5760720" y="5010912"/>
            <a:ext cx="1097280" cy="448056"/>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t>Unknown</a:t>
            </a:r>
          </a:p>
        </p:txBody>
      </p:sp>
      <p:sp>
        <p:nvSpPr>
          <p:cNvPr id="51" name="TextBox 50"/>
          <p:cNvSpPr txBox="1"/>
          <p:nvPr/>
        </p:nvSpPr>
        <p:spPr>
          <a:xfrm>
            <a:off x="457200" y="5641848"/>
            <a:ext cx="6446520" cy="265176"/>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Published capacity is a provisional footprint measure, not annual demand served.</a:t>
            </a:r>
          </a:p>
        </p:txBody>
      </p:sp>
      <p:sp>
        <p:nvSpPr>
          <p:cNvPr id="52" name="TextBox 51"/>
          <p:cNvSpPr txBox="1"/>
          <p:nvPr/>
        </p:nvSpPr>
        <p:spPr>
          <a:xfrm>
            <a:off x="457200" y="5952744"/>
            <a:ext cx="6446520" cy="402336"/>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Partial gross inventory; mixed products and unknown Sasol/Transnet capacities.</a:t>
            </a:r>
          </a:p>
          <a:p>
            <a:pPr>
              <a:spcAft>
                <a:spcPts val="300"/>
              </a:spcAft>
              <a:defRPr sz="1000" b="0">
                <a:solidFill>
                  <a:srgbClr val="000000"/>
                </a:solidFill>
                <a:latin typeface="Lato"/>
              </a:defRPr>
            </a:pPr>
            <a:r>
              <a:t>Fuel-compatible capacity share and actual Vopak demand share remain unestablished.</a:t>
            </a:r>
          </a:p>
        </p:txBody>
      </p:sp>
      <p:sp>
        <p:nvSpPr>
          <p:cNvPr id="53" name="TextBox 52"/>
          <p:cNvSpPr txBox="1"/>
          <p:nvPr/>
        </p:nvSpPr>
        <p:spPr>
          <a:xfrm>
            <a:off x="7424927" y="2194560"/>
            <a:ext cx="3685032" cy="283464"/>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01 Eastern coast</a:t>
            </a:r>
          </a:p>
        </p:txBody>
      </p:sp>
      <p:sp>
        <p:nvSpPr>
          <p:cNvPr id="54" name="TextBox 53"/>
          <p:cNvSpPr txBox="1"/>
          <p:nvPr/>
        </p:nvSpPr>
        <p:spPr>
          <a:xfrm>
            <a:off x="7424927" y="2523744"/>
            <a:ext cx="3685032" cy="704088"/>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Vopak: Durban [1]. Bidvest: Durban and Richards Bay [2]; mixed-product capacity.</a:t>
            </a:r>
          </a:p>
          <a:p>
            <a:pPr>
              <a:spcAft>
                <a:spcPts val="300"/>
              </a:spcAft>
              <a:defRPr sz="1250" b="0">
                <a:solidFill>
                  <a:srgbClr val="000000"/>
                </a:solidFill>
                <a:latin typeface="Lato"/>
              </a:defRPr>
            </a:pPr>
            <a:r>
              <a:t>Transnet: Ladysmith lease tanks [7].</a:t>
            </a:r>
          </a:p>
        </p:txBody>
      </p:sp>
      <p:sp>
        <p:nvSpPr>
          <p:cNvPr id="55" name="TextBox 54"/>
          <p:cNvSpPr txBox="1"/>
          <p:nvPr/>
        </p:nvSpPr>
        <p:spPr>
          <a:xfrm>
            <a:off x="7424927" y="3246120"/>
            <a:ext cx="3685032" cy="283464"/>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02 Inland</a:t>
            </a:r>
          </a:p>
        </p:txBody>
      </p:sp>
      <p:sp>
        <p:nvSpPr>
          <p:cNvPr id="56" name="TextBox 55"/>
          <p:cNvSpPr txBox="1"/>
          <p:nvPr/>
        </p:nvSpPr>
        <p:spPr>
          <a:xfrm>
            <a:off x="7424927" y="3575303"/>
            <a:ext cx="3685032" cy="832104"/>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Vopak: Lesedi [1]. Bidvest: Isando [2].</a:t>
            </a:r>
          </a:p>
          <a:p>
            <a:pPr>
              <a:spcAft>
                <a:spcPts val="300"/>
              </a:spcAft>
              <a:defRPr sz="1250" b="0">
                <a:solidFill>
                  <a:srgbClr val="000000"/>
                </a:solidFill>
                <a:latin typeface="Lato"/>
              </a:defRPr>
            </a:pPr>
            <a:r>
              <a:t>Sasol: Alrode, Pretoria West, Waltloo, Sasolburg [6]. Transnet: Tarlton / Jameson Park + four lease sites [7].</a:t>
            </a:r>
          </a:p>
        </p:txBody>
      </p:sp>
      <p:sp>
        <p:nvSpPr>
          <p:cNvPr id="57" name="TextBox 56"/>
          <p:cNvSpPr txBox="1"/>
          <p:nvPr/>
        </p:nvSpPr>
        <p:spPr>
          <a:xfrm>
            <a:off x="7424927" y="4507992"/>
            <a:ext cx="3685032" cy="283464"/>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03 Western coast</a:t>
            </a:r>
          </a:p>
        </p:txBody>
      </p:sp>
      <p:sp>
        <p:nvSpPr>
          <p:cNvPr id="58" name="TextBox 57"/>
          <p:cNvSpPr txBox="1"/>
          <p:nvPr/>
        </p:nvSpPr>
        <p:spPr>
          <a:xfrm>
            <a:off x="7424927" y="4837176"/>
            <a:ext cx="3685032" cy="66751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Burgan Cape: Cape Town petrol/diesel terminal [3]. Confirm current tank availability and customer access.</a:t>
            </a:r>
          </a:p>
        </p:txBody>
      </p:sp>
      <p:sp>
        <p:nvSpPr>
          <p:cNvPr id="59" name="TextBox 58"/>
          <p:cNvSpPr txBox="1"/>
          <p:nvPr/>
        </p:nvSpPr>
        <p:spPr>
          <a:xfrm>
            <a:off x="7424927" y="5486400"/>
            <a:ext cx="3685032" cy="283464"/>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04 Other / Northern Cape</a:t>
            </a:r>
          </a:p>
        </p:txBody>
      </p:sp>
      <p:sp>
        <p:nvSpPr>
          <p:cNvPr id="60" name="TextBox 59"/>
          <p:cNvSpPr txBox="1"/>
          <p:nvPr/>
        </p:nvSpPr>
        <p:spPr>
          <a:xfrm>
            <a:off x="7424927" y="5815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Operator coverage incomplete. Check Shell site notices [4] and NERSA licences/access records [5].</a:t>
            </a:r>
          </a:p>
        </p:txBody>
      </p:sp>
      <p:sp>
        <p:nvSpPr>
          <p:cNvPr id="61" name="TextBox 60"/>
          <p:cNvSpPr txBox="1"/>
          <p:nvPr/>
        </p:nvSpPr>
        <p:spPr>
          <a:xfrm>
            <a:off x="457200" y="6473952"/>
            <a:ext cx="886968" cy="109728"/>
          </a:xfrm>
          <a:prstGeom prst="rect">
            <a:avLst/>
          </a:prstGeom>
          <a:noFill/>
        </p:spPr>
        <p:txBody>
          <a:bodyPr wrap="square" lIns="22860" rIns="22860" tIns="0" bIns="0">
            <a:spAutoFit/>
          </a:bodyPr>
          <a:lstStyle/>
          <a:p>
            <a:pPr>
              <a:spcAft>
                <a:spcPts val="300"/>
              </a:spcAft>
              <a:defRPr sz="750" b="0">
                <a:solidFill>
                  <a:srgbClr val="0A2373"/>
                </a:solidFill>
                <a:latin typeface="Lato"/>
              </a:defRPr>
            </a:pPr>
            <a:r>
              <a:rPr sz="750">
                <a:hlinkClick r:id="rId3"/>
              </a:rPr>
              <a:t>[1] Vopak</a:t>
            </a:r>
          </a:p>
        </p:txBody>
      </p:sp>
      <p:sp>
        <p:nvSpPr>
          <p:cNvPr id="62" name="TextBox 61"/>
          <p:cNvSpPr txBox="1"/>
          <p:nvPr/>
        </p:nvSpPr>
        <p:spPr>
          <a:xfrm>
            <a:off x="1353312" y="6473952"/>
            <a:ext cx="886968" cy="109728"/>
          </a:xfrm>
          <a:prstGeom prst="rect">
            <a:avLst/>
          </a:prstGeom>
          <a:noFill/>
        </p:spPr>
        <p:txBody>
          <a:bodyPr wrap="square" lIns="22860" rIns="22860" tIns="0" bIns="0">
            <a:spAutoFit/>
          </a:bodyPr>
          <a:lstStyle/>
          <a:p>
            <a:pPr>
              <a:spcAft>
                <a:spcPts val="300"/>
              </a:spcAft>
              <a:defRPr sz="750" b="0">
                <a:solidFill>
                  <a:srgbClr val="0A2373"/>
                </a:solidFill>
                <a:latin typeface="Lato"/>
              </a:defRPr>
            </a:pPr>
            <a:r>
              <a:rPr sz="750">
                <a:hlinkClick r:id="rId4"/>
              </a:rPr>
              <a:t>[2] Bidvest</a:t>
            </a:r>
          </a:p>
        </p:txBody>
      </p:sp>
      <p:sp>
        <p:nvSpPr>
          <p:cNvPr id="63" name="TextBox 62"/>
          <p:cNvSpPr txBox="1"/>
          <p:nvPr/>
        </p:nvSpPr>
        <p:spPr>
          <a:xfrm>
            <a:off x="2249424" y="6473952"/>
            <a:ext cx="886968" cy="109728"/>
          </a:xfrm>
          <a:prstGeom prst="rect">
            <a:avLst/>
          </a:prstGeom>
          <a:noFill/>
        </p:spPr>
        <p:txBody>
          <a:bodyPr wrap="square" lIns="22860" rIns="22860" tIns="0" bIns="0">
            <a:spAutoFit/>
          </a:bodyPr>
          <a:lstStyle/>
          <a:p>
            <a:pPr>
              <a:spcAft>
                <a:spcPts val="300"/>
              </a:spcAft>
              <a:defRPr sz="750" b="0">
                <a:solidFill>
                  <a:srgbClr val="0A2373"/>
                </a:solidFill>
                <a:latin typeface="Lato"/>
              </a:defRPr>
            </a:pPr>
            <a:r>
              <a:rPr sz="750">
                <a:hlinkClick r:id="rId5"/>
              </a:rPr>
              <a:t>[3] Burgan</a:t>
            </a:r>
          </a:p>
        </p:txBody>
      </p:sp>
      <p:sp>
        <p:nvSpPr>
          <p:cNvPr id="64" name="TextBox 63"/>
          <p:cNvSpPr txBox="1"/>
          <p:nvPr/>
        </p:nvSpPr>
        <p:spPr>
          <a:xfrm>
            <a:off x="3145536" y="6473952"/>
            <a:ext cx="886968" cy="109728"/>
          </a:xfrm>
          <a:prstGeom prst="rect">
            <a:avLst/>
          </a:prstGeom>
          <a:noFill/>
        </p:spPr>
        <p:txBody>
          <a:bodyPr wrap="square" lIns="22860" rIns="22860" tIns="0" bIns="0">
            <a:spAutoFit/>
          </a:bodyPr>
          <a:lstStyle/>
          <a:p>
            <a:pPr>
              <a:spcAft>
                <a:spcPts val="300"/>
              </a:spcAft>
              <a:defRPr sz="750" b="0">
                <a:solidFill>
                  <a:srgbClr val="0A2373"/>
                </a:solidFill>
                <a:latin typeface="Lato"/>
              </a:defRPr>
            </a:pPr>
            <a:r>
              <a:rPr sz="750">
                <a:hlinkClick r:id="rId6"/>
              </a:rPr>
              <a:t>[4] Shell</a:t>
            </a:r>
          </a:p>
        </p:txBody>
      </p:sp>
      <p:sp>
        <p:nvSpPr>
          <p:cNvPr id="65" name="TextBox 64"/>
          <p:cNvSpPr txBox="1"/>
          <p:nvPr/>
        </p:nvSpPr>
        <p:spPr>
          <a:xfrm>
            <a:off x="4041648" y="6473952"/>
            <a:ext cx="886968" cy="109728"/>
          </a:xfrm>
          <a:prstGeom prst="rect">
            <a:avLst/>
          </a:prstGeom>
          <a:noFill/>
        </p:spPr>
        <p:txBody>
          <a:bodyPr wrap="square" lIns="22860" rIns="22860" tIns="0" bIns="0">
            <a:spAutoFit/>
          </a:bodyPr>
          <a:lstStyle/>
          <a:p>
            <a:pPr>
              <a:spcAft>
                <a:spcPts val="300"/>
              </a:spcAft>
              <a:defRPr sz="750" b="0">
                <a:solidFill>
                  <a:srgbClr val="0A2373"/>
                </a:solidFill>
                <a:latin typeface="Lato"/>
              </a:defRPr>
            </a:pPr>
            <a:r>
              <a:rPr sz="750">
                <a:hlinkClick r:id="rId7"/>
              </a:rPr>
              <a:t>[5] NERSA</a:t>
            </a:r>
          </a:p>
        </p:txBody>
      </p:sp>
      <p:sp>
        <p:nvSpPr>
          <p:cNvPr id="66" name="TextBox 65"/>
          <p:cNvSpPr txBox="1"/>
          <p:nvPr/>
        </p:nvSpPr>
        <p:spPr>
          <a:xfrm>
            <a:off x="4937760" y="6473952"/>
            <a:ext cx="886968" cy="109728"/>
          </a:xfrm>
          <a:prstGeom prst="rect">
            <a:avLst/>
          </a:prstGeom>
          <a:noFill/>
        </p:spPr>
        <p:txBody>
          <a:bodyPr wrap="square" lIns="22860" rIns="22860" tIns="0" bIns="0">
            <a:spAutoFit/>
          </a:bodyPr>
          <a:lstStyle/>
          <a:p>
            <a:pPr>
              <a:spcAft>
                <a:spcPts val="300"/>
              </a:spcAft>
              <a:defRPr sz="750" b="0">
                <a:solidFill>
                  <a:srgbClr val="0A2373"/>
                </a:solidFill>
                <a:latin typeface="Lato"/>
              </a:defRPr>
            </a:pPr>
            <a:r>
              <a:rPr sz="750">
                <a:hlinkClick r:id="rId8"/>
              </a:rPr>
              <a:t>[6] Sasol</a:t>
            </a:r>
          </a:p>
        </p:txBody>
      </p:sp>
      <p:sp>
        <p:nvSpPr>
          <p:cNvPr id="67" name="TextBox 66"/>
          <p:cNvSpPr txBox="1"/>
          <p:nvPr/>
        </p:nvSpPr>
        <p:spPr>
          <a:xfrm>
            <a:off x="5833872" y="6473952"/>
            <a:ext cx="886968" cy="109728"/>
          </a:xfrm>
          <a:prstGeom prst="rect">
            <a:avLst/>
          </a:prstGeom>
          <a:noFill/>
        </p:spPr>
        <p:txBody>
          <a:bodyPr wrap="square" lIns="22860" rIns="22860" tIns="0" bIns="0">
            <a:spAutoFit/>
          </a:bodyPr>
          <a:lstStyle/>
          <a:p>
            <a:pPr>
              <a:spcAft>
                <a:spcPts val="300"/>
              </a:spcAft>
              <a:defRPr sz="750" b="0">
                <a:solidFill>
                  <a:srgbClr val="0A2373"/>
                </a:solidFill>
                <a:latin typeface="Lato"/>
              </a:defRPr>
            </a:pPr>
            <a:r>
              <a:rPr sz="750">
                <a:hlinkClick r:id="rId9"/>
              </a:rPr>
              <a:t>[7] Transnet</a:t>
            </a:r>
          </a:p>
        </p:txBody>
      </p:sp>
      <p:sp>
        <p:nvSpPr>
          <p:cNvPr id="68" name="SCR divider marker: circle"/>
          <p:cNvSpPr/>
          <p:nvPr/>
        </p:nvSpPr>
        <p:spPr>
          <a:xfrm>
            <a:off x="7086600" y="1828800"/>
            <a:ext cx="237744" cy="237744"/>
          </a:xfrm>
          <a:prstGeom prst="ellipse">
            <a:avLst/>
          </a:prstGeom>
          <a:solidFill>
            <a:srgbClr val="0A2373"/>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9" name="SCR divider marker: arrow"/>
          <p:cNvCxnSpPr/>
          <p:nvPr/>
        </p:nvCxnSpPr>
        <p:spPr>
          <a:xfrm>
            <a:off x="7173468" y="1888236"/>
            <a:ext cx="64008" cy="59436"/>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70" name="SCR divider marker: arrow"/>
          <p:cNvCxnSpPr/>
          <p:nvPr/>
        </p:nvCxnSpPr>
        <p:spPr>
          <a:xfrm flipH="1">
            <a:off x="7173468" y="1947672"/>
            <a:ext cx="64008" cy="59435"/>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sp>
        <p:nvSpPr>
          <p:cNvPr id="71"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R6. The illustrative additional opportunity is 5.5 billion litres a year</a:t>
            </a:r>
          </a:p>
        </p:txBody>
      </p:sp>
      <p:sp>
        <p:nvSpPr>
          <p:cNvPr id="3" name="Slide Number Placeholder"/>
          <p:cNvSpPr>
            <a:spLocks noGrp="1"/>
          </p:cNvSpPr>
          <p:nvPr>
            <p:ph type="sldNum" sz="quarter" idx="12"/>
          </p:nvPr>
        </p:nvSpPr>
        <p:spPr/>
        <p:txBody>
          <a:bodyPr/>
          <a:lstStyle/>
          <a:p>
            <a:fld id="{4794D684-25F5-4002-B28A-453C120C0D1D}" type="slidenum">
              <a:rPr lang="en-US"/>
              <a:t>‹#›</a:t>
            </a:fld>
          </a:p>
        </p:txBody>
      </p:sp>
      <p:sp>
        <p:nvSpPr>
          <p:cNvPr id="4" name="Section navigation 1">
            <a:hlinkClick action="ppaction://hlinksldjump" r:id="rId3"/>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1  Overview</a:t>
            </a:r>
          </a:p>
        </p:txBody>
      </p:sp>
      <p:sp>
        <p:nvSpPr>
          <p:cNvPr id="5" name="Section navigation 2">
            <a:hlinkClick action="ppaction://hlinksldjump" r:id="rId4"/>
          </p:cNvPr>
          <p:cNvSpPr/>
          <p:nvPr/>
        </p:nvSpPr>
        <p:spPr>
          <a:xfrm>
            <a:off x="3136392"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2  Market baseline</a:t>
            </a:r>
          </a:p>
        </p:txBody>
      </p:sp>
      <p:sp>
        <p:nvSpPr>
          <p:cNvPr id="6" name="Section navigation 3">
            <a:hlinkClick action="ppaction://hlinksldjump" r:id="rId5"/>
          </p:cNvPr>
          <p:cNvSpPr/>
          <p:nvPr/>
        </p:nvSpPr>
        <p:spPr>
          <a:xfrm>
            <a:off x="5815584"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3  Market changes</a:t>
            </a:r>
          </a:p>
        </p:txBody>
      </p:sp>
      <p:sp>
        <p:nvSpPr>
          <p:cNvPr id="7" name="Section navigation 4">
            <a:hlinkClick action="ppaction://hlinksldjump" r:id="rId6"/>
          </p:cNvPr>
          <p:cNvSpPr/>
          <p:nvPr/>
        </p:nvSpPr>
        <p:spPr>
          <a:xfrm>
            <a:off x="8494776"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1">
                <a:solidFill>
                  <a:srgbClr val="FFFFFF"/>
                </a:solidFill>
                <a:latin typeface="Lato"/>
              </a:defRPr>
            </a:pPr>
            <a:r>
              <a:rPr sz="1050"/>
              <a:t>4  Vopak outlook</a:t>
            </a:r>
          </a:p>
        </p:txBody>
      </p:sp>
      <p:sp>
        <p:nvSpPr>
          <p:cNvPr id="8"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b="0">
                <a:solidFill>
                  <a:srgbClr val="000000"/>
                </a:solidFill>
                <a:latin typeface="Lato"/>
              </a:defRPr>
            </a:pPr>
            <a:r>
              <a:rPr sz="750"/>
              <a:t>Source: Existing illustrative catchment CSV; conditions authored for review. No actual Vopak share, cost threshold or forecast capture established.</a:t>
            </a:r>
          </a:p>
        </p:txBody>
      </p:sp>
      <p:sp>
        <p:nvSpPr>
          <p:cNvPr id="25" name="TextBox 24"/>
          <p:cNvSpPr txBox="1"/>
          <p:nvPr/>
        </p:nvSpPr>
        <p:spPr>
          <a:xfrm>
            <a:off x="457200" y="1627632"/>
            <a:ext cx="6446520" cy="384048"/>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Accessibility gates and volume milestones | illustrative bn L/year</a:t>
            </a:r>
          </a:p>
        </p:txBody>
      </p:sp>
      <p:cxnSp>
        <p:nvCxnSpPr>
          <p:cNvPr id="26" name="Connector 25"/>
          <p:cNvCxnSpPr/>
          <p:nvPr/>
        </p:nvCxnSpPr>
        <p:spPr>
          <a:xfrm>
            <a:off x="457200" y="1947672"/>
            <a:ext cx="644652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7424927" y="1947672"/>
            <a:ext cx="3685033"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457200" y="2176272"/>
            <a:ext cx="6446520" cy="274320"/>
          </a:xfrm>
          <a:prstGeom prst="rect">
            <a:avLst/>
          </a:prstGeom>
          <a:noFill/>
        </p:spPr>
        <p:txBody>
          <a:bodyPr wrap="square" lIns="22860" rIns="22860" tIns="0" bIns="0">
            <a:spAutoFit/>
          </a:bodyPr>
          <a:lstStyle/>
          <a:p>
            <a:pPr>
              <a:spcAft>
                <a:spcPts val="300"/>
              </a:spcAft>
              <a:defRPr sz="1100" b="1">
                <a:solidFill>
                  <a:srgbClr val="0A2373"/>
                </a:solidFill>
                <a:latin typeface="Lato"/>
              </a:defRPr>
            </a:pPr>
            <a:r>
              <a:t>ILLUSTRATIVE | each increment requires evidence; not cumulative terminal receipts</a:t>
            </a:r>
          </a:p>
        </p:txBody>
      </p:sp>
      <p:sp>
        <p:nvSpPr>
          <p:cNvPr id="30" name="TextBox 29"/>
          <p:cNvSpPr txBox="1"/>
          <p:nvPr/>
        </p:nvSpPr>
        <p:spPr>
          <a:xfrm>
            <a:off x="457200" y="2724912"/>
            <a:ext cx="6446520" cy="457200"/>
          </a:xfrm>
          <a:prstGeom prst="rect">
            <a:avLst/>
          </a:prstGeom>
          <a:noFill/>
        </p:spPr>
        <p:txBody>
          <a:bodyPr wrap="square" lIns="22860" rIns="22860" tIns="0" bIns="0">
            <a:spAutoFit/>
          </a:bodyPr>
          <a:lstStyle/>
          <a:p>
            <a:pPr>
              <a:spcAft>
                <a:spcPts val="300"/>
              </a:spcAft>
              <a:defRPr sz="2200" b="1">
                <a:solidFill>
                  <a:srgbClr val="0A2373"/>
                </a:solidFill>
                <a:latin typeface="Lato"/>
              </a:defRPr>
            </a:pPr>
            <a:r>
              <a:t>5.5 bn L/year additional candidate</a:t>
            </a:r>
          </a:p>
        </p:txBody>
      </p:sp>
      <p:sp>
        <p:nvSpPr>
          <p:cNvPr id="31" name="TextBox 30"/>
          <p:cNvSpPr txBox="1"/>
          <p:nvPr/>
        </p:nvSpPr>
        <p:spPr>
          <a:xfrm>
            <a:off x="457200" y="3255264"/>
            <a:ext cx="6446520" cy="283464"/>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t>3.0 current example + 5.5 additional = 8.5 total envelope</a:t>
            </a:r>
          </a:p>
        </p:txBody>
      </p:sp>
      <p:sp>
        <p:nvSpPr>
          <p:cNvPr id="32" name="Rectangle 31"/>
          <p:cNvSpPr/>
          <p:nvPr/>
        </p:nvSpPr>
        <p:spPr>
          <a:xfrm>
            <a:off x="457200" y="3813048"/>
            <a:ext cx="2275242" cy="594360"/>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21208" y="3968496"/>
            <a:ext cx="2147226" cy="274320"/>
          </a:xfrm>
          <a:prstGeom prst="rect">
            <a:avLst/>
          </a:prstGeom>
          <a:noFill/>
        </p:spPr>
        <p:txBody>
          <a:bodyPr wrap="square" lIns="22860" rIns="22860" tIns="0" bIns="0">
            <a:spAutoFit/>
          </a:bodyPr>
          <a:lstStyle/>
          <a:p>
            <a:pPr>
              <a:spcAft>
                <a:spcPts val="300"/>
              </a:spcAft>
              <a:defRPr sz="1200" b="1">
                <a:solidFill>
                  <a:srgbClr val="FFFFFF"/>
                </a:solidFill>
                <a:latin typeface="Lato"/>
              </a:defRPr>
            </a:pPr>
            <a:r>
              <a:t>Current 3.0</a:t>
            </a:r>
          </a:p>
        </p:txBody>
      </p:sp>
      <p:sp>
        <p:nvSpPr>
          <p:cNvPr id="34" name="Rectangle 33"/>
          <p:cNvSpPr/>
          <p:nvPr/>
        </p:nvSpPr>
        <p:spPr>
          <a:xfrm>
            <a:off x="2732442" y="3813048"/>
            <a:ext cx="1137621" cy="594360"/>
          </a:xfrm>
          <a:prstGeom prst="rect">
            <a:avLst/>
          </a:prstGeom>
          <a:solidFill>
            <a:srgbClr val="546C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2796450" y="3968496"/>
            <a:ext cx="1009605" cy="274320"/>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Coastal + 1.5</a:t>
            </a:r>
          </a:p>
        </p:txBody>
      </p:sp>
      <p:sp>
        <p:nvSpPr>
          <p:cNvPr id="36" name="Rectangle 35"/>
          <p:cNvSpPr/>
          <p:nvPr/>
        </p:nvSpPr>
        <p:spPr>
          <a:xfrm>
            <a:off x="3870063" y="3813048"/>
            <a:ext cx="3033656" cy="594360"/>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934071" y="3968496"/>
            <a:ext cx="2905640" cy="274320"/>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Inland + 4.0</a:t>
            </a:r>
          </a:p>
        </p:txBody>
      </p:sp>
      <p:sp>
        <p:nvSpPr>
          <p:cNvPr id="38" name="TextBox 37"/>
          <p:cNvSpPr txBox="1"/>
          <p:nvPr/>
        </p:nvSpPr>
        <p:spPr>
          <a:xfrm>
            <a:off x="457200" y="4800600"/>
            <a:ext cx="6446520" cy="301752"/>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What must hold before any additional litres are counted?</a:t>
            </a:r>
          </a:p>
        </p:txBody>
      </p:sp>
      <p:graphicFrame>
        <p:nvGraphicFramePr>
          <p:cNvPr id="39" name="Table 38"/>
          <p:cNvGraphicFramePr>
            <a:graphicFrameLocks noGrp="1"/>
          </p:cNvGraphicFramePr>
          <p:nvPr/>
        </p:nvGraphicFramePr>
        <p:xfrm>
          <a:off x="457200" y="5349240"/>
          <a:ext cx="6446520" cy="576072"/>
        </p:xfrm>
        <a:graphic>
          <a:graphicData uri="http://schemas.openxmlformats.org/drawingml/2006/table">
            <a:tbl>
              <a:tblPr firstRow="1" bandRow="1">
                <a:tableStyleId>{2D5ABB26-0587-4C30-8999-92F81FD0307C}</a:tableStyleId>
              </a:tblPr>
              <a:tblGrid>
                <a:gridCol w="1609344"/>
                <a:gridCol w="1609344"/>
                <a:gridCol w="1609344"/>
                <a:gridCol w="1618488"/>
              </a:tblGrid>
              <a:tr h="576072">
                <a:tc>
                  <a:txBody>
                    <a:bodyPr/>
                    <a:lstStyle/>
                    <a:p>
                      <a:pPr>
                        <a:spcAft>
                          <a:spcPts val="0"/>
                        </a:spcAft>
                        <a:defRPr sz="1100" b="1">
                          <a:solidFill>
                            <a:srgbClr val="000000"/>
                          </a:solidFill>
                          <a:latin typeface="Lato"/>
                        </a:defRPr>
                      </a:pPr>
                      <a:r>
                        <a:t>Competitive cost</a:t>
                      </a:r>
                    </a:p>
                  </a:txBody>
                  <a:tcPr marL="50292" marR="50292" marT="41148" marB="41148" anchor="ctr">
                    <a:lnB w="6350" cap="flat">
                      <a:solidFill>
                        <a:srgbClr val="EEEEEE"/>
                      </a:solidFill>
                    </a:lnB>
                    <a:solidFill>
                      <a:srgbClr val="FFFFFF"/>
                    </a:solidFill>
                  </a:tcPr>
                </a:tc>
                <a:tc>
                  <a:txBody>
                    <a:bodyPr/>
                    <a:lstStyle/>
                    <a:p>
                      <a:pPr>
                        <a:spcAft>
                          <a:spcPts val="0"/>
                        </a:spcAft>
                        <a:defRPr sz="1100" b="1">
                          <a:solidFill>
                            <a:srgbClr val="000000"/>
                          </a:solidFill>
                          <a:latin typeface="Lato"/>
                        </a:defRPr>
                      </a:pPr>
                      <a:r>
                        <a:t>Usable capacity</a:t>
                      </a:r>
                    </a:p>
                  </a:txBody>
                  <a:tcPr marL="50292" marR="50292" marT="41148" marB="41148" anchor="ctr">
                    <a:lnB w="6350" cap="flat">
                      <a:solidFill>
                        <a:srgbClr val="EEEEEE"/>
                      </a:solidFill>
                    </a:lnB>
                    <a:solidFill>
                      <a:srgbClr val="FFFFFF"/>
                    </a:solidFill>
                  </a:tcPr>
                </a:tc>
                <a:tc>
                  <a:txBody>
                    <a:bodyPr/>
                    <a:lstStyle/>
                    <a:p>
                      <a:pPr>
                        <a:spcAft>
                          <a:spcPts val="0"/>
                        </a:spcAft>
                        <a:defRPr sz="1100" b="1">
                          <a:solidFill>
                            <a:srgbClr val="000000"/>
                          </a:solidFill>
                          <a:latin typeface="Lato"/>
                        </a:defRPr>
                      </a:pPr>
                      <a:r>
                        <a:t>Customer access</a:t>
                      </a:r>
                    </a:p>
                  </a:txBody>
                  <a:tcPr marL="50292" marR="50292" marT="41148" marB="41148" anchor="ctr">
                    <a:lnB w="6350" cap="flat">
                      <a:solidFill>
                        <a:srgbClr val="EEEEEE"/>
                      </a:solidFill>
                    </a:lnB>
                    <a:solidFill>
                      <a:srgbClr val="FFFFFF"/>
                    </a:solidFill>
                  </a:tcPr>
                </a:tc>
                <a:tc>
                  <a:txBody>
                    <a:bodyPr/>
                    <a:lstStyle/>
                    <a:p>
                      <a:pPr>
                        <a:spcAft>
                          <a:spcPts val="0"/>
                        </a:spcAft>
                        <a:defRPr sz="1100" b="1">
                          <a:solidFill>
                            <a:srgbClr val="000000"/>
                          </a:solidFill>
                          <a:latin typeface="Lato"/>
                        </a:defRPr>
                      </a:pPr>
                      <a:r>
                        <a:t>Unique deliveries</a:t>
                      </a:r>
                    </a:p>
                  </a:txBody>
                  <a:tcPr marL="50292" marR="50292" marT="41148" marB="41148" anchor="ctr">
                    <a:lnB w="6350" cap="flat">
                      <a:solidFill>
                        <a:srgbClr val="EEEEEE"/>
                      </a:solidFill>
                    </a:lnB>
                    <a:solidFill>
                      <a:srgbClr val="FFFFFF"/>
                    </a:solidFill>
                  </a:tcPr>
                </a:tc>
              </a:tr>
            </a:tbl>
          </a:graphicData>
        </a:graphic>
      </p:graphicFrame>
      <p:sp>
        <p:nvSpPr>
          <p:cNvPr id="40" name="TextBox 39"/>
          <p:cNvSpPr txBox="1"/>
          <p:nvPr/>
        </p:nvSpPr>
        <p:spPr>
          <a:xfrm>
            <a:off x="457200" y="6035040"/>
            <a:ext cx="6446520" cy="365760"/>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Detailed customer-by-route gates belong in the evidence register.</a:t>
            </a:r>
          </a:p>
          <a:p>
            <a:pPr>
              <a:spcAft>
                <a:spcPts val="300"/>
              </a:spcAft>
              <a:defRPr sz="1100" b="0">
                <a:solidFill>
                  <a:srgbClr val="000000"/>
                </a:solidFill>
                <a:latin typeface="Lato"/>
              </a:defRPr>
            </a:pPr>
            <a:r>
              <a:t>Illustration only; 5.5 is neither a forecast nor a confirmed capturable market.</a:t>
            </a:r>
          </a:p>
        </p:txBody>
      </p:sp>
      <p:sp>
        <p:nvSpPr>
          <p:cNvPr id="41" name="TextBox 40"/>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What the evidence shows</a:t>
            </a:r>
          </a:p>
        </p:txBody>
      </p:sp>
      <p:sp>
        <p:nvSpPr>
          <p:cNvPr id="42" name="TextBox 41"/>
          <p:cNvSpPr txBox="1"/>
          <p:nvPr/>
        </p:nvSpPr>
        <p:spPr>
          <a:xfrm>
            <a:off x="7424927" y="218541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01 | Reach is necessary, not sufficient</a:t>
            </a:r>
          </a:p>
        </p:txBody>
      </p:sp>
      <p:sp>
        <p:nvSpPr>
          <p:cNvPr id="43" name="TextBox 42"/>
          <p:cNvSpPr txBox="1"/>
          <p:nvPr/>
        </p:nvSpPr>
        <p:spPr>
          <a:xfrm>
            <a:off x="7424927" y="256946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Accessibility map p10 and competing routes p11 locate candidate access. Neither currently links a verified cost threshold to customer litres.</a:t>
            </a:r>
          </a:p>
        </p:txBody>
      </p:sp>
      <p:sp>
        <p:nvSpPr>
          <p:cNvPr id="44" name="TextBox 43"/>
          <p:cNvSpPr txBox="1"/>
          <p:nvPr/>
        </p:nvSpPr>
        <p:spPr>
          <a:xfrm>
            <a:off x="7424927" y="314553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02 | Example milestones are conditional</a:t>
            </a:r>
          </a:p>
        </p:txBody>
      </p:sp>
      <p:sp>
        <p:nvSpPr>
          <p:cNvPr id="45" name="TextBox 44"/>
          <p:cNvSpPr txBox="1"/>
          <p:nvPr/>
        </p:nvSpPr>
        <p:spPr>
          <a:xfrm>
            <a:off x="7424927" y="3529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The current example is 3.0. Coastal candidate 1.5 raises it to 4.5; inland candidate 4.0 raises it to 8.5. These are authored volumes.</a:t>
            </a:r>
          </a:p>
        </p:txBody>
      </p:sp>
      <p:sp>
        <p:nvSpPr>
          <p:cNvPr id="46" name="TextBox 45"/>
          <p:cNvSpPr txBox="1"/>
          <p:nvPr/>
        </p:nvSpPr>
        <p:spPr>
          <a:xfrm>
            <a:off x="7424927" y="410565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03 | Every increment needs four gates</a:t>
            </a:r>
          </a:p>
        </p:txBody>
      </p:sp>
      <p:sp>
        <p:nvSpPr>
          <p:cNvPr id="47" name="TextBox 46"/>
          <p:cNvSpPr txBox="1"/>
          <p:nvPr/>
        </p:nvSpPr>
        <p:spPr>
          <a:xfrm>
            <a:off x="7424927" y="448970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Evidence cost, route/tank capacity, customer rights and unique deliveries for the same product and period. Unassessed litres remain explicit.</a:t>
            </a:r>
          </a:p>
        </p:txBody>
      </p:sp>
      <p:cxnSp>
        <p:nvCxnSpPr>
          <p:cNvPr id="48" name="Connector 47"/>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49" name="TextBox 48"/>
          <p:cNvSpPr txBox="1"/>
          <p:nvPr/>
        </p:nvSpPr>
        <p:spPr>
          <a:xfrm>
            <a:off x="7424927" y="5321808"/>
            <a:ext cx="3685032"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To resolve next</a:t>
            </a:r>
          </a:p>
        </p:txBody>
      </p:sp>
      <p:sp>
        <p:nvSpPr>
          <p:cNvPr id="50" name="TextBox 49"/>
          <p:cNvSpPr txBox="1"/>
          <p:nvPr/>
        </p:nvSpPr>
        <p:spPr>
          <a:xfrm>
            <a:off x="7424927" y="5687568"/>
            <a:ext cx="3685032" cy="62179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Nigel: agree destinations and acceptable delivered cost. Manish: build a customer-by-route gate table; record passed, failed and unassessed litres, with sources and conditions.</a:t>
            </a:r>
          </a:p>
        </p:txBody>
      </p:sp>
      <p:sp>
        <p:nvSpPr>
          <p:cNvPr id="51" name="SCR divider marker: circle"/>
          <p:cNvSpPr/>
          <p:nvPr/>
        </p:nvSpPr>
        <p:spPr>
          <a:xfrm>
            <a:off x="7086600" y="1828800"/>
            <a:ext cx="237744" cy="237744"/>
          </a:xfrm>
          <a:prstGeom prst="ellipse">
            <a:avLst/>
          </a:prstGeom>
          <a:solidFill>
            <a:srgbClr val="0A2373"/>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2" name="SCR divider marker: arrow"/>
          <p:cNvCxnSpPr/>
          <p:nvPr/>
        </p:nvCxnSpPr>
        <p:spPr>
          <a:xfrm>
            <a:off x="7173468" y="1888236"/>
            <a:ext cx="64008" cy="59436"/>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53" name="SCR divider marker: arrow"/>
          <p:cNvCxnSpPr/>
          <p:nvPr/>
        </p:nvCxnSpPr>
        <p:spPr>
          <a:xfrm flipH="1">
            <a:off x="7173468" y="1947672"/>
            <a:ext cx="64008" cy="59435"/>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sp>
        <p:nvSpPr>
          <p:cNvPr id="54"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R7. Durban leads the published storage subset</a:t>
            </a:r>
          </a:p>
        </p:txBody>
      </p:sp>
      <p:sp>
        <p:nvSpPr>
          <p:cNvPr id="3" name="Slide Number Placeholder"/>
          <p:cNvSpPr>
            <a:spLocks noGrp="1"/>
          </p:cNvSpPr>
          <p:nvPr>
            <p:ph type="sldNum" sz="quarter" idx="12"/>
          </p:nvPr>
        </p:nvSpPr>
        <p:spPr/>
        <p:txBody>
          <a:bodyPr/>
          <a:lstStyle/>
          <a:p>
            <a:fld id="{25E94665-B65F-46B5-84FF-E2457E89F540}" type="slidenum">
              <a:rPr lang="en-US"/>
              <a:t>‹#›</a:t>
            </a:fld>
          </a:p>
        </p:txBody>
      </p:sp>
      <p:sp>
        <p:nvSpPr>
          <p:cNvPr id="4" name="Section navigation 1">
            <a:hlinkClick action="ppaction://hlinksldjump" r:id="rId3"/>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1  Overview</a:t>
            </a:r>
          </a:p>
        </p:txBody>
      </p:sp>
      <p:sp>
        <p:nvSpPr>
          <p:cNvPr id="5" name="Section navigation 2">
            <a:hlinkClick action="ppaction://hlinksldjump" r:id="rId4"/>
          </p:cNvPr>
          <p:cNvSpPr/>
          <p:nvPr/>
        </p:nvSpPr>
        <p:spPr>
          <a:xfrm>
            <a:off x="3136392"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2  Market baseline</a:t>
            </a:r>
          </a:p>
        </p:txBody>
      </p:sp>
      <p:sp>
        <p:nvSpPr>
          <p:cNvPr id="6" name="Section navigation 3">
            <a:hlinkClick action="ppaction://hlinksldjump" r:id="rId5"/>
          </p:cNvPr>
          <p:cNvSpPr/>
          <p:nvPr/>
        </p:nvSpPr>
        <p:spPr>
          <a:xfrm>
            <a:off x="5815584"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3  Market changes</a:t>
            </a:r>
          </a:p>
        </p:txBody>
      </p:sp>
      <p:sp>
        <p:nvSpPr>
          <p:cNvPr id="7" name="Section navigation 4">
            <a:hlinkClick action="ppaction://hlinksldjump" r:id="rId6"/>
          </p:cNvPr>
          <p:cNvSpPr/>
          <p:nvPr/>
        </p:nvSpPr>
        <p:spPr>
          <a:xfrm>
            <a:off x="8494776"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1">
                <a:solidFill>
                  <a:srgbClr val="FFFFFF"/>
                </a:solidFill>
                <a:latin typeface="Lato"/>
              </a:defRPr>
            </a:pPr>
            <a:r>
              <a:rPr sz="1050"/>
              <a:t>4  Vopak outlook</a:t>
            </a:r>
          </a:p>
        </p:txBody>
      </p:sp>
      <p:sp>
        <p:nvSpPr>
          <p:cNvPr id="8"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a:latin typeface="Lato"/>
              </a:defRPr>
            </a:pPr>
            <a:r>
              <a:rPr sz="750"/>
              <a:t>Note: *Ladysmith excludes 0.474 intermixture. Unquantified: Bethlehem, Magdala, Sasol, Tarlton, Jameson Park.</a:t>
            </a:r>
          </a:p>
          <a:p>
            <a:pPr>
              <a:lnSpc>
                <a:spcPts val="900"/>
              </a:lnSpc>
              <a:spcBef>
                <a:spcPts val="0"/>
              </a:spcBef>
              <a:spcAft>
                <a:spcPts val="0"/>
              </a:spcAft>
              <a:defRPr sz="750">
                <a:latin typeface="Lato"/>
              </a:defRPr>
            </a:pPr>
            <a:r>
              <a:rPr sz="750"/>
              <a:t>Source: Vopak; Bidvest; VTTI Burgan Cape; Transnet lease RFPs (5 Oct 2026), pp. 2-3. Checked 6 Oct 2026.</a:t>
            </a:r>
          </a:p>
        </p:txBody>
      </p:sp>
      <p:sp>
        <p:nvSpPr>
          <p:cNvPr id="9" name="TextBox 8"/>
          <p:cNvSpPr txBox="1"/>
          <p:nvPr/>
        </p:nvSpPr>
        <p:spPr>
          <a:xfrm>
            <a:off x="457200" y="1627632"/>
            <a:ext cx="6446520"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Published storage by location | thousand m³; mixed capacity bases</a:t>
            </a:r>
          </a:p>
        </p:txBody>
      </p:sp>
      <p:cxnSp>
        <p:nvCxnSpPr>
          <p:cNvPr id="10" name="Connector 9"/>
          <p:cNvCxnSpPr/>
          <p:nvPr/>
        </p:nvCxnSpPr>
        <p:spPr>
          <a:xfrm>
            <a:off x="457200" y="1947672"/>
            <a:ext cx="6446520"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7424927" y="1947672"/>
            <a:ext cx="3685033"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457200" y="2176272"/>
            <a:ext cx="6446520" cy="246888"/>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One shared scale for every location</a:t>
            </a:r>
          </a:p>
        </p:txBody>
      </p:sp>
      <p:cxnSp>
        <p:nvCxnSpPr>
          <p:cNvPr id="23" name="Connector 22"/>
          <p:cNvCxnSpPr/>
          <p:nvPr/>
        </p:nvCxnSpPr>
        <p:spPr>
          <a:xfrm>
            <a:off x="2029968" y="2715768"/>
            <a:ext cx="0" cy="2770632"/>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1892808" y="2468880"/>
            <a:ext cx="411480"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0</a:t>
            </a:r>
          </a:p>
        </p:txBody>
      </p:sp>
      <p:cxnSp>
        <p:nvCxnSpPr>
          <p:cNvPr id="25" name="Connector 24"/>
          <p:cNvCxnSpPr/>
          <p:nvPr/>
        </p:nvCxnSpPr>
        <p:spPr>
          <a:xfrm>
            <a:off x="3026126" y="2715768"/>
            <a:ext cx="0" cy="2770632"/>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2888966" y="2468880"/>
            <a:ext cx="411480"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200</a:t>
            </a:r>
          </a:p>
        </p:txBody>
      </p:sp>
      <p:cxnSp>
        <p:nvCxnSpPr>
          <p:cNvPr id="27" name="Connector 26"/>
          <p:cNvCxnSpPr/>
          <p:nvPr/>
        </p:nvCxnSpPr>
        <p:spPr>
          <a:xfrm>
            <a:off x="4022284" y="2715768"/>
            <a:ext cx="0" cy="2770632"/>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3885124" y="2468880"/>
            <a:ext cx="411480"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400</a:t>
            </a:r>
          </a:p>
        </p:txBody>
      </p:sp>
      <p:cxnSp>
        <p:nvCxnSpPr>
          <p:cNvPr id="29" name="Connector 28"/>
          <p:cNvCxnSpPr/>
          <p:nvPr/>
        </p:nvCxnSpPr>
        <p:spPr>
          <a:xfrm>
            <a:off x="5018442" y="2715768"/>
            <a:ext cx="0" cy="2770632"/>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4881282" y="2468880"/>
            <a:ext cx="411480"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600</a:t>
            </a:r>
          </a:p>
        </p:txBody>
      </p:sp>
      <p:cxnSp>
        <p:nvCxnSpPr>
          <p:cNvPr id="31" name="Connector 30"/>
          <p:cNvCxnSpPr/>
          <p:nvPr/>
        </p:nvCxnSpPr>
        <p:spPr>
          <a:xfrm>
            <a:off x="6014600" y="2715768"/>
            <a:ext cx="0" cy="2770632"/>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5877440" y="2468880"/>
            <a:ext cx="411480"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800</a:t>
            </a:r>
          </a:p>
        </p:txBody>
      </p:sp>
      <p:sp>
        <p:nvSpPr>
          <p:cNvPr id="33" name="Storage location label: Durban"/>
          <p:cNvSpPr txBox="1"/>
          <p:nvPr/>
        </p:nvSpPr>
        <p:spPr>
          <a:xfrm>
            <a:off x="457200" y="2779776"/>
            <a:ext cx="1508760"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Durban</a:t>
            </a:r>
          </a:p>
        </p:txBody>
      </p:sp>
      <p:sp>
        <p:nvSpPr>
          <p:cNvPr id="34" name="Published gross capacity: Vopak Durban: 360246.0 m3; shared scale"/>
          <p:cNvSpPr/>
          <p:nvPr/>
        </p:nvSpPr>
        <p:spPr>
          <a:xfrm>
            <a:off x="2029968" y="2788920"/>
            <a:ext cx="1794309"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Published gross capacity: Bidvest Tank Terminals Durban: 439306.0 m3; shared scale"/>
          <p:cNvSpPr/>
          <p:nvPr/>
        </p:nvSpPr>
        <p:spPr>
          <a:xfrm>
            <a:off x="3824277" y="2788920"/>
            <a:ext cx="2188091"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Storage value label: Durban"/>
          <p:cNvSpPr txBox="1"/>
          <p:nvPr/>
        </p:nvSpPr>
        <p:spPr>
          <a:xfrm>
            <a:off x="6094665" y="2779776"/>
            <a:ext cx="65836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799.55</a:t>
            </a:r>
          </a:p>
        </p:txBody>
      </p:sp>
      <p:sp>
        <p:nvSpPr>
          <p:cNvPr id="37" name="Storage location label: Richards Bay"/>
          <p:cNvSpPr txBox="1"/>
          <p:nvPr/>
        </p:nvSpPr>
        <p:spPr>
          <a:xfrm>
            <a:off x="457200" y="3127248"/>
            <a:ext cx="1508760"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Richards Bay</a:t>
            </a:r>
          </a:p>
        </p:txBody>
      </p:sp>
      <p:sp>
        <p:nvSpPr>
          <p:cNvPr id="38" name="Published gross capacity: Bidvest Tank Terminals Richards Bay: 483797.0 m3; shared scale"/>
          <p:cNvSpPr/>
          <p:nvPr/>
        </p:nvSpPr>
        <p:spPr>
          <a:xfrm>
            <a:off x="2029968" y="3136391"/>
            <a:ext cx="2409691"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Storage value label: Richards Bay"/>
          <p:cNvSpPr txBox="1"/>
          <p:nvPr/>
        </p:nvSpPr>
        <p:spPr>
          <a:xfrm>
            <a:off x="4521955" y="3127248"/>
            <a:ext cx="65836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483.80</a:t>
            </a:r>
          </a:p>
        </p:txBody>
      </p:sp>
      <p:sp>
        <p:nvSpPr>
          <p:cNvPr id="40" name="Storage location label: Lesedi"/>
          <p:cNvSpPr txBox="1"/>
          <p:nvPr/>
        </p:nvSpPr>
        <p:spPr>
          <a:xfrm>
            <a:off x="457200" y="3474720"/>
            <a:ext cx="1508760"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Lesedi</a:t>
            </a:r>
          </a:p>
        </p:txBody>
      </p:sp>
      <p:sp>
        <p:nvSpPr>
          <p:cNvPr id="41" name="Published gross capacity: Vopak Lesedi: 140000.0 m3; shared scale"/>
          <p:cNvSpPr/>
          <p:nvPr/>
        </p:nvSpPr>
        <p:spPr>
          <a:xfrm>
            <a:off x="2029968" y="3483863"/>
            <a:ext cx="697310"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Storage value label: Lesedi"/>
          <p:cNvSpPr txBox="1"/>
          <p:nvPr/>
        </p:nvSpPr>
        <p:spPr>
          <a:xfrm>
            <a:off x="2809574" y="3474720"/>
            <a:ext cx="65836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140.00</a:t>
            </a:r>
          </a:p>
        </p:txBody>
      </p:sp>
      <p:sp>
        <p:nvSpPr>
          <p:cNvPr id="43" name="Storage location label: Cape Town"/>
          <p:cNvSpPr txBox="1"/>
          <p:nvPr/>
        </p:nvSpPr>
        <p:spPr>
          <a:xfrm>
            <a:off x="457200" y="3822191"/>
            <a:ext cx="1508760"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Cape Town</a:t>
            </a:r>
          </a:p>
        </p:txBody>
      </p:sp>
      <p:sp>
        <p:nvSpPr>
          <p:cNvPr id="44" name="Published gross capacity: VTTI Burgan Cape Terminal Cape Town: 122000.0 m3; shared scale"/>
          <p:cNvSpPr/>
          <p:nvPr/>
        </p:nvSpPr>
        <p:spPr>
          <a:xfrm>
            <a:off x="2029968" y="3831335"/>
            <a:ext cx="607656" cy="246888"/>
          </a:xfrm>
          <a:prstGeom prst="rect">
            <a:avLst/>
          </a:prstGeom>
          <a:solidFill>
            <a:srgbClr val="BACC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Storage value label: Cape Town"/>
          <p:cNvSpPr txBox="1"/>
          <p:nvPr/>
        </p:nvSpPr>
        <p:spPr>
          <a:xfrm>
            <a:off x="2719920" y="3822191"/>
            <a:ext cx="65836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122.00</a:t>
            </a:r>
          </a:p>
        </p:txBody>
      </p:sp>
      <p:sp>
        <p:nvSpPr>
          <p:cNvPr id="46" name="Storage location label: Isando"/>
          <p:cNvSpPr txBox="1"/>
          <p:nvPr/>
        </p:nvSpPr>
        <p:spPr>
          <a:xfrm>
            <a:off x="457200" y="4169664"/>
            <a:ext cx="1508760"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Isando</a:t>
            </a:r>
          </a:p>
        </p:txBody>
      </p:sp>
      <p:sp>
        <p:nvSpPr>
          <p:cNvPr id="47" name="Published gross capacity: Bidvest Tank Terminals Isando: 32500.0 m3; shared scale"/>
          <p:cNvSpPr/>
          <p:nvPr/>
        </p:nvSpPr>
        <p:spPr>
          <a:xfrm>
            <a:off x="2029968" y="4178808"/>
            <a:ext cx="161875"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Storage value label: Isando"/>
          <p:cNvSpPr txBox="1"/>
          <p:nvPr/>
        </p:nvSpPr>
        <p:spPr>
          <a:xfrm>
            <a:off x="2274139" y="4169664"/>
            <a:ext cx="65836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32.50</a:t>
            </a:r>
          </a:p>
        </p:txBody>
      </p:sp>
      <p:sp>
        <p:nvSpPr>
          <p:cNvPr id="49" name="Storage location label: Ladysmith"/>
          <p:cNvSpPr txBox="1"/>
          <p:nvPr/>
        </p:nvSpPr>
        <p:spPr>
          <a:xfrm>
            <a:off x="457200" y="4517136"/>
            <a:ext cx="1508760"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Ladysmith*</a:t>
            </a:r>
          </a:p>
        </p:txBody>
      </p:sp>
      <p:sp>
        <p:nvSpPr>
          <p:cNvPr id="50" name="Lease offer capacity: Transnet Pipelines Ladysmith: 8540.0 m3; shared scale"/>
          <p:cNvSpPr/>
          <p:nvPr/>
        </p:nvSpPr>
        <p:spPr>
          <a:xfrm>
            <a:off x="2029968" y="4526279"/>
            <a:ext cx="42535" cy="246888"/>
          </a:xfrm>
          <a:prstGeom prst="rect">
            <a:avLst/>
          </a:prstGeom>
          <a:solidFill>
            <a:srgbClr val="E3EBF6"/>
          </a:solidFill>
          <a:ln w="1016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Storage value label: Ladysmith"/>
          <p:cNvSpPr txBox="1"/>
          <p:nvPr/>
        </p:nvSpPr>
        <p:spPr>
          <a:xfrm>
            <a:off x="2154799" y="4517136"/>
            <a:ext cx="65836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8.54</a:t>
            </a:r>
          </a:p>
        </p:txBody>
      </p:sp>
      <p:sp>
        <p:nvSpPr>
          <p:cNvPr id="52" name="Storage location label: Kroonstad"/>
          <p:cNvSpPr txBox="1"/>
          <p:nvPr/>
        </p:nvSpPr>
        <p:spPr>
          <a:xfrm>
            <a:off x="457200" y="4864608"/>
            <a:ext cx="1508760"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Kroonstad</a:t>
            </a:r>
          </a:p>
        </p:txBody>
      </p:sp>
      <p:sp>
        <p:nvSpPr>
          <p:cNvPr id="53" name="Lease offer capacity: Transnet Pipelines Kroonstad: 3300.0 m3; shared scale"/>
          <p:cNvSpPr/>
          <p:nvPr/>
        </p:nvSpPr>
        <p:spPr>
          <a:xfrm>
            <a:off x="2029968" y="4873752"/>
            <a:ext cx="16436" cy="246888"/>
          </a:xfrm>
          <a:prstGeom prst="rect">
            <a:avLst/>
          </a:prstGeom>
          <a:solidFill>
            <a:srgbClr val="E3EBF6"/>
          </a:solidFill>
          <a:ln w="1016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Storage value label: Kroonstad"/>
          <p:cNvSpPr txBox="1"/>
          <p:nvPr/>
        </p:nvSpPr>
        <p:spPr>
          <a:xfrm>
            <a:off x="2128700" y="4864608"/>
            <a:ext cx="65836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3.30</a:t>
            </a:r>
          </a:p>
        </p:txBody>
      </p:sp>
      <p:sp>
        <p:nvSpPr>
          <p:cNvPr id="55" name="Storage location label: Standerton"/>
          <p:cNvSpPr txBox="1"/>
          <p:nvPr/>
        </p:nvSpPr>
        <p:spPr>
          <a:xfrm>
            <a:off x="457200" y="5212080"/>
            <a:ext cx="1508760"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Standerton</a:t>
            </a:r>
          </a:p>
        </p:txBody>
      </p:sp>
      <p:sp>
        <p:nvSpPr>
          <p:cNvPr id="56" name="Lease offer capacity: Transnet Pipelines Standerton: 2353.0 m3; shared scale"/>
          <p:cNvSpPr/>
          <p:nvPr/>
        </p:nvSpPr>
        <p:spPr>
          <a:xfrm>
            <a:off x="2029968" y="5221224"/>
            <a:ext cx="11719" cy="246888"/>
          </a:xfrm>
          <a:prstGeom prst="rect">
            <a:avLst/>
          </a:prstGeom>
          <a:solidFill>
            <a:srgbClr val="E3EBF6"/>
          </a:solidFill>
          <a:ln w="1016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Storage value label: Standerton"/>
          <p:cNvSpPr txBox="1"/>
          <p:nvPr/>
        </p:nvSpPr>
        <p:spPr>
          <a:xfrm>
            <a:off x="2123983" y="5212080"/>
            <a:ext cx="65836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2.35</a:t>
            </a:r>
          </a:p>
        </p:txBody>
      </p:sp>
      <p:sp>
        <p:nvSpPr>
          <p:cNvPr id="58" name="Rectangle 57"/>
          <p:cNvSpPr/>
          <p:nvPr/>
        </p:nvSpPr>
        <p:spPr>
          <a:xfrm>
            <a:off x="457200" y="5660136"/>
            <a:ext cx="118872" cy="118872"/>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630936" y="5614416"/>
            <a:ext cx="1810512"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Vopak</a:t>
            </a:r>
          </a:p>
        </p:txBody>
      </p:sp>
      <p:sp>
        <p:nvSpPr>
          <p:cNvPr id="60" name="Rectangle 59"/>
          <p:cNvSpPr/>
          <p:nvPr/>
        </p:nvSpPr>
        <p:spPr>
          <a:xfrm>
            <a:off x="1828800" y="5660136"/>
            <a:ext cx="118872" cy="118872"/>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2002536" y="5614416"/>
            <a:ext cx="1810512"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Bidvest</a:t>
            </a:r>
          </a:p>
        </p:txBody>
      </p:sp>
      <p:sp>
        <p:nvSpPr>
          <p:cNvPr id="62" name="Rectangle 61"/>
          <p:cNvSpPr/>
          <p:nvPr/>
        </p:nvSpPr>
        <p:spPr>
          <a:xfrm>
            <a:off x="3182112" y="5660136"/>
            <a:ext cx="118872" cy="118872"/>
          </a:xfrm>
          <a:prstGeom prst="rect">
            <a:avLst/>
          </a:prstGeom>
          <a:solidFill>
            <a:srgbClr val="BACC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3355848" y="5614416"/>
            <a:ext cx="1810512"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Burgan Cape</a:t>
            </a:r>
          </a:p>
        </p:txBody>
      </p:sp>
      <p:sp>
        <p:nvSpPr>
          <p:cNvPr id="64" name="Rectangle 63"/>
          <p:cNvSpPr/>
          <p:nvPr/>
        </p:nvSpPr>
        <p:spPr>
          <a:xfrm>
            <a:off x="4892040" y="5660136"/>
            <a:ext cx="118872" cy="118872"/>
          </a:xfrm>
          <a:prstGeom prst="rect">
            <a:avLst/>
          </a:prstGeom>
          <a:solidFill>
            <a:srgbClr val="E3EBF6"/>
          </a:solidFill>
          <a:ln w="1016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5065776" y="5614416"/>
            <a:ext cx="1810512"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Transnet (lease)</a:t>
            </a:r>
          </a:p>
        </p:txBody>
      </p:sp>
      <p:sp>
        <p:nvSpPr>
          <p:cNvPr id="66" name="TextBox 65"/>
          <p:cNvSpPr txBox="1"/>
          <p:nvPr/>
        </p:nvSpPr>
        <p:spPr>
          <a:xfrm>
            <a:off x="457200" y="5971032"/>
            <a:ext cx="6446520" cy="274320"/>
          </a:xfrm>
          <a:prstGeom prst="rect">
            <a:avLst/>
          </a:prstGeom>
          <a:noFill/>
        </p:spPr>
        <p:txBody>
          <a:bodyPr wrap="square" lIns="22860" rIns="22860" tIns="0" bIns="0">
            <a:spAutoFit/>
          </a:bodyPr>
          <a:lstStyle/>
          <a:p>
            <a:pPr>
              <a:spcAft>
                <a:spcPts val="300"/>
              </a:spcAft>
              <a:defRPr sz="1100" b="1">
                <a:solidFill>
                  <a:srgbClr val="0A2373"/>
                </a:solidFill>
                <a:latin typeface="Lato"/>
              </a:defRPr>
            </a:pPr>
            <a:r>
              <a:t>Small lease bars reflect smaller tank volumes; they are not operating supply.</a:t>
            </a:r>
          </a:p>
        </p:txBody>
      </p:sp>
      <p:sp>
        <p:nvSpPr>
          <p:cNvPr id="68" name="TextBox 67"/>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What the evidence shows</a:t>
            </a:r>
          </a:p>
        </p:txBody>
      </p:sp>
      <p:sp>
        <p:nvSpPr>
          <p:cNvPr id="69" name="TextBox 68"/>
          <p:cNvSpPr txBox="1"/>
          <p:nvPr/>
        </p:nvSpPr>
        <p:spPr>
          <a:xfrm>
            <a:off x="7424927" y="218541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01 | Capacity is a stock</a:t>
            </a:r>
          </a:p>
        </p:txBody>
      </p:sp>
      <p:sp>
        <p:nvSpPr>
          <p:cNvPr id="70" name="TextBox 69"/>
          <p:cNvSpPr txBox="1"/>
          <p:nvPr/>
        </p:nvSpPr>
        <p:spPr>
          <a:xfrm>
            <a:off x="7424927" y="256946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Published tank volumes are not annual fuel deliveries or market share.</a:t>
            </a:r>
          </a:p>
        </p:txBody>
      </p:sp>
      <p:sp>
        <p:nvSpPr>
          <p:cNvPr id="71" name="TextBox 70"/>
          <p:cNvSpPr txBox="1"/>
          <p:nvPr/>
        </p:nvSpPr>
        <p:spPr>
          <a:xfrm>
            <a:off x="7424927" y="314553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02 | The inventory is partial</a:t>
            </a:r>
          </a:p>
        </p:txBody>
      </p:sp>
      <p:sp>
        <p:nvSpPr>
          <p:cNvPr id="72" name="TextBox 71"/>
          <p:cNvSpPr txBox="1"/>
          <p:nvPr/>
        </p:nvSpPr>
        <p:spPr>
          <a:xfrm>
            <a:off x="7424927" y="3529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Missing capacities are unknown, rather than zero; mixed product scopes limit comparison.</a:t>
            </a:r>
          </a:p>
        </p:txBody>
      </p:sp>
      <p:sp>
        <p:nvSpPr>
          <p:cNvPr id="73" name="TextBox 72"/>
          <p:cNvSpPr txBox="1"/>
          <p:nvPr/>
        </p:nvSpPr>
        <p:spPr>
          <a:xfrm>
            <a:off x="7424927" y="410565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03 | Leases are conditional</a:t>
            </a:r>
          </a:p>
        </p:txBody>
      </p:sp>
      <p:sp>
        <p:nvSpPr>
          <p:cNvPr id="74" name="TextBox 73"/>
          <p:cNvSpPr txBox="1"/>
          <p:nvPr/>
        </p:nvSpPr>
        <p:spPr>
          <a:xfrm>
            <a:off x="7424927" y="448970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Transnet lease tanks are not counted as currently available operating supply.</a:t>
            </a:r>
          </a:p>
        </p:txBody>
      </p:sp>
      <p:cxnSp>
        <p:nvCxnSpPr>
          <p:cNvPr id="75" name="Connector 74"/>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76" name="TextBox 75"/>
          <p:cNvSpPr txBox="1"/>
          <p:nvPr/>
        </p:nvSpPr>
        <p:spPr>
          <a:xfrm>
            <a:off x="7424927" y="5321808"/>
            <a:ext cx="3685032"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To resolve next</a:t>
            </a:r>
          </a:p>
        </p:txBody>
      </p:sp>
      <p:sp>
        <p:nvSpPr>
          <p:cNvPr id="77" name="TextBox 76"/>
          <p:cNvSpPr txBox="1"/>
          <p:nvPr/>
        </p:nvSpPr>
        <p:spPr>
          <a:xfrm>
            <a:off x="7424927" y="5687568"/>
            <a:ext cx="3685032" cy="62179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Manish: verify product compatibility, capacity basis and operating status. Nigel: confirm usable client capacity.</a:t>
            </a:r>
          </a:p>
        </p:txBody>
      </p:sp>
      <p:sp>
        <p:nvSpPr>
          <p:cNvPr id="78" name="SCR divider marker: circle"/>
          <p:cNvSpPr/>
          <p:nvPr/>
        </p:nvSpPr>
        <p:spPr>
          <a:xfrm>
            <a:off x="7086600" y="1828800"/>
            <a:ext cx="237744" cy="237744"/>
          </a:xfrm>
          <a:prstGeom prst="ellipse">
            <a:avLst/>
          </a:prstGeom>
          <a:solidFill>
            <a:srgbClr val="0A2373"/>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9" name="SCR divider marker: arrow"/>
          <p:cNvCxnSpPr/>
          <p:nvPr/>
        </p:nvCxnSpPr>
        <p:spPr>
          <a:xfrm>
            <a:off x="7173468" y="1888236"/>
            <a:ext cx="64008" cy="59436"/>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80" name="SCR divider marker: arrow"/>
          <p:cNvCxnSpPr/>
          <p:nvPr/>
        </p:nvCxnSpPr>
        <p:spPr>
          <a:xfrm flipH="1">
            <a:off x="7173468" y="1947672"/>
            <a:ext cx="64008" cy="59435"/>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sp>
        <p:nvSpPr>
          <p:cNvPr id="81"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R7. Prioritise customer markets, win on service and cost, then expand</a:t>
            </a:r>
          </a:p>
        </p:txBody>
      </p:sp>
      <p:sp>
        <p:nvSpPr>
          <p:cNvPr id="3" name="Slide Number Placeholder"/>
          <p:cNvSpPr>
            <a:spLocks noGrp="1"/>
          </p:cNvSpPr>
          <p:nvPr>
            <p:ph type="sldNum" sz="quarter" idx="12"/>
          </p:nvPr>
        </p:nvSpPr>
        <p:spPr/>
        <p:txBody>
          <a:bodyPr/>
          <a:lstStyle/>
          <a:p>
            <a:fld id="{203D6F4A-491A-444B-BA93-BBD8FABE50AA}" type="slidenum">
              <a:rPr lang="en-US"/>
              <a:t>‹#›</a:t>
            </a:fld>
          </a:p>
        </p:txBody>
      </p:sp>
      <p:sp>
        <p:nvSpPr>
          <p:cNvPr id="4" name="Section navigation 1">
            <a:hlinkClick action="ppaction://hlinksldjump" r:id="rId3"/>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1  Overview</a:t>
            </a:r>
          </a:p>
        </p:txBody>
      </p:sp>
      <p:sp>
        <p:nvSpPr>
          <p:cNvPr id="5" name="Section navigation 2">
            <a:hlinkClick action="ppaction://hlinksldjump" r:id="rId4"/>
          </p:cNvPr>
          <p:cNvSpPr/>
          <p:nvPr/>
        </p:nvSpPr>
        <p:spPr>
          <a:xfrm>
            <a:off x="3136392"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2  Market baseline</a:t>
            </a:r>
          </a:p>
        </p:txBody>
      </p:sp>
      <p:sp>
        <p:nvSpPr>
          <p:cNvPr id="6" name="Section navigation 3">
            <a:hlinkClick action="ppaction://hlinksldjump" r:id="rId5"/>
          </p:cNvPr>
          <p:cNvSpPr/>
          <p:nvPr/>
        </p:nvSpPr>
        <p:spPr>
          <a:xfrm>
            <a:off x="5815584"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3  Market changes</a:t>
            </a:r>
          </a:p>
        </p:txBody>
      </p:sp>
      <p:sp>
        <p:nvSpPr>
          <p:cNvPr id="7" name="Section navigation 4">
            <a:hlinkClick action="ppaction://hlinksldjump" r:id="rId6"/>
          </p:cNvPr>
          <p:cNvSpPr/>
          <p:nvPr/>
        </p:nvSpPr>
        <p:spPr>
          <a:xfrm>
            <a:off x="8494776"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1">
                <a:solidFill>
                  <a:srgbClr val="FFFFFF"/>
                </a:solidFill>
                <a:latin typeface="Lato"/>
              </a:defRPr>
            </a:pPr>
            <a:r>
              <a:rPr sz="1050"/>
              <a:t>4  Vopak outlook</a:t>
            </a:r>
          </a:p>
        </p:txBody>
      </p:sp>
      <p:sp>
        <p:nvSpPr>
          <p:cNvPr id="8"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b="0">
                <a:solidFill>
                  <a:srgbClr val="000000"/>
                </a:solidFill>
                <a:latin typeface="Lato"/>
              </a:defRPr>
            </a:pPr>
            <a:r>
              <a:rPr sz="750"/>
              <a:t>Source: Authored market hypotheses; demand, gateway and storage evidence on pp.4, 10–15. Customer capture remains unverified.</a:t>
            </a:r>
          </a:p>
        </p:txBody>
      </p:sp>
      <p:sp>
        <p:nvSpPr>
          <p:cNvPr id="9" name="TextBox 8"/>
          <p:cNvSpPr txBox="1"/>
          <p:nvPr/>
        </p:nvSpPr>
        <p:spPr>
          <a:xfrm>
            <a:off x="457200" y="1627632"/>
            <a:ext cx="10652760" cy="292608"/>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Market outlook | priority hypotheses and conditional timing</a:t>
            </a:r>
          </a:p>
        </p:txBody>
      </p:sp>
      <p:cxnSp>
        <p:nvCxnSpPr>
          <p:cNvPr id="10" name="Connector 9"/>
          <p:cNvCxnSpPr/>
          <p:nvPr/>
        </p:nvCxnSpPr>
        <p:spPr>
          <a:xfrm>
            <a:off x="457200" y="1947672"/>
            <a:ext cx="1065276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graphicFrame>
        <p:nvGraphicFramePr>
          <p:cNvPr id="11" name="Table 10"/>
          <p:cNvGraphicFramePr>
            <a:graphicFrameLocks noGrp="1"/>
          </p:cNvGraphicFramePr>
          <p:nvPr/>
        </p:nvGraphicFramePr>
        <p:xfrm>
          <a:off x="457200" y="2176272"/>
          <a:ext cx="10652760" cy="3090672"/>
        </p:xfrm>
        <a:graphic>
          <a:graphicData uri="http://schemas.openxmlformats.org/drawingml/2006/table">
            <a:tbl>
              <a:tblPr firstRow="1" bandRow="1">
                <a:tableStyleId>{2D5ABB26-0587-4C30-8999-92F81FD0307C}</a:tableStyleId>
              </a:tblPr>
              <a:tblGrid>
                <a:gridCol w="2103120"/>
                <a:gridCol w="2834640"/>
                <a:gridCol w="2788920"/>
                <a:gridCol w="2926080"/>
              </a:tblGrid>
              <a:tr h="772668">
                <a:tc>
                  <a:txBody>
                    <a:bodyPr/>
                    <a:lstStyle/>
                    <a:p>
                      <a:pPr>
                        <a:spcAft>
                          <a:spcPts val="0"/>
                        </a:spcAft>
                        <a:defRPr sz="1150" b="1">
                          <a:solidFill>
                            <a:srgbClr val="000000"/>
                          </a:solidFill>
                          <a:latin typeface="Lato"/>
                        </a:defRPr>
                      </a:pPr>
                      <a:r>
                        <a:t>Where to play</a:t>
                      </a:r>
                    </a:p>
                  </a:txBody>
                  <a:tcPr marL="50292" marR="50292" marT="41148" marB="41148" anchor="ctr">
                    <a:lnB w="6350" cap="flat">
                      <a:solidFill>
                        <a:srgbClr val="EEEEEE"/>
                      </a:solidFill>
                    </a:lnB>
                    <a:solidFill>
                      <a:srgbClr val="FFFFFF"/>
                    </a:solidFill>
                  </a:tcPr>
                </a:tc>
                <a:tc>
                  <a:txBody>
                    <a:bodyPr/>
                    <a:lstStyle/>
                    <a:p>
                      <a:pPr>
                        <a:spcAft>
                          <a:spcPts val="0"/>
                        </a:spcAft>
                        <a:defRPr sz="1150" b="1">
                          <a:solidFill>
                            <a:srgbClr val="000000"/>
                          </a:solidFill>
                          <a:latin typeface="Lato"/>
                        </a:defRPr>
                      </a:pPr>
                      <a:r>
                        <a:t>How to win</a:t>
                      </a:r>
                    </a:p>
                  </a:txBody>
                  <a:tcPr marL="50292" marR="50292" marT="41148" marB="41148" anchor="ctr">
                    <a:lnB w="6350" cap="flat">
                      <a:solidFill>
                        <a:srgbClr val="EEEEEE"/>
                      </a:solidFill>
                    </a:lnB>
                    <a:solidFill>
                      <a:srgbClr val="FFFFFF"/>
                    </a:solidFill>
                  </a:tcPr>
                </a:tc>
                <a:tc>
                  <a:txBody>
                    <a:bodyPr/>
                    <a:lstStyle/>
                    <a:p>
                      <a:pPr>
                        <a:spcAft>
                          <a:spcPts val="0"/>
                        </a:spcAft>
                        <a:defRPr sz="1150" b="1">
                          <a:solidFill>
                            <a:srgbClr val="000000"/>
                          </a:solidFill>
                          <a:latin typeface="Lato"/>
                        </a:defRPr>
                      </a:pPr>
                      <a:r>
                        <a:t>When to act</a:t>
                      </a:r>
                    </a:p>
                  </a:txBody>
                  <a:tcPr marL="50292" marR="50292" marT="41148" marB="41148" anchor="ctr">
                    <a:lnB w="6350" cap="flat">
                      <a:solidFill>
                        <a:srgbClr val="EEEEEE"/>
                      </a:solidFill>
                    </a:lnB>
                    <a:solidFill>
                      <a:srgbClr val="FFFFFF"/>
                    </a:solidFill>
                  </a:tcPr>
                </a:tc>
                <a:tc>
                  <a:txBody>
                    <a:bodyPr/>
                    <a:lstStyle/>
                    <a:p>
                      <a:pPr>
                        <a:spcAft>
                          <a:spcPts val="0"/>
                        </a:spcAft>
                        <a:defRPr sz="1150" b="1">
                          <a:solidFill>
                            <a:srgbClr val="000000"/>
                          </a:solidFill>
                          <a:latin typeface="Lato"/>
                        </a:defRPr>
                      </a:pPr>
                      <a:r>
                        <a:t>What must be true</a:t>
                      </a:r>
                    </a:p>
                  </a:txBody>
                  <a:tcPr marL="50292" marR="50292" marT="41148" marB="41148" anchor="ctr">
                    <a:lnB w="6350" cap="flat">
                      <a:solidFill>
                        <a:srgbClr val="EEEEEE"/>
                      </a:solidFill>
                    </a:lnB>
                    <a:solidFill>
                      <a:srgbClr val="FFFFFF"/>
                    </a:solidFill>
                  </a:tcPr>
                </a:tc>
              </a:tr>
              <a:tr h="772668">
                <a:tc>
                  <a:txBody>
                    <a:bodyPr/>
                    <a:lstStyle/>
                    <a:p>
                      <a:pPr>
                        <a:spcAft>
                          <a:spcPts val="0"/>
                        </a:spcAft>
                        <a:defRPr sz="1150" b="0">
                          <a:solidFill>
                            <a:srgbClr val="000000"/>
                          </a:solidFill>
                          <a:latin typeface="Lato"/>
                        </a:defRPr>
                      </a:pPr>
                      <a:r>
                        <a:t>Durban coastal customers</a:t>
                      </a:r>
                    </a:p>
                    <a:p>
                      <a:pPr>
                        <a:spcAft>
                          <a:spcPts val="0"/>
                        </a:spcAft>
                        <a:defRPr sz="1150" b="0">
                          <a:solidFill>
                            <a:srgbClr val="000000"/>
                          </a:solidFill>
                          <a:latin typeface="Lato"/>
                        </a:defRPr>
                      </a:pPr>
                      <a:r>
                        <a:t>First market to test</a:t>
                      </a:r>
                    </a:p>
                  </a:txBody>
                  <a:tcPr marL="50292" marR="50292" marT="41148" marB="41148" anchor="ctr">
                    <a:lnB w="6350" cap="flat">
                      <a:solidFill>
                        <a:srgbClr val="EEEEEE"/>
                      </a:solidFill>
                    </a:lnB>
                    <a:solidFill>
                      <a:srgbClr val="FFFFFF"/>
                    </a:solidFill>
                  </a:tcPr>
                </a:tc>
                <a:tc>
                  <a:txBody>
                    <a:bodyPr/>
                    <a:lstStyle/>
                    <a:p>
                      <a:pPr>
                        <a:spcAft>
                          <a:spcPts val="0"/>
                        </a:spcAft>
                        <a:defRPr sz="1150" b="0">
                          <a:solidFill>
                            <a:srgbClr val="000000"/>
                          </a:solidFill>
                          <a:latin typeface="Lato"/>
                        </a:defRPr>
                      </a:pPr>
                      <a:r>
                        <a:t>Competitive delivered cost; reliable receipt and dispatch; compatible tanks</a:t>
                      </a:r>
                    </a:p>
                  </a:txBody>
                  <a:tcPr marL="50292" marR="50292" marT="41148" marB="41148" anchor="ctr">
                    <a:lnB w="6350" cap="flat">
                      <a:solidFill>
                        <a:srgbClr val="EEEEEE"/>
                      </a:solidFill>
                    </a:lnB>
                    <a:solidFill>
                      <a:srgbClr val="FFFFFF"/>
                    </a:solidFill>
                  </a:tcPr>
                </a:tc>
                <a:tc>
                  <a:txBody>
                    <a:bodyPr/>
                    <a:lstStyle/>
                    <a:p>
                      <a:pPr>
                        <a:spcAft>
                          <a:spcPts val="0"/>
                        </a:spcAft>
                        <a:defRPr sz="1150" b="0">
                          <a:solidFill>
                            <a:srgbClr val="000000"/>
                          </a:solidFill>
                          <a:latin typeface="Lato"/>
                        </a:defRPr>
                      </a:pPr>
                      <a:r>
                        <a:t>Now: identify customers and test service using existing assets</a:t>
                      </a:r>
                    </a:p>
                  </a:txBody>
                  <a:tcPr marL="50292" marR="50292" marT="41148" marB="41148" anchor="ctr">
                    <a:lnB w="6350" cap="flat">
                      <a:solidFill>
                        <a:srgbClr val="EEEEEE"/>
                      </a:solidFill>
                    </a:lnB>
                    <a:solidFill>
                      <a:srgbClr val="FFFFFF"/>
                    </a:solidFill>
                  </a:tcPr>
                </a:tc>
                <a:tc>
                  <a:txBody>
                    <a:bodyPr/>
                    <a:lstStyle/>
                    <a:p>
                      <a:pPr>
                        <a:spcAft>
                          <a:spcPts val="0"/>
                        </a:spcAft>
                        <a:defRPr sz="1150" b="0">
                          <a:solidFill>
                            <a:srgbClr val="000000"/>
                          </a:solidFill>
                          <a:latin typeface="Lato"/>
                        </a:defRPr>
                      </a:pPr>
                      <a:r>
                        <a:t>Named customer, product and unique litres; cost threshold; usable tank and dispatch space</a:t>
                      </a:r>
                    </a:p>
                  </a:txBody>
                  <a:tcPr marL="50292" marR="50292" marT="41148" marB="41148" anchor="ctr">
                    <a:lnB w="6350" cap="flat">
                      <a:solidFill>
                        <a:srgbClr val="EEEEEE"/>
                      </a:solidFill>
                    </a:lnB>
                    <a:solidFill>
                      <a:srgbClr val="FFFFFF"/>
                    </a:solidFill>
                  </a:tcPr>
                </a:tc>
              </a:tr>
              <a:tr h="772668">
                <a:tc>
                  <a:txBody>
                    <a:bodyPr/>
                    <a:lstStyle/>
                    <a:p>
                      <a:pPr>
                        <a:spcAft>
                          <a:spcPts val="0"/>
                        </a:spcAft>
                        <a:defRPr sz="1150" b="0">
                          <a:solidFill>
                            <a:srgbClr val="000000"/>
                          </a:solidFill>
                          <a:latin typeface="Lato"/>
                        </a:defRPr>
                      </a:pPr>
                      <a:r>
                        <a:t>Lesedi inland customers</a:t>
                      </a:r>
                    </a:p>
                    <a:p>
                      <a:pPr>
                        <a:spcAft>
                          <a:spcPts val="0"/>
                        </a:spcAft>
                        <a:defRPr sz="1150" b="0">
                          <a:solidFill>
                            <a:srgbClr val="000000"/>
                          </a:solidFill>
                          <a:latin typeface="Lato"/>
                        </a:defRPr>
                      </a:pPr>
                      <a:r>
                        <a:t>First inland market to test</a:t>
                      </a:r>
                    </a:p>
                  </a:txBody>
                  <a:tcPr marL="50292" marR="50292" marT="41148" marB="41148" anchor="ctr">
                    <a:lnB w="6350" cap="flat">
                      <a:solidFill>
                        <a:srgbClr val="EEEEEE"/>
                      </a:solidFill>
                    </a:lnB>
                    <a:solidFill>
                      <a:srgbClr val="FFFFFF"/>
                    </a:solidFill>
                  </a:tcPr>
                </a:tc>
                <a:tc>
                  <a:txBody>
                    <a:bodyPr/>
                    <a:lstStyle/>
                    <a:p>
                      <a:pPr>
                        <a:spcAft>
                          <a:spcPts val="0"/>
                        </a:spcAft>
                        <a:defRPr sz="1150" b="0">
                          <a:solidFill>
                            <a:srgbClr val="000000"/>
                          </a:solidFill>
                          <a:latin typeface="Lato"/>
                        </a:defRPr>
                      </a:pPr>
                      <a:r>
                        <a:t>Reliable inland supply; competitive full-route cost versus other gateways</a:t>
                      </a:r>
                    </a:p>
                  </a:txBody>
                  <a:tcPr marL="50292" marR="50292" marT="41148" marB="41148" anchor="ctr">
                    <a:lnB w="6350" cap="flat">
                      <a:solidFill>
                        <a:srgbClr val="EEEEEE"/>
                      </a:solidFill>
                    </a:lnB>
                    <a:solidFill>
                      <a:srgbClr val="FFFFFF"/>
                    </a:solidFill>
                  </a:tcPr>
                </a:tc>
                <a:tc>
                  <a:txBody>
                    <a:bodyPr/>
                    <a:lstStyle/>
                    <a:p>
                      <a:pPr>
                        <a:spcAft>
                          <a:spcPts val="0"/>
                        </a:spcAft>
                        <a:defRPr sz="1150" b="0">
                          <a:solidFill>
                            <a:srgbClr val="000000"/>
                          </a:solidFill>
                          <a:latin typeface="Lato"/>
                        </a:defRPr>
                      </a:pPr>
                      <a:r>
                        <a:t>After route and customer validation: negotiate incremental flows</a:t>
                      </a:r>
                    </a:p>
                  </a:txBody>
                  <a:tcPr marL="50292" marR="50292" marT="41148" marB="41148" anchor="ctr">
                    <a:lnB w="6350" cap="flat">
                      <a:solidFill>
                        <a:srgbClr val="EEEEEE"/>
                      </a:solidFill>
                    </a:lnB>
                    <a:solidFill>
                      <a:srgbClr val="FFFFFF"/>
                    </a:solidFill>
                  </a:tcPr>
                </a:tc>
                <a:tc>
                  <a:txBody>
                    <a:bodyPr/>
                    <a:lstStyle/>
                    <a:p>
                      <a:pPr>
                        <a:spcAft>
                          <a:spcPts val="0"/>
                        </a:spcAft>
                        <a:defRPr sz="1150" b="0">
                          <a:solidFill>
                            <a:srgbClr val="000000"/>
                          </a:solidFill>
                          <a:latin typeface="Lato"/>
                        </a:defRPr>
                      </a:pPr>
                      <a:r>
                        <a:t>NMPP or alternative route access; receipt/dispatch capacity; customer rights and switching</a:t>
                      </a:r>
                    </a:p>
                  </a:txBody>
                  <a:tcPr marL="50292" marR="50292" marT="41148" marB="41148" anchor="ctr">
                    <a:lnB w="6350" cap="flat">
                      <a:solidFill>
                        <a:srgbClr val="EEEEEE"/>
                      </a:solidFill>
                    </a:lnB>
                    <a:solidFill>
                      <a:srgbClr val="FFFFFF"/>
                    </a:solidFill>
                  </a:tcPr>
                </a:tc>
              </a:tr>
              <a:tr h="772668">
                <a:tc>
                  <a:txBody>
                    <a:bodyPr/>
                    <a:lstStyle/>
                    <a:p>
                      <a:pPr>
                        <a:spcAft>
                          <a:spcPts val="0"/>
                        </a:spcAft>
                        <a:defRPr sz="1150" b="0">
                          <a:solidFill>
                            <a:srgbClr val="000000"/>
                          </a:solidFill>
                          <a:latin typeface="Lato"/>
                        </a:defRPr>
                      </a:pPr>
                      <a:r>
                        <a:t>Matola and Walvis Bay</a:t>
                      </a:r>
                    </a:p>
                    <a:p>
                      <a:pPr>
                        <a:spcAft>
                          <a:spcPts val="0"/>
                        </a:spcAft>
                        <a:defRPr sz="1150" b="0">
                          <a:solidFill>
                            <a:srgbClr val="000000"/>
                          </a:solidFill>
                          <a:latin typeface="Lato"/>
                        </a:defRPr>
                      </a:pPr>
                      <a:r>
                        <a:t>Competing gateways to compare</a:t>
                      </a:r>
                    </a:p>
                  </a:txBody>
                  <a:tcPr marL="50292" marR="50292" marT="41148" marB="41148" anchor="ctr">
                    <a:lnB w="6350" cap="flat">
                      <a:solidFill>
                        <a:srgbClr val="EEEEEE"/>
                      </a:solidFill>
                    </a:lnB>
                    <a:solidFill>
                      <a:srgbClr val="FFFFFF"/>
                    </a:solidFill>
                  </a:tcPr>
                </a:tc>
                <a:tc>
                  <a:txBody>
                    <a:bodyPr/>
                    <a:lstStyle/>
                    <a:p>
                      <a:pPr>
                        <a:spcAft>
                          <a:spcPts val="0"/>
                        </a:spcAft>
                        <a:defRPr sz="1150" b="0">
                          <a:solidFill>
                            <a:srgbClr val="000000"/>
                          </a:solidFill>
                          <a:latin typeface="Lato"/>
                        </a:defRPr>
                      </a:pPr>
                      <a:r>
                        <a:t>Test storage, handling and transport to the same inland destination</a:t>
                      </a:r>
                    </a:p>
                  </a:txBody>
                  <a:tcPr marL="50292" marR="50292" marT="41148" marB="41148" anchor="ctr">
                    <a:lnB w="6350" cap="flat">
                      <a:solidFill>
                        <a:srgbClr val="EEEEEE"/>
                      </a:solidFill>
                    </a:lnB>
                    <a:solidFill>
                      <a:srgbClr val="FFFFFF"/>
                    </a:solidFill>
                  </a:tcPr>
                </a:tc>
                <a:tc>
                  <a:txBody>
                    <a:bodyPr/>
                    <a:lstStyle/>
                    <a:p>
                      <a:pPr>
                        <a:spcAft>
                          <a:spcPts val="0"/>
                        </a:spcAft>
                        <a:defRPr sz="1150" b="0">
                          <a:solidFill>
                            <a:srgbClr val="000000"/>
                          </a:solidFill>
                          <a:latin typeface="Lato"/>
                        </a:defRPr>
                      </a:pPr>
                      <a:r>
                        <a:t>During the inland comparison; pursue an opportunity only if access and economics are evidenced</a:t>
                      </a:r>
                    </a:p>
                  </a:txBody>
                  <a:tcPr marL="50292" marR="50292" marT="41148" marB="41148" anchor="ctr">
                    <a:lnB w="6350" cap="flat">
                      <a:solidFill>
                        <a:srgbClr val="EEEEEE"/>
                      </a:solidFill>
                    </a:lnB>
                    <a:solidFill>
                      <a:srgbClr val="FFFFFF"/>
                    </a:solidFill>
                  </a:tcPr>
                </a:tc>
                <a:tc>
                  <a:txBody>
                    <a:bodyPr/>
                    <a:lstStyle/>
                    <a:p>
                      <a:pPr>
                        <a:spcAft>
                          <a:spcPts val="0"/>
                        </a:spcAft>
                        <a:defRPr sz="1150" b="0">
                          <a:solidFill>
                            <a:srgbClr val="000000"/>
                          </a:solidFill>
                          <a:latin typeface="Lato"/>
                        </a:defRPr>
                      </a:pPr>
                      <a:r>
                        <a:t>Available compatible tanks; border/route feasibility; partner and customer access; full delivered cost</a:t>
                      </a:r>
                    </a:p>
                  </a:txBody>
                  <a:tcPr marL="50292" marR="50292" marT="41148" marB="41148" anchor="ctr">
                    <a:lnB w="6350" cap="flat">
                      <a:solidFill>
                        <a:srgbClr val="EEEEEE"/>
                      </a:solidFill>
                    </a:lnB>
                    <a:solidFill>
                      <a:srgbClr val="FFFFFF"/>
                    </a:solidFill>
                  </a:tcPr>
                </a:tc>
              </a:tr>
            </a:tbl>
          </a:graphicData>
        </a:graphic>
      </p:graphicFrame>
      <p:sp>
        <p:nvSpPr>
          <p:cNvPr id="12" name="TextBox 11"/>
          <p:cNvSpPr txBox="1"/>
          <p:nvPr/>
        </p:nvSpPr>
        <p:spPr>
          <a:xfrm>
            <a:off x="457200" y="5449824"/>
            <a:ext cx="10652760" cy="228600"/>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Investment gate</a:t>
            </a:r>
          </a:p>
        </p:txBody>
      </p:sp>
      <p:sp>
        <p:nvSpPr>
          <p:cNvPr id="13" name="TextBox 12"/>
          <p:cNvSpPr txBox="1"/>
          <p:nvPr/>
        </p:nvSpPr>
        <p:spPr>
          <a:xfrm>
            <a:off x="457200" y="5724144"/>
            <a:ext cx="10652760" cy="34747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New storage follows secured incremental flows and a gap in usable capacity; the illustrative 5.5 bn litres does not establish a commitment.</a:t>
            </a:r>
          </a:p>
        </p:txBody>
      </p:sp>
      <p:sp>
        <p:nvSpPr>
          <p:cNvPr id="14" name="TextBox 13"/>
          <p:cNvSpPr txBox="1"/>
          <p:nvPr/>
        </p:nvSpPr>
        <p:spPr>
          <a:xfrm>
            <a:off x="457200" y="6089904"/>
            <a:ext cx="5138928" cy="292608"/>
          </a:xfrm>
          <a:prstGeom prst="rect">
            <a:avLst/>
          </a:prstGeom>
          <a:noFill/>
        </p:spPr>
        <p:txBody>
          <a:bodyPr wrap="square" lIns="22860" rIns="22860" tIns="0" bIns="0">
            <a:spAutoFit/>
          </a:bodyPr>
          <a:lstStyle/>
          <a:p>
            <a:pPr>
              <a:spcAft>
                <a:spcPts val="300"/>
              </a:spcAft>
              <a:defRPr sz="950" b="0">
                <a:solidFill>
                  <a:srgbClr val="000000"/>
                </a:solidFill>
                <a:latin typeface="Lato"/>
              </a:defRPr>
            </a:pPr>
            <a:r>
              <a:t>Nigel: Choose the first customer/product and acceptable cost. Confirm the service proposition and commercial access.</a:t>
            </a:r>
          </a:p>
        </p:txBody>
      </p:sp>
      <p:sp>
        <p:nvSpPr>
          <p:cNvPr id="15" name="TextBox 14"/>
          <p:cNvSpPr txBox="1"/>
          <p:nvPr/>
        </p:nvSpPr>
        <p:spPr>
          <a:xfrm>
            <a:off x="5897880" y="6089904"/>
            <a:ext cx="5212080" cy="292608"/>
          </a:xfrm>
          <a:prstGeom prst="rect">
            <a:avLst/>
          </a:prstGeom>
          <a:noFill/>
        </p:spPr>
        <p:txBody>
          <a:bodyPr wrap="square" lIns="22860" rIns="22860" tIns="0" bIns="0">
            <a:spAutoFit/>
          </a:bodyPr>
          <a:lstStyle/>
          <a:p>
            <a:pPr>
              <a:spcAft>
                <a:spcPts val="300"/>
              </a:spcAft>
              <a:defRPr sz="950" b="0">
                <a:solidFill>
                  <a:srgbClr val="000000"/>
                </a:solidFill>
                <a:latin typeface="Lato"/>
              </a:defRPr>
            </a:pPr>
            <a:r>
              <a:t>Manish: Build a customer-by-route evidence table: litres, cost, capacity, rights, timing and owner. Mark each gate passed, failed or unassessed.</a:t>
            </a:r>
          </a:p>
        </p:txBody>
      </p:sp>
      <p:sp>
        <p:nvSpPr>
          <p:cNvPr id="16"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R7. Translate additional fuel flows into a preliminary inventory requirement</a:t>
            </a:r>
          </a:p>
        </p:txBody>
      </p:sp>
      <p:sp>
        <p:nvSpPr>
          <p:cNvPr id="3" name="Slide Number Placeholder"/>
          <p:cNvSpPr>
            <a:spLocks noGrp="1"/>
          </p:cNvSpPr>
          <p:nvPr>
            <p:ph type="sldNum" sz="quarter" idx="12"/>
          </p:nvPr>
        </p:nvSpPr>
        <p:spPr/>
        <p:txBody>
          <a:bodyPr/>
          <a:lstStyle/>
          <a:p>
            <a:fld id="{E04BCAAD-179C-4DA8-8005-B11F152F9172}" type="slidenum">
              <a:rPr lang="en-US"/>
              <a:t>‹#›</a:t>
            </a:fld>
          </a:p>
        </p:txBody>
      </p:sp>
      <p:sp>
        <p:nvSpPr>
          <p:cNvPr id="4" name="Section navigation 1">
            <a:hlinkClick action="ppaction://hlinksldjump" r:id="rId4"/>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1  Overview</a:t>
            </a:r>
          </a:p>
        </p:txBody>
      </p:sp>
      <p:sp>
        <p:nvSpPr>
          <p:cNvPr id="5" name="Section navigation 2">
            <a:hlinkClick action="ppaction://hlinksldjump" r:id="rId5"/>
          </p:cNvPr>
          <p:cNvSpPr/>
          <p:nvPr/>
        </p:nvSpPr>
        <p:spPr>
          <a:xfrm>
            <a:off x="3136392"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2  Market baseline</a:t>
            </a:r>
          </a:p>
        </p:txBody>
      </p:sp>
      <p:sp>
        <p:nvSpPr>
          <p:cNvPr id="6" name="Section navigation 3">
            <a:hlinkClick action="ppaction://hlinksldjump" r:id="rId6"/>
          </p:cNvPr>
          <p:cNvSpPr/>
          <p:nvPr/>
        </p:nvSpPr>
        <p:spPr>
          <a:xfrm>
            <a:off x="5815584"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3  Market changes</a:t>
            </a:r>
          </a:p>
        </p:txBody>
      </p:sp>
      <p:sp>
        <p:nvSpPr>
          <p:cNvPr id="7" name="Section navigation 4">
            <a:hlinkClick action="ppaction://hlinksldjump" r:id="rId7"/>
          </p:cNvPr>
          <p:cNvSpPr/>
          <p:nvPr/>
        </p:nvSpPr>
        <p:spPr>
          <a:xfrm>
            <a:off x="8494776"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1">
                <a:solidFill>
                  <a:srgbClr val="FFFFFF"/>
                </a:solidFill>
                <a:latin typeface="Lato"/>
              </a:defRPr>
            </a:pPr>
            <a:r>
              <a:rPr sz="1050"/>
              <a:t>4  Vopak outlook</a:t>
            </a:r>
          </a:p>
        </p:txBody>
      </p:sp>
      <p:sp>
        <p:nvSpPr>
          <p:cNvPr id="8"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b="0">
                <a:solidFill>
                  <a:srgbClr val="000000"/>
                </a:solidFill>
                <a:latin typeface="Lato"/>
              </a:defRPr>
            </a:pPr>
            <a:r>
              <a:rPr sz="750"/>
              <a:t>Source: Existing 5.5 bn L/year candidate example; authored inventory-day sensitivity, 6 Oct 2026. Not new-capacity sizing.</a:t>
            </a:r>
          </a:p>
        </p:txBody>
      </p:sp>
      <p:sp>
        <p:nvSpPr>
          <p:cNvPr id="25" name="TextBox 24"/>
          <p:cNvSpPr txBox="1"/>
          <p:nvPr/>
        </p:nvSpPr>
        <p:spPr>
          <a:xfrm>
            <a:off x="457200" y="1627632"/>
            <a:ext cx="6446520" cy="384048"/>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Working inventory sensitivity | illustrative, thousand m³</a:t>
            </a:r>
          </a:p>
        </p:txBody>
      </p:sp>
      <p:cxnSp>
        <p:nvCxnSpPr>
          <p:cNvPr id="26" name="Connector 25"/>
          <p:cNvCxnSpPr/>
          <p:nvPr/>
        </p:nvCxnSpPr>
        <p:spPr>
          <a:xfrm>
            <a:off x="457200" y="1947672"/>
            <a:ext cx="644652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7424927" y="1947672"/>
            <a:ext cx="3685033"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457200" y="2148840"/>
            <a:ext cx="6446520" cy="274320"/>
          </a:xfrm>
          <a:prstGeom prst="rect">
            <a:avLst/>
          </a:prstGeom>
          <a:noFill/>
        </p:spPr>
        <p:txBody>
          <a:bodyPr wrap="square" lIns="22860" rIns="22860" tIns="0" bIns="0">
            <a:spAutoFit/>
          </a:bodyPr>
          <a:lstStyle/>
          <a:p>
            <a:pPr>
              <a:spcAft>
                <a:spcPts val="300"/>
              </a:spcAft>
              <a:defRPr sz="1100" b="1">
                <a:solidFill>
                  <a:srgbClr val="0A2373"/>
                </a:solidFill>
                <a:latin typeface="Lato"/>
              </a:defRPr>
            </a:pPr>
            <a:r>
              <a:t>ILLUSTRATIVE | additional 5.5 bn litres/year; uniform daily flow</a:t>
            </a:r>
          </a:p>
        </p:txBody>
      </p:sp>
      <p:sp>
        <p:nvSpPr>
          <p:cNvPr id="30" name="TextBox 29"/>
          <p:cNvSpPr txBox="1"/>
          <p:nvPr/>
        </p:nvSpPr>
        <p:spPr>
          <a:xfrm>
            <a:off x="457200" y="2587752"/>
            <a:ext cx="6446520"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More inventory days require more working stock</a:t>
            </a:r>
          </a:p>
        </p:txBody>
      </p:sp>
      <p:graphicFrame>
        <p:nvGraphicFramePr>
          <p:cNvPr id="31" name="Chart 30"/>
          <p:cNvGraphicFramePr>
            <a:graphicFrameLocks noGrp="1"/>
          </p:cNvGraphicFramePr>
          <p:nvPr/>
        </p:nvGraphicFramePr>
        <p:xfrm>
          <a:off x="457200" y="3008376"/>
          <a:ext cx="6446520" cy="2340864"/>
        </p:xfrm>
        <a:graphic>
          <a:graphicData uri="http://schemas.openxmlformats.org/drawingml/2006/chart">
            <c:chart xmlns:c="http://schemas.openxmlformats.org/drawingml/2006/chart" r:id="rId3"/>
          </a:graphicData>
        </a:graphic>
      </p:graphicFrame>
      <p:sp>
        <p:nvSpPr>
          <p:cNvPr id="32" name="TextBox 31"/>
          <p:cNvSpPr txBox="1"/>
          <p:nvPr/>
        </p:nvSpPr>
        <p:spPr>
          <a:xfrm>
            <a:off x="457200" y="5513832"/>
            <a:ext cx="6446520" cy="274320"/>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Working m³ = annual litres ÷ 365 ÷ 1,000 × inventory days</a:t>
            </a:r>
          </a:p>
        </p:txBody>
      </p:sp>
      <p:sp>
        <p:nvSpPr>
          <p:cNvPr id="33" name="TextBox 32"/>
          <p:cNvSpPr txBox="1"/>
          <p:nvPr/>
        </p:nvSpPr>
        <p:spPr>
          <a:xfrm>
            <a:off x="457200" y="5925312"/>
            <a:ext cx="6446520" cy="502920"/>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At 14 days: approximately 211 thousand m³ of working inventory.</a:t>
            </a:r>
          </a:p>
          <a:p>
            <a:pPr>
              <a:spcAft>
                <a:spcPts val="300"/>
              </a:spcAft>
              <a:defRPr sz="1150" b="0">
                <a:solidFill>
                  <a:srgbClr val="000000"/>
                </a:solidFill>
                <a:latin typeface="Lato"/>
              </a:defRPr>
            </a:pPr>
            <a:r>
              <a:t>New tanks depend on usable spare capacity, peaks, product segregation and dispatch limits.</a:t>
            </a:r>
          </a:p>
        </p:txBody>
      </p:sp>
      <p:sp>
        <p:nvSpPr>
          <p:cNvPr id="34" name="TextBox 33"/>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What the evidence shows</a:t>
            </a:r>
          </a:p>
        </p:txBody>
      </p:sp>
      <p:sp>
        <p:nvSpPr>
          <p:cNvPr id="35" name="TextBox 34"/>
          <p:cNvSpPr txBox="1"/>
          <p:nvPr/>
        </p:nvSpPr>
        <p:spPr>
          <a:xfrm>
            <a:off x="7424927" y="218541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01 | Inventory days set working stock</a:t>
            </a:r>
          </a:p>
        </p:txBody>
      </p:sp>
      <p:sp>
        <p:nvSpPr>
          <p:cNvPr id="36" name="TextBox 35"/>
          <p:cNvSpPr txBox="1"/>
          <p:nvPr/>
        </p:nvSpPr>
        <p:spPr>
          <a:xfrm>
            <a:off x="7424927" y="256946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At the illustrative 5.5 bn litres/year, 14 days needs about 211 thousand m³. More inventory days require more stock.</a:t>
            </a:r>
          </a:p>
        </p:txBody>
      </p:sp>
      <p:sp>
        <p:nvSpPr>
          <p:cNvPr id="37" name="TextBox 36"/>
          <p:cNvSpPr txBox="1"/>
          <p:nvPr/>
        </p:nvSpPr>
        <p:spPr>
          <a:xfrm>
            <a:off x="7424927" y="314553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02 | Existing tanks may cover part</a:t>
            </a:r>
          </a:p>
        </p:txBody>
      </p:sp>
      <p:sp>
        <p:nvSpPr>
          <p:cNvPr id="38" name="TextBox 37"/>
          <p:cNvSpPr txBox="1"/>
          <p:nvPr/>
        </p:nvSpPr>
        <p:spPr>
          <a:xfrm>
            <a:off x="7424927" y="3529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Usable spare tanks may absorb this inventory. Published gross capacity does not establish spare petrol/diesel space.</a:t>
            </a:r>
          </a:p>
        </p:txBody>
      </p:sp>
      <p:sp>
        <p:nvSpPr>
          <p:cNvPr id="39" name="TextBox 38"/>
          <p:cNvSpPr txBox="1"/>
          <p:nvPr/>
        </p:nvSpPr>
        <p:spPr>
          <a:xfrm>
            <a:off x="7424927" y="410565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03 | Sizing needs an operating case</a:t>
            </a:r>
          </a:p>
        </p:txBody>
      </p:sp>
      <p:sp>
        <p:nvSpPr>
          <p:cNvPr id="40" name="TextBox 39"/>
          <p:cNvSpPr txBox="1"/>
          <p:nvPr/>
        </p:nvSpPr>
        <p:spPr>
          <a:xfrm>
            <a:off x="7424927" y="448970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Test peak receipts, product segregation, tank heels and dispatch limits. This is a sensitivity, not an investment recommendation.</a:t>
            </a:r>
          </a:p>
        </p:txBody>
      </p:sp>
      <p:cxnSp>
        <p:nvCxnSpPr>
          <p:cNvPr id="41" name="Connector 40"/>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42" name="TextBox 41"/>
          <p:cNvSpPr txBox="1"/>
          <p:nvPr/>
        </p:nvSpPr>
        <p:spPr>
          <a:xfrm>
            <a:off x="7424927" y="5321808"/>
            <a:ext cx="3685032"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To resolve next</a:t>
            </a:r>
          </a:p>
        </p:txBody>
      </p:sp>
      <p:sp>
        <p:nvSpPr>
          <p:cNvPr id="43" name="TextBox 42"/>
          <p:cNvSpPr txBox="1"/>
          <p:nvPr/>
        </p:nvSpPr>
        <p:spPr>
          <a:xfrm>
            <a:off x="7424927" y="5687568"/>
            <a:ext cx="3685032" cy="62179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Nigel: confirm candidate flows and inventory policy. Manish and Henry: test usable spare tanks, peak flows and operating allowances before sizing new capacity.</a:t>
            </a:r>
          </a:p>
        </p:txBody>
      </p:sp>
      <p:sp>
        <p:nvSpPr>
          <p:cNvPr id="44" name="SCR divider marker: circle"/>
          <p:cNvSpPr/>
          <p:nvPr/>
        </p:nvSpPr>
        <p:spPr>
          <a:xfrm>
            <a:off x="7086600" y="1828800"/>
            <a:ext cx="237744" cy="237744"/>
          </a:xfrm>
          <a:prstGeom prst="ellipse">
            <a:avLst/>
          </a:prstGeom>
          <a:solidFill>
            <a:srgbClr val="0A2373"/>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5" name="SCR divider marker: arrow"/>
          <p:cNvCxnSpPr/>
          <p:nvPr/>
        </p:nvCxnSpPr>
        <p:spPr>
          <a:xfrm>
            <a:off x="7173468" y="1888236"/>
            <a:ext cx="64008" cy="59436"/>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46" name="SCR divider marker: arrow"/>
          <p:cNvCxnSpPr/>
          <p:nvPr/>
        </p:nvCxnSpPr>
        <p:spPr>
          <a:xfrm flipH="1">
            <a:off x="7173468" y="1947672"/>
            <a:ext cx="64008" cy="59435"/>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sp>
        <p:nvSpPr>
          <p:cNvPr id="47"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S1 / S2 / S/C3 / C4. Henry storyboard answers | Market baseline</a:t>
            </a:r>
          </a:p>
        </p:txBody>
      </p:sp>
      <p:sp>
        <p:nvSpPr>
          <p:cNvPr id="3" name="Slide Number Placeholder"/>
          <p:cNvSpPr>
            <a:spLocks noGrp="1"/>
          </p:cNvSpPr>
          <p:nvPr>
            <p:ph type="sldNum" sz="quarter" idx="12"/>
          </p:nvPr>
        </p:nvSpPr>
        <p:spPr/>
        <p:txBody>
          <a:bodyPr/>
          <a:lstStyle/>
          <a:p>
            <a:fld id="{890FD823-C972-42C9-BDDA-9EC76C03495D}" type="slidenum">
              <a:rPr lang="en-US"/>
              <a:t>‹#›</a:t>
            </a:fld>
          </a:p>
        </p:txBody>
      </p:sp>
      <p:sp>
        <p:nvSpPr>
          <p:cNvPr id="4" name="Section navigation 1">
            <a:hlinkClick action="ppaction://hlinksldjump" r:id="rId13"/>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1  Overview</a:t>
            </a:r>
          </a:p>
        </p:txBody>
      </p:sp>
      <p:sp>
        <p:nvSpPr>
          <p:cNvPr id="5" name="Section navigation 2">
            <a:hlinkClick action="ppaction://hlinksldjump" r:id="rId2"/>
          </p:cNvPr>
          <p:cNvSpPr/>
          <p:nvPr/>
        </p:nvSpPr>
        <p:spPr>
          <a:xfrm>
            <a:off x="3136392"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1">
                <a:solidFill>
                  <a:srgbClr val="FFFFFF"/>
                </a:solidFill>
                <a:latin typeface="Lato"/>
              </a:defRPr>
            </a:pPr>
            <a:r>
              <a:rPr sz="1050"/>
              <a:t>2  Market baseline</a:t>
            </a:r>
          </a:p>
        </p:txBody>
      </p:sp>
      <p:sp>
        <p:nvSpPr>
          <p:cNvPr id="6" name="Section navigation 3">
            <a:hlinkClick action="ppaction://hlinksldjump" r:id="rId8"/>
          </p:cNvPr>
          <p:cNvSpPr/>
          <p:nvPr/>
        </p:nvSpPr>
        <p:spPr>
          <a:xfrm>
            <a:off x="5815584"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3  Market changes</a:t>
            </a:r>
          </a:p>
        </p:txBody>
      </p:sp>
      <p:sp>
        <p:nvSpPr>
          <p:cNvPr id="7" name="Section navigation 4">
            <a:hlinkClick action="ppaction://hlinksldjump" r:id="rId6"/>
          </p:cNvPr>
          <p:cNvSpPr/>
          <p:nvPr/>
        </p:nvSpPr>
        <p:spPr>
          <a:xfrm>
            <a:off x="8494776"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4  Vopak outlook</a:t>
            </a:r>
          </a:p>
        </p:txBody>
      </p:sp>
      <p:sp>
        <p:nvSpPr>
          <p:cNvPr id="8"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b="0">
                <a:solidFill>
                  <a:srgbClr val="000000"/>
                </a:solidFill>
                <a:latin typeface="Lato"/>
              </a:defRPr>
            </a:pPr>
            <a:r>
              <a:rPr sz="750"/>
              <a:t>Source: Henry storyboard pp30–32; reporting evidence and explicit gaps, 6 Oct 2026. Responses do not establish closure.</a:t>
            </a:r>
          </a:p>
        </p:txBody>
      </p:sp>
      <p:sp>
        <p:nvSpPr>
          <p:cNvPr id="45"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
        <p:nvSpPr>
          <p:cNvPr id="46" name="TextBox 45"/>
          <p:cNvSpPr txBox="1"/>
          <p:nvPr/>
        </p:nvSpPr>
        <p:spPr>
          <a:xfrm>
            <a:off x="457200" y="1627632"/>
            <a:ext cx="10652760" cy="292608"/>
          </a:xfrm>
          <a:prstGeom prst="rect">
            <a:avLst/>
          </a:prstGeom>
          <a:noFill/>
        </p:spPr>
        <p:txBody>
          <a:bodyPr wrap="none" lIns="0" rIns="0" tIns="0" bIns="0">
            <a:spAutoFit/>
          </a:bodyPr>
          <a:lstStyle/>
          <a:p>
            <a:pPr>
              <a:spcAft>
                <a:spcPts val="0"/>
              </a:spcAft>
              <a:defRPr sz="1400" b="1">
                <a:solidFill>
                  <a:srgbClr val="000000"/>
                </a:solidFill>
                <a:latin typeface="Lato"/>
              </a:defRPr>
            </a:pPr>
            <a:r>
              <a:rPr sz="1400" b="1">
                <a:latin typeface="Lato"/>
              </a:rPr>
              <a:t>S | Every prompt addressed; partial and open findings require the stated evidence</a:t>
            </a:r>
          </a:p>
        </p:txBody>
      </p:sp>
      <p:graphicFrame>
        <p:nvGraphicFramePr>
          <p:cNvPr id="47" name="Table 46"/>
          <p:cNvGraphicFramePr>
            <a:graphicFrameLocks noGrp="1"/>
          </p:cNvGraphicFramePr>
          <p:nvPr/>
        </p:nvGraphicFramePr>
        <p:xfrm>
          <a:off x="457200" y="2103120"/>
          <a:ext cx="10652760" cy="4133078"/>
        </p:xfrm>
        <a:graphic>
          <a:graphicData uri="http://schemas.openxmlformats.org/drawingml/2006/table">
            <a:tbl>
              <a:tblPr firstRow="1" bandRow="1">
                <a:tableStyleId>{2D5ABB26-0587-4C30-8999-92F81FD0307C}</a:tableStyleId>
              </a:tblPr>
              <a:tblGrid>
                <a:gridCol w="2880360"/>
                <a:gridCol w="6446520"/>
                <a:gridCol w="1325880"/>
              </a:tblGrid>
              <a:tr h="347472">
                <a:tc>
                  <a:txBody>
                    <a:bodyPr/>
                    <a:lstStyle/>
                    <a:p>
                      <a:pPr>
                        <a:spcAft>
                          <a:spcPts val="0"/>
                        </a:spcAft>
                        <a:defRPr sz="1000" b="1">
                          <a:solidFill>
                            <a:srgbClr val="000000"/>
                          </a:solidFill>
                          <a:latin typeface="Lato"/>
                        </a:defRPr>
                      </a:pPr>
                      <a:r>
                        <a:t>Henry storyboard prompt</a:t>
                      </a:r>
                    </a:p>
                  </a:txBody>
                  <a:tcPr marL="41148" marR="41148" marT="41148" marB="18288" anchor="t">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t>Current answer / evidence gap</a:t>
                      </a:r>
                    </a:p>
                  </a:txBody>
                  <a:tcPr marL="41148" marR="41148" marT="41148" marB="18288" anchor="t">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t>Deep dives</a:t>
                      </a:r>
                    </a:p>
                  </a:txBody>
                  <a:tcPr marL="41148" marR="41148" marT="41148" marB="18288" anchor="t">
                    <a:lnB w="7620" cap="flat">
                      <a:solidFill>
                        <a:srgbClr val="EEEEEE"/>
                      </a:solidFill>
                    </a:lnB>
                    <a:solidFill>
                      <a:srgbClr val="FFFFFF"/>
                    </a:solidFill>
                  </a:tcPr>
                </a:tc>
              </a:tr>
              <a:tr h="344146">
                <a:tc>
                  <a:txBody>
                    <a:bodyPr/>
                    <a:lstStyle/>
                    <a:p>
                      <a:pPr>
                        <a:spcAft>
                          <a:spcPts val="0"/>
                        </a:spcAft>
                        <a:defRPr sz="1000" b="0">
                          <a:solidFill>
                            <a:srgbClr val="000000"/>
                          </a:solidFill>
                          <a:latin typeface="Lato"/>
                        </a:defRPr>
                      </a:pPr>
                      <a:r>
                        <a:t>Total SA demand development</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Partial: reported 2024 sales are 20.763 bn L; coverage awaits reconciliation. Provincial history ends in 2022.</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2" action="ppaction://hlinksldjump"/>
                        </a:rPr>
                        <a:t>3</a:t>
                      </a:r>
                      <a:r>
                        <a:rPr sz="1050">
                          <a:solidFill>
                            <a:srgbClr val="0A2373"/>
                          </a:solidFill>
                          <a:latin typeface="Lato"/>
                          <a:hlinkClick r:id="rId3" action="ppaction://hlinksldjump"/>
                        </a:rPr>
                        <a:t> / 4</a:t>
                      </a:r>
                      <a:r>
                        <a:rPr sz="1050">
                          <a:solidFill>
                            <a:srgbClr val="0A2373"/>
                          </a:solidFill>
                          <a:latin typeface="Lato"/>
                          <a:hlinkClick r:id="rId4" action="ppaction://hlinksldjump"/>
                        </a:rPr>
                        <a:t> / 5</a:t>
                      </a:r>
                    </a:p>
                  </a:txBody>
                  <a:tcPr marL="41148" marR="41148" marT="41148" marB="18288" anchor="t">
                    <a:lnB w="7620" cap="flat">
                      <a:solidFill>
                        <a:srgbClr val="EEEEEE"/>
                      </a:solidFill>
                    </a:lnB>
                    <a:solidFill>
                      <a:srgbClr val="FFFFFF"/>
                    </a:solidFill>
                  </a:tcPr>
                </a:tc>
              </a:tr>
              <a:tr h="344146">
                <a:tc>
                  <a:txBody>
                    <a:bodyPr/>
                    <a:lstStyle/>
                    <a:p>
                      <a:pPr>
                        <a:spcAft>
                          <a:spcPts val="0"/>
                        </a:spcAft>
                        <a:defRPr sz="1000" b="0">
                          <a:solidFill>
                            <a:srgbClr val="000000"/>
                          </a:solidFill>
                          <a:latin typeface="Lato"/>
                        </a:defRPr>
                      </a:pPr>
                      <a:r>
                        <a:t>Eastern SA market within economic striking distance</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Open: location and illustrative costs show reach, not accessible customer litres. Need destinations, tariffs and rights.</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3" action="ppaction://hlinksldjump"/>
                        </a:rPr>
                        <a:t>4</a:t>
                      </a:r>
                      <a:r>
                        <a:rPr sz="1050">
                          <a:solidFill>
                            <a:srgbClr val="0A2373"/>
                          </a:solidFill>
                          <a:latin typeface="Lato"/>
                          <a:hlinkClick r:id="rId5" action="ppaction://hlinksldjump"/>
                        </a:rPr>
                        <a:t> / 10</a:t>
                      </a:r>
                      <a:r>
                        <a:rPr sz="1050">
                          <a:solidFill>
                            <a:srgbClr val="0A2373"/>
                          </a:solidFill>
                          <a:latin typeface="Lato"/>
                          <a:hlinkClick r:id="rId6" action="ppaction://hlinksldjump"/>
                        </a:rPr>
                        <a:t> / 12</a:t>
                      </a:r>
                      <a:r>
                        <a:rPr sz="1050">
                          <a:solidFill>
                            <a:srgbClr val="0A2373"/>
                          </a:solidFill>
                          <a:latin typeface="Lato"/>
                          <a:hlinkClick r:id="rId7" action="ppaction://hlinksldjump"/>
                        </a:rPr>
                        <a:t> / 14</a:t>
                      </a:r>
                    </a:p>
                  </a:txBody>
                  <a:tcPr marL="41148" marR="41148" marT="41148" marB="18288" anchor="t">
                    <a:lnB w="7620" cap="flat">
                      <a:solidFill>
                        <a:srgbClr val="EEEEEE"/>
                      </a:solidFill>
                    </a:lnB>
                    <a:solidFill>
                      <a:srgbClr val="FFFFFF"/>
                    </a:solidFill>
                  </a:tcPr>
                </a:tc>
              </a:tr>
              <a:tr h="344146">
                <a:tc>
                  <a:txBody>
                    <a:bodyPr/>
                    <a:lstStyle/>
                    <a:p>
                      <a:pPr>
                        <a:spcAft>
                          <a:spcPts val="0"/>
                        </a:spcAft>
                        <a:defRPr sz="1000" b="0">
                          <a:solidFill>
                            <a:srgbClr val="000000"/>
                          </a:solidFill>
                          <a:latin typeface="Lato"/>
                        </a:defRPr>
                      </a:pPr>
                      <a:r>
                        <a:t>Greater diesel use in power generation</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Partial: generation history is shown; recent OCGT use falls. Diesel-litres attribution still needs fuel-use evidence.</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8" action="ppaction://hlinksldjump"/>
                        </a:rPr>
                        <a:t>7</a:t>
                      </a:r>
                      <a:r>
                        <a:rPr sz="1050">
                          <a:solidFill>
                            <a:srgbClr val="0A2373"/>
                          </a:solidFill>
                          <a:latin typeface="Lato"/>
                          <a:hlinkClick r:id="rId9" action="ppaction://hlinksldjump"/>
                        </a:rPr>
                        <a:t> / 9</a:t>
                      </a:r>
                    </a:p>
                  </a:txBody>
                  <a:tcPr marL="41148" marR="41148" marT="41148" marB="18288" anchor="t">
                    <a:lnB w="7620" cap="flat">
                      <a:solidFill>
                        <a:srgbClr val="EEEEEE"/>
                      </a:solidFill>
                    </a:lnB>
                    <a:solidFill>
                      <a:srgbClr val="FFFFFF"/>
                    </a:solidFill>
                  </a:tcPr>
                </a:tc>
              </a:tr>
              <a:tr h="344146">
                <a:tc>
                  <a:txBody>
                    <a:bodyPr/>
                    <a:lstStyle/>
                    <a:p>
                      <a:pPr>
                        <a:spcAft>
                          <a:spcPts val="0"/>
                        </a:spcAft>
                        <a:defRPr sz="1000" b="0">
                          <a:solidFill>
                            <a:srgbClr val="000000"/>
                          </a:solidFill>
                          <a:latin typeface="Lato"/>
                        </a:defRPr>
                      </a:pPr>
                      <a:r>
                        <a:t>Rail to road</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Partial: road/rail payload history is shown. Payload alone does not prove modal substitution or diesel effects.</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8" action="ppaction://hlinksldjump"/>
                        </a:rPr>
                        <a:t>7</a:t>
                      </a:r>
                      <a:r>
                        <a:rPr sz="1050">
                          <a:solidFill>
                            <a:srgbClr val="0A2373"/>
                          </a:solidFill>
                          <a:latin typeface="Lato"/>
                          <a:hlinkClick r:id="rId9" action="ppaction://hlinksldjump"/>
                        </a:rPr>
                        <a:t> / 9</a:t>
                      </a:r>
                    </a:p>
                  </a:txBody>
                  <a:tcPr marL="41148" marR="41148" marT="41148" marB="18288" anchor="t">
                    <a:lnB w="7620" cap="flat">
                      <a:solidFill>
                        <a:srgbClr val="EEEEEE"/>
                      </a:solidFill>
                    </a:lnB>
                    <a:solidFill>
                      <a:srgbClr val="FFFFFF"/>
                    </a:solidFill>
                  </a:tcPr>
                </a:tc>
              </a:tr>
              <a:tr h="344146">
                <a:tc>
                  <a:txBody>
                    <a:bodyPr/>
                    <a:lstStyle/>
                    <a:p>
                      <a:pPr>
                        <a:spcAft>
                          <a:spcPts val="0"/>
                        </a:spcAft>
                        <a:defRPr sz="1000" b="0">
                          <a:solidFill>
                            <a:srgbClr val="000000"/>
                          </a:solidFill>
                          <a:latin typeface="Lato"/>
                        </a:defRPr>
                      </a:pPr>
                      <a:r>
                        <a:t>Changes in fuel price</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Partial: complete-year price history is staged. Travel response and real-price effects remain uncalibrated.</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8" action="ppaction://hlinksldjump"/>
                        </a:rPr>
                        <a:t>7</a:t>
                      </a:r>
                      <a:r>
                        <a:rPr sz="1050">
                          <a:solidFill>
                            <a:srgbClr val="0A2373"/>
                          </a:solidFill>
                          <a:latin typeface="Lato"/>
                          <a:hlinkClick r:id="rId9" action="ppaction://hlinksldjump"/>
                        </a:rPr>
                        <a:t> / 9</a:t>
                      </a:r>
                    </a:p>
                  </a:txBody>
                  <a:tcPr marL="41148" marR="41148" marT="41148" marB="18288" anchor="t">
                    <a:lnB w="7620" cap="flat">
                      <a:solidFill>
                        <a:srgbClr val="EEEEEE"/>
                      </a:solidFill>
                    </a:lnB>
                    <a:solidFill>
                      <a:srgbClr val="FFFFFF"/>
                    </a:solidFill>
                  </a:tcPr>
                </a:tc>
              </a:tr>
              <a:tr h="344146">
                <a:tc>
                  <a:txBody>
                    <a:bodyPr/>
                    <a:lstStyle/>
                    <a:p>
                      <a:pPr>
                        <a:spcAft>
                          <a:spcPts val="0"/>
                        </a:spcAft>
                        <a:defRPr sz="1000" b="0">
                          <a:solidFill>
                            <a:srgbClr val="000000"/>
                          </a:solidFill>
                          <a:latin typeface="Lato"/>
                        </a:defRPr>
                      </a:pPr>
                      <a:r>
                        <a:t>More fuel-efficient vehicles</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Open: fleet stocks and new EV/hybrid sales do not establish fleet efficiency. Need fuel mix, mileage and intensity.</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8" action="ppaction://hlinksldjump"/>
                        </a:rPr>
                        <a:t>7</a:t>
                      </a:r>
                      <a:r>
                        <a:rPr sz="1050">
                          <a:solidFill>
                            <a:srgbClr val="0A2373"/>
                          </a:solidFill>
                          <a:latin typeface="Lato"/>
                          <a:hlinkClick r:id="rId9" action="ppaction://hlinksldjump"/>
                        </a:rPr>
                        <a:t> / 9</a:t>
                      </a:r>
                    </a:p>
                  </a:txBody>
                  <a:tcPr marL="41148" marR="41148" marT="41148" marB="18288" anchor="t">
                    <a:lnB w="7620" cap="flat">
                      <a:solidFill>
                        <a:srgbClr val="EEEEEE"/>
                      </a:solidFill>
                    </a:lnB>
                    <a:solidFill>
                      <a:srgbClr val="FFFFFF"/>
                    </a:solidFill>
                  </a:tcPr>
                </a:tc>
              </a:tr>
              <a:tr h="344146">
                <a:tc>
                  <a:txBody>
                    <a:bodyPr/>
                    <a:lstStyle/>
                    <a:p>
                      <a:pPr>
                        <a:spcAft>
                          <a:spcPts val="0"/>
                        </a:spcAft>
                        <a:defRPr sz="1000" b="0">
                          <a:solidFill>
                            <a:srgbClr val="000000"/>
                          </a:solidFill>
                          <a:latin typeface="Lato"/>
                        </a:defRPr>
                      </a:pPr>
                      <a:r>
                        <a:t>Slow GDP growth</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Partial: GDP and sector activity evidence is available; growth-to-fuel effects require explicit assumptions.</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8" action="ppaction://hlinksldjump"/>
                        </a:rPr>
                        <a:t>7</a:t>
                      </a:r>
                      <a:r>
                        <a:rPr sz="1050">
                          <a:solidFill>
                            <a:srgbClr val="0A2373"/>
                          </a:solidFill>
                          <a:latin typeface="Lato"/>
                          <a:hlinkClick r:id="rId9" action="ppaction://hlinksldjump"/>
                        </a:rPr>
                        <a:t> / 9</a:t>
                      </a:r>
                    </a:p>
                  </a:txBody>
                  <a:tcPr marL="41148" marR="41148" marT="41148" marB="18288" anchor="t">
                    <a:lnB w="7620" cap="flat">
                      <a:solidFill>
                        <a:srgbClr val="EEEEEE"/>
                      </a:solidFill>
                    </a:lnB>
                    <a:solidFill>
                      <a:srgbClr val="FFFFFF"/>
                    </a:solidFill>
                  </a:tcPr>
                </a:tc>
              </a:tr>
              <a:tr h="344146">
                <a:tc>
                  <a:txBody>
                    <a:bodyPr/>
                    <a:lstStyle/>
                    <a:p>
                      <a:pPr>
                        <a:spcAft>
                          <a:spcPts val="0"/>
                        </a:spcAft>
                        <a:defRPr sz="1000" b="0">
                          <a:solidFill>
                            <a:srgbClr val="000000"/>
                          </a:solidFill>
                          <a:latin typeface="Lato"/>
                        </a:defRPr>
                      </a:pPr>
                      <a:r>
                        <a:t>Refinery closures</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Partial: published capacity falls to 358 thousand bbl/day. Capacity is distinct from output and operating availability.</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10" action="ppaction://hlinksldjump"/>
                        </a:rPr>
                        <a:t>8</a:t>
                      </a:r>
                    </a:p>
                  </a:txBody>
                  <a:tcPr marL="41148" marR="41148" marT="41148" marB="18288" anchor="t">
                    <a:lnB w="7620" cap="flat">
                      <a:solidFill>
                        <a:srgbClr val="EEEEEE"/>
                      </a:solidFill>
                    </a:lnB>
                    <a:solidFill>
                      <a:srgbClr val="FFFFFF"/>
                    </a:solidFill>
                  </a:tcPr>
                </a:tc>
              </a:tr>
              <a:tr h="344146">
                <a:tc>
                  <a:txBody>
                    <a:bodyPr/>
                    <a:lstStyle/>
                    <a:p>
                      <a:pPr>
                        <a:spcAft>
                          <a:spcPts val="0"/>
                        </a:spcAft>
                        <a:defRPr sz="1000" b="0">
                          <a:solidFill>
                            <a:srgbClr val="000000"/>
                          </a:solidFill>
                          <a:latin typeface="Lato"/>
                        </a:defRPr>
                      </a:pPr>
                      <a:r>
                        <a:t>Challenges at Secunda</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Partial: FY2024 output is 29.1 million barrels, all products. Availability and petrol/diesel yields remain open.</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10" action="ppaction://hlinksldjump"/>
                        </a:rPr>
                        <a:t>8</a:t>
                      </a:r>
                      <a:r>
                        <a:rPr sz="1050">
                          <a:solidFill>
                            <a:srgbClr val="0A2373"/>
                          </a:solidFill>
                          <a:latin typeface="Lato"/>
                          <a:hlinkClick r:id="rId9" action="ppaction://hlinksldjump"/>
                        </a:rPr>
                        <a:t> / 9</a:t>
                      </a:r>
                    </a:p>
                  </a:txBody>
                  <a:tcPr marL="41148" marR="41148" marT="41148" marB="18288" anchor="t">
                    <a:lnB w="7620" cap="flat">
                      <a:solidFill>
                        <a:srgbClr val="EEEEEE"/>
                      </a:solidFill>
                    </a:lnB>
                    <a:solidFill>
                      <a:srgbClr val="FFFFFF"/>
                    </a:solidFill>
                  </a:tcPr>
                </a:tc>
              </a:tr>
              <a:tr h="344146">
                <a:tc>
                  <a:txBody>
                    <a:bodyPr/>
                    <a:lstStyle/>
                    <a:p>
                      <a:pPr>
                        <a:spcAft>
                          <a:spcPts val="0"/>
                        </a:spcAft>
                        <a:defRPr sz="1000" b="0">
                          <a:solidFill>
                            <a:srgbClr val="000000"/>
                          </a:solidFill>
                          <a:latin typeface="Lato"/>
                        </a:defRPr>
                      </a:pPr>
                      <a:r>
                        <a:t>Closure of Mossgas</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Open: plant-specific shutdown dates, operating status and lost product output need explicit source confirmation.</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10" action="ppaction://hlinksldjump"/>
                        </a:rPr>
                        <a:t>8</a:t>
                      </a:r>
                      <a:r>
                        <a:rPr sz="1050">
                          <a:solidFill>
                            <a:srgbClr val="0A2373"/>
                          </a:solidFill>
                          <a:latin typeface="Lato"/>
                          <a:hlinkClick r:id="rId9" action="ppaction://hlinksldjump"/>
                        </a:rPr>
                        <a:t> / 9</a:t>
                      </a:r>
                    </a:p>
                  </a:txBody>
                  <a:tcPr marL="41148" marR="41148" marT="41148" marB="18288" anchor="t">
                    <a:lnB w="7620" cap="flat">
                      <a:solidFill>
                        <a:srgbClr val="EEEEEE"/>
                      </a:solidFill>
                    </a:lnB>
                    <a:solidFill>
                      <a:srgbClr val="FFFFFF"/>
                    </a:solidFill>
                  </a:tcPr>
                </a:tc>
              </a:tr>
              <a:tr h="344146">
                <a:tc>
                  <a:txBody>
                    <a:bodyPr/>
                    <a:lstStyle/>
                    <a:p>
                      <a:pPr>
                        <a:spcAft>
                          <a:spcPts val="0"/>
                        </a:spcAft>
                        <a:defRPr sz="1000" b="0">
                          <a:solidFill>
                            <a:srgbClr val="000000"/>
                          </a:solidFill>
                          <a:latin typeface="Lato"/>
                        </a:defRPr>
                      </a:pPr>
                      <a:r>
                        <a:t>Growth in imports and where they enter</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Partial: 2024 net imports are 13.078 bn L. Import-growth attribution, product-specific ports and origin remain open.</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2" action="ppaction://hlinksldjump"/>
                        </a:rPr>
                        <a:t>3</a:t>
                      </a:r>
                      <a:r>
                        <a:rPr sz="1050">
                          <a:solidFill>
                            <a:srgbClr val="0A2373"/>
                          </a:solidFill>
                          <a:latin typeface="Lato"/>
                          <a:hlinkClick r:id="rId11" action="ppaction://hlinksldjump"/>
                        </a:rPr>
                        <a:t> / 6</a:t>
                      </a:r>
                    </a:p>
                  </a:txBody>
                  <a:tcPr marL="41148" marR="41148" marT="41148" marB="18288" anchor="t">
                    <a:lnB w="7620" cap="flat">
                      <a:solidFill>
                        <a:srgbClr val="EEEEEE"/>
                      </a:solidFill>
                    </a:lnB>
                    <a:solidFill>
                      <a:srgbClr val="FFFFFF"/>
                    </a:solidFill>
                  </a:tcPr>
                </a:tc>
              </a:tr>
            </a:tbl>
          </a:graphicData>
        </a:graphic>
      </p:graphicFrame>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S/C3 / C4 / C5. Henry storyboard answers | Market changes</a:t>
            </a:r>
          </a:p>
        </p:txBody>
      </p:sp>
      <p:sp>
        <p:nvSpPr>
          <p:cNvPr id="3" name="Slide Number Placeholder"/>
          <p:cNvSpPr>
            <a:spLocks noGrp="1"/>
          </p:cNvSpPr>
          <p:nvPr>
            <p:ph type="sldNum" sz="quarter" idx="12"/>
          </p:nvPr>
        </p:nvSpPr>
        <p:spPr/>
        <p:txBody>
          <a:bodyPr/>
          <a:lstStyle/>
          <a:p>
            <a:fld id="{890FD823-C972-42C9-BDDA-9EC76C03495D}" type="slidenum">
              <a:rPr lang="en-US"/>
              <a:t>‹#›</a:t>
            </a:fld>
          </a:p>
        </p:txBody>
      </p:sp>
      <p:sp>
        <p:nvSpPr>
          <p:cNvPr id="4" name="Section navigation 1">
            <a:hlinkClick action="ppaction://hlinksldjump" r:id="rId10"/>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1  Overview</a:t>
            </a:r>
          </a:p>
        </p:txBody>
      </p:sp>
      <p:sp>
        <p:nvSpPr>
          <p:cNvPr id="5" name="Section navigation 2">
            <a:hlinkClick action="ppaction://hlinksldjump" r:id="rId11"/>
          </p:cNvPr>
          <p:cNvSpPr/>
          <p:nvPr/>
        </p:nvSpPr>
        <p:spPr>
          <a:xfrm>
            <a:off x="3136392"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2  Market baseline</a:t>
            </a:r>
          </a:p>
        </p:txBody>
      </p:sp>
      <p:sp>
        <p:nvSpPr>
          <p:cNvPr id="6" name="Section navigation 3">
            <a:hlinkClick action="ppaction://hlinksldjump" r:id="rId2"/>
          </p:cNvPr>
          <p:cNvSpPr/>
          <p:nvPr/>
        </p:nvSpPr>
        <p:spPr>
          <a:xfrm>
            <a:off x="5815584"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1">
                <a:solidFill>
                  <a:srgbClr val="FFFFFF"/>
                </a:solidFill>
                <a:latin typeface="Lato"/>
              </a:defRPr>
            </a:pPr>
            <a:r>
              <a:rPr sz="1050"/>
              <a:t>3  Market changes</a:t>
            </a:r>
          </a:p>
        </p:txBody>
      </p:sp>
      <p:sp>
        <p:nvSpPr>
          <p:cNvPr id="7" name="Section navigation 4">
            <a:hlinkClick action="ppaction://hlinksldjump" r:id="rId12"/>
          </p:cNvPr>
          <p:cNvSpPr/>
          <p:nvPr/>
        </p:nvSpPr>
        <p:spPr>
          <a:xfrm>
            <a:off x="8494776"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4  Vopak outlook</a:t>
            </a:r>
          </a:p>
        </p:txBody>
      </p:sp>
      <p:sp>
        <p:nvSpPr>
          <p:cNvPr id="8"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b="0">
                <a:solidFill>
                  <a:srgbClr val="000000"/>
                </a:solidFill>
                <a:latin typeface="Lato"/>
              </a:defRPr>
            </a:pPr>
            <a:r>
              <a:rPr sz="750"/>
              <a:t>Source: Henry storyboard pp30–32; reporting evidence and explicit gaps, 6 Oct 2026. Responses do not establish closure.</a:t>
            </a:r>
          </a:p>
        </p:txBody>
      </p:sp>
      <p:sp>
        <p:nvSpPr>
          <p:cNvPr id="45"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
        <p:nvSpPr>
          <p:cNvPr id="46" name="TextBox 45"/>
          <p:cNvSpPr txBox="1"/>
          <p:nvPr/>
        </p:nvSpPr>
        <p:spPr>
          <a:xfrm>
            <a:off x="457200" y="1627632"/>
            <a:ext cx="10652760" cy="292608"/>
          </a:xfrm>
          <a:prstGeom prst="rect">
            <a:avLst/>
          </a:prstGeom>
          <a:noFill/>
        </p:spPr>
        <p:txBody>
          <a:bodyPr wrap="none" lIns="0" rIns="0" tIns="0" bIns="0">
            <a:spAutoFit/>
          </a:bodyPr>
          <a:lstStyle/>
          <a:p>
            <a:pPr>
              <a:spcAft>
                <a:spcPts val="0"/>
              </a:spcAft>
              <a:defRPr sz="1400" b="1">
                <a:solidFill>
                  <a:srgbClr val="000000"/>
                </a:solidFill>
                <a:latin typeface="Lato"/>
              </a:defRPr>
            </a:pPr>
            <a:r>
              <a:rPr sz="1400" b="1">
                <a:latin typeface="Lato"/>
              </a:rPr>
              <a:t>C | Every prompt addressed; partial and open findings require the stated evidence</a:t>
            </a:r>
          </a:p>
        </p:txBody>
      </p:sp>
      <p:graphicFrame>
        <p:nvGraphicFramePr>
          <p:cNvPr id="47" name="Table 46"/>
          <p:cNvGraphicFramePr>
            <a:graphicFrameLocks noGrp="1"/>
          </p:cNvGraphicFramePr>
          <p:nvPr/>
        </p:nvGraphicFramePr>
        <p:xfrm>
          <a:off x="457200" y="2103120"/>
          <a:ext cx="10652760" cy="4133082"/>
        </p:xfrm>
        <a:graphic>
          <a:graphicData uri="http://schemas.openxmlformats.org/drawingml/2006/table">
            <a:tbl>
              <a:tblPr firstRow="1" bandRow="1">
                <a:tableStyleId>{2D5ABB26-0587-4C30-8999-92F81FD0307C}</a:tableStyleId>
              </a:tblPr>
              <a:tblGrid>
                <a:gridCol w="2880360"/>
                <a:gridCol w="6446520"/>
                <a:gridCol w="1325880"/>
              </a:tblGrid>
              <a:tr h="347472">
                <a:tc>
                  <a:txBody>
                    <a:bodyPr/>
                    <a:lstStyle/>
                    <a:p>
                      <a:pPr>
                        <a:spcAft>
                          <a:spcPts val="0"/>
                        </a:spcAft>
                        <a:defRPr sz="1000" b="1">
                          <a:solidFill>
                            <a:srgbClr val="000000"/>
                          </a:solidFill>
                          <a:latin typeface="Lato"/>
                        </a:defRPr>
                      </a:pPr>
                      <a:r>
                        <a:t>Henry storyboard prompt</a:t>
                      </a:r>
                    </a:p>
                  </a:txBody>
                  <a:tcPr marL="41148" marR="41148" marT="41148" marB="18288" anchor="t">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t>Current answer / evidence gap</a:t>
                      </a:r>
                    </a:p>
                  </a:txBody>
                  <a:tcPr marL="41148" marR="41148" marT="41148" marB="18288" anchor="t">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t>Deep dives</a:t>
                      </a:r>
                    </a:p>
                  </a:txBody>
                  <a:tcPr marL="41148" marR="41148" marT="41148" marB="18288" anchor="t">
                    <a:lnB w="7620" cap="flat">
                      <a:solidFill>
                        <a:srgbClr val="EEEEEE"/>
                      </a:solidFill>
                    </a:lnB>
                    <a:solidFill>
                      <a:srgbClr val="FFFFFF"/>
                    </a:solidFill>
                  </a:tcPr>
                </a:tc>
              </a:tr>
              <a:tr h="378561">
                <a:tc>
                  <a:txBody>
                    <a:bodyPr/>
                    <a:lstStyle/>
                    <a:p>
                      <a:pPr>
                        <a:spcAft>
                          <a:spcPts val="0"/>
                        </a:spcAft>
                        <a:defRPr sz="1000" b="0">
                          <a:solidFill>
                            <a:srgbClr val="000000"/>
                          </a:solidFill>
                          <a:latin typeface="Lato"/>
                        </a:defRPr>
                      </a:pPr>
                      <a:r>
                        <a:t>Road to rail; private-sector rail projection</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Open: historical payload is available; private-sector service, timing and modal-shift assumptions need evidence.</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2" action="ppaction://hlinksldjump"/>
                        </a:rPr>
                        <a:t>7</a:t>
                      </a:r>
                      <a:r>
                        <a:rPr sz="1050">
                          <a:solidFill>
                            <a:srgbClr val="0A2373"/>
                          </a:solidFill>
                          <a:latin typeface="Lato"/>
                          <a:hlinkClick r:id="rId3" action="ppaction://hlinksldjump"/>
                        </a:rPr>
                        <a:t> / 9</a:t>
                      </a:r>
                    </a:p>
                  </a:txBody>
                  <a:tcPr marL="41148" marR="41148" marT="41148" marB="18288" anchor="t">
                    <a:lnB w="7620" cap="flat">
                      <a:solidFill>
                        <a:srgbClr val="EEEEEE"/>
                      </a:solidFill>
                    </a:lnB>
                    <a:solidFill>
                      <a:srgbClr val="FFFFFF"/>
                    </a:solidFill>
                  </a:tcPr>
                </a:tc>
              </a:tr>
              <a:tr h="378561">
                <a:tc>
                  <a:txBody>
                    <a:bodyPr/>
                    <a:lstStyle/>
                    <a:p>
                      <a:pPr>
                        <a:spcAft>
                          <a:spcPts val="0"/>
                        </a:spcAft>
                        <a:defRPr sz="1000" b="0">
                          <a:solidFill>
                            <a:srgbClr val="000000"/>
                          </a:solidFill>
                          <a:latin typeface="Lato"/>
                        </a:defRPr>
                      </a:pPr>
                      <a:r>
                        <a:t>End of loadshedding and spare power capacity</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Partial: observed OCGT generation falls. Future dispatch, spare capacity and diesel demand remain conditional.</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2" action="ppaction://hlinksldjump"/>
                        </a:rPr>
                        <a:t>7</a:t>
                      </a:r>
                      <a:r>
                        <a:rPr sz="1050">
                          <a:solidFill>
                            <a:srgbClr val="0A2373"/>
                          </a:solidFill>
                          <a:latin typeface="Lato"/>
                          <a:hlinkClick r:id="rId3" action="ppaction://hlinksldjump"/>
                        </a:rPr>
                        <a:t> / 9</a:t>
                      </a:r>
                    </a:p>
                  </a:txBody>
                  <a:tcPr marL="41148" marR="41148" marT="41148" marB="18288" anchor="t">
                    <a:lnB w="7620" cap="flat">
                      <a:solidFill>
                        <a:srgbClr val="EEEEEE"/>
                      </a:solidFill>
                    </a:lnB>
                    <a:solidFill>
                      <a:srgbClr val="FFFFFF"/>
                    </a:solidFill>
                  </a:tcPr>
                </a:tc>
              </a:tr>
              <a:tr h="378561">
                <a:tc>
                  <a:txBody>
                    <a:bodyPr/>
                    <a:lstStyle/>
                    <a:p>
                      <a:pPr>
                        <a:spcAft>
                          <a:spcPts val="0"/>
                        </a:spcAft>
                        <a:defRPr sz="1000" b="0">
                          <a:solidFill>
                            <a:srgbClr val="000000"/>
                          </a:solidFill>
                          <a:latin typeface="Lato"/>
                        </a:defRPr>
                      </a:pPr>
                      <a:r>
                        <a:t>EV / HEV penetration projection</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Open: sales uptake is shown, not fleet penetration. Separate BEV, PHEV and conventional hybrids; model turnover.</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2" action="ppaction://hlinksldjump"/>
                        </a:rPr>
                        <a:t>7</a:t>
                      </a:r>
                      <a:r>
                        <a:rPr sz="1050">
                          <a:solidFill>
                            <a:srgbClr val="0A2373"/>
                          </a:solidFill>
                          <a:latin typeface="Lato"/>
                          <a:hlinkClick r:id="rId3" action="ppaction://hlinksldjump"/>
                        </a:rPr>
                        <a:t> / 9</a:t>
                      </a:r>
                    </a:p>
                  </a:txBody>
                  <a:tcPr marL="41148" marR="41148" marT="41148" marB="18288" anchor="t">
                    <a:lnB w="7620" cap="flat">
                      <a:solidFill>
                        <a:srgbClr val="EEEEEE"/>
                      </a:solidFill>
                    </a:lnB>
                    <a:solidFill>
                      <a:srgbClr val="FFFFFF"/>
                    </a:solidFill>
                  </a:tcPr>
                </a:tc>
              </a:tr>
              <a:tr h="378561">
                <a:tc>
                  <a:txBody>
                    <a:bodyPr/>
                    <a:lstStyle/>
                    <a:p>
                      <a:pPr>
                        <a:spcAft>
                          <a:spcPts val="0"/>
                        </a:spcAft>
                        <a:defRPr sz="1000" b="0">
                          <a:solidFill>
                            <a:srgbClr val="000000"/>
                          </a:solidFill>
                          <a:latin typeface="Lato"/>
                        </a:defRPr>
                      </a:pPr>
                      <a:r>
                        <a:t>Effect of EV / HEV on litres per km</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Open: require stock mix, mileage and fuel intensity. BEVs and hybrids have different fuel-use mechanisms.</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2" action="ppaction://hlinksldjump"/>
                        </a:rPr>
                        <a:t>7</a:t>
                      </a:r>
                      <a:r>
                        <a:rPr sz="1050">
                          <a:solidFill>
                            <a:srgbClr val="0A2373"/>
                          </a:solidFill>
                          <a:latin typeface="Lato"/>
                          <a:hlinkClick r:id="rId3" action="ppaction://hlinksldjump"/>
                        </a:rPr>
                        <a:t> / 9</a:t>
                      </a:r>
                    </a:p>
                  </a:txBody>
                  <a:tcPr marL="41148" marR="41148" marT="41148" marB="18288" anchor="t">
                    <a:lnB w="7620" cap="flat">
                      <a:solidFill>
                        <a:srgbClr val="EEEEEE"/>
                      </a:solidFill>
                    </a:lnB>
                    <a:solidFill>
                      <a:srgbClr val="FFFFFF"/>
                    </a:solidFill>
                  </a:tcPr>
                </a:tc>
              </a:tr>
              <a:tr h="378561">
                <a:tc>
                  <a:txBody>
                    <a:bodyPr/>
                    <a:lstStyle/>
                    <a:p>
                      <a:pPr>
                        <a:spcAft>
                          <a:spcPts val="0"/>
                        </a:spcAft>
                        <a:defRPr sz="1000" b="0">
                          <a:solidFill>
                            <a:srgbClr val="000000"/>
                          </a:solidFill>
                          <a:latin typeface="Lato"/>
                        </a:defRPr>
                      </a:pPr>
                      <a:r>
                        <a:t>Higher fuel prices and km travelled</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Open: prices are sourced; mileage response and elasticity must be specified and tested before forecasting.</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2" action="ppaction://hlinksldjump"/>
                        </a:rPr>
                        <a:t>7</a:t>
                      </a:r>
                      <a:r>
                        <a:rPr sz="1050">
                          <a:solidFill>
                            <a:srgbClr val="0A2373"/>
                          </a:solidFill>
                          <a:latin typeface="Lato"/>
                          <a:hlinkClick r:id="rId3" action="ppaction://hlinksldjump"/>
                        </a:rPr>
                        <a:t> / 9</a:t>
                      </a:r>
                    </a:p>
                  </a:txBody>
                  <a:tcPr marL="41148" marR="41148" marT="41148" marB="18288" anchor="t">
                    <a:lnB w="7620" cap="flat">
                      <a:solidFill>
                        <a:srgbClr val="EEEEEE"/>
                      </a:solidFill>
                    </a:lnB>
                    <a:solidFill>
                      <a:srgbClr val="FFFFFF"/>
                    </a:solidFill>
                  </a:tcPr>
                </a:tc>
              </a:tr>
              <a:tr h="378561">
                <a:tc>
                  <a:txBody>
                    <a:bodyPr/>
                    <a:lstStyle/>
                    <a:p>
                      <a:pPr>
                        <a:spcAft>
                          <a:spcPts val="0"/>
                        </a:spcAft>
                        <a:defRPr sz="1000" b="0">
                          <a:solidFill>
                            <a:srgbClr val="000000"/>
                          </a:solidFill>
                          <a:latin typeface="Lato"/>
                        </a:defRPr>
                      </a:pPr>
                      <a:r>
                        <a:t>Mega refinery / SAPREF restart</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Conditional: redevelopment capacity is a scenario, not sanctioned output. Confirm FID, ramp-up and product yields.</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4" action="ppaction://hlinksldjump"/>
                        </a:rPr>
                        <a:t>8</a:t>
                      </a:r>
                      <a:r>
                        <a:rPr sz="1050">
                          <a:solidFill>
                            <a:srgbClr val="0A2373"/>
                          </a:solidFill>
                          <a:latin typeface="Lato"/>
                          <a:hlinkClick r:id="rId3" action="ppaction://hlinksldjump"/>
                        </a:rPr>
                        <a:t> / 9</a:t>
                      </a:r>
                    </a:p>
                  </a:txBody>
                  <a:tcPr marL="41148" marR="41148" marT="41148" marB="18288" anchor="t">
                    <a:lnB w="7620" cap="flat">
                      <a:solidFill>
                        <a:srgbClr val="EEEEEE"/>
                      </a:solidFill>
                    </a:lnB>
                    <a:solidFill>
                      <a:srgbClr val="FFFFFF"/>
                    </a:solidFill>
                  </a:tcPr>
                </a:tc>
              </a:tr>
              <a:tr h="378561">
                <a:tc>
                  <a:txBody>
                    <a:bodyPr/>
                    <a:lstStyle/>
                    <a:p>
                      <a:pPr>
                        <a:spcAft>
                          <a:spcPts val="0"/>
                        </a:spcAft>
                        <a:defRPr sz="1000" b="0">
                          <a:solidFill>
                            <a:srgbClr val="000000"/>
                          </a:solidFill>
                          <a:latin typeface="Lato"/>
                        </a:defRPr>
                      </a:pPr>
                      <a:r>
                        <a:t>Secunda gas, coal and MRG diversion to 2032</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Open: no liquid-fuel displacement is inferred. Need dated gas allocation, plant mechanism and product-output evidence.</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4" action="ppaction://hlinksldjump"/>
                        </a:rPr>
                        <a:t>8</a:t>
                      </a:r>
                      <a:r>
                        <a:rPr sz="1050">
                          <a:solidFill>
                            <a:srgbClr val="0A2373"/>
                          </a:solidFill>
                          <a:latin typeface="Lato"/>
                          <a:hlinkClick r:id="rId3" action="ppaction://hlinksldjump"/>
                        </a:rPr>
                        <a:t> / 9</a:t>
                      </a:r>
                    </a:p>
                  </a:txBody>
                  <a:tcPr marL="41148" marR="41148" marT="41148" marB="18288" anchor="t">
                    <a:lnB w="7620" cap="flat">
                      <a:solidFill>
                        <a:srgbClr val="EEEEEE"/>
                      </a:solidFill>
                    </a:lnB>
                    <a:solidFill>
                      <a:srgbClr val="FFFFFF"/>
                    </a:solidFill>
                  </a:tcPr>
                </a:tc>
              </a:tr>
              <a:tr h="378561">
                <a:tc>
                  <a:txBody>
                    <a:bodyPr/>
                    <a:lstStyle/>
                    <a:p>
                      <a:pPr>
                        <a:spcAft>
                          <a:spcPts val="0"/>
                        </a:spcAft>
                        <a:defRPr sz="1000" b="0">
                          <a:solidFill>
                            <a:srgbClr val="000000"/>
                          </a:solidFill>
                          <a:latin typeface="Lato"/>
                        </a:defRPr>
                      </a:pPr>
                      <a:r>
                        <a:t>Natref future?</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Open: reported FY output is available; future ownership, availability and product yields require a dated case.</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4" action="ppaction://hlinksldjump"/>
                        </a:rPr>
                        <a:t>8</a:t>
                      </a:r>
                      <a:r>
                        <a:rPr sz="1050">
                          <a:solidFill>
                            <a:srgbClr val="0A2373"/>
                          </a:solidFill>
                          <a:latin typeface="Lato"/>
                          <a:hlinkClick r:id="rId3" action="ppaction://hlinksldjump"/>
                        </a:rPr>
                        <a:t> / 9</a:t>
                      </a:r>
                    </a:p>
                  </a:txBody>
                  <a:tcPr marL="41148" marR="41148" marT="41148" marB="18288" anchor="t">
                    <a:lnB w="7620" cap="flat">
                      <a:solidFill>
                        <a:srgbClr val="EEEEEE"/>
                      </a:solidFill>
                    </a:lnB>
                    <a:solidFill>
                      <a:srgbClr val="FFFFFF"/>
                    </a:solidFill>
                  </a:tcPr>
                </a:tc>
              </a:tr>
              <a:tr h="378561">
                <a:tc>
                  <a:txBody>
                    <a:bodyPr/>
                    <a:lstStyle/>
                    <a:p>
                      <a:pPr>
                        <a:spcAft>
                          <a:spcPts val="0"/>
                        </a:spcAft>
                        <a:defRPr sz="1000" b="0">
                          <a:solidFill>
                            <a:srgbClr val="000000"/>
                          </a:solidFill>
                          <a:latin typeface="Lato"/>
                        </a:defRPr>
                      </a:pPr>
                      <a:r>
                        <a:t>Durban storage / NMPP / Lesedi vs road and rail</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Open: compare the same customer and product. Need full delivered costs, capacity, tariffs and service availability.</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5" action="ppaction://hlinksldjump"/>
                        </a:rPr>
                        <a:t>10</a:t>
                      </a:r>
                      <a:r>
                        <a:rPr sz="1050">
                          <a:solidFill>
                            <a:srgbClr val="0A2373"/>
                          </a:solidFill>
                          <a:latin typeface="Lato"/>
                          <a:hlinkClick r:id="rId6" action="ppaction://hlinksldjump"/>
                        </a:rPr>
                        <a:t> / 11</a:t>
                      </a:r>
                      <a:r>
                        <a:rPr sz="1050">
                          <a:solidFill>
                            <a:srgbClr val="0A2373"/>
                          </a:solidFill>
                          <a:latin typeface="Lato"/>
                          <a:hlinkClick r:id="rId7" action="ppaction://hlinksldjump"/>
                        </a:rPr>
                        <a:t> / 14</a:t>
                      </a:r>
                    </a:p>
                  </a:txBody>
                  <a:tcPr marL="41148" marR="41148" marT="41148" marB="18288" anchor="t">
                    <a:lnB w="7620" cap="flat">
                      <a:solidFill>
                        <a:srgbClr val="EEEEEE"/>
                      </a:solidFill>
                    </a:lnB>
                    <a:solidFill>
                      <a:srgbClr val="FFFFFF"/>
                    </a:solidFill>
                  </a:tcPr>
                </a:tc>
              </a:tr>
              <a:tr h="378561">
                <a:tc>
                  <a:txBody>
                    <a:bodyPr/>
                    <a:lstStyle/>
                    <a:p>
                      <a:pPr>
                        <a:spcAft>
                          <a:spcPts val="0"/>
                        </a:spcAft>
                        <a:defRPr sz="1000" b="0">
                          <a:solidFill>
                            <a:srgbClr val="000000"/>
                          </a:solidFill>
                          <a:latin typeface="Lato"/>
                        </a:defRPr>
                      </a:pPr>
                      <a:r>
                        <a:t>Transport from Matola and Walvis Bay</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Partial: gateways, published storage and schematic routes are shown. Full costs, borders and customer access remain open.</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6" action="ppaction://hlinksldjump"/>
                        </a:rPr>
                        <a:t>11</a:t>
                      </a:r>
                      <a:r>
                        <a:rPr sz="1050">
                          <a:solidFill>
                            <a:srgbClr val="0A2373"/>
                          </a:solidFill>
                          <a:latin typeface="Lato"/>
                          <a:hlinkClick r:id="rId7" action="ppaction://hlinksldjump"/>
                        </a:rPr>
                        <a:t> / 14</a:t>
                      </a:r>
                      <a:r>
                        <a:rPr sz="1050">
                          <a:solidFill>
                            <a:srgbClr val="0A2373"/>
                          </a:solidFill>
                          <a:latin typeface="Lato"/>
                          <a:hlinkClick r:id="rId8" action="ppaction://hlinksldjump"/>
                        </a:rPr>
                        <a:t> / 16</a:t>
                      </a:r>
                    </a:p>
                  </a:txBody>
                  <a:tcPr marL="41148" marR="41148" marT="41148" marB="18288" anchor="t">
                    <a:lnB w="7620" cap="flat">
                      <a:solidFill>
                        <a:srgbClr val="EEEEEE"/>
                      </a:solidFill>
                    </a:lnB>
                    <a:solidFill>
                      <a:srgbClr val="FFFFFF"/>
                    </a:solidFill>
                  </a:tcPr>
                </a:tc>
              </a:tr>
            </a:tbl>
          </a:graphicData>
        </a:graphic>
      </p:graphicFrame>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R6 / R7. Henry storyboard answers | Vopak outlook</a:t>
            </a:r>
          </a:p>
        </p:txBody>
      </p:sp>
      <p:sp>
        <p:nvSpPr>
          <p:cNvPr id="3" name="Slide Number Placeholder"/>
          <p:cNvSpPr>
            <a:spLocks noGrp="1"/>
          </p:cNvSpPr>
          <p:nvPr>
            <p:ph type="sldNum" sz="quarter" idx="12"/>
          </p:nvPr>
        </p:nvSpPr>
        <p:spPr/>
        <p:txBody>
          <a:bodyPr/>
          <a:lstStyle/>
          <a:p>
            <a:fld id="{890FD823-C972-42C9-BDDA-9EC76C03495D}" type="slidenum">
              <a:rPr lang="en-US"/>
              <a:t>‹#›</a:t>
            </a:fld>
          </a:p>
        </p:txBody>
      </p:sp>
      <p:sp>
        <p:nvSpPr>
          <p:cNvPr id="4" name="Section navigation 1">
            <a:hlinkClick action="ppaction://hlinksldjump" r:id="rId9"/>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1  Overview</a:t>
            </a:r>
          </a:p>
        </p:txBody>
      </p:sp>
      <p:sp>
        <p:nvSpPr>
          <p:cNvPr id="5" name="Section navigation 2">
            <a:hlinkClick action="ppaction://hlinksldjump" r:id="rId10"/>
          </p:cNvPr>
          <p:cNvSpPr/>
          <p:nvPr/>
        </p:nvSpPr>
        <p:spPr>
          <a:xfrm>
            <a:off x="3136392"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2  Market baseline</a:t>
            </a:r>
          </a:p>
        </p:txBody>
      </p:sp>
      <p:sp>
        <p:nvSpPr>
          <p:cNvPr id="6" name="Section navigation 3">
            <a:hlinkClick action="ppaction://hlinksldjump" r:id="rId11"/>
          </p:cNvPr>
          <p:cNvSpPr/>
          <p:nvPr/>
        </p:nvSpPr>
        <p:spPr>
          <a:xfrm>
            <a:off x="5815584"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3  Market changes</a:t>
            </a:r>
          </a:p>
        </p:txBody>
      </p:sp>
      <p:sp>
        <p:nvSpPr>
          <p:cNvPr id="7" name="Section navigation 4">
            <a:hlinkClick action="ppaction://hlinksldjump" r:id="rId2"/>
          </p:cNvPr>
          <p:cNvSpPr/>
          <p:nvPr/>
        </p:nvSpPr>
        <p:spPr>
          <a:xfrm>
            <a:off x="8494776"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1">
                <a:solidFill>
                  <a:srgbClr val="FFFFFF"/>
                </a:solidFill>
                <a:latin typeface="Lato"/>
              </a:defRPr>
            </a:pPr>
            <a:r>
              <a:rPr sz="1050"/>
              <a:t>4  Vopak outlook</a:t>
            </a:r>
          </a:p>
        </p:txBody>
      </p:sp>
      <p:sp>
        <p:nvSpPr>
          <p:cNvPr id="8"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b="0">
                <a:solidFill>
                  <a:srgbClr val="000000"/>
                </a:solidFill>
                <a:latin typeface="Lato"/>
              </a:defRPr>
            </a:pPr>
            <a:r>
              <a:rPr sz="750"/>
              <a:t>Source: Henry storyboard pp30–32; reporting evidence and explicit gaps, 6 Oct 2026. Responses do not establish closure.</a:t>
            </a:r>
          </a:p>
        </p:txBody>
      </p:sp>
      <p:sp>
        <p:nvSpPr>
          <p:cNvPr id="45"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
        <p:nvSpPr>
          <p:cNvPr id="46" name="TextBox 45"/>
          <p:cNvSpPr txBox="1"/>
          <p:nvPr/>
        </p:nvSpPr>
        <p:spPr>
          <a:xfrm>
            <a:off x="457200" y="1627632"/>
            <a:ext cx="10652760" cy="292608"/>
          </a:xfrm>
          <a:prstGeom prst="rect">
            <a:avLst/>
          </a:prstGeom>
          <a:noFill/>
        </p:spPr>
        <p:txBody>
          <a:bodyPr wrap="none" lIns="0" rIns="0" tIns="0" bIns="0">
            <a:spAutoFit/>
          </a:bodyPr>
          <a:lstStyle/>
          <a:p>
            <a:pPr>
              <a:spcAft>
                <a:spcPts val="0"/>
              </a:spcAft>
              <a:defRPr sz="1400" b="1">
                <a:solidFill>
                  <a:srgbClr val="000000"/>
                </a:solidFill>
                <a:latin typeface="Lato"/>
              </a:defRPr>
            </a:pPr>
            <a:r>
              <a:rPr sz="1400" b="1">
                <a:latin typeface="Lato"/>
              </a:rPr>
              <a:t>R | Every prompt addressed; partial and open findings require the stated evidence</a:t>
            </a:r>
          </a:p>
        </p:txBody>
      </p:sp>
      <p:graphicFrame>
        <p:nvGraphicFramePr>
          <p:cNvPr id="47" name="Table 46"/>
          <p:cNvGraphicFramePr>
            <a:graphicFrameLocks noGrp="1"/>
          </p:cNvGraphicFramePr>
          <p:nvPr/>
        </p:nvGraphicFramePr>
        <p:xfrm>
          <a:off x="457200" y="2103120"/>
          <a:ext cx="10652760" cy="1645920"/>
        </p:xfrm>
        <a:graphic>
          <a:graphicData uri="http://schemas.openxmlformats.org/drawingml/2006/table">
            <a:tbl>
              <a:tblPr firstRow="1" bandRow="1">
                <a:tableStyleId>{2D5ABB26-0587-4C30-8999-92F81FD0307C}</a:tableStyleId>
              </a:tblPr>
              <a:tblGrid>
                <a:gridCol w="2880360"/>
                <a:gridCol w="6446520"/>
                <a:gridCol w="1325880"/>
              </a:tblGrid>
              <a:tr h="347472">
                <a:tc>
                  <a:txBody>
                    <a:bodyPr/>
                    <a:lstStyle/>
                    <a:p>
                      <a:pPr>
                        <a:spcAft>
                          <a:spcPts val="0"/>
                        </a:spcAft>
                        <a:defRPr sz="1000" b="1">
                          <a:solidFill>
                            <a:srgbClr val="000000"/>
                          </a:solidFill>
                          <a:latin typeface="Lato"/>
                        </a:defRPr>
                      </a:pPr>
                      <a:r>
                        <a:t>Henry storyboard prompt</a:t>
                      </a:r>
                    </a:p>
                  </a:txBody>
                  <a:tcPr marL="41148" marR="41148" marT="41148" marB="18288" anchor="t">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t>Current answer / evidence gap</a:t>
                      </a:r>
                    </a:p>
                  </a:txBody>
                  <a:tcPr marL="41148" marR="41148" marT="41148" marB="18288" anchor="t">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t>Deep dives</a:t>
                      </a:r>
                    </a:p>
                  </a:txBody>
                  <a:tcPr marL="41148" marR="41148" marT="41148" marB="18288" anchor="t">
                    <a:lnB w="7620" cap="flat">
                      <a:solidFill>
                        <a:srgbClr val="EEEEEE"/>
                      </a:solidFill>
                    </a:lnB>
                    <a:solidFill>
                      <a:srgbClr val="FFFFFF"/>
                    </a:solidFill>
                  </a:tcPr>
                </a:tc>
              </a:tr>
              <a:tr h="649224">
                <a:tc>
                  <a:txBody>
                    <a:bodyPr/>
                    <a:lstStyle/>
                    <a:p>
                      <a:pPr>
                        <a:spcAft>
                          <a:spcPts val="0"/>
                        </a:spcAft>
                        <a:defRPr sz="1000" b="0">
                          <a:solidFill>
                            <a:srgbClr val="000000"/>
                          </a:solidFill>
                          <a:latin typeface="Lato"/>
                        </a:defRPr>
                      </a:pPr>
                      <a:r>
                        <a:t>Market share of Vopak in Dbn and Lesedi</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Open: published storage is an asset footprint, not served demand. Need unique deliveries, transfers and matched demand.</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2" action="ppaction://hlinksldjump"/>
                        </a:rPr>
                        <a:t>12</a:t>
                      </a:r>
                      <a:r>
                        <a:rPr sz="1050">
                          <a:solidFill>
                            <a:srgbClr val="0A2373"/>
                          </a:solidFill>
                          <a:latin typeface="Lato"/>
                          <a:hlinkClick r:id="rId3" action="ppaction://hlinksldjump"/>
                        </a:rPr>
                        <a:t> / 13</a:t>
                      </a:r>
                      <a:r>
                        <a:rPr sz="1050">
                          <a:solidFill>
                            <a:srgbClr val="0A2373"/>
                          </a:solidFill>
                          <a:latin typeface="Lato"/>
                          <a:hlinkClick r:id="rId4" action="ppaction://hlinksldjump"/>
                        </a:rPr>
                        <a:t> / 14</a:t>
                      </a:r>
                    </a:p>
                  </a:txBody>
                  <a:tcPr marL="41148" marR="41148" marT="41148" marB="18288" anchor="t">
                    <a:lnB w="7620" cap="flat">
                      <a:solidFill>
                        <a:srgbClr val="EEEEEE"/>
                      </a:solidFill>
                    </a:lnB>
                    <a:solidFill>
                      <a:srgbClr val="FFFFFF"/>
                    </a:solidFill>
                  </a:tcPr>
                </a:tc>
              </a:tr>
              <a:tr h="649224">
                <a:tc>
                  <a:txBody>
                    <a:bodyPr/>
                    <a:lstStyle/>
                    <a:p>
                      <a:pPr>
                        <a:spcAft>
                          <a:spcPts val="0"/>
                        </a:spcAft>
                        <a:defRPr sz="1000" b="0">
                          <a:solidFill>
                            <a:srgbClr val="000000"/>
                          </a:solidFill>
                          <a:latin typeface="Lato"/>
                        </a:defRPr>
                      </a:pPr>
                      <a:r>
                        <a:t>Potential scope for new investment?</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Conditional: prioritise customer flows and service first. New storage requires secured incremental flows and a usable-capacity gap.</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5" action="ppaction://hlinksldjump"/>
                        </a:rPr>
                        <a:t>15</a:t>
                      </a:r>
                      <a:r>
                        <a:rPr sz="1050">
                          <a:solidFill>
                            <a:srgbClr val="0A2373"/>
                          </a:solidFill>
                          <a:latin typeface="Lato"/>
                          <a:hlinkClick r:id="rId6" action="ppaction://hlinksldjump"/>
                        </a:rPr>
                        <a:t> / 16</a:t>
                      </a:r>
                      <a:r>
                        <a:rPr sz="1050">
                          <a:solidFill>
                            <a:srgbClr val="0A2373"/>
                          </a:solidFill>
                          <a:latin typeface="Lato"/>
                          <a:hlinkClick r:id="rId7" action="ppaction://hlinksldjump"/>
                        </a:rPr>
                        <a:t> / 17</a:t>
                      </a:r>
                    </a:p>
                  </a:txBody>
                  <a:tcPr marL="41148" marR="41148" marT="41148" marB="18288" anchor="t">
                    <a:lnB w="7620" cap="flat">
                      <a:solidFill>
                        <a:srgbClr val="EEEEEE"/>
                      </a:solidFill>
                    </a:lnB>
                    <a:solidFill>
                      <a:srgbClr val="FFFFFF"/>
                    </a:solidFill>
                  </a:tcPr>
                </a:tc>
              </a:tr>
            </a:tbl>
          </a:graphicData>
        </a:graphic>
      </p:graphicFrame>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1588750" cy="6858000"/>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jpg"/>
          <p:cNvPicPr>
            <a:picLocks noChangeAspect="1"/>
          </p:cNvPicPr>
          <p:nvPr/>
        </p:nvPicPr>
        <p:blipFill>
          <a:blip r:embed="rId2"/>
          <a:srcRect l="26237" r="26237"/>
          <a:stretch>
            <a:fillRect/>
          </a:stretch>
        </p:blipFill>
        <p:spPr>
          <a:xfrm>
            <a:off x="5794375" y="0"/>
            <a:ext cx="5794375" cy="6858000"/>
          </a:xfrm>
          <a:prstGeom prst="rect">
            <a:avLst/>
          </a:prstGeom>
        </p:spPr>
      </p:pic>
      <p:pic>
        <p:nvPicPr>
          <p:cNvPr id="4" name="Picture 3" descr="image.png"/>
          <p:cNvPicPr>
            <a:picLocks noChangeAspect="1"/>
          </p:cNvPicPr>
          <p:nvPr/>
        </p:nvPicPr>
        <p:blipFill>
          <a:blip r:embed="rId3"/>
          <a:srcRect/>
          <a:stretch>
            <a:fillRect/>
          </a:stretch>
        </p:blipFill>
        <p:spPr>
          <a:xfrm>
            <a:off x="502920" y="457200"/>
            <a:ext cx="1965960" cy="438614"/>
          </a:xfrm>
          <a:prstGeom prst="rect">
            <a:avLst/>
          </a:prstGeom>
        </p:spPr>
      </p:pic>
      <p:sp>
        <p:nvSpPr>
          <p:cNvPr id="5" name="TextBox 4"/>
          <p:cNvSpPr txBox="1"/>
          <p:nvPr/>
        </p:nvSpPr>
        <p:spPr>
          <a:xfrm>
            <a:off x="594360" y="2468880"/>
            <a:ext cx="4709160" cy="1554480"/>
          </a:xfrm>
          <a:prstGeom prst="rect">
            <a:avLst/>
          </a:prstGeom>
          <a:noFill/>
        </p:spPr>
        <p:txBody>
          <a:bodyPr wrap="square" lIns="18288" rIns="18288" tIns="0" bIns="0">
            <a:spAutoFit/>
          </a:bodyPr>
          <a:lstStyle/>
          <a:p>
            <a:pPr>
              <a:spcAft>
                <a:spcPts val="800"/>
              </a:spcAft>
              <a:defRPr sz="3100" b="0">
                <a:solidFill>
                  <a:srgbClr val="FFFFFF"/>
                </a:solidFill>
                <a:latin typeface="Lato"/>
              </a:defRPr>
            </a:pPr>
            <a:r>
              <a:t>Agree priorities</a:t>
            </a:r>
          </a:p>
          <a:p>
            <a:pPr>
              <a:spcAft>
                <a:spcPts val="800"/>
              </a:spcAft>
              <a:defRPr sz="3100" b="0">
                <a:solidFill>
                  <a:srgbClr val="FFFFFF"/>
                </a:solidFill>
                <a:latin typeface="Lato"/>
              </a:defRPr>
            </a:pPr>
            <a:r>
              <a:t>and next steps</a:t>
            </a:r>
          </a:p>
        </p:txBody>
      </p:sp>
      <p:cxnSp>
        <p:nvCxnSpPr>
          <p:cNvPr id="6" name="Connector 5"/>
          <p:cNvCxnSpPr/>
          <p:nvPr/>
        </p:nvCxnSpPr>
        <p:spPr>
          <a:xfrm>
            <a:off x="594360" y="4251960"/>
            <a:ext cx="4617720" cy="0"/>
          </a:xfrm>
          <a:prstGeom prst="line">
            <a:avLst/>
          </a:prstGeom>
          <a:ln w="7620">
            <a:solidFill>
              <a:srgbClr val="FFFFFF"/>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4617720"/>
            <a:ext cx="4572000" cy="640080"/>
          </a:xfrm>
          <a:prstGeom prst="rect">
            <a:avLst/>
          </a:prstGeom>
          <a:noFill/>
        </p:spPr>
        <p:txBody>
          <a:bodyPr wrap="square" lIns="18288" rIns="18288" tIns="0" bIns="0">
            <a:spAutoFit/>
          </a:bodyPr>
          <a:lstStyle/>
          <a:p>
            <a:pPr>
              <a:spcAft>
                <a:spcPts val="800"/>
              </a:spcAft>
              <a:defRPr sz="2100" b="0">
                <a:solidFill>
                  <a:srgbClr val="FFFFFF"/>
                </a:solidFill>
                <a:latin typeface="Lato"/>
              </a:defRPr>
            </a:pPr>
            <a:r>
              <a:t>Confirm demand, routes and access</a:t>
            </a:r>
          </a:p>
        </p:txBody>
      </p:sp>
      <p:sp>
        <p:nvSpPr>
          <p:cNvPr id="8" name="TextBox 7"/>
          <p:cNvSpPr txBox="1"/>
          <p:nvPr/>
        </p:nvSpPr>
        <p:spPr>
          <a:xfrm>
            <a:off x="594360" y="5696712"/>
            <a:ext cx="4572000" cy="274320"/>
          </a:xfrm>
          <a:prstGeom prst="rect">
            <a:avLst/>
          </a:prstGeom>
          <a:noFill/>
        </p:spPr>
        <p:txBody>
          <a:bodyPr wrap="square" lIns="18288" rIns="18288" tIns="0" bIns="0">
            <a:spAutoFit/>
          </a:bodyPr>
          <a:lstStyle/>
          <a:p>
            <a:pPr>
              <a:spcAft>
                <a:spcPts val="800"/>
              </a:spcAft>
              <a:defRPr sz="1300" b="0">
                <a:solidFill>
                  <a:srgbClr val="FFFFFF"/>
                </a:solidFill>
                <a:latin typeface="Lato"/>
              </a:defRPr>
            </a:pPr>
            <a:r>
              <a:t>6 October 2026</a:t>
            </a:r>
          </a:p>
        </p:txBody>
      </p:sp>
      <p:sp>
        <p:nvSpPr>
          <p:cNvPr id="9" name="TextBox 8"/>
          <p:cNvSpPr txBox="1"/>
          <p:nvPr/>
        </p:nvSpPr>
        <p:spPr>
          <a:xfrm>
            <a:off x="594360" y="6053328"/>
            <a:ext cx="4572000" cy="274320"/>
          </a:xfrm>
          <a:prstGeom prst="rect">
            <a:avLst/>
          </a:prstGeom>
          <a:noFill/>
        </p:spPr>
        <p:txBody>
          <a:bodyPr wrap="square" lIns="18288" rIns="18288" tIns="0" bIns="0">
            <a:spAutoFit/>
          </a:bodyPr>
          <a:lstStyle/>
          <a:p>
            <a:pPr>
              <a:spcAft>
                <a:spcPts val="800"/>
              </a:spcAft>
              <a:defRPr sz="1200" b="0">
                <a:solidFill>
                  <a:srgbClr val="FFFFFF"/>
                </a:solidFill>
                <a:latin typeface="Lato"/>
              </a:defRPr>
            </a:pPr>
            <a:r>
              <a:t>Internal working discussion</a:t>
            </a:r>
          </a:p>
        </p:txBody>
      </p:sp>
      <p:sp>
        <p:nvSpPr>
          <p:cNvPr id="10" name="Photo source credit">
            <a:hlinkClick r:id="rId4"/>
          </p:cNvPr>
          <p:cNvSpPr txBox="1"/>
          <p:nvPr/>
        </p:nvSpPr>
        <p:spPr>
          <a:xfrm>
            <a:off x="594360" y="6400800"/>
            <a:ext cx="4754880" cy="164592"/>
          </a:xfrm>
          <a:prstGeom prst="rect">
            <a:avLst/>
          </a:prstGeom>
          <a:noFill/>
        </p:spPr>
        <p:txBody>
          <a:bodyPr wrap="square" lIns="18288" rIns="18288" tIns="0" bIns="0">
            <a:spAutoFit/>
          </a:bodyPr>
          <a:lstStyle/>
          <a:p>
            <a:pPr algn="l">
              <a:spcAft>
                <a:spcPts val="800"/>
              </a:spcAft>
              <a:defRPr sz="800" b="0">
                <a:solidFill>
                  <a:srgbClr val="FFFFFF"/>
                </a:solidFill>
                <a:latin typeface="Lato"/>
              </a:defRPr>
            </a:pPr>
            <a:r>
              <a:t>Photo source: Royal Vopak | Terminal Lesedi | vopak.com</a:t>
            </a:r>
          </a:p>
        </p:txBody>
      </p:sp>
      <p:sp>
        <p:nvSpPr>
          <p:cNvPr id="11"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BDBEC1"/>
                </a:solidFill>
                <a:latin typeface="Lato"/>
              </a:defRPr>
            </a:pPr>
            <a:r>
              <a:t>Strictly Confidential</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Presentation palette | colours and HEX codes</a:t>
            </a:r>
          </a:p>
        </p:txBody>
      </p:sp>
      <p:sp>
        <p:nvSpPr>
          <p:cNvPr id="3" name="Slide Number Placeholder"/>
          <p:cNvSpPr>
            <a:spLocks noGrp="1"/>
          </p:cNvSpPr>
          <p:nvPr>
            <p:ph type="sldNum" sz="quarter" idx="12"/>
          </p:nvPr>
        </p:nvSpPr>
        <p:spPr/>
        <p:txBody>
          <a:bodyPr/>
          <a:lstStyle/>
          <a:p>
            <a:fld id="{623304AF-E370-4B99-B8E8-8458BC58B400}" type="slidenum">
              <a:rPr lang="en-US"/>
              <a:t>‹#›</a:t>
            </a:fld>
          </a:p>
        </p:txBody>
      </p:sp>
      <p:sp>
        <p:nvSpPr>
          <p:cNvPr id="4" name="TextBox 3"/>
          <p:cNvSpPr txBox="1"/>
          <p:nvPr/>
        </p:nvSpPr>
        <p:spPr>
          <a:xfrm>
            <a:off x="457200" y="1627632"/>
            <a:ext cx="10652760" cy="320040"/>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t>Reference | colours used in this presentation</a:t>
            </a:r>
          </a:p>
        </p:txBody>
      </p:sp>
      <p:sp>
        <p:nvSpPr>
          <p:cNvPr id="5" name="TextBox 4"/>
          <p:cNvSpPr txBox="1"/>
          <p:nvPr/>
        </p:nvSpPr>
        <p:spPr>
          <a:xfrm>
            <a:off x="457200" y="2130552"/>
            <a:ext cx="10652760" cy="256032"/>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Core presentation colours</a:t>
            </a:r>
          </a:p>
        </p:txBody>
      </p:sp>
      <p:sp>
        <p:nvSpPr>
          <p:cNvPr id="6" name="Rectangle 5"/>
          <p:cNvSpPr/>
          <p:nvPr/>
        </p:nvSpPr>
        <p:spPr>
          <a:xfrm>
            <a:off x="457200" y="2487168"/>
            <a:ext cx="347472" cy="292608"/>
          </a:xfrm>
          <a:prstGeom prst="rect">
            <a:avLst/>
          </a:prstGeom>
          <a:solidFill>
            <a:srgbClr val="0A2373"/>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05256" y="2459736"/>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Vopak blue</a:t>
            </a:r>
          </a:p>
        </p:txBody>
      </p:sp>
      <p:sp>
        <p:nvSpPr>
          <p:cNvPr id="8" name="TextBox 7"/>
          <p:cNvSpPr txBox="1"/>
          <p:nvPr/>
        </p:nvSpPr>
        <p:spPr>
          <a:xfrm>
            <a:off x="905256" y="2651760"/>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#0A2373</a:t>
            </a:r>
          </a:p>
        </p:txBody>
      </p:sp>
      <p:sp>
        <p:nvSpPr>
          <p:cNvPr id="9" name="Rectangle 8"/>
          <p:cNvSpPr/>
          <p:nvPr/>
        </p:nvSpPr>
        <p:spPr>
          <a:xfrm>
            <a:off x="3200400" y="2487168"/>
            <a:ext cx="347472" cy="292608"/>
          </a:xfrm>
          <a:prstGeom prst="rect">
            <a:avLst/>
          </a:prstGeom>
          <a:solidFill>
            <a:srgbClr val="546CA2"/>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48456" y="2459736"/>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Secondary blue</a:t>
            </a:r>
          </a:p>
        </p:txBody>
      </p:sp>
      <p:sp>
        <p:nvSpPr>
          <p:cNvPr id="11" name="TextBox 10"/>
          <p:cNvSpPr txBox="1"/>
          <p:nvPr/>
        </p:nvSpPr>
        <p:spPr>
          <a:xfrm>
            <a:off x="3648456" y="2651760"/>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#546CA2</a:t>
            </a:r>
          </a:p>
        </p:txBody>
      </p:sp>
      <p:sp>
        <p:nvSpPr>
          <p:cNvPr id="12" name="Rectangle 11"/>
          <p:cNvSpPr/>
          <p:nvPr/>
        </p:nvSpPr>
        <p:spPr>
          <a:xfrm>
            <a:off x="5943600" y="2487168"/>
            <a:ext cx="347472" cy="292608"/>
          </a:xfrm>
          <a:prstGeom prst="rect">
            <a:avLst/>
          </a:prstGeom>
          <a:solidFill>
            <a:srgbClr val="000000"/>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91656" y="2459736"/>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Text / ink</a:t>
            </a:r>
          </a:p>
        </p:txBody>
      </p:sp>
      <p:sp>
        <p:nvSpPr>
          <p:cNvPr id="14" name="TextBox 13"/>
          <p:cNvSpPr txBox="1"/>
          <p:nvPr/>
        </p:nvSpPr>
        <p:spPr>
          <a:xfrm>
            <a:off x="6391656" y="2651760"/>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#000000</a:t>
            </a:r>
          </a:p>
        </p:txBody>
      </p:sp>
      <p:sp>
        <p:nvSpPr>
          <p:cNvPr id="15" name="Rectangle 14"/>
          <p:cNvSpPr/>
          <p:nvPr/>
        </p:nvSpPr>
        <p:spPr>
          <a:xfrm>
            <a:off x="8686800" y="2487168"/>
            <a:ext cx="347472" cy="292608"/>
          </a:xfrm>
          <a:prstGeom prst="rect">
            <a:avLst/>
          </a:prstGeom>
          <a:solidFill>
            <a:srgbClr val="FFFFFF"/>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34856" y="2459736"/>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White</a:t>
            </a:r>
          </a:p>
        </p:txBody>
      </p:sp>
      <p:sp>
        <p:nvSpPr>
          <p:cNvPr id="17" name="TextBox 16"/>
          <p:cNvSpPr txBox="1"/>
          <p:nvPr/>
        </p:nvSpPr>
        <p:spPr>
          <a:xfrm>
            <a:off x="9134856" y="2651760"/>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#FFFFFF</a:t>
            </a:r>
          </a:p>
        </p:txBody>
      </p:sp>
      <p:sp>
        <p:nvSpPr>
          <p:cNvPr id="18" name="Rectangle 17"/>
          <p:cNvSpPr/>
          <p:nvPr/>
        </p:nvSpPr>
        <p:spPr>
          <a:xfrm>
            <a:off x="457200" y="2935224"/>
            <a:ext cx="347472" cy="292608"/>
          </a:xfrm>
          <a:prstGeom prst="rect">
            <a:avLst/>
          </a:prstGeom>
          <a:solidFill>
            <a:srgbClr val="EEEEEE"/>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5256" y="2907792"/>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Unassessed / neutral</a:t>
            </a:r>
          </a:p>
        </p:txBody>
      </p:sp>
      <p:sp>
        <p:nvSpPr>
          <p:cNvPr id="20" name="TextBox 19"/>
          <p:cNvSpPr txBox="1"/>
          <p:nvPr/>
        </p:nvSpPr>
        <p:spPr>
          <a:xfrm>
            <a:off x="905256" y="3099816"/>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#EEEEEE</a:t>
            </a:r>
          </a:p>
        </p:txBody>
      </p:sp>
      <p:sp>
        <p:nvSpPr>
          <p:cNvPr id="21" name="Rectangle 20"/>
          <p:cNvSpPr/>
          <p:nvPr/>
        </p:nvSpPr>
        <p:spPr>
          <a:xfrm>
            <a:off x="3200400" y="2935224"/>
            <a:ext cx="347472" cy="292608"/>
          </a:xfrm>
          <a:prstGeom prst="rect">
            <a:avLst/>
          </a:prstGeom>
          <a:solidFill>
            <a:srgbClr val="A0A0A0"/>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48456" y="2907792"/>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Header divider</a:t>
            </a:r>
          </a:p>
        </p:txBody>
      </p:sp>
      <p:sp>
        <p:nvSpPr>
          <p:cNvPr id="23" name="TextBox 22"/>
          <p:cNvSpPr txBox="1"/>
          <p:nvPr/>
        </p:nvSpPr>
        <p:spPr>
          <a:xfrm>
            <a:off x="3648456" y="3099816"/>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#A0A0A0</a:t>
            </a:r>
          </a:p>
        </p:txBody>
      </p:sp>
      <p:sp>
        <p:nvSpPr>
          <p:cNvPr id="24" name="Rectangle 23"/>
          <p:cNvSpPr/>
          <p:nvPr/>
        </p:nvSpPr>
        <p:spPr>
          <a:xfrm>
            <a:off x="5943600" y="2935224"/>
            <a:ext cx="347472" cy="292608"/>
          </a:xfrm>
          <a:prstGeom prst="rect">
            <a:avLst/>
          </a:prstGeom>
          <a:solidFill>
            <a:srgbClr val="B8B8B8"/>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91656" y="2907792"/>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Body divider</a:t>
            </a:r>
          </a:p>
        </p:txBody>
      </p:sp>
      <p:sp>
        <p:nvSpPr>
          <p:cNvPr id="26" name="TextBox 25"/>
          <p:cNvSpPr txBox="1"/>
          <p:nvPr/>
        </p:nvSpPr>
        <p:spPr>
          <a:xfrm>
            <a:off x="6391656" y="3099816"/>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#B8B8B8</a:t>
            </a:r>
          </a:p>
        </p:txBody>
      </p:sp>
      <p:sp>
        <p:nvSpPr>
          <p:cNvPr id="27" name="Rectangle 26"/>
          <p:cNvSpPr/>
          <p:nvPr/>
        </p:nvSpPr>
        <p:spPr>
          <a:xfrm>
            <a:off x="8686800" y="2935224"/>
            <a:ext cx="347472" cy="292608"/>
          </a:xfrm>
          <a:prstGeom prst="rect">
            <a:avLst/>
          </a:prstGeom>
          <a:solidFill>
            <a:srgbClr val="B0B0B0"/>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34856" y="2907792"/>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Frame divider</a:t>
            </a:r>
          </a:p>
        </p:txBody>
      </p:sp>
      <p:sp>
        <p:nvSpPr>
          <p:cNvPr id="29" name="TextBox 28"/>
          <p:cNvSpPr txBox="1"/>
          <p:nvPr/>
        </p:nvSpPr>
        <p:spPr>
          <a:xfrm>
            <a:off x="9134856" y="3099816"/>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#B0B0B0</a:t>
            </a:r>
          </a:p>
        </p:txBody>
      </p:sp>
      <p:sp>
        <p:nvSpPr>
          <p:cNvPr id="30" name="TextBox 29"/>
          <p:cNvSpPr txBox="1"/>
          <p:nvPr/>
        </p:nvSpPr>
        <p:spPr>
          <a:xfrm>
            <a:off x="457200" y="3502152"/>
            <a:ext cx="10652760" cy="256032"/>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Sales-map colours | provincial totals, bn litres/year</a:t>
            </a:r>
          </a:p>
        </p:txBody>
      </p:sp>
      <p:sp>
        <p:nvSpPr>
          <p:cNvPr id="31" name="Rectangle 30"/>
          <p:cNvSpPr/>
          <p:nvPr/>
        </p:nvSpPr>
        <p:spPr>
          <a:xfrm>
            <a:off x="457200" y="3858768"/>
            <a:ext cx="347472" cy="292608"/>
          </a:xfrm>
          <a:prstGeom prst="rect">
            <a:avLst/>
          </a:prstGeom>
          <a:solidFill>
            <a:srgbClr val="E3EBF6"/>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3831335"/>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Below 1</a:t>
            </a:r>
          </a:p>
        </p:txBody>
      </p:sp>
      <p:sp>
        <p:nvSpPr>
          <p:cNvPr id="33" name="TextBox 32"/>
          <p:cNvSpPr txBox="1"/>
          <p:nvPr/>
        </p:nvSpPr>
        <p:spPr>
          <a:xfrm>
            <a:off x="905256" y="4023359"/>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#E3EBF6</a:t>
            </a:r>
          </a:p>
        </p:txBody>
      </p:sp>
      <p:sp>
        <p:nvSpPr>
          <p:cNvPr id="34" name="Rectangle 33"/>
          <p:cNvSpPr/>
          <p:nvPr/>
        </p:nvSpPr>
        <p:spPr>
          <a:xfrm>
            <a:off x="3200400" y="3858768"/>
            <a:ext cx="347472" cy="292608"/>
          </a:xfrm>
          <a:prstGeom prst="rect">
            <a:avLst/>
          </a:prstGeom>
          <a:solidFill>
            <a:srgbClr val="BACCE4"/>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648456" y="3831335"/>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1 to below 2</a:t>
            </a:r>
          </a:p>
        </p:txBody>
      </p:sp>
      <p:sp>
        <p:nvSpPr>
          <p:cNvPr id="36" name="TextBox 35"/>
          <p:cNvSpPr txBox="1"/>
          <p:nvPr/>
        </p:nvSpPr>
        <p:spPr>
          <a:xfrm>
            <a:off x="3648456" y="4023359"/>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#BACCE4</a:t>
            </a:r>
          </a:p>
        </p:txBody>
      </p:sp>
      <p:sp>
        <p:nvSpPr>
          <p:cNvPr id="37" name="Rectangle 36"/>
          <p:cNvSpPr/>
          <p:nvPr/>
        </p:nvSpPr>
        <p:spPr>
          <a:xfrm>
            <a:off x="5943600" y="3858768"/>
            <a:ext cx="347472" cy="292608"/>
          </a:xfrm>
          <a:prstGeom prst="rect">
            <a:avLst/>
          </a:prstGeom>
          <a:solidFill>
            <a:srgbClr val="809CC7"/>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391656" y="3831335"/>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2 to below 4</a:t>
            </a:r>
          </a:p>
        </p:txBody>
      </p:sp>
      <p:sp>
        <p:nvSpPr>
          <p:cNvPr id="39" name="TextBox 38"/>
          <p:cNvSpPr txBox="1"/>
          <p:nvPr/>
        </p:nvSpPr>
        <p:spPr>
          <a:xfrm>
            <a:off x="6391656" y="4023359"/>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#809CC7</a:t>
            </a:r>
          </a:p>
        </p:txBody>
      </p:sp>
      <p:sp>
        <p:nvSpPr>
          <p:cNvPr id="40" name="Rectangle 39"/>
          <p:cNvSpPr/>
          <p:nvPr/>
        </p:nvSpPr>
        <p:spPr>
          <a:xfrm>
            <a:off x="8686800" y="3858768"/>
            <a:ext cx="347472" cy="292608"/>
          </a:xfrm>
          <a:prstGeom prst="rect">
            <a:avLst/>
          </a:prstGeom>
          <a:solidFill>
            <a:srgbClr val="3D619D"/>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134856" y="3831335"/>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4 to below 6</a:t>
            </a:r>
          </a:p>
        </p:txBody>
      </p:sp>
      <p:sp>
        <p:nvSpPr>
          <p:cNvPr id="42" name="TextBox 41"/>
          <p:cNvSpPr txBox="1"/>
          <p:nvPr/>
        </p:nvSpPr>
        <p:spPr>
          <a:xfrm>
            <a:off x="9134856" y="4023359"/>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#3D619D</a:t>
            </a:r>
          </a:p>
        </p:txBody>
      </p:sp>
      <p:sp>
        <p:nvSpPr>
          <p:cNvPr id="43" name="Rectangle 42"/>
          <p:cNvSpPr/>
          <p:nvPr/>
        </p:nvSpPr>
        <p:spPr>
          <a:xfrm>
            <a:off x="457200" y="4306824"/>
            <a:ext cx="347472" cy="292608"/>
          </a:xfrm>
          <a:prstGeom prst="rect">
            <a:avLst/>
          </a:prstGeom>
          <a:solidFill>
            <a:srgbClr val="0A2373"/>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05256" y="4279392"/>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6 and above</a:t>
            </a:r>
          </a:p>
        </p:txBody>
      </p:sp>
      <p:sp>
        <p:nvSpPr>
          <p:cNvPr id="45" name="TextBox 44"/>
          <p:cNvSpPr txBox="1"/>
          <p:nvPr/>
        </p:nvSpPr>
        <p:spPr>
          <a:xfrm>
            <a:off x="905256" y="4471416"/>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#0A2373</a:t>
            </a:r>
          </a:p>
        </p:txBody>
      </p:sp>
      <p:sp>
        <p:nvSpPr>
          <p:cNvPr id="46" name="Rectangle 45"/>
          <p:cNvSpPr/>
          <p:nvPr/>
        </p:nvSpPr>
        <p:spPr>
          <a:xfrm>
            <a:off x="3200400" y="4306824"/>
            <a:ext cx="347472" cy="292608"/>
          </a:xfrm>
          <a:prstGeom prst="rect">
            <a:avLst/>
          </a:prstGeom>
          <a:solidFill>
            <a:srgbClr val="F5F8FB"/>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3648456" y="4279392"/>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Map background</a:t>
            </a:r>
          </a:p>
        </p:txBody>
      </p:sp>
      <p:sp>
        <p:nvSpPr>
          <p:cNvPr id="48" name="TextBox 47"/>
          <p:cNvSpPr txBox="1"/>
          <p:nvPr/>
        </p:nvSpPr>
        <p:spPr>
          <a:xfrm>
            <a:off x="3648456" y="4471416"/>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#F5F8FB</a:t>
            </a:r>
          </a:p>
        </p:txBody>
      </p:sp>
      <p:sp>
        <p:nvSpPr>
          <p:cNvPr id="49" name="TextBox 48"/>
          <p:cNvSpPr txBox="1"/>
          <p:nvPr/>
        </p:nvSpPr>
        <p:spPr>
          <a:xfrm>
            <a:off x="457200" y="4873752"/>
            <a:ext cx="10652760" cy="256032"/>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Other template theme colours</a:t>
            </a:r>
          </a:p>
        </p:txBody>
      </p:sp>
      <p:sp>
        <p:nvSpPr>
          <p:cNvPr id="50" name="Rectangle 49"/>
          <p:cNvSpPr/>
          <p:nvPr/>
        </p:nvSpPr>
        <p:spPr>
          <a:xfrm>
            <a:off x="457200" y="5230368"/>
            <a:ext cx="347472" cy="292608"/>
          </a:xfrm>
          <a:prstGeom prst="rect">
            <a:avLst/>
          </a:prstGeom>
          <a:solidFill>
            <a:srgbClr val="11151A"/>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905256" y="5202936"/>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Theme dark 2</a:t>
            </a:r>
          </a:p>
        </p:txBody>
      </p:sp>
      <p:sp>
        <p:nvSpPr>
          <p:cNvPr id="52" name="TextBox 51"/>
          <p:cNvSpPr txBox="1"/>
          <p:nvPr/>
        </p:nvSpPr>
        <p:spPr>
          <a:xfrm>
            <a:off x="905256" y="5394959"/>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#11151A</a:t>
            </a:r>
          </a:p>
        </p:txBody>
      </p:sp>
      <p:sp>
        <p:nvSpPr>
          <p:cNvPr id="53" name="Rectangle 52"/>
          <p:cNvSpPr/>
          <p:nvPr/>
        </p:nvSpPr>
        <p:spPr>
          <a:xfrm>
            <a:off x="3200400" y="5230368"/>
            <a:ext cx="347472" cy="292608"/>
          </a:xfrm>
          <a:prstGeom prst="rect">
            <a:avLst/>
          </a:prstGeom>
          <a:solidFill>
            <a:srgbClr val="E7E6E6"/>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3648456" y="5202936"/>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Theme light 2</a:t>
            </a:r>
          </a:p>
        </p:txBody>
      </p:sp>
      <p:sp>
        <p:nvSpPr>
          <p:cNvPr id="55" name="TextBox 54"/>
          <p:cNvSpPr txBox="1"/>
          <p:nvPr/>
        </p:nvSpPr>
        <p:spPr>
          <a:xfrm>
            <a:off x="3648456" y="5394959"/>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#E7E6E6</a:t>
            </a:r>
          </a:p>
        </p:txBody>
      </p:sp>
      <p:sp>
        <p:nvSpPr>
          <p:cNvPr id="56" name="Rectangle 55"/>
          <p:cNvSpPr/>
          <p:nvPr/>
        </p:nvSpPr>
        <p:spPr>
          <a:xfrm>
            <a:off x="5943600" y="5230368"/>
            <a:ext cx="347472" cy="292608"/>
          </a:xfrm>
          <a:prstGeom prst="rect">
            <a:avLst/>
          </a:prstGeom>
          <a:solidFill>
            <a:srgbClr val="BDBEC1"/>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6391656" y="5202936"/>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Accent 3</a:t>
            </a:r>
          </a:p>
        </p:txBody>
      </p:sp>
      <p:sp>
        <p:nvSpPr>
          <p:cNvPr id="58" name="TextBox 57"/>
          <p:cNvSpPr txBox="1"/>
          <p:nvPr/>
        </p:nvSpPr>
        <p:spPr>
          <a:xfrm>
            <a:off x="6391656" y="5394959"/>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#BDBEC1</a:t>
            </a:r>
          </a:p>
        </p:txBody>
      </p:sp>
      <p:sp>
        <p:nvSpPr>
          <p:cNvPr id="59" name="Rectangle 58"/>
          <p:cNvSpPr/>
          <p:nvPr/>
        </p:nvSpPr>
        <p:spPr>
          <a:xfrm>
            <a:off x="8686800" y="5230368"/>
            <a:ext cx="347472" cy="292608"/>
          </a:xfrm>
          <a:prstGeom prst="rect">
            <a:avLst/>
          </a:prstGeom>
          <a:solidFill>
            <a:srgbClr val="404040"/>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9134856" y="5202936"/>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Accent 4</a:t>
            </a:r>
          </a:p>
        </p:txBody>
      </p:sp>
      <p:sp>
        <p:nvSpPr>
          <p:cNvPr id="61" name="TextBox 60"/>
          <p:cNvSpPr txBox="1"/>
          <p:nvPr/>
        </p:nvSpPr>
        <p:spPr>
          <a:xfrm>
            <a:off x="9134856" y="5394959"/>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#404040</a:t>
            </a:r>
          </a:p>
        </p:txBody>
      </p:sp>
      <p:sp>
        <p:nvSpPr>
          <p:cNvPr id="62" name="Rectangle 61"/>
          <p:cNvSpPr/>
          <p:nvPr/>
        </p:nvSpPr>
        <p:spPr>
          <a:xfrm>
            <a:off x="457200" y="5678424"/>
            <a:ext cx="347472" cy="292608"/>
          </a:xfrm>
          <a:prstGeom prst="rect">
            <a:avLst/>
          </a:prstGeom>
          <a:solidFill>
            <a:srgbClr val="767676"/>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905256" y="5650992"/>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Accent 5</a:t>
            </a:r>
          </a:p>
        </p:txBody>
      </p:sp>
      <p:sp>
        <p:nvSpPr>
          <p:cNvPr id="64" name="TextBox 63"/>
          <p:cNvSpPr txBox="1"/>
          <p:nvPr/>
        </p:nvSpPr>
        <p:spPr>
          <a:xfrm>
            <a:off x="905256" y="5843016"/>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#767676</a:t>
            </a:r>
          </a:p>
        </p:txBody>
      </p:sp>
      <p:sp>
        <p:nvSpPr>
          <p:cNvPr id="65" name="Rectangle 64"/>
          <p:cNvSpPr/>
          <p:nvPr/>
        </p:nvSpPr>
        <p:spPr>
          <a:xfrm>
            <a:off x="3200400" y="5678424"/>
            <a:ext cx="347472" cy="292608"/>
          </a:xfrm>
          <a:prstGeom prst="rect">
            <a:avLst/>
          </a:prstGeom>
          <a:solidFill>
            <a:srgbClr val="D9D9D9"/>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3648456" y="5650992"/>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Accent 6</a:t>
            </a:r>
          </a:p>
        </p:txBody>
      </p:sp>
      <p:sp>
        <p:nvSpPr>
          <p:cNvPr id="67" name="TextBox 66"/>
          <p:cNvSpPr txBox="1"/>
          <p:nvPr/>
        </p:nvSpPr>
        <p:spPr>
          <a:xfrm>
            <a:off x="3648456" y="5843016"/>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#D9D9D9</a:t>
            </a:r>
          </a:p>
        </p:txBody>
      </p:sp>
      <p:sp>
        <p:nvSpPr>
          <p:cNvPr id="69"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a:latin typeface="Lato"/>
              </a:defRPr>
            </a:pPr>
            <a:r>
              <a:rPr sz="750"/>
              <a:t>Note: Typeface: Lato. Sales colours show totals, not density or market share. Grey denotes unassessed demand.</a:t>
            </a:r>
          </a:p>
          <a:p>
            <a:pPr>
              <a:lnSpc>
                <a:spcPts val="900"/>
              </a:lnSpc>
              <a:spcBef>
                <a:spcPts val="0"/>
              </a:spcBef>
              <a:spcAft>
                <a:spcPts val="0"/>
              </a:spcAft>
              <a:defRPr sz="750">
                <a:latin typeface="Lato"/>
              </a:defRPr>
            </a:pPr>
            <a:r>
              <a:rPr sz="750"/>
              <a:t>Source: supplied Vopak template; pptx/brand_configs/vopak.py; provincial_demand_map.py.</a:t>
            </a:r>
          </a:p>
        </p:txBody>
      </p:sp>
      <p:sp>
        <p:nvSpPr>
          <p:cNvPr id="3" name="Slide Number Placeholder"/>
          <p:cNvSpPr>
            <a:spLocks noGrp="1"/>
          </p:cNvSpPr>
          <p:nvPr>
            <p:ph type="sldNum" sz="quarter" idx="12"/>
          </p:nvPr>
        </p:nvSpPr>
        <p:spPr/>
        <p:txBody>
          <a:bodyPr/>
          <a:lstStyle/>
          <a:p>
            <a:fld id="{C534FAF3-16F5-4703-88D6-BBC5122615A8}" type="slidenum">
              <a:rPr lang="en-US"/>
              <a:t>‹#›</a:t>
            </a:fld>
          </a:p>
        </p:txBody>
      </p:sp>
      <p:sp>
        <p:nvSpPr>
          <p:cNvPr id="70"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Tree>
  </p:cSld>
  <p:clrMapOvr>
    <a:masterClrMapping/>
  </p:clrMapOvr>
</p:sld>
</file>

<file path=ppt/theme/theme1.xml><?xml version="1.0" encoding="utf-8"?>
<a:theme xmlns:a="http://schemas.openxmlformats.org/drawingml/2006/main" name="Vopak Theme">
  <a:themeElements>
    <a:clrScheme name="Vopak">
      <a:dk1>
        <a:srgbClr val="000000"/>
      </a:dk1>
      <a:lt1>
        <a:srgbClr val="FFFFFF"/>
      </a:lt1>
      <a:dk2>
        <a:srgbClr val="11151A"/>
      </a:dk2>
      <a:lt2>
        <a:srgbClr val="E7E6E6"/>
      </a:lt2>
      <a:accent1>
        <a:srgbClr val="0A2373"/>
      </a:accent1>
      <a:accent2>
        <a:srgbClr val="546CA2"/>
      </a:accent2>
      <a:accent3>
        <a:srgbClr val="BDBEC1"/>
      </a:accent3>
      <a:accent4>
        <a:srgbClr val="404040"/>
      </a:accent4>
      <a:accent5>
        <a:srgbClr val="767676"/>
      </a:accent5>
      <a:accent6>
        <a:srgbClr val="D9D9D9"/>
      </a:accent6>
      <a:hlink>
        <a:srgbClr val="0A2373"/>
      </a:hlink>
      <a:folHlink>
        <a:srgbClr val="546CA2"/>
      </a:folHlink>
    </a:clrScheme>
    <a:fontScheme name="AIA_2017">
      <a:majorFont>
        <a:latin typeface="Lato"/>
        <a:ea typeface=""/>
        <a:cs typeface=""/>
      </a:majorFont>
      <a:minorFont>
        <a:latin typeface="Lato"/>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opak Theme" id="{EB158558-B090-4A15-9406-52ADAF46E73D}" vid="{169915E9-BA5A-4298-BC78-09D68188174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525" row="4">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3729E3C0-DBBA-4E87-A833-D4D671FDC2D1}">
  <we:reference id="WA200010725" version="1.0.0.1" store="Omex" storeType="OMEX"/>
  <we:alternateReferences>
    <we:reference id="WA200010725" version="1.0.0.1" store="WA200010725" storeType="OMEX"/>
  </we:alternateReferences>
  <we:properties>
    <we:property name="claude.fileId" value="&quot;440e1679-9fef-4664-be92-b7e3c5432c29&quot;"/>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BB14DAA3CC024F49A081857B4C9CD92A" ma:contentTypeVersion="20" ma:contentTypeDescription="Create a new document." ma:contentTypeScope="" ma:versionID="cdb2463664abbc9cc5ebc4769b50ad18">
  <xsd:schema xmlns:xsd="http://www.w3.org/2001/XMLSchema" xmlns:xs="http://www.w3.org/2001/XMLSchema" xmlns:p="http://schemas.microsoft.com/office/2006/metadata/properties" xmlns:ns2="265cb39c-7109-435c-af5d-13dc21a2db6b" xmlns:ns3="62b85a0e-09bb-4b0f-bd28-e34020cdc070" targetNamespace="http://schemas.microsoft.com/office/2006/metadata/properties" ma:root="true" ma:fieldsID="ee545d7bb76dd121542a05c73fb4a941" ns2:_="" ns3:_="">
    <xsd:import namespace="265cb39c-7109-435c-af5d-13dc21a2db6b"/>
    <xsd:import namespace="62b85a0e-09bb-4b0f-bd28-e34020cdc070"/>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ServiceAutoTags" minOccurs="0"/>
                <xsd:element ref="ns2:MediaServiceGenerationTime" minOccurs="0"/>
                <xsd:element ref="ns2:MediaServiceEventHashCode" minOccurs="0"/>
                <xsd:element ref="ns2:MediaServiceOCR" minOccurs="0"/>
                <xsd:element ref="ns3:SharedWithUsers" minOccurs="0"/>
                <xsd:element ref="ns3:SharedWithDetails" minOccurs="0"/>
                <xsd:element ref="ns2:MediaServiceLocation"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element ref="ns2:Archive"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65cb39c-7109-435c-af5d-13dc21a2db6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Location" ma:index="19" nillable="true" ma:displayName="Location" ma:internalName="MediaServiceLocatio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df3d1728-64fa-4f01-bb7d-5585de3a980b"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Archive" ma:index="26" nillable="true" ma:displayName="Archive" ma:default="0" ma:description="Folder to be backed up, archived and removed from SharePoint" ma:format="Dropdown" ma:internalName="Archive">
      <xsd:simpleType>
        <xsd:restriction base="dms:Boolean"/>
      </xsd:simpleType>
    </xsd:element>
    <xsd:element name="MediaServiceBillingMetadata" ma:index="27"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62b85a0e-09bb-4b0f-bd28-e34020cdc070"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744b13c9-2708-4b8b-a658-00962d7928c2}" ma:internalName="TaxCatchAll" ma:showField="CatchAllData" ma:web="62b85a0e-09bb-4b0f-bd28-e34020cdc07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265cb39c-7109-435c-af5d-13dc21a2db6b">
      <Terms xmlns="http://schemas.microsoft.com/office/infopath/2007/PartnerControls"/>
    </lcf76f155ced4ddcb4097134ff3c332f>
    <TaxCatchAll xmlns="62b85a0e-09bb-4b0f-bd28-e34020cdc070" xsi:nil="true"/>
    <SharedWithUsers xmlns="62b85a0e-09bb-4b0f-bd28-e34020cdc070">
      <UserInfo>
        <DisplayName>Joseph Kihara</DisplayName>
        <AccountId>3747</AccountId>
        <AccountType/>
      </UserInfo>
    </SharedWithUsers>
    <Archive xmlns="265cb39c-7109-435c-af5d-13dc21a2db6b">false</Archive>
  </documentManagement>
</p:properties>
</file>

<file path=customXml/itemProps1.xml><?xml version="1.0" encoding="utf-8"?>
<ds:datastoreItem xmlns:ds="http://schemas.openxmlformats.org/officeDocument/2006/customXml" ds:itemID="{1E0AC09D-7AB9-4C7E-89AA-55CFDED1BCB9}">
  <ds:schemaRefs>
    <ds:schemaRef ds:uri="http://schemas.microsoft.com/sharepoint/v3/contenttype/forms"/>
  </ds:schemaRefs>
</ds:datastoreItem>
</file>

<file path=customXml/itemProps2.xml><?xml version="1.0" encoding="utf-8"?>
<ds:datastoreItem xmlns:ds="http://schemas.openxmlformats.org/officeDocument/2006/customXml" ds:itemID="{1B9F3023-3460-4C94-AC6C-4F171062BD4F}">
  <ds:schemaRefs>
    <ds:schemaRef ds:uri="265cb39c-7109-435c-af5d-13dc21a2db6b"/>
    <ds:schemaRef ds:uri="62b85a0e-09bb-4b0f-bd28-e34020cdc070"/>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89FA9FA0-2CB2-436E-A336-3A77ADFE4CF1}">
  <ds:schemaRefs>
    <ds:schemaRef ds:uri="http://purl.org/dc/terms/"/>
    <ds:schemaRef ds:uri="http://schemas.microsoft.com/office/infopath/2007/PartnerControls"/>
    <ds:schemaRef ds:uri="http://purl.org/dc/dcmitype/"/>
    <ds:schemaRef ds:uri="http://schemas.openxmlformats.org/package/2006/metadata/core-properties"/>
    <ds:schemaRef ds:uri="http://schemas.microsoft.com/office/2006/metadata/properties"/>
    <ds:schemaRef ds:uri="http://schemas.microsoft.com/office/2006/documentManagement/types"/>
    <ds:schemaRef ds:uri="265cb39c-7109-435c-af5d-13dc21a2db6b"/>
    <ds:schemaRef ds:uri="http://purl.org/dc/elements/1.1/"/>
    <ds:schemaRef ds:uri="62b85a0e-09bb-4b0f-bd28-e34020cdc070"/>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Vopak Theme</Template>
  <TotalTime>0</TotalTime>
  <Words>15</Words>
  <Application>Microsoft Office PowerPoint</Application>
  <PresentationFormat>Custom</PresentationFormat>
  <Paragraphs>4</Paragraphs>
  <Slides>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vt:i4>
      </vt:variant>
    </vt:vector>
  </HeadingPairs>
  <TitlesOfParts>
    <vt:vector size="7" baseType="lpstr">
      <vt:lpstr>Arial</vt:lpstr>
      <vt:lpstr>Calibri</vt:lpstr>
      <vt:lpstr>Lato</vt:lpstr>
      <vt:lpstr>Vopak Theme</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South Africa liquid fuels: Week 1 analytical maps</dc:title>
  <dc:creator>Africa International Advisors</dc:creator>
  <cp:lastModifiedBy>Nigel Zhuwaki</cp:lastModifiedBy>
  <cp:revision>1</cp:revision>
  <dcterms:created xsi:type="dcterms:W3CDTF">2017-11-16T09:19:07Z</dcterms:created>
  <dcterms:modified xsi:type="dcterms:W3CDTF">2026-10-01T12:10:22Z</dcterms:modified>
  <dc:subject>Illustrative demand geography and conditional Vopak market access</dc:subject>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0x010100BB14DAA3CC024F49A081857B4C9CD92A</vt:lpwstr>
  </property>
  <property fmtid="{D5CDD505-2E9C-101B-9397-08002B2CF9AE}" pid="3" name="MediaServiceImageTags">
    <vt:lpwstr/>
  </property>
</Properties>
</file>