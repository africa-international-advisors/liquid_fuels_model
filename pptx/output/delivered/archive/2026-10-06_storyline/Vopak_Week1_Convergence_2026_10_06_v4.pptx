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8" r:id="rId23"/>
    <p:sldId id="262" r:id="rId17"/>
    <p:sldId id="263" r:id="rId6"/>
    <p:sldId id="264" r:id="rId19"/>
    <p:sldId id="269" r:id="rId24"/>
    <p:sldId id="270" r:id="rId25"/>
    <p:sldId id="275" r:id="rId30"/>
    <p:sldId id="258" r:id="rId5"/>
    <p:sldId id="271" r:id="rId26"/>
    <p:sldId id="259" r:id="rId16"/>
    <p:sldId id="265" r:id="rId20"/>
    <p:sldId id="272" r:id="rId27"/>
    <p:sldId id="266" r:id="rId21"/>
    <p:sldId id="274" r:id="rId29"/>
    <p:sldId id="273" r:id="rId28"/>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0.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2.xml"/><Relationship Id="rId17" Type="http://schemas.openxmlformats.org/officeDocument/2006/relationships/slide" Target="slides/slide4.xml"/><Relationship Id="rId18" Type="http://schemas.openxmlformats.org/officeDocument/2006/relationships/slide" Target="slides/slide18.xml"/><Relationship Id="rId19" Type="http://schemas.openxmlformats.org/officeDocument/2006/relationships/slide" Target="slides/slide6.xml"/><Relationship Id="rId20"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1.xml"/><Relationship Id="rId27" Type="http://schemas.openxmlformats.org/officeDocument/2006/relationships/slide" Target="slides/slide14.xml"/><Relationship Id="rId28" Type="http://schemas.openxmlformats.org/officeDocument/2006/relationships/slide" Target="slides/slide17.xml"/><Relationship Id="rId29" Type="http://schemas.openxmlformats.org/officeDocument/2006/relationships/slide" Target="slides/slide16.xml"/><Relationship Id="rId30" Type="http://schemas.openxmlformats.org/officeDocument/2006/relationships/slide" Target="slides/slide9.xml"/><Relationship Id="rId31"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3.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7.xml"/><Relationship Id="rId16" Type="http://schemas.openxmlformats.org/officeDocument/2006/relationships/slide" Target="slide2.xml"/><Relationship Id="rId17" Type="http://schemas.openxmlformats.org/officeDocument/2006/relationships/slide" Target="slide16.xml"/><Relationship Id="rId18"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7.xml"/><Relationship Id="rId14"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7.xml"/><Relationship Id="rId13"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Size the fuel market, reconcile supply, then test Vopak access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11"/>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SARS / Stats SA / operator evidence, 6 Oct 2026. Remaining gaps labelled.</a:t>
            </a:r>
          </a:p>
        </p:txBody>
      </p:sp>
      <p:sp>
        <p:nvSpPr>
          <p:cNvPr id="42" name="TextBox 41"/>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rPr sz="1400" b="1">
                <a:latin typeface="Lato"/>
              </a:rPr>
              <a:t>Situation → Complication → Resolution | evidence, actions and delivery roadmap</a:t>
            </a:r>
          </a:p>
        </p:txBody>
      </p:sp>
      <p:graphicFrame>
        <p:nvGraphicFramePr>
          <p:cNvPr id="43" name="SCR master roadmap | native PowerPoint table"/>
          <p:cNvGraphicFramePr>
            <a:graphicFrameLocks noGrp="1"/>
          </p:cNvGraphicFramePr>
          <p:nvPr/>
        </p:nvGraphicFramePr>
        <p:xfrm>
          <a:off x="457200" y="2029968"/>
          <a:ext cx="10652760" cy="4039815"/>
        </p:xfrm>
        <a:graphic>
          <a:graphicData uri="http://schemas.openxmlformats.org/drawingml/2006/table">
            <a:tbl>
              <a:tblPr firstRow="1" bandRow="1">
                <a:tableStyleId>{2D5ABB26-0587-4C30-8999-92F81FD0307C}</a:tableStyleId>
              </a:tblPr>
              <a:tblGrid>
                <a:gridCol w="932688"/>
                <a:gridCol w="4599432"/>
                <a:gridCol w="1508760"/>
                <a:gridCol w="2487168"/>
                <a:gridCol w="1124712"/>
              </a:tblGrid>
              <a:tr h="365760">
                <a:tc>
                  <a:txBody>
                    <a:bodyPr/>
                    <a:lstStyle/>
                    <a:p>
                      <a:pPr>
                        <a:spcAft>
                          <a:spcPts val="0"/>
                        </a:spcAft>
                        <a:defRPr sz="1000" b="1">
                          <a:solidFill>
                            <a:srgbClr val="0A2373"/>
                          </a:solidFill>
                          <a:latin typeface="Lato"/>
                        </a:defRPr>
                      </a:pPr>
                      <a:r>
                        <a:t>SCR reference</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Evidence and required next step</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Proposed lead</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Timing and output</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A2373"/>
                          </a:solidFill>
                          <a:latin typeface="Lato"/>
                        </a:defRPr>
                      </a:pPr>
                      <a:r>
                        <a:t>Deep dives</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S1</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baseline and regional market</a:t>
                      </a:r>
                    </a:p>
                    <a:p>
                      <a:pPr>
                        <a:spcAft>
                          <a:spcPts val="0"/>
                        </a:spcAft>
                        <a:defRPr sz="1050">
                          <a:solidFill>
                            <a:srgbClr val="000000"/>
                          </a:solidFill>
                          <a:latin typeface="Lato"/>
                        </a:defRPr>
                      </a:pPr>
                      <a:r>
                        <a:t>2022 provinces are observed; 2023-2024 are estimated separately. Resolve source versions before forecasting.</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W1–W2</a:t>
                      </a:r>
                    </a:p>
                    <a:p>
                      <a:pPr>
                        <a:spcAft>
                          <a:spcPts val="0"/>
                        </a:spcAft>
                        <a:defRPr sz="1050" b="0">
                          <a:solidFill>
                            <a:srgbClr val="000000"/>
                          </a:solidFill>
                          <a:latin typeface="Lato"/>
                        </a:defRPr>
                      </a:pPr>
                      <a:r>
                        <a:t>Sourced demand baseline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3" action="ppaction://hlinksldjump"/>
                        </a:rPr>
                        <a:t>4</a:t>
                      </a:r>
                      <a:r>
                        <a:rPr sz="1100">
                          <a:solidFill>
                            <a:srgbClr val="0A2373"/>
                          </a:solidFill>
                          <a:latin typeface="Lato"/>
                          <a:hlinkClick r:id="rId4" action="ppaction://hlinksldjump"/>
                        </a:rPr>
                        <a:t> / 5</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S2</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Domestic supply and finished imports</a:t>
                      </a:r>
                    </a:p>
                    <a:p>
                      <a:pPr>
                        <a:spcAft>
                          <a:spcPts val="0"/>
                        </a:spcAft>
                        <a:defRPr sz="1050">
                          <a:solidFill>
                            <a:srgbClr val="000000"/>
                          </a:solidFill>
                          <a:latin typeface="Lato"/>
                        </a:defRPr>
                      </a:pPr>
                      <a:r>
                        <a:t>SARS 2024 net diesel imports: 9.997 bn L. Match actual production, stocks and sales coverage; port allocation remains open.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access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Fuel balance + port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5" action="ppaction://hlinksldjump"/>
                        </a:rPr>
                        <a:t>3</a:t>
                      </a:r>
                      <a:r>
                        <a:rPr sz="1100">
                          <a:solidFill>
                            <a:srgbClr val="0A2373"/>
                          </a:solidFill>
                          <a:latin typeface="Lato"/>
                          <a:hlinkClick r:id="rId6" action="ppaction://hlinksldjump"/>
                        </a:rPr>
                        <a:t> / 6</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C1</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Historical drivers and forecast cases</a:t>
                      </a:r>
                    </a:p>
                    <a:p>
                      <a:pPr>
                        <a:spcAft>
                          <a:spcPts val="0"/>
                        </a:spcAft>
                        <a:defRPr sz="1050">
                          <a:solidFill>
                            <a:srgbClr val="000000"/>
                          </a:solidFill>
                          <a:latin typeface="Lato"/>
                        </a:defRPr>
                      </a:pPr>
                      <a:r>
                        <a:t>Use observed performance as the anchor. Agree growth assumptions and levers; calculate demand and regional effects before calibration.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define; W2–W4 test</a:t>
                      </a:r>
                    </a:p>
                    <a:p>
                      <a:pPr>
                        <a:spcAft>
                          <a:spcPts val="0"/>
                        </a:spcAft>
                        <a:defRPr sz="1050" b="0">
                          <a:solidFill>
                            <a:srgbClr val="000000"/>
                          </a:solidFill>
                          <a:latin typeface="Lato"/>
                        </a:defRPr>
                      </a:pPr>
                      <a:r>
                        <a:t>Lever-to-demand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7" action="ppaction://hlinksldjump"/>
                        </a:rPr>
                        <a:t>7</a:t>
                      </a:r>
                      <a:r>
                        <a:rPr sz="1100">
                          <a:solidFill>
                            <a:srgbClr val="0A2373"/>
                          </a:solidFill>
                          <a:latin typeface="Lato"/>
                          <a:hlinkClick r:id="rId18" action="ppaction://hlinksldjump"/>
                        </a:rPr>
                        <a:t> / 9</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C2</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Refinery availability</a:t>
                      </a:r>
                    </a:p>
                    <a:p>
                      <a:pPr>
                        <a:spcAft>
                          <a:spcPts val="0"/>
                        </a:spcAft>
                        <a:defRPr sz="1050">
                          <a:solidFill>
                            <a:srgbClr val="000000"/>
                          </a:solidFill>
                          <a:latin typeface="Lato"/>
                        </a:defRPr>
                      </a:pPr>
                      <a:r>
                        <a:t>Capacity history and reported operator output are distinct. Align fiscal/calendar years and product yields; redevelopment stays conditional.</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Henry / Nigel</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Plant output + imports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8" action="ppaction://hlinksldjump"/>
                        </a:rPr>
                        <a:t>8</a:t>
                      </a:r>
                      <a:r>
                        <a:rPr sz="1100">
                          <a:solidFill>
                            <a:srgbClr val="0A2373"/>
                          </a:solidFill>
                          <a:latin typeface="Lato"/>
                          <a:hlinkClick r:id="rId18" action="ppaction://hlinksldjump"/>
                        </a:rPr>
                        <a:t> / 9</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C3</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Competing supply routes</a:t>
                      </a:r>
                    </a:p>
                    <a:p>
                      <a:pPr>
                        <a:spcAft>
                          <a:spcPts val="0"/>
                        </a:spcAft>
                        <a:defRPr sz="1050">
                          <a:solidFill>
                            <a:srgbClr val="000000"/>
                          </a:solidFill>
                          <a:latin typeface="Lato"/>
                        </a:defRPr>
                      </a:pPr>
                      <a:r>
                        <a:t>Compare Durban, Matola and Walvis Bay for one customer. Test full route cost, capacity and customer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scope; W2–W4 test</a:t>
                      </a:r>
                    </a:p>
                    <a:p>
                      <a:pPr>
                        <a:spcAft>
                          <a:spcPts val="0"/>
                        </a:spcAft>
                        <a:defRPr sz="1050" b="0">
                          <a:solidFill>
                            <a:srgbClr val="000000"/>
                          </a:solidFill>
                          <a:latin typeface="Lato"/>
                        </a:defRPr>
                      </a:pPr>
                      <a:r>
                        <a:t>Delivered R/litre +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9" action="ppaction://hlinksldjump"/>
                        </a:rPr>
                        <a:t>10</a:t>
                      </a:r>
                      <a:r>
                        <a:rPr sz="1100">
                          <a:solidFill>
                            <a:srgbClr val="0A2373"/>
                          </a:solidFill>
                          <a:latin typeface="Lato"/>
                          <a:hlinkClick r:id="rId10" action="ppaction://hlinksldjump"/>
                        </a:rPr>
                        <a:t> / 11</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R1</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Market share of Vopak in Dbn and Lesedi</a:t>
                      </a:r>
                    </a:p>
                    <a:p>
                      <a:pPr>
                        <a:spcAft>
                          <a:spcPts val="0"/>
                        </a:spcAft>
                        <a:defRPr sz="1050">
                          <a:solidFill>
                            <a:srgbClr val="000000"/>
                          </a:solidFill>
                          <a:latin typeface="Lato"/>
                        </a:defRPr>
                      </a:pPr>
                      <a:r>
                        <a:t>Match unique customer deliveries to regional demand. Test additional accessible volumes and commercial rights.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client data</a:t>
                      </a:r>
                    </a:p>
                    <a:p>
                      <a:pPr>
                        <a:spcAft>
                          <a:spcPts val="0"/>
                        </a:spcAft>
                        <a:defRPr sz="1000" b="0">
                          <a:solidFill>
                            <a:srgbClr val="000000"/>
                          </a:solidFill>
                          <a:latin typeface="Lato"/>
                        </a:defRPr>
                      </a:pPr>
                      <a:r>
                        <a:t>Manish analysis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request; W2–W4 test</a:t>
                      </a:r>
                    </a:p>
                    <a:p>
                      <a:pPr>
                        <a:spcAft>
                          <a:spcPts val="0"/>
                        </a:spcAft>
                        <a:defRPr sz="1050" b="0">
                          <a:solidFill>
                            <a:srgbClr val="000000"/>
                          </a:solidFill>
                          <a:latin typeface="Lato"/>
                        </a:defRPr>
                      </a:pPr>
                      <a:r>
                        <a:t>Served + contestable litres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1" action="ppaction://hlinksldjump"/>
                        </a:rPr>
                        <a:t>12</a:t>
                      </a:r>
                      <a:r>
                        <a:rPr sz="1100">
                          <a:solidFill>
                            <a:srgbClr val="0A2373"/>
                          </a:solidFill>
                          <a:latin typeface="Lato"/>
                          <a:hlinkClick r:id="rId12" action="ppaction://hlinksldjump"/>
                        </a:rPr>
                        <a:t> / 13</a:t>
                      </a:r>
                      <a:r>
                        <a:rPr sz="1100">
                          <a:solidFill>
                            <a:srgbClr val="0A2373"/>
                          </a:solidFill>
                          <a:latin typeface="Lato"/>
                          <a:hlinkClick r:id="rId13" action="ppaction://hlinksldjump"/>
                        </a:rPr>
                        <a:t> / 14</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R2</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Potential scope for new investment?</a:t>
                      </a:r>
                    </a:p>
                    <a:p>
                      <a:pPr>
                        <a:spcAft>
                          <a:spcPts val="0"/>
                        </a:spcAft>
                        <a:defRPr sz="1050">
                          <a:solidFill>
                            <a:srgbClr val="000000"/>
                          </a:solidFill>
                          <a:latin typeface="Lato"/>
                        </a:defRPr>
                      </a:pPr>
                      <a:r>
                        <a:t>The outlook lands priorities, service proposition and timing. Storage follows secured flows and a usable-capacity gap.</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priority</a:t>
                      </a:r>
                    </a:p>
                    <a:p>
                      <a:pPr>
                        <a:spcAft>
                          <a:spcPts val="0"/>
                        </a:spcAft>
                        <a:defRPr sz="1000" b="0">
                          <a:solidFill>
                            <a:srgbClr val="000000"/>
                          </a:solidFill>
                          <a:latin typeface="Lato"/>
                        </a:defRPr>
                      </a:pPr>
                      <a:r>
                        <a:t>Manish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W4–W6 if prioritised</a:t>
                      </a:r>
                    </a:p>
                    <a:p>
                      <a:pPr>
                        <a:spcAft>
                          <a:spcPts val="0"/>
                        </a:spcAft>
                        <a:defRPr sz="1050" b="0">
                          <a:solidFill>
                            <a:srgbClr val="000000"/>
                          </a:solidFill>
                          <a:latin typeface="Lato"/>
                        </a:defRPr>
                      </a:pPr>
                      <a:r>
                        <a:t>Flow-to-stock / investment</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4" action="ppaction://hlinksldjump"/>
                        </a:rPr>
                        <a:t>15</a:t>
                      </a:r>
                      <a:r>
                        <a:rPr sz="1100">
                          <a:solidFill>
                            <a:srgbClr val="0A2373"/>
                          </a:solidFill>
                          <a:latin typeface="Lato"/>
                          <a:hlinkClick r:id="rId17" action="ppaction://hlinksldjump"/>
                        </a:rPr>
                        <a:t> / 16</a:t>
                      </a:r>
                      <a:r>
                        <a:rPr sz="1100">
                          <a:solidFill>
                            <a:srgbClr val="0A2373"/>
                          </a:solidFill>
                          <a:latin typeface="Lato"/>
                          <a:hlinkClick r:id="rId15" action="ppaction://hlinksldjump"/>
                        </a:rPr>
                        <a:t> / 17</a:t>
                      </a:r>
                    </a:p>
                  </a:txBody>
                  <a:tcPr marL="45720" marR="45720" marT="50292" marB="18288" anchor="t">
                    <a:lnB w="7620" cap="flat">
                      <a:solidFill>
                        <a:srgbClr val="EEEEEE"/>
                      </a:solidFill>
                    </a:lnB>
                    <a:solidFill>
                      <a:srgbClr val="FFFFFF"/>
                    </a:solidFill>
                  </a:tcPr>
                </a:tc>
              </a:tr>
            </a:tbl>
          </a:graphicData>
        </a:graphic>
      </p:graphicFrame>
      <p:sp>
        <p:nvSpPr>
          <p:cNvPr id="44" name="TextBox 43"/>
          <p:cNvSpPr txBox="1"/>
          <p:nvPr/>
        </p:nvSpPr>
        <p:spPr>
          <a:xfrm>
            <a:off x="457200" y="6263640"/>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 diesel; jet separate. Owners and weeks are proposed. Open gaps and illustrations remain explicitly labelled.</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Customs records 10.0 billion litres of net diesel imports in 2024</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Reported sales</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Compare consumption with reported sales; explain coverage and the residual.</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Diesel imports 10.793 bn L.</a:t>
            </a:r>
          </a:p>
          <a:p>
            <a:pPr>
              <a:spcAft>
                <a:spcPts val="300"/>
              </a:spcAft>
              <a:defRPr sz="1150" b="0">
                <a:solidFill>
                  <a:srgbClr val="000000"/>
                </a:solidFill>
                <a:latin typeface="Lato"/>
              </a:defRPr>
            </a:pPr>
            <a:r>
              <a:t>Government rounds to 10.800; FIASA 14.793.</a:t>
            </a:r>
          </a:p>
          <a:p>
            <a:pPr>
              <a:spcAft>
                <a:spcPts val="300"/>
              </a:spcAft>
              <a:defRPr sz="1150" b="0">
                <a:solidFill>
                  <a:srgbClr val="000000"/>
                </a:solidFill>
                <a:latin typeface="Lato"/>
              </a:defRPr>
            </a:pPr>
            <a: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Sales less net imports = 7.685 bn L.</a:t>
            </a:r>
          </a:p>
          <a:p>
            <a:pPr>
              <a:spcAft>
                <a:spcPts val="300"/>
              </a:spcAft>
              <a:defRPr sz="1150" b="0">
                <a:solidFill>
                  <a:srgbClr val="000000"/>
                </a:solidFill>
                <a:latin typeface="Lato"/>
              </a:defRPr>
            </a:pPr>
            <a:r>
              <a:t>Balancing requirement, not production.</a:t>
            </a:r>
          </a:p>
          <a:p>
            <a:pPr>
              <a:spcAft>
                <a:spcPts val="300"/>
              </a:spcAft>
              <a:defRPr sz="1150" b="0">
                <a:solidFill>
                  <a:srgbClr val="000000"/>
                </a:solidFill>
                <a:latin typeface="Lato"/>
              </a:defRPr>
            </a:pPr>
            <a: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rebuild the balance CSV from SARS; match product, year, actual output and stock changes. Nigel: agree the sales selection and obtain customer/port evidence.</a:t>
            </a:r>
          </a:p>
        </p:txBody>
      </p:sp>
      <p:sp>
        <p:nvSpPr>
          <p:cNvPr id="6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Three provinces account for 69% of reported fuel sales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1">
                <a:solidFill>
                  <a:srgbClr val="FFFFFF"/>
                </a:solidFill>
                <a:latin typeface="Lato"/>
              </a:defRPr>
            </a:pPr>
            <a:r>
              <a:t>KZN</a:t>
            </a:r>
          </a:p>
          <a:p>
            <a:pPr>
              <a:spcAft>
                <a:spcPts val="300"/>
              </a:spcAft>
              <a:defRPr sz="900" b="1">
                <a:solidFill>
                  <a:srgbClr val="FFFFFF"/>
                </a:solidFill>
                <a:latin typeface="Lato"/>
              </a:defRPr>
            </a:pPr>
            <a: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44" name="TextBox 543"/>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Sales totals, not density. Vopak locations highlighted; detailed operator inventory on pages 13 and 15. Jet excluded.</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Colours show provincial sales totals, not density or customer catchments. Only Durban and Lesedi are labelled; competitor detail is on pages 13 and 15.</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customer markets for Durban and Lesedi. Manish: retain the observed 2022 map; present later estimates separately with national-source flags.</a:t>
            </a:r>
          </a:p>
        </p:txBody>
      </p:sp>
      <p:sp>
        <p:nvSpPr>
          <p:cNvPr id="565"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6"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67"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68"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Provincial sales show different demand patterns over time</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2013 national parser is corrected on the analyst branch. 2014/2015 source versions differ; 2018 district coverage is incomplete. Preserve the flags.</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source selections and retain estimate labels. Nigel: decide whether estimated petrol volumes belong in the outlook; diesel booking shares are less stable.</a:t>
            </a:r>
          </a:p>
        </p:txBody>
      </p:sp>
      <p:sp>
        <p:nvSpPr>
          <p:cNvPr id="6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Provincial demand is known; its supply origin still needs evidence</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Observed activity helps define the fuel levers; intensities remain open</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2"/>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3"/>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14"/>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Diesel wholesale</a:t>
            </a:r>
          </a:p>
        </p:txBody>
      </p:sp>
      <p:sp>
        <p:nvSpPr>
          <p:cNvPr id="76" name="TextBox 75"/>
          <p:cNvSpPr txBox="1"/>
          <p:nvPr/>
        </p:nvSpPr>
        <p:spPr>
          <a:xfrm>
            <a:off x="457200" y="6327648"/>
            <a:ext cx="10652760" cy="16459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Latest staged: activity Jul 2026; GDP Q2 2026; inland prices Oct 2026. Charts use complete years. Fuel intensities remain open; FY ends March.</a:t>
            </a:r>
          </a:p>
        </p:txBody>
      </p:sp>
      <p:sp>
        <p:nvSpPr>
          <p:cNvPr id="7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Refinery capacity has fallen; redevelopment remains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6"/>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8"/>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Reported FY2024 output: Secunda 29.1; Natref Sasol share 17.8 million barrels.</a:t>
            </a:r>
          </a:p>
        </p:txBody>
      </p:sp>
      <p:sp>
        <p:nvSpPr>
          <p:cNvPr id="37" name="TextBox 36"/>
          <p:cNvSpPr txBox="1"/>
          <p:nvPr/>
        </p:nvSpPr>
        <p:spPr>
          <a:xfrm>
            <a:off x="457200" y="6217920"/>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All products; year to June, not calendar-year petrol/diesel. B adds 400 from 2033, conditional on FID.</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match operator output to product/year and document Natref ownership basis. Henry: review technical mechanisms. Nigel: agree refinery scenario timing.</a:t>
            </a:r>
          </a:p>
        </p:txBody>
      </p:sp>
      <p:sp>
        <p:nvSpPr>
          <p:cNvPr id="5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Connect historical changes to forecast cases and market decisions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changes | historical evidence, forecast cases and decision outputs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103120"/>
            <a:ext cx="1065276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STRUCTURE FOR REVIEW | assumptions and fuel-volume effects remain uncalibrated</a:t>
            </a:r>
          </a:p>
        </p:txBody>
      </p:sp>
      <p:graphicFrame>
        <p:nvGraphicFramePr>
          <p:cNvPr id="12" name="Table 11"/>
          <p:cNvGraphicFramePr>
            <a:graphicFrameLocks noGrp="1"/>
          </p:cNvGraphicFramePr>
          <p:nvPr/>
        </p:nvGraphicFramePr>
        <p:xfrm>
          <a:off x="457200" y="2542032"/>
          <a:ext cx="10652760" cy="3154680"/>
        </p:xfrm>
        <a:graphic>
          <a:graphicData uri="http://schemas.openxmlformats.org/drawingml/2006/table">
            <a:tbl>
              <a:tblPr firstRow="1" bandRow="1">
                <a:tableStyleId>{2D5ABB26-0587-4C30-8999-92F81FD0307C}</a:tableStyleId>
              </a:tblPr>
              <a:tblGrid>
                <a:gridCol w="2514600"/>
                <a:gridCol w="3154680"/>
                <a:gridCol w="2606040"/>
                <a:gridCol w="2377440"/>
              </a:tblGrid>
              <a:tr h="630936">
                <a:tc>
                  <a:txBody>
                    <a:bodyPr/>
                    <a:lstStyle/>
                    <a:p>
                      <a:pPr>
                        <a:spcAft>
                          <a:spcPts val="0"/>
                        </a:spcAft>
                        <a:defRPr sz="1100" b="1">
                          <a:solidFill>
                            <a:srgbClr val="000000"/>
                          </a:solidFill>
                          <a:latin typeface="Lato"/>
                        </a:defRPr>
                      </a:pPr>
                      <a:r>
                        <a:t>Historical evidence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Forecast cases to define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 to calculate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Decision it supports</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Fleet, activity and prices</a:t>
                      </a:r>
                    </a:p>
                    <a:p>
                      <a:pPr>
                        <a:spcAft>
                          <a:spcPts val="0"/>
                        </a:spcAft>
                        <a:defRPr sz="1100" b="0">
                          <a:solidFill>
                            <a:srgbClr val="000000"/>
                          </a:solidFill>
                          <a:latin typeface="Lato"/>
                        </a:defRPr>
                      </a:pPr>
                      <a:r>
                        <a:t>Observed history and recent partial periods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Base: observed performance continues. High / low: explicit growth, mileage and price assumptions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 / diesel demand by year; forecast bands and sensitivity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customer markets grow, contract or change product mix?</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EV, freight, sectors and power</a:t>
                      </a:r>
                    </a:p>
                    <a:p>
                      <a:pPr>
                        <a:spcAft>
                          <a:spcPts val="0"/>
                        </a:spcAft>
                        <a:defRPr sz="1100" b="0">
                          <a:solidFill>
                            <a:srgbClr val="000000"/>
                          </a:solidFill>
                          <a:latin typeface="Lato"/>
                        </a:defRPr>
                      </a:pPr>
                      <a:r>
                        <a:t>Separate activity from fuel use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Change uptake, modal share, fuel intensity and OCGT use; separate BEV and hybrids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Incremental litres by lever; avoid overlap with the base growth path</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service proposition and customer segment should Vopak prioritise?</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Refinery capacity and reported output</a:t>
                      </a:r>
                    </a:p>
                    <a:p>
                      <a:pPr>
                        <a:spcAft>
                          <a:spcPts val="0"/>
                        </a:spcAft>
                        <a:defRPr sz="1100" b="0">
                          <a:solidFill>
                            <a:srgbClr val="000000"/>
                          </a:solidFill>
                          <a:latin typeface="Lato"/>
                        </a:defRPr>
                      </a:pPr>
                      <a:r>
                        <a:t>Separate actual from conditional additions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Existing plants: output, downtime and yields. Redevelopment: conditional timing and ramp-up</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Product-specific domestic output; matched imports, exports and stock changes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When could additional import handling or storage be needed?</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Provincial sales and competing routes</a:t>
                      </a:r>
                    </a:p>
                    <a:p>
                      <a:pPr>
                        <a:spcAft>
                          <a:spcPts val="0"/>
                        </a:spcAft>
                        <a:defRPr sz="1100" b="0">
                          <a:solidFill>
                            <a:srgbClr val="000000"/>
                          </a:solidFill>
                          <a:latin typeface="Lato"/>
                        </a:defRPr>
                      </a:pPr>
                      <a:r>
                        <a:t>Later fuel shares are estimates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Allocate national cases with explicit regional assumptions; test route cost and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customer litres by region and route; actual Vopak deliveries separately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Where to play, how to win and the conditions for committing capacity</a:t>
                      </a:r>
                    </a:p>
                  </a:txBody>
                  <a:tcPr marL="50292" marR="50292" marT="41148" marB="41148" anchor="ctr">
                    <a:lnB w="6350" cap="flat">
                      <a:solidFill>
                        <a:srgbClr val="EEEEEE"/>
                      </a:solidFill>
                    </a:lnB>
                    <a:solidFill>
                      <a:srgbClr val="FFFFFF"/>
                    </a:solidFill>
                  </a:tcPr>
                </a:tc>
              </a:tr>
            </a:tbl>
          </a:graphicData>
        </a:graphic>
      </p:graphicFrame>
      <p:sp>
        <p:nvSpPr>
          <p:cNvPr id="13" name="TextBox 12"/>
          <p:cNvSpPr txBox="1"/>
          <p:nvPr/>
        </p:nvSpPr>
        <p:spPr>
          <a:xfrm>
            <a:off x="457200" y="5879592"/>
            <a:ext cx="10652760" cy="256032"/>
          </a:xfrm>
          <a:prstGeom prst="rect">
            <a:avLst/>
          </a:prstGeom>
          <a:noFill/>
        </p:spPr>
        <p:txBody>
          <a:bodyPr wrap="square" lIns="22860" rIns="22860" tIns="0" bIns="0">
            <a:spAutoFit/>
          </a:bodyPr>
          <a:lstStyle/>
          <a:p>
            <a:pPr>
              <a:spcAft>
                <a:spcPts val="300"/>
              </a:spcAft>
              <a:defRPr sz="1150" b="1">
                <a:solidFill>
                  <a:srgbClr val="0A2373"/>
                </a:solidFill>
                <a:latin typeface="Lato"/>
              </a:defRPr>
            </a:pPr>
            <a:r>
              <a:t>Historical evidence → agreed assumptions and levers → annual demand and supply → regional access → Vopak decision</a:t>
            </a:r>
          </a:p>
        </p:txBody>
      </p:sp>
      <p:sp>
        <p:nvSpPr>
          <p:cNvPr id="14" name="TextBox 13"/>
          <p:cNvSpPr txBox="1"/>
          <p:nvPr/>
        </p:nvSpPr>
        <p:spPr>
          <a:xfrm>
            <a:off x="457200" y="6236208"/>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History is observed; forecast cases are proposed. No new fuel forecast is shown until the assumptions, source selections and back-tests are reviewed.</a:t>
            </a:r>
          </a:p>
        </p:txBody>
      </p:sp>
      <p:sp>
        <p:nvSpPr>
          <p:cNvPr id="1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61" name="Connector 31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62" name="TextBox 316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63" name="TextBox 31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64" name="TextBox 31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Cells show example road cost from Durban or Lesedi. The rate is illustrative and excludes fuel price, storage and pipeline tariffs.</a:t>
            </a:r>
          </a:p>
        </p:txBody>
      </p:sp>
      <p:sp>
        <p:nvSpPr>
          <p:cNvPr id="3165" name="TextBox 31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66" name="TextBox 31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Grey areas have no assessed road connection under this illustration. They are not confirmed to be inaccessible.</a:t>
            </a:r>
          </a:p>
        </p:txBody>
      </p:sp>
      <p:sp>
        <p:nvSpPr>
          <p:cNvPr id="3167" name="TextBox 31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68" name="TextBox 31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lines are context. Route capacity, product compatibility and customer rights still determine serviceable demand.</a:t>
            </a:r>
          </a:p>
        </p:txBody>
      </p:sp>
      <p:cxnSp>
        <p:nvCxnSpPr>
          <p:cNvPr id="3169" name="Connector 31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70" name="TextBox 316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3171" name="TextBox 31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first customer destination and cost threshold. Manish: replace example rates with dated route costs and access evidence.</a:t>
            </a: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t>Diamonds: Vopak. Triangles: lease offers (context).</a:t>
            </a:r>
          </a:p>
        </p:txBody>
      </p:sp>
      <p:sp>
        <p:nvSpPr>
          <p:cNvPr id="317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7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317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Durban, Matola and Walvis Bay for the same inland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Galp / IPG GIMTL</a:t>
            </a:r>
          </a:p>
          <a:p>
            <a:pPr>
              <a:spcAft>
                <a:spcPts val="300"/>
              </a:spcAft>
              <a:defRPr sz="900" b="1">
                <a:solidFill>
                  <a:srgbClr val="0A2373"/>
                </a:solidFill>
                <a:latin typeface="Lato"/>
              </a:defRPr>
            </a:pPr>
            <a: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NAMCOR NOSF</a:t>
            </a:r>
          </a:p>
          <a:p>
            <a:pPr>
              <a:spcAft>
                <a:spcPts val="300"/>
              </a:spcAft>
              <a:defRPr sz="900" b="1">
                <a:solidFill>
                  <a:srgbClr val="0A2373"/>
                </a:solidFill>
                <a:latin typeface="Lato"/>
              </a:defRPr>
            </a:pPr>
            <a: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Walvis–Gauteng (Trans-Kalahari)</a:t>
            </a:r>
          </a:p>
        </p:txBody>
      </p:sp>
      <p:sp>
        <p:nvSpPr>
          <p:cNvPr id="107" name="TextBox 106"/>
          <p:cNvSpPr txBox="1"/>
          <p:nvPr/>
        </p:nvSpPr>
        <p:spPr>
          <a:xfrm>
            <a:off x="457200" y="6400800"/>
            <a:ext cx="644652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Routes schematic; access unverified. Colour measures provincial totals, not density or Vopak share.</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available tanks, customer access and full delivered costs. Source Namibia/Mozambique demand before extending the heatmap; grey means unassessed.</a:t>
            </a:r>
          </a:p>
        </p:txBody>
      </p:sp>
      <p:sp>
        <p:nvSpPr>
          <p:cNvPr id="12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3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3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Successive screens; these volumes are illustrative</a:t>
            </a:r>
          </a:p>
        </p:txBody>
      </p:sp>
      <p:sp>
        <p:nvSpPr>
          <p:cNvPr id="116" name="TextBox 115"/>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Catchment demand</a:t>
            </a:r>
          </a:p>
        </p:txBody>
      </p:sp>
      <p:sp>
        <p:nvSpPr>
          <p:cNvPr id="117" name="Rectangle 116"/>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14.5</a:t>
            </a:r>
          </a:p>
        </p:txBody>
      </p:sp>
      <p:sp>
        <p:nvSpPr>
          <p:cNvPr id="119" name="TextBox 118"/>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Physically feasible</a:t>
            </a:r>
          </a:p>
        </p:txBody>
      </p:sp>
      <p:sp>
        <p:nvSpPr>
          <p:cNvPr id="120" name="Rectangle 119"/>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12.0</a:t>
            </a:r>
          </a:p>
        </p:txBody>
      </p:sp>
      <p:sp>
        <p:nvSpPr>
          <p:cNvPr id="122" name="TextBox 121"/>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Commercial envelope</a:t>
            </a:r>
          </a:p>
        </p:txBody>
      </p:sp>
      <p:sp>
        <p:nvSpPr>
          <p:cNvPr id="123" name="Rectangle 122"/>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125" name="TextBox 124"/>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unique deliveries</a:t>
            </a:r>
          </a:p>
        </p:txBody>
      </p:sp>
      <p:sp>
        <p:nvSpPr>
          <p:cNvPr id="126" name="Rectangle 125"/>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128" name="TextBox 127"/>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Count Durban–Lesedi transfers once</a:t>
            </a:r>
          </a:p>
        </p:txBody>
      </p:sp>
      <p:sp>
        <p:nvSpPr>
          <p:cNvPr id="129" name="TextBox 128"/>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 2.8 + Lesedi 2.0 − shared transfer 1.8 = unique 3.0</a:t>
            </a:r>
          </a:p>
        </p:txBody>
      </p:sp>
      <p:sp>
        <p:nvSpPr>
          <p:cNvPr id="130" name="TextBox 129"/>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Demand ≠ terminal receipts ≠ storage capacity. Incremental opportunity is on page 14.</a:t>
            </a:r>
          </a:p>
        </p:txBody>
      </p:sp>
      <p:sp>
        <p:nvSpPr>
          <p:cNvPr id="131" name="TextBox 13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32" name="TextBox 13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133" name="TextBox 13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receipts of 2.8 at Durban and 2.0 at Lesedi include a shared 1.8 transfer. Unique demand served is therefore 3.0 bn litres.</a:t>
            </a:r>
          </a:p>
        </p:txBody>
      </p:sp>
      <p:sp>
        <p:nvSpPr>
          <p:cNvPr id="134" name="TextBox 13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35" name="TextBox 13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catchment demand 14.5 → physically feasible 12.0 → commercial envelope 8.5. Each screen requires evidence.</a:t>
            </a:r>
          </a:p>
        </p:txBody>
      </p:sp>
      <p:sp>
        <p:nvSpPr>
          <p:cNvPr id="136" name="TextBox 13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37" name="TextBox 13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market volumes illustrate the calculation. They are not the reported 2022 regional totals or actual Vopak deliveries.</a:t>
            </a:r>
          </a:p>
        </p:txBody>
      </p:sp>
      <p:cxnSp>
        <p:nvCxnSpPr>
          <p:cNvPr id="138" name="Connector 13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40" name="TextBox 13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customer deliveries, destinations and transfer records. Manish: calculate unique served demand before estimating additional access.</a:t>
            </a:r>
          </a:p>
        </p:txBody>
      </p:sp>
      <p:sp>
        <p:nvSpPr>
          <p:cNvPr id="14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4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4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regional demand with Vopak’s published storage footprint</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2"/>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13"/>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 tanks</a:t>
            </a:r>
          </a:p>
          <a:p>
            <a:pPr>
              <a:spcAft>
                <a:spcPts val="300"/>
              </a:spcAft>
              <a:defRPr sz="1200" b="1">
                <a:solidFill>
                  <a:srgbClr val="000000"/>
                </a:solidFill>
                <a:latin typeface="Lato"/>
              </a:defRPr>
            </a:pPr>
            <a:r>
              <a:t>000 m³</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 tanks</a:t>
            </a:r>
          </a:p>
          <a:p>
            <a:pPr>
              <a:spcAft>
                <a:spcPts val="300"/>
              </a:spcAft>
              <a:defRPr sz="1200" b="1">
                <a:solidFill>
                  <a:srgbClr val="000000"/>
                </a:solidFill>
                <a:latin typeface="Lato"/>
              </a:defRPr>
            </a:pPr>
            <a:r>
              <a:t>000 m³</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0182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49326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800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13944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9417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3785616"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972491"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3587"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TextBox 30"/>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360.2</a:t>
            </a:r>
          </a:p>
        </p:txBody>
      </p:sp>
      <p:sp>
        <p:nvSpPr>
          <p:cNvPr id="32" name="TextBox 31"/>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923.1</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1857696"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8792"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TextBox 36"/>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140.0</a:t>
            </a:r>
          </a:p>
        </p:txBody>
      </p:sp>
      <p:sp>
        <p:nvSpPr>
          <p:cNvPr id="38" name="TextBox 37"/>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32.5</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63499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46089"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TextBox 42"/>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44" name="TextBox 4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122.0</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7298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84083"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TextBox 4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50" name="TextBox 49"/>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Unknown</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Published capacity is a provisional footprint measure, not annual demand served.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Partial gross inventory; mixed products and unknown Sasol/Transnet capacities.</a:t>
            </a:r>
          </a:p>
          <a:p>
            <a:pPr>
              <a:spcAft>
                <a:spcPts val="300"/>
              </a:spcAft>
              <a:defRPr sz="1000" b="0">
                <a:solidFill>
                  <a:srgbClr val="000000"/>
                </a:solidFill>
                <a:latin typeface="Lato"/>
              </a:defRPr>
            </a:pPr>
            <a:r>
              <a:t>Fuel-compatible capacity share and actual Vopak demand share remain unestablished.</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The illustrative additional opportunity is 5.5 billion litres a year</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catchment CSV; conditions authored for review. No actual Vopak share, cost threshold or forecast capture established.</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Accessibility gates and volume milestones | illustrative bn L/year</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24912"/>
            <a:ext cx="6446520" cy="457200"/>
          </a:xfrm>
          <a:prstGeom prst="rect">
            <a:avLst/>
          </a:prstGeom>
          <a:noFill/>
        </p:spPr>
        <p:txBody>
          <a:bodyPr wrap="square" lIns="22860" rIns="22860" tIns="0" bIns="0">
            <a:spAutoFit/>
          </a:bodyPr>
          <a:lstStyle/>
          <a:p>
            <a:pPr>
              <a:spcAft>
                <a:spcPts val="300"/>
              </a:spcAft>
              <a:defRPr sz="2200" b="1">
                <a:solidFill>
                  <a:srgbClr val="0A2373"/>
                </a:solidFill>
                <a:latin typeface="Lato"/>
              </a:defRPr>
            </a:pPr>
            <a:r>
              <a:t>5.5 bn L/year additional candidate</a:t>
            </a:r>
          </a:p>
        </p:txBody>
      </p:sp>
      <p:sp>
        <p:nvSpPr>
          <p:cNvPr id="31" name="TextBox 30"/>
          <p:cNvSpPr txBox="1"/>
          <p:nvPr/>
        </p:nvSpPr>
        <p:spPr>
          <a:xfrm>
            <a:off x="457200" y="3255264"/>
            <a:ext cx="6446520" cy="28346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3.0 current example + 5.5 additional = 8.5 total envelope</a:t>
            </a:r>
          </a:p>
        </p:txBody>
      </p:sp>
      <p:sp>
        <p:nvSpPr>
          <p:cNvPr id="32" name="Rectangle 31"/>
          <p:cNvSpPr/>
          <p:nvPr/>
        </p:nvSpPr>
        <p:spPr>
          <a:xfrm>
            <a:off x="457200" y="3813048"/>
            <a:ext cx="2275242" cy="59436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3968496"/>
            <a:ext cx="2147226" cy="274320"/>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Current 3.0</a:t>
            </a:r>
          </a:p>
        </p:txBody>
      </p:sp>
      <p:sp>
        <p:nvSpPr>
          <p:cNvPr id="34" name="Rectangle 33"/>
          <p:cNvSpPr/>
          <p:nvPr/>
        </p:nvSpPr>
        <p:spPr>
          <a:xfrm>
            <a:off x="2732442" y="3813048"/>
            <a:ext cx="1137621" cy="59436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96450" y="3968496"/>
            <a:ext cx="1009605"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Coastal + 1.5</a:t>
            </a:r>
          </a:p>
        </p:txBody>
      </p:sp>
      <p:sp>
        <p:nvSpPr>
          <p:cNvPr id="36" name="Rectangle 35"/>
          <p:cNvSpPr/>
          <p:nvPr/>
        </p:nvSpPr>
        <p:spPr>
          <a:xfrm>
            <a:off x="3870063" y="3813048"/>
            <a:ext cx="3033656" cy="5943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34071" y="3968496"/>
            <a:ext cx="2905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 + 4.0</a:t>
            </a:r>
          </a:p>
        </p:txBody>
      </p:sp>
      <p:sp>
        <p:nvSpPr>
          <p:cNvPr id="38" name="TextBox 37"/>
          <p:cNvSpPr txBox="1"/>
          <p:nvPr/>
        </p:nvSpPr>
        <p:spPr>
          <a:xfrm>
            <a:off x="457200" y="480060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hold before any additional litres are counted?</a:t>
            </a:r>
          </a:p>
        </p:txBody>
      </p:sp>
      <p:graphicFrame>
        <p:nvGraphicFramePr>
          <p:cNvPr id="39" name="Table 38"/>
          <p:cNvGraphicFramePr>
            <a:graphicFrameLocks noGrp="1"/>
          </p:cNvGraphicFramePr>
          <p:nvPr/>
        </p:nvGraphicFramePr>
        <p:xfrm>
          <a:off x="457200" y="5349240"/>
          <a:ext cx="6446520" cy="576072"/>
        </p:xfrm>
        <a:graphic>
          <a:graphicData uri="http://schemas.openxmlformats.org/drawingml/2006/table">
            <a:tbl>
              <a:tblPr firstRow="1" bandRow="1">
                <a:tableStyleId>{2D5ABB26-0587-4C30-8999-92F81FD0307C}</a:tableStyleId>
              </a:tblPr>
              <a:tblGrid>
                <a:gridCol w="1609344"/>
                <a:gridCol w="1609344"/>
                <a:gridCol w="1609344"/>
                <a:gridCol w="1618488"/>
              </a:tblGrid>
              <a:tr h="576072">
                <a:tc>
                  <a:txBody>
                    <a:bodyPr/>
                    <a:lstStyle/>
                    <a:p>
                      <a:pPr>
                        <a:spcAft>
                          <a:spcPts val="0"/>
                        </a:spcAft>
                        <a:defRPr sz="1100" b="1">
                          <a:solidFill>
                            <a:srgbClr val="000000"/>
                          </a:solidFill>
                          <a:latin typeface="Lato"/>
                        </a:defRPr>
                      </a:pPr>
                      <a:r>
                        <a:t>Competitive cost</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Usable capacity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Unique deliveries</a:t>
                      </a:r>
                    </a:p>
                  </a:txBody>
                  <a:tcPr marL="50292" marR="50292" marT="41148" marB="41148" anchor="ctr">
                    <a:lnB w="6350" cap="flat">
                      <a:solidFill>
                        <a:srgbClr val="EEEEEE"/>
                      </a:solidFill>
                    </a:lnB>
                    <a:solidFill>
                      <a:srgbClr val="FFFFFF"/>
                    </a:solidFill>
                  </a:tcPr>
                </a:tc>
              </a:tr>
            </a:tbl>
          </a:graphicData>
        </a:graphic>
      </p:graphicFrame>
      <p:sp>
        <p:nvSpPr>
          <p:cNvPr id="40" name="TextBox 39"/>
          <p:cNvSpPr txBox="1"/>
          <p:nvPr/>
        </p:nvSpPr>
        <p:spPr>
          <a:xfrm>
            <a:off x="457200" y="6035040"/>
            <a:ext cx="6446520"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Detailed customer-by-route gates belong in the evidence register.</a:t>
            </a:r>
          </a:p>
          <a:p>
            <a:pPr>
              <a:spcAft>
                <a:spcPts val="300"/>
              </a:spcAft>
              <a:defRPr sz="1100" b="0">
                <a:solidFill>
                  <a:srgbClr val="000000"/>
                </a:solidFill>
                <a:latin typeface="Lato"/>
              </a:defRPr>
            </a:pPr>
            <a:r>
              <a:t>Illustration only; 5.5 is neither a forecast nor a confirmed capturable market.</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p10 and competing routes p11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Durban leads the published storage subset</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Prioritise customer markets, win on service and cost, then expand</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market hypotheses; demand, gateway and storage evidence on pp.4, 10–15. Customer capture remains unverified.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outlook | priority hypotheses and conditional timing</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457200" y="2176272"/>
          <a:ext cx="10652760" cy="3090672"/>
        </p:xfrm>
        <a:graphic>
          <a:graphicData uri="http://schemas.openxmlformats.org/drawingml/2006/table">
            <a:tbl>
              <a:tblPr firstRow="1" bandRow="1">
                <a:tableStyleId>{2D5ABB26-0587-4C30-8999-92F81FD0307C}</a:tableStyleId>
              </a:tblPr>
              <a:tblGrid>
                <a:gridCol w="2103120"/>
                <a:gridCol w="2834640"/>
                <a:gridCol w="2788920"/>
                <a:gridCol w="2926080"/>
              </a:tblGrid>
              <a:tr h="772668">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Matola and Walvis Bay</a:t>
                      </a:r>
                    </a:p>
                    <a:p>
                      <a:pPr>
                        <a:spcAft>
                          <a:spcPts val="0"/>
                        </a:spcAft>
                        <a:defRPr sz="1150" b="0">
                          <a:solidFill>
                            <a:srgbClr val="000000"/>
                          </a:solidFill>
                          <a:latin typeface="Lato"/>
                        </a:defRPr>
                      </a:pPr>
                      <a:r>
                        <a:t>Competing gateways to compare</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12" name="TextBox 1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Investment gate</a:t>
            </a:r>
          </a:p>
        </p:txBody>
      </p:sp>
      <p:sp>
        <p:nvSpPr>
          <p:cNvPr id="13" name="TextBox 1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New storage follows secured incremental flows and a gap in usable capacity; the illustrative 5.5 bn litres does not establish a commitment.</a:t>
            </a:r>
          </a:p>
        </p:txBody>
      </p:sp>
      <p:sp>
        <p:nvSpPr>
          <p:cNvPr id="14" name="TextBox 1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Nigel: Choose the first customer/product and acceptable cost. Confirm the service proposition and commercial access.</a:t>
            </a:r>
          </a:p>
        </p:txBody>
      </p:sp>
      <p:sp>
        <p:nvSpPr>
          <p:cNvPr id="15" name="TextBox 1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Manish: Build a customer-by-route evidence table: litres, cost, capacity, rights, timing and owner. Mark each gate passed, failed or unassessed.</a:t>
            </a:r>
          </a:p>
        </p:txBody>
      </p:sp>
      <p:sp>
        <p:nvSpPr>
          <p:cNvPr id="1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Translate additional fuel flows into a preliminary inventory requirement</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5.5 bn L/year candidate example; authored inventory-day sensitivity, 6 Oct 2026. Not new-capacity sizing.</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Working inventory sensitivity | illustrative, thousand m³</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additional 5.5 bn litres/year; uniform daily flow</a:t>
            </a:r>
          </a:p>
        </p:txBody>
      </p:sp>
      <p:sp>
        <p:nvSpPr>
          <p:cNvPr id="30" name="TextBox 29"/>
          <p:cNvSpPr txBox="1"/>
          <p:nvPr/>
        </p:nvSpPr>
        <p:spPr>
          <a:xfrm>
            <a:off x="457200" y="258775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More inventory days require more working stock</a:t>
            </a:r>
          </a:p>
        </p:txBody>
      </p:sp>
      <p:graphicFrame>
        <p:nvGraphicFramePr>
          <p:cNvPr id="31" name="Chart 30"/>
          <p:cNvGraphicFramePr>
            <a:graphicFrameLocks noGrp="1"/>
          </p:cNvGraphicFramePr>
          <p:nvPr/>
        </p:nvGraphicFramePr>
        <p:xfrm>
          <a:off x="457200" y="3008376"/>
          <a:ext cx="6446520" cy="2340864"/>
        </p:xfrm>
        <a:graphic>
          <a:graphicData uri="http://schemas.openxmlformats.org/drawingml/2006/chart">
            <c:chart xmlns:c="http://schemas.openxmlformats.org/drawingml/2006/chart" r:id="rId3"/>
          </a:graphicData>
        </a:graphic>
      </p:graphicFrame>
      <p:sp>
        <p:nvSpPr>
          <p:cNvPr id="32" name="TextBox 31"/>
          <p:cNvSpPr txBox="1"/>
          <p:nvPr/>
        </p:nvSpPr>
        <p:spPr>
          <a:xfrm>
            <a:off x="457200" y="5513832"/>
            <a:ext cx="644652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Working m³ = annual litres ÷ 365 ÷ 1,000 × inventory days</a:t>
            </a:r>
          </a:p>
        </p:txBody>
      </p:sp>
      <p:sp>
        <p:nvSpPr>
          <p:cNvPr id="33" name="TextBox 32"/>
          <p:cNvSpPr txBox="1"/>
          <p:nvPr/>
        </p:nvSpPr>
        <p:spPr>
          <a:xfrm>
            <a:off x="457200" y="5925312"/>
            <a:ext cx="6446520" cy="502920"/>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At 14 days: approximately 211 thousand m³ of working inventory.</a:t>
            </a:r>
          </a:p>
          <a:p>
            <a:pPr>
              <a:spcAft>
                <a:spcPts val="300"/>
              </a:spcAft>
              <a:defRPr sz="1150" b="0">
                <a:solidFill>
                  <a:srgbClr val="000000"/>
                </a:solidFill>
                <a:latin typeface="Lato"/>
              </a:defRPr>
            </a:pPr>
            <a:r>
              <a:t>New tanks depend on usable spare capacity, peaks, product segregation and dispatch limits.</a:t>
            </a:r>
          </a:p>
        </p:txBody>
      </p:sp>
      <p:sp>
        <p:nvSpPr>
          <p:cNvPr id="34" name="TextBox 3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5" name="TextBox 3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Inventory days set working stock</a:t>
            </a:r>
          </a:p>
        </p:txBody>
      </p:sp>
      <p:sp>
        <p:nvSpPr>
          <p:cNvPr id="36" name="TextBox 3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At the illustrative 5.5 bn litres/year, 14 days needs about 211 thousand m³. More inventory days require more stock.</a:t>
            </a:r>
          </a:p>
        </p:txBody>
      </p:sp>
      <p:sp>
        <p:nvSpPr>
          <p:cNvPr id="37" name="TextBox 3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Existing tanks may cover part</a:t>
            </a:r>
          </a:p>
        </p:txBody>
      </p:sp>
      <p:sp>
        <p:nvSpPr>
          <p:cNvPr id="38" name="TextBox 3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Usable spare tanks may absorb this inventory. Published gross capacity does not establish spare petrol/diesel space.</a:t>
            </a:r>
          </a:p>
        </p:txBody>
      </p:sp>
      <p:sp>
        <p:nvSpPr>
          <p:cNvPr id="39" name="TextBox 3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Sizing needs an operating case</a:t>
            </a:r>
          </a:p>
        </p:txBody>
      </p:sp>
      <p:sp>
        <p:nvSpPr>
          <p:cNvPr id="40" name="TextBox 3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peak receipts, product segregation, tank heels and dispatch limits. This is a sensitivity, not an investment recommendation.</a:t>
            </a:r>
          </a:p>
        </p:txBody>
      </p:sp>
      <p:cxnSp>
        <p:nvCxnSpPr>
          <p:cNvPr id="41" name="Connector 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43" name="TextBox 4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candidate flows and inventory policy. Manish and Henry: test usable spare tanks, peak flows and operating allowances before sizing new capacity.</a:t>
            </a:r>
          </a:p>
        </p:txBody>
      </p:sp>
      <p:sp>
        <p:nvSpPr>
          <p:cNvPr id="4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4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#D9D9D9</a:t>
            </a:r>
          </a:p>
        </p:txBody>
      </p:sp>
      <p:sp>
        <p:nvSpPr>
          <p:cNvPr id="68" name="TextBox 67"/>
          <p:cNvSpPr txBox="1"/>
          <p:nvPr/>
        </p:nvSpPr>
        <p:spPr>
          <a:xfrm>
            <a:off x="457200" y="6309360"/>
            <a:ext cx="1065276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Typeface: Lato. Sales colours show totals, not density or market share. Grey denotes unassessed demand.</a:t>
            </a:r>
          </a:p>
        </p:txBody>
      </p:sp>
      <p:sp>
        <p:nvSpPr>
          <p:cNvPr id="69" name="TextBox 68"/>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