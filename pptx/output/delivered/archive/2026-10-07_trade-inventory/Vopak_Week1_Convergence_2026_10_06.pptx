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81" r:id="rId36"/>
    <p:sldId id="267" r:id="rId22"/>
    <p:sldId id="268" r:id="rId23"/>
    <p:sldId id="262" r:id="rId17"/>
    <p:sldId id="263" r:id="rId6"/>
    <p:sldId id="264" r:id="rId19"/>
    <p:sldId id="269" r:id="rId24"/>
    <p:sldId id="270" r:id="rId25"/>
    <p:sldId id="275" r:id="rId30"/>
    <p:sldId id="258" r:id="rId5"/>
    <p:sldId id="271" r:id="rId26"/>
    <p:sldId id="266" r:id="rId21"/>
    <p:sldId id="259" r:id="rId16"/>
    <p:sldId id="272" r:id="rId27"/>
    <p:sldId id="265" r:id="rId20"/>
    <p:sldId id="273" r:id="rId28"/>
    <p:sldId id="274" r:id="rId29"/>
    <p:sldId id="282" r:id="rId37"/>
    <p:sldId id="280" r:id="rId35"/>
    <p:sldId id="283" r:id="rId3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1.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4.xml"/><Relationship Id="rId17" Type="http://schemas.openxmlformats.org/officeDocument/2006/relationships/slide" Target="slides/slide5.xml"/><Relationship Id="rId18" Type="http://schemas.openxmlformats.org/officeDocument/2006/relationships/slide" Target="slides/slide25.xml"/><Relationship Id="rId19" Type="http://schemas.openxmlformats.org/officeDocument/2006/relationships/slide" Target="slides/slide7.xml"/><Relationship Id="rId20" Type="http://schemas.openxmlformats.org/officeDocument/2006/relationships/slide" Target="slides/slide16.xml"/><Relationship Id="rId21" Type="http://schemas.openxmlformats.org/officeDocument/2006/relationships/slide" Target="slides/slide13.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2.xml"/><Relationship Id="rId27" Type="http://schemas.openxmlformats.org/officeDocument/2006/relationships/slide" Target="slides/slide15.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0.xml"/><Relationship Id="rId31" Type="http://schemas.openxmlformats.org/officeDocument/2006/relationships/slide" Target="slides/slide26.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0.xml"/><Relationship Id="rId36" Type="http://schemas.openxmlformats.org/officeDocument/2006/relationships/slide" Target="slides/slide2.xml"/><Relationship Id="rId37" Type="http://schemas.openxmlformats.org/officeDocument/2006/relationships/slide" Target="slides/slide19.xml"/><Relationship Id="rId38"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9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9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9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9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9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9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9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9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9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9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9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9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9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9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9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9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 (proxy)</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txPr>
            <a:bodyPr/>
            <a:lstStyle/>
            <a:p>
              <a:pPr>
                <a:defRPr b="0" sz="1200">
                  <a:latin typeface="Lato"/>
                </a:defRPr>
              </a:pPr>
            </a:p>
          </c:txPr>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txPr>
            <a:bodyPr/>
            <a:lstStyle/>
            <a:p>
              <a:pPr>
                <a:defRPr b="0" sz="1200">
                  <a:latin typeface="Lato"/>
                </a:defRPr>
              </a:pPr>
            </a:p>
          </c:txPr>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1">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0A2373"/>
              </a:solidFill>
            </c:spPr>
          </c:dPt>
          <c:dPt>
            <c:idx val="0"/>
            <c:spPr>
              <a:solidFill>
                <a:srgbClr val="EEEEEE"/>
              </a:solidFill>
            </c:spPr>
          </c:dPt>
          <c:dPt>
            <c:idx val="2"/>
            <c:spPr>
              <a:solidFill>
                <a:srgbClr val="EEEEEE"/>
              </a:solidFill>
            </c:spPr>
          </c:dPt>
          <c:dPt>
            <c:idx val="3"/>
            <c:spPr>
              <a:solidFill>
                <a:srgbClr val="EEEEEE"/>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Historical headline: broadly steady aggregate reported sales, with pandemic disruption and different provincial paths. This is a baseline hypothesis for back-testing; it does not establish a flat forecast. Post-2022 estimates remain separate.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Manish handback 4e64c8c: 2013 parser fixed; 2015 revision traced; 2014/2018 treatment still needs Nigel. Provincial GDP supports a held-share estimate but is not observed fuel sales.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PARTNER-REVIEW: p14 now has one job: remove the existing shared-transfer example. Market screens remain on p15. Values read from illustrative_terminal_routes.csv; no actual terminal throughput inferred.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Headline connects Gauteng/Lesedi and KwaZulu-Natal/Durban to the top two provincial markets. Presence does not establish a customer catchment, accessibility or market share.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VIS-05: demand and storage have separate linear scales; capacity sums retain the earlier regional inventory selection. No listed site is not zero customer reach; unknown capacity is not zero. No model calculation changed.</a:t>
            </a:r>
          </a:p>
          <a:p>
            <a:r>
              <a:t>Footer notes and source occupy the fixed footer band below the rule; legends remain above it. Divider circle is filled blue with a white arrow.</a:t>
            </a:r>
          </a:p>
          <a:p>
            <a:r>
              <a:t>VIS-05: demand and storage have separate linear scales; capacity sums retain the earlier regional inventory selection. No listed site is not zero customer reach; unknown capacity is not zero. No model calculation changed.</a:t>
            </a:r>
          </a:p>
          <a:p>
            <a:r>
              <a:t>Storage is stacked Vopak then other listed operators, one row per region aligned with annual demand. End labels show known listed subtotals, not complete regional capacity. Component labels are rounded and follow legend order; missing values remain dash/question mark. Shared stock axis is 0–1.5 million m3.</a:t>
            </a:r>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Linked to registered turnover sensitivity on p13. Same site inventory; lease offers excluded from estimated operating handling. Replace 1/2/3 monthly gross turns with site dispatch and working-capacity evidence.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Regional reporting groups match the demand-map membership CSV. Primary gross inventory is unchanged; conditional lease volumes remain in source CSV and notes, not operating bars. Northern Cape coverage incomplete.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Agenda-led opening answer. Henry prompt-by-prompt current responses are on pages 20–22. Source pp30–32; open is not closed.</a:t>
            </a:r>
          </a:p>
          <a:p>
            <a:r>
              <a:t>Henry verbatim trace: workstreams/WS3_reporting_delivery/henry_verbatim_trace_2026-10-06.md. Exact source wording and slide references in appendix notes pp18?20.</a:t>
            </a:r>
          </a:p>
          <a:p>
            <a:r>
              <a:t>Page 2 title wording supplied by Nigel. Sustained imports and growth are outlook framing; forecast calibration and customer access remain conditional as stated in the exhibits.</a:t>
            </a:r>
          </a:p>
          <a:p>
            <a:r>
              <a:t>Overview rows numbered continuously 1–7: S1, S2, S/C3, C4, C5, R6, R7. Analytical pages have clickable matching row references in the footer.</a:t>
            </a:r>
          </a:p>
          <a:p>
            <a:r>
              <a:t>Overview rows numbered continuously 1–7: S1, S2, S/C3, C4, C5, R6, R7. Analytical pages have clickable matching row references in the footer.</a:t>
            </a:r>
          </a:p>
          <a:p>
            <a:r>
              <a:t>Overview rows numbered continuously 1–7: S1, S2, S/C3, C4, C5, R6, R7. Each analytical title starts with its matching row reference(s).</a:t>
            </a:r>
          </a:p>
          <a:p>
            <a:r>
              <a:t>Summary column now contains evidence verdicts on Henry storyline, not analyst tasks or approvals. Every analytical page maps to one of the seven rows; source register pptx/story/overview_story_verdicts_2026_10_06.json.</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Measured trade is shown alongside reported sales as a consumption proxy. The chart does not show measured production, stock changes or balance-derived consumption. Sales minus net imports is a balancing requirement, not measured production.</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clickable footer badge returns to page 2.</a:t>
            </a:r>
          </a:p>
          <a:p>
            <a:r>
              <a:t>Supports overview row(s) S/C3; clickable footer badge returns to page 2.</a:t>
            </a:r>
          </a:p>
          <a:p>
            <a:r>
              <a:t>Title supports overview row(s) S/C3; Overview chevron returns to page 2.</a:t>
            </a:r>
          </a:p>
          <a:p>
            <a:r>
              <a:t>Fuel-use rates mean litres per vehicle-km, per freight tonne-km, per unit of sector output or per unit of power generation. Source the appropriate rate and coverage before translating activity into fuel volumes; avoid overlap across segments.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C4; clickable footer badge returns to page 2.</a:t>
            </a:r>
          </a:p>
          <a:p>
            <a:r>
              <a:t>Supports overview row(s) C4; clickable footer badge returns to page 2.</a:t>
            </a:r>
          </a:p>
          <a:p>
            <a:r>
              <a:t>Title supports overview row(s)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Volume milestones derive only from existing illustrative catchment CSV. Accessibility map and competing routes locate potential access, not verified cost-linked customer litres. Coastal and inland increments are conditional, authored volumes, not cumulative terminal receipts. Record dated sources, thresholds, capacity, rights and deduplicated deliveries by product and period. No threshold or new model volume assigned.</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is the existing page-10 road-cost illustration, with schematic routes and no verified catchment.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is the existing page-10 road-cost illustration, with schematic routes and no verified catchment.</a:t>
            </a:r>
          </a:p>
          <a:p>
            <a:r>
              <a:t>Footer notes and source occupy the fixed footer band below the rule; legends remain above it. Divider circle is filled blue with a white arrow.</a:t>
            </a:r>
          </a:p>
          <a:p>
            <a:r>
              <a:t>REACH-MAP: source cells with a non-None cost class are collapsed into one illustrated road-connection layer and clipped to the selected Eastern coastal/Inland province union. No new cost cutoff or operating feasibility is inferred. Original 100 km schematic connection rule retained; original cost detail remains on the earlier transport page. Selected market outline uses declared reporting regions, not a verified terminal catchment. The 14.5/2.5/12.0 volume example is independent of the spatial classification; no area-to-litres or measured reach claim.</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collapses the existing road-cost surface into illustrated road connection within selected eastern/inland reporting regions. It does not quantify the reach deduction; customer screens cannot be located on this map.</a:t>
            </a:r>
          </a:p>
          <a:p>
            <a:r>
              <a:t>Footer notes and source occupy the fixed footer band below the rule; legends remain above it. Divider circle is filled blue with a white arrow.</a:t>
            </a:r>
          </a:p>
          <a:p>
            <a:r>
              <a:t>REACH-MAP: source cells with a non-None cost class are collapsed into one illustrated road-connection layer and clipped to the selected Eastern coastal/Inland province union. No new cost cutoff or operating feasibility is inferred. Original 100 km schematic connection rule retained; original cost detail remains on the earlier transport page. Selected market outline uses declared reporting regions, not a verified terminal catchment. The 14.5/2.5/12.0 volume example is independent of the spatial classification; no area-to-litres or measured reach claim.</a:t>
            </a:r>
          </a:p>
          <a:p>
            <a:r>
              <a:t>VISUAL-PLACEMENT: stages 1-5 are schematic map markers matched to waterfall bars. Marker centres, halos and label leaders are editorial placements, not geocoded customers, area-weighted losses, observed destinations or new input assumptions.</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collapses the existing road-cost surface into illustrated road connection within selected eastern/inland reporting regions. It does not quantify the reach deduction; Numbered customer-screen markers on the map are schematic visual placements, not actual customer locations or calibrated spatial allocations.</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Main-story decisions supported by p17 working inventory and p19 kickoff-aligned delivery gates; detailed turnover sensitivity in appendix p21. Client touchpoints W1/W3/W5/W6 remain proposed.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 C4; clickable footer badge returns to page 2.</a:t>
            </a:r>
          </a:p>
          <a:p>
            <a:r>
              <a:t>Supports overview row(s) S/C3 / C4; clickable footer badge returns to page 2.</a:t>
            </a:r>
          </a:p>
          <a:p>
            <a:r>
              <a:t>Title supports overview row(s)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SCN-01 design only. L/M/H settings remain proposed/unquantified, with linked assumptions and incompatible combinations to record. Medium demand/medium domestic supply is a proposed reference, not a calibrated forecast. A 3x3 demand/supply matrix summarizes worlds; every key underlying lever needs its own settings. Imports are one output. See feedback_focus_2026-10-06.md SCN-01.1-8.</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Supports overview row(s) S1 / S2 / S/C3 / C4; clickable footer badge returns to page 2.</a:t>
            </a:r>
          </a:p>
          <a:p>
            <a:r>
              <a:t>Supports overview row(s) S1 / S2 / S/C3 / C4; clickable footer badge returns to page 2.</a:t>
            </a:r>
          </a:p>
          <a:p>
            <a:r>
              <a:t>Title supports overview row(s) S1 / S2 /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Supports overview row(s) S/C3 / C4 / C5; clickable footer badge returns to page 2.</a:t>
            </a:r>
          </a:p>
          <a:p>
            <a:r>
              <a:t>Supports overview row(s) S/C3 / C4 / C5; clickable footer badge returns to page 2.</a:t>
            </a:r>
          </a:p>
          <a:p>
            <a:r>
              <a:t>Title supports overview row(s) S/C3 / C4 /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Supports overview row(s) R6 / R7; clickable footer badge returns to page 2.</a:t>
            </a:r>
          </a:p>
          <a:p>
            <a:r>
              <a:t>Supports overview row(s) R6 / R7; clickable footer badge returns to page 2.</a:t>
            </a:r>
          </a:p>
          <a:p>
            <a:r>
              <a:t>Title supports overview row(s) R6 /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timing and client checkpoints; no meetings scheduled or acceptance inferred",</a:t>
            </a:r>
          </a:p>
          <a:p>
            <a:r>
              <a:t>  "sources": [</a:t>
            </a:r>
          </a:p>
          <a:p>
            <a:r>
              <a:t>    "Vopak_Analyst_Kickoff.pdf pp23-27",</a:t>
            </a:r>
          </a:p>
          <a:p>
            <a:r>
              <a:t>    "workstreams/WS0_governance/workplan/six_week_plan.md",</a:t>
            </a:r>
          </a:p>
          <a:p>
            <a:r>
              <a:t>    "workstreams/WS0_governance/workplan/feedback_focus_2026-10-06.md",</a:t>
            </a:r>
          </a:p>
          <a:p>
            <a:r>
              <a:t>    "workstreams/WS1_data_validation/manish_branch_review_2026-10-06.md",</a:t>
            </a:r>
          </a:p>
          <a:p>
            <a:r>
              <a:t>    "GATE_CHECKLIST.md"</a:t>
            </a:r>
          </a:p>
          <a:p>
            <a:r>
              <a:t>  ],</a:t>
            </a:r>
          </a:p>
          <a:p>
            <a:r>
              <a:t>  "weeks": [</a:t>
            </a:r>
          </a:p>
          <a:p>
            <a:r>
              <a:t>    "W1\n02 Oct",</a:t>
            </a:r>
          </a:p>
          <a:p>
            <a:r>
              <a:t>    "W2\n09 Oct",</a:t>
            </a:r>
          </a:p>
          <a:p>
            <a:r>
              <a:t>    "W3\n16 Oct",</a:t>
            </a:r>
          </a:p>
          <a:p>
            <a:r>
              <a:t>    "W4\n23 Oct",</a:t>
            </a:r>
          </a:p>
          <a:p>
            <a:r>
              <a:t>    "W5\n30 Oct",</a:t>
            </a:r>
          </a:p>
          <a:p>
            <a:r>
              <a:t>    "W6\n06 Nov"</a:t>
            </a:r>
          </a:p>
          <a:p>
            <a:r>
              <a:t>  ],</a:t>
            </a:r>
          </a:p>
          <a:p>
            <a:r>
              <a:t>  "rows": [</a:t>
            </a:r>
          </a:p>
          <a:p>
            <a:r>
              <a:t>    {</a:t>
            </a:r>
          </a:p>
          <a:p>
            <a:r>
              <a:t>      "activity": "1  Establish the fuel baseline",</a:t>
            </a:r>
          </a:p>
          <a:p>
            <a:r>
              <a:t>      "owner": "Manish / Nigel",</a:t>
            </a:r>
          </a:p>
          <a:p>
            <a:r>
              <a:t>      "active": [</a:t>
            </a:r>
          </a:p>
          <a:p>
            <a:r>
              <a:t>        1,</a:t>
            </a:r>
          </a:p>
          <a:p>
            <a:r>
              <a:t>        2</a:t>
            </a:r>
          </a:p>
          <a:p>
            <a:r>
              <a:t>      ],</a:t>
            </a:r>
          </a:p>
          <a:p>
            <a:r>
              <a:t>      "gate_week": 2,</a:t>
            </a:r>
          </a:p>
          <a:p>
            <a:r>
              <a:t>      "gate": "Reconcile history, sources and opening assumptions",</a:t>
            </a:r>
          </a:p>
          <a:p>
            <a:r>
              <a:t>      "now": "Reference runs reproduced; source proposals staged. Balance and acceptance open."</a:t>
            </a:r>
          </a:p>
          <a:p>
            <a:r>
              <a:t>    },</a:t>
            </a:r>
          </a:p>
          <a:p>
            <a:r>
              <a:t>    {</a:t>
            </a:r>
          </a:p>
          <a:p>
            <a:r>
              <a:t>      "activity": "2  Test demand and supply cases",</a:t>
            </a:r>
          </a:p>
          <a:p>
            <a:r>
              <a:t>      "owner": "Manish / Henry",</a:t>
            </a:r>
          </a:p>
          <a:p>
            <a:r>
              <a:t>      "active": [</a:t>
            </a:r>
          </a:p>
          <a:p>
            <a:r>
              <a:t>        2,</a:t>
            </a:r>
          </a:p>
          <a:p>
            <a:r>
              <a:t>        3,</a:t>
            </a:r>
          </a:p>
          <a:p>
            <a:r>
              <a:t>        4</a:t>
            </a:r>
          </a:p>
          <a:p>
            <a:r>
              <a:t>      ],</a:t>
            </a:r>
          </a:p>
          <a:p>
            <a:r>
              <a:t>      "gate_week": 4,</a:t>
            </a:r>
          </a:p>
          <a:p>
            <a:r>
              <a:t>      "gate": "Reviewed drivers and independent nine-case matrix",</a:t>
            </a:r>
          </a:p>
          <a:p>
            <a:r>
              <a:t>      "now": "Historical evidence and lever framework available; calibrated settings and integration pending."</a:t>
            </a:r>
          </a:p>
          <a:p>
            <a:r>
              <a:t>    },</a:t>
            </a:r>
          </a:p>
          <a:p>
            <a:r>
              <a:t>    {</a:t>
            </a:r>
          </a:p>
          <a:p>
            <a:r>
              <a:t>      "activity": "3  Prove reach and handling",</a:t>
            </a:r>
          </a:p>
          <a:p>
            <a:r>
              <a:t>      "owner": "Manish / Nigel",</a:t>
            </a:r>
          </a:p>
          <a:p>
            <a:r>
              <a:t>      "active": [</a:t>
            </a:r>
          </a:p>
          <a:p>
            <a:r>
              <a:t>        2,</a:t>
            </a:r>
          </a:p>
          <a:p>
            <a:r>
              <a:t>        3,</a:t>
            </a:r>
          </a:p>
          <a:p>
            <a:r>
              <a:t>        4</a:t>
            </a:r>
          </a:p>
          <a:p>
            <a:r>
              <a:t>      ],</a:t>
            </a:r>
          </a:p>
          <a:p>
            <a:r>
              <a:t>      "gate_week": 3,</a:t>
            </a:r>
          </a:p>
          <a:p>
            <a:r>
              <a:t>      "gate": "One evidenced route; usable capacity and access",</a:t>
            </a:r>
          </a:p>
          <a:p>
            <a:r>
              <a:t>      "now": "Public inventory and schematic routes assembled; operating capacity/access unverified."</a:t>
            </a:r>
          </a:p>
          <a:p>
            <a:r>
              <a:t>    },</a:t>
            </a:r>
          </a:p>
          <a:p>
            <a:r>
              <a:t>    {</a:t>
            </a:r>
          </a:p>
          <a:p>
            <a:r>
              <a:t>      "activity": "4  Quantify customer opportunity",</a:t>
            </a:r>
          </a:p>
          <a:p>
            <a:r>
              <a:t>      "owner": "Nigel / Manish",</a:t>
            </a:r>
          </a:p>
          <a:p>
            <a:r>
              <a:t>      "active": [</a:t>
            </a:r>
          </a:p>
          <a:p>
            <a:r>
              <a:t>        3,</a:t>
            </a:r>
          </a:p>
          <a:p>
            <a:r>
              <a:t>        4,</a:t>
            </a:r>
          </a:p>
          <a:p>
            <a:r>
              <a:t>        5</a:t>
            </a:r>
          </a:p>
          <a:p>
            <a:r>
              <a:t>      ],</a:t>
            </a:r>
          </a:p>
          <a:p>
            <a:r>
              <a:t>      "gate_week": 4,</a:t>
            </a:r>
          </a:p>
          <a:p>
            <a:r>
              <a:t>      "gate": "Competitive delivered cost, rights and unique litres",</a:t>
            </a:r>
          </a:p>
          <a:p>
            <a:r>
              <a:t>      "now": "Illustrative waterfall only; actual customer volumes and cost/service screens needed."</a:t>
            </a:r>
          </a:p>
          <a:p>
            <a:r>
              <a:t>    },</a:t>
            </a:r>
          </a:p>
          <a:p>
            <a:r>
              <a:t>    {</a:t>
            </a:r>
          </a:p>
          <a:p>
            <a:r>
              <a:t>      "activity": "5  Test working stock and constraints",</a:t>
            </a:r>
          </a:p>
          <a:p>
            <a:r>
              <a:t>      "owner": "Manish / Henry",</a:t>
            </a:r>
          </a:p>
          <a:p>
            <a:r>
              <a:t>      "active": [</a:t>
            </a:r>
          </a:p>
          <a:p>
            <a:r>
              <a:t>        4,</a:t>
            </a:r>
          </a:p>
          <a:p>
            <a:r>
              <a:t>        5</a:t>
            </a:r>
          </a:p>
          <a:p>
            <a:r>
              <a:t>      ],</a:t>
            </a:r>
          </a:p>
          <a:p>
            <a:r>
              <a:t>      "gate_week": 5,</a:t>
            </a:r>
          </a:p>
          <a:p>
            <a:r>
              <a:t>      "gate": "Working stock versus usable spare space; sensitivities",</a:t>
            </a:r>
          </a:p>
          <a:p>
            <a:r>
              <a:t>      "now": "Turnover and inventory-day illustrations available; spare fuel space and peaks unknown."</a:t>
            </a:r>
          </a:p>
          <a:p>
            <a:r>
              <a:t>    },</a:t>
            </a:r>
          </a:p>
          <a:p>
            <a:r>
              <a:t>    {</a:t>
            </a:r>
          </a:p>
          <a:p>
            <a:r>
              <a:t>      "activity": "6  Challenge, reproduce and hand over",</a:t>
            </a:r>
          </a:p>
          <a:p>
            <a:r>
              <a:t>      "owner": "Nigel / Henry",</a:t>
            </a:r>
          </a:p>
          <a:p>
            <a:r>
              <a:t>      "active": [</a:t>
            </a:r>
          </a:p>
          <a:p>
            <a:r>
              <a:t>        5,</a:t>
            </a:r>
          </a:p>
          <a:p>
            <a:r>
              <a:t>        6</a:t>
            </a:r>
          </a:p>
          <a:p>
            <a:r>
              <a:t>      ],</a:t>
            </a:r>
          </a:p>
          <a:p>
            <a:r>
              <a:t>      "gate_week": 6,</a:t>
            </a:r>
          </a:p>
          <a:p>
            <a:r>
              <a:t>      "gate": "Reviewed decision pack, repeatable outputs and open gates",</a:t>
            </a:r>
          </a:p>
          <a:p>
            <a:r>
              <a:t>      "now": "Convergence draft exists; peer review and business acceptance not recorded."</a:t>
            </a:r>
          </a:p>
          <a:p>
            <a:r>
              <a:t>    },</a:t>
            </a:r>
          </a:p>
          <a:p>
            <a:r>
              <a:t>    {</a:t>
            </a:r>
          </a:p>
          <a:p>
            <a:r>
              <a:t>      "activity": "Storyline and evidence integration",</a:t>
            </a:r>
          </a:p>
          <a:p>
            <a:r>
              <a:t>      "owner": "Nigel / Manish",</a:t>
            </a:r>
          </a:p>
          <a:p>
            <a:r>
              <a:t>      "active": [</a:t>
            </a:r>
          </a:p>
          <a:p>
            <a:r>
              <a:t>        1,</a:t>
            </a:r>
          </a:p>
          <a:p>
            <a:r>
              <a:t>        2,</a:t>
            </a:r>
          </a:p>
          <a:p>
            <a:r>
              <a:t>        3,</a:t>
            </a:r>
          </a:p>
          <a:p>
            <a:r>
              <a:t>        4,</a:t>
            </a:r>
          </a:p>
          <a:p>
            <a:r>
              <a:t>        5,</a:t>
            </a:r>
          </a:p>
          <a:p>
            <a:r>
              <a:t>        6</a:t>
            </a:r>
          </a:p>
          <a:p>
            <a:r>
              <a:t>      ],</a:t>
            </a:r>
          </a:p>
          <a:p>
            <a:r>
              <a:t>      "gate_week": null,</a:t>
            </a:r>
          </a:p>
          <a:p>
            <a:r>
              <a:t>      "gate": "Every claim traced to evidence and acceptance status",</a:t>
            </a:r>
          </a:p>
          <a:p>
            <a:r>
              <a:t>      "now": "Henry prompts traced; partial/open answers remain explicit."</a:t>
            </a:r>
          </a:p>
          <a:p>
            <a:r>
              <a:t>    }</a:t>
            </a:r>
          </a:p>
          <a:p>
            <a:r>
              <a:t>  ],</a:t>
            </a:r>
          </a:p>
          <a:p>
            <a:r>
              <a:t>  "client_touchpoints": [</a:t>
            </a:r>
          </a:p>
          <a:p>
            <a:r>
              <a:t>    {</a:t>
            </a:r>
          </a:p>
          <a:p>
            <a:r>
              <a:t>      "week": 1,</a:t>
            </a:r>
          </a:p>
          <a:p>
            <a:r>
              <a:t>      "label": "Scope / data",</a:t>
            </a:r>
          </a:p>
          <a:p>
            <a:r>
              <a:t>      "decision": "Agree reporting boundaries, source access and priority customer data"</a:t>
            </a:r>
          </a:p>
          <a:p>
            <a:r>
              <a:t>    },</a:t>
            </a:r>
          </a:p>
          <a:p>
            <a:r>
              <a:t>    {</a:t>
            </a:r>
          </a:p>
          <a:p>
            <a:r>
              <a:t>      "week": 3,</a:t>
            </a:r>
          </a:p>
          <a:p>
            <a:r>
              <a:t>      "label": "Emerging findings",</a:t>
            </a:r>
          </a:p>
          <a:p>
            <a:r>
              <a:t>      "decision": "Challenge scenarios, first-route evidence and customer hypotheses"</a:t>
            </a:r>
          </a:p>
          <a:p>
            <a:r>
              <a:t>    },</a:t>
            </a:r>
          </a:p>
          <a:p>
            <a:r>
              <a:t>    {</a:t>
            </a:r>
          </a:p>
          <a:p>
            <a:r>
              <a:t>      "week": 5,</a:t>
            </a:r>
          </a:p>
          <a:p>
            <a:r>
              <a:t>      "label": "Draft implications",</a:t>
            </a:r>
          </a:p>
          <a:p>
            <a:r>
              <a:t>      "decision": "Challenge reachable flows, operating constraints and storage needs"</a:t>
            </a:r>
          </a:p>
          <a:p>
            <a:r>
              <a:t>    },</a:t>
            </a:r>
          </a:p>
          <a:p>
            <a:r>
              <a:t>    {</a:t>
            </a:r>
          </a:p>
          <a:p>
            <a:r>
              <a:t>      "week": 6,</a:t>
            </a:r>
          </a:p>
          <a:p>
            <a:r>
              <a:t>      "label": "Final review",</a:t>
            </a:r>
          </a:p>
          <a:p>
            <a:r>
              <a:t>      "decision": "Accept outputs or record remaining conditions; handover target 12 November"</a:t>
            </a:r>
          </a:p>
          <a:p>
            <a:r>
              <a:t>    }</a:t>
            </a:r>
          </a:p>
          <a:p>
            <a:r>
              <a:t>  ],</a:t>
            </a:r>
          </a:p>
          <a:p>
            <a:r>
              <a:t>  "cadence": "Daily internal check-in / written check-out; weekly technical and partner reviews; Henry at gates. Client touchpoints proposed in W1/W3/W5/W6.",</a:t>
            </a:r>
          </a:p>
          <a:p>
            <a:r>
              <a:t>  "priority": "Fuel baseline and source-to-model integration take priority. Infrastructure is not a Week 1 gate; route breadth depends on shared team capacity.",</a:t>
            </a:r>
          </a:p>
          <a:p>
            <a:r>
              <a:t>  "owner": "Nigel leads priorities and client alignment; Manish builds evidence; Henry reviews readiness",</a:t>
            </a:r>
          </a:p>
          <a:p>
            <a:r>
              <a:t>  "expiry_trigger": "Revise at next workplan review or when client checkpoint dates and data-access commitments are agreed"</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4.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4.xml"/><Relationship Id="rId12" Type="http://schemas.openxmlformats.org/officeDocument/2006/relationships/slide" Target="slide16.xml"/><Relationship Id="rId13" Type="http://schemas.openxmlformats.org/officeDocument/2006/relationships/slide" Target="slide15.xml"/><Relationship Id="rId14" Type="http://schemas.openxmlformats.org/officeDocument/2006/relationships/slide" Target="slide13.xml"/><Relationship Id="rId15" Type="http://schemas.openxmlformats.org/officeDocument/2006/relationships/slide" Target="slide17.xml"/><Relationship Id="rId16" Type="http://schemas.openxmlformats.org/officeDocument/2006/relationships/slide" Target="slide3.xml"/><Relationship Id="rId17" Type="http://schemas.openxmlformats.org/officeDocument/2006/relationships/slide" Target="slide18.xml"/><Relationship Id="rId18" Type="http://schemas.openxmlformats.org/officeDocument/2006/relationships/slide" Target="slide10.xml"/><Relationship Id="rId19" Type="http://schemas.openxmlformats.org/officeDocument/2006/relationships/slide" Target="slide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3.xml"/><Relationship Id="rId12" Type="http://schemas.openxmlformats.org/officeDocument/2006/relationships/slide" Target="slide4.xml"/><Relationship Id="rId13" Type="http://schemas.openxmlformats.org/officeDocument/2006/relationships/slide" Target="slide8.xml"/><Relationship Id="rId14" Type="http://schemas.openxmlformats.org/officeDocument/2006/relationships/slide" Target="slide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8.xml"/><Relationship Id="rId8" Type="http://schemas.openxmlformats.org/officeDocument/2006/relationships/slide" Target="slide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8.xml"/><Relationship Id="rId13" Type="http://schemas.openxmlformats.org/officeDocument/2006/relationships/slide" Target="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4.xml"/><Relationship Id="rId8" Type="http://schemas.openxmlformats.org/officeDocument/2006/relationships/chart" Target="../charts/chart14.xml"/><Relationship Id="rId9" Type="http://schemas.openxmlformats.org/officeDocument/2006/relationships/chart" Target="../charts/chart15.xml"/><Relationship Id="rId10" Type="http://schemas.openxmlformats.org/officeDocument/2006/relationships/chart" Target="../charts/char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11.xml"/><Relationship Id="rId6" Type="http://schemas.openxmlformats.org/officeDocument/2006/relationships/slide" Target="slide14.xml"/><Relationship Id="rId7" Type="http://schemas.openxmlformats.org/officeDocument/2006/relationships/slide" Target="slide15.xml"/><Relationship Id="rId8" Type="http://schemas.openxmlformats.org/officeDocument/2006/relationships/slide" Target="slide8.xml"/><Relationship Id="rId9" Type="http://schemas.openxmlformats.org/officeDocument/2006/relationships/slide" Target="slide10.xml"/><Relationship Id="rId10" Type="http://schemas.openxmlformats.org/officeDocument/2006/relationships/slide" Target="slide9.xml"/><Relationship Id="rId11" Type="http://schemas.openxmlformats.org/officeDocument/2006/relationships/slide" Target="slide7.xml"/><Relationship Id="rId12" Type="http://schemas.openxmlformats.org/officeDocument/2006/relationships/notesSlide" Target="../notesSlides/notesSlide20.xml"/><Relationship Id="rId13" Type="http://schemas.openxmlformats.org/officeDocument/2006/relationships/slide" Target="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8.xml"/><Relationship Id="rId3" Type="http://schemas.openxmlformats.org/officeDocument/2006/relationships/slide" Target="slide10.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2.xml"/><Relationship Id="rId7" Type="http://schemas.openxmlformats.org/officeDocument/2006/relationships/slide" Target="slide15.xml"/><Relationship Id="rId8" Type="http://schemas.openxmlformats.org/officeDocument/2006/relationships/slide" Target="slide18.xml"/><Relationship Id="rId9" Type="http://schemas.openxmlformats.org/officeDocument/2006/relationships/notesSlide" Target="../notesSlides/notesSlide21.xm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4.xml"/><Relationship Id="rId3" Type="http://schemas.openxmlformats.org/officeDocument/2006/relationships/slide" Target="slide16.xml"/><Relationship Id="rId4" Type="http://schemas.openxmlformats.org/officeDocument/2006/relationships/slide" Target="slide15.xml"/><Relationship Id="rId5" Type="http://schemas.openxmlformats.org/officeDocument/2006/relationships/slide" Target="slide13.xml"/><Relationship Id="rId6" Type="http://schemas.openxmlformats.org/officeDocument/2006/relationships/slide" Target="slide18.xml"/><Relationship Id="rId7" Type="http://schemas.openxmlformats.org/officeDocument/2006/relationships/slide" Target="slide17.xml"/><Relationship Id="rId8" Type="http://schemas.openxmlformats.org/officeDocument/2006/relationships/notesSlide" Target="../notesSlides/notesSlide22.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Liquid fuels</a:t>
            </a:r>
          </a:p>
          <a:p>
            <a:pPr>
              <a:spcAft>
                <a:spcPts val="800"/>
              </a:spcAft>
              <a:defRPr sz="3100" b="0">
                <a:solidFill>
                  <a:srgbClr val="FFFFFF"/>
                </a:solidFill>
                <a:latin typeface="Lato"/>
              </a:defRPr>
            </a:pPr>
            <a:r>
              <a:rPr>
                <a:solidFill>
                  <a:srgbClr val="FFFFFF"/>
                </a:solidFill>
              </a:rPr>
              <a:t>demand and supply</a:t>
            </a:r>
          </a:p>
          <a:p>
            <a:pPr>
              <a:spcAft>
                <a:spcPts val="800"/>
              </a:spcAft>
              <a:defRPr sz="3100" b="0">
                <a:solidFill>
                  <a:srgbClr val="FFFFFF"/>
                </a:solidFill>
                <a:latin typeface="Lato"/>
              </a:defRPr>
            </a:pPr>
            <a:r>
              <a:rPr>
                <a:solidFill>
                  <a:srgbClr val="FFFFFF"/>
                </a:solidFill>
              </a:rP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About this document</a:t>
            </a:r>
          </a:p>
        </p:txBody>
      </p:sp>
      <p:sp>
        <p:nvSpPr>
          <p:cNvPr id="3" name="Slide Number Placeholder"/>
          <p:cNvSpPr>
            <a:spLocks noGrp="1"/>
          </p:cNvSpPr>
          <p:nvPr>
            <p:ph type="sldNum" sz="quarter" idx="12"/>
          </p:nvPr>
        </p:nvSpPr>
        <p:spPr/>
        <p:txBody>
          <a:bodyPr/>
          <a:lstStyle/>
          <a:p>
            <a:fld id="{5E160077-EB64-423B-97C6-6B291B79B1D2}" type="slidenum">
              <a:rPr lang="en-US"/>
              <a:t>‹#›</a:t>
            </a:fld>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covers</a:t>
            </a:r>
          </a:p>
        </p:txBody>
      </p:sp>
      <p:cxnSp>
        <p:nvCxnSpPr>
          <p:cNvPr id="6" name="Connector 5"/>
          <p:cNvCxnSpPr/>
          <p:nvPr/>
        </p:nvCxnSpPr>
        <p:spPr>
          <a:xfrm>
            <a:off x="457200" y="2194560"/>
            <a:ext cx="50749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South Africa petrol/diesel market baseline, historical demand and national supply/trade evidence.</a:t>
            </a:r>
          </a:p>
        </p:txBody>
      </p:sp>
      <p:sp>
        <p:nvSpPr>
          <p:cNvPr id="8" name="TextBox 7"/>
          <p:cNvSpPr txBox="1"/>
          <p:nvPr/>
        </p:nvSpPr>
        <p:spPr>
          <a:xfrm>
            <a:off x="45720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Demand drivers, refinery alternatives and L/M/H scenario design for all key levers and assumptions.</a:t>
            </a:r>
          </a:p>
        </p:txBody>
      </p:sp>
      <p:sp>
        <p:nvSpPr>
          <p:cNvPr id="9" name="TextBox 8"/>
          <p:cNvSpPr txBox="1"/>
          <p:nvPr/>
        </p:nvSpPr>
        <p:spPr>
          <a:xfrm>
            <a:off x="45720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Vopak customer opportunities through infrastructure reach, delivered price, service and commercial access.</a:t>
            </a:r>
          </a:p>
        </p:txBody>
      </p:sp>
      <p:sp>
        <p:nvSpPr>
          <p:cNvPr id="10" name="TextBox 9"/>
          <p:cNvSpPr txBox="1"/>
          <p:nvPr/>
        </p:nvSpPr>
        <p:spPr>
          <a:xfrm>
            <a:off x="45720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Preliminary inventory sensitivities and a trace of the evidence needed to answer Henry’s storyboard.</a:t>
            </a:r>
          </a:p>
        </p:txBody>
      </p:sp>
      <p:sp>
        <p:nvSpPr>
          <p:cNvPr id="11" name="TextBox 10"/>
          <p:cNvSpPr txBox="1"/>
          <p:nvPr/>
        </p:nvSpPr>
        <p:spPr>
          <a:xfrm>
            <a:off x="603504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does not establish</a:t>
            </a:r>
          </a:p>
        </p:txBody>
      </p:sp>
      <p:cxnSp>
        <p:nvCxnSpPr>
          <p:cNvPr id="12" name="Connector 11"/>
          <p:cNvCxnSpPr/>
          <p:nvPr/>
        </p:nvCxnSpPr>
        <p:spPr>
          <a:xfrm>
            <a:off x="6035040" y="2194560"/>
            <a:ext cx="5074919"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3504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validated 2026 forecast or calibrated L/M/H scenario results; assumption ranges and back-tests remain work to do.</a:t>
            </a:r>
          </a:p>
        </p:txBody>
      </p:sp>
      <p:sp>
        <p:nvSpPr>
          <p:cNvPr id="14" name="TextBox 13"/>
          <p:cNvSpPr txBox="1"/>
          <p:nvPr/>
        </p:nvSpPr>
        <p:spPr>
          <a:xfrm>
            <a:off x="603504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Measured Vopak market share, confirmed customer capture or verified operational catchments.</a:t>
            </a:r>
          </a:p>
        </p:txBody>
      </p:sp>
      <p:sp>
        <p:nvSpPr>
          <p:cNvPr id="15" name="TextBox 14"/>
          <p:cNvSpPr txBox="1"/>
          <p:nvPr/>
        </p:nvSpPr>
        <p:spPr>
          <a:xfrm>
            <a:off x="603504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closed national fuel balance, complete fuel-compatible storage census or confirmed spare tank capacity.</a:t>
            </a:r>
          </a:p>
        </p:txBody>
      </p:sp>
      <p:sp>
        <p:nvSpPr>
          <p:cNvPr id="16" name="TextBox 15"/>
          <p:cNvSpPr txBox="1"/>
          <p:nvPr/>
        </p:nvSpPr>
        <p:spPr>
          <a:xfrm>
            <a:off x="603504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An investment recommendation, detailed engineering design or approved commercial business case.</a:t>
            </a:r>
          </a:p>
        </p:txBody>
      </p:sp>
      <p:sp>
        <p:nvSpPr>
          <p:cNvPr id="17" name="TextBox 16"/>
          <p:cNvSpPr txBox="1"/>
          <p:nvPr/>
        </p:nvSpPr>
        <p:spPr>
          <a:xfrm>
            <a:off x="457200" y="5797296"/>
            <a:ext cx="10652760" cy="502920"/>
          </a:xfrm>
          <a:prstGeom prst="rect">
            <a:avLst/>
          </a:prstGeom>
          <a:noFill/>
        </p:spPr>
        <p:txBody>
          <a:bodyPr wrap="square" lIns="0" rIns="0" tIns="0" bIns="0">
            <a:spAutoFit/>
          </a:bodyPr>
          <a:lstStyle/>
          <a:p>
            <a:pPr>
              <a:spcAft>
                <a:spcPts val="300"/>
              </a:spcAft>
              <a:defRPr sz="1100" b="0">
                <a:solidFill>
                  <a:srgbClr val="404040"/>
                </a:solidFill>
                <a:latin typeface="Lato"/>
              </a:defRPr>
            </a:pPr>
            <a:r>
              <a:t>Week 1 working assessment, 6 October 2026. Observed data, estimates, conditional cases and illustrations are distinguished. Source gaps and proposed actions remain explicit; governance coverage is not data validation or business approval.</a:t>
            </a:r>
          </a:p>
        </p:txBody>
      </p:sp>
      <p:sp>
        <p:nvSpPr>
          <p:cNvPr id="1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Vopak’s 2026 Liquid Fuels Outlook: target accessible customers in an import-led market</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6"/>
          </p:cNvPr>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11"/>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 = Situation   C = Complication   R = Resolution | Every Henry storyboard prompt has a response on pages 22–24; open items remain open.
Source: Partner SA storyboard; SARS / Stats SA / operator evidence, 6 Oct 2026. Remaining gaps labelled.</a:t>
            </a:r>
          </a:p>
        </p:txBody>
      </p:sp>
      <p:graphicFrame>
        <p:nvGraphicFramePr>
          <p:cNvPr id="47" name="Table 46"/>
          <p:cNvGraphicFramePr>
            <a:graphicFrameLocks noGrp="1"/>
          </p:cNvGraphicFramePr>
          <p:nvPr/>
        </p:nvGraphicFramePr>
        <p:xfrm>
          <a:off x="457200" y="1792223"/>
          <a:ext cx="10652760" cy="4096511"/>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What the evidence shows</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So what / story verdict</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drives imports; sales reports conflict</a:t>
                      </a:r>
                    </a:p>
                    <a:p>
                      <a:pPr>
                        <a:spcAft>
                          <a:spcPts val="0"/>
                        </a:spcAft>
                        <a:defRPr sz="1050">
                          <a:solidFill>
                            <a:srgbClr val="000000"/>
                          </a:solidFill>
                          <a:latin typeface="Lato"/>
                        </a:defRPr>
                      </a:pPr>
                      <a:r>
                        <a:t>2024 net petrol/diesel imports: 13.078 bn L. Production, stocks, sales coverage and port allocation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imports are material.</a:t>
                      </a:r>
                    </a:p>
                    <a:p>
                      <a:pPr>
                        <a:spcAft>
                          <a:spcPts val="0"/>
                        </a:spcAft>
                        <a:defRPr sz="1050">
                          <a:solidFill>
                            <a:srgbClr val="000000"/>
                          </a:solidFill>
                          <a:latin typeface="Lato"/>
                        </a:defRPr>
                      </a:pPr>
                      <a:r>
                        <a:t>Sustained future volumes remain a forecast case; the matched balance is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4</a:t>
                      </a:r>
                      <a:r>
                        <a:rPr sz="1050">
                          <a:solidFill>
                            <a:srgbClr val="0A2373"/>
                          </a:solidFill>
                          <a:latin typeface="Lato"/>
                          <a:hlinkClick r:id="rId6" action="ppaction://hlinksldjump"/>
                        </a:rPr>
                        <a:t> / 7</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sits around Vopak’s footprint</a:t>
                      </a:r>
                    </a:p>
                    <a:p>
                      <a:pPr>
                        <a:spcAft>
                          <a:spcPts val="0"/>
                        </a:spcAft>
                        <a:defRPr sz="1050">
                          <a:solidFill>
                            <a:srgbClr val="000000"/>
                          </a:solidFill>
                          <a:latin typeface="Lato"/>
                        </a:defRPr>
                      </a:pPr>
                      <a:r>
                        <a:t>GP, KZN and WC account for 68.6% of 2022 sales. Historical volumes were broadly steady; later provinces are estimates.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concentrated demand.</a:t>
                      </a:r>
                    </a:p>
                    <a:p>
                      <a:pPr>
                        <a:spcAft>
                          <a:spcPts val="0"/>
                        </a:spcAft>
                        <a:defRPr sz="1050">
                          <a:solidFill>
                            <a:srgbClr val="000000"/>
                          </a:solidFill>
                          <a:latin typeface="Lato"/>
                        </a:defRPr>
                      </a:pPr>
                      <a:r>
                        <a:t>Focus on Gauteng/KZN; sales totals do not establish accessible customers.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5</a:t>
                      </a:r>
                      <a:r>
                        <a:rPr sz="1050">
                          <a:solidFill>
                            <a:srgbClr val="0A2373"/>
                          </a:solidFill>
                          <a:latin typeface="Lato"/>
                          <a:hlinkClick r:id="rId4" action="ppaction://hlinksldjump"/>
                        </a:rPr>
                        <a:t> / 6</a:t>
                      </a:r>
                    </a:p>
                  </a:txBody>
                  <a:tcPr marL="41148" marR="41148" marT="41148" marB="18288" anchor="t">
                    <a:lnB w="7620" cap="flat">
                      <a:solidFill>
                        <a:srgbClr val="EEEEEE"/>
                      </a:solidFill>
                    </a:lnB>
                    <a:solidFill>
                      <a:srgbClr val="FFFFFF"/>
                    </a:solidFill>
                  </a:tcPr>
                </a:tc>
              </a:tr>
              <a:tr h="535577">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drivers differ; L/M/H cases cover all key levers</a:t>
                      </a:r>
                    </a:p>
                    <a:p>
                      <a:pPr>
                        <a:spcAft>
                          <a:spcPts val="0"/>
                        </a:spcAft>
                        <a:defRPr sz="1050">
                          <a:solidFill>
                            <a:srgbClr val="000000"/>
                          </a:solidFill>
                          <a:latin typeface="Lato"/>
                        </a:defRPr>
                      </a:pPr>
                      <a:r>
                        <a:t>Power, freight, fleet, prices, supply and customer access need explicit assumptions; fuel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Partly supported: diesel generation has fallen.</a:t>
                      </a:r>
                    </a:p>
                    <a:p>
                      <a:pPr>
                        <a:spcAft>
                          <a:spcPts val="0"/>
                        </a:spcAft>
                        <a:defRPr sz="1050">
                          <a:solidFill>
                            <a:srgbClr val="000000"/>
                          </a:solidFill>
                          <a:latin typeface="Lato"/>
                        </a:defRPr>
                      </a:pPr>
                      <a:r>
                        <a:t>Baseline, ample and tight worlds still need sourced assumptions and tested fuel/customer-volume effects.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8</a:t>
                      </a:r>
                      <a:r>
                        <a:rPr sz="1050">
                          <a:solidFill>
                            <a:srgbClr val="0A2373"/>
                          </a:solidFill>
                          <a:latin typeface="Lato"/>
                          <a:hlinkClick r:id="rId18" action="ppaction://hlinksldjump"/>
                        </a:rPr>
                        <a:t> / 10</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Supply change makes import needs conditional</a:t>
                      </a:r>
                    </a:p>
                    <a:p>
                      <a:pPr>
                        <a:spcAft>
                          <a:spcPts val="0"/>
                        </a:spcAft>
                        <a:defRPr sz="1050" b="0">
                          <a:solidFill>
                            <a:srgbClr val="000000"/>
                          </a:solidFill>
                          <a:latin typeface="Lato"/>
                        </a:defRPr>
                      </a:pPr>
                      <a:r>
                        <a:t>Capacity has declined; redevelopment is conditional. Secunda/Natref product output and future cases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refining capacity fell.</a:t>
                      </a:r>
                    </a:p>
                    <a:p>
                      <a:pPr>
                        <a:spcAft>
                          <a:spcPts val="0"/>
                        </a:spcAft>
                        <a:defRPr sz="1050">
                          <a:solidFill>
                            <a:srgbClr val="000000"/>
                          </a:solidFill>
                          <a:latin typeface="Lato"/>
                        </a:defRPr>
                      </a:pPr>
                      <a:r>
                        <a:t>Plant futures are conditional; capacity alone does not determine imports.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9</a:t>
                      </a:r>
                      <a:r>
                        <a:rPr sz="1050">
                          <a:solidFill>
                            <a:srgbClr val="0A2373"/>
                          </a:solidFill>
                          <a:latin typeface="Lato"/>
                          <a:hlinkClick r:id="rId18" action="ppaction://hlinksldjump"/>
                        </a:rPr>
                        <a:t> / 10</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Alternative gateways challenge the same inland market</a:t>
                      </a:r>
                    </a:p>
                    <a:p>
                      <a:pPr>
                        <a:spcAft>
                          <a:spcPts val="0"/>
                        </a:spcAft>
                        <a:defRPr sz="1050" b="0">
                          <a:solidFill>
                            <a:srgbClr val="000000"/>
                          </a:solidFill>
                          <a:latin typeface="Lato"/>
                        </a:defRPr>
                      </a:pPr>
                      <a:r>
                        <a:t>Matola and Walvis Bay have storage; their competitiveness depends on full costs, route capacity and access.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Open: gateway competition.</a:t>
                      </a:r>
                    </a:p>
                    <a:p>
                      <a:pPr>
                        <a:spcAft>
                          <a:spcPts val="0"/>
                        </a:spcAft>
                        <a:defRPr sz="1050">
                          <a:solidFill>
                            <a:srgbClr val="000000"/>
                          </a:solidFill>
                          <a:latin typeface="Lato"/>
                        </a:defRPr>
                      </a:pPr>
                      <a:r>
                        <a:t>No route winner without comparable cost, service and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11</a:t>
                      </a:r>
                      <a:r>
                        <a:rPr sz="1050">
                          <a:solidFill>
                            <a:srgbClr val="0A2373"/>
                          </a:solidFill>
                          <a:latin typeface="Lato"/>
                          <a:hlinkClick r:id="rId10" action="ppaction://hlinksldjump"/>
                        </a:rPr>
                        <a:t> / 12</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defRPr sz="1050">
                          <a:solidFill>
                            <a:srgbClr val="000000"/>
                          </a:solidFill>
                          <a:latin typeface="Lato"/>
                        </a:defRPr>
                      </a:pPr>
                      <a:r>
                        <a:t>Footprint → unique deliveries → opportunity → handling</a:t>
                      </a:r>
                    </a:p>
                    <a:p>
                      <a:pPr>
                        <a:defRPr sz="1050">
                          <a:solidFill>
                            <a:srgbClr val="000000"/>
                          </a:solidFill>
                          <a:latin typeface="Lato"/>
                        </a:defRPr>
                      </a:pPr>
                      <a:r>
                        <a:t>Anchor Durban/Lesedi, remove shared transfers, screen customers and test annual handling.</a:t>
                      </a:r>
                    </a:p>
                  </a:txBody>
                  <a:tcPr marL="41148" marR="41148" marT="41148" marB="18288" anchor="t">
                    <a:lnB w="7620" cap="flat">
                      <a:solidFill>
                        <a:srgbClr val="EEEEEE"/>
                      </a:solidFill>
                    </a:lnB>
                    <a:solidFill>
                      <a:srgbClr val="FFFFFF"/>
                    </a:solidFill>
                  </a:tcPr>
                </a:tc>
                <a:tc>
                  <a:txBody>
                    <a:bodyPr/>
                    <a:lstStyle/>
                    <a:p>
                      <a:pPr>
                        <a:defRPr sz="1050">
                          <a:solidFill>
                            <a:srgbClr val="000000"/>
                          </a:solidFill>
                          <a:latin typeface="Lato"/>
                        </a:defRPr>
                      </a:pPr>
                      <a:r>
                        <a:t>Prioritise accessible customer flows.</a:t>
                      </a:r>
                    </a:p>
                    <a:p>
                      <a:pPr>
                        <a:defRPr sz="1050">
                          <a:solidFill>
                            <a:srgbClr val="000000"/>
                          </a:solidFill>
                          <a:latin typeface="Lato"/>
                        </a:defRPr>
                      </a:pPr>
                      <a:r>
                        <a:t>Verify usable fuel space, cost/service, rights and unique deliveries before claiming share.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13</a:t>
                      </a:r>
                      <a:r>
                        <a:rPr sz="1050">
                          <a:solidFill>
                            <a:srgbClr val="0A2373"/>
                          </a:solidFill>
                          <a:latin typeface="Lato"/>
                          <a:hlinkClick r:id="rId11" action="ppaction://hlinksldjump"/>
                        </a:rPr>
                        <a:t> / 14</a:t>
                      </a:r>
                      <a:r>
                        <a:rPr sz="1050">
                          <a:solidFill>
                            <a:srgbClr val="0A2373"/>
                          </a:solidFill>
                          <a:latin typeface="Lato"/>
                          <a:hlinkClick r:id="rId13" action="ppaction://hlinksldjump"/>
                        </a:rPr>
                        <a:t> / 15</a:t>
                      </a:r>
                      <a:r>
                        <a:rPr sz="1050">
                          <a:solidFill>
                            <a:srgbClr val="0A2373"/>
                          </a:solidFill>
                          <a:latin typeface="Lato"/>
                          <a:hlinkClick r:id="rId12" action="ppaction://hlinksldjump"/>
                        </a:rPr>
                        <a:t> / 16</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Working stock → outlook → delivery gates</a:t>
                      </a:r>
                    </a:p>
                    <a:p>
                      <a:pPr>
                        <a:spcAft>
                          <a:spcPts val="0"/>
                        </a:spcAft>
                        <a:defRPr sz="1050">
                          <a:solidFill>
                            <a:srgbClr val="000000"/>
                          </a:solidFill>
                          <a:latin typeface="Lato"/>
                        </a:defRPr>
                      </a:pPr>
                      <a:r>
                        <a:t>The 5.5 bn L/year example needs 211,000 m³ at 14 days; test usable spare space before adding tanks.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Conditional: secure customer flows first.</a:t>
                      </a:r>
                    </a:p>
                    <a:p>
                      <a:pPr>
                        <a:spcAft>
                          <a:spcPts val="0"/>
                        </a:spcAft>
                        <a:defRPr sz="1050">
                          <a:solidFill>
                            <a:srgbClr val="000000"/>
                          </a:solidFill>
                          <a:latin typeface="Lato"/>
                        </a:defRPr>
                      </a:pPr>
                      <a:r>
                        <a:t>Use existing assets; validate a capacity gap, then test investment.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5" action="ppaction://hlinksldjump"/>
                        </a:rPr>
                        <a:t>17</a:t>
                      </a:r>
                      <a:r>
                        <a:rPr sz="1050">
                          <a:solidFill>
                            <a:srgbClr val="0A2373"/>
                          </a:solidFill>
                          <a:latin typeface="Lato"/>
                          <a:hlinkClick r:id="rId17" action="ppaction://hlinksldjump"/>
                        </a:rPr>
                        <a:t> / 18</a:t>
                      </a:r>
                      <a:r>
                        <a:rPr sz="1050">
                          <a:solidFill>
                            <a:srgbClr val="0A2373"/>
                          </a:solidFill>
                          <a:latin typeface="Lato"/>
                          <a:hlinkClick r:id="rId19" action="ppaction://hlinksldjump"/>
                        </a:rPr>
                        <a:t> / 19</a:t>
                      </a:r>
                    </a:p>
                  </a:txBody>
                  <a:tcPr marL="41148" marR="41148" marT="41148" marB="18288" anchor="t">
                    <a:lnB w="7620" cap="flat">
                      <a:solidFill>
                        <a:srgbClr val="EEEEEE"/>
                      </a:solidFill>
                    </a:lnB>
                    <a:solidFill>
                      <a:srgbClr val="FFFFFF"/>
                    </a:solidFill>
                  </a:tcPr>
                </a:tc>
              </a:tr>
            </a:tbl>
          </a:graphicData>
        </a:graphic>
      </p:graphicFrame>
      <p:sp>
        <p:nvSpPr>
          <p:cNvPr id="48" name="SCR pill 1"/>
          <p:cNvSpPr/>
          <p:nvPr/>
        </p:nvSpPr>
        <p:spPr>
          <a:xfrm>
            <a:off x="1687068" y="220827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S1</a:t>
            </a:r>
          </a:p>
        </p:txBody>
      </p:sp>
      <p:sp>
        <p:nvSpPr>
          <p:cNvPr id="49" name="SCR pill 2"/>
          <p:cNvSpPr/>
          <p:nvPr/>
        </p:nvSpPr>
        <p:spPr>
          <a:xfrm>
            <a:off x="1687068" y="2743853"/>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S2</a:t>
            </a:r>
          </a:p>
        </p:txBody>
      </p:sp>
      <p:sp>
        <p:nvSpPr>
          <p:cNvPr id="50" name="SCR pill 3"/>
          <p:cNvSpPr/>
          <p:nvPr/>
        </p:nvSpPr>
        <p:spPr>
          <a:xfrm>
            <a:off x="1687068" y="327943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S/C3</a:t>
            </a:r>
          </a:p>
        </p:txBody>
      </p:sp>
      <p:sp>
        <p:nvSpPr>
          <p:cNvPr id="51" name="SCR pill 4"/>
          <p:cNvSpPr/>
          <p:nvPr/>
        </p:nvSpPr>
        <p:spPr>
          <a:xfrm>
            <a:off x="1687068" y="3815007"/>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C4</a:t>
            </a:r>
          </a:p>
        </p:txBody>
      </p:sp>
      <p:sp>
        <p:nvSpPr>
          <p:cNvPr id="52" name="SCR pill 5"/>
          <p:cNvSpPr/>
          <p:nvPr/>
        </p:nvSpPr>
        <p:spPr>
          <a:xfrm>
            <a:off x="1687068" y="435058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C5</a:t>
            </a:r>
          </a:p>
        </p:txBody>
      </p:sp>
      <p:sp>
        <p:nvSpPr>
          <p:cNvPr id="53" name="SCR pill 6"/>
          <p:cNvSpPr/>
          <p:nvPr/>
        </p:nvSpPr>
        <p:spPr>
          <a:xfrm>
            <a:off x="1687068" y="4886161"/>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R6</a:t>
            </a:r>
          </a:p>
        </p:txBody>
      </p:sp>
      <p:sp>
        <p:nvSpPr>
          <p:cNvPr id="54" name="SCR pill 7"/>
          <p:cNvSpPr/>
          <p:nvPr/>
        </p:nvSpPr>
        <p:spPr>
          <a:xfrm>
            <a:off x="1687068" y="542173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R7</a:t>
            </a:r>
          </a:p>
        </p:txBody>
      </p:sp>
      <p:sp>
        <p:nvSpPr>
          <p:cNvPr id="5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S1. Use diesel-led imports as the trade baseline; reconcile 2024 sales before forecasting</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Reported sales (proxy)</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Reported sales are a consumption proxy; production and stock changes are missing.</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Diesel imports 10.793 bn L.</a:t>
            </a:r>
          </a:p>
          <a:p>
            <a:pPr>
              <a:spcAft>
                <a:spcPts val="300"/>
              </a:spcAft>
              <a:defRPr sz="1150" b="0">
                <a:solidFill>
                  <a:srgbClr val="000000"/>
                </a:solidFill>
                <a:latin typeface="Lato"/>
              </a:defRPr>
            </a:pPr>
            <a:r>
              <a:rPr>
                <a:solidFill/>
              </a:rPr>
              <a:t>Government rounds to 10.800; FIASA 14.793.</a:t>
            </a:r>
          </a:p>
          <a:p>
            <a:pPr>
              <a:spcAft>
                <a:spcPts val="300"/>
              </a:spcAft>
              <a:defRPr sz="1150" b="0">
                <a:solidFill>
                  <a:srgbClr val="000000"/>
                </a:solidFill>
                <a:latin typeface="Lato"/>
              </a:defRPr>
            </a:pPr>
            <a:r>
              <a:rPr>
                <a:solidFill/>
              </a:rP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Sales less net imports = 7.685 bn L.</a:t>
            </a:r>
          </a:p>
          <a:p>
            <a:pPr>
              <a:spcAft>
                <a:spcPts val="300"/>
              </a:spcAft>
              <a:defRPr sz="1150" b="0">
                <a:solidFill>
                  <a:srgbClr val="000000"/>
                </a:solidFill>
                <a:latin typeface="Lato"/>
              </a:defRPr>
            </a:pPr>
            <a:r>
              <a:rPr>
                <a:solidFill/>
              </a:rPr>
              <a:t>Balancing requirement, not production.</a:t>
            </a:r>
          </a:p>
          <a:p>
            <a:pPr>
              <a:spcAft>
                <a:spcPts val="300"/>
              </a:spcAft>
              <a:defRPr sz="1150" b="0">
                <a:solidFill>
                  <a:srgbClr val="000000"/>
                </a:solidFill>
                <a:latin typeface="Lato"/>
              </a:defRPr>
            </a:pPr>
            <a:r>
              <a:rPr>
                <a:solidFill/>
              </a:rPr>
              <a:t>Production, stocks and coverage unresolved.</a:t>
            </a:r>
          </a:p>
        </p:txBody>
      </p:sp>
      <p:sp>
        <p:nvSpPr>
          <p:cNvPr id="6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72" name="TextBox 71"/>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73" name="Connector 72"/>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Use customs for the trade baseline</a:t>
            </a:r>
          </a:p>
        </p:txBody>
      </p:sp>
      <p:sp>
        <p:nvSpPr>
          <p:cNvPr id="75" name="TextBox 74"/>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SARS records 10.793 bn litres of diesel imports and 0.796 of exports in 2024: net imports of 9.997 bn litres.</a:t>
            </a:r>
          </a:p>
        </p:txBody>
      </p:sp>
      <p:sp>
        <p:nvSpPr>
          <p:cNvPr id="76" name="TextBox 75"/>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Reconcile the sales proxy</a:t>
            </a:r>
          </a:p>
        </p:txBody>
      </p:sp>
      <p:sp>
        <p:nvSpPr>
          <p:cNvPr id="77" name="TextBox 76"/>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FIASA reports 20.763 bn litres of petrol/diesel sales. Editions conflict; this is an unverified consumption proxy.</a:t>
            </a:r>
          </a:p>
        </p:txBody>
      </p:sp>
      <p:sp>
        <p:nvSpPr>
          <p:cNvPr id="78" name="TextBox 77"/>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Do not call the residual production</a:t>
            </a:r>
          </a:p>
        </p:txBody>
      </p:sp>
      <p:sp>
        <p:nvSpPr>
          <p:cNvPr id="79" name="TextBox 78"/>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Sales less net imports leaves 7.685 bn litres. Production, stock changes and coverage must explain that residual.</a:t>
            </a:r>
          </a:p>
        </p:txBody>
      </p:sp>
      <p:cxnSp>
        <p:nvCxnSpPr>
          <p:cNvPr id="80" name="Connector 79"/>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82" name="TextBox 81"/>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match production, trade and stocks by product/year. Nigel: agree the sales source before forecasting.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S2. Target Gauteng and KZN first; three provinces account for 69% of reported fuel sales</a:t>
            </a:r>
          </a:p>
        </p:txBody>
      </p:sp>
      <p:sp>
        <p:nvSpPr>
          <p:cNvPr id="3" name="Slide Number Placeholder"/>
          <p:cNvSpPr>
            <a:spLocks noGrp="1"/>
          </p:cNvSpPr>
          <p:nvPr>
            <p:ph type="sldNum" sz="quarter" idx="12"/>
          </p:nvPr>
        </p:nvSpPr>
        <p:spPr/>
        <p:txBody>
          <a:bodyPr/>
          <a:lstStyle/>
          <a:p>
            <a:fld id="{ED4E7834-BFB9-4BA5-8B3E-452ADAE8E1BC}"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Provincial totals, not density. Operator footprint on p13; handling on p16. Jet excluded.
Source: DMPR 2022 sales; geoBoundaries/OCHA/MDB 2020 provinces; operator inventory and evidence in notes.</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7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80"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1"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2"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3"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4"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5"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6"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7"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8"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9"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0"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1"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2"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3"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4"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5"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6"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7"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EC</a:t>
            </a:r>
          </a:p>
          <a:p>
            <a:pPr>
              <a:spcAft>
                <a:spcPts val="300"/>
              </a:spcAft>
              <a:defRPr sz="900" b="0">
                <a:solidFill>
                  <a:srgbClr val="404040"/>
                </a:solidFill>
                <a:latin typeface="Lato"/>
              </a:defRPr>
            </a:pPr>
            <a:r>
              <a:rPr>
                <a:solidFill/>
              </a:rP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FS</a:t>
            </a:r>
          </a:p>
          <a:p>
            <a:pPr>
              <a:spcAft>
                <a:spcPts val="300"/>
              </a:spcAft>
              <a:defRPr sz="900" b="0">
                <a:solidFill>
                  <a:srgbClr val="404040"/>
                </a:solidFill>
                <a:latin typeface="Lato"/>
              </a:defRPr>
            </a:pPr>
            <a:r>
              <a:rPr>
                <a:solidFill/>
              </a:rP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GP</a:t>
            </a:r>
          </a:p>
          <a:p>
            <a:pPr>
              <a:spcAft>
                <a:spcPts val="300"/>
              </a:spcAft>
              <a:defRPr sz="900" b="0">
                <a:solidFill>
                  <a:srgbClr val="404040"/>
                </a:solidFill>
                <a:latin typeface="Lato"/>
              </a:defRPr>
            </a:pPr>
            <a:r>
              <a:rPr>
                <a:solidFill/>
              </a:rP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0">
                <a:solidFill>
                  <a:srgbClr val="FFFFFF"/>
                </a:solidFill>
                <a:latin typeface="Lato"/>
              </a:defRPr>
            </a:pPr>
            <a:r>
              <a:rPr>
                <a:solidFill/>
              </a:rPr>
              <a:t>KZN</a:t>
            </a:r>
          </a:p>
          <a:p>
            <a:pPr>
              <a:spcAft>
                <a:spcPts val="300"/>
              </a:spcAft>
              <a:defRPr sz="900" b="0">
                <a:solidFill>
                  <a:srgbClr val="FFFFFF"/>
                </a:solidFill>
                <a:latin typeface="Lato"/>
              </a:defRPr>
            </a:pPr>
            <a:r>
              <a:rPr>
                <a:solidFill/>
              </a:rP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LP</a:t>
            </a:r>
          </a:p>
          <a:p>
            <a:pPr>
              <a:spcAft>
                <a:spcPts val="300"/>
              </a:spcAft>
              <a:defRPr sz="900" b="0">
                <a:solidFill>
                  <a:srgbClr val="404040"/>
                </a:solidFill>
                <a:latin typeface="Lato"/>
              </a:defRPr>
            </a:pPr>
            <a:r>
              <a:rPr>
                <a:solidFill/>
              </a:rP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MP</a:t>
            </a:r>
          </a:p>
          <a:p>
            <a:pPr>
              <a:spcAft>
                <a:spcPts val="300"/>
              </a:spcAft>
              <a:defRPr sz="900" b="0">
                <a:solidFill>
                  <a:srgbClr val="404040"/>
                </a:solidFill>
                <a:latin typeface="Lato"/>
              </a:defRPr>
            </a:pPr>
            <a:r>
              <a:rPr>
                <a:solidFill/>
              </a:rP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NW</a:t>
            </a:r>
          </a:p>
          <a:p>
            <a:pPr>
              <a:spcAft>
                <a:spcPts val="300"/>
              </a:spcAft>
              <a:defRPr sz="900" b="0">
                <a:solidFill>
                  <a:srgbClr val="404040"/>
                </a:solidFill>
                <a:latin typeface="Lato"/>
              </a:defRPr>
            </a:pPr>
            <a:r>
              <a:rPr>
                <a:solidFill/>
              </a:rP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NC</a:t>
            </a:r>
          </a:p>
          <a:p>
            <a:pPr>
              <a:spcAft>
                <a:spcPts val="300"/>
              </a:spcAft>
              <a:defRPr sz="900" b="0">
                <a:solidFill>
                  <a:srgbClr val="404040"/>
                </a:solidFill>
                <a:latin typeface="Lato"/>
              </a:defRPr>
            </a:pPr>
            <a:r>
              <a:rPr>
                <a:solidFill/>
              </a:rP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WC</a:t>
            </a:r>
          </a:p>
          <a:p>
            <a:pPr>
              <a:spcAft>
                <a:spcPts val="300"/>
              </a:spcAft>
              <a:defRPr sz="900" b="0">
                <a:solidFill>
                  <a:srgbClr val="404040"/>
                </a:solidFill>
                <a:latin typeface="Lato"/>
              </a:defRPr>
            </a:pPr>
            <a:r>
              <a:rPr>
                <a:solidFill/>
              </a:rP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rPr>
                <a:solidFill/>
              </a:rPr>
              <a:t>Lines: road / pipe / rail; heavy outlines: working regions</a:t>
            </a:r>
          </a:p>
        </p:txBody>
      </p:sp>
      <p:sp>
        <p:nvSpPr>
          <p:cNvPr id="569"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0"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71"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57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598" name="TextBox 597"/>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599" name="Connector 598"/>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00" name="TextBox 599"/>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Concentrate the first customer tests</a:t>
            </a:r>
          </a:p>
        </p:txBody>
      </p:sp>
      <p:sp>
        <p:nvSpPr>
          <p:cNvPr id="601" name="TextBox 600"/>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Gauteng, KZN and Western Cape hold 68.6% of reported 2022 sales. Vopak sites sit in the top two provinces.</a:t>
            </a:r>
          </a:p>
        </p:txBody>
      </p:sp>
      <p:sp>
        <p:nvSpPr>
          <p:cNvPr id="602" name="TextBox 601"/>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Use consistent reporting regions</a:t>
            </a:r>
          </a:p>
        </p:txBody>
      </p:sp>
      <p:sp>
        <p:nvSpPr>
          <p:cNvPr id="603" name="TextBox 602"/>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Eastern: EC/KZN. Inland: GP/FS/LP/MP/NW. Western: WC. Other: NC. These groups align the demand and storage tests.</a:t>
            </a:r>
          </a:p>
        </p:txBody>
      </p:sp>
      <p:sp>
        <p:nvSpPr>
          <p:cNvPr id="604" name="TextBox 603"/>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Establish access customer by customer</a:t>
            </a:r>
          </a:p>
        </p:txBody>
      </p:sp>
      <p:sp>
        <p:nvSpPr>
          <p:cNvPr id="605" name="TextBox 604"/>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Provincial sales locate the market; they do not prove terminal reach, customer rights or Vopak deliveries.</a:t>
            </a:r>
          </a:p>
        </p:txBody>
      </p:sp>
      <p:cxnSp>
        <p:nvCxnSpPr>
          <p:cNvPr id="606" name="Connector 605"/>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07" name="TextBox 606"/>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608" name="TextBox 607"/>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select Durban/Lesedi customer destinations. Manish: retain observed 2022 sales and label later estimates.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S2. Anchor demand cases in broadly steady pre-2023 sales; keep later estimates separate</a:t>
            </a:r>
          </a:p>
        </p:txBody>
      </p:sp>
      <p:sp>
        <p:nvSpPr>
          <p:cNvPr id="3" name="Slide Number Placeholder"/>
          <p:cNvSpPr>
            <a:spLocks noGrp="1"/>
          </p:cNvSpPr>
          <p:nvPr>
            <p:ph type="sldNum" sz="quarter" idx="12"/>
          </p:nvPr>
        </p:nvSpPr>
        <p:spPr/>
        <p:txBody>
          <a:bodyPr/>
          <a:lstStyle/>
          <a:p>
            <a:fld id="{200F53F2-6728-429F-8198-3E32C95DB05B}"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24728"/>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Gauteng</a:t>
            </a:r>
          </a:p>
        </p:txBody>
      </p:sp>
      <p:cxnSp>
        <p:nvCxnSpPr>
          <p:cNvPr id="25" name="Connector 24"/>
          <p:cNvCxnSpPr/>
          <p:nvPr/>
        </p:nvCxnSpPr>
        <p:spPr>
          <a:xfrm>
            <a:off x="2606039" y="5824728"/>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KwaZulu-Natal</a:t>
            </a:r>
          </a:p>
        </p:txBody>
      </p:sp>
      <p:cxnSp>
        <p:nvCxnSpPr>
          <p:cNvPr id="27" name="Connector 26"/>
          <p:cNvCxnSpPr/>
          <p:nvPr/>
        </p:nvCxnSpPr>
        <p:spPr>
          <a:xfrm>
            <a:off x="4709159" y="5824728"/>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Western Cape</a:t>
            </a:r>
          </a:p>
        </p:txBody>
      </p:sp>
      <p:cxnSp>
        <p:nvCxnSpPr>
          <p:cNvPr id="29" name="Connector 28"/>
          <p:cNvCxnSpPr/>
          <p:nvPr/>
        </p:nvCxnSpPr>
        <p:spPr>
          <a:xfrm>
            <a:off x="502920" y="6035040"/>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Mpumalanga</a:t>
            </a:r>
          </a:p>
        </p:txBody>
      </p:sp>
      <p:cxnSp>
        <p:nvCxnSpPr>
          <p:cNvPr id="31" name="Connector 30"/>
          <p:cNvCxnSpPr/>
          <p:nvPr/>
        </p:nvCxnSpPr>
        <p:spPr>
          <a:xfrm>
            <a:off x="2606039" y="6035040"/>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Eastern Cape</a:t>
            </a:r>
          </a:p>
        </p:txBody>
      </p:sp>
      <p:cxnSp>
        <p:nvCxnSpPr>
          <p:cNvPr id="33" name="Connector 32"/>
          <p:cNvCxnSpPr/>
          <p:nvPr/>
        </p:nvCxnSpPr>
        <p:spPr>
          <a:xfrm>
            <a:off x="4709159" y="6035040"/>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Free State</a:t>
            </a:r>
          </a:p>
        </p:txBody>
      </p:sp>
      <p:cxnSp>
        <p:nvCxnSpPr>
          <p:cNvPr id="35" name="Connector 34"/>
          <p:cNvCxnSpPr/>
          <p:nvPr/>
        </p:nvCxnSpPr>
        <p:spPr>
          <a:xfrm>
            <a:off x="502920" y="6245352"/>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North West</a:t>
            </a:r>
          </a:p>
        </p:txBody>
      </p:sp>
      <p:cxnSp>
        <p:nvCxnSpPr>
          <p:cNvPr id="37" name="Connector 36"/>
          <p:cNvCxnSpPr/>
          <p:nvPr/>
        </p:nvCxnSpPr>
        <p:spPr>
          <a:xfrm>
            <a:off x="2606039" y="6245352"/>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Limpopo</a:t>
            </a:r>
          </a:p>
        </p:txBody>
      </p:sp>
      <p:cxnSp>
        <p:nvCxnSpPr>
          <p:cNvPr id="39" name="Connector 38"/>
          <p:cNvCxnSpPr/>
          <p:nvPr/>
        </p:nvCxnSpPr>
        <p:spPr>
          <a:xfrm>
            <a:off x="4709159" y="6245352"/>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Northern Cape</a:t>
            </a:r>
          </a:p>
        </p:txBody>
      </p:sp>
      <p:sp>
        <p:nvSpPr>
          <p:cNvPr id="6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69" name="TextBox 68"/>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70" name="Connector 69"/>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Start with the observed pattern</a:t>
            </a:r>
          </a:p>
        </p:txBody>
      </p:sp>
      <p:sp>
        <p:nvSpPr>
          <p:cNvPr id="72" name="TextBox 71"/>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Gauteng remains the largest province through 2013–2022. Volumes were broadly steady, with a clear pandemic dip.</a:t>
            </a:r>
          </a:p>
        </p:txBody>
      </p:sp>
      <p:sp>
        <p:nvSpPr>
          <p:cNvPr id="73" name="TextBox 72"/>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Keep 2024 estimates separate</a:t>
            </a:r>
          </a:p>
        </p:txBody>
      </p:sp>
      <p:sp>
        <p:nvSpPr>
          <p:cNvPr id="74" name="TextBox 73"/>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Petrol estimates hold 2022 shares: GP 3.47, KZN 1.47 and WC 1.41 bn litres. These are not observed provincial sales.</a:t>
            </a:r>
          </a:p>
        </p:txBody>
      </p:sp>
      <p:sp>
        <p:nvSpPr>
          <p:cNvPr id="75" name="TextBox 74"/>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Resolve the remaining source choices</a:t>
            </a:r>
          </a:p>
        </p:txBody>
      </p:sp>
      <p:sp>
        <p:nvSpPr>
          <p:cNvPr id="76" name="TextBox 75"/>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fixed the 2013 parser and traced 2015 to a revision. The 2014 conflict and incomplete 2018 coverage still need decisions.</a:t>
            </a:r>
          </a:p>
        </p:txBody>
      </p:sp>
      <p:cxnSp>
        <p:nvCxnSpPr>
          <p:cNvPr id="77" name="Connector 76"/>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79" name="TextBox 78"/>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close the source choices. Nigel: decide whether held-share petrol estimates support the outlook; test diesel separately.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S1. Reconcile national supply before assigning imports to provincial demand</a:t>
            </a:r>
          </a:p>
        </p:txBody>
      </p:sp>
      <p:sp>
        <p:nvSpPr>
          <p:cNvPr id="3" name="Slide Number Placeholder"/>
          <p:cNvSpPr>
            <a:spLocks noGrp="1"/>
          </p:cNvSpPr>
          <p:nvPr>
            <p:ph type="sldNum" sz="quarter" idx="12"/>
          </p:nvPr>
        </p:nvSpPr>
        <p:spPr/>
        <p:txBody>
          <a:bodyPr/>
          <a:lstStyle/>
          <a:p>
            <a:fld id="{A625E636-5FD9-4C81-B354-7C64E11C700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8</a:t>
            </a:r>
          </a:p>
        </p:txBody>
      </p:sp>
      <p:sp>
        <p:nvSpPr>
          <p:cNvPr id="32" name="TextBox 31"/>
          <p:cNvSpPr txBox="1"/>
          <p:nvPr/>
        </p:nvSpPr>
        <p:spPr>
          <a:xfrm>
            <a:off x="457200" y="2606039"/>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5" name="TextBox 34"/>
          <p:cNvSpPr txBox="1"/>
          <p:nvPr/>
        </p:nvSpPr>
        <p:spPr>
          <a:xfrm>
            <a:off x="5674454" y="2596896"/>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6.81</a:t>
            </a:r>
          </a:p>
        </p:txBody>
      </p:sp>
      <p:sp>
        <p:nvSpPr>
          <p:cNvPr id="36" name="TextBox 35"/>
          <p:cNvSpPr txBox="1"/>
          <p:nvPr/>
        </p:nvSpPr>
        <p:spPr>
          <a:xfrm>
            <a:off x="457200" y="2916935"/>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9" name="TextBox 38"/>
          <p:cNvSpPr txBox="1"/>
          <p:nvPr/>
        </p:nvSpPr>
        <p:spPr>
          <a:xfrm>
            <a:off x="4289172" y="2907791"/>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4.28</a:t>
            </a:r>
          </a:p>
        </p:txBody>
      </p:sp>
      <p:sp>
        <p:nvSpPr>
          <p:cNvPr id="40" name="TextBox 39"/>
          <p:cNvSpPr txBox="1"/>
          <p:nvPr/>
        </p:nvSpPr>
        <p:spPr>
          <a:xfrm>
            <a:off x="457200" y="3227832"/>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3" name="TextBox 42"/>
          <p:cNvSpPr txBox="1"/>
          <p:nvPr/>
        </p:nvSpPr>
        <p:spPr>
          <a:xfrm>
            <a:off x="4095108" y="3218688"/>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3.93</a:t>
            </a:r>
          </a:p>
        </p:txBody>
      </p:sp>
      <p:sp>
        <p:nvSpPr>
          <p:cNvPr id="44" name="TextBox 43"/>
          <p:cNvSpPr txBox="1"/>
          <p:nvPr/>
        </p:nvSpPr>
        <p:spPr>
          <a:xfrm>
            <a:off x="457200" y="3538727"/>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7" name="TextBox 46"/>
          <p:cNvSpPr txBox="1"/>
          <p:nvPr/>
        </p:nvSpPr>
        <p:spPr>
          <a:xfrm>
            <a:off x="2902592" y="3529584"/>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1.76</a:t>
            </a:r>
          </a:p>
        </p:txBody>
      </p:sp>
      <p:sp>
        <p:nvSpPr>
          <p:cNvPr id="48" name="TextBox 47"/>
          <p:cNvSpPr txBox="1"/>
          <p:nvPr/>
        </p:nvSpPr>
        <p:spPr>
          <a:xfrm>
            <a:off x="457200" y="3849624"/>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1" name="TextBox 50"/>
          <p:cNvSpPr txBox="1"/>
          <p:nvPr/>
        </p:nvSpPr>
        <p:spPr>
          <a:xfrm>
            <a:off x="2890684" y="3840480"/>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1.74</a:t>
            </a:r>
          </a:p>
        </p:txBody>
      </p:sp>
      <p:sp>
        <p:nvSpPr>
          <p:cNvPr id="52" name="TextBox 51"/>
          <p:cNvSpPr txBox="1"/>
          <p:nvPr/>
        </p:nvSpPr>
        <p:spPr>
          <a:xfrm>
            <a:off x="457200" y="4160520"/>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5" name="TextBox 54"/>
          <p:cNvSpPr txBox="1"/>
          <p:nvPr/>
        </p:nvSpPr>
        <p:spPr>
          <a:xfrm>
            <a:off x="2689791" y="4151376"/>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1.37</a:t>
            </a:r>
          </a:p>
        </p:txBody>
      </p:sp>
      <p:sp>
        <p:nvSpPr>
          <p:cNvPr id="56" name="TextBox 55"/>
          <p:cNvSpPr txBox="1"/>
          <p:nvPr/>
        </p:nvSpPr>
        <p:spPr>
          <a:xfrm>
            <a:off x="457200" y="4471416"/>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9" name="TextBox 58"/>
          <p:cNvSpPr txBox="1"/>
          <p:nvPr/>
        </p:nvSpPr>
        <p:spPr>
          <a:xfrm>
            <a:off x="2524509" y="4462272"/>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1.07</a:t>
            </a:r>
          </a:p>
        </p:txBody>
      </p:sp>
      <p:sp>
        <p:nvSpPr>
          <p:cNvPr id="60" name="TextBox 59"/>
          <p:cNvSpPr txBox="1"/>
          <p:nvPr/>
        </p:nvSpPr>
        <p:spPr>
          <a:xfrm>
            <a:off x="457200" y="4782312"/>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3" name="TextBox 62"/>
          <p:cNvSpPr txBox="1"/>
          <p:nvPr/>
        </p:nvSpPr>
        <p:spPr>
          <a:xfrm>
            <a:off x="2210451" y="4773168"/>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0.50</a:t>
            </a:r>
          </a:p>
        </p:txBody>
      </p:sp>
      <p:sp>
        <p:nvSpPr>
          <p:cNvPr id="64" name="TextBox 63"/>
          <p:cNvSpPr txBox="1"/>
          <p:nvPr/>
        </p:nvSpPr>
        <p:spPr>
          <a:xfrm>
            <a:off x="457200" y="5093208"/>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7" name="TextBox 66"/>
          <p:cNvSpPr txBox="1"/>
          <p:nvPr/>
        </p:nvSpPr>
        <p:spPr>
          <a:xfrm>
            <a:off x="2186409" y="5084064"/>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9" name="TextBox 68"/>
          <p:cNvSpPr txBox="1"/>
          <p:nvPr/>
        </p:nvSpPr>
        <p:spPr>
          <a:xfrm>
            <a:off x="621792" y="5669280"/>
            <a:ext cx="3200400" cy="246888"/>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71" name="TextBox 70"/>
          <p:cNvSpPr txBox="1"/>
          <p:nvPr/>
        </p:nvSpPr>
        <p:spPr>
          <a:xfrm>
            <a:off x="3410712" y="5669280"/>
            <a:ext cx="3200400" cy="246888"/>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noAutofit/>
          </a:bodyPr>
          <a:lstStyle/>
          <a:p>
            <a:pPr>
              <a:spcAft>
                <a:spcPts val="300"/>
              </a:spcAft>
              <a:defRPr sz="900" b="0">
                <a:solidFill>
                  <a:srgbClr val="404040"/>
                </a:solidFill>
                <a:latin typeface="Lato"/>
              </a:defRPr>
            </a:pPr>
            <a:r>
              <a:rPr sz="900">
                <a:solidFill/>
                <a:latin typeface="Lato"/>
              </a:rPr>
              <a:t>Units: bn litres/year. Imported/domestic segments are a scenario illustration, not measured provincial flows.</a:t>
            </a:r>
          </a:p>
        </p:txBody>
      </p:sp>
      <p:sp>
        <p:nvSpPr>
          <p:cNvPr id="87"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latin typeface="Lato"/>
              </a:defRPr>
            </a:pPr>
          </a:p>
        </p:txBody>
      </p:sp>
      <p:cxnSp>
        <p:nvCxnSpPr>
          <p:cNvPr id="88"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9"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9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91" name="TextBox 90"/>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92" name="Connector 91"/>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Use sourced provincial totals</a:t>
            </a:r>
          </a:p>
        </p:txBody>
      </p:sp>
      <p:sp>
        <p:nvSpPr>
          <p:cNvPr id="94" name="TextBox 93"/>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total bars use reported 2022 petrol/diesel sales. This establishes provincial demand, not where the fuel came from.</a:t>
            </a:r>
          </a:p>
        </p:txBody>
      </p:sp>
      <p:sp>
        <p:nvSpPr>
          <p:cNvPr id="95" name="TextBox 94"/>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Treat origin shares as an example</a:t>
            </a:r>
          </a:p>
        </p:txBody>
      </p:sp>
      <p:sp>
        <p:nvSpPr>
          <p:cNvPr id="96" name="TextBox 95"/>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Domestic/import segments are authored illustrations. No measured provincial supply-origin allocation is established.</a:t>
            </a:r>
          </a:p>
        </p:txBody>
      </p:sp>
      <p:sp>
        <p:nvSpPr>
          <p:cNvPr id="97" name="TextBox 96"/>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Close the national balance first</a:t>
            </a:r>
          </a:p>
        </p:txBody>
      </p:sp>
      <p:sp>
        <p:nvSpPr>
          <p:cNvPr id="98" name="TextBox 97"/>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production, exports and stock movements to the demand year before allocating an import requirement to provinces.</a:t>
            </a:r>
          </a:p>
        </p:txBody>
      </p:sp>
      <p:cxnSp>
        <p:nvCxnSpPr>
          <p:cNvPr id="99" name="Connector 98"/>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01" name="TextBox 100"/>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reconcile the national balance, then obtain origin/destination evidence. Keep unsupported provincial origin unknown.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S/C3. Falling diesel generation weakens one driver; test the others separately</a:t>
            </a:r>
          </a:p>
        </p:txBody>
      </p:sp>
      <p:sp>
        <p:nvSpPr>
          <p:cNvPr id="3" name="Slide Number Placeholder"/>
          <p:cNvSpPr>
            <a:spLocks noGrp="1"/>
          </p:cNvSpPr>
          <p:nvPr>
            <p:ph type="sldNum" sz="quarter" idx="12"/>
          </p:nvPr>
        </p:nvSpPr>
        <p:spPr/>
        <p:txBody>
          <a:bodyPr/>
          <a:lstStyle/>
          <a:p>
            <a:fld id="{EB075E97-8AB9-4F03-8902-63E7590D7E5B}" type="slidenum">
              <a:rPr lang="en-US"/>
              <a:t>‹#›</a:t>
            </a:fld>
          </a:p>
        </p:txBody>
      </p:sp>
      <p:sp>
        <p:nvSpPr>
          <p:cNvPr id="4" name="Section navigation 1">
            <a:hlinkClick action="ppaction://hlinksldjump" r:id="rId11"/>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12"/>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13"/>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14"/>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Diesel wholesale</a:t>
            </a:r>
          </a:p>
        </p:txBody>
      </p:sp>
      <p:sp>
        <p:nvSpPr>
          <p:cNvPr id="7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C4. Published refinery capacity has halved; keep restart upside conditional</a:t>
            </a:r>
          </a:p>
        </p:txBody>
      </p:sp>
      <p:sp>
        <p:nvSpPr>
          <p:cNvPr id="3" name="Slide Number Placeholder"/>
          <p:cNvSpPr>
            <a:spLocks noGrp="1"/>
          </p:cNvSpPr>
          <p:nvPr>
            <p:ph type="sldNum" sz="quarter" idx="12"/>
          </p:nvPr>
        </p:nvSpPr>
        <p:spPr/>
        <p:txBody>
          <a:bodyPr/>
          <a:lstStyle/>
          <a:p>
            <a:fld id="{42BB2661-599D-49DB-9BCA-D4655FE25BA5}" type="slidenum">
              <a:rPr lang="en-US"/>
              <a:t>‹#›</a:t>
            </a:fld>
          </a:p>
        </p:txBody>
      </p:sp>
      <p:sp>
        <p:nvSpPr>
          <p:cNvPr id="4" name="Section navigation 1">
            <a:hlinkClick action="ppaction://hlinksldjump" r:id="rId5"/>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6"/>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8"/>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All products; year to June, not calendar-year petrol/diesel. B adds 400 from 2033, conditional on FID.</a:t>
            </a:r>
          </a:p>
          <a:p>
            <a:pPr>
              <a:lnSpc>
                <a:spcPts val="900"/>
              </a:lnSpc>
              <a:spcBef>
                <a:spcPts val="0"/>
              </a:spcBef>
              <a:spcAft>
                <a:spcPts val="0"/>
              </a:spcAft>
              <a:defRPr sz="750">
                <a:latin typeface="Lato"/>
              </a:defRPr>
            </a:pPr>
            <a:r>
              <a:rPr sz="750"/>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Reported FY2024 output: Secunda 29.1; Natref Sasol share 17.8 million barrels.</a:t>
            </a:r>
          </a:p>
        </p:txBody>
      </p:sp>
      <p:sp>
        <p:nvSpPr>
          <p:cNvPr id="6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66" name="TextBox 65"/>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67" name="Connector 66"/>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Plan around the smaller footprint</a:t>
            </a:r>
          </a:p>
        </p:txBody>
      </p:sp>
      <p:sp>
        <p:nvSpPr>
          <p:cNvPr id="69" name="TextBox 68"/>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Published capacity falls from 718 to 358 thousand bbl/day between 2020 and 2022. A restart remains conditional.</a:t>
            </a:r>
          </a:p>
        </p:txBody>
      </p:sp>
      <p:sp>
        <p:nvSpPr>
          <p:cNvPr id="70" name="TextBox 69"/>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Use output for the fuel balance</a:t>
            </a:r>
          </a:p>
        </p:txBody>
      </p:sp>
      <p:sp>
        <p:nvSpPr>
          <p:cNvPr id="71" name="TextBox 70"/>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FY2024 output is 29.1 million barrels at Secunda and 17.8 for Sasol’s Natref share; both cover all products and fiscal years.</a:t>
            </a:r>
          </a:p>
        </p:txBody>
      </p:sp>
      <p:sp>
        <p:nvSpPr>
          <p:cNvPr id="72" name="TextBox 71"/>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Keep the restart as a separate case</a:t>
            </a:r>
          </a:p>
        </p:txBody>
      </p:sp>
      <p:sp>
        <p:nvSpPr>
          <p:cNvPr id="73" name="TextBox 72"/>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yields, downtime and calendar years before estimating imports. Nameplate capacity does not establish petrol/diesel output.</a:t>
            </a:r>
          </a:p>
        </p:txBody>
      </p:sp>
      <p:cxnSp>
        <p:nvCxnSpPr>
          <p:cNvPr id="74" name="Connector 73"/>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76" name="TextBox 75"/>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build the product/year output bridge. Henry: review plant assumptions. Nigel: agree conditional restart timing.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S/C3 / C4. Agree low, base and high levers before using the outlook for decisions</a:t>
            </a:r>
          </a:p>
        </p:txBody>
      </p:sp>
      <p:sp>
        <p:nvSpPr>
          <p:cNvPr id="3" name="Slide Number Placeholder"/>
          <p:cNvSpPr>
            <a:spLocks noGrp="1"/>
          </p:cNvSpPr>
          <p:nvPr>
            <p:ph type="sldNum" sz="quarter" idx="12"/>
          </p:nvPr>
        </p:nvSpPr>
        <p:spPr/>
        <p:txBody>
          <a:bodyPr/>
          <a:lstStyle/>
          <a:p>
            <a:fld id="{FF997DD4-CC98-46A9-B209-CB39312449BF}"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History is observed; forecast cases are proposed. No new fuel forecast is shown until the assumptions, source selections and back-tests are reviewed.</a:t>
            </a:r>
          </a:p>
          <a:p>
            <a:pPr>
              <a:lnSpc>
                <a:spcPts val="900"/>
              </a:lnSpc>
              <a:spcBef>
                <a:spcPts val="0"/>
              </a:spcBef>
              <a:spcAft>
                <a:spcPts val="0"/>
              </a:spcAft>
              <a:defRPr sz="750">
                <a:latin typeface="Lato"/>
              </a:defRPr>
            </a:pPr>
            <a:r>
              <a:rPr sz="750"/>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Scenario design | all key levers and assumptions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457200" y="2212848"/>
          <a:ext cx="10652760" cy="2651760"/>
        </p:xfrm>
        <a:graphic>
          <a:graphicData uri="http://schemas.openxmlformats.org/drawingml/2006/table">
            <a:tbl>
              <a:tblPr firstRow="1" bandRow="1">
                <a:tableStyleId>{2D5ABB26-0587-4C30-8999-92F81FD0307C}</a:tableStyleId>
              </a:tblPr>
              <a:tblGrid>
                <a:gridCol w="1828800"/>
                <a:gridCol w="4983480"/>
                <a:gridCol w="3840480"/>
              </a:tblGrid>
              <a:tr h="530352">
                <a:tc>
                  <a:txBody>
                    <a:bodyPr/>
                    <a:lstStyle/>
                    <a:p>
                      <a:pPr>
                        <a:spcAft>
                          <a:spcPts val="0"/>
                        </a:spcAft>
                        <a:defRPr sz="1100" b="1">
                          <a:solidFill>
                            <a:srgbClr val="000000"/>
                          </a:solidFill>
                          <a:latin typeface="Lato"/>
                        </a:defRPr>
                      </a:pPr>
                      <a:r>
                        <a:t>Input family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L/M/H settings to agree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Outputs and decision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Demand</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Growth, mileage, fleet efficiency/EVs, freight/passenger rail, grid/private generation, sector activity and price response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Petrol/diesel demand by year and region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Supply and trade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Plant output, yields, downtime/compliance, imports, neighbouring-country exports and stocks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Domestic supply, trade and transit throughput; residuals explicit</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Delivered price, service, feasible routes, rights and switching</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and competitively accessible customer litres</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Capacity and operations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Usable tanks, receipt/dispatch, inventory policy, peaks and spare space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Unique Vopak flows and any usable-capacity gap</a:t>
                      </a:r>
                    </a:p>
                  </a:txBody>
                  <a:tcPr marL="50292" marR="50292" marT="41148" marB="41148" anchor="ctr">
                    <a:lnB w="6350" cap="flat">
                      <a:solidFill>
                        <a:srgbClr val="EEEEEE"/>
                      </a:solidFill>
                    </a:lnB>
                    <a:solidFill>
                      <a:srgbClr val="FFFFFF"/>
                    </a:solidFill>
                  </a:tcPr>
                </a:tc>
              </a:tr>
            </a:tbl>
          </a:graphicData>
        </a:graphic>
      </p:graphicFrame>
      <p:sp>
        <p:nvSpPr>
          <p:cNvPr id="17" name="TextBox 16"/>
          <p:cNvSpPr txBox="1"/>
          <p:nvPr/>
        </p:nvSpPr>
        <p:spPr>
          <a:xfrm>
            <a:off x="457200" y="5120640"/>
            <a:ext cx="10652760" cy="274320"/>
          </a:xfrm>
          <a:prstGeom prst="rect">
            <a:avLst/>
          </a:prstGeom>
          <a:noFill/>
        </p:spPr>
        <p:txBody>
          <a:bodyPr wrap="square" lIns="0" rIns="0" tIns="0" bIns="0">
            <a:spAutoFit/>
          </a:bodyPr>
          <a:lstStyle/>
          <a:p>
            <a:pPr>
              <a:spcAft>
                <a:spcPts val="300"/>
              </a:spcAft>
              <a:defRPr sz="1400" b="1">
                <a:solidFill>
                  <a:srgbClr val="404040"/>
                </a:solidFill>
                <a:latin typeface="Lato"/>
              </a:defRPr>
            </a:pPr>
            <a:r>
              <a:rPr>
                <a:solidFill/>
              </a:rPr>
              <a:t>Combine settings into coherent worlds</a:t>
            </a:r>
          </a:p>
        </p:txBody>
      </p:sp>
      <p:sp>
        <p:nvSpPr>
          <p:cNvPr id="18" name="TextBox 17"/>
          <p:cNvSpPr txBox="1"/>
          <p:nvPr/>
        </p:nvSpPr>
        <p:spPr>
          <a:xfrm>
            <a:off x="45720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Baseline</a:t>
            </a:r>
          </a:p>
        </p:txBody>
      </p:sp>
      <p:sp>
        <p:nvSpPr>
          <p:cNvPr id="19" name="TextBox 18"/>
          <p:cNvSpPr txBox="1"/>
          <p:nvPr/>
        </p:nvSpPr>
        <p:spPr>
          <a:xfrm>
            <a:off x="45720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Agreed reference assumptions</a:t>
            </a:r>
          </a:p>
        </p:txBody>
      </p:sp>
      <p:sp>
        <p:nvSpPr>
          <p:cNvPr id="20" name="TextBox 19"/>
          <p:cNvSpPr txBox="1"/>
          <p:nvPr/>
        </p:nvSpPr>
        <p:spPr>
          <a:xfrm>
            <a:off x="406908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Ample supply</a:t>
            </a:r>
          </a:p>
        </p:txBody>
      </p:sp>
      <p:sp>
        <p:nvSpPr>
          <p:cNvPr id="21" name="TextBox 20"/>
          <p:cNvSpPr txBox="1"/>
          <p:nvPr/>
        </p:nvSpPr>
        <p:spPr>
          <a:xfrm>
            <a:off x="406908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Supply and access comfortably meet demand</a:t>
            </a:r>
          </a:p>
        </p:txBody>
      </p:sp>
      <p:sp>
        <p:nvSpPr>
          <p:cNvPr id="22" name="TextBox 21"/>
          <p:cNvSpPr txBox="1"/>
          <p:nvPr/>
        </p:nvSpPr>
        <p:spPr>
          <a:xfrm>
            <a:off x="768096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Tight supply</a:t>
            </a:r>
          </a:p>
        </p:txBody>
      </p:sp>
      <p:sp>
        <p:nvSpPr>
          <p:cNvPr id="23" name="TextBox 22"/>
          <p:cNvSpPr txBox="1"/>
          <p:nvPr/>
        </p:nvSpPr>
        <p:spPr>
          <a:xfrm>
            <a:off x="768096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Demand tests available supply and delivery routes</a:t>
            </a:r>
          </a:p>
        </p:txBody>
      </p:sp>
      <p:sp>
        <p:nvSpPr>
          <p:cNvPr id="2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C5. Test delivered cost and service before treating road reach as customer access</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Illustrative road cost only. Pipeline/rail access and commercial rights are not priced.</a:t>
            </a:r>
          </a:p>
          <a:p>
            <a:pPr>
              <a:lnSpc>
                <a:spcPts val="900"/>
              </a:lnSpc>
              <a:spcBef>
                <a:spcPts val="0"/>
              </a:spcBef>
              <a:spcAft>
                <a:spcPts val="0"/>
              </a:spcAft>
              <a:defRPr sz="750">
                <a:latin typeface="Lato"/>
              </a:defRPr>
            </a:pPr>
            <a:r>
              <a:rPr sz="750"/>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1"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2"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3"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4"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5"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6"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7"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8"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89"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0"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1"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2"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3"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4"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5"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6"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7"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8"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9"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0"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1"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2"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3"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4"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5"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6"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7"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8"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9"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0"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1"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2"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3"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4"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5"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6"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7"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8"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9"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0"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1"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2"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3"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4"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5"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6"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7"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8"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9"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0"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1"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2"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3"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4"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5"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6"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7"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8"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9"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0"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1"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2"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3"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4"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5"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6"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7"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8"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9"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0"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1"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2"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3"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4"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5"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6"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7"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8"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9"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0"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1"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2"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3"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4"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5"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6"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7"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8"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9"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0"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1"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2"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3"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4"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5"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6"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7"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8"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9"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0"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1"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2"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3"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4"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3285"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6"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7"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8"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9"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0"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1"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2"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3"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4"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5"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6"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7"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8"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9"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3300"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01"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cxnSp>
        <p:nvCxnSpPr>
          <p:cNvPr id="3302"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3"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4"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5"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6"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7"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8"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09"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0"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1"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2"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3"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4"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5"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6"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17"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18"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19"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0"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1"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2"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3"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4"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5"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6"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7"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8"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9"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30"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1"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2"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a:t>
            </a:r>
          </a:p>
        </p:txBody>
      </p:sp>
      <p:sp>
        <p:nvSpPr>
          <p:cNvPr id="3333"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4"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0.75–1.25</a:t>
            </a:r>
          </a:p>
        </p:txBody>
      </p:sp>
      <p:sp>
        <p:nvSpPr>
          <p:cNvPr id="3335"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6"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1.25–1.75</a:t>
            </a:r>
          </a:p>
        </p:txBody>
      </p:sp>
      <p:sp>
        <p:nvSpPr>
          <p:cNvPr id="3337"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8"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1.75–2.25</a:t>
            </a:r>
          </a:p>
        </p:txBody>
      </p:sp>
      <p:sp>
        <p:nvSpPr>
          <p:cNvPr id="3339"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0"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&gt;2.25</a:t>
            </a:r>
          </a:p>
        </p:txBody>
      </p:sp>
      <p:sp>
        <p:nvSpPr>
          <p:cNvPr id="3341"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2"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Unassessed</a:t>
            </a:r>
          </a:p>
        </p:txBody>
      </p:sp>
      <p:sp>
        <p:nvSpPr>
          <p:cNvPr id="3343"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Example rate: R0.15/L dispatch + R0.002/L/km. Grey = unassessed.</a:t>
            </a:r>
          </a:p>
        </p:txBody>
      </p:sp>
      <p:sp>
        <p:nvSpPr>
          <p:cNvPr id="2801" name="TextBox 2800"/>
          <p:cNvSpPr txBox="1"/>
          <p:nvPr/>
        </p:nvSpPr>
        <p:spPr>
          <a:xfrm>
            <a:off x="457200" y="1627632"/>
            <a:ext cx="6446520" cy="384048"/>
          </a:xfrm>
          <a:prstGeom prst="rect">
            <a:avLst/>
          </a:prstGeom>
          <a:noFill/>
        </p:spPr>
        <p:txBody>
          <a:bodyPr wrap="none" lIns="22860" rIns="22860" tIns="0" bIns="0">
            <a:no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7" name="Transnet lease overlay: Isosceles Triangle 313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38" name="Transnet lease overlay: Connector 313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9" name="Transnet lease overlay: TextBox 313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1</a:t>
            </a:r>
          </a:p>
        </p:txBody>
      </p:sp>
      <p:sp>
        <p:nvSpPr>
          <p:cNvPr id="3140" name="Transnet lease overlay: Isosceles Triangle 313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41" name="Transnet lease overlay: Connector 314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2" name="Transnet lease overlay: TextBox 314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2</a:t>
            </a:r>
          </a:p>
        </p:txBody>
      </p:sp>
      <p:sp>
        <p:nvSpPr>
          <p:cNvPr id="3143" name="Transnet lease overlay: Isosceles Triangle 314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44" name="Transnet lease overlay: Connector 314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5" name="Transnet lease overlay: TextBox 314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3</a:t>
            </a:r>
          </a:p>
        </p:txBody>
      </p:sp>
      <p:sp>
        <p:nvSpPr>
          <p:cNvPr id="3146" name="Transnet lease overlay: Isosceles Triangle 314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47" name="Transnet lease overlay: Connector 314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8" name="Transnet lease overlay: TextBox 314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4</a:t>
            </a:r>
          </a:p>
        </p:txBody>
      </p:sp>
      <p:sp>
        <p:nvSpPr>
          <p:cNvPr id="3149" name="Transnet lease overlay: Isosceles Triangle 314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50" name="Transnet lease overlay: Connector 314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51" name="Transnet lease overlay: TextBox 315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5</a:t>
            </a:r>
          </a:p>
        </p:txBody>
      </p:sp>
      <p:sp>
        <p:nvSpPr>
          <p:cNvPr id="3152" name="Transnet lease overlay: TextBox 315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0">
                <a:solidFill>
                  <a:srgbClr val="000000"/>
                </a:solidFill>
                <a:latin typeface="Lato"/>
              </a:defRPr>
            </a:pPr>
            <a:r>
              <a:rPr>
                <a:solidFill/>
              </a:rPr>
              <a:t>   Lease offers (context)
1 Ladysmith | 2 Standerton
3 Kroonstad | 4 Bethlehem
5 Magdala*</a:t>
            </a:r>
          </a:p>
        </p:txBody>
      </p:sp>
      <p:sp>
        <p:nvSpPr>
          <p:cNvPr id="3153" name="Transnet lease overlay: Isosceles Triangle 315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72" name="TextBox 317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rPr>
                <a:solidFill/>
              </a:rPr>
              <a:t>Diamonds: Vopak. Triangles: lease offers (context).</a:t>
            </a:r>
          </a:p>
        </p:txBody>
      </p:sp>
      <p:sp>
        <p:nvSpPr>
          <p:cNvPr id="3177"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78"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79"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318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3344" name="TextBox 3343"/>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3345" name="Connector 3344"/>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46" name="TextBox 3345"/>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Use road cost as the first screen</a:t>
            </a:r>
          </a:p>
        </p:txBody>
      </p:sp>
      <p:sp>
        <p:nvSpPr>
          <p:cNvPr id="3347" name="TextBox 3346"/>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Darker cells show lower illustrative road cost from Durban or Lesedi. Fuel price, storage and pipeline tariffs are excluded.</a:t>
            </a:r>
          </a:p>
        </p:txBody>
      </p:sp>
      <p:sp>
        <p:nvSpPr>
          <p:cNvPr id="3348" name="TextBox 3347"/>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Keep grey areas unassessed</a:t>
            </a:r>
          </a:p>
        </p:txBody>
      </p:sp>
      <p:sp>
        <p:nvSpPr>
          <p:cNvPr id="3349" name="TextBox 3348"/>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Grey marks no assessed connection under the schematic rule. It does not establish that a customer is unreachable.</a:t>
            </a:r>
          </a:p>
        </p:txBody>
      </p:sp>
      <p:sp>
        <p:nvSpPr>
          <p:cNvPr id="3350" name="TextBox 3349"/>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Prove the full service proposition</a:t>
            </a:r>
          </a:p>
        </p:txBody>
      </p:sp>
      <p:sp>
        <p:nvSpPr>
          <p:cNvPr id="3351" name="TextBox 3350"/>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Pipeline/rail lines are context. Route capacity, product compatibility, receipt/dispatch and customer rights still need evidence.</a:t>
            </a:r>
          </a:p>
        </p:txBody>
      </p:sp>
      <p:cxnSp>
        <p:nvCxnSpPr>
          <p:cNvPr id="3352" name="Connector 3351"/>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353" name="TextBox 3352"/>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3354" name="TextBox 3353"/>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choose a destination and cost/service threshold. Manish: replace example rates with dated route quotes and access evidence.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C5. Compare Durban, Matola and Walvis Bay on cost and service for the same customer</a:t>
            </a:r>
          </a:p>
        </p:txBody>
      </p:sp>
      <p:sp>
        <p:nvSpPr>
          <p:cNvPr id="3" name="Slide Number Placeholder"/>
          <p:cNvSpPr>
            <a:spLocks noGrp="1"/>
          </p:cNvSpPr>
          <p:nvPr>
            <p:ph type="sldNum" sz="quarter" idx="12"/>
          </p:nvPr>
        </p:nvSpPr>
        <p:spPr/>
        <p:txBody>
          <a:bodyPr/>
          <a:lstStyle/>
          <a:p>
            <a:fld id="{697864C9-5F5B-4D9B-8E56-D390DEC92D8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Routes schematic; access unverified. Colour measures provincial totals, not density or Vopak share.</a:t>
            </a:r>
          </a:p>
          <a:p>
            <a:pPr>
              <a:lnSpc>
                <a:spcPts val="900"/>
              </a:lnSpc>
              <a:spcBef>
                <a:spcPts val="0"/>
              </a:spcBef>
              <a:spcAft>
                <a:spcPts val="0"/>
              </a:spcAft>
              <a:defRPr sz="750">
                <a:latin typeface="Lato"/>
              </a:defRPr>
            </a:pPr>
            <a:r>
              <a:rPr sz="750"/>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Galp / IPG GIMTL</a:t>
            </a:r>
          </a:p>
          <a:p>
            <a:pPr>
              <a:spcAft>
                <a:spcPts val="300"/>
              </a:spcAft>
              <a:defRPr sz="900" b="0">
                <a:solidFill>
                  <a:srgbClr val="404040"/>
                </a:solidFill>
                <a:latin typeface="Lato"/>
              </a:defRPr>
            </a:pPr>
            <a:r>
              <a:rPr>
                <a:solidFill/>
              </a:rPr>
              <a:t>60k m³ petrol/diesel</a:t>
            </a:r>
          </a:p>
        </p:txBody>
      </p:sp>
      <p:sp>
        <p:nvSpPr>
          <p:cNvPr id="137"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NAMCOR NOSF</a:t>
            </a:r>
          </a:p>
          <a:p>
            <a:pPr>
              <a:spcAft>
                <a:spcPts val="300"/>
              </a:spcAft>
              <a:defRPr sz="900" b="0">
                <a:solidFill>
                  <a:srgbClr val="404040"/>
                </a:solidFill>
                <a:latin typeface="Lato"/>
              </a:defRPr>
            </a:pPr>
            <a:r>
              <a:rPr>
                <a:solidFill/>
              </a:rPr>
              <a:t>65k m³ petrol/diesel</a:t>
            </a:r>
          </a:p>
        </p:txBody>
      </p:sp>
      <p:sp>
        <p:nvSpPr>
          <p:cNvPr id="138"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139"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NAMIBIA</a:t>
            </a:r>
          </a:p>
        </p:txBody>
      </p:sp>
      <p:sp>
        <p:nvSpPr>
          <p:cNvPr id="140"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BOTSWANA</a:t>
            </a:r>
          </a:p>
        </p:txBody>
      </p:sp>
      <p:sp>
        <p:nvSpPr>
          <p:cNvPr id="141"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SOUTH AFRICA</a:t>
            </a:r>
          </a:p>
        </p:txBody>
      </p:sp>
      <p:sp>
        <p:nvSpPr>
          <p:cNvPr id="142"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MOZAMBIQUE</a:t>
            </a:r>
          </a:p>
        </p:txBody>
      </p:sp>
      <p:cxnSp>
        <p:nvCxnSpPr>
          <p:cNvPr id="143"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4"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5"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6"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7"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8"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9"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Walvis–Gauteng (Trans-Kalahari)</a:t>
            </a:r>
          </a:p>
        </p:txBody>
      </p:sp>
      <p:sp>
        <p:nvSpPr>
          <p:cNvPr id="13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3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50" name="TextBox 149"/>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151" name="Connector 150"/>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52" name="TextBox 151"/>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Keep Durban in the inland comparison</a:t>
            </a:r>
          </a:p>
        </p:txBody>
      </p:sp>
      <p:sp>
        <p:nvSpPr>
          <p:cNvPr id="153" name="TextBox 152"/>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Durban and Lesedi form Vopak’s SA footprint. Compare their full delivered service with alternatives for the same customer.</a:t>
            </a:r>
          </a:p>
        </p:txBody>
      </p:sp>
      <p:sp>
        <p:nvSpPr>
          <p:cNvPr id="154" name="TextBox 153"/>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Test the eastern alternative</a:t>
            </a:r>
          </a:p>
        </p:txBody>
      </p:sp>
      <p:sp>
        <p:nvSpPr>
          <p:cNvPr id="155" name="TextBox 154"/>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Matola’s GIMTL lists 60,000 m³ of petrol/diesel tanks. Test availability, N4 route cost and customer access.</a:t>
            </a:r>
          </a:p>
        </p:txBody>
      </p:sp>
      <p:sp>
        <p:nvSpPr>
          <p:cNvPr id="156" name="TextBox 155"/>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Test the western alternative</a:t>
            </a:r>
          </a:p>
        </p:txBody>
      </p:sp>
      <p:sp>
        <p:nvSpPr>
          <p:cNvPr id="157" name="TextBox 156"/>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Walvis Bay’s NOSF lists 65,000 m³ of petrol/diesel capacity. Test the Trans-Kalahari route on the same cost/service basis.</a:t>
            </a:r>
          </a:p>
        </p:txBody>
      </p:sp>
      <p:cxnSp>
        <p:nvCxnSpPr>
          <p:cNvPr id="158" name="Connector 157"/>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60" name="TextBox 159"/>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compare one product and destination across all three gateways. Nigel: agree the service standard and commercial access test.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R6. Prioritise Durban and Lesedi; verify usable capacity before sizing growth</a:t>
            </a:r>
          </a:p>
        </p:txBody>
      </p:sp>
      <p:sp>
        <p:nvSpPr>
          <p:cNvPr id="3" name="Slide Number Placeholder"/>
          <p:cNvSpPr>
            <a:spLocks noGrp="1"/>
          </p:cNvSpPr>
          <p:nvPr>
            <p:ph type="sldNum" sz="quarter" idx="12"/>
          </p:nvPr>
        </p:nvSpPr>
        <p:spPr/>
        <p:txBody>
          <a:bodyPr/>
          <a:lstStyle/>
          <a:p>
            <a:fld id="{25E94665-B65F-46B5-84FF-E2457E89F540}"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Source: Vopak; Bidvest; Burgan Cape; Transnet lease RFPs (5 Oct 2026). Operator sources and capacity bases in notes.</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Regional footprint | published gross storage, thousand m³</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8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cxnSp>
        <p:nvCxnSpPr>
          <p:cNvPr id="8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457200" y="2194560"/>
            <a:ext cx="164592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Region / provinces</a:t>
            </a:r>
          </a:p>
        </p:txBody>
      </p:sp>
      <p:sp>
        <p:nvSpPr>
          <p:cNvPr id="87" name="TextBox 86"/>
          <p:cNvSpPr txBox="1"/>
          <p:nvPr/>
        </p:nvSpPr>
        <p:spPr>
          <a:xfrm>
            <a:off x="2011680" y="2194560"/>
            <a:ext cx="164592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Storage location</a:t>
            </a:r>
          </a:p>
        </p:txBody>
      </p:sp>
      <p:sp>
        <p:nvSpPr>
          <p:cNvPr id="88" name="TextBox 87"/>
          <p:cNvSpPr txBox="1"/>
          <p:nvPr/>
        </p:nvSpPr>
        <p:spPr>
          <a:xfrm>
            <a:off x="3657600" y="2194560"/>
            <a:ext cx="310896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Published tank capacity</a:t>
            </a:r>
          </a:p>
        </p:txBody>
      </p:sp>
      <p:sp>
        <p:nvSpPr>
          <p:cNvPr id="89" name="Footprint legend"/>
          <p:cNvSpPr/>
          <p:nvPr/>
        </p:nvSpPr>
        <p:spPr>
          <a:xfrm>
            <a:off x="3657600" y="2642616"/>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90" name="TextBox 89"/>
          <p:cNvSpPr txBox="1"/>
          <p:nvPr/>
        </p:nvSpPr>
        <p:spPr>
          <a:xfrm>
            <a:off x="3822191" y="2596896"/>
            <a:ext cx="1371600" cy="219456"/>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Vopak</a:t>
            </a:r>
          </a:p>
        </p:txBody>
      </p:sp>
      <p:sp>
        <p:nvSpPr>
          <p:cNvPr id="91" name="Footprint legend"/>
          <p:cNvSpPr/>
          <p:nvPr/>
        </p:nvSpPr>
        <p:spPr>
          <a:xfrm>
            <a:off x="4846320" y="2642616"/>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92" name="TextBox 91"/>
          <p:cNvSpPr txBox="1"/>
          <p:nvPr/>
        </p:nvSpPr>
        <p:spPr>
          <a:xfrm>
            <a:off x="5010912" y="2596896"/>
            <a:ext cx="1371600" cy="219456"/>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 listed</a:t>
            </a:r>
          </a:p>
        </p:txBody>
      </p:sp>
      <p:sp>
        <p:nvSpPr>
          <p:cNvPr id="93" name="TextBox 92"/>
          <p:cNvSpPr txBox="1"/>
          <p:nvPr/>
        </p:nvSpPr>
        <p:spPr>
          <a:xfrm>
            <a:off x="3566160"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0</a:t>
            </a:r>
          </a:p>
        </p:txBody>
      </p:sp>
      <p:cxnSp>
        <p:nvCxnSpPr>
          <p:cNvPr id="94" name="Connector 93"/>
          <p:cNvCxnSpPr/>
          <p:nvPr/>
        </p:nvCxnSpPr>
        <p:spPr>
          <a:xfrm>
            <a:off x="365760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4136315"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200</a:t>
            </a:r>
          </a:p>
        </p:txBody>
      </p:sp>
      <p:cxnSp>
        <p:nvCxnSpPr>
          <p:cNvPr id="96" name="Connector 95"/>
          <p:cNvCxnSpPr/>
          <p:nvPr/>
        </p:nvCxnSpPr>
        <p:spPr>
          <a:xfrm>
            <a:off x="422775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4706470"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400</a:t>
            </a:r>
          </a:p>
        </p:txBody>
      </p:sp>
      <p:cxnSp>
        <p:nvCxnSpPr>
          <p:cNvPr id="98" name="Connector 97"/>
          <p:cNvCxnSpPr/>
          <p:nvPr/>
        </p:nvCxnSpPr>
        <p:spPr>
          <a:xfrm>
            <a:off x="479791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5276625"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600</a:t>
            </a:r>
          </a:p>
        </p:txBody>
      </p:sp>
      <p:cxnSp>
        <p:nvCxnSpPr>
          <p:cNvPr id="100" name="Connector 99"/>
          <p:cNvCxnSpPr/>
          <p:nvPr/>
        </p:nvCxnSpPr>
        <p:spPr>
          <a:xfrm>
            <a:off x="536806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5846781"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800</a:t>
            </a:r>
          </a:p>
        </p:txBody>
      </p:sp>
      <p:cxnSp>
        <p:nvCxnSpPr>
          <p:cNvPr id="102" name="Connector 101"/>
          <p:cNvCxnSpPr/>
          <p:nvPr/>
        </p:nvCxnSpPr>
        <p:spPr>
          <a:xfrm>
            <a:off x="5938221"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457200" y="3291840"/>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Eastern coast</a:t>
            </a:r>
          </a:p>
        </p:txBody>
      </p:sp>
      <p:sp>
        <p:nvSpPr>
          <p:cNvPr id="104" name="TextBox 103"/>
          <p:cNvSpPr txBox="1"/>
          <p:nvPr/>
        </p:nvSpPr>
        <p:spPr>
          <a:xfrm>
            <a:off x="457200" y="3538728"/>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EC/KZN</a:t>
            </a:r>
          </a:p>
        </p:txBody>
      </p:sp>
      <p:sp>
        <p:nvSpPr>
          <p:cNvPr id="105" name="TextBox 104"/>
          <p:cNvSpPr txBox="1"/>
          <p:nvPr/>
        </p:nvSpPr>
        <p:spPr>
          <a:xfrm>
            <a:off x="2011680" y="3291840"/>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Durban</a:t>
            </a:r>
          </a:p>
        </p:txBody>
      </p:sp>
      <p:sp>
        <p:nvSpPr>
          <p:cNvPr id="106" name="Published gross Durban"/>
          <p:cNvSpPr/>
          <p:nvPr/>
        </p:nvSpPr>
        <p:spPr>
          <a:xfrm>
            <a:off x="3657600" y="3300984"/>
            <a:ext cx="1026980"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07" name="Published gross Durban"/>
          <p:cNvSpPr/>
          <p:nvPr/>
        </p:nvSpPr>
        <p:spPr>
          <a:xfrm>
            <a:off x="4684580" y="3300984"/>
            <a:ext cx="125236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08" name="TextBox 107"/>
          <p:cNvSpPr txBox="1"/>
          <p:nvPr/>
        </p:nvSpPr>
        <p:spPr>
          <a:xfrm>
            <a:off x="6000952" y="3282696"/>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799.55</a:t>
            </a:r>
          </a:p>
        </p:txBody>
      </p:sp>
      <p:sp>
        <p:nvSpPr>
          <p:cNvPr id="109" name="TextBox 108"/>
          <p:cNvSpPr txBox="1"/>
          <p:nvPr/>
        </p:nvSpPr>
        <p:spPr>
          <a:xfrm>
            <a:off x="2011680" y="3657600"/>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Richards Bay</a:t>
            </a:r>
          </a:p>
        </p:txBody>
      </p:sp>
      <p:sp>
        <p:nvSpPr>
          <p:cNvPr id="110" name="Published gross Richards Bay"/>
          <p:cNvSpPr/>
          <p:nvPr/>
        </p:nvSpPr>
        <p:spPr>
          <a:xfrm>
            <a:off x="3657600" y="3666744"/>
            <a:ext cx="1379197"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1" name="TextBox 110"/>
          <p:cNvSpPr txBox="1"/>
          <p:nvPr/>
        </p:nvSpPr>
        <p:spPr>
          <a:xfrm>
            <a:off x="5100805" y="3648456"/>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483.80</a:t>
            </a:r>
          </a:p>
        </p:txBody>
      </p:sp>
      <p:sp>
        <p:nvSpPr>
          <p:cNvPr id="112" name="TextBox 111"/>
          <p:cNvSpPr txBox="1"/>
          <p:nvPr/>
        </p:nvSpPr>
        <p:spPr>
          <a:xfrm>
            <a:off x="457200" y="4187952"/>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Inland</a:t>
            </a:r>
          </a:p>
        </p:txBody>
      </p:sp>
      <p:sp>
        <p:nvSpPr>
          <p:cNvPr id="113" name="TextBox 112"/>
          <p:cNvSpPr txBox="1"/>
          <p:nvPr/>
        </p:nvSpPr>
        <p:spPr>
          <a:xfrm>
            <a:off x="457200" y="4434840"/>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GP/FS/LP/MP/NW</a:t>
            </a:r>
          </a:p>
        </p:txBody>
      </p:sp>
      <p:sp>
        <p:nvSpPr>
          <p:cNvPr id="114" name="TextBox 113"/>
          <p:cNvSpPr txBox="1"/>
          <p:nvPr/>
        </p:nvSpPr>
        <p:spPr>
          <a:xfrm>
            <a:off x="2011680" y="4187952"/>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Lesedi</a:t>
            </a:r>
          </a:p>
        </p:txBody>
      </p:sp>
      <p:sp>
        <p:nvSpPr>
          <p:cNvPr id="115" name="Published gross Lesedi"/>
          <p:cNvSpPr/>
          <p:nvPr/>
        </p:nvSpPr>
        <p:spPr>
          <a:xfrm>
            <a:off x="3657600" y="4197096"/>
            <a:ext cx="399108"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6" name="TextBox 115"/>
          <p:cNvSpPr txBox="1"/>
          <p:nvPr/>
        </p:nvSpPr>
        <p:spPr>
          <a:xfrm>
            <a:off x="4120716" y="4178808"/>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140.00</a:t>
            </a:r>
          </a:p>
        </p:txBody>
      </p:sp>
      <p:sp>
        <p:nvSpPr>
          <p:cNvPr id="117" name="TextBox 116"/>
          <p:cNvSpPr txBox="1"/>
          <p:nvPr/>
        </p:nvSpPr>
        <p:spPr>
          <a:xfrm>
            <a:off x="2011680" y="4553712"/>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Isando</a:t>
            </a:r>
          </a:p>
        </p:txBody>
      </p:sp>
      <p:sp>
        <p:nvSpPr>
          <p:cNvPr id="118" name="Published gross Isando"/>
          <p:cNvSpPr/>
          <p:nvPr/>
        </p:nvSpPr>
        <p:spPr>
          <a:xfrm>
            <a:off x="3657600" y="4562856"/>
            <a:ext cx="92650"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9" name="TextBox 118"/>
          <p:cNvSpPr txBox="1"/>
          <p:nvPr/>
        </p:nvSpPr>
        <p:spPr>
          <a:xfrm>
            <a:off x="3814258" y="4544568"/>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32.50</a:t>
            </a:r>
          </a:p>
        </p:txBody>
      </p:sp>
      <p:sp>
        <p:nvSpPr>
          <p:cNvPr id="120" name="TextBox 119"/>
          <p:cNvSpPr txBox="1"/>
          <p:nvPr/>
        </p:nvSpPr>
        <p:spPr>
          <a:xfrm>
            <a:off x="457200" y="5084064"/>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Western coast</a:t>
            </a:r>
          </a:p>
        </p:txBody>
      </p:sp>
      <p:sp>
        <p:nvSpPr>
          <p:cNvPr id="121" name="TextBox 120"/>
          <p:cNvSpPr txBox="1"/>
          <p:nvPr/>
        </p:nvSpPr>
        <p:spPr>
          <a:xfrm>
            <a:off x="457200" y="5330952"/>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WC</a:t>
            </a:r>
          </a:p>
        </p:txBody>
      </p:sp>
      <p:sp>
        <p:nvSpPr>
          <p:cNvPr id="122" name="TextBox 121"/>
          <p:cNvSpPr txBox="1"/>
          <p:nvPr/>
        </p:nvSpPr>
        <p:spPr>
          <a:xfrm>
            <a:off x="2011680" y="5084064"/>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Cape Town</a:t>
            </a:r>
          </a:p>
        </p:txBody>
      </p:sp>
      <p:sp>
        <p:nvSpPr>
          <p:cNvPr id="123" name="Published gross Cape Town"/>
          <p:cNvSpPr/>
          <p:nvPr/>
        </p:nvSpPr>
        <p:spPr>
          <a:xfrm>
            <a:off x="3657600" y="5093208"/>
            <a:ext cx="347794"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24" name="TextBox 123"/>
          <p:cNvSpPr txBox="1"/>
          <p:nvPr/>
        </p:nvSpPr>
        <p:spPr>
          <a:xfrm>
            <a:off x="4069402" y="5074920"/>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122.00</a:t>
            </a:r>
          </a:p>
        </p:txBody>
      </p:sp>
      <p:sp>
        <p:nvSpPr>
          <p:cNvPr id="125" name="TextBox 124"/>
          <p:cNvSpPr txBox="1"/>
          <p:nvPr/>
        </p:nvSpPr>
        <p:spPr>
          <a:xfrm>
            <a:off x="457200" y="5614416"/>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a:t>
            </a:r>
          </a:p>
        </p:txBody>
      </p:sp>
      <p:sp>
        <p:nvSpPr>
          <p:cNvPr id="126" name="TextBox 125"/>
          <p:cNvSpPr txBox="1"/>
          <p:nvPr/>
        </p:nvSpPr>
        <p:spPr>
          <a:xfrm>
            <a:off x="457200" y="5797296"/>
            <a:ext cx="146304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NC</a:t>
            </a:r>
          </a:p>
        </p:txBody>
      </p:sp>
      <p:sp>
        <p:nvSpPr>
          <p:cNvPr id="127" name="TextBox 126"/>
          <p:cNvSpPr txBox="1"/>
          <p:nvPr/>
        </p:nvSpPr>
        <p:spPr>
          <a:xfrm>
            <a:off x="2011680" y="5614416"/>
            <a:ext cx="4389120" cy="23774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  capacity not established</a:t>
            </a:r>
          </a:p>
        </p:txBody>
      </p:sp>
      <p:sp>
        <p:nvSpPr>
          <p:cNvPr id="128" name="TextBox 127"/>
          <p:cNvSpPr txBox="1"/>
          <p:nvPr/>
        </p:nvSpPr>
        <p:spPr>
          <a:xfrm>
            <a:off x="457200" y="5998464"/>
            <a:ext cx="644652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Partial inventory; mixed products. Unlisted capacities remain unknown.</a:t>
            </a:r>
          </a:p>
        </p:txBody>
      </p:sp>
      <p:sp>
        <p:nvSpPr>
          <p:cNvPr id="129" name="TextBox 128"/>
          <p:cNvSpPr txBox="1"/>
          <p:nvPr/>
        </p:nvSpPr>
        <p:spPr>
          <a:xfrm>
            <a:off x="457200" y="6190488"/>
            <a:ext cx="6446520" cy="192024"/>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Mixed products; lease offers excluded. Working fuel space and customer share remain unverified.</a:t>
            </a:r>
          </a:p>
        </p:txBody>
      </p:sp>
      <p:sp>
        <p:nvSpPr>
          <p:cNvPr id="13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31" name="TextBox 130"/>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132" name="Connector 131"/>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3" name="TextBox 132"/>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Anchor the test in Durban and Lesedi</a:t>
            </a:r>
          </a:p>
        </p:txBody>
      </p:sp>
      <p:sp>
        <p:nvSpPr>
          <p:cNvPr id="134" name="TextBox 133"/>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Vopak lists 360,200 m³ in Durban and 140,000 m³ at Lesedi. These anchor the eastern and inland customer tests.</a:t>
            </a:r>
          </a:p>
        </p:txBody>
      </p:sp>
      <p:sp>
        <p:nvSpPr>
          <p:cNvPr id="135" name="TextBox 134"/>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Verify working fuel capacity</a:t>
            </a:r>
          </a:p>
        </p:txBody>
      </p:sp>
      <p:sp>
        <p:nvSpPr>
          <p:cNvPr id="136" name="TextBox 135"/>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Published gross tankage covers mixed products. It does not establish usable petrol/diesel space, annual deliveries or customer share.</a:t>
            </a:r>
          </a:p>
        </p:txBody>
      </p:sp>
      <p:sp>
        <p:nvSpPr>
          <p:cNvPr id="137" name="TextBox 136"/>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Keep coverage gaps explicit</a:t>
            </a:r>
          </a:p>
        </p:txBody>
      </p:sp>
      <p:sp>
        <p:nvSpPr>
          <p:cNvPr id="138" name="TextBox 137"/>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Missing operator capacities remain unknown. Conditional Transnet leases are excluded from the operating bars.</a:t>
            </a:r>
          </a:p>
        </p:txBody>
      </p:sp>
      <p:cxnSp>
        <p:nvCxnSpPr>
          <p:cNvPr id="139" name="Connector 138"/>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41" name="TextBox 140"/>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confirm fuel-compatible working space and dispatch by site. Nigel: obtain operating data for Durban and Lesedi.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R6. Remove Durban–Lesedi transfers to count customer deliveries once</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market catchment and transfer examples. Not reported sales or actual Vopak flows.</a:t>
            </a:r>
          </a:p>
        </p:txBody>
      </p:sp>
      <p:sp>
        <p:nvSpPr>
          <p:cNvPr id="111" name="TextBox 110"/>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Unique customer deliveries | illustrative bn litres/year</a:t>
            </a:r>
          </a:p>
        </p:txBody>
      </p:sp>
      <p:cxnSp>
        <p:nvCxnSpPr>
          <p:cNvPr id="112" name="Connector 11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4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49" name="TextBox 148"/>
          <p:cNvSpPr txBox="1"/>
          <p:nvPr/>
        </p:nvSpPr>
        <p:spPr>
          <a:xfrm>
            <a:off x="457200" y="2212848"/>
            <a:ext cx="6446520" cy="310896"/>
          </a:xfrm>
          <a:prstGeom prst="rect">
            <a:avLst/>
          </a:prstGeom>
          <a:noFill/>
        </p:spPr>
        <p:txBody>
          <a:bodyPr wrap="square" lIns="0" rIns="0" tIns="0" bIns="0">
            <a:spAutoFit/>
          </a:bodyPr>
          <a:lstStyle/>
          <a:p>
            <a:pPr>
              <a:spcAft>
                <a:spcPts val="300"/>
              </a:spcAft>
              <a:defRPr sz="1400" b="1">
                <a:solidFill>
                  <a:srgbClr val="404040"/>
                </a:solidFill>
                <a:latin typeface="Lato"/>
              </a:defRPr>
            </a:pPr>
            <a:r>
              <a:t>2.8 + 2.0 − 1.8 = 3.0 bn litres counted once</a:t>
            </a:r>
          </a:p>
        </p:txBody>
      </p:sp>
      <p:sp>
        <p:nvSpPr>
          <p:cNvPr id="150" name="TextBox 149"/>
          <p:cNvSpPr txBox="1"/>
          <p:nvPr/>
        </p:nvSpPr>
        <p:spPr>
          <a:xfrm>
            <a:off x="457200" y="2642616"/>
            <a:ext cx="6446520" cy="274320"/>
          </a:xfrm>
          <a:prstGeom prst="rect">
            <a:avLst/>
          </a:prstGeom>
          <a:noFill/>
        </p:spPr>
        <p:txBody>
          <a:bodyPr wrap="square" lIns="0" rIns="0" tIns="0" bIns="0">
            <a:spAutoFit/>
          </a:bodyPr>
          <a:lstStyle/>
          <a:p>
            <a:pPr>
              <a:spcAft>
                <a:spcPts val="300"/>
              </a:spcAft>
              <a:defRPr sz="1100" b="0">
                <a:solidFill>
                  <a:srgbClr val="404040"/>
                </a:solidFill>
                <a:latin typeface="Lato"/>
              </a:defRPr>
            </a:pPr>
            <a:r>
              <a:t>Illustrative receipts and shared transfer; actual Vopak flows unverified</a:t>
            </a:r>
          </a:p>
        </p:txBody>
      </p:sp>
      <p:sp>
        <p:nvSpPr>
          <p:cNvPr id="151" name="Unique delivery illustration Durban&#10;receipts"/>
          <p:cNvSpPr/>
          <p:nvPr/>
        </p:nvSpPr>
        <p:spPr>
          <a:xfrm>
            <a:off x="868680" y="4262628"/>
            <a:ext cx="822960" cy="126949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850392" y="394258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2.8</a:t>
            </a:r>
          </a:p>
        </p:txBody>
      </p:sp>
      <p:sp>
        <p:nvSpPr>
          <p:cNvPr id="153" name="TextBox 152"/>
          <p:cNvSpPr txBox="1"/>
          <p:nvPr/>
        </p:nvSpPr>
        <p:spPr>
          <a:xfrm>
            <a:off x="758952"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Durban</a:t>
            </a:r>
          </a:p>
          <a:p>
            <a:pPr>
              <a:spcAft>
                <a:spcPts val="300"/>
              </a:spcAft>
              <a:defRPr sz="1100" b="0">
                <a:solidFill>
                  <a:srgbClr val="404040"/>
                </a:solidFill>
                <a:latin typeface="Lato"/>
              </a:defRPr>
            </a:pPr>
            <a:r>
              <a:t>receipts</a:t>
            </a:r>
          </a:p>
        </p:txBody>
      </p:sp>
      <p:cxnSp>
        <p:nvCxnSpPr>
          <p:cNvPr id="154" name="Connector 153"/>
          <p:cNvCxnSpPr/>
          <p:nvPr/>
        </p:nvCxnSpPr>
        <p:spPr>
          <a:xfrm>
            <a:off x="1691640" y="4262628"/>
            <a:ext cx="685799"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155" name="Unique delivery illustration Lesedi&#10;receipts"/>
          <p:cNvSpPr/>
          <p:nvPr/>
        </p:nvSpPr>
        <p:spPr>
          <a:xfrm>
            <a:off x="2377439" y="3355848"/>
            <a:ext cx="822960" cy="906779"/>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2359151" y="303580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+2.0</a:t>
            </a:r>
          </a:p>
        </p:txBody>
      </p:sp>
      <p:sp>
        <p:nvSpPr>
          <p:cNvPr id="157" name="TextBox 156"/>
          <p:cNvSpPr txBox="1"/>
          <p:nvPr/>
        </p:nvSpPr>
        <p:spPr>
          <a:xfrm>
            <a:off x="2267711"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Lesedi</a:t>
            </a:r>
          </a:p>
          <a:p>
            <a:pPr>
              <a:spcAft>
                <a:spcPts val="300"/>
              </a:spcAft>
              <a:defRPr sz="1100" b="0">
                <a:solidFill>
                  <a:srgbClr val="404040"/>
                </a:solidFill>
                <a:latin typeface="Lato"/>
              </a:defRPr>
            </a:pPr>
            <a:r>
              <a:t>receipts</a:t>
            </a:r>
          </a:p>
        </p:txBody>
      </p:sp>
      <p:cxnSp>
        <p:nvCxnSpPr>
          <p:cNvPr id="158" name="Connector 157"/>
          <p:cNvCxnSpPr/>
          <p:nvPr/>
        </p:nvCxnSpPr>
        <p:spPr>
          <a:xfrm>
            <a:off x="3200399" y="3355848"/>
            <a:ext cx="685801"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159" name="Unique delivery illustration Remove shared&#10;transfer"/>
          <p:cNvSpPr/>
          <p:nvPr/>
        </p:nvSpPr>
        <p:spPr>
          <a:xfrm>
            <a:off x="3886200" y="3355848"/>
            <a:ext cx="822960" cy="81610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3867912" y="303580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−1.8</a:t>
            </a:r>
          </a:p>
        </p:txBody>
      </p:sp>
      <p:sp>
        <p:nvSpPr>
          <p:cNvPr id="161" name="TextBox 160"/>
          <p:cNvSpPr txBox="1"/>
          <p:nvPr/>
        </p:nvSpPr>
        <p:spPr>
          <a:xfrm>
            <a:off x="3776472"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Remove shared</a:t>
            </a:r>
          </a:p>
          <a:p>
            <a:pPr>
              <a:spcAft>
                <a:spcPts val="300"/>
              </a:spcAft>
              <a:defRPr sz="1100" b="0">
                <a:solidFill>
                  <a:srgbClr val="404040"/>
                </a:solidFill>
                <a:latin typeface="Lato"/>
              </a:defRPr>
            </a:pPr>
            <a:r>
              <a:t>transfer</a:t>
            </a:r>
          </a:p>
        </p:txBody>
      </p:sp>
      <p:cxnSp>
        <p:nvCxnSpPr>
          <p:cNvPr id="162" name="Connector 161"/>
          <p:cNvCxnSpPr/>
          <p:nvPr/>
        </p:nvCxnSpPr>
        <p:spPr>
          <a:xfrm>
            <a:off x="4709160" y="4171950"/>
            <a:ext cx="685800"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163" name="Unique delivery illustration Unique customer&#10;deliveries"/>
          <p:cNvSpPr/>
          <p:nvPr/>
        </p:nvSpPr>
        <p:spPr>
          <a:xfrm>
            <a:off x="5394959" y="4171950"/>
            <a:ext cx="822960" cy="136017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5376672" y="3851910"/>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3.0</a:t>
            </a:r>
          </a:p>
        </p:txBody>
      </p:sp>
      <p:sp>
        <p:nvSpPr>
          <p:cNvPr id="165" name="TextBox 164"/>
          <p:cNvSpPr txBox="1"/>
          <p:nvPr/>
        </p:nvSpPr>
        <p:spPr>
          <a:xfrm>
            <a:off x="5285231"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Unique customer</a:t>
            </a:r>
          </a:p>
          <a:p>
            <a:pPr>
              <a:spcAft>
                <a:spcPts val="300"/>
              </a:spcAft>
              <a:defRPr sz="1100" b="0">
                <a:solidFill>
                  <a:srgbClr val="404040"/>
                </a:solidFill>
                <a:latin typeface="Lato"/>
              </a:defRPr>
            </a:pPr>
            <a:r>
              <a:t>deliveries</a:t>
            </a:r>
          </a:p>
        </p:txBody>
      </p:sp>
      <p:sp>
        <p:nvSpPr>
          <p:cNvPr id="166" name="TextBox 165"/>
          <p:cNvSpPr txBox="1"/>
          <p:nvPr/>
        </p:nvSpPr>
        <p:spPr>
          <a:xfrm>
            <a:off x="457200" y="6217920"/>
            <a:ext cx="644652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Use unique served demand in the additional-opportunity screen on page 15.</a:t>
            </a:r>
          </a:p>
        </p:txBody>
      </p:sp>
      <p:sp>
        <p:nvSpPr>
          <p:cNvPr id="167" name="TextBox 166"/>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168" name="Connector 16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69" name="TextBox 168"/>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Remove inter-terminal transfers</a:t>
            </a:r>
          </a:p>
        </p:txBody>
      </p:sp>
      <p:sp>
        <p:nvSpPr>
          <p:cNvPr id="170" name="TextBox 169"/>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example includes 1.8 bn litres transferred through both Durban and Lesedi. Counting both receipts would count that fuel twice.</a:t>
            </a:r>
          </a:p>
        </p:txBody>
      </p:sp>
      <p:sp>
        <p:nvSpPr>
          <p:cNvPr id="171" name="TextBox 170"/>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Use 3.0 in this illustration</a:t>
            </a:r>
          </a:p>
        </p:txBody>
      </p:sp>
      <p:sp>
        <p:nvSpPr>
          <p:cNvPr id="172" name="TextBox 171"/>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Receipts of 2.8 plus 2.0, less the shared 1.8 transfer, leave 3.0 bn litres of unique deliveries. Actual throughput is unverified.</a:t>
            </a:r>
          </a:p>
        </p:txBody>
      </p:sp>
      <p:sp>
        <p:nvSpPr>
          <p:cNvPr id="173" name="TextBox 172"/>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Establish served demand before growth</a:t>
            </a:r>
          </a:p>
        </p:txBody>
      </p:sp>
      <p:sp>
        <p:nvSpPr>
          <p:cNvPr id="174" name="TextBox 173"/>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customer, product and period records. The opportunity waterfall on page 15 then removes already-served volumes once.</a:t>
            </a:r>
          </a:p>
        </p:txBody>
      </p:sp>
      <p:cxnSp>
        <p:nvCxnSpPr>
          <p:cNvPr id="175" name="Connector 174"/>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77" name="TextBox 176"/>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obtain customer deliveries and transfer records. Manish: reconcile unique served volumes before estimating growth.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R6. Test the illustrative 5.5 bn litre opportunity against reach, price, service and access</a:t>
            </a:r>
          </a:p>
        </p:txBody>
      </p:sp>
      <p:sp>
        <p:nvSpPr>
          <p:cNvPr id="3" name="Slide Number Placeholder"/>
          <p:cNvSpPr>
            <a:spLocks noGrp="1"/>
          </p:cNvSpPr>
          <p:nvPr>
            <p:ph type="sldNum" sz="quarter" idx="12"/>
          </p:nvPr>
        </p:nvSpPr>
        <p:spPr/>
        <p:txBody>
          <a:bodyPr/>
          <a:lstStyle/>
          <a:p>
            <a:fld id="{4794D684-25F5-4002-B28A-453C120C0D1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catchment CSV; existing schematic road surface; declared reporting regions. Reach and customer volumes unverified.</a:t>
            </a:r>
          </a:p>
        </p:txBody>
      </p:sp>
      <p:sp>
        <p:nvSpPr>
          <p:cNvPr id="322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3222" name="TextBox 3221"/>
          <p:cNvSpPr txBox="1"/>
          <p:nvPr/>
        </p:nvSpPr>
        <p:spPr>
          <a:xfrm>
            <a:off x="457200" y="1627632"/>
            <a:ext cx="10652760" cy="320040"/>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Illustrative reach and volume bridge | bn litres/year; customer capture unverified</a:t>
            </a:r>
          </a:p>
        </p:txBody>
      </p:sp>
      <p:cxnSp>
        <p:nvCxnSpPr>
          <p:cNvPr id="3223" name="Connector 3222"/>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224" name="TextBox 3223"/>
          <p:cNvSpPr txBox="1"/>
          <p:nvPr/>
        </p:nvSpPr>
        <p:spPr>
          <a:xfrm>
            <a:off x="457200" y="2221992"/>
            <a:ext cx="4251960" cy="320040"/>
          </a:xfrm>
          <a:prstGeom prst="rect">
            <a:avLst/>
          </a:prstGeom>
          <a:noFill/>
        </p:spPr>
        <p:txBody>
          <a:bodyPr wrap="square" lIns="0" rIns="0" tIns="0" bIns="0">
            <a:spAutoFit/>
          </a:bodyPr>
          <a:lstStyle/>
          <a:p>
            <a:pPr>
              <a:spcAft>
                <a:spcPts val="300"/>
              </a:spcAft>
              <a:defRPr sz="1200" b="1">
                <a:solidFill>
                  <a:srgbClr val="404040"/>
                </a:solidFill>
                <a:latin typeface="Lato"/>
              </a:defRPr>
            </a:pPr>
            <a:r>
              <a:t>Selected market and illustrated road reach</a:t>
            </a:r>
          </a:p>
        </p:txBody>
      </p:sp>
      <p:sp>
        <p:nvSpPr>
          <p:cNvPr id="3225" name="Reach map frame"/>
          <p:cNvSpPr/>
          <p:nvPr/>
        </p:nvSpPr>
        <p:spPr>
          <a:xfrm>
            <a:off x="457200" y="2770632"/>
            <a:ext cx="4160520" cy="236057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outh Africa context"/>
          <p:cNvSpPr/>
          <p:nvPr/>
        </p:nvSpPr>
        <p:spPr>
          <a:xfrm>
            <a:off x="1309200" y="2867051"/>
            <a:ext cx="2409456" cy="2086638"/>
          </a:xfrm>
          <a:custGeom>
            <a:avLst/>
            <a:gdLst/>
            <a:ahLst/>
            <a:cxnLst/>
            <a:rect l="l" t="t" r="r" b="b"/>
            <a:pathLst>
              <a:path w="2409456" h="2086638">
                <a:moveTo>
                  <a:pt x="1914765" y="6196"/>
                </a:moveTo>
                <a:lnTo>
                  <a:pt x="1916707" y="6070"/>
                </a:lnTo>
                <a:lnTo>
                  <a:pt x="1960846" y="0"/>
                </a:lnTo>
                <a:lnTo>
                  <a:pt x="1997395" y="7641"/>
                </a:lnTo>
                <a:lnTo>
                  <a:pt x="2040998" y="27029"/>
                </a:lnTo>
                <a:lnTo>
                  <a:pt x="2082145" y="35028"/>
                </a:lnTo>
                <a:lnTo>
                  <a:pt x="2120924" y="31621"/>
                </a:lnTo>
                <a:lnTo>
                  <a:pt x="2152341" y="31904"/>
                </a:lnTo>
                <a:lnTo>
                  <a:pt x="2176350" y="35874"/>
                </a:lnTo>
                <a:lnTo>
                  <a:pt x="2195069" y="42916"/>
                </a:lnTo>
                <a:lnTo>
                  <a:pt x="2208540" y="53017"/>
                </a:lnTo>
                <a:lnTo>
                  <a:pt x="2208959" y="61726"/>
                </a:lnTo>
                <a:lnTo>
                  <a:pt x="2209858" y="65720"/>
                </a:lnTo>
                <a:lnTo>
                  <a:pt x="2216146" y="88977"/>
                </a:lnTo>
                <a:lnTo>
                  <a:pt x="2225471" y="123713"/>
                </a:lnTo>
                <a:lnTo>
                  <a:pt x="2231227" y="155647"/>
                </a:lnTo>
                <a:lnTo>
                  <a:pt x="2239085" y="199457"/>
                </a:lnTo>
                <a:lnTo>
                  <a:pt x="2237621" y="223542"/>
                </a:lnTo>
                <a:lnTo>
                  <a:pt x="2239593" y="232986"/>
                </a:lnTo>
                <a:lnTo>
                  <a:pt x="2247913" y="245091"/>
                </a:lnTo>
                <a:lnTo>
                  <a:pt x="2257781" y="265659"/>
                </a:lnTo>
                <a:lnTo>
                  <a:pt x="2260921" y="277204"/>
                </a:lnTo>
                <a:lnTo>
                  <a:pt x="2264140" y="285882"/>
                </a:lnTo>
                <a:lnTo>
                  <a:pt x="2274779" y="302603"/>
                </a:lnTo>
                <a:lnTo>
                  <a:pt x="2282417" y="327493"/>
                </a:lnTo>
                <a:lnTo>
                  <a:pt x="2288263" y="360215"/>
                </a:lnTo>
                <a:lnTo>
                  <a:pt x="2293880" y="376077"/>
                </a:lnTo>
                <a:lnTo>
                  <a:pt x="2295897" y="383828"/>
                </a:lnTo>
                <a:lnTo>
                  <a:pt x="2298066" y="397868"/>
                </a:lnTo>
                <a:lnTo>
                  <a:pt x="2296123" y="427127"/>
                </a:lnTo>
                <a:lnTo>
                  <a:pt x="2294499" y="461057"/>
                </a:lnTo>
                <a:lnTo>
                  <a:pt x="2292682" y="498952"/>
                </a:lnTo>
                <a:lnTo>
                  <a:pt x="2291193" y="530232"/>
                </a:lnTo>
                <a:lnTo>
                  <a:pt x="2289201" y="545995"/>
                </a:lnTo>
                <a:lnTo>
                  <a:pt x="2287543" y="590967"/>
                </a:lnTo>
                <a:lnTo>
                  <a:pt x="2276695" y="613835"/>
                </a:lnTo>
                <a:lnTo>
                  <a:pt x="2276893" y="632278"/>
                </a:lnTo>
                <a:lnTo>
                  <a:pt x="2279209" y="644366"/>
                </a:lnTo>
                <a:lnTo>
                  <a:pt x="2275158" y="645975"/>
                </a:lnTo>
                <a:lnTo>
                  <a:pt x="2267578" y="647677"/>
                </a:lnTo>
                <a:lnTo>
                  <a:pt x="2234192" y="626903"/>
                </a:lnTo>
                <a:lnTo>
                  <a:pt x="2201640" y="605194"/>
                </a:lnTo>
                <a:lnTo>
                  <a:pt x="2196821" y="604343"/>
                </a:lnTo>
                <a:lnTo>
                  <a:pt x="2189642" y="606051"/>
                </a:lnTo>
                <a:lnTo>
                  <a:pt x="2169882" y="619546"/>
                </a:lnTo>
                <a:lnTo>
                  <a:pt x="2151036" y="641291"/>
                </a:lnTo>
                <a:lnTo>
                  <a:pt x="2141967" y="660195"/>
                </a:lnTo>
                <a:lnTo>
                  <a:pt x="2127936" y="679505"/>
                </a:lnTo>
                <a:lnTo>
                  <a:pt x="2105384" y="710601"/>
                </a:lnTo>
                <a:lnTo>
                  <a:pt x="2102952" y="717426"/>
                </a:lnTo>
                <a:lnTo>
                  <a:pt x="2101518" y="743511"/>
                </a:lnTo>
                <a:lnTo>
                  <a:pt x="2101380" y="768401"/>
                </a:lnTo>
                <a:lnTo>
                  <a:pt x="2103053" y="771952"/>
                </a:lnTo>
                <a:lnTo>
                  <a:pt x="2114313" y="773677"/>
                </a:lnTo>
                <a:lnTo>
                  <a:pt x="2121439" y="794436"/>
                </a:lnTo>
                <a:lnTo>
                  <a:pt x="2138350" y="827771"/>
                </a:lnTo>
                <a:lnTo>
                  <a:pt x="2168328" y="850162"/>
                </a:lnTo>
                <a:lnTo>
                  <a:pt x="2196600" y="861112"/>
                </a:lnTo>
                <a:lnTo>
                  <a:pt x="2236614" y="865706"/>
                </a:lnTo>
                <a:lnTo>
                  <a:pt x="2268373" y="866841"/>
                </a:lnTo>
                <a:lnTo>
                  <a:pt x="2267793" y="844923"/>
                </a:lnTo>
                <a:lnTo>
                  <a:pt x="2272870" y="809967"/>
                </a:lnTo>
                <a:lnTo>
                  <a:pt x="2278257" y="786586"/>
                </a:lnTo>
                <a:lnTo>
                  <a:pt x="2282756" y="785798"/>
                </a:lnTo>
                <a:lnTo>
                  <a:pt x="2291018" y="788545"/>
                </a:lnTo>
                <a:lnTo>
                  <a:pt x="2295492" y="791233"/>
                </a:lnTo>
                <a:lnTo>
                  <a:pt x="2308346" y="791011"/>
                </a:lnTo>
                <a:lnTo>
                  <a:pt x="2330782" y="797022"/>
                </a:lnTo>
                <a:lnTo>
                  <a:pt x="2349135" y="797635"/>
                </a:lnTo>
                <a:lnTo>
                  <a:pt x="2365539" y="798210"/>
                </a:lnTo>
                <a:lnTo>
                  <a:pt x="2393282" y="799188"/>
                </a:lnTo>
                <a:lnTo>
                  <a:pt x="2409456" y="799966"/>
                </a:lnTo>
                <a:lnTo>
                  <a:pt x="2401593" y="837690"/>
                </a:lnTo>
                <a:lnTo>
                  <a:pt x="2376787" y="895947"/>
                </a:lnTo>
                <a:lnTo>
                  <a:pt x="2367916" y="922827"/>
                </a:lnTo>
                <a:lnTo>
                  <a:pt x="2343944" y="1019421"/>
                </a:lnTo>
                <a:lnTo>
                  <a:pt x="2317672" y="1067222"/>
                </a:lnTo>
                <a:lnTo>
                  <a:pt x="2303435" y="1086754"/>
                </a:lnTo>
                <a:lnTo>
                  <a:pt x="2263791" y="1120474"/>
                </a:lnTo>
                <a:lnTo>
                  <a:pt x="2252950" y="1127159"/>
                </a:lnTo>
                <a:lnTo>
                  <a:pt x="2243430" y="1131292"/>
                </a:lnTo>
                <a:lnTo>
                  <a:pt x="2226792" y="1134471"/>
                </a:lnTo>
                <a:lnTo>
                  <a:pt x="2158729" y="1203696"/>
                </a:lnTo>
                <a:lnTo>
                  <a:pt x="2133049" y="1237534"/>
                </a:lnTo>
                <a:lnTo>
                  <a:pt x="2109301" y="1287611"/>
                </a:lnTo>
                <a:lnTo>
                  <a:pt x="2086964" y="1314644"/>
                </a:lnTo>
                <a:lnTo>
                  <a:pt x="2053340" y="1373059"/>
                </a:lnTo>
                <a:lnTo>
                  <a:pt x="2023805" y="1418032"/>
                </a:lnTo>
                <a:lnTo>
                  <a:pt x="1995695" y="1459007"/>
                </a:lnTo>
                <a:lnTo>
                  <a:pt x="1948034" y="1515112"/>
                </a:lnTo>
                <a:lnTo>
                  <a:pt x="1927363" y="1531066"/>
                </a:lnTo>
                <a:lnTo>
                  <a:pt x="1913586" y="1538201"/>
                </a:lnTo>
                <a:lnTo>
                  <a:pt x="1876574" y="1570506"/>
                </a:lnTo>
                <a:lnTo>
                  <a:pt x="1824461" y="1622852"/>
                </a:lnTo>
                <a:lnTo>
                  <a:pt x="1784547" y="1669581"/>
                </a:lnTo>
                <a:lnTo>
                  <a:pt x="1725827" y="1722305"/>
                </a:lnTo>
                <a:lnTo>
                  <a:pt x="1692237" y="1745224"/>
                </a:lnTo>
                <a:lnTo>
                  <a:pt x="1641684" y="1790906"/>
                </a:lnTo>
                <a:lnTo>
                  <a:pt x="1627799" y="1797516"/>
                </a:lnTo>
                <a:lnTo>
                  <a:pt x="1571448" y="1839942"/>
                </a:lnTo>
                <a:lnTo>
                  <a:pt x="1531229" y="1865684"/>
                </a:lnTo>
                <a:lnTo>
                  <a:pt x="1466564" y="1895383"/>
                </a:lnTo>
                <a:lnTo>
                  <a:pt x="1441003" y="1903651"/>
                </a:lnTo>
                <a:lnTo>
                  <a:pt x="1380328" y="1895048"/>
                </a:lnTo>
                <a:lnTo>
                  <a:pt x="1354917" y="1899103"/>
                </a:lnTo>
                <a:lnTo>
                  <a:pt x="1333612" y="1917534"/>
                </a:lnTo>
                <a:lnTo>
                  <a:pt x="1331484" y="1944177"/>
                </a:lnTo>
                <a:lnTo>
                  <a:pt x="1322654" y="1948127"/>
                </a:lnTo>
                <a:lnTo>
                  <a:pt x="1309310" y="1946873"/>
                </a:lnTo>
                <a:lnTo>
                  <a:pt x="1266989" y="1935634"/>
                </a:lnTo>
                <a:lnTo>
                  <a:pt x="1244007" y="1937744"/>
                </a:lnTo>
                <a:lnTo>
                  <a:pt x="1230607" y="1951962"/>
                </a:lnTo>
                <a:lnTo>
                  <a:pt x="1219844" y="1969990"/>
                </a:lnTo>
                <a:lnTo>
                  <a:pt x="1188006" y="1970989"/>
                </a:lnTo>
                <a:lnTo>
                  <a:pt x="1131165" y="1952649"/>
                </a:lnTo>
                <a:lnTo>
                  <a:pt x="1064260" y="1941924"/>
                </a:lnTo>
                <a:lnTo>
                  <a:pt x="1048777" y="1940850"/>
                </a:lnTo>
                <a:lnTo>
                  <a:pt x="1016606" y="1955111"/>
                </a:lnTo>
                <a:lnTo>
                  <a:pt x="1005325" y="1957292"/>
                </a:lnTo>
                <a:lnTo>
                  <a:pt x="958141" y="1955113"/>
                </a:lnTo>
                <a:lnTo>
                  <a:pt x="931809" y="1946876"/>
                </a:lnTo>
                <a:lnTo>
                  <a:pt x="906791" y="1947360"/>
                </a:lnTo>
                <a:lnTo>
                  <a:pt x="887786" y="1955001"/>
                </a:lnTo>
                <a:lnTo>
                  <a:pt x="864609" y="1958075"/>
                </a:lnTo>
                <a:lnTo>
                  <a:pt x="803348" y="2009790"/>
                </a:lnTo>
                <a:lnTo>
                  <a:pt x="771045" y="2010799"/>
                </a:lnTo>
                <a:lnTo>
                  <a:pt x="743375" y="2017468"/>
                </a:lnTo>
                <a:lnTo>
                  <a:pt x="729552" y="2017723"/>
                </a:lnTo>
                <a:lnTo>
                  <a:pt x="703439" y="2011605"/>
                </a:lnTo>
                <a:lnTo>
                  <a:pt x="693824" y="2012409"/>
                </a:lnTo>
                <a:lnTo>
                  <a:pt x="679231" y="2016076"/>
                </a:lnTo>
                <a:lnTo>
                  <a:pt x="664848" y="2025428"/>
                </a:lnTo>
                <a:lnTo>
                  <a:pt x="631492" y="2030527"/>
                </a:lnTo>
                <a:lnTo>
                  <a:pt x="618793" y="2038551"/>
                </a:lnTo>
                <a:lnTo>
                  <a:pt x="564368" y="2086638"/>
                </a:lnTo>
                <a:lnTo>
                  <a:pt x="551427" y="2085387"/>
                </a:lnTo>
                <a:lnTo>
                  <a:pt x="540887" y="2082876"/>
                </a:lnTo>
                <a:lnTo>
                  <a:pt x="511555" y="2083688"/>
                </a:lnTo>
                <a:lnTo>
                  <a:pt x="477074" y="2060943"/>
                </a:lnTo>
                <a:lnTo>
                  <a:pt x="464431" y="2063123"/>
                </a:lnTo>
                <a:lnTo>
                  <a:pt x="467446" y="2055657"/>
                </a:lnTo>
                <a:lnTo>
                  <a:pt x="467772" y="2042673"/>
                </a:lnTo>
                <a:lnTo>
                  <a:pt x="460254" y="2033893"/>
                </a:lnTo>
                <a:lnTo>
                  <a:pt x="455277" y="2030058"/>
                </a:lnTo>
                <a:lnTo>
                  <a:pt x="442258" y="2031483"/>
                </a:lnTo>
                <a:lnTo>
                  <a:pt x="434694" y="2020825"/>
                </a:lnTo>
                <a:lnTo>
                  <a:pt x="414630" y="2020830"/>
                </a:lnTo>
                <a:lnTo>
                  <a:pt x="407870" y="2023986"/>
                </a:lnTo>
                <a:lnTo>
                  <a:pt x="398298" y="2025068"/>
                </a:lnTo>
                <a:lnTo>
                  <a:pt x="396787" y="2013970"/>
                </a:lnTo>
                <a:lnTo>
                  <a:pt x="397137" y="2006907"/>
                </a:lnTo>
                <a:lnTo>
                  <a:pt x="395916" y="1996148"/>
                </a:lnTo>
                <a:lnTo>
                  <a:pt x="392729" y="1983040"/>
                </a:lnTo>
                <a:lnTo>
                  <a:pt x="384710" y="1979245"/>
                </a:lnTo>
                <a:lnTo>
                  <a:pt x="378640" y="1977801"/>
                </a:lnTo>
                <a:lnTo>
                  <a:pt x="364490" y="1979494"/>
                </a:lnTo>
                <a:lnTo>
                  <a:pt x="354796" y="1981464"/>
                </a:lnTo>
                <a:lnTo>
                  <a:pt x="350437" y="1985575"/>
                </a:lnTo>
                <a:lnTo>
                  <a:pt x="345788" y="1995570"/>
                </a:lnTo>
                <a:lnTo>
                  <a:pt x="347554" y="2025062"/>
                </a:lnTo>
                <a:lnTo>
                  <a:pt x="340012" y="2017012"/>
                </a:lnTo>
                <a:lnTo>
                  <a:pt x="330918" y="1999811"/>
                </a:lnTo>
                <a:lnTo>
                  <a:pt x="327170" y="1981118"/>
                </a:lnTo>
                <a:lnTo>
                  <a:pt x="328650" y="1958660"/>
                </a:lnTo>
                <a:lnTo>
                  <a:pt x="343332" y="1949325"/>
                </a:lnTo>
                <a:lnTo>
                  <a:pt x="341222" y="1934333"/>
                </a:lnTo>
                <a:lnTo>
                  <a:pt x="337189" y="1921456"/>
                </a:lnTo>
                <a:lnTo>
                  <a:pt x="318074" y="1888991"/>
                </a:lnTo>
                <a:lnTo>
                  <a:pt x="310450" y="1874080"/>
                </a:lnTo>
                <a:lnTo>
                  <a:pt x="295295" y="1864567"/>
                </a:lnTo>
                <a:lnTo>
                  <a:pt x="282409" y="1840263"/>
                </a:lnTo>
                <a:lnTo>
                  <a:pt x="270432" y="1831887"/>
                </a:lnTo>
                <a:lnTo>
                  <a:pt x="264554" y="1814700"/>
                </a:lnTo>
                <a:lnTo>
                  <a:pt x="252509" y="1801388"/>
                </a:lnTo>
                <a:lnTo>
                  <a:pt x="247280" y="1779506"/>
                </a:lnTo>
                <a:lnTo>
                  <a:pt x="252600" y="1766431"/>
                </a:lnTo>
                <a:lnTo>
                  <a:pt x="261884" y="1758921"/>
                </a:lnTo>
                <a:lnTo>
                  <a:pt x="272514" y="1769288"/>
                </a:lnTo>
                <a:lnTo>
                  <a:pt x="284554" y="1764261"/>
                </a:lnTo>
                <a:lnTo>
                  <a:pt x="301085" y="1747226"/>
                </a:lnTo>
                <a:lnTo>
                  <a:pt x="309969" y="1722341"/>
                </a:lnTo>
                <a:lnTo>
                  <a:pt x="308244" y="1683460"/>
                </a:lnTo>
                <a:lnTo>
                  <a:pt x="304090" y="1659351"/>
                </a:lnTo>
                <a:lnTo>
                  <a:pt x="286240" y="1597475"/>
                </a:lnTo>
                <a:lnTo>
                  <a:pt x="278716" y="1583460"/>
                </a:lnTo>
                <a:lnTo>
                  <a:pt x="244177" y="1540487"/>
                </a:lnTo>
                <a:lnTo>
                  <a:pt x="203392" y="1482685"/>
                </a:lnTo>
                <a:lnTo>
                  <a:pt x="150199" y="1390954"/>
                </a:lnTo>
                <a:lnTo>
                  <a:pt x="123811" y="1335517"/>
                </a:lnTo>
                <a:lnTo>
                  <a:pt x="81676" y="1222931"/>
                </a:lnTo>
                <a:lnTo>
                  <a:pt x="46812" y="1160016"/>
                </a:lnTo>
                <a:lnTo>
                  <a:pt x="5094" y="1101978"/>
                </a:lnTo>
                <a:lnTo>
                  <a:pt x="0" y="1098377"/>
                </a:lnTo>
                <a:lnTo>
                  <a:pt x="5207" y="1090585"/>
                </a:lnTo>
                <a:lnTo>
                  <a:pt x="24393" y="1075133"/>
                </a:lnTo>
                <a:lnTo>
                  <a:pt x="33317" y="1070701"/>
                </a:lnTo>
                <a:lnTo>
                  <a:pt x="38315" y="1072100"/>
                </a:lnTo>
                <a:lnTo>
                  <a:pt x="42800" y="1067918"/>
                </a:lnTo>
                <a:lnTo>
                  <a:pt x="46761" y="1058125"/>
                </a:lnTo>
                <a:lnTo>
                  <a:pt x="47174" y="1049161"/>
                </a:lnTo>
                <a:lnTo>
                  <a:pt x="48589" y="1036421"/>
                </a:lnTo>
                <a:lnTo>
                  <a:pt x="52598" y="1028587"/>
                </a:lnTo>
                <a:lnTo>
                  <a:pt x="56548" y="1013232"/>
                </a:lnTo>
                <a:lnTo>
                  <a:pt x="64357" y="1003039"/>
                </a:lnTo>
                <a:lnTo>
                  <a:pt x="81864" y="995470"/>
                </a:lnTo>
                <a:lnTo>
                  <a:pt x="96001" y="1003012"/>
                </a:lnTo>
                <a:lnTo>
                  <a:pt x="102233" y="1010935"/>
                </a:lnTo>
                <a:lnTo>
                  <a:pt x="105287" y="1021721"/>
                </a:lnTo>
                <a:lnTo>
                  <a:pt x="111629" y="1026613"/>
                </a:lnTo>
                <a:lnTo>
                  <a:pt x="121247" y="1025618"/>
                </a:lnTo>
                <a:lnTo>
                  <a:pt x="128472" y="1031915"/>
                </a:lnTo>
                <a:lnTo>
                  <a:pt x="133285" y="1045487"/>
                </a:lnTo>
                <a:lnTo>
                  <a:pt x="133126" y="1055559"/>
                </a:lnTo>
                <a:lnTo>
                  <a:pt x="128043" y="1062131"/>
                </a:lnTo>
                <a:lnTo>
                  <a:pt x="129331" y="1070250"/>
                </a:lnTo>
                <a:lnTo>
                  <a:pt x="136956" y="1079953"/>
                </a:lnTo>
                <a:lnTo>
                  <a:pt x="140446" y="1089404"/>
                </a:lnTo>
                <a:lnTo>
                  <a:pt x="145926" y="1101819"/>
                </a:lnTo>
                <a:lnTo>
                  <a:pt x="170869" y="1107689"/>
                </a:lnTo>
                <a:lnTo>
                  <a:pt x="183087" y="1111121"/>
                </a:lnTo>
                <a:lnTo>
                  <a:pt x="203795" y="1111282"/>
                </a:lnTo>
                <a:lnTo>
                  <a:pt x="223621" y="1115788"/>
                </a:lnTo>
                <a:lnTo>
                  <a:pt x="242555" y="1124669"/>
                </a:lnTo>
                <a:lnTo>
                  <a:pt x="272835" y="1125342"/>
                </a:lnTo>
                <a:lnTo>
                  <a:pt x="314505" y="1117918"/>
                </a:lnTo>
                <a:lnTo>
                  <a:pt x="349174" y="1118377"/>
                </a:lnTo>
                <a:lnTo>
                  <a:pt x="376811" y="1126689"/>
                </a:lnTo>
                <a:lnTo>
                  <a:pt x="396551" y="1127499"/>
                </a:lnTo>
                <a:lnTo>
                  <a:pt x="408435" y="1120780"/>
                </a:lnTo>
                <a:lnTo>
                  <a:pt x="413288" y="1111660"/>
                </a:lnTo>
                <a:lnTo>
                  <a:pt x="411101" y="1100152"/>
                </a:lnTo>
                <a:lnTo>
                  <a:pt x="416802" y="1092529"/>
                </a:lnTo>
                <a:lnTo>
                  <a:pt x="430379" y="1088767"/>
                </a:lnTo>
                <a:lnTo>
                  <a:pt x="440966" y="1079535"/>
                </a:lnTo>
                <a:lnTo>
                  <a:pt x="448582" y="1064794"/>
                </a:lnTo>
                <a:lnTo>
                  <a:pt x="467206" y="1052258"/>
                </a:lnTo>
                <a:lnTo>
                  <a:pt x="496853" y="1041947"/>
                </a:lnTo>
                <a:lnTo>
                  <a:pt x="511813" y="1041617"/>
                </a:lnTo>
                <a:lnTo>
                  <a:pt x="510841" y="1018363"/>
                </a:lnTo>
                <a:lnTo>
                  <a:pt x="507795" y="944962"/>
                </a:lnTo>
                <a:lnTo>
                  <a:pt x="504782" y="871566"/>
                </a:lnTo>
                <a:lnTo>
                  <a:pt x="501803" y="798194"/>
                </a:lnTo>
                <a:lnTo>
                  <a:pt x="498856" y="724814"/>
                </a:lnTo>
                <a:lnTo>
                  <a:pt x="495942" y="651442"/>
                </a:lnTo>
                <a:lnTo>
                  <a:pt x="493062" y="578097"/>
                </a:lnTo>
                <a:lnTo>
                  <a:pt x="490215" y="504747"/>
                </a:lnTo>
                <a:lnTo>
                  <a:pt x="487557" y="435498"/>
                </a:lnTo>
                <a:lnTo>
                  <a:pt x="494990" y="440194"/>
                </a:lnTo>
                <a:lnTo>
                  <a:pt x="543927" y="475066"/>
                </a:lnTo>
                <a:lnTo>
                  <a:pt x="557437" y="493904"/>
                </a:lnTo>
                <a:lnTo>
                  <a:pt x="564236" y="505904"/>
                </a:lnTo>
                <a:lnTo>
                  <a:pt x="586158" y="549668"/>
                </a:lnTo>
                <a:lnTo>
                  <a:pt x="602670" y="589035"/>
                </a:lnTo>
                <a:lnTo>
                  <a:pt x="615966" y="618691"/>
                </a:lnTo>
                <a:lnTo>
                  <a:pt x="617351" y="632414"/>
                </a:lnTo>
                <a:lnTo>
                  <a:pt x="619524" y="645804"/>
                </a:lnTo>
                <a:lnTo>
                  <a:pt x="621472" y="652348"/>
                </a:lnTo>
                <a:lnTo>
                  <a:pt x="620579" y="659700"/>
                </a:lnTo>
                <a:lnTo>
                  <a:pt x="612498" y="676365"/>
                </a:lnTo>
                <a:lnTo>
                  <a:pt x="604129" y="689207"/>
                </a:lnTo>
                <a:lnTo>
                  <a:pt x="594162" y="706692"/>
                </a:lnTo>
                <a:lnTo>
                  <a:pt x="593935" y="729330"/>
                </a:lnTo>
                <a:lnTo>
                  <a:pt x="598045" y="755828"/>
                </a:lnTo>
                <a:lnTo>
                  <a:pt x="604963" y="768839"/>
                </a:lnTo>
                <a:lnTo>
                  <a:pt x="613214" y="772901"/>
                </a:lnTo>
                <a:lnTo>
                  <a:pt x="632374" y="765622"/>
                </a:lnTo>
                <a:lnTo>
                  <a:pt x="644719" y="767237"/>
                </a:lnTo>
                <a:lnTo>
                  <a:pt x="662198" y="771723"/>
                </a:lnTo>
                <a:lnTo>
                  <a:pt x="718898" y="766840"/>
                </a:lnTo>
                <a:lnTo>
                  <a:pt x="725807" y="768267"/>
                </a:lnTo>
                <a:lnTo>
                  <a:pt x="747295" y="769560"/>
                </a:lnTo>
                <a:lnTo>
                  <a:pt x="754402" y="767171"/>
                </a:lnTo>
                <a:lnTo>
                  <a:pt x="760670" y="761374"/>
                </a:lnTo>
                <a:lnTo>
                  <a:pt x="767688" y="745209"/>
                </a:lnTo>
                <a:lnTo>
                  <a:pt x="774210" y="739798"/>
                </a:lnTo>
                <a:lnTo>
                  <a:pt x="786196" y="736780"/>
                </a:lnTo>
                <a:lnTo>
                  <a:pt x="800377" y="732119"/>
                </a:lnTo>
                <a:lnTo>
                  <a:pt x="812019" y="722648"/>
                </a:lnTo>
                <a:lnTo>
                  <a:pt x="830106" y="690647"/>
                </a:lnTo>
                <a:lnTo>
                  <a:pt x="867181" y="661810"/>
                </a:lnTo>
                <a:lnTo>
                  <a:pt x="878619" y="654872"/>
                </a:lnTo>
                <a:lnTo>
                  <a:pt x="885773" y="647187"/>
                </a:lnTo>
                <a:lnTo>
                  <a:pt x="891925" y="636915"/>
                </a:lnTo>
                <a:lnTo>
                  <a:pt x="904524" y="601389"/>
                </a:lnTo>
                <a:lnTo>
                  <a:pt x="914033" y="571812"/>
                </a:lnTo>
                <a:lnTo>
                  <a:pt x="917215" y="557900"/>
                </a:lnTo>
                <a:lnTo>
                  <a:pt x="925800" y="535116"/>
                </a:lnTo>
                <a:lnTo>
                  <a:pt x="936426" y="520486"/>
                </a:lnTo>
                <a:lnTo>
                  <a:pt x="946923" y="512694"/>
                </a:lnTo>
                <a:lnTo>
                  <a:pt x="952210" y="510660"/>
                </a:lnTo>
                <a:lnTo>
                  <a:pt x="965835" y="506551"/>
                </a:lnTo>
                <a:lnTo>
                  <a:pt x="983382" y="502654"/>
                </a:lnTo>
                <a:lnTo>
                  <a:pt x="1001926" y="506492"/>
                </a:lnTo>
                <a:lnTo>
                  <a:pt x="1021863" y="514985"/>
                </a:lnTo>
                <a:lnTo>
                  <a:pt x="1044392" y="529495"/>
                </a:lnTo>
                <a:lnTo>
                  <a:pt x="1067446" y="547507"/>
                </a:lnTo>
                <a:lnTo>
                  <a:pt x="1078053" y="556685"/>
                </a:lnTo>
                <a:lnTo>
                  <a:pt x="1089426" y="560741"/>
                </a:lnTo>
                <a:lnTo>
                  <a:pt x="1109628" y="562031"/>
                </a:lnTo>
                <a:lnTo>
                  <a:pt x="1122863" y="561616"/>
                </a:lnTo>
                <a:lnTo>
                  <a:pt x="1143542" y="579627"/>
                </a:lnTo>
                <a:lnTo>
                  <a:pt x="1153955" y="580716"/>
                </a:lnTo>
                <a:lnTo>
                  <a:pt x="1177240" y="586108"/>
                </a:lnTo>
                <a:lnTo>
                  <a:pt x="1205983" y="591679"/>
                </a:lnTo>
                <a:lnTo>
                  <a:pt x="1224070" y="591007"/>
                </a:lnTo>
                <a:lnTo>
                  <a:pt x="1243443" y="581188"/>
                </a:lnTo>
                <a:lnTo>
                  <a:pt x="1257425" y="580774"/>
                </a:lnTo>
                <a:lnTo>
                  <a:pt x="1275494" y="581586"/>
                </a:lnTo>
                <a:lnTo>
                  <a:pt x="1295350" y="578942"/>
                </a:lnTo>
                <a:lnTo>
                  <a:pt x="1309933" y="574786"/>
                </a:lnTo>
                <a:lnTo>
                  <a:pt x="1321107" y="566310"/>
                </a:lnTo>
                <a:lnTo>
                  <a:pt x="1330966" y="557029"/>
                </a:lnTo>
                <a:lnTo>
                  <a:pt x="1342389" y="529322"/>
                </a:lnTo>
                <a:lnTo>
                  <a:pt x="1349022" y="507007"/>
                </a:lnTo>
                <a:lnTo>
                  <a:pt x="1359270" y="481368"/>
                </a:lnTo>
                <a:lnTo>
                  <a:pt x="1371894" y="446623"/>
                </a:lnTo>
                <a:lnTo>
                  <a:pt x="1376480" y="422375"/>
                </a:lnTo>
                <a:lnTo>
                  <a:pt x="1381088" y="415727"/>
                </a:lnTo>
                <a:lnTo>
                  <a:pt x="1399192" y="408449"/>
                </a:lnTo>
                <a:lnTo>
                  <a:pt x="1414167" y="403476"/>
                </a:lnTo>
                <a:lnTo>
                  <a:pt x="1454431" y="394343"/>
                </a:lnTo>
                <a:lnTo>
                  <a:pt x="1462724" y="389351"/>
                </a:lnTo>
                <a:lnTo>
                  <a:pt x="1470370" y="377996"/>
                </a:lnTo>
                <a:lnTo>
                  <a:pt x="1488156" y="358805"/>
                </a:lnTo>
                <a:lnTo>
                  <a:pt x="1510039" y="342893"/>
                </a:lnTo>
                <a:lnTo>
                  <a:pt x="1521349" y="333768"/>
                </a:lnTo>
                <a:lnTo>
                  <a:pt x="1543016" y="255419"/>
                </a:lnTo>
                <a:lnTo>
                  <a:pt x="1545651" y="245755"/>
                </a:lnTo>
                <a:lnTo>
                  <a:pt x="1560948" y="225132"/>
                </a:lnTo>
                <a:lnTo>
                  <a:pt x="1570343" y="216472"/>
                </a:lnTo>
                <a:lnTo>
                  <a:pt x="1576305" y="216415"/>
                </a:lnTo>
                <a:lnTo>
                  <a:pt x="1584868" y="211064"/>
                </a:lnTo>
                <a:lnTo>
                  <a:pt x="1596039" y="200421"/>
                </a:lnTo>
                <a:lnTo>
                  <a:pt x="1609231" y="193976"/>
                </a:lnTo>
                <a:lnTo>
                  <a:pt x="1624438" y="191765"/>
                </a:lnTo>
                <a:lnTo>
                  <a:pt x="1634394" y="184758"/>
                </a:lnTo>
                <a:lnTo>
                  <a:pt x="1639114" y="172994"/>
                </a:lnTo>
                <a:lnTo>
                  <a:pt x="1647029" y="167399"/>
                </a:lnTo>
                <a:lnTo>
                  <a:pt x="1658151" y="167961"/>
                </a:lnTo>
                <a:lnTo>
                  <a:pt x="1664557" y="164336"/>
                </a:lnTo>
                <a:lnTo>
                  <a:pt x="1666281" y="156488"/>
                </a:lnTo>
                <a:lnTo>
                  <a:pt x="1673140" y="149898"/>
                </a:lnTo>
                <a:lnTo>
                  <a:pt x="1685156" y="144556"/>
                </a:lnTo>
                <a:lnTo>
                  <a:pt x="1691531" y="138058"/>
                </a:lnTo>
                <a:lnTo>
                  <a:pt x="1692261" y="130399"/>
                </a:lnTo>
                <a:lnTo>
                  <a:pt x="1706861" y="112080"/>
                </a:lnTo>
                <a:lnTo>
                  <a:pt x="1735415" y="83119"/>
                </a:lnTo>
                <a:lnTo>
                  <a:pt x="1762091" y="67296"/>
                </a:lnTo>
                <a:lnTo>
                  <a:pt x="1786870" y="64619"/>
                </a:lnTo>
                <a:lnTo>
                  <a:pt x="1810426" y="59121"/>
                </a:lnTo>
                <a:lnTo>
                  <a:pt x="1832798" y="50798"/>
                </a:lnTo>
                <a:lnTo>
                  <a:pt x="1849444" y="37185"/>
                </a:lnTo>
                <a:lnTo>
                  <a:pt x="1860377" y="18300"/>
                </a:lnTo>
                <a:lnTo>
                  <a:pt x="1878568" y="8156"/>
                </a:lnTo>
                <a:lnTo>
                  <a:pt x="1914765" y="6196"/>
                </a:lnTo>
                <a:close/>
              </a:path>
            </a:pathLst>
          </a:custGeom>
          <a:solidFill>
            <a:srgbClr val="FFFFFF"/>
          </a:solidFill>
          <a:ln w="762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elected market outside illustrated road reach"/>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elected market outside illustrated road reach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llustrated road connection within selected market"/>
          <p:cNvSpPr/>
          <p:nvPr/>
        </p:nvSpPr>
        <p:spPr>
          <a:xfrm>
            <a:off x="2238876" y="2867051"/>
            <a:ext cx="1475825" cy="1970989"/>
          </a:xfrm>
          <a:custGeom>
            <a:avLst/>
            <a:gdLst/>
            <a:ahLst/>
            <a:cxnLst/>
            <a:rect l="l" t="t" r="r" b="b"/>
            <a:pathLst>
              <a:path w="1475825" h="1970989">
                <a:moveTo>
                  <a:pt x="127776" y="1941452"/>
                </a:moveTo>
                <a:lnTo>
                  <a:pt x="134584" y="1941924"/>
                </a:lnTo>
                <a:lnTo>
                  <a:pt x="165006" y="1946800"/>
                </a:lnTo>
                <a:lnTo>
                  <a:pt x="201489" y="1952649"/>
                </a:lnTo>
                <a:lnTo>
                  <a:pt x="202236" y="1952890"/>
                </a:lnTo>
                <a:lnTo>
                  <a:pt x="202958" y="1953123"/>
                </a:lnTo>
                <a:lnTo>
                  <a:pt x="202972" y="1952384"/>
                </a:lnTo>
                <a:lnTo>
                  <a:pt x="203282" y="1952461"/>
                </a:lnTo>
                <a:lnTo>
                  <a:pt x="203896" y="1953217"/>
                </a:lnTo>
                <a:lnTo>
                  <a:pt x="204548" y="1953312"/>
                </a:lnTo>
                <a:lnTo>
                  <a:pt x="204749" y="1953701"/>
                </a:lnTo>
                <a:lnTo>
                  <a:pt x="206787" y="1954359"/>
                </a:lnTo>
                <a:lnTo>
                  <a:pt x="206818" y="1954307"/>
                </a:lnTo>
                <a:lnTo>
                  <a:pt x="207046" y="1954442"/>
                </a:lnTo>
                <a:lnTo>
                  <a:pt x="209927" y="1955372"/>
                </a:lnTo>
                <a:lnTo>
                  <a:pt x="209949" y="1955339"/>
                </a:lnTo>
                <a:lnTo>
                  <a:pt x="210001" y="1955395"/>
                </a:lnTo>
                <a:lnTo>
                  <a:pt x="222172" y="1959323"/>
                </a:lnTo>
                <a:lnTo>
                  <a:pt x="223066" y="1959179"/>
                </a:lnTo>
                <a:lnTo>
                  <a:pt x="223982" y="1959408"/>
                </a:lnTo>
                <a:lnTo>
                  <a:pt x="224670" y="1959168"/>
                </a:lnTo>
                <a:lnTo>
                  <a:pt x="225111" y="1959507"/>
                </a:lnTo>
                <a:lnTo>
                  <a:pt x="226032" y="1959418"/>
                </a:lnTo>
                <a:lnTo>
                  <a:pt x="226352" y="1959624"/>
                </a:lnTo>
                <a:lnTo>
                  <a:pt x="227671" y="1959245"/>
                </a:lnTo>
                <a:lnTo>
                  <a:pt x="228181" y="1959436"/>
                </a:lnTo>
                <a:lnTo>
                  <a:pt x="228908" y="1959334"/>
                </a:lnTo>
                <a:lnTo>
                  <a:pt x="228878" y="1959582"/>
                </a:lnTo>
                <a:lnTo>
                  <a:pt x="229989" y="1960307"/>
                </a:lnTo>
                <a:lnTo>
                  <a:pt x="230206" y="1960235"/>
                </a:lnTo>
                <a:lnTo>
                  <a:pt x="230282" y="1960553"/>
                </a:lnTo>
                <a:lnTo>
                  <a:pt x="230852" y="1960657"/>
                </a:lnTo>
                <a:lnTo>
                  <a:pt x="231642" y="1961648"/>
                </a:lnTo>
                <a:lnTo>
                  <a:pt x="232739" y="1961817"/>
                </a:lnTo>
                <a:lnTo>
                  <a:pt x="235195" y="1963301"/>
                </a:lnTo>
                <a:lnTo>
                  <a:pt x="235582" y="1963650"/>
                </a:lnTo>
                <a:lnTo>
                  <a:pt x="239466" y="1964903"/>
                </a:lnTo>
                <a:lnTo>
                  <a:pt x="258330" y="1970989"/>
                </a:lnTo>
                <a:lnTo>
                  <a:pt x="262322" y="1970864"/>
                </a:lnTo>
                <a:lnTo>
                  <a:pt x="263339" y="1970601"/>
                </a:lnTo>
                <a:lnTo>
                  <a:pt x="265327" y="1970715"/>
                </a:lnTo>
                <a:lnTo>
                  <a:pt x="265584" y="1970762"/>
                </a:lnTo>
                <a:lnTo>
                  <a:pt x="276697" y="1970413"/>
                </a:lnTo>
                <a:lnTo>
                  <a:pt x="290168" y="1969990"/>
                </a:lnTo>
                <a:lnTo>
                  <a:pt x="291639" y="1967526"/>
                </a:lnTo>
                <a:lnTo>
                  <a:pt x="292320" y="1965487"/>
                </a:lnTo>
                <a:lnTo>
                  <a:pt x="293115" y="1965054"/>
                </a:lnTo>
                <a:lnTo>
                  <a:pt x="300931" y="1951962"/>
                </a:lnTo>
                <a:lnTo>
                  <a:pt x="304738" y="1947922"/>
                </a:lnTo>
                <a:lnTo>
                  <a:pt x="304847" y="1947632"/>
                </a:lnTo>
                <a:lnTo>
                  <a:pt x="304161" y="1946094"/>
                </a:lnTo>
                <a:lnTo>
                  <a:pt x="304075" y="1944538"/>
                </a:lnTo>
                <a:lnTo>
                  <a:pt x="305527" y="1942744"/>
                </a:lnTo>
                <a:lnTo>
                  <a:pt x="309341" y="1940229"/>
                </a:lnTo>
                <a:lnTo>
                  <a:pt x="312380" y="1938829"/>
                </a:lnTo>
                <a:lnTo>
                  <a:pt x="313680" y="1938434"/>
                </a:lnTo>
                <a:lnTo>
                  <a:pt x="313928" y="1938171"/>
                </a:lnTo>
                <a:lnTo>
                  <a:pt x="314331" y="1937744"/>
                </a:lnTo>
                <a:lnTo>
                  <a:pt x="317688" y="1937435"/>
                </a:lnTo>
                <a:lnTo>
                  <a:pt x="318237" y="1937206"/>
                </a:lnTo>
                <a:lnTo>
                  <a:pt x="324653" y="1936281"/>
                </a:lnTo>
                <a:lnTo>
                  <a:pt x="328510" y="1935946"/>
                </a:lnTo>
                <a:lnTo>
                  <a:pt x="333693" y="1935966"/>
                </a:lnTo>
                <a:lnTo>
                  <a:pt x="334958" y="1935850"/>
                </a:lnTo>
                <a:lnTo>
                  <a:pt x="337313" y="1935634"/>
                </a:lnTo>
                <a:lnTo>
                  <a:pt x="338127" y="1935850"/>
                </a:lnTo>
                <a:lnTo>
                  <a:pt x="341224" y="1936672"/>
                </a:lnTo>
                <a:lnTo>
                  <a:pt x="341951" y="1936756"/>
                </a:lnTo>
                <a:lnTo>
                  <a:pt x="348995" y="1938511"/>
                </a:lnTo>
                <a:lnTo>
                  <a:pt x="351520" y="1939407"/>
                </a:lnTo>
                <a:lnTo>
                  <a:pt x="379634" y="1946873"/>
                </a:lnTo>
                <a:lnTo>
                  <a:pt x="388388" y="1947695"/>
                </a:lnTo>
                <a:lnTo>
                  <a:pt x="392978" y="1948127"/>
                </a:lnTo>
                <a:lnTo>
                  <a:pt x="401808" y="1944177"/>
                </a:lnTo>
                <a:lnTo>
                  <a:pt x="402422" y="1936490"/>
                </a:lnTo>
                <a:lnTo>
                  <a:pt x="401540" y="1937109"/>
                </a:lnTo>
                <a:lnTo>
                  <a:pt x="401048" y="1936720"/>
                </a:lnTo>
                <a:lnTo>
                  <a:pt x="401305" y="1936536"/>
                </a:lnTo>
                <a:lnTo>
                  <a:pt x="400776" y="1936534"/>
                </a:lnTo>
                <a:lnTo>
                  <a:pt x="400646" y="1936368"/>
                </a:lnTo>
                <a:lnTo>
                  <a:pt x="401680" y="1936238"/>
                </a:lnTo>
                <a:lnTo>
                  <a:pt x="401672" y="1936009"/>
                </a:lnTo>
                <a:lnTo>
                  <a:pt x="400862" y="1936074"/>
                </a:lnTo>
                <a:lnTo>
                  <a:pt x="400312" y="1935780"/>
                </a:lnTo>
                <a:lnTo>
                  <a:pt x="402229" y="1935507"/>
                </a:lnTo>
                <a:lnTo>
                  <a:pt x="402022" y="1934930"/>
                </a:lnTo>
                <a:lnTo>
                  <a:pt x="399969" y="1935077"/>
                </a:lnTo>
                <a:lnTo>
                  <a:pt x="398780" y="1934387"/>
                </a:lnTo>
                <a:lnTo>
                  <a:pt x="398334" y="1933784"/>
                </a:lnTo>
                <a:lnTo>
                  <a:pt x="398176" y="1930900"/>
                </a:lnTo>
                <a:lnTo>
                  <a:pt x="398477" y="1928940"/>
                </a:lnTo>
                <a:lnTo>
                  <a:pt x="399676" y="1924725"/>
                </a:lnTo>
                <a:lnTo>
                  <a:pt x="401224" y="1920793"/>
                </a:lnTo>
                <a:lnTo>
                  <a:pt x="401277" y="1920239"/>
                </a:lnTo>
                <a:lnTo>
                  <a:pt x="400958" y="1919933"/>
                </a:lnTo>
                <a:lnTo>
                  <a:pt x="401448" y="1919875"/>
                </a:lnTo>
                <a:lnTo>
                  <a:pt x="401744" y="1919495"/>
                </a:lnTo>
                <a:lnTo>
                  <a:pt x="402423" y="1917862"/>
                </a:lnTo>
                <a:lnTo>
                  <a:pt x="405741" y="1912971"/>
                </a:lnTo>
                <a:lnTo>
                  <a:pt x="408602" y="1909932"/>
                </a:lnTo>
                <a:lnTo>
                  <a:pt x="411107" y="1907815"/>
                </a:lnTo>
                <a:lnTo>
                  <a:pt x="415995" y="1904545"/>
                </a:lnTo>
                <a:lnTo>
                  <a:pt x="417380" y="1903967"/>
                </a:lnTo>
                <a:lnTo>
                  <a:pt x="419196" y="1902797"/>
                </a:lnTo>
                <a:lnTo>
                  <a:pt x="420442" y="1901622"/>
                </a:lnTo>
                <a:lnTo>
                  <a:pt x="422905" y="1900137"/>
                </a:lnTo>
                <a:lnTo>
                  <a:pt x="425232" y="1899111"/>
                </a:lnTo>
                <a:lnTo>
                  <a:pt x="425241" y="1899103"/>
                </a:lnTo>
                <a:lnTo>
                  <a:pt x="425254" y="1899101"/>
                </a:lnTo>
                <a:lnTo>
                  <a:pt x="425618" y="1898941"/>
                </a:lnTo>
                <a:lnTo>
                  <a:pt x="425618" y="1898619"/>
                </a:lnTo>
                <a:lnTo>
                  <a:pt x="426347" y="1898619"/>
                </a:lnTo>
                <a:lnTo>
                  <a:pt x="429707" y="1897137"/>
                </a:lnTo>
                <a:lnTo>
                  <a:pt x="438932" y="1895270"/>
                </a:lnTo>
                <a:lnTo>
                  <a:pt x="446136" y="1894536"/>
                </a:lnTo>
                <a:lnTo>
                  <a:pt x="456422" y="1894069"/>
                </a:lnTo>
                <a:lnTo>
                  <a:pt x="462985" y="1894404"/>
                </a:lnTo>
                <a:lnTo>
                  <a:pt x="470715" y="1895683"/>
                </a:lnTo>
                <a:lnTo>
                  <a:pt x="478090" y="1897762"/>
                </a:lnTo>
                <a:lnTo>
                  <a:pt x="482838" y="1899611"/>
                </a:lnTo>
                <a:lnTo>
                  <a:pt x="500079" y="1902056"/>
                </a:lnTo>
                <a:lnTo>
                  <a:pt x="511327" y="1903651"/>
                </a:lnTo>
                <a:lnTo>
                  <a:pt x="526883" y="1898619"/>
                </a:lnTo>
                <a:lnTo>
                  <a:pt x="536888" y="1895383"/>
                </a:lnTo>
                <a:lnTo>
                  <a:pt x="537309" y="1895190"/>
                </a:lnTo>
                <a:lnTo>
                  <a:pt x="553394" y="1887803"/>
                </a:lnTo>
                <a:lnTo>
                  <a:pt x="553860" y="1887132"/>
                </a:lnTo>
                <a:lnTo>
                  <a:pt x="554799" y="1886651"/>
                </a:lnTo>
                <a:lnTo>
                  <a:pt x="558156" y="1885610"/>
                </a:lnTo>
                <a:lnTo>
                  <a:pt x="558171" y="1885609"/>
                </a:lnTo>
                <a:lnTo>
                  <a:pt x="574540" y="1878091"/>
                </a:lnTo>
                <a:lnTo>
                  <a:pt x="601553" y="1865684"/>
                </a:lnTo>
                <a:lnTo>
                  <a:pt x="608264" y="1861389"/>
                </a:lnTo>
                <a:lnTo>
                  <a:pt x="611770" y="1859145"/>
                </a:lnTo>
                <a:lnTo>
                  <a:pt x="640014" y="1841067"/>
                </a:lnTo>
                <a:lnTo>
                  <a:pt x="640597" y="1840468"/>
                </a:lnTo>
                <a:lnTo>
                  <a:pt x="641493" y="1840120"/>
                </a:lnTo>
                <a:lnTo>
                  <a:pt x="641772" y="1839942"/>
                </a:lnTo>
                <a:lnTo>
                  <a:pt x="649001" y="1834499"/>
                </a:lnTo>
                <a:lnTo>
                  <a:pt x="662736" y="1824159"/>
                </a:lnTo>
                <a:lnTo>
                  <a:pt x="686231" y="1806470"/>
                </a:lnTo>
                <a:lnTo>
                  <a:pt x="698123" y="1797516"/>
                </a:lnTo>
                <a:lnTo>
                  <a:pt x="712008" y="1790906"/>
                </a:lnTo>
                <a:lnTo>
                  <a:pt x="716409" y="1786928"/>
                </a:lnTo>
                <a:lnTo>
                  <a:pt x="723461" y="1780556"/>
                </a:lnTo>
                <a:lnTo>
                  <a:pt x="748980" y="1757497"/>
                </a:lnTo>
                <a:lnTo>
                  <a:pt x="748991" y="1757256"/>
                </a:lnTo>
                <a:lnTo>
                  <a:pt x="748684" y="1756442"/>
                </a:lnTo>
                <a:lnTo>
                  <a:pt x="748761" y="1754971"/>
                </a:lnTo>
                <a:lnTo>
                  <a:pt x="751932" y="1751212"/>
                </a:lnTo>
                <a:lnTo>
                  <a:pt x="754293" y="1749435"/>
                </a:lnTo>
                <a:lnTo>
                  <a:pt x="756425" y="1748339"/>
                </a:lnTo>
                <a:lnTo>
                  <a:pt x="760304" y="1747264"/>
                </a:lnTo>
                <a:lnTo>
                  <a:pt x="760691" y="1746914"/>
                </a:lnTo>
                <a:lnTo>
                  <a:pt x="762561" y="1745224"/>
                </a:lnTo>
                <a:lnTo>
                  <a:pt x="793191" y="1724326"/>
                </a:lnTo>
                <a:lnTo>
                  <a:pt x="793190" y="1724323"/>
                </a:lnTo>
                <a:lnTo>
                  <a:pt x="793992" y="1723315"/>
                </a:lnTo>
                <a:lnTo>
                  <a:pt x="796184" y="1722276"/>
                </a:lnTo>
                <a:lnTo>
                  <a:pt x="797922" y="1720716"/>
                </a:lnTo>
                <a:lnTo>
                  <a:pt x="807108" y="1712468"/>
                </a:lnTo>
                <a:lnTo>
                  <a:pt x="835152" y="1687286"/>
                </a:lnTo>
                <a:lnTo>
                  <a:pt x="839824" y="1683092"/>
                </a:lnTo>
                <a:lnTo>
                  <a:pt x="839864" y="1682910"/>
                </a:lnTo>
                <a:lnTo>
                  <a:pt x="839730" y="1682306"/>
                </a:lnTo>
                <a:lnTo>
                  <a:pt x="840919" y="1681755"/>
                </a:lnTo>
                <a:lnTo>
                  <a:pt x="841455" y="1680915"/>
                </a:lnTo>
                <a:lnTo>
                  <a:pt x="842804" y="1680146"/>
                </a:lnTo>
                <a:lnTo>
                  <a:pt x="843522" y="1679015"/>
                </a:lnTo>
                <a:lnTo>
                  <a:pt x="843686" y="1678326"/>
                </a:lnTo>
                <a:lnTo>
                  <a:pt x="844557" y="1677674"/>
                </a:lnTo>
                <a:lnTo>
                  <a:pt x="844632" y="1677252"/>
                </a:lnTo>
                <a:lnTo>
                  <a:pt x="845377" y="1676671"/>
                </a:lnTo>
                <a:lnTo>
                  <a:pt x="845628" y="1677008"/>
                </a:lnTo>
                <a:lnTo>
                  <a:pt x="846186" y="1676901"/>
                </a:lnTo>
                <a:lnTo>
                  <a:pt x="847882" y="1675857"/>
                </a:lnTo>
                <a:lnTo>
                  <a:pt x="848571" y="1675238"/>
                </a:lnTo>
                <a:lnTo>
                  <a:pt x="849035" y="1674821"/>
                </a:lnTo>
                <a:lnTo>
                  <a:pt x="849100" y="1673701"/>
                </a:lnTo>
                <a:lnTo>
                  <a:pt x="850218" y="1673343"/>
                </a:lnTo>
                <a:lnTo>
                  <a:pt x="851411" y="1671323"/>
                </a:lnTo>
                <a:lnTo>
                  <a:pt x="852104" y="1671234"/>
                </a:lnTo>
                <a:lnTo>
                  <a:pt x="852407" y="1670672"/>
                </a:lnTo>
                <a:lnTo>
                  <a:pt x="852906" y="1670453"/>
                </a:lnTo>
                <a:lnTo>
                  <a:pt x="853786" y="1670555"/>
                </a:lnTo>
                <a:lnTo>
                  <a:pt x="854871" y="1669581"/>
                </a:lnTo>
                <a:lnTo>
                  <a:pt x="861043" y="1662354"/>
                </a:lnTo>
                <a:lnTo>
                  <a:pt x="861026" y="1661678"/>
                </a:lnTo>
                <a:lnTo>
                  <a:pt x="861344" y="1661631"/>
                </a:lnTo>
                <a:lnTo>
                  <a:pt x="861500" y="1661820"/>
                </a:lnTo>
                <a:lnTo>
                  <a:pt x="872382" y="1649079"/>
                </a:lnTo>
                <a:lnTo>
                  <a:pt x="881840" y="1638007"/>
                </a:lnTo>
                <a:lnTo>
                  <a:pt x="894785" y="1622852"/>
                </a:lnTo>
                <a:lnTo>
                  <a:pt x="900642" y="1616969"/>
                </a:lnTo>
                <a:lnTo>
                  <a:pt x="900650" y="1616914"/>
                </a:lnTo>
                <a:lnTo>
                  <a:pt x="900794" y="1616816"/>
                </a:lnTo>
                <a:lnTo>
                  <a:pt x="902782" y="1614819"/>
                </a:lnTo>
                <a:lnTo>
                  <a:pt x="902693" y="1614664"/>
                </a:lnTo>
                <a:lnTo>
                  <a:pt x="903115" y="1614485"/>
                </a:lnTo>
                <a:lnTo>
                  <a:pt x="909613" y="1607958"/>
                </a:lnTo>
                <a:lnTo>
                  <a:pt x="911633" y="1605929"/>
                </a:lnTo>
                <a:lnTo>
                  <a:pt x="911479" y="1605721"/>
                </a:lnTo>
                <a:lnTo>
                  <a:pt x="911582" y="1605465"/>
                </a:lnTo>
                <a:lnTo>
                  <a:pt x="912038" y="1605292"/>
                </a:lnTo>
                <a:lnTo>
                  <a:pt x="912043" y="1604924"/>
                </a:lnTo>
                <a:lnTo>
                  <a:pt x="912322" y="1604702"/>
                </a:lnTo>
                <a:lnTo>
                  <a:pt x="912688" y="1604498"/>
                </a:lnTo>
                <a:lnTo>
                  <a:pt x="912948" y="1604607"/>
                </a:lnTo>
                <a:lnTo>
                  <a:pt x="912959" y="1604597"/>
                </a:lnTo>
                <a:lnTo>
                  <a:pt x="912943" y="1604391"/>
                </a:lnTo>
                <a:lnTo>
                  <a:pt x="913266" y="1604288"/>
                </a:lnTo>
                <a:lnTo>
                  <a:pt x="914316" y="1603233"/>
                </a:lnTo>
                <a:lnTo>
                  <a:pt x="914214" y="1602974"/>
                </a:lnTo>
                <a:lnTo>
                  <a:pt x="914501" y="1602356"/>
                </a:lnTo>
                <a:lnTo>
                  <a:pt x="914282" y="1601519"/>
                </a:lnTo>
                <a:lnTo>
                  <a:pt x="914695" y="1601159"/>
                </a:lnTo>
                <a:lnTo>
                  <a:pt x="914623" y="1600551"/>
                </a:lnTo>
                <a:lnTo>
                  <a:pt x="915432" y="1599832"/>
                </a:lnTo>
                <a:lnTo>
                  <a:pt x="916094" y="1599769"/>
                </a:lnTo>
                <a:lnTo>
                  <a:pt x="917047" y="1598571"/>
                </a:lnTo>
                <a:lnTo>
                  <a:pt x="917005" y="1598120"/>
                </a:lnTo>
                <a:lnTo>
                  <a:pt x="917540" y="1598042"/>
                </a:lnTo>
                <a:lnTo>
                  <a:pt x="917833" y="1597379"/>
                </a:lnTo>
                <a:lnTo>
                  <a:pt x="918109" y="1597371"/>
                </a:lnTo>
                <a:lnTo>
                  <a:pt x="918673" y="1596793"/>
                </a:lnTo>
                <a:lnTo>
                  <a:pt x="918889" y="1595981"/>
                </a:lnTo>
                <a:lnTo>
                  <a:pt x="919595" y="1595368"/>
                </a:lnTo>
                <a:lnTo>
                  <a:pt x="919882" y="1595471"/>
                </a:lnTo>
                <a:lnTo>
                  <a:pt x="920504" y="1594854"/>
                </a:lnTo>
                <a:lnTo>
                  <a:pt x="920284" y="1594559"/>
                </a:lnTo>
                <a:lnTo>
                  <a:pt x="921018" y="1594406"/>
                </a:lnTo>
                <a:lnTo>
                  <a:pt x="921396" y="1593780"/>
                </a:lnTo>
                <a:lnTo>
                  <a:pt x="922213" y="1593224"/>
                </a:lnTo>
                <a:lnTo>
                  <a:pt x="922273" y="1592816"/>
                </a:lnTo>
                <a:lnTo>
                  <a:pt x="923010" y="1592487"/>
                </a:lnTo>
                <a:lnTo>
                  <a:pt x="923100" y="1592045"/>
                </a:lnTo>
                <a:lnTo>
                  <a:pt x="924615" y="1591515"/>
                </a:lnTo>
                <a:lnTo>
                  <a:pt x="925408" y="1591735"/>
                </a:lnTo>
                <a:lnTo>
                  <a:pt x="926028" y="1591274"/>
                </a:lnTo>
                <a:lnTo>
                  <a:pt x="926224" y="1591272"/>
                </a:lnTo>
                <a:lnTo>
                  <a:pt x="927164" y="1590328"/>
                </a:lnTo>
                <a:lnTo>
                  <a:pt x="926667" y="1589493"/>
                </a:lnTo>
                <a:lnTo>
                  <a:pt x="926987" y="1589096"/>
                </a:lnTo>
                <a:lnTo>
                  <a:pt x="927354" y="1589271"/>
                </a:lnTo>
                <a:lnTo>
                  <a:pt x="928081" y="1588521"/>
                </a:lnTo>
                <a:lnTo>
                  <a:pt x="928353" y="1587832"/>
                </a:lnTo>
                <a:lnTo>
                  <a:pt x="928583" y="1586497"/>
                </a:lnTo>
                <a:lnTo>
                  <a:pt x="928553" y="1583661"/>
                </a:lnTo>
                <a:lnTo>
                  <a:pt x="929327" y="1583474"/>
                </a:lnTo>
                <a:lnTo>
                  <a:pt x="930880" y="1582069"/>
                </a:lnTo>
                <a:lnTo>
                  <a:pt x="932392" y="1581903"/>
                </a:lnTo>
                <a:lnTo>
                  <a:pt x="933160" y="1580889"/>
                </a:lnTo>
                <a:lnTo>
                  <a:pt x="934011" y="1580298"/>
                </a:lnTo>
                <a:lnTo>
                  <a:pt x="935238" y="1579864"/>
                </a:lnTo>
                <a:lnTo>
                  <a:pt x="935199" y="1579143"/>
                </a:lnTo>
                <a:lnTo>
                  <a:pt x="935802" y="1578655"/>
                </a:lnTo>
                <a:lnTo>
                  <a:pt x="935341" y="1578345"/>
                </a:lnTo>
                <a:lnTo>
                  <a:pt x="935512" y="1578059"/>
                </a:lnTo>
                <a:lnTo>
                  <a:pt x="935405" y="1577402"/>
                </a:lnTo>
                <a:lnTo>
                  <a:pt x="936567" y="1576617"/>
                </a:lnTo>
                <a:lnTo>
                  <a:pt x="936739" y="1575415"/>
                </a:lnTo>
                <a:lnTo>
                  <a:pt x="937071" y="1575133"/>
                </a:lnTo>
                <a:lnTo>
                  <a:pt x="937303" y="1575207"/>
                </a:lnTo>
                <a:lnTo>
                  <a:pt x="937459" y="1574358"/>
                </a:lnTo>
                <a:lnTo>
                  <a:pt x="937975" y="1573675"/>
                </a:lnTo>
                <a:lnTo>
                  <a:pt x="938527" y="1573713"/>
                </a:lnTo>
                <a:lnTo>
                  <a:pt x="938624" y="1573376"/>
                </a:lnTo>
                <a:lnTo>
                  <a:pt x="938230" y="1572981"/>
                </a:lnTo>
                <a:lnTo>
                  <a:pt x="939608" y="1572164"/>
                </a:lnTo>
                <a:lnTo>
                  <a:pt x="940420" y="1571906"/>
                </a:lnTo>
                <a:lnTo>
                  <a:pt x="941003" y="1572006"/>
                </a:lnTo>
                <a:lnTo>
                  <a:pt x="941608" y="1571338"/>
                </a:lnTo>
                <a:lnTo>
                  <a:pt x="943558" y="1570636"/>
                </a:lnTo>
                <a:lnTo>
                  <a:pt x="945497" y="1570930"/>
                </a:lnTo>
                <a:lnTo>
                  <a:pt x="946137" y="1570505"/>
                </a:lnTo>
                <a:lnTo>
                  <a:pt x="947247" y="1570201"/>
                </a:lnTo>
                <a:lnTo>
                  <a:pt x="950277" y="1567556"/>
                </a:lnTo>
                <a:lnTo>
                  <a:pt x="950308" y="1567506"/>
                </a:lnTo>
                <a:lnTo>
                  <a:pt x="950334" y="1567507"/>
                </a:lnTo>
                <a:lnTo>
                  <a:pt x="954872" y="1563546"/>
                </a:lnTo>
                <a:lnTo>
                  <a:pt x="983759" y="1538333"/>
                </a:lnTo>
                <a:lnTo>
                  <a:pt x="983885" y="1537711"/>
                </a:lnTo>
                <a:lnTo>
                  <a:pt x="984392" y="1537227"/>
                </a:lnTo>
                <a:lnTo>
                  <a:pt x="984631" y="1537639"/>
                </a:lnTo>
                <a:lnTo>
                  <a:pt x="987434" y="1535366"/>
                </a:lnTo>
                <a:lnTo>
                  <a:pt x="988254" y="1535461"/>
                </a:lnTo>
                <a:lnTo>
                  <a:pt x="988476" y="1535199"/>
                </a:lnTo>
                <a:lnTo>
                  <a:pt x="988154" y="1534909"/>
                </a:lnTo>
                <a:lnTo>
                  <a:pt x="988929" y="1534881"/>
                </a:lnTo>
                <a:lnTo>
                  <a:pt x="989029" y="1534218"/>
                </a:lnTo>
                <a:lnTo>
                  <a:pt x="989885" y="1534780"/>
                </a:lnTo>
                <a:lnTo>
                  <a:pt x="990904" y="1534042"/>
                </a:lnTo>
                <a:lnTo>
                  <a:pt x="991217" y="1534236"/>
                </a:lnTo>
                <a:lnTo>
                  <a:pt x="991654" y="1534191"/>
                </a:lnTo>
                <a:lnTo>
                  <a:pt x="997687" y="1531066"/>
                </a:lnTo>
                <a:lnTo>
                  <a:pt x="1003841" y="1526316"/>
                </a:lnTo>
                <a:lnTo>
                  <a:pt x="1017785" y="1515554"/>
                </a:lnTo>
                <a:lnTo>
                  <a:pt x="1017690" y="1515503"/>
                </a:lnTo>
                <a:lnTo>
                  <a:pt x="1017531" y="1514861"/>
                </a:lnTo>
                <a:lnTo>
                  <a:pt x="1018328" y="1514543"/>
                </a:lnTo>
                <a:lnTo>
                  <a:pt x="1018592" y="1514753"/>
                </a:lnTo>
                <a:lnTo>
                  <a:pt x="1018679" y="1514734"/>
                </a:lnTo>
                <a:lnTo>
                  <a:pt x="1021304" y="1511644"/>
                </a:lnTo>
                <a:lnTo>
                  <a:pt x="1040467" y="1489086"/>
                </a:lnTo>
                <a:lnTo>
                  <a:pt x="1058534" y="1467818"/>
                </a:lnTo>
                <a:lnTo>
                  <a:pt x="1064673" y="1460592"/>
                </a:lnTo>
                <a:lnTo>
                  <a:pt x="1065275" y="1459636"/>
                </a:lnTo>
                <a:lnTo>
                  <a:pt x="1065960" y="1459077"/>
                </a:lnTo>
                <a:lnTo>
                  <a:pt x="1066019" y="1459007"/>
                </a:lnTo>
                <a:lnTo>
                  <a:pt x="1068050" y="1456047"/>
                </a:lnTo>
                <a:lnTo>
                  <a:pt x="1067956" y="1455590"/>
                </a:lnTo>
                <a:lnTo>
                  <a:pt x="1068509" y="1454905"/>
                </a:lnTo>
                <a:lnTo>
                  <a:pt x="1068486" y="1454358"/>
                </a:lnTo>
                <a:lnTo>
                  <a:pt x="1068979" y="1453653"/>
                </a:lnTo>
                <a:lnTo>
                  <a:pt x="1070233" y="1452569"/>
                </a:lnTo>
                <a:lnTo>
                  <a:pt x="1070430" y="1451981"/>
                </a:lnTo>
                <a:lnTo>
                  <a:pt x="1071212" y="1451438"/>
                </a:lnTo>
                <a:lnTo>
                  <a:pt x="1094129" y="1418032"/>
                </a:lnTo>
                <a:lnTo>
                  <a:pt x="1095765" y="1415542"/>
                </a:lnTo>
                <a:lnTo>
                  <a:pt x="1095765" y="1414625"/>
                </a:lnTo>
                <a:lnTo>
                  <a:pt x="1096367" y="1414625"/>
                </a:lnTo>
                <a:lnTo>
                  <a:pt x="1120817" y="1377395"/>
                </a:lnTo>
                <a:lnTo>
                  <a:pt x="1123664" y="1373059"/>
                </a:lnTo>
                <a:lnTo>
                  <a:pt x="1132995" y="1356849"/>
                </a:lnTo>
                <a:lnTo>
                  <a:pt x="1142599" y="1340165"/>
                </a:lnTo>
                <a:lnTo>
                  <a:pt x="1155045" y="1318541"/>
                </a:lnTo>
                <a:lnTo>
                  <a:pt x="1155038" y="1318244"/>
                </a:lnTo>
                <a:lnTo>
                  <a:pt x="1158432" y="1312608"/>
                </a:lnTo>
                <a:lnTo>
                  <a:pt x="1160555" y="1309943"/>
                </a:lnTo>
                <a:lnTo>
                  <a:pt x="1163048" y="1307674"/>
                </a:lnTo>
                <a:lnTo>
                  <a:pt x="1166964" y="1302934"/>
                </a:lnTo>
                <a:lnTo>
                  <a:pt x="1170225" y="1298987"/>
                </a:lnTo>
                <a:lnTo>
                  <a:pt x="1179625" y="1287611"/>
                </a:lnTo>
                <a:lnTo>
                  <a:pt x="1182873" y="1280761"/>
                </a:lnTo>
                <a:lnTo>
                  <a:pt x="1182274" y="1279042"/>
                </a:lnTo>
                <a:lnTo>
                  <a:pt x="1182130" y="1276751"/>
                </a:lnTo>
                <a:lnTo>
                  <a:pt x="1182485" y="1274769"/>
                </a:lnTo>
                <a:lnTo>
                  <a:pt x="1183421" y="1271835"/>
                </a:lnTo>
                <a:lnTo>
                  <a:pt x="1185993" y="1266447"/>
                </a:lnTo>
                <a:lnTo>
                  <a:pt x="1190515" y="1259575"/>
                </a:lnTo>
                <a:lnTo>
                  <a:pt x="1191697" y="1256919"/>
                </a:lnTo>
                <a:lnTo>
                  <a:pt x="1194360" y="1252452"/>
                </a:lnTo>
                <a:lnTo>
                  <a:pt x="1195111" y="1250696"/>
                </a:lnTo>
                <a:lnTo>
                  <a:pt x="1195973" y="1249640"/>
                </a:lnTo>
                <a:lnTo>
                  <a:pt x="1197311" y="1246728"/>
                </a:lnTo>
                <a:lnTo>
                  <a:pt x="1201628" y="1241080"/>
                </a:lnTo>
                <a:lnTo>
                  <a:pt x="1201960" y="1240515"/>
                </a:lnTo>
                <a:lnTo>
                  <a:pt x="1203373" y="1237534"/>
                </a:lnTo>
                <a:lnTo>
                  <a:pt x="1207455" y="1232155"/>
                </a:lnTo>
                <a:lnTo>
                  <a:pt x="1210249" y="1228473"/>
                </a:lnTo>
                <a:lnTo>
                  <a:pt x="1229053" y="1203696"/>
                </a:lnTo>
                <a:lnTo>
                  <a:pt x="1241296" y="1191243"/>
                </a:lnTo>
                <a:lnTo>
                  <a:pt x="1244686" y="1187796"/>
                </a:lnTo>
                <a:lnTo>
                  <a:pt x="1277902" y="1154013"/>
                </a:lnTo>
                <a:lnTo>
                  <a:pt x="1281916" y="1149930"/>
                </a:lnTo>
                <a:lnTo>
                  <a:pt x="1297116" y="1134471"/>
                </a:lnTo>
                <a:lnTo>
                  <a:pt x="1313754" y="1131292"/>
                </a:lnTo>
                <a:lnTo>
                  <a:pt x="1319147" y="1128951"/>
                </a:lnTo>
                <a:lnTo>
                  <a:pt x="1323274" y="1127159"/>
                </a:lnTo>
                <a:lnTo>
                  <a:pt x="1334115" y="1120474"/>
                </a:lnTo>
                <a:lnTo>
                  <a:pt x="1338455" y="1116782"/>
                </a:lnTo>
                <a:lnTo>
                  <a:pt x="1356377" y="1101539"/>
                </a:lnTo>
                <a:lnTo>
                  <a:pt x="1373759" y="1086754"/>
                </a:lnTo>
                <a:lnTo>
                  <a:pt x="1379009" y="1079552"/>
                </a:lnTo>
                <a:lnTo>
                  <a:pt x="1387996" y="1067222"/>
                </a:lnTo>
                <a:lnTo>
                  <a:pt x="1393607" y="1057013"/>
                </a:lnTo>
                <a:lnTo>
                  <a:pt x="1401682" y="1042322"/>
                </a:lnTo>
                <a:lnTo>
                  <a:pt x="1414268" y="1019421"/>
                </a:lnTo>
                <a:lnTo>
                  <a:pt x="1417825" y="1005091"/>
                </a:lnTo>
                <a:lnTo>
                  <a:pt x="1427064" y="967861"/>
                </a:lnTo>
                <a:lnTo>
                  <a:pt x="1430838" y="952656"/>
                </a:lnTo>
                <a:lnTo>
                  <a:pt x="1436304" y="930630"/>
                </a:lnTo>
                <a:lnTo>
                  <a:pt x="1438240" y="922827"/>
                </a:lnTo>
                <a:lnTo>
                  <a:pt x="1447111" y="895947"/>
                </a:lnTo>
                <a:lnTo>
                  <a:pt x="1448196" y="893400"/>
                </a:lnTo>
                <a:lnTo>
                  <a:pt x="1464048" y="856170"/>
                </a:lnTo>
                <a:lnTo>
                  <a:pt x="1468068" y="846730"/>
                </a:lnTo>
                <a:lnTo>
                  <a:pt x="1471917" y="837690"/>
                </a:lnTo>
                <a:lnTo>
                  <a:pt x="1475825" y="818940"/>
                </a:lnTo>
                <a:lnTo>
                  <a:pt x="1468068" y="818940"/>
                </a:lnTo>
                <a:lnTo>
                  <a:pt x="1468068" y="801721"/>
                </a:lnTo>
                <a:lnTo>
                  <a:pt x="1467936" y="801714"/>
                </a:lnTo>
                <a:lnTo>
                  <a:pt x="1462885" y="801092"/>
                </a:lnTo>
                <a:lnTo>
                  <a:pt x="1455947" y="801465"/>
                </a:lnTo>
                <a:lnTo>
                  <a:pt x="1449626" y="801133"/>
                </a:lnTo>
                <a:lnTo>
                  <a:pt x="1432377" y="799434"/>
                </a:lnTo>
                <a:lnTo>
                  <a:pt x="1400099" y="797363"/>
                </a:lnTo>
                <a:lnTo>
                  <a:pt x="1400088" y="796749"/>
                </a:lnTo>
                <a:lnTo>
                  <a:pt x="1399032" y="796466"/>
                </a:lnTo>
                <a:lnTo>
                  <a:pt x="1398943" y="796620"/>
                </a:lnTo>
                <a:lnTo>
                  <a:pt x="1397769" y="797199"/>
                </a:lnTo>
                <a:lnTo>
                  <a:pt x="1397040" y="795932"/>
                </a:lnTo>
                <a:lnTo>
                  <a:pt x="1395237" y="795449"/>
                </a:lnTo>
                <a:lnTo>
                  <a:pt x="1394474" y="795766"/>
                </a:lnTo>
                <a:lnTo>
                  <a:pt x="1392663" y="795042"/>
                </a:lnTo>
                <a:lnTo>
                  <a:pt x="1391510" y="795005"/>
                </a:lnTo>
                <a:lnTo>
                  <a:pt x="1390450" y="794250"/>
                </a:lnTo>
                <a:lnTo>
                  <a:pt x="1389677" y="794343"/>
                </a:lnTo>
                <a:lnTo>
                  <a:pt x="1387973" y="793862"/>
                </a:lnTo>
                <a:lnTo>
                  <a:pt x="1386983" y="794001"/>
                </a:lnTo>
                <a:lnTo>
                  <a:pt x="1386513" y="793119"/>
                </a:lnTo>
                <a:lnTo>
                  <a:pt x="1386501" y="793109"/>
                </a:lnTo>
                <a:lnTo>
                  <a:pt x="1380672" y="791547"/>
                </a:lnTo>
                <a:lnTo>
                  <a:pt x="1379812" y="792218"/>
                </a:lnTo>
                <a:lnTo>
                  <a:pt x="1379191" y="794570"/>
                </a:lnTo>
                <a:lnTo>
                  <a:pt x="1378156" y="794807"/>
                </a:lnTo>
                <a:lnTo>
                  <a:pt x="1376429" y="795758"/>
                </a:lnTo>
                <a:lnTo>
                  <a:pt x="1375797" y="795746"/>
                </a:lnTo>
                <a:lnTo>
                  <a:pt x="1373241" y="794982"/>
                </a:lnTo>
                <a:lnTo>
                  <a:pt x="1371836" y="794311"/>
                </a:lnTo>
                <a:lnTo>
                  <a:pt x="1370300" y="793013"/>
                </a:lnTo>
                <a:lnTo>
                  <a:pt x="1369879" y="791701"/>
                </a:lnTo>
                <a:lnTo>
                  <a:pt x="1367402" y="791438"/>
                </a:lnTo>
                <a:lnTo>
                  <a:pt x="1366949" y="791213"/>
                </a:lnTo>
                <a:lnTo>
                  <a:pt x="1365816" y="791233"/>
                </a:lnTo>
                <a:lnTo>
                  <a:pt x="1361342" y="788545"/>
                </a:lnTo>
                <a:lnTo>
                  <a:pt x="1357395" y="787232"/>
                </a:lnTo>
                <a:lnTo>
                  <a:pt x="1357322" y="787244"/>
                </a:lnTo>
                <a:lnTo>
                  <a:pt x="1356043" y="786929"/>
                </a:lnTo>
                <a:lnTo>
                  <a:pt x="1355786" y="786697"/>
                </a:lnTo>
                <a:lnTo>
                  <a:pt x="1353080" y="785798"/>
                </a:lnTo>
                <a:lnTo>
                  <a:pt x="1351299" y="786110"/>
                </a:lnTo>
                <a:lnTo>
                  <a:pt x="1351678" y="787164"/>
                </a:lnTo>
                <a:lnTo>
                  <a:pt x="1347775" y="804193"/>
                </a:lnTo>
                <a:lnTo>
                  <a:pt x="1348311" y="806526"/>
                </a:lnTo>
                <a:lnTo>
                  <a:pt x="1345362" y="816806"/>
                </a:lnTo>
                <a:lnTo>
                  <a:pt x="1345650" y="817654"/>
                </a:lnTo>
                <a:lnTo>
                  <a:pt x="1345082" y="822983"/>
                </a:lnTo>
                <a:lnTo>
                  <a:pt x="1343816" y="831580"/>
                </a:lnTo>
                <a:lnTo>
                  <a:pt x="1342835" y="835725"/>
                </a:lnTo>
                <a:lnTo>
                  <a:pt x="1343106" y="836643"/>
                </a:lnTo>
                <a:lnTo>
                  <a:pt x="1343070" y="838082"/>
                </a:lnTo>
                <a:lnTo>
                  <a:pt x="1342472" y="841000"/>
                </a:lnTo>
                <a:lnTo>
                  <a:pt x="1342222" y="853304"/>
                </a:lnTo>
                <a:lnTo>
                  <a:pt x="1341202" y="867799"/>
                </a:lnTo>
                <a:lnTo>
                  <a:pt x="1341434" y="868930"/>
                </a:lnTo>
                <a:lnTo>
                  <a:pt x="1270305" y="864546"/>
                </a:lnTo>
                <a:lnTo>
                  <a:pt x="1238657" y="850955"/>
                </a:lnTo>
                <a:lnTo>
                  <a:pt x="1220781" y="843234"/>
                </a:lnTo>
                <a:lnTo>
                  <a:pt x="1211970" y="830233"/>
                </a:lnTo>
                <a:lnTo>
                  <a:pt x="1208674" y="827771"/>
                </a:lnTo>
                <a:lnTo>
                  <a:pt x="1207455" y="825369"/>
                </a:lnTo>
                <a:lnTo>
                  <a:pt x="1206355" y="823199"/>
                </a:lnTo>
                <a:lnTo>
                  <a:pt x="1202899" y="820118"/>
                </a:lnTo>
                <a:lnTo>
                  <a:pt x="1197690" y="814764"/>
                </a:lnTo>
                <a:lnTo>
                  <a:pt x="1194147" y="807172"/>
                </a:lnTo>
                <a:lnTo>
                  <a:pt x="1196286" y="803352"/>
                </a:lnTo>
                <a:lnTo>
                  <a:pt x="1191763" y="794436"/>
                </a:lnTo>
                <a:lnTo>
                  <a:pt x="1188856" y="785969"/>
                </a:lnTo>
                <a:lnTo>
                  <a:pt x="1187673" y="784993"/>
                </a:lnTo>
                <a:lnTo>
                  <a:pt x="1187643" y="784167"/>
                </a:lnTo>
                <a:lnTo>
                  <a:pt x="1186973" y="783615"/>
                </a:lnTo>
                <a:lnTo>
                  <a:pt x="1186315" y="778567"/>
                </a:lnTo>
                <a:lnTo>
                  <a:pt x="1185243" y="775443"/>
                </a:lnTo>
                <a:lnTo>
                  <a:pt x="1185138" y="775553"/>
                </a:lnTo>
                <a:lnTo>
                  <a:pt x="1182840" y="776383"/>
                </a:lnTo>
                <a:lnTo>
                  <a:pt x="1181244" y="777858"/>
                </a:lnTo>
                <a:lnTo>
                  <a:pt x="1179990" y="777630"/>
                </a:lnTo>
                <a:lnTo>
                  <a:pt x="1179222" y="777809"/>
                </a:lnTo>
                <a:lnTo>
                  <a:pt x="1178578" y="778788"/>
                </a:lnTo>
                <a:lnTo>
                  <a:pt x="1177395" y="779032"/>
                </a:lnTo>
                <a:lnTo>
                  <a:pt x="1175699" y="781140"/>
                </a:lnTo>
                <a:lnTo>
                  <a:pt x="1173879" y="781768"/>
                </a:lnTo>
                <a:lnTo>
                  <a:pt x="1173788" y="781602"/>
                </a:lnTo>
                <a:lnTo>
                  <a:pt x="1172475" y="778318"/>
                </a:lnTo>
                <a:lnTo>
                  <a:pt x="1172028" y="769089"/>
                </a:lnTo>
                <a:lnTo>
                  <a:pt x="1171704" y="768401"/>
                </a:lnTo>
                <a:lnTo>
                  <a:pt x="1171734" y="763011"/>
                </a:lnTo>
                <a:lnTo>
                  <a:pt x="1171579" y="759803"/>
                </a:lnTo>
                <a:lnTo>
                  <a:pt x="1171772" y="756117"/>
                </a:lnTo>
                <a:lnTo>
                  <a:pt x="1171837" y="744479"/>
                </a:lnTo>
                <a:lnTo>
                  <a:pt x="1171842" y="743511"/>
                </a:lnTo>
                <a:lnTo>
                  <a:pt x="1173276" y="717426"/>
                </a:lnTo>
                <a:lnTo>
                  <a:pt x="1175708" y="710601"/>
                </a:lnTo>
                <a:lnTo>
                  <a:pt x="1178140" y="707249"/>
                </a:lnTo>
                <a:lnTo>
                  <a:pt x="1198260" y="679505"/>
                </a:lnTo>
                <a:lnTo>
                  <a:pt x="1205153" y="670018"/>
                </a:lnTo>
                <a:lnTo>
                  <a:pt x="1207455" y="666850"/>
                </a:lnTo>
                <a:lnTo>
                  <a:pt x="1212291" y="660195"/>
                </a:lnTo>
                <a:lnTo>
                  <a:pt x="1221360" y="641291"/>
                </a:lnTo>
                <a:lnTo>
                  <a:pt x="1226707" y="635122"/>
                </a:lnTo>
                <a:lnTo>
                  <a:pt x="1227559" y="631764"/>
                </a:lnTo>
                <a:lnTo>
                  <a:pt x="1234559" y="626062"/>
                </a:lnTo>
                <a:lnTo>
                  <a:pt x="1240206" y="619546"/>
                </a:lnTo>
                <a:lnTo>
                  <a:pt x="1244686" y="616486"/>
                </a:lnTo>
                <a:lnTo>
                  <a:pt x="1250186" y="612730"/>
                </a:lnTo>
                <a:lnTo>
                  <a:pt x="1257203" y="603836"/>
                </a:lnTo>
                <a:lnTo>
                  <a:pt x="1272367" y="600615"/>
                </a:lnTo>
                <a:lnTo>
                  <a:pt x="1314586" y="633170"/>
                </a:lnTo>
                <a:lnTo>
                  <a:pt x="1319147" y="636007"/>
                </a:lnTo>
                <a:lnTo>
                  <a:pt x="1337902" y="647677"/>
                </a:lnTo>
                <a:lnTo>
                  <a:pt x="1345482" y="645975"/>
                </a:lnTo>
                <a:lnTo>
                  <a:pt x="1349533" y="644366"/>
                </a:lnTo>
                <a:lnTo>
                  <a:pt x="1347315" y="632788"/>
                </a:lnTo>
                <a:lnTo>
                  <a:pt x="1347217" y="632278"/>
                </a:lnTo>
                <a:lnTo>
                  <a:pt x="1347019" y="613835"/>
                </a:lnTo>
                <a:lnTo>
                  <a:pt x="1355689" y="595557"/>
                </a:lnTo>
                <a:lnTo>
                  <a:pt x="1356377" y="594108"/>
                </a:lnTo>
                <a:lnTo>
                  <a:pt x="1357867" y="590967"/>
                </a:lnTo>
                <a:lnTo>
                  <a:pt x="1358524" y="573155"/>
                </a:lnTo>
                <a:lnTo>
                  <a:pt x="1358350" y="573112"/>
                </a:lnTo>
                <a:lnTo>
                  <a:pt x="1357885" y="570766"/>
                </a:lnTo>
                <a:lnTo>
                  <a:pt x="1358201" y="564977"/>
                </a:lnTo>
                <a:lnTo>
                  <a:pt x="1358690" y="562089"/>
                </a:lnTo>
                <a:lnTo>
                  <a:pt x="1358950" y="561600"/>
                </a:lnTo>
                <a:lnTo>
                  <a:pt x="1359070" y="558327"/>
                </a:lnTo>
                <a:lnTo>
                  <a:pt x="1359525" y="545995"/>
                </a:lnTo>
                <a:lnTo>
                  <a:pt x="1361517" y="530232"/>
                </a:lnTo>
                <a:lnTo>
                  <a:pt x="1361952" y="521097"/>
                </a:lnTo>
                <a:lnTo>
                  <a:pt x="1363006" y="498952"/>
                </a:lnTo>
                <a:lnTo>
                  <a:pt x="1363729" y="483866"/>
                </a:lnTo>
                <a:lnTo>
                  <a:pt x="1364823" y="461057"/>
                </a:lnTo>
                <a:lnTo>
                  <a:pt x="1365513" y="446636"/>
                </a:lnTo>
                <a:lnTo>
                  <a:pt x="1366447" y="427127"/>
                </a:lnTo>
                <a:lnTo>
                  <a:pt x="1367624" y="409406"/>
                </a:lnTo>
                <a:lnTo>
                  <a:pt x="1356377" y="409406"/>
                </a:lnTo>
                <a:lnTo>
                  <a:pt x="1319147" y="409406"/>
                </a:lnTo>
                <a:lnTo>
                  <a:pt x="1281916" y="409406"/>
                </a:lnTo>
                <a:lnTo>
                  <a:pt x="1244686" y="409406"/>
                </a:lnTo>
                <a:lnTo>
                  <a:pt x="1207455" y="409406"/>
                </a:lnTo>
                <a:lnTo>
                  <a:pt x="1170225" y="409406"/>
                </a:lnTo>
                <a:lnTo>
                  <a:pt x="1132995" y="409406"/>
                </a:lnTo>
                <a:lnTo>
                  <a:pt x="1095765" y="409406"/>
                </a:lnTo>
                <a:lnTo>
                  <a:pt x="1095765" y="372176"/>
                </a:lnTo>
                <a:lnTo>
                  <a:pt x="1132995" y="372176"/>
                </a:lnTo>
                <a:lnTo>
                  <a:pt x="1132995" y="334945"/>
                </a:lnTo>
                <a:lnTo>
                  <a:pt x="1132995" y="297715"/>
                </a:lnTo>
                <a:lnTo>
                  <a:pt x="1132995" y="260484"/>
                </a:lnTo>
                <a:lnTo>
                  <a:pt x="1170225" y="260484"/>
                </a:lnTo>
                <a:lnTo>
                  <a:pt x="1170225" y="223254"/>
                </a:lnTo>
                <a:lnTo>
                  <a:pt x="1170225" y="186024"/>
                </a:lnTo>
                <a:lnTo>
                  <a:pt x="1170225" y="148793"/>
                </a:lnTo>
                <a:lnTo>
                  <a:pt x="1207455" y="148793"/>
                </a:lnTo>
                <a:lnTo>
                  <a:pt x="1207455" y="111563"/>
                </a:lnTo>
                <a:lnTo>
                  <a:pt x="1207455" y="74333"/>
                </a:lnTo>
                <a:lnTo>
                  <a:pt x="1207455" y="37103"/>
                </a:lnTo>
                <a:lnTo>
                  <a:pt x="1230913" y="37103"/>
                </a:lnTo>
                <a:lnTo>
                  <a:pt x="1230559" y="36272"/>
                </a:lnTo>
                <a:lnTo>
                  <a:pt x="1227127" y="36138"/>
                </a:lnTo>
                <a:lnTo>
                  <a:pt x="1226348" y="35590"/>
                </a:lnTo>
                <a:lnTo>
                  <a:pt x="1225294" y="34050"/>
                </a:lnTo>
                <a:lnTo>
                  <a:pt x="1224732" y="33739"/>
                </a:lnTo>
                <a:lnTo>
                  <a:pt x="1222759" y="33553"/>
                </a:lnTo>
                <a:lnTo>
                  <a:pt x="1221382" y="32934"/>
                </a:lnTo>
                <a:lnTo>
                  <a:pt x="1220177" y="32717"/>
                </a:lnTo>
                <a:lnTo>
                  <a:pt x="1217872" y="33925"/>
                </a:lnTo>
                <a:lnTo>
                  <a:pt x="1217389" y="33970"/>
                </a:lnTo>
                <a:lnTo>
                  <a:pt x="1215512" y="32876"/>
                </a:lnTo>
                <a:lnTo>
                  <a:pt x="1211340" y="31802"/>
                </a:lnTo>
                <a:lnTo>
                  <a:pt x="1208975" y="31781"/>
                </a:lnTo>
                <a:lnTo>
                  <a:pt x="1204159" y="32727"/>
                </a:lnTo>
                <a:lnTo>
                  <a:pt x="1200834" y="33133"/>
                </a:lnTo>
                <a:lnTo>
                  <a:pt x="1198669" y="33015"/>
                </a:lnTo>
                <a:lnTo>
                  <a:pt x="1197029" y="33552"/>
                </a:lnTo>
                <a:lnTo>
                  <a:pt x="1194273" y="33661"/>
                </a:lnTo>
                <a:lnTo>
                  <a:pt x="1190660" y="34771"/>
                </a:lnTo>
                <a:lnTo>
                  <a:pt x="1184692" y="33429"/>
                </a:lnTo>
                <a:lnTo>
                  <a:pt x="1183742" y="33442"/>
                </a:lnTo>
                <a:lnTo>
                  <a:pt x="1182073" y="34211"/>
                </a:lnTo>
                <a:lnTo>
                  <a:pt x="1179889" y="36785"/>
                </a:lnTo>
                <a:lnTo>
                  <a:pt x="1178730" y="37394"/>
                </a:lnTo>
                <a:lnTo>
                  <a:pt x="1177420" y="37190"/>
                </a:lnTo>
                <a:lnTo>
                  <a:pt x="1175063" y="35042"/>
                </a:lnTo>
                <a:lnTo>
                  <a:pt x="1173175" y="34414"/>
                </a:lnTo>
                <a:lnTo>
                  <a:pt x="1171061" y="34184"/>
                </a:lnTo>
                <a:lnTo>
                  <a:pt x="1168915" y="34535"/>
                </a:lnTo>
                <a:lnTo>
                  <a:pt x="1168207" y="34929"/>
                </a:lnTo>
                <a:lnTo>
                  <a:pt x="1167420" y="35818"/>
                </a:lnTo>
                <a:lnTo>
                  <a:pt x="1166664" y="36088"/>
                </a:lnTo>
                <a:lnTo>
                  <a:pt x="1161287" y="34430"/>
                </a:lnTo>
                <a:lnTo>
                  <a:pt x="1160262" y="34344"/>
                </a:lnTo>
                <a:lnTo>
                  <a:pt x="1152469" y="35028"/>
                </a:lnTo>
                <a:lnTo>
                  <a:pt x="1152080" y="34953"/>
                </a:lnTo>
                <a:lnTo>
                  <a:pt x="1151235" y="35383"/>
                </a:lnTo>
                <a:lnTo>
                  <a:pt x="1149442" y="35978"/>
                </a:lnTo>
                <a:lnTo>
                  <a:pt x="1143015" y="37202"/>
                </a:lnTo>
                <a:lnTo>
                  <a:pt x="1140381" y="38113"/>
                </a:lnTo>
                <a:lnTo>
                  <a:pt x="1137151" y="37529"/>
                </a:lnTo>
                <a:lnTo>
                  <a:pt x="1133304" y="37767"/>
                </a:lnTo>
                <a:lnTo>
                  <a:pt x="1130293" y="37156"/>
                </a:lnTo>
                <a:lnTo>
                  <a:pt x="1128044" y="38169"/>
                </a:lnTo>
                <a:lnTo>
                  <a:pt x="1126235" y="38395"/>
                </a:lnTo>
                <a:lnTo>
                  <a:pt x="1125120" y="37979"/>
                </a:lnTo>
                <a:lnTo>
                  <a:pt x="1123756" y="36745"/>
                </a:lnTo>
                <a:lnTo>
                  <a:pt x="1122672" y="35131"/>
                </a:lnTo>
                <a:lnTo>
                  <a:pt x="1121451" y="32333"/>
                </a:lnTo>
                <a:lnTo>
                  <a:pt x="1120293" y="31073"/>
                </a:lnTo>
                <a:lnTo>
                  <a:pt x="1118914" y="30196"/>
                </a:lnTo>
                <a:lnTo>
                  <a:pt x="1118311" y="28751"/>
                </a:lnTo>
                <a:lnTo>
                  <a:pt x="1117783" y="28285"/>
                </a:lnTo>
                <a:lnTo>
                  <a:pt x="1115578" y="27856"/>
                </a:lnTo>
                <a:lnTo>
                  <a:pt x="1111720" y="27861"/>
                </a:lnTo>
                <a:lnTo>
                  <a:pt x="1106193" y="28253"/>
                </a:lnTo>
                <a:lnTo>
                  <a:pt x="1105087" y="28554"/>
                </a:lnTo>
                <a:lnTo>
                  <a:pt x="1102390" y="29945"/>
                </a:lnTo>
                <a:lnTo>
                  <a:pt x="1101341" y="29905"/>
                </a:lnTo>
                <a:lnTo>
                  <a:pt x="1100649" y="29485"/>
                </a:lnTo>
                <a:lnTo>
                  <a:pt x="1097668" y="25738"/>
                </a:lnTo>
                <a:lnTo>
                  <a:pt x="1093823" y="23544"/>
                </a:lnTo>
                <a:lnTo>
                  <a:pt x="1091208" y="20602"/>
                </a:lnTo>
                <a:lnTo>
                  <a:pt x="1090054" y="20194"/>
                </a:lnTo>
                <a:lnTo>
                  <a:pt x="1087134" y="20250"/>
                </a:lnTo>
                <a:lnTo>
                  <a:pt x="1086250" y="19825"/>
                </a:lnTo>
                <a:lnTo>
                  <a:pt x="1085696" y="19165"/>
                </a:lnTo>
                <a:lnTo>
                  <a:pt x="1085383" y="18307"/>
                </a:lnTo>
                <a:lnTo>
                  <a:pt x="1085481" y="16466"/>
                </a:lnTo>
                <a:lnTo>
                  <a:pt x="1085162" y="15711"/>
                </a:lnTo>
                <a:lnTo>
                  <a:pt x="1084196" y="15425"/>
                </a:lnTo>
                <a:lnTo>
                  <a:pt x="1082430" y="15579"/>
                </a:lnTo>
                <a:lnTo>
                  <a:pt x="1079710" y="14601"/>
                </a:lnTo>
                <a:lnTo>
                  <a:pt x="1077864" y="14633"/>
                </a:lnTo>
                <a:lnTo>
                  <a:pt x="1076494" y="12731"/>
                </a:lnTo>
                <a:lnTo>
                  <a:pt x="1072810" y="9904"/>
                </a:lnTo>
                <a:lnTo>
                  <a:pt x="1069937" y="8627"/>
                </a:lnTo>
                <a:lnTo>
                  <a:pt x="1069786" y="8615"/>
                </a:lnTo>
                <a:lnTo>
                  <a:pt x="1065813" y="9378"/>
                </a:lnTo>
                <a:lnTo>
                  <a:pt x="1064924" y="9243"/>
                </a:lnTo>
                <a:lnTo>
                  <a:pt x="1063892" y="8622"/>
                </a:lnTo>
                <a:lnTo>
                  <a:pt x="1061719" y="6386"/>
                </a:lnTo>
                <a:lnTo>
                  <a:pt x="1058896" y="5796"/>
                </a:lnTo>
                <a:lnTo>
                  <a:pt x="1056823" y="5698"/>
                </a:lnTo>
                <a:lnTo>
                  <a:pt x="1055351" y="5055"/>
                </a:lnTo>
                <a:lnTo>
                  <a:pt x="1031170" y="0"/>
                </a:lnTo>
                <a:lnTo>
                  <a:pt x="1023287" y="1084"/>
                </a:lnTo>
                <a:lnTo>
                  <a:pt x="1022997" y="1247"/>
                </a:lnTo>
                <a:lnTo>
                  <a:pt x="1022633" y="1174"/>
                </a:lnTo>
                <a:lnTo>
                  <a:pt x="1021304" y="1356"/>
                </a:lnTo>
                <a:lnTo>
                  <a:pt x="1011317" y="2730"/>
                </a:lnTo>
                <a:lnTo>
                  <a:pt x="1011325" y="3233"/>
                </a:lnTo>
                <a:lnTo>
                  <a:pt x="1010814" y="4054"/>
                </a:lnTo>
                <a:lnTo>
                  <a:pt x="1010235" y="4460"/>
                </a:lnTo>
                <a:lnTo>
                  <a:pt x="1007607" y="4177"/>
                </a:lnTo>
                <a:lnTo>
                  <a:pt x="1006099" y="3448"/>
                </a:lnTo>
                <a:lnTo>
                  <a:pt x="988530" y="5864"/>
                </a:lnTo>
                <a:lnTo>
                  <a:pt x="988283" y="6007"/>
                </a:lnTo>
                <a:lnTo>
                  <a:pt x="984759" y="7108"/>
                </a:lnTo>
                <a:lnTo>
                  <a:pt x="983219" y="6803"/>
                </a:lnTo>
                <a:lnTo>
                  <a:pt x="982940" y="6313"/>
                </a:lnTo>
                <a:lnTo>
                  <a:pt x="981977" y="6365"/>
                </a:lnTo>
                <a:lnTo>
                  <a:pt x="981260" y="7414"/>
                </a:lnTo>
                <a:lnTo>
                  <a:pt x="980475" y="7814"/>
                </a:lnTo>
                <a:lnTo>
                  <a:pt x="979989" y="7704"/>
                </a:lnTo>
                <a:lnTo>
                  <a:pt x="979321" y="7035"/>
                </a:lnTo>
                <a:lnTo>
                  <a:pt x="979190" y="6516"/>
                </a:lnTo>
                <a:lnTo>
                  <a:pt x="953675" y="7897"/>
                </a:lnTo>
                <a:lnTo>
                  <a:pt x="952819" y="8453"/>
                </a:lnTo>
                <a:lnTo>
                  <a:pt x="952138" y="8656"/>
                </a:lnTo>
                <a:lnTo>
                  <a:pt x="950938" y="8743"/>
                </a:lnTo>
                <a:lnTo>
                  <a:pt x="949411" y="8223"/>
                </a:lnTo>
                <a:lnTo>
                  <a:pt x="948708" y="8259"/>
                </a:lnTo>
                <a:lnTo>
                  <a:pt x="946843" y="9299"/>
                </a:lnTo>
                <a:lnTo>
                  <a:pt x="930701" y="18300"/>
                </a:lnTo>
                <a:lnTo>
                  <a:pt x="923414" y="30887"/>
                </a:lnTo>
                <a:lnTo>
                  <a:pt x="923509" y="31091"/>
                </a:lnTo>
                <a:lnTo>
                  <a:pt x="923890" y="32848"/>
                </a:lnTo>
                <a:lnTo>
                  <a:pt x="923788" y="34323"/>
                </a:lnTo>
                <a:lnTo>
                  <a:pt x="923173" y="35485"/>
                </a:lnTo>
                <a:lnTo>
                  <a:pt x="920745" y="38693"/>
                </a:lnTo>
                <a:lnTo>
                  <a:pt x="920499" y="40572"/>
                </a:lnTo>
                <a:lnTo>
                  <a:pt x="919423" y="42303"/>
                </a:lnTo>
                <a:lnTo>
                  <a:pt x="919373" y="43253"/>
                </a:lnTo>
                <a:lnTo>
                  <a:pt x="917761" y="44793"/>
                </a:lnTo>
                <a:lnTo>
                  <a:pt x="916027" y="47272"/>
                </a:lnTo>
                <a:lnTo>
                  <a:pt x="915100" y="47920"/>
                </a:lnTo>
                <a:lnTo>
                  <a:pt x="914249" y="47939"/>
                </a:lnTo>
                <a:lnTo>
                  <a:pt x="912368" y="46494"/>
                </a:lnTo>
                <a:lnTo>
                  <a:pt x="910446" y="46027"/>
                </a:lnTo>
                <a:lnTo>
                  <a:pt x="909613" y="45580"/>
                </a:lnTo>
                <a:lnTo>
                  <a:pt x="909613" y="74333"/>
                </a:lnTo>
                <a:lnTo>
                  <a:pt x="909613" y="111563"/>
                </a:lnTo>
                <a:lnTo>
                  <a:pt x="872382" y="111563"/>
                </a:lnTo>
                <a:lnTo>
                  <a:pt x="872382" y="148793"/>
                </a:lnTo>
                <a:lnTo>
                  <a:pt x="872382" y="186024"/>
                </a:lnTo>
                <a:lnTo>
                  <a:pt x="872382" y="223254"/>
                </a:lnTo>
                <a:lnTo>
                  <a:pt x="835152" y="223254"/>
                </a:lnTo>
                <a:lnTo>
                  <a:pt x="835152" y="260484"/>
                </a:lnTo>
                <a:lnTo>
                  <a:pt x="797922" y="260484"/>
                </a:lnTo>
                <a:lnTo>
                  <a:pt x="797922" y="297715"/>
                </a:lnTo>
                <a:lnTo>
                  <a:pt x="797922" y="334945"/>
                </a:lnTo>
                <a:lnTo>
                  <a:pt x="760691" y="334945"/>
                </a:lnTo>
                <a:lnTo>
                  <a:pt x="760691" y="372176"/>
                </a:lnTo>
                <a:lnTo>
                  <a:pt x="723461" y="372176"/>
                </a:lnTo>
                <a:lnTo>
                  <a:pt x="723461" y="409406"/>
                </a:lnTo>
                <a:lnTo>
                  <a:pt x="686231" y="409406"/>
                </a:lnTo>
                <a:lnTo>
                  <a:pt x="649001" y="409406"/>
                </a:lnTo>
                <a:lnTo>
                  <a:pt x="611770" y="409406"/>
                </a:lnTo>
                <a:lnTo>
                  <a:pt x="574540" y="409406"/>
                </a:lnTo>
                <a:lnTo>
                  <a:pt x="574540" y="372176"/>
                </a:lnTo>
                <a:lnTo>
                  <a:pt x="546089" y="372176"/>
                </a:lnTo>
                <a:lnTo>
                  <a:pt x="540694" y="377996"/>
                </a:lnTo>
                <a:lnTo>
                  <a:pt x="540614" y="378115"/>
                </a:lnTo>
                <a:lnTo>
                  <a:pt x="540474" y="379561"/>
                </a:lnTo>
                <a:lnTo>
                  <a:pt x="539906" y="380748"/>
                </a:lnTo>
                <a:lnTo>
                  <a:pt x="539281" y="381460"/>
                </a:lnTo>
                <a:lnTo>
                  <a:pt x="539315" y="381733"/>
                </a:lnTo>
                <a:lnTo>
                  <a:pt x="538859" y="382144"/>
                </a:lnTo>
                <a:lnTo>
                  <a:pt x="538525" y="384211"/>
                </a:lnTo>
                <a:lnTo>
                  <a:pt x="537542" y="385174"/>
                </a:lnTo>
                <a:lnTo>
                  <a:pt x="537445" y="385998"/>
                </a:lnTo>
                <a:lnTo>
                  <a:pt x="537649" y="386800"/>
                </a:lnTo>
                <a:lnTo>
                  <a:pt x="535950" y="390417"/>
                </a:lnTo>
                <a:lnTo>
                  <a:pt x="534509" y="391600"/>
                </a:lnTo>
                <a:lnTo>
                  <a:pt x="533010" y="393942"/>
                </a:lnTo>
                <a:lnTo>
                  <a:pt x="532340" y="394346"/>
                </a:lnTo>
                <a:lnTo>
                  <a:pt x="531449" y="394152"/>
                </a:lnTo>
                <a:lnTo>
                  <a:pt x="531126" y="394681"/>
                </a:lnTo>
                <a:lnTo>
                  <a:pt x="530173" y="395221"/>
                </a:lnTo>
                <a:lnTo>
                  <a:pt x="529433" y="395380"/>
                </a:lnTo>
                <a:lnTo>
                  <a:pt x="529143" y="395087"/>
                </a:lnTo>
                <a:lnTo>
                  <a:pt x="528510" y="396280"/>
                </a:lnTo>
                <a:lnTo>
                  <a:pt x="528372" y="397745"/>
                </a:lnTo>
                <a:lnTo>
                  <a:pt x="526450" y="399730"/>
                </a:lnTo>
                <a:lnTo>
                  <a:pt x="524129" y="398137"/>
                </a:lnTo>
                <a:lnTo>
                  <a:pt x="492934" y="406197"/>
                </a:lnTo>
                <a:lnTo>
                  <a:pt x="465806" y="412018"/>
                </a:lnTo>
                <a:lnTo>
                  <a:pt x="459293" y="416114"/>
                </a:lnTo>
                <a:lnTo>
                  <a:pt x="452190" y="415414"/>
                </a:lnTo>
                <a:lnTo>
                  <a:pt x="452148" y="415431"/>
                </a:lnTo>
                <a:lnTo>
                  <a:pt x="451295" y="416757"/>
                </a:lnTo>
                <a:lnTo>
                  <a:pt x="450670" y="416797"/>
                </a:lnTo>
                <a:lnTo>
                  <a:pt x="446804" y="422375"/>
                </a:lnTo>
                <a:lnTo>
                  <a:pt x="445493" y="429307"/>
                </a:lnTo>
                <a:lnTo>
                  <a:pt x="445709" y="430778"/>
                </a:lnTo>
                <a:lnTo>
                  <a:pt x="445552" y="432002"/>
                </a:lnTo>
                <a:lnTo>
                  <a:pt x="445978" y="432925"/>
                </a:lnTo>
                <a:lnTo>
                  <a:pt x="445888" y="433594"/>
                </a:lnTo>
                <a:lnTo>
                  <a:pt x="446663" y="434084"/>
                </a:lnTo>
                <a:lnTo>
                  <a:pt x="446872" y="436870"/>
                </a:lnTo>
                <a:lnTo>
                  <a:pt x="447251" y="437714"/>
                </a:lnTo>
                <a:lnTo>
                  <a:pt x="447744" y="437958"/>
                </a:lnTo>
                <a:lnTo>
                  <a:pt x="447143" y="438816"/>
                </a:lnTo>
                <a:lnTo>
                  <a:pt x="446423" y="438636"/>
                </a:lnTo>
                <a:lnTo>
                  <a:pt x="445900" y="438908"/>
                </a:lnTo>
                <a:lnTo>
                  <a:pt x="445861" y="440454"/>
                </a:lnTo>
                <a:lnTo>
                  <a:pt x="446468" y="440974"/>
                </a:lnTo>
                <a:lnTo>
                  <a:pt x="446497" y="441263"/>
                </a:lnTo>
                <a:lnTo>
                  <a:pt x="445497" y="441414"/>
                </a:lnTo>
                <a:lnTo>
                  <a:pt x="445278" y="441699"/>
                </a:lnTo>
                <a:lnTo>
                  <a:pt x="446662" y="443190"/>
                </a:lnTo>
                <a:lnTo>
                  <a:pt x="446106" y="443707"/>
                </a:lnTo>
                <a:lnTo>
                  <a:pt x="445251" y="443950"/>
                </a:lnTo>
                <a:lnTo>
                  <a:pt x="444977" y="444347"/>
                </a:lnTo>
                <a:lnTo>
                  <a:pt x="443481" y="444819"/>
                </a:lnTo>
                <a:lnTo>
                  <a:pt x="443634" y="445116"/>
                </a:lnTo>
                <a:lnTo>
                  <a:pt x="440428" y="454038"/>
                </a:lnTo>
                <a:lnTo>
                  <a:pt x="423359" y="499534"/>
                </a:lnTo>
                <a:lnTo>
                  <a:pt x="421283" y="502161"/>
                </a:lnTo>
                <a:lnTo>
                  <a:pt x="419346" y="507007"/>
                </a:lnTo>
                <a:lnTo>
                  <a:pt x="418186" y="510910"/>
                </a:lnTo>
                <a:lnTo>
                  <a:pt x="417121" y="519141"/>
                </a:lnTo>
                <a:lnTo>
                  <a:pt x="412769" y="535342"/>
                </a:lnTo>
                <a:lnTo>
                  <a:pt x="400833" y="562390"/>
                </a:lnTo>
                <a:lnTo>
                  <a:pt x="400321" y="562383"/>
                </a:lnTo>
                <a:lnTo>
                  <a:pt x="398707" y="563804"/>
                </a:lnTo>
                <a:lnTo>
                  <a:pt x="397342" y="564190"/>
                </a:lnTo>
                <a:lnTo>
                  <a:pt x="393856" y="566787"/>
                </a:lnTo>
                <a:lnTo>
                  <a:pt x="393355" y="567512"/>
                </a:lnTo>
                <a:lnTo>
                  <a:pt x="392824" y="567664"/>
                </a:lnTo>
                <a:lnTo>
                  <a:pt x="390643" y="569923"/>
                </a:lnTo>
                <a:lnTo>
                  <a:pt x="389755" y="570130"/>
                </a:lnTo>
                <a:lnTo>
                  <a:pt x="388706" y="570893"/>
                </a:lnTo>
                <a:lnTo>
                  <a:pt x="388472" y="570699"/>
                </a:lnTo>
                <a:lnTo>
                  <a:pt x="387717" y="570871"/>
                </a:lnTo>
                <a:lnTo>
                  <a:pt x="386984" y="570577"/>
                </a:lnTo>
                <a:lnTo>
                  <a:pt x="386501" y="571435"/>
                </a:lnTo>
                <a:lnTo>
                  <a:pt x="385705" y="571768"/>
                </a:lnTo>
                <a:lnTo>
                  <a:pt x="384278" y="571736"/>
                </a:lnTo>
                <a:lnTo>
                  <a:pt x="383949" y="571985"/>
                </a:lnTo>
                <a:lnTo>
                  <a:pt x="383506" y="572617"/>
                </a:lnTo>
                <a:lnTo>
                  <a:pt x="382499" y="573260"/>
                </a:lnTo>
                <a:lnTo>
                  <a:pt x="381937" y="574094"/>
                </a:lnTo>
                <a:lnTo>
                  <a:pt x="381448" y="574092"/>
                </a:lnTo>
                <a:lnTo>
                  <a:pt x="380608" y="574674"/>
                </a:lnTo>
                <a:lnTo>
                  <a:pt x="377275" y="577573"/>
                </a:lnTo>
                <a:lnTo>
                  <a:pt x="374814" y="578739"/>
                </a:lnTo>
                <a:lnTo>
                  <a:pt x="371681" y="579710"/>
                </a:lnTo>
                <a:lnTo>
                  <a:pt x="370446" y="580663"/>
                </a:lnTo>
                <a:lnTo>
                  <a:pt x="369486" y="581026"/>
                </a:lnTo>
                <a:lnTo>
                  <a:pt x="368749" y="581906"/>
                </a:lnTo>
                <a:lnTo>
                  <a:pt x="366479" y="582540"/>
                </a:lnTo>
                <a:lnTo>
                  <a:pt x="365783" y="583337"/>
                </a:lnTo>
                <a:lnTo>
                  <a:pt x="365049" y="583723"/>
                </a:lnTo>
                <a:lnTo>
                  <a:pt x="363858" y="584063"/>
                </a:lnTo>
                <a:lnTo>
                  <a:pt x="363043" y="583854"/>
                </a:lnTo>
                <a:lnTo>
                  <a:pt x="361667" y="584347"/>
                </a:lnTo>
                <a:lnTo>
                  <a:pt x="358675" y="583168"/>
                </a:lnTo>
                <a:lnTo>
                  <a:pt x="356548" y="583111"/>
                </a:lnTo>
                <a:lnTo>
                  <a:pt x="354995" y="583539"/>
                </a:lnTo>
                <a:lnTo>
                  <a:pt x="353496" y="583287"/>
                </a:lnTo>
                <a:lnTo>
                  <a:pt x="352995" y="583644"/>
                </a:lnTo>
                <a:lnTo>
                  <a:pt x="351630" y="583453"/>
                </a:lnTo>
                <a:lnTo>
                  <a:pt x="351064" y="583133"/>
                </a:lnTo>
                <a:lnTo>
                  <a:pt x="347394" y="582791"/>
                </a:lnTo>
                <a:lnTo>
                  <a:pt x="346779" y="583178"/>
                </a:lnTo>
                <a:lnTo>
                  <a:pt x="346145" y="582726"/>
                </a:lnTo>
                <a:lnTo>
                  <a:pt x="345187" y="582642"/>
                </a:lnTo>
                <a:lnTo>
                  <a:pt x="344841" y="582140"/>
                </a:lnTo>
                <a:lnTo>
                  <a:pt x="344283" y="581938"/>
                </a:lnTo>
                <a:lnTo>
                  <a:pt x="342644" y="582613"/>
                </a:lnTo>
                <a:lnTo>
                  <a:pt x="341369" y="582659"/>
                </a:lnTo>
                <a:lnTo>
                  <a:pt x="340250" y="583220"/>
                </a:lnTo>
                <a:lnTo>
                  <a:pt x="339724" y="583216"/>
                </a:lnTo>
                <a:lnTo>
                  <a:pt x="339140" y="583101"/>
                </a:lnTo>
                <a:lnTo>
                  <a:pt x="338676" y="582507"/>
                </a:lnTo>
                <a:lnTo>
                  <a:pt x="338001" y="582125"/>
                </a:lnTo>
                <a:lnTo>
                  <a:pt x="336104" y="582123"/>
                </a:lnTo>
                <a:lnTo>
                  <a:pt x="335244" y="581589"/>
                </a:lnTo>
                <a:lnTo>
                  <a:pt x="334095" y="581807"/>
                </a:lnTo>
                <a:lnTo>
                  <a:pt x="332922" y="582639"/>
                </a:lnTo>
                <a:lnTo>
                  <a:pt x="332069" y="582804"/>
                </a:lnTo>
                <a:lnTo>
                  <a:pt x="331281" y="582300"/>
                </a:lnTo>
                <a:lnTo>
                  <a:pt x="330789" y="581563"/>
                </a:lnTo>
                <a:lnTo>
                  <a:pt x="330179" y="581264"/>
                </a:lnTo>
                <a:lnTo>
                  <a:pt x="330251" y="580887"/>
                </a:lnTo>
                <a:lnTo>
                  <a:pt x="327749" y="580774"/>
                </a:lnTo>
                <a:lnTo>
                  <a:pt x="313928" y="581183"/>
                </a:lnTo>
                <a:lnTo>
                  <a:pt x="313767" y="581188"/>
                </a:lnTo>
                <a:lnTo>
                  <a:pt x="303253" y="586517"/>
                </a:lnTo>
                <a:lnTo>
                  <a:pt x="303140" y="586747"/>
                </a:lnTo>
                <a:lnTo>
                  <a:pt x="302104" y="587099"/>
                </a:lnTo>
                <a:lnTo>
                  <a:pt x="300927" y="587696"/>
                </a:lnTo>
                <a:lnTo>
                  <a:pt x="300940" y="588369"/>
                </a:lnTo>
                <a:lnTo>
                  <a:pt x="300148" y="588517"/>
                </a:lnTo>
                <a:lnTo>
                  <a:pt x="299694" y="589203"/>
                </a:lnTo>
                <a:lnTo>
                  <a:pt x="298634" y="589202"/>
                </a:lnTo>
                <a:lnTo>
                  <a:pt x="298440" y="589755"/>
                </a:lnTo>
                <a:lnTo>
                  <a:pt x="298820" y="590317"/>
                </a:lnTo>
                <a:lnTo>
                  <a:pt x="298530" y="590557"/>
                </a:lnTo>
                <a:lnTo>
                  <a:pt x="296860" y="589951"/>
                </a:lnTo>
                <a:lnTo>
                  <a:pt x="296189" y="590097"/>
                </a:lnTo>
                <a:lnTo>
                  <a:pt x="294394" y="591007"/>
                </a:lnTo>
                <a:lnTo>
                  <a:pt x="289241" y="591198"/>
                </a:lnTo>
                <a:lnTo>
                  <a:pt x="289051" y="591316"/>
                </a:lnTo>
                <a:lnTo>
                  <a:pt x="288823" y="591214"/>
                </a:lnTo>
                <a:lnTo>
                  <a:pt x="287142" y="591277"/>
                </a:lnTo>
                <a:lnTo>
                  <a:pt x="286798" y="591596"/>
                </a:lnTo>
                <a:lnTo>
                  <a:pt x="286472" y="591443"/>
                </a:lnTo>
                <a:lnTo>
                  <a:pt x="286455" y="591302"/>
                </a:lnTo>
                <a:lnTo>
                  <a:pt x="285670" y="591331"/>
                </a:lnTo>
                <a:lnTo>
                  <a:pt x="285621" y="591824"/>
                </a:lnTo>
                <a:lnTo>
                  <a:pt x="284436" y="591882"/>
                </a:lnTo>
                <a:lnTo>
                  <a:pt x="283267" y="592964"/>
                </a:lnTo>
                <a:lnTo>
                  <a:pt x="282185" y="591686"/>
                </a:lnTo>
                <a:lnTo>
                  <a:pt x="281620" y="591644"/>
                </a:lnTo>
                <a:lnTo>
                  <a:pt x="280820" y="592061"/>
                </a:lnTo>
                <a:lnTo>
                  <a:pt x="280075" y="591539"/>
                </a:lnTo>
                <a:lnTo>
                  <a:pt x="276697" y="591665"/>
                </a:lnTo>
                <a:lnTo>
                  <a:pt x="276307" y="591679"/>
                </a:lnTo>
                <a:lnTo>
                  <a:pt x="269447" y="590350"/>
                </a:lnTo>
                <a:lnTo>
                  <a:pt x="268597" y="590697"/>
                </a:lnTo>
                <a:lnTo>
                  <a:pt x="267006" y="592682"/>
                </a:lnTo>
                <a:lnTo>
                  <a:pt x="266406" y="592738"/>
                </a:lnTo>
                <a:lnTo>
                  <a:pt x="265983" y="592004"/>
                </a:lnTo>
                <a:lnTo>
                  <a:pt x="265489" y="591799"/>
                </a:lnTo>
                <a:lnTo>
                  <a:pt x="263776" y="591864"/>
                </a:lnTo>
                <a:lnTo>
                  <a:pt x="263088" y="591355"/>
                </a:lnTo>
                <a:lnTo>
                  <a:pt x="260941" y="590649"/>
                </a:lnTo>
                <a:lnTo>
                  <a:pt x="260185" y="590103"/>
                </a:lnTo>
                <a:lnTo>
                  <a:pt x="255498" y="588975"/>
                </a:lnTo>
                <a:lnTo>
                  <a:pt x="254000" y="587809"/>
                </a:lnTo>
                <a:lnTo>
                  <a:pt x="252575" y="587195"/>
                </a:lnTo>
                <a:lnTo>
                  <a:pt x="252461" y="587057"/>
                </a:lnTo>
                <a:lnTo>
                  <a:pt x="247564" y="586108"/>
                </a:lnTo>
                <a:lnTo>
                  <a:pt x="239466" y="584233"/>
                </a:lnTo>
                <a:lnTo>
                  <a:pt x="239466" y="595557"/>
                </a:lnTo>
                <a:lnTo>
                  <a:pt x="202236" y="595557"/>
                </a:lnTo>
                <a:lnTo>
                  <a:pt x="202236" y="632788"/>
                </a:lnTo>
                <a:lnTo>
                  <a:pt x="202236" y="670018"/>
                </a:lnTo>
                <a:lnTo>
                  <a:pt x="165006" y="670018"/>
                </a:lnTo>
                <a:lnTo>
                  <a:pt x="127776" y="670018"/>
                </a:lnTo>
                <a:lnTo>
                  <a:pt x="127776" y="707249"/>
                </a:lnTo>
                <a:lnTo>
                  <a:pt x="90545" y="707249"/>
                </a:lnTo>
                <a:lnTo>
                  <a:pt x="71160" y="707249"/>
                </a:lnTo>
                <a:lnTo>
                  <a:pt x="85768" y="710813"/>
                </a:lnTo>
                <a:lnTo>
                  <a:pt x="103856" y="724791"/>
                </a:lnTo>
                <a:lnTo>
                  <a:pt x="98502" y="731651"/>
                </a:lnTo>
                <a:lnTo>
                  <a:pt x="89770" y="745184"/>
                </a:lnTo>
                <a:lnTo>
                  <a:pt x="94809" y="747730"/>
                </a:lnTo>
                <a:lnTo>
                  <a:pt x="101954" y="750844"/>
                </a:lnTo>
                <a:lnTo>
                  <a:pt x="108857" y="753258"/>
                </a:lnTo>
                <a:lnTo>
                  <a:pt x="113507" y="756085"/>
                </a:lnTo>
                <a:lnTo>
                  <a:pt x="125182" y="759530"/>
                </a:lnTo>
                <a:lnTo>
                  <a:pt x="130470" y="761423"/>
                </a:lnTo>
                <a:lnTo>
                  <a:pt x="144239" y="769406"/>
                </a:lnTo>
                <a:lnTo>
                  <a:pt x="146596" y="763874"/>
                </a:lnTo>
                <a:lnTo>
                  <a:pt x="153612" y="763995"/>
                </a:lnTo>
                <a:lnTo>
                  <a:pt x="160467" y="770607"/>
                </a:lnTo>
                <a:lnTo>
                  <a:pt x="161577" y="769919"/>
                </a:lnTo>
                <a:lnTo>
                  <a:pt x="166174" y="777985"/>
                </a:lnTo>
                <a:lnTo>
                  <a:pt x="169946" y="787190"/>
                </a:lnTo>
                <a:lnTo>
                  <a:pt x="171706" y="796153"/>
                </a:lnTo>
                <a:lnTo>
                  <a:pt x="162669" y="800460"/>
                </a:lnTo>
                <a:lnTo>
                  <a:pt x="162324" y="803273"/>
                </a:lnTo>
                <a:lnTo>
                  <a:pt x="153933" y="822778"/>
                </a:lnTo>
                <a:lnTo>
                  <a:pt x="153136" y="824592"/>
                </a:lnTo>
                <a:lnTo>
                  <a:pt x="151406" y="826334"/>
                </a:lnTo>
                <a:lnTo>
                  <a:pt x="151169" y="829159"/>
                </a:lnTo>
                <a:lnTo>
                  <a:pt x="157807" y="833016"/>
                </a:lnTo>
                <a:lnTo>
                  <a:pt x="159131" y="834060"/>
                </a:lnTo>
                <a:lnTo>
                  <a:pt x="159526" y="833839"/>
                </a:lnTo>
                <a:lnTo>
                  <a:pt x="168736" y="840725"/>
                </a:lnTo>
                <a:lnTo>
                  <a:pt x="175991" y="845535"/>
                </a:lnTo>
                <a:lnTo>
                  <a:pt x="177246" y="845931"/>
                </a:lnTo>
                <a:lnTo>
                  <a:pt x="179284" y="845562"/>
                </a:lnTo>
                <a:lnTo>
                  <a:pt x="175143" y="858124"/>
                </a:lnTo>
                <a:lnTo>
                  <a:pt x="174402" y="863630"/>
                </a:lnTo>
                <a:lnTo>
                  <a:pt x="174921" y="871071"/>
                </a:lnTo>
                <a:lnTo>
                  <a:pt x="174087" y="879446"/>
                </a:lnTo>
                <a:lnTo>
                  <a:pt x="174348" y="886730"/>
                </a:lnTo>
                <a:lnTo>
                  <a:pt x="184369" y="889791"/>
                </a:lnTo>
                <a:lnTo>
                  <a:pt x="182422" y="894710"/>
                </a:lnTo>
                <a:lnTo>
                  <a:pt x="180755" y="903543"/>
                </a:lnTo>
                <a:lnTo>
                  <a:pt x="183390" y="909146"/>
                </a:lnTo>
                <a:lnTo>
                  <a:pt x="226553" y="899340"/>
                </a:lnTo>
                <a:lnTo>
                  <a:pt x="232664" y="902887"/>
                </a:lnTo>
                <a:lnTo>
                  <a:pt x="227140" y="912526"/>
                </a:lnTo>
                <a:lnTo>
                  <a:pt x="233575" y="916034"/>
                </a:lnTo>
                <a:lnTo>
                  <a:pt x="229922" y="925623"/>
                </a:lnTo>
                <a:lnTo>
                  <a:pt x="227357" y="926000"/>
                </a:lnTo>
                <a:lnTo>
                  <a:pt x="220168" y="937245"/>
                </a:lnTo>
                <a:lnTo>
                  <a:pt x="224902" y="942317"/>
                </a:lnTo>
                <a:lnTo>
                  <a:pt x="227433" y="939292"/>
                </a:lnTo>
                <a:lnTo>
                  <a:pt x="235880" y="948704"/>
                </a:lnTo>
                <a:lnTo>
                  <a:pt x="236020" y="951366"/>
                </a:lnTo>
                <a:lnTo>
                  <a:pt x="234638" y="954021"/>
                </a:lnTo>
                <a:lnTo>
                  <a:pt x="232587" y="957192"/>
                </a:lnTo>
                <a:lnTo>
                  <a:pt x="235655" y="957827"/>
                </a:lnTo>
                <a:lnTo>
                  <a:pt x="245815" y="967071"/>
                </a:lnTo>
                <a:lnTo>
                  <a:pt x="248435" y="964803"/>
                </a:lnTo>
                <a:lnTo>
                  <a:pt x="249500" y="964184"/>
                </a:lnTo>
                <a:lnTo>
                  <a:pt x="250055" y="963412"/>
                </a:lnTo>
                <a:lnTo>
                  <a:pt x="249970" y="961249"/>
                </a:lnTo>
                <a:lnTo>
                  <a:pt x="249169" y="959202"/>
                </a:lnTo>
                <a:lnTo>
                  <a:pt x="249418" y="958257"/>
                </a:lnTo>
                <a:lnTo>
                  <a:pt x="250434" y="957594"/>
                </a:lnTo>
                <a:lnTo>
                  <a:pt x="252242" y="957231"/>
                </a:lnTo>
                <a:lnTo>
                  <a:pt x="253695" y="956438"/>
                </a:lnTo>
                <a:lnTo>
                  <a:pt x="254157" y="957009"/>
                </a:lnTo>
                <a:lnTo>
                  <a:pt x="254491" y="956568"/>
                </a:lnTo>
                <a:lnTo>
                  <a:pt x="255809" y="956646"/>
                </a:lnTo>
                <a:lnTo>
                  <a:pt x="256525" y="956152"/>
                </a:lnTo>
                <a:lnTo>
                  <a:pt x="256658" y="956329"/>
                </a:lnTo>
                <a:lnTo>
                  <a:pt x="257450" y="955517"/>
                </a:lnTo>
                <a:lnTo>
                  <a:pt x="257411" y="955193"/>
                </a:lnTo>
                <a:lnTo>
                  <a:pt x="256604" y="954311"/>
                </a:lnTo>
                <a:lnTo>
                  <a:pt x="256535" y="953764"/>
                </a:lnTo>
                <a:lnTo>
                  <a:pt x="257834" y="953150"/>
                </a:lnTo>
                <a:lnTo>
                  <a:pt x="257761" y="952900"/>
                </a:lnTo>
                <a:lnTo>
                  <a:pt x="258393" y="952021"/>
                </a:lnTo>
                <a:lnTo>
                  <a:pt x="258736" y="952101"/>
                </a:lnTo>
                <a:lnTo>
                  <a:pt x="258972" y="951695"/>
                </a:lnTo>
                <a:lnTo>
                  <a:pt x="259483" y="951744"/>
                </a:lnTo>
                <a:lnTo>
                  <a:pt x="259334" y="951344"/>
                </a:lnTo>
                <a:lnTo>
                  <a:pt x="259630" y="950882"/>
                </a:lnTo>
                <a:lnTo>
                  <a:pt x="259334" y="950314"/>
                </a:lnTo>
                <a:lnTo>
                  <a:pt x="258976" y="950270"/>
                </a:lnTo>
                <a:lnTo>
                  <a:pt x="258386" y="948325"/>
                </a:lnTo>
                <a:lnTo>
                  <a:pt x="258699" y="947952"/>
                </a:lnTo>
                <a:lnTo>
                  <a:pt x="258367" y="947686"/>
                </a:lnTo>
                <a:lnTo>
                  <a:pt x="258653" y="947538"/>
                </a:lnTo>
                <a:lnTo>
                  <a:pt x="258529" y="947197"/>
                </a:lnTo>
                <a:lnTo>
                  <a:pt x="259068" y="946408"/>
                </a:lnTo>
                <a:lnTo>
                  <a:pt x="259194" y="945723"/>
                </a:lnTo>
                <a:lnTo>
                  <a:pt x="258561" y="945403"/>
                </a:lnTo>
                <a:lnTo>
                  <a:pt x="258206" y="943775"/>
                </a:lnTo>
                <a:lnTo>
                  <a:pt x="259265" y="942227"/>
                </a:lnTo>
                <a:lnTo>
                  <a:pt x="259190" y="941589"/>
                </a:lnTo>
                <a:lnTo>
                  <a:pt x="259521" y="941151"/>
                </a:lnTo>
                <a:lnTo>
                  <a:pt x="259060" y="940050"/>
                </a:lnTo>
                <a:lnTo>
                  <a:pt x="258552" y="939762"/>
                </a:lnTo>
                <a:lnTo>
                  <a:pt x="257984" y="938838"/>
                </a:lnTo>
                <a:lnTo>
                  <a:pt x="257830" y="937885"/>
                </a:lnTo>
                <a:lnTo>
                  <a:pt x="256971" y="936980"/>
                </a:lnTo>
                <a:lnTo>
                  <a:pt x="256294" y="936735"/>
                </a:lnTo>
                <a:lnTo>
                  <a:pt x="256322" y="935533"/>
                </a:lnTo>
                <a:lnTo>
                  <a:pt x="256161" y="935491"/>
                </a:lnTo>
                <a:lnTo>
                  <a:pt x="256321" y="935070"/>
                </a:lnTo>
                <a:lnTo>
                  <a:pt x="256983" y="934954"/>
                </a:lnTo>
                <a:lnTo>
                  <a:pt x="257234" y="935588"/>
                </a:lnTo>
                <a:lnTo>
                  <a:pt x="258087" y="936140"/>
                </a:lnTo>
                <a:lnTo>
                  <a:pt x="259688" y="935802"/>
                </a:lnTo>
                <a:lnTo>
                  <a:pt x="259997" y="935162"/>
                </a:lnTo>
                <a:lnTo>
                  <a:pt x="260043" y="933898"/>
                </a:lnTo>
                <a:lnTo>
                  <a:pt x="261333" y="933272"/>
                </a:lnTo>
                <a:lnTo>
                  <a:pt x="261892" y="933252"/>
                </a:lnTo>
                <a:lnTo>
                  <a:pt x="262509" y="932296"/>
                </a:lnTo>
                <a:lnTo>
                  <a:pt x="262881" y="931478"/>
                </a:lnTo>
                <a:lnTo>
                  <a:pt x="262898" y="930303"/>
                </a:lnTo>
                <a:lnTo>
                  <a:pt x="263524" y="929275"/>
                </a:lnTo>
                <a:lnTo>
                  <a:pt x="263528" y="927946"/>
                </a:lnTo>
                <a:lnTo>
                  <a:pt x="263807" y="927495"/>
                </a:lnTo>
                <a:lnTo>
                  <a:pt x="264803" y="927555"/>
                </a:lnTo>
                <a:lnTo>
                  <a:pt x="265505" y="927337"/>
                </a:lnTo>
                <a:lnTo>
                  <a:pt x="265739" y="927028"/>
                </a:lnTo>
                <a:lnTo>
                  <a:pt x="266754" y="927130"/>
                </a:lnTo>
                <a:lnTo>
                  <a:pt x="267179" y="926897"/>
                </a:lnTo>
                <a:lnTo>
                  <a:pt x="268288" y="927112"/>
                </a:lnTo>
                <a:lnTo>
                  <a:pt x="268508" y="927456"/>
                </a:lnTo>
                <a:lnTo>
                  <a:pt x="268632" y="927104"/>
                </a:lnTo>
                <a:lnTo>
                  <a:pt x="269452" y="926638"/>
                </a:lnTo>
                <a:lnTo>
                  <a:pt x="269174" y="925822"/>
                </a:lnTo>
                <a:lnTo>
                  <a:pt x="268207" y="925249"/>
                </a:lnTo>
                <a:lnTo>
                  <a:pt x="268164" y="924815"/>
                </a:lnTo>
                <a:lnTo>
                  <a:pt x="268566" y="924188"/>
                </a:lnTo>
                <a:lnTo>
                  <a:pt x="269812" y="923456"/>
                </a:lnTo>
                <a:lnTo>
                  <a:pt x="263831" y="917308"/>
                </a:lnTo>
                <a:lnTo>
                  <a:pt x="264295" y="916298"/>
                </a:lnTo>
                <a:lnTo>
                  <a:pt x="265373" y="916536"/>
                </a:lnTo>
                <a:lnTo>
                  <a:pt x="265948" y="915964"/>
                </a:lnTo>
                <a:lnTo>
                  <a:pt x="266326" y="913832"/>
                </a:lnTo>
                <a:lnTo>
                  <a:pt x="265541" y="912461"/>
                </a:lnTo>
                <a:lnTo>
                  <a:pt x="267005" y="908774"/>
                </a:lnTo>
                <a:lnTo>
                  <a:pt x="268954" y="908170"/>
                </a:lnTo>
                <a:lnTo>
                  <a:pt x="269202" y="905298"/>
                </a:lnTo>
                <a:lnTo>
                  <a:pt x="267101" y="902860"/>
                </a:lnTo>
                <a:lnTo>
                  <a:pt x="266213" y="901202"/>
                </a:lnTo>
                <a:lnTo>
                  <a:pt x="265848" y="899912"/>
                </a:lnTo>
                <a:lnTo>
                  <a:pt x="266115" y="899189"/>
                </a:lnTo>
                <a:lnTo>
                  <a:pt x="266577" y="898981"/>
                </a:lnTo>
                <a:lnTo>
                  <a:pt x="267410" y="899058"/>
                </a:lnTo>
                <a:lnTo>
                  <a:pt x="267791" y="898721"/>
                </a:lnTo>
                <a:lnTo>
                  <a:pt x="267571" y="898020"/>
                </a:lnTo>
                <a:lnTo>
                  <a:pt x="266719" y="897190"/>
                </a:lnTo>
                <a:lnTo>
                  <a:pt x="266640" y="896834"/>
                </a:lnTo>
                <a:lnTo>
                  <a:pt x="268636" y="894712"/>
                </a:lnTo>
                <a:lnTo>
                  <a:pt x="268706" y="893248"/>
                </a:lnTo>
                <a:lnTo>
                  <a:pt x="278955" y="891248"/>
                </a:lnTo>
                <a:lnTo>
                  <a:pt x="278171" y="887347"/>
                </a:lnTo>
                <a:lnTo>
                  <a:pt x="282219" y="886522"/>
                </a:lnTo>
                <a:lnTo>
                  <a:pt x="282212" y="887288"/>
                </a:lnTo>
                <a:lnTo>
                  <a:pt x="281955" y="887549"/>
                </a:lnTo>
                <a:lnTo>
                  <a:pt x="281691" y="888789"/>
                </a:lnTo>
                <a:lnTo>
                  <a:pt x="281921" y="891204"/>
                </a:lnTo>
                <a:lnTo>
                  <a:pt x="282566" y="892886"/>
                </a:lnTo>
                <a:lnTo>
                  <a:pt x="283622" y="893351"/>
                </a:lnTo>
                <a:lnTo>
                  <a:pt x="284202" y="895024"/>
                </a:lnTo>
                <a:lnTo>
                  <a:pt x="283826" y="896204"/>
                </a:lnTo>
                <a:lnTo>
                  <a:pt x="283859" y="897867"/>
                </a:lnTo>
                <a:lnTo>
                  <a:pt x="283635" y="898409"/>
                </a:lnTo>
                <a:lnTo>
                  <a:pt x="283790" y="899281"/>
                </a:lnTo>
                <a:lnTo>
                  <a:pt x="283376" y="900101"/>
                </a:lnTo>
                <a:lnTo>
                  <a:pt x="284104" y="901103"/>
                </a:lnTo>
                <a:lnTo>
                  <a:pt x="284056" y="901961"/>
                </a:lnTo>
                <a:lnTo>
                  <a:pt x="284721" y="902548"/>
                </a:lnTo>
                <a:lnTo>
                  <a:pt x="292554" y="901515"/>
                </a:lnTo>
                <a:lnTo>
                  <a:pt x="297140" y="901330"/>
                </a:lnTo>
                <a:lnTo>
                  <a:pt x="309994" y="899364"/>
                </a:lnTo>
                <a:lnTo>
                  <a:pt x="313886" y="899066"/>
                </a:lnTo>
                <a:lnTo>
                  <a:pt x="319042" y="901088"/>
                </a:lnTo>
                <a:lnTo>
                  <a:pt x="320965" y="902188"/>
                </a:lnTo>
                <a:lnTo>
                  <a:pt x="291485" y="937095"/>
                </a:lnTo>
                <a:lnTo>
                  <a:pt x="293626" y="936619"/>
                </a:lnTo>
                <a:lnTo>
                  <a:pt x="292974" y="937899"/>
                </a:lnTo>
                <a:lnTo>
                  <a:pt x="292957" y="938374"/>
                </a:lnTo>
                <a:lnTo>
                  <a:pt x="293377" y="938765"/>
                </a:lnTo>
                <a:lnTo>
                  <a:pt x="293061" y="938584"/>
                </a:lnTo>
                <a:lnTo>
                  <a:pt x="293030" y="939427"/>
                </a:lnTo>
                <a:lnTo>
                  <a:pt x="292193" y="939555"/>
                </a:lnTo>
                <a:lnTo>
                  <a:pt x="291294" y="939152"/>
                </a:lnTo>
                <a:lnTo>
                  <a:pt x="288986" y="940416"/>
                </a:lnTo>
                <a:lnTo>
                  <a:pt x="306699" y="970422"/>
                </a:lnTo>
                <a:lnTo>
                  <a:pt x="308006" y="968824"/>
                </a:lnTo>
                <a:lnTo>
                  <a:pt x="309051" y="967048"/>
                </a:lnTo>
                <a:lnTo>
                  <a:pt x="309451" y="965772"/>
                </a:lnTo>
                <a:lnTo>
                  <a:pt x="310032" y="965110"/>
                </a:lnTo>
                <a:lnTo>
                  <a:pt x="311708" y="964871"/>
                </a:lnTo>
                <a:lnTo>
                  <a:pt x="313821" y="965247"/>
                </a:lnTo>
                <a:lnTo>
                  <a:pt x="315360" y="964400"/>
                </a:lnTo>
                <a:lnTo>
                  <a:pt x="316871" y="964506"/>
                </a:lnTo>
                <a:lnTo>
                  <a:pt x="318038" y="963864"/>
                </a:lnTo>
                <a:lnTo>
                  <a:pt x="308750" y="993119"/>
                </a:lnTo>
                <a:lnTo>
                  <a:pt x="303212" y="992487"/>
                </a:lnTo>
                <a:lnTo>
                  <a:pt x="300098" y="997091"/>
                </a:lnTo>
                <a:lnTo>
                  <a:pt x="295004" y="996370"/>
                </a:lnTo>
                <a:lnTo>
                  <a:pt x="297909" y="1002943"/>
                </a:lnTo>
                <a:lnTo>
                  <a:pt x="304817" y="1005363"/>
                </a:lnTo>
                <a:lnTo>
                  <a:pt x="297414" y="1028484"/>
                </a:lnTo>
                <a:lnTo>
                  <a:pt x="296622" y="1028183"/>
                </a:lnTo>
                <a:lnTo>
                  <a:pt x="291605" y="1034893"/>
                </a:lnTo>
                <a:lnTo>
                  <a:pt x="294659" y="1037083"/>
                </a:lnTo>
                <a:lnTo>
                  <a:pt x="288841" y="1055229"/>
                </a:lnTo>
                <a:lnTo>
                  <a:pt x="299636" y="1058694"/>
                </a:lnTo>
                <a:lnTo>
                  <a:pt x="264907" y="1129918"/>
                </a:lnTo>
                <a:lnTo>
                  <a:pt x="219720" y="1225313"/>
                </a:lnTo>
                <a:lnTo>
                  <a:pt x="220532" y="1225770"/>
                </a:lnTo>
                <a:lnTo>
                  <a:pt x="220716" y="1226290"/>
                </a:lnTo>
                <a:lnTo>
                  <a:pt x="220085" y="1233115"/>
                </a:lnTo>
                <a:lnTo>
                  <a:pt x="220914" y="1234751"/>
                </a:lnTo>
                <a:lnTo>
                  <a:pt x="222826" y="1235960"/>
                </a:lnTo>
                <a:lnTo>
                  <a:pt x="224023" y="1237019"/>
                </a:lnTo>
                <a:lnTo>
                  <a:pt x="225760" y="1241449"/>
                </a:lnTo>
                <a:lnTo>
                  <a:pt x="227830" y="1244777"/>
                </a:lnTo>
                <a:lnTo>
                  <a:pt x="229036" y="1247305"/>
                </a:lnTo>
                <a:lnTo>
                  <a:pt x="231081" y="1249232"/>
                </a:lnTo>
                <a:lnTo>
                  <a:pt x="232596" y="1250002"/>
                </a:lnTo>
                <a:lnTo>
                  <a:pt x="233149" y="1251463"/>
                </a:lnTo>
                <a:lnTo>
                  <a:pt x="234343" y="1251520"/>
                </a:lnTo>
                <a:lnTo>
                  <a:pt x="235252" y="1250854"/>
                </a:lnTo>
                <a:lnTo>
                  <a:pt x="236045" y="1250786"/>
                </a:lnTo>
                <a:lnTo>
                  <a:pt x="240105" y="1251136"/>
                </a:lnTo>
                <a:lnTo>
                  <a:pt x="241617" y="1251638"/>
                </a:lnTo>
                <a:lnTo>
                  <a:pt x="242441" y="1252955"/>
                </a:lnTo>
                <a:lnTo>
                  <a:pt x="242213" y="1254467"/>
                </a:lnTo>
                <a:lnTo>
                  <a:pt x="242340" y="1255003"/>
                </a:lnTo>
                <a:lnTo>
                  <a:pt x="243455" y="1255827"/>
                </a:lnTo>
                <a:lnTo>
                  <a:pt x="245428" y="1256441"/>
                </a:lnTo>
                <a:lnTo>
                  <a:pt x="247658" y="1255947"/>
                </a:lnTo>
                <a:lnTo>
                  <a:pt x="248729" y="1256370"/>
                </a:lnTo>
                <a:lnTo>
                  <a:pt x="249264" y="1257081"/>
                </a:lnTo>
                <a:lnTo>
                  <a:pt x="249904" y="1259286"/>
                </a:lnTo>
                <a:lnTo>
                  <a:pt x="251226" y="1261780"/>
                </a:lnTo>
                <a:lnTo>
                  <a:pt x="254106" y="1264815"/>
                </a:lnTo>
                <a:lnTo>
                  <a:pt x="255806" y="1266234"/>
                </a:lnTo>
                <a:lnTo>
                  <a:pt x="257539" y="1267294"/>
                </a:lnTo>
                <a:lnTo>
                  <a:pt x="262908" y="1267284"/>
                </a:lnTo>
                <a:lnTo>
                  <a:pt x="263514" y="1266554"/>
                </a:lnTo>
                <a:lnTo>
                  <a:pt x="263557" y="1265678"/>
                </a:lnTo>
                <a:lnTo>
                  <a:pt x="263972" y="1265226"/>
                </a:lnTo>
                <a:lnTo>
                  <a:pt x="264918" y="1265286"/>
                </a:lnTo>
                <a:lnTo>
                  <a:pt x="265750" y="1265732"/>
                </a:lnTo>
                <a:lnTo>
                  <a:pt x="266157" y="1266915"/>
                </a:lnTo>
                <a:lnTo>
                  <a:pt x="265448" y="1272382"/>
                </a:lnTo>
                <a:lnTo>
                  <a:pt x="266422" y="1275503"/>
                </a:lnTo>
                <a:lnTo>
                  <a:pt x="266681" y="1277202"/>
                </a:lnTo>
                <a:lnTo>
                  <a:pt x="267136" y="1277881"/>
                </a:lnTo>
                <a:lnTo>
                  <a:pt x="270182" y="1279047"/>
                </a:lnTo>
                <a:lnTo>
                  <a:pt x="271330" y="1279214"/>
                </a:lnTo>
                <a:lnTo>
                  <a:pt x="272600" y="1280031"/>
                </a:lnTo>
                <a:lnTo>
                  <a:pt x="274227" y="1280603"/>
                </a:lnTo>
                <a:lnTo>
                  <a:pt x="278034" y="1280159"/>
                </a:lnTo>
                <a:lnTo>
                  <a:pt x="278974" y="1280705"/>
                </a:lnTo>
                <a:lnTo>
                  <a:pt x="281414" y="1280859"/>
                </a:lnTo>
                <a:lnTo>
                  <a:pt x="283586" y="1281327"/>
                </a:lnTo>
                <a:lnTo>
                  <a:pt x="284321" y="1281707"/>
                </a:lnTo>
                <a:lnTo>
                  <a:pt x="285720" y="1283816"/>
                </a:lnTo>
                <a:lnTo>
                  <a:pt x="286351" y="1285670"/>
                </a:lnTo>
                <a:lnTo>
                  <a:pt x="286239" y="1286222"/>
                </a:lnTo>
                <a:lnTo>
                  <a:pt x="285211" y="1287042"/>
                </a:lnTo>
                <a:lnTo>
                  <a:pt x="284989" y="1287477"/>
                </a:lnTo>
                <a:lnTo>
                  <a:pt x="284650" y="1289445"/>
                </a:lnTo>
                <a:lnTo>
                  <a:pt x="284890" y="1290387"/>
                </a:lnTo>
                <a:lnTo>
                  <a:pt x="285698" y="1291842"/>
                </a:lnTo>
                <a:lnTo>
                  <a:pt x="287237" y="1293076"/>
                </a:lnTo>
                <a:lnTo>
                  <a:pt x="287769" y="1295429"/>
                </a:lnTo>
                <a:lnTo>
                  <a:pt x="288953" y="1295939"/>
                </a:lnTo>
                <a:lnTo>
                  <a:pt x="289935" y="1297103"/>
                </a:lnTo>
                <a:lnTo>
                  <a:pt x="290741" y="1297579"/>
                </a:lnTo>
                <a:lnTo>
                  <a:pt x="290441" y="1300862"/>
                </a:lnTo>
                <a:lnTo>
                  <a:pt x="290617" y="1301311"/>
                </a:lnTo>
                <a:lnTo>
                  <a:pt x="291574" y="1302246"/>
                </a:lnTo>
                <a:lnTo>
                  <a:pt x="294876" y="1303440"/>
                </a:lnTo>
                <a:lnTo>
                  <a:pt x="295435" y="1304064"/>
                </a:lnTo>
                <a:lnTo>
                  <a:pt x="296766" y="1308088"/>
                </a:lnTo>
                <a:lnTo>
                  <a:pt x="296949" y="1310462"/>
                </a:lnTo>
                <a:lnTo>
                  <a:pt x="298893" y="1312264"/>
                </a:lnTo>
                <a:lnTo>
                  <a:pt x="298962" y="1314283"/>
                </a:lnTo>
                <a:lnTo>
                  <a:pt x="299586" y="1315976"/>
                </a:lnTo>
                <a:lnTo>
                  <a:pt x="300052" y="1316364"/>
                </a:lnTo>
                <a:lnTo>
                  <a:pt x="301082" y="1316462"/>
                </a:lnTo>
                <a:lnTo>
                  <a:pt x="302492" y="1314992"/>
                </a:lnTo>
                <a:lnTo>
                  <a:pt x="303187" y="1314980"/>
                </a:lnTo>
                <a:lnTo>
                  <a:pt x="303919" y="1316001"/>
                </a:lnTo>
                <a:lnTo>
                  <a:pt x="304470" y="1317762"/>
                </a:lnTo>
                <a:lnTo>
                  <a:pt x="305700" y="1318424"/>
                </a:lnTo>
                <a:lnTo>
                  <a:pt x="306192" y="1319036"/>
                </a:lnTo>
                <a:lnTo>
                  <a:pt x="306991" y="1318970"/>
                </a:lnTo>
                <a:lnTo>
                  <a:pt x="307361" y="1319169"/>
                </a:lnTo>
                <a:lnTo>
                  <a:pt x="307585" y="1320008"/>
                </a:lnTo>
                <a:lnTo>
                  <a:pt x="307522" y="1321241"/>
                </a:lnTo>
                <a:lnTo>
                  <a:pt x="306296" y="1322570"/>
                </a:lnTo>
                <a:lnTo>
                  <a:pt x="306262" y="1323419"/>
                </a:lnTo>
                <a:lnTo>
                  <a:pt x="308653" y="1326009"/>
                </a:lnTo>
                <a:lnTo>
                  <a:pt x="310504" y="1326966"/>
                </a:lnTo>
                <a:lnTo>
                  <a:pt x="311106" y="1328757"/>
                </a:lnTo>
                <a:lnTo>
                  <a:pt x="311967" y="1329716"/>
                </a:lnTo>
                <a:lnTo>
                  <a:pt x="314321" y="1330296"/>
                </a:lnTo>
                <a:lnTo>
                  <a:pt x="315064" y="1330074"/>
                </a:lnTo>
                <a:lnTo>
                  <a:pt x="316416" y="1329016"/>
                </a:lnTo>
                <a:lnTo>
                  <a:pt x="317260" y="1328652"/>
                </a:lnTo>
                <a:lnTo>
                  <a:pt x="318152" y="1328687"/>
                </a:lnTo>
                <a:lnTo>
                  <a:pt x="318859" y="1329088"/>
                </a:lnTo>
                <a:lnTo>
                  <a:pt x="320678" y="1334049"/>
                </a:lnTo>
                <a:lnTo>
                  <a:pt x="320609" y="1335149"/>
                </a:lnTo>
                <a:lnTo>
                  <a:pt x="320000" y="1337405"/>
                </a:lnTo>
                <a:lnTo>
                  <a:pt x="319007" y="1338788"/>
                </a:lnTo>
                <a:lnTo>
                  <a:pt x="319408" y="1341652"/>
                </a:lnTo>
                <a:lnTo>
                  <a:pt x="320038" y="1341855"/>
                </a:lnTo>
                <a:lnTo>
                  <a:pt x="321250" y="1340809"/>
                </a:lnTo>
                <a:lnTo>
                  <a:pt x="323091" y="1340771"/>
                </a:lnTo>
                <a:lnTo>
                  <a:pt x="324182" y="1341189"/>
                </a:lnTo>
                <a:lnTo>
                  <a:pt x="325504" y="1342428"/>
                </a:lnTo>
                <a:lnTo>
                  <a:pt x="327688" y="1343455"/>
                </a:lnTo>
                <a:lnTo>
                  <a:pt x="328546" y="1346451"/>
                </a:lnTo>
                <a:lnTo>
                  <a:pt x="329839" y="1348483"/>
                </a:lnTo>
                <a:lnTo>
                  <a:pt x="330170" y="1349409"/>
                </a:lnTo>
                <a:lnTo>
                  <a:pt x="331900" y="1351229"/>
                </a:lnTo>
                <a:lnTo>
                  <a:pt x="333947" y="1351890"/>
                </a:lnTo>
                <a:lnTo>
                  <a:pt x="334909" y="1353322"/>
                </a:lnTo>
                <a:lnTo>
                  <a:pt x="336488" y="1354930"/>
                </a:lnTo>
                <a:lnTo>
                  <a:pt x="336982" y="1356072"/>
                </a:lnTo>
                <a:lnTo>
                  <a:pt x="335823" y="1356676"/>
                </a:lnTo>
                <a:lnTo>
                  <a:pt x="335768" y="1357680"/>
                </a:lnTo>
                <a:lnTo>
                  <a:pt x="336821" y="1358579"/>
                </a:lnTo>
                <a:lnTo>
                  <a:pt x="337828" y="1360058"/>
                </a:lnTo>
                <a:lnTo>
                  <a:pt x="340197" y="1361768"/>
                </a:lnTo>
                <a:lnTo>
                  <a:pt x="341035" y="1364147"/>
                </a:lnTo>
                <a:lnTo>
                  <a:pt x="342945" y="1365076"/>
                </a:lnTo>
                <a:lnTo>
                  <a:pt x="343946" y="1365254"/>
                </a:lnTo>
                <a:lnTo>
                  <a:pt x="346122" y="1365021"/>
                </a:lnTo>
                <a:lnTo>
                  <a:pt x="347000" y="1364334"/>
                </a:lnTo>
                <a:lnTo>
                  <a:pt x="347570" y="1364409"/>
                </a:lnTo>
                <a:lnTo>
                  <a:pt x="348165" y="1365178"/>
                </a:lnTo>
                <a:lnTo>
                  <a:pt x="348725" y="1366665"/>
                </a:lnTo>
                <a:lnTo>
                  <a:pt x="350344" y="1367558"/>
                </a:lnTo>
                <a:lnTo>
                  <a:pt x="351338" y="1368705"/>
                </a:lnTo>
                <a:lnTo>
                  <a:pt x="352608" y="1370824"/>
                </a:lnTo>
                <a:lnTo>
                  <a:pt x="353796" y="1371708"/>
                </a:lnTo>
                <a:lnTo>
                  <a:pt x="354480" y="1374176"/>
                </a:lnTo>
                <a:lnTo>
                  <a:pt x="357561" y="1377081"/>
                </a:lnTo>
                <a:lnTo>
                  <a:pt x="358418" y="1377174"/>
                </a:lnTo>
                <a:lnTo>
                  <a:pt x="360183" y="1376404"/>
                </a:lnTo>
                <a:lnTo>
                  <a:pt x="360511" y="1375945"/>
                </a:lnTo>
                <a:lnTo>
                  <a:pt x="360847" y="1374528"/>
                </a:lnTo>
                <a:lnTo>
                  <a:pt x="361604" y="1373975"/>
                </a:lnTo>
                <a:lnTo>
                  <a:pt x="362513" y="1374082"/>
                </a:lnTo>
                <a:lnTo>
                  <a:pt x="363992" y="1375081"/>
                </a:lnTo>
                <a:lnTo>
                  <a:pt x="364972" y="1374971"/>
                </a:lnTo>
                <a:lnTo>
                  <a:pt x="365882" y="1374056"/>
                </a:lnTo>
                <a:lnTo>
                  <a:pt x="367475" y="1374234"/>
                </a:lnTo>
                <a:lnTo>
                  <a:pt x="370974" y="1376550"/>
                </a:lnTo>
                <a:lnTo>
                  <a:pt x="371891" y="1376393"/>
                </a:lnTo>
                <a:lnTo>
                  <a:pt x="373648" y="1377319"/>
                </a:lnTo>
                <a:lnTo>
                  <a:pt x="373924" y="1377699"/>
                </a:lnTo>
                <a:lnTo>
                  <a:pt x="373843" y="1378447"/>
                </a:lnTo>
                <a:lnTo>
                  <a:pt x="374117" y="1378852"/>
                </a:lnTo>
                <a:lnTo>
                  <a:pt x="378709" y="1382506"/>
                </a:lnTo>
                <a:lnTo>
                  <a:pt x="380628" y="1385024"/>
                </a:lnTo>
                <a:lnTo>
                  <a:pt x="379970" y="1385664"/>
                </a:lnTo>
                <a:lnTo>
                  <a:pt x="379104" y="1387130"/>
                </a:lnTo>
                <a:lnTo>
                  <a:pt x="379378" y="1390507"/>
                </a:lnTo>
                <a:lnTo>
                  <a:pt x="379645" y="1391056"/>
                </a:lnTo>
                <a:lnTo>
                  <a:pt x="381201" y="1392039"/>
                </a:lnTo>
                <a:lnTo>
                  <a:pt x="380977" y="1392387"/>
                </a:lnTo>
                <a:lnTo>
                  <a:pt x="381276" y="1393068"/>
                </a:lnTo>
                <a:lnTo>
                  <a:pt x="380044" y="1393854"/>
                </a:lnTo>
                <a:lnTo>
                  <a:pt x="379608" y="1394772"/>
                </a:lnTo>
                <a:lnTo>
                  <a:pt x="380113" y="1395791"/>
                </a:lnTo>
                <a:lnTo>
                  <a:pt x="380489" y="1399150"/>
                </a:lnTo>
                <a:lnTo>
                  <a:pt x="379912" y="1400100"/>
                </a:lnTo>
                <a:lnTo>
                  <a:pt x="379885" y="1401186"/>
                </a:lnTo>
                <a:lnTo>
                  <a:pt x="381536" y="1401356"/>
                </a:lnTo>
                <a:lnTo>
                  <a:pt x="381882" y="1402193"/>
                </a:lnTo>
                <a:lnTo>
                  <a:pt x="381986" y="1403900"/>
                </a:lnTo>
                <a:lnTo>
                  <a:pt x="381515" y="1404755"/>
                </a:lnTo>
                <a:lnTo>
                  <a:pt x="382362" y="1407410"/>
                </a:lnTo>
                <a:lnTo>
                  <a:pt x="382391" y="1410569"/>
                </a:lnTo>
                <a:lnTo>
                  <a:pt x="383277" y="1411504"/>
                </a:lnTo>
                <a:lnTo>
                  <a:pt x="385921" y="1411363"/>
                </a:lnTo>
                <a:lnTo>
                  <a:pt x="386410" y="1412214"/>
                </a:lnTo>
                <a:lnTo>
                  <a:pt x="388744" y="1413484"/>
                </a:lnTo>
                <a:lnTo>
                  <a:pt x="392039" y="1412410"/>
                </a:lnTo>
                <a:lnTo>
                  <a:pt x="392238" y="1412605"/>
                </a:lnTo>
                <a:lnTo>
                  <a:pt x="388257" y="1419553"/>
                </a:lnTo>
                <a:lnTo>
                  <a:pt x="383050" y="1422275"/>
                </a:lnTo>
                <a:lnTo>
                  <a:pt x="381059" y="1425575"/>
                </a:lnTo>
                <a:lnTo>
                  <a:pt x="385226" y="1428592"/>
                </a:lnTo>
                <a:lnTo>
                  <a:pt x="386328" y="1430279"/>
                </a:lnTo>
                <a:lnTo>
                  <a:pt x="387471" y="1431015"/>
                </a:lnTo>
                <a:lnTo>
                  <a:pt x="387657" y="1430831"/>
                </a:lnTo>
                <a:lnTo>
                  <a:pt x="387109" y="1434122"/>
                </a:lnTo>
                <a:lnTo>
                  <a:pt x="386590" y="1435267"/>
                </a:lnTo>
                <a:lnTo>
                  <a:pt x="385760" y="1436018"/>
                </a:lnTo>
                <a:lnTo>
                  <a:pt x="386280" y="1437535"/>
                </a:lnTo>
                <a:lnTo>
                  <a:pt x="386003" y="1438884"/>
                </a:lnTo>
                <a:lnTo>
                  <a:pt x="386644" y="1439775"/>
                </a:lnTo>
                <a:lnTo>
                  <a:pt x="384095" y="1441742"/>
                </a:lnTo>
                <a:lnTo>
                  <a:pt x="381511" y="1444402"/>
                </a:lnTo>
                <a:lnTo>
                  <a:pt x="381613" y="1445611"/>
                </a:lnTo>
                <a:lnTo>
                  <a:pt x="382892" y="1448114"/>
                </a:lnTo>
                <a:lnTo>
                  <a:pt x="385275" y="1448299"/>
                </a:lnTo>
                <a:lnTo>
                  <a:pt x="383142" y="1453163"/>
                </a:lnTo>
                <a:lnTo>
                  <a:pt x="379864" y="1456093"/>
                </a:lnTo>
                <a:lnTo>
                  <a:pt x="378360" y="1456000"/>
                </a:lnTo>
                <a:lnTo>
                  <a:pt x="376314" y="1457194"/>
                </a:lnTo>
                <a:lnTo>
                  <a:pt x="378498" y="1460142"/>
                </a:lnTo>
                <a:lnTo>
                  <a:pt x="377362" y="1463588"/>
                </a:lnTo>
                <a:lnTo>
                  <a:pt x="372966" y="1469218"/>
                </a:lnTo>
                <a:lnTo>
                  <a:pt x="370490" y="1468595"/>
                </a:lnTo>
                <a:lnTo>
                  <a:pt x="368547" y="1471938"/>
                </a:lnTo>
                <a:lnTo>
                  <a:pt x="367563" y="1479842"/>
                </a:lnTo>
                <a:lnTo>
                  <a:pt x="368221" y="1480769"/>
                </a:lnTo>
                <a:lnTo>
                  <a:pt x="368743" y="1482977"/>
                </a:lnTo>
                <a:lnTo>
                  <a:pt x="366262" y="1484318"/>
                </a:lnTo>
                <a:lnTo>
                  <a:pt x="364222" y="1485961"/>
                </a:lnTo>
                <a:lnTo>
                  <a:pt x="355172" y="1482218"/>
                </a:lnTo>
                <a:lnTo>
                  <a:pt x="354368" y="1483855"/>
                </a:lnTo>
                <a:lnTo>
                  <a:pt x="351996" y="1483422"/>
                </a:lnTo>
                <a:lnTo>
                  <a:pt x="352156" y="1482363"/>
                </a:lnTo>
                <a:lnTo>
                  <a:pt x="345876" y="1479180"/>
                </a:lnTo>
                <a:lnTo>
                  <a:pt x="345695" y="1478699"/>
                </a:lnTo>
                <a:lnTo>
                  <a:pt x="345126" y="1478388"/>
                </a:lnTo>
                <a:lnTo>
                  <a:pt x="343879" y="1478666"/>
                </a:lnTo>
                <a:lnTo>
                  <a:pt x="342936" y="1480254"/>
                </a:lnTo>
                <a:lnTo>
                  <a:pt x="343686" y="1480753"/>
                </a:lnTo>
                <a:lnTo>
                  <a:pt x="342999" y="1482460"/>
                </a:lnTo>
                <a:lnTo>
                  <a:pt x="342081" y="1482518"/>
                </a:lnTo>
                <a:lnTo>
                  <a:pt x="341231" y="1482170"/>
                </a:lnTo>
                <a:lnTo>
                  <a:pt x="339351" y="1483631"/>
                </a:lnTo>
                <a:lnTo>
                  <a:pt x="339064" y="1485669"/>
                </a:lnTo>
                <a:lnTo>
                  <a:pt x="338119" y="1486427"/>
                </a:lnTo>
                <a:lnTo>
                  <a:pt x="335952" y="1485098"/>
                </a:lnTo>
                <a:lnTo>
                  <a:pt x="335595" y="1487074"/>
                </a:lnTo>
                <a:lnTo>
                  <a:pt x="332471" y="1486456"/>
                </a:lnTo>
                <a:lnTo>
                  <a:pt x="330273" y="1487588"/>
                </a:lnTo>
                <a:lnTo>
                  <a:pt x="328227" y="1489762"/>
                </a:lnTo>
                <a:lnTo>
                  <a:pt x="325901" y="1490235"/>
                </a:lnTo>
                <a:lnTo>
                  <a:pt x="324350" y="1488739"/>
                </a:lnTo>
                <a:lnTo>
                  <a:pt x="322222" y="1491397"/>
                </a:lnTo>
                <a:lnTo>
                  <a:pt x="320236" y="1490861"/>
                </a:lnTo>
                <a:lnTo>
                  <a:pt x="314725" y="1490358"/>
                </a:lnTo>
                <a:lnTo>
                  <a:pt x="308321" y="1494058"/>
                </a:lnTo>
                <a:lnTo>
                  <a:pt x="306656" y="1496179"/>
                </a:lnTo>
                <a:lnTo>
                  <a:pt x="305699" y="1498939"/>
                </a:lnTo>
                <a:lnTo>
                  <a:pt x="304512" y="1499816"/>
                </a:lnTo>
                <a:lnTo>
                  <a:pt x="303063" y="1498680"/>
                </a:lnTo>
                <a:lnTo>
                  <a:pt x="299784" y="1499215"/>
                </a:lnTo>
                <a:lnTo>
                  <a:pt x="299585" y="1498717"/>
                </a:lnTo>
                <a:lnTo>
                  <a:pt x="293086" y="1501119"/>
                </a:lnTo>
                <a:lnTo>
                  <a:pt x="294276" y="1505756"/>
                </a:lnTo>
                <a:lnTo>
                  <a:pt x="294494" y="1508612"/>
                </a:lnTo>
                <a:lnTo>
                  <a:pt x="294121" y="1508673"/>
                </a:lnTo>
                <a:lnTo>
                  <a:pt x="292121" y="1507286"/>
                </a:lnTo>
                <a:lnTo>
                  <a:pt x="289196" y="1505796"/>
                </a:lnTo>
                <a:lnTo>
                  <a:pt x="283987" y="1511244"/>
                </a:lnTo>
                <a:lnTo>
                  <a:pt x="274870" y="1512980"/>
                </a:lnTo>
                <a:lnTo>
                  <a:pt x="272935" y="1514578"/>
                </a:lnTo>
                <a:lnTo>
                  <a:pt x="272109" y="1513107"/>
                </a:lnTo>
                <a:lnTo>
                  <a:pt x="266460" y="1510328"/>
                </a:lnTo>
                <a:lnTo>
                  <a:pt x="256708" y="1512921"/>
                </a:lnTo>
                <a:lnTo>
                  <a:pt x="252625" y="1516148"/>
                </a:lnTo>
                <a:lnTo>
                  <a:pt x="252693" y="1517552"/>
                </a:lnTo>
                <a:lnTo>
                  <a:pt x="251485" y="1526585"/>
                </a:lnTo>
                <a:lnTo>
                  <a:pt x="249004" y="1527420"/>
                </a:lnTo>
                <a:lnTo>
                  <a:pt x="245918" y="1529258"/>
                </a:lnTo>
                <a:lnTo>
                  <a:pt x="247850" y="1531211"/>
                </a:lnTo>
                <a:lnTo>
                  <a:pt x="246675" y="1537101"/>
                </a:lnTo>
                <a:lnTo>
                  <a:pt x="243772" y="1540908"/>
                </a:lnTo>
                <a:lnTo>
                  <a:pt x="246491" y="1546719"/>
                </a:lnTo>
                <a:lnTo>
                  <a:pt x="245724" y="1553472"/>
                </a:lnTo>
                <a:lnTo>
                  <a:pt x="245316" y="1563443"/>
                </a:lnTo>
                <a:lnTo>
                  <a:pt x="244207" y="1563755"/>
                </a:lnTo>
                <a:lnTo>
                  <a:pt x="239077" y="1563720"/>
                </a:lnTo>
                <a:lnTo>
                  <a:pt x="235030" y="1564750"/>
                </a:lnTo>
                <a:lnTo>
                  <a:pt x="230967" y="1560792"/>
                </a:lnTo>
                <a:lnTo>
                  <a:pt x="232494" y="1564603"/>
                </a:lnTo>
                <a:lnTo>
                  <a:pt x="220833" y="1565026"/>
                </a:lnTo>
                <a:lnTo>
                  <a:pt x="218584" y="1566728"/>
                </a:lnTo>
                <a:lnTo>
                  <a:pt x="218274" y="1569655"/>
                </a:lnTo>
                <a:lnTo>
                  <a:pt x="217290" y="1571039"/>
                </a:lnTo>
                <a:lnTo>
                  <a:pt x="215355" y="1572404"/>
                </a:lnTo>
                <a:lnTo>
                  <a:pt x="213027" y="1573549"/>
                </a:lnTo>
                <a:lnTo>
                  <a:pt x="210730" y="1572033"/>
                </a:lnTo>
                <a:lnTo>
                  <a:pt x="210662" y="1573810"/>
                </a:lnTo>
                <a:lnTo>
                  <a:pt x="207855" y="1572786"/>
                </a:lnTo>
                <a:lnTo>
                  <a:pt x="206684" y="1571420"/>
                </a:lnTo>
                <a:lnTo>
                  <a:pt x="204676" y="1570669"/>
                </a:lnTo>
                <a:lnTo>
                  <a:pt x="195577" y="1569534"/>
                </a:lnTo>
                <a:lnTo>
                  <a:pt x="193610" y="1574027"/>
                </a:lnTo>
                <a:lnTo>
                  <a:pt x="194349" y="1577542"/>
                </a:lnTo>
                <a:lnTo>
                  <a:pt x="194625" y="1579142"/>
                </a:lnTo>
                <a:lnTo>
                  <a:pt x="198787" y="1581583"/>
                </a:lnTo>
                <a:lnTo>
                  <a:pt x="198237" y="1582596"/>
                </a:lnTo>
                <a:lnTo>
                  <a:pt x="195424" y="1583235"/>
                </a:lnTo>
                <a:lnTo>
                  <a:pt x="194726" y="1583131"/>
                </a:lnTo>
                <a:lnTo>
                  <a:pt x="194554" y="1588486"/>
                </a:lnTo>
                <a:lnTo>
                  <a:pt x="190355" y="1587239"/>
                </a:lnTo>
                <a:lnTo>
                  <a:pt x="188248" y="1593688"/>
                </a:lnTo>
                <a:lnTo>
                  <a:pt x="187749" y="1593803"/>
                </a:lnTo>
                <a:lnTo>
                  <a:pt x="187865" y="1597110"/>
                </a:lnTo>
                <a:lnTo>
                  <a:pt x="192551" y="1596842"/>
                </a:lnTo>
                <a:lnTo>
                  <a:pt x="193697" y="1596379"/>
                </a:lnTo>
                <a:lnTo>
                  <a:pt x="193661" y="1595416"/>
                </a:lnTo>
                <a:lnTo>
                  <a:pt x="196147" y="1596315"/>
                </a:lnTo>
                <a:lnTo>
                  <a:pt x="200823" y="1599762"/>
                </a:lnTo>
                <a:lnTo>
                  <a:pt x="199974" y="1600310"/>
                </a:lnTo>
                <a:lnTo>
                  <a:pt x="199544" y="1601445"/>
                </a:lnTo>
                <a:lnTo>
                  <a:pt x="201213" y="1602909"/>
                </a:lnTo>
                <a:lnTo>
                  <a:pt x="202004" y="1602759"/>
                </a:lnTo>
                <a:lnTo>
                  <a:pt x="204412" y="1605045"/>
                </a:lnTo>
                <a:lnTo>
                  <a:pt x="198915" y="1611735"/>
                </a:lnTo>
                <a:lnTo>
                  <a:pt x="200433" y="1613192"/>
                </a:lnTo>
                <a:lnTo>
                  <a:pt x="199601" y="1613751"/>
                </a:lnTo>
                <a:lnTo>
                  <a:pt x="199831" y="1614421"/>
                </a:lnTo>
                <a:lnTo>
                  <a:pt x="197784" y="1614487"/>
                </a:lnTo>
                <a:lnTo>
                  <a:pt x="197741" y="1615706"/>
                </a:lnTo>
                <a:lnTo>
                  <a:pt x="193000" y="1614381"/>
                </a:lnTo>
                <a:lnTo>
                  <a:pt x="191313" y="1619270"/>
                </a:lnTo>
                <a:lnTo>
                  <a:pt x="193079" y="1620926"/>
                </a:lnTo>
                <a:lnTo>
                  <a:pt x="192209" y="1622392"/>
                </a:lnTo>
                <a:lnTo>
                  <a:pt x="190583" y="1621699"/>
                </a:lnTo>
                <a:lnTo>
                  <a:pt x="188981" y="1622654"/>
                </a:lnTo>
                <a:lnTo>
                  <a:pt x="189092" y="1624038"/>
                </a:lnTo>
                <a:lnTo>
                  <a:pt x="187946" y="1623652"/>
                </a:lnTo>
                <a:lnTo>
                  <a:pt x="187726" y="1624026"/>
                </a:lnTo>
                <a:lnTo>
                  <a:pt x="187048" y="1626553"/>
                </a:lnTo>
                <a:lnTo>
                  <a:pt x="187083" y="1630780"/>
                </a:lnTo>
                <a:lnTo>
                  <a:pt x="188706" y="1626395"/>
                </a:lnTo>
                <a:lnTo>
                  <a:pt x="192347" y="1628608"/>
                </a:lnTo>
                <a:lnTo>
                  <a:pt x="192392" y="1632780"/>
                </a:lnTo>
                <a:lnTo>
                  <a:pt x="191677" y="1634242"/>
                </a:lnTo>
                <a:lnTo>
                  <a:pt x="189883" y="1634793"/>
                </a:lnTo>
                <a:lnTo>
                  <a:pt x="187746" y="1637057"/>
                </a:lnTo>
                <a:lnTo>
                  <a:pt x="189252" y="1637392"/>
                </a:lnTo>
                <a:lnTo>
                  <a:pt x="187471" y="1639563"/>
                </a:lnTo>
                <a:lnTo>
                  <a:pt x="185794" y="1639548"/>
                </a:lnTo>
                <a:lnTo>
                  <a:pt x="183120" y="1638953"/>
                </a:lnTo>
                <a:lnTo>
                  <a:pt x="178736" y="1638664"/>
                </a:lnTo>
                <a:lnTo>
                  <a:pt x="179616" y="1642581"/>
                </a:lnTo>
                <a:lnTo>
                  <a:pt x="177733" y="1644508"/>
                </a:lnTo>
                <a:lnTo>
                  <a:pt x="171460" y="1645280"/>
                </a:lnTo>
                <a:lnTo>
                  <a:pt x="171266" y="1645042"/>
                </a:lnTo>
                <a:lnTo>
                  <a:pt x="171303" y="1645375"/>
                </a:lnTo>
                <a:lnTo>
                  <a:pt x="168007" y="1646745"/>
                </a:lnTo>
                <a:lnTo>
                  <a:pt x="166878" y="1648397"/>
                </a:lnTo>
                <a:lnTo>
                  <a:pt x="164425" y="1650972"/>
                </a:lnTo>
                <a:lnTo>
                  <a:pt x="162406" y="1651237"/>
                </a:lnTo>
                <a:lnTo>
                  <a:pt x="158417" y="1654828"/>
                </a:lnTo>
                <a:lnTo>
                  <a:pt x="154498" y="1653884"/>
                </a:lnTo>
                <a:lnTo>
                  <a:pt x="152609" y="1652833"/>
                </a:lnTo>
                <a:lnTo>
                  <a:pt x="145049" y="1644912"/>
                </a:lnTo>
                <a:lnTo>
                  <a:pt x="140578" y="1642426"/>
                </a:lnTo>
                <a:lnTo>
                  <a:pt x="137928" y="1646078"/>
                </a:lnTo>
                <a:lnTo>
                  <a:pt x="134994" y="1647393"/>
                </a:lnTo>
                <a:lnTo>
                  <a:pt x="132500" y="1649187"/>
                </a:lnTo>
                <a:lnTo>
                  <a:pt x="130315" y="1651574"/>
                </a:lnTo>
                <a:lnTo>
                  <a:pt x="127240" y="1652304"/>
                </a:lnTo>
                <a:lnTo>
                  <a:pt x="124332" y="1662300"/>
                </a:lnTo>
                <a:lnTo>
                  <a:pt x="125475" y="1663256"/>
                </a:lnTo>
                <a:lnTo>
                  <a:pt x="128533" y="1667384"/>
                </a:lnTo>
                <a:lnTo>
                  <a:pt x="126709" y="1669901"/>
                </a:lnTo>
                <a:lnTo>
                  <a:pt x="116412" y="1669452"/>
                </a:lnTo>
                <a:lnTo>
                  <a:pt x="111307" y="1668625"/>
                </a:lnTo>
                <a:lnTo>
                  <a:pt x="106822" y="1667589"/>
                </a:lnTo>
                <a:lnTo>
                  <a:pt x="96342" y="1666820"/>
                </a:lnTo>
                <a:lnTo>
                  <a:pt x="93010" y="1672308"/>
                </a:lnTo>
                <a:lnTo>
                  <a:pt x="91014" y="1677777"/>
                </a:lnTo>
                <a:lnTo>
                  <a:pt x="82459" y="1673804"/>
                </a:lnTo>
                <a:lnTo>
                  <a:pt x="80154" y="1671646"/>
                </a:lnTo>
                <a:lnTo>
                  <a:pt x="76661" y="1679090"/>
                </a:lnTo>
                <a:lnTo>
                  <a:pt x="73863" y="1680494"/>
                </a:lnTo>
                <a:lnTo>
                  <a:pt x="71741" y="1679945"/>
                </a:lnTo>
                <a:lnTo>
                  <a:pt x="64725" y="1684076"/>
                </a:lnTo>
                <a:lnTo>
                  <a:pt x="68465" y="1690671"/>
                </a:lnTo>
                <a:lnTo>
                  <a:pt x="68162" y="1698584"/>
                </a:lnTo>
                <a:lnTo>
                  <a:pt x="74375" y="1704761"/>
                </a:lnTo>
                <a:lnTo>
                  <a:pt x="77207" y="1714692"/>
                </a:lnTo>
                <a:lnTo>
                  <a:pt x="76474" y="1721335"/>
                </a:lnTo>
                <a:lnTo>
                  <a:pt x="72089" y="1724650"/>
                </a:lnTo>
                <a:lnTo>
                  <a:pt x="81015" y="1729823"/>
                </a:lnTo>
                <a:lnTo>
                  <a:pt x="83962" y="1734045"/>
                </a:lnTo>
                <a:lnTo>
                  <a:pt x="83783" y="1739718"/>
                </a:lnTo>
                <a:lnTo>
                  <a:pt x="90223" y="1739576"/>
                </a:lnTo>
                <a:lnTo>
                  <a:pt x="87706" y="1749771"/>
                </a:lnTo>
                <a:lnTo>
                  <a:pt x="77419" y="1747357"/>
                </a:lnTo>
                <a:lnTo>
                  <a:pt x="69723" y="1744018"/>
                </a:lnTo>
                <a:lnTo>
                  <a:pt x="62833" y="1743592"/>
                </a:lnTo>
                <a:lnTo>
                  <a:pt x="60881" y="1740663"/>
                </a:lnTo>
                <a:lnTo>
                  <a:pt x="55555" y="1740634"/>
                </a:lnTo>
                <a:lnTo>
                  <a:pt x="47274" y="1746121"/>
                </a:lnTo>
                <a:lnTo>
                  <a:pt x="51223" y="1755768"/>
                </a:lnTo>
                <a:lnTo>
                  <a:pt x="48701" y="1758402"/>
                </a:lnTo>
                <a:lnTo>
                  <a:pt x="36071" y="1758472"/>
                </a:lnTo>
                <a:lnTo>
                  <a:pt x="35624" y="1762683"/>
                </a:lnTo>
                <a:lnTo>
                  <a:pt x="28129" y="1771360"/>
                </a:lnTo>
                <a:lnTo>
                  <a:pt x="31119" y="1778460"/>
                </a:lnTo>
                <a:lnTo>
                  <a:pt x="26442" y="1781791"/>
                </a:lnTo>
                <a:lnTo>
                  <a:pt x="26313" y="1783216"/>
                </a:lnTo>
                <a:lnTo>
                  <a:pt x="29693" y="1787019"/>
                </a:lnTo>
                <a:lnTo>
                  <a:pt x="29427" y="1791660"/>
                </a:lnTo>
                <a:lnTo>
                  <a:pt x="20879" y="1803122"/>
                </a:lnTo>
                <a:lnTo>
                  <a:pt x="18931" y="1810636"/>
                </a:lnTo>
                <a:lnTo>
                  <a:pt x="13903" y="1816224"/>
                </a:lnTo>
                <a:lnTo>
                  <a:pt x="7260" y="1830730"/>
                </a:lnTo>
                <a:lnTo>
                  <a:pt x="5000" y="1831058"/>
                </a:lnTo>
                <a:lnTo>
                  <a:pt x="4984" y="1833903"/>
                </a:lnTo>
                <a:lnTo>
                  <a:pt x="243" y="1833619"/>
                </a:lnTo>
                <a:lnTo>
                  <a:pt x="0" y="1845311"/>
                </a:lnTo>
                <a:lnTo>
                  <a:pt x="6830" y="1848605"/>
                </a:lnTo>
                <a:lnTo>
                  <a:pt x="5449" y="1849327"/>
                </a:lnTo>
                <a:lnTo>
                  <a:pt x="13182" y="1849070"/>
                </a:lnTo>
                <a:lnTo>
                  <a:pt x="27700" y="1850463"/>
                </a:lnTo>
                <a:lnTo>
                  <a:pt x="45856" y="1845377"/>
                </a:lnTo>
                <a:lnTo>
                  <a:pt x="52298" y="1845362"/>
                </a:lnTo>
                <a:lnTo>
                  <a:pt x="55297" y="1843136"/>
                </a:lnTo>
                <a:lnTo>
                  <a:pt x="63691" y="1842759"/>
                </a:lnTo>
                <a:lnTo>
                  <a:pt x="77805" y="1842955"/>
                </a:lnTo>
                <a:lnTo>
                  <a:pt x="80750" y="1845859"/>
                </a:lnTo>
                <a:lnTo>
                  <a:pt x="87271" y="1854885"/>
                </a:lnTo>
                <a:lnTo>
                  <a:pt x="85945" y="1851507"/>
                </a:lnTo>
                <a:lnTo>
                  <a:pt x="88575" y="1852168"/>
                </a:lnTo>
                <a:lnTo>
                  <a:pt x="91290" y="1852177"/>
                </a:lnTo>
                <a:lnTo>
                  <a:pt x="95422" y="1851506"/>
                </a:lnTo>
                <a:lnTo>
                  <a:pt x="101582" y="1852441"/>
                </a:lnTo>
                <a:lnTo>
                  <a:pt x="105452" y="1851614"/>
                </a:lnTo>
                <a:lnTo>
                  <a:pt x="108067" y="1854765"/>
                </a:lnTo>
                <a:lnTo>
                  <a:pt x="117101" y="1858272"/>
                </a:lnTo>
                <a:lnTo>
                  <a:pt x="117046" y="1858438"/>
                </a:lnTo>
                <a:lnTo>
                  <a:pt x="120584" y="1860164"/>
                </a:lnTo>
                <a:lnTo>
                  <a:pt x="120896" y="1861307"/>
                </a:lnTo>
                <a:lnTo>
                  <a:pt x="120114" y="1865303"/>
                </a:lnTo>
                <a:lnTo>
                  <a:pt x="119669" y="1872739"/>
                </a:lnTo>
                <a:lnTo>
                  <a:pt x="122509" y="1872219"/>
                </a:lnTo>
                <a:lnTo>
                  <a:pt x="122987" y="1875829"/>
                </a:lnTo>
                <a:lnTo>
                  <a:pt x="130679" y="1881414"/>
                </a:lnTo>
                <a:lnTo>
                  <a:pt x="130147" y="1889126"/>
                </a:lnTo>
                <a:lnTo>
                  <a:pt x="124382" y="1888661"/>
                </a:lnTo>
                <a:lnTo>
                  <a:pt x="118463" y="1889297"/>
                </a:lnTo>
                <a:lnTo>
                  <a:pt x="114355" y="1885848"/>
                </a:lnTo>
                <a:lnTo>
                  <a:pt x="114266" y="1889384"/>
                </a:lnTo>
                <a:lnTo>
                  <a:pt x="112373" y="1891067"/>
                </a:lnTo>
                <a:lnTo>
                  <a:pt x="112355" y="1893796"/>
                </a:lnTo>
                <a:lnTo>
                  <a:pt x="103291" y="1896904"/>
                </a:lnTo>
                <a:lnTo>
                  <a:pt x="98398" y="1896926"/>
                </a:lnTo>
                <a:lnTo>
                  <a:pt x="97142" y="1904266"/>
                </a:lnTo>
                <a:lnTo>
                  <a:pt x="92383" y="1909429"/>
                </a:lnTo>
                <a:lnTo>
                  <a:pt x="95419" y="1909720"/>
                </a:lnTo>
                <a:lnTo>
                  <a:pt x="96909" y="1910426"/>
                </a:lnTo>
                <a:lnTo>
                  <a:pt x="100575" y="1911063"/>
                </a:lnTo>
                <a:lnTo>
                  <a:pt x="102495" y="1911740"/>
                </a:lnTo>
                <a:lnTo>
                  <a:pt x="105394" y="1911710"/>
                </a:lnTo>
                <a:lnTo>
                  <a:pt x="105209" y="1909065"/>
                </a:lnTo>
                <a:lnTo>
                  <a:pt x="109327" y="1908042"/>
                </a:lnTo>
                <a:lnTo>
                  <a:pt x="109443" y="1907463"/>
                </a:lnTo>
                <a:lnTo>
                  <a:pt x="114787" y="1909258"/>
                </a:lnTo>
                <a:lnTo>
                  <a:pt x="114333" y="1909750"/>
                </a:lnTo>
                <a:lnTo>
                  <a:pt x="115501" y="1915113"/>
                </a:lnTo>
                <a:lnTo>
                  <a:pt x="121872" y="1915693"/>
                </a:lnTo>
                <a:lnTo>
                  <a:pt x="123578" y="1917374"/>
                </a:lnTo>
                <a:lnTo>
                  <a:pt x="135074" y="1920675"/>
                </a:lnTo>
                <a:lnTo>
                  <a:pt x="134709" y="1921228"/>
                </a:lnTo>
                <a:lnTo>
                  <a:pt x="133837" y="1921335"/>
                </a:lnTo>
                <a:lnTo>
                  <a:pt x="133010" y="1923156"/>
                </a:lnTo>
                <a:lnTo>
                  <a:pt x="132313" y="1924000"/>
                </a:lnTo>
                <a:lnTo>
                  <a:pt x="130655" y="1923930"/>
                </a:lnTo>
                <a:lnTo>
                  <a:pt x="130413" y="1924258"/>
                </a:lnTo>
                <a:lnTo>
                  <a:pt x="130058" y="1924133"/>
                </a:lnTo>
                <a:lnTo>
                  <a:pt x="128870" y="1924650"/>
                </a:lnTo>
                <a:lnTo>
                  <a:pt x="128580" y="1924512"/>
                </a:lnTo>
                <a:lnTo>
                  <a:pt x="128007" y="1925489"/>
                </a:lnTo>
                <a:lnTo>
                  <a:pt x="127421" y="1925504"/>
                </a:lnTo>
                <a:lnTo>
                  <a:pt x="127616" y="1925786"/>
                </a:lnTo>
                <a:lnTo>
                  <a:pt x="127455" y="1926154"/>
                </a:lnTo>
                <a:lnTo>
                  <a:pt x="127692" y="1926206"/>
                </a:lnTo>
                <a:lnTo>
                  <a:pt x="127756" y="1926518"/>
                </a:lnTo>
                <a:lnTo>
                  <a:pt x="128756" y="1927048"/>
                </a:lnTo>
                <a:lnTo>
                  <a:pt x="128501" y="1927297"/>
                </a:lnTo>
                <a:lnTo>
                  <a:pt x="128865" y="1927479"/>
                </a:lnTo>
                <a:lnTo>
                  <a:pt x="128755" y="1927824"/>
                </a:lnTo>
                <a:lnTo>
                  <a:pt x="128140" y="1928272"/>
                </a:lnTo>
                <a:lnTo>
                  <a:pt x="126421" y="1928312"/>
                </a:lnTo>
                <a:lnTo>
                  <a:pt x="126086" y="1928855"/>
                </a:lnTo>
                <a:lnTo>
                  <a:pt x="126845" y="1929975"/>
                </a:lnTo>
                <a:lnTo>
                  <a:pt x="126914" y="1930387"/>
                </a:lnTo>
                <a:lnTo>
                  <a:pt x="126470" y="1930703"/>
                </a:lnTo>
                <a:lnTo>
                  <a:pt x="127023" y="1931241"/>
                </a:lnTo>
                <a:lnTo>
                  <a:pt x="127138" y="1931761"/>
                </a:lnTo>
                <a:lnTo>
                  <a:pt x="126933" y="1931960"/>
                </a:lnTo>
                <a:lnTo>
                  <a:pt x="126479" y="1931826"/>
                </a:lnTo>
                <a:lnTo>
                  <a:pt x="126579" y="1932188"/>
                </a:lnTo>
                <a:lnTo>
                  <a:pt x="126076" y="1932430"/>
                </a:lnTo>
                <a:lnTo>
                  <a:pt x="126296" y="1932847"/>
                </a:lnTo>
                <a:lnTo>
                  <a:pt x="125831" y="1933318"/>
                </a:lnTo>
                <a:lnTo>
                  <a:pt x="125785" y="1935305"/>
                </a:lnTo>
                <a:lnTo>
                  <a:pt x="126223" y="1935823"/>
                </a:lnTo>
                <a:lnTo>
                  <a:pt x="126661" y="1935742"/>
                </a:lnTo>
                <a:lnTo>
                  <a:pt x="127365" y="1937003"/>
                </a:lnTo>
                <a:lnTo>
                  <a:pt x="127167" y="1937232"/>
                </a:lnTo>
                <a:lnTo>
                  <a:pt x="127600" y="1938689"/>
                </a:lnTo>
                <a:lnTo>
                  <a:pt x="127323" y="1939205"/>
                </a:lnTo>
                <a:lnTo>
                  <a:pt x="127612" y="1939434"/>
                </a:lnTo>
                <a:lnTo>
                  <a:pt x="127558" y="1939990"/>
                </a:lnTo>
                <a:lnTo>
                  <a:pt x="127284" y="1941418"/>
                </a:lnTo>
                <a:lnTo>
                  <a:pt x="127776" y="1941452"/>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llustrated road connection within selected market interior"/>
          <p:cNvSpPr/>
          <p:nvPr/>
        </p:nvSpPr>
        <p:spPr>
          <a:xfrm>
            <a:off x="3297410" y="3276457"/>
            <a:ext cx="37231" cy="37230"/>
          </a:xfrm>
          <a:custGeom>
            <a:avLst/>
            <a:gdLst/>
            <a:ahLst/>
            <a:cxnLst/>
            <a:rect l="l" t="t" r="r" b="b"/>
            <a:pathLst>
              <a:path w="37231" h="37230">
                <a:moveTo>
                  <a:pt x="37231" y="37230"/>
                </a:moveTo>
                <a:lnTo>
                  <a:pt x="0" y="37230"/>
                </a:lnTo>
                <a:lnTo>
                  <a:pt x="0" y="0"/>
                </a:lnTo>
                <a:lnTo>
                  <a:pt x="37231" y="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llustrated road connection within selected market interior"/>
          <p:cNvSpPr/>
          <p:nvPr/>
        </p:nvSpPr>
        <p:spPr>
          <a:xfrm>
            <a:off x="2329421" y="4542289"/>
            <a:ext cx="148921" cy="111690"/>
          </a:xfrm>
          <a:custGeom>
            <a:avLst/>
            <a:gdLst/>
            <a:ahLst/>
            <a:cxnLst/>
            <a:rect l="l" t="t" r="r" b="b"/>
            <a:pathLst>
              <a:path w="148921" h="111690">
                <a:moveTo>
                  <a:pt x="37231" y="37230"/>
                </a:moveTo>
                <a:lnTo>
                  <a:pt x="74461" y="37230"/>
                </a:lnTo>
                <a:lnTo>
                  <a:pt x="111691" y="37230"/>
                </a:lnTo>
                <a:lnTo>
                  <a:pt x="111691" y="0"/>
                </a:lnTo>
                <a:lnTo>
                  <a:pt x="148921" y="0"/>
                </a:lnTo>
                <a:lnTo>
                  <a:pt x="148921" y="37230"/>
                </a:lnTo>
                <a:lnTo>
                  <a:pt x="148921" y="74460"/>
                </a:lnTo>
                <a:lnTo>
                  <a:pt x="148921" y="111690"/>
                </a:lnTo>
                <a:lnTo>
                  <a:pt x="111691" y="111690"/>
                </a:lnTo>
                <a:lnTo>
                  <a:pt x="74461" y="111690"/>
                </a:lnTo>
                <a:lnTo>
                  <a:pt x="37231" y="111690"/>
                </a:lnTo>
                <a:lnTo>
                  <a:pt x="0" y="111690"/>
                </a:lnTo>
                <a:lnTo>
                  <a:pt x="0" y="74460"/>
                </a:lnTo>
                <a:lnTo>
                  <a:pt x="37231" y="7446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llustrated road connection within selected market interior"/>
          <p:cNvSpPr/>
          <p:nvPr/>
        </p:nvSpPr>
        <p:spPr>
          <a:xfrm>
            <a:off x="2842841" y="3872142"/>
            <a:ext cx="354144" cy="446764"/>
          </a:xfrm>
          <a:custGeom>
            <a:avLst/>
            <a:gdLst/>
            <a:ahLst/>
            <a:cxnLst/>
            <a:rect l="l" t="t" r="r" b="b"/>
            <a:pathLst>
              <a:path w="354144" h="446764">
                <a:moveTo>
                  <a:pt x="156726" y="446764"/>
                </a:moveTo>
                <a:lnTo>
                  <a:pt x="119496" y="446764"/>
                </a:lnTo>
                <a:lnTo>
                  <a:pt x="119496" y="409534"/>
                </a:lnTo>
                <a:lnTo>
                  <a:pt x="119496" y="383860"/>
                </a:lnTo>
                <a:lnTo>
                  <a:pt x="116600" y="383251"/>
                </a:lnTo>
                <a:lnTo>
                  <a:pt x="114107" y="382946"/>
                </a:lnTo>
                <a:lnTo>
                  <a:pt x="113376" y="383150"/>
                </a:lnTo>
                <a:lnTo>
                  <a:pt x="112124" y="383093"/>
                </a:lnTo>
                <a:lnTo>
                  <a:pt x="111785" y="383313"/>
                </a:lnTo>
                <a:lnTo>
                  <a:pt x="110595" y="383160"/>
                </a:lnTo>
                <a:lnTo>
                  <a:pt x="109105" y="383716"/>
                </a:lnTo>
                <a:lnTo>
                  <a:pt x="108641" y="383452"/>
                </a:lnTo>
                <a:lnTo>
                  <a:pt x="107897" y="383654"/>
                </a:lnTo>
                <a:lnTo>
                  <a:pt x="107692" y="383384"/>
                </a:lnTo>
                <a:lnTo>
                  <a:pt x="107142" y="383370"/>
                </a:lnTo>
                <a:lnTo>
                  <a:pt x="105997" y="382846"/>
                </a:lnTo>
                <a:lnTo>
                  <a:pt x="105490" y="382306"/>
                </a:lnTo>
                <a:lnTo>
                  <a:pt x="105280" y="382451"/>
                </a:lnTo>
                <a:lnTo>
                  <a:pt x="104720" y="382183"/>
                </a:lnTo>
                <a:lnTo>
                  <a:pt x="103937" y="381561"/>
                </a:lnTo>
                <a:lnTo>
                  <a:pt x="103222" y="381341"/>
                </a:lnTo>
                <a:lnTo>
                  <a:pt x="102416" y="381422"/>
                </a:lnTo>
                <a:lnTo>
                  <a:pt x="101520" y="381025"/>
                </a:lnTo>
                <a:lnTo>
                  <a:pt x="100590" y="378821"/>
                </a:lnTo>
                <a:lnTo>
                  <a:pt x="99909" y="378627"/>
                </a:lnTo>
                <a:lnTo>
                  <a:pt x="98590" y="376852"/>
                </a:lnTo>
                <a:lnTo>
                  <a:pt x="98541" y="376700"/>
                </a:lnTo>
                <a:lnTo>
                  <a:pt x="93106" y="372304"/>
                </a:lnTo>
                <a:lnTo>
                  <a:pt x="82266" y="372304"/>
                </a:lnTo>
                <a:lnTo>
                  <a:pt x="82266" y="360182"/>
                </a:lnTo>
                <a:lnTo>
                  <a:pt x="80298" y="357835"/>
                </a:lnTo>
                <a:lnTo>
                  <a:pt x="78450" y="354790"/>
                </a:lnTo>
                <a:lnTo>
                  <a:pt x="77898" y="354759"/>
                </a:lnTo>
                <a:lnTo>
                  <a:pt x="77184" y="354198"/>
                </a:lnTo>
                <a:lnTo>
                  <a:pt x="76811" y="352481"/>
                </a:lnTo>
                <a:lnTo>
                  <a:pt x="76980" y="352368"/>
                </a:lnTo>
                <a:lnTo>
                  <a:pt x="74693" y="348600"/>
                </a:lnTo>
                <a:lnTo>
                  <a:pt x="69767" y="344367"/>
                </a:lnTo>
                <a:lnTo>
                  <a:pt x="69487" y="344506"/>
                </a:lnTo>
                <a:lnTo>
                  <a:pt x="68751" y="344568"/>
                </a:lnTo>
                <a:lnTo>
                  <a:pt x="67897" y="342982"/>
                </a:lnTo>
                <a:lnTo>
                  <a:pt x="68011" y="342465"/>
                </a:lnTo>
                <a:lnTo>
                  <a:pt x="67748" y="342094"/>
                </a:lnTo>
                <a:lnTo>
                  <a:pt x="67029" y="342374"/>
                </a:lnTo>
                <a:lnTo>
                  <a:pt x="66302" y="342174"/>
                </a:lnTo>
                <a:lnTo>
                  <a:pt x="66409" y="340949"/>
                </a:lnTo>
                <a:lnTo>
                  <a:pt x="66178" y="340437"/>
                </a:lnTo>
                <a:lnTo>
                  <a:pt x="65170" y="339997"/>
                </a:lnTo>
                <a:lnTo>
                  <a:pt x="64807" y="339652"/>
                </a:lnTo>
                <a:lnTo>
                  <a:pt x="58128" y="336234"/>
                </a:lnTo>
                <a:lnTo>
                  <a:pt x="56460" y="335074"/>
                </a:lnTo>
                <a:lnTo>
                  <a:pt x="55760" y="334587"/>
                </a:lnTo>
                <a:lnTo>
                  <a:pt x="55248" y="335059"/>
                </a:lnTo>
                <a:lnTo>
                  <a:pt x="52528" y="336341"/>
                </a:lnTo>
                <a:lnTo>
                  <a:pt x="51156" y="335789"/>
                </a:lnTo>
                <a:lnTo>
                  <a:pt x="50904" y="334552"/>
                </a:lnTo>
                <a:lnTo>
                  <a:pt x="50423" y="334201"/>
                </a:lnTo>
                <a:lnTo>
                  <a:pt x="50422" y="333819"/>
                </a:lnTo>
                <a:lnTo>
                  <a:pt x="51385" y="333033"/>
                </a:lnTo>
                <a:lnTo>
                  <a:pt x="51798" y="333723"/>
                </a:lnTo>
                <a:lnTo>
                  <a:pt x="52384" y="333433"/>
                </a:lnTo>
                <a:lnTo>
                  <a:pt x="52526" y="332891"/>
                </a:lnTo>
                <a:lnTo>
                  <a:pt x="52267" y="332504"/>
                </a:lnTo>
                <a:lnTo>
                  <a:pt x="52054" y="332384"/>
                </a:lnTo>
                <a:lnTo>
                  <a:pt x="48683" y="326252"/>
                </a:lnTo>
                <a:lnTo>
                  <a:pt x="46734" y="320956"/>
                </a:lnTo>
                <a:lnTo>
                  <a:pt x="47846" y="306319"/>
                </a:lnTo>
                <a:lnTo>
                  <a:pt x="46408" y="304176"/>
                </a:lnTo>
                <a:lnTo>
                  <a:pt x="45843" y="304199"/>
                </a:lnTo>
                <a:lnTo>
                  <a:pt x="45109" y="304484"/>
                </a:lnTo>
                <a:lnTo>
                  <a:pt x="43796" y="304509"/>
                </a:lnTo>
                <a:lnTo>
                  <a:pt x="43258" y="303143"/>
                </a:lnTo>
                <a:lnTo>
                  <a:pt x="41776" y="297276"/>
                </a:lnTo>
                <a:lnTo>
                  <a:pt x="31722" y="282347"/>
                </a:lnTo>
                <a:lnTo>
                  <a:pt x="31238" y="281415"/>
                </a:lnTo>
                <a:lnTo>
                  <a:pt x="31015" y="281168"/>
                </a:lnTo>
                <a:lnTo>
                  <a:pt x="28740" y="281415"/>
                </a:lnTo>
                <a:lnTo>
                  <a:pt x="29502" y="280725"/>
                </a:lnTo>
                <a:lnTo>
                  <a:pt x="29367" y="279238"/>
                </a:lnTo>
                <a:lnTo>
                  <a:pt x="27093" y="273423"/>
                </a:lnTo>
                <a:lnTo>
                  <a:pt x="25319" y="270003"/>
                </a:lnTo>
                <a:lnTo>
                  <a:pt x="20437" y="260612"/>
                </a:lnTo>
                <a:lnTo>
                  <a:pt x="16558" y="253153"/>
                </a:lnTo>
                <a:lnTo>
                  <a:pt x="11251" y="238772"/>
                </a:lnTo>
                <a:lnTo>
                  <a:pt x="8558" y="231483"/>
                </a:lnTo>
                <a:lnTo>
                  <a:pt x="7445" y="230678"/>
                </a:lnTo>
                <a:lnTo>
                  <a:pt x="3798" y="225968"/>
                </a:lnTo>
                <a:lnTo>
                  <a:pt x="2356" y="224971"/>
                </a:lnTo>
                <a:lnTo>
                  <a:pt x="1782" y="224142"/>
                </a:lnTo>
                <a:lnTo>
                  <a:pt x="1096" y="224233"/>
                </a:lnTo>
                <a:lnTo>
                  <a:pt x="1117" y="223814"/>
                </a:lnTo>
                <a:lnTo>
                  <a:pt x="213" y="223263"/>
                </a:lnTo>
                <a:lnTo>
                  <a:pt x="0" y="221212"/>
                </a:lnTo>
                <a:lnTo>
                  <a:pt x="2099" y="220163"/>
                </a:lnTo>
                <a:lnTo>
                  <a:pt x="2408" y="219647"/>
                </a:lnTo>
                <a:lnTo>
                  <a:pt x="1989" y="217891"/>
                </a:lnTo>
                <a:lnTo>
                  <a:pt x="934" y="216409"/>
                </a:lnTo>
                <a:lnTo>
                  <a:pt x="1058" y="215991"/>
                </a:lnTo>
                <a:lnTo>
                  <a:pt x="2534" y="215833"/>
                </a:lnTo>
                <a:lnTo>
                  <a:pt x="3316" y="215469"/>
                </a:lnTo>
                <a:lnTo>
                  <a:pt x="3717" y="216815"/>
                </a:lnTo>
                <a:lnTo>
                  <a:pt x="4624" y="218143"/>
                </a:lnTo>
                <a:lnTo>
                  <a:pt x="5391" y="218952"/>
                </a:lnTo>
                <a:lnTo>
                  <a:pt x="6359" y="219340"/>
                </a:lnTo>
                <a:lnTo>
                  <a:pt x="6604" y="217535"/>
                </a:lnTo>
                <a:lnTo>
                  <a:pt x="7805" y="216625"/>
                </a:lnTo>
                <a:lnTo>
                  <a:pt x="7908" y="216546"/>
                </a:lnTo>
                <a:lnTo>
                  <a:pt x="7668" y="215250"/>
                </a:lnTo>
                <a:lnTo>
                  <a:pt x="8048" y="214385"/>
                </a:lnTo>
                <a:lnTo>
                  <a:pt x="7829" y="213220"/>
                </a:lnTo>
                <a:lnTo>
                  <a:pt x="8031" y="212882"/>
                </a:lnTo>
                <a:lnTo>
                  <a:pt x="8493" y="212975"/>
                </a:lnTo>
                <a:lnTo>
                  <a:pt x="9332" y="213706"/>
                </a:lnTo>
                <a:lnTo>
                  <a:pt x="9786" y="215124"/>
                </a:lnTo>
                <a:lnTo>
                  <a:pt x="12201" y="213295"/>
                </a:lnTo>
                <a:lnTo>
                  <a:pt x="13604" y="212681"/>
                </a:lnTo>
                <a:lnTo>
                  <a:pt x="13494" y="211833"/>
                </a:lnTo>
                <a:lnTo>
                  <a:pt x="15022" y="211021"/>
                </a:lnTo>
                <a:lnTo>
                  <a:pt x="15754" y="209796"/>
                </a:lnTo>
                <a:lnTo>
                  <a:pt x="17289" y="209160"/>
                </a:lnTo>
                <a:lnTo>
                  <a:pt x="18035" y="209124"/>
                </a:lnTo>
                <a:lnTo>
                  <a:pt x="18889" y="209431"/>
                </a:lnTo>
                <a:lnTo>
                  <a:pt x="20821" y="207123"/>
                </a:lnTo>
                <a:lnTo>
                  <a:pt x="21480" y="206906"/>
                </a:lnTo>
                <a:lnTo>
                  <a:pt x="22389" y="207400"/>
                </a:lnTo>
                <a:lnTo>
                  <a:pt x="24583" y="207870"/>
                </a:lnTo>
                <a:lnTo>
                  <a:pt x="28525" y="206143"/>
                </a:lnTo>
                <a:lnTo>
                  <a:pt x="30563" y="205256"/>
                </a:lnTo>
                <a:lnTo>
                  <a:pt x="30452" y="204797"/>
                </a:lnTo>
                <a:lnTo>
                  <a:pt x="30675" y="204583"/>
                </a:lnTo>
                <a:lnTo>
                  <a:pt x="31366" y="204454"/>
                </a:lnTo>
                <a:lnTo>
                  <a:pt x="31505" y="204847"/>
                </a:lnTo>
                <a:lnTo>
                  <a:pt x="35654" y="203042"/>
                </a:lnTo>
                <a:lnTo>
                  <a:pt x="35788" y="202825"/>
                </a:lnTo>
                <a:lnTo>
                  <a:pt x="36132" y="202834"/>
                </a:lnTo>
                <a:lnTo>
                  <a:pt x="38499" y="201805"/>
                </a:lnTo>
                <a:lnTo>
                  <a:pt x="38632" y="201732"/>
                </a:lnTo>
                <a:lnTo>
                  <a:pt x="38651" y="201739"/>
                </a:lnTo>
                <a:lnTo>
                  <a:pt x="41206" y="200627"/>
                </a:lnTo>
                <a:lnTo>
                  <a:pt x="42074" y="199647"/>
                </a:lnTo>
                <a:lnTo>
                  <a:pt x="42046" y="199490"/>
                </a:lnTo>
                <a:lnTo>
                  <a:pt x="42780" y="198495"/>
                </a:lnTo>
                <a:lnTo>
                  <a:pt x="42684" y="197511"/>
                </a:lnTo>
                <a:lnTo>
                  <a:pt x="42933" y="197009"/>
                </a:lnTo>
                <a:lnTo>
                  <a:pt x="45036" y="195385"/>
                </a:lnTo>
                <a:lnTo>
                  <a:pt x="45036" y="186152"/>
                </a:lnTo>
                <a:lnTo>
                  <a:pt x="45036" y="148922"/>
                </a:lnTo>
                <a:lnTo>
                  <a:pt x="45036" y="111691"/>
                </a:lnTo>
                <a:lnTo>
                  <a:pt x="82266" y="111691"/>
                </a:lnTo>
                <a:lnTo>
                  <a:pt x="82266" y="74461"/>
                </a:lnTo>
                <a:lnTo>
                  <a:pt x="119496" y="74461"/>
                </a:lnTo>
                <a:lnTo>
                  <a:pt x="119496" y="37231"/>
                </a:lnTo>
                <a:lnTo>
                  <a:pt x="119496" y="0"/>
                </a:lnTo>
                <a:lnTo>
                  <a:pt x="156726" y="0"/>
                </a:lnTo>
                <a:lnTo>
                  <a:pt x="156726" y="37231"/>
                </a:lnTo>
                <a:lnTo>
                  <a:pt x="156726" y="74461"/>
                </a:lnTo>
                <a:lnTo>
                  <a:pt x="166025" y="74461"/>
                </a:lnTo>
                <a:lnTo>
                  <a:pt x="166428" y="73860"/>
                </a:lnTo>
                <a:lnTo>
                  <a:pt x="167009" y="74461"/>
                </a:lnTo>
                <a:lnTo>
                  <a:pt x="167035" y="74461"/>
                </a:lnTo>
                <a:lnTo>
                  <a:pt x="167168" y="73058"/>
                </a:lnTo>
                <a:lnTo>
                  <a:pt x="167667" y="72783"/>
                </a:lnTo>
                <a:lnTo>
                  <a:pt x="168241" y="71985"/>
                </a:lnTo>
                <a:lnTo>
                  <a:pt x="168864" y="73402"/>
                </a:lnTo>
                <a:lnTo>
                  <a:pt x="169249" y="73351"/>
                </a:lnTo>
                <a:lnTo>
                  <a:pt x="168929" y="72205"/>
                </a:lnTo>
                <a:lnTo>
                  <a:pt x="169207" y="72130"/>
                </a:lnTo>
                <a:lnTo>
                  <a:pt x="169550" y="72527"/>
                </a:lnTo>
                <a:lnTo>
                  <a:pt x="169725" y="71993"/>
                </a:lnTo>
                <a:lnTo>
                  <a:pt x="168953" y="71408"/>
                </a:lnTo>
                <a:lnTo>
                  <a:pt x="169986" y="71240"/>
                </a:lnTo>
                <a:lnTo>
                  <a:pt x="169621" y="70782"/>
                </a:lnTo>
                <a:lnTo>
                  <a:pt x="170561" y="70405"/>
                </a:lnTo>
                <a:lnTo>
                  <a:pt x="170871" y="69882"/>
                </a:lnTo>
                <a:lnTo>
                  <a:pt x="170714" y="69205"/>
                </a:lnTo>
                <a:lnTo>
                  <a:pt x="172020" y="69729"/>
                </a:lnTo>
                <a:lnTo>
                  <a:pt x="173171" y="69822"/>
                </a:lnTo>
                <a:lnTo>
                  <a:pt x="172839" y="68588"/>
                </a:lnTo>
                <a:lnTo>
                  <a:pt x="173404" y="67857"/>
                </a:lnTo>
                <a:lnTo>
                  <a:pt x="173106" y="67355"/>
                </a:lnTo>
                <a:lnTo>
                  <a:pt x="174129" y="67871"/>
                </a:lnTo>
                <a:lnTo>
                  <a:pt x="174137" y="69318"/>
                </a:lnTo>
                <a:lnTo>
                  <a:pt x="174970" y="70274"/>
                </a:lnTo>
                <a:lnTo>
                  <a:pt x="177005" y="69678"/>
                </a:lnTo>
                <a:lnTo>
                  <a:pt x="177538" y="68885"/>
                </a:lnTo>
                <a:lnTo>
                  <a:pt x="178137" y="68826"/>
                </a:lnTo>
                <a:lnTo>
                  <a:pt x="178524" y="69228"/>
                </a:lnTo>
                <a:lnTo>
                  <a:pt x="179719" y="68930"/>
                </a:lnTo>
                <a:lnTo>
                  <a:pt x="179845" y="68267"/>
                </a:lnTo>
                <a:lnTo>
                  <a:pt x="180434" y="67756"/>
                </a:lnTo>
                <a:lnTo>
                  <a:pt x="181569" y="68057"/>
                </a:lnTo>
                <a:lnTo>
                  <a:pt x="181625" y="68267"/>
                </a:lnTo>
                <a:lnTo>
                  <a:pt x="193957" y="63670"/>
                </a:lnTo>
                <a:lnTo>
                  <a:pt x="203518" y="60106"/>
                </a:lnTo>
                <a:lnTo>
                  <a:pt x="203539" y="59962"/>
                </a:lnTo>
                <a:lnTo>
                  <a:pt x="203826" y="59991"/>
                </a:lnTo>
                <a:lnTo>
                  <a:pt x="205453" y="59385"/>
                </a:lnTo>
                <a:lnTo>
                  <a:pt x="205560" y="58944"/>
                </a:lnTo>
                <a:lnTo>
                  <a:pt x="205079" y="58042"/>
                </a:lnTo>
                <a:lnTo>
                  <a:pt x="205391" y="57304"/>
                </a:lnTo>
                <a:lnTo>
                  <a:pt x="205111" y="56878"/>
                </a:lnTo>
                <a:lnTo>
                  <a:pt x="205250" y="56754"/>
                </a:lnTo>
                <a:lnTo>
                  <a:pt x="206363" y="56404"/>
                </a:lnTo>
                <a:lnTo>
                  <a:pt x="206889" y="57316"/>
                </a:lnTo>
                <a:lnTo>
                  <a:pt x="207438" y="57133"/>
                </a:lnTo>
                <a:lnTo>
                  <a:pt x="207797" y="57390"/>
                </a:lnTo>
                <a:lnTo>
                  <a:pt x="208553" y="56853"/>
                </a:lnTo>
                <a:lnTo>
                  <a:pt x="208771" y="57053"/>
                </a:lnTo>
                <a:lnTo>
                  <a:pt x="209377" y="56183"/>
                </a:lnTo>
                <a:lnTo>
                  <a:pt x="210393" y="56259"/>
                </a:lnTo>
                <a:lnTo>
                  <a:pt x="210459" y="56490"/>
                </a:lnTo>
                <a:lnTo>
                  <a:pt x="211009" y="55900"/>
                </a:lnTo>
                <a:lnTo>
                  <a:pt x="211202" y="56236"/>
                </a:lnTo>
                <a:lnTo>
                  <a:pt x="211587" y="55462"/>
                </a:lnTo>
                <a:lnTo>
                  <a:pt x="211774" y="56142"/>
                </a:lnTo>
                <a:lnTo>
                  <a:pt x="212192" y="55665"/>
                </a:lnTo>
                <a:lnTo>
                  <a:pt x="212805" y="56144"/>
                </a:lnTo>
                <a:lnTo>
                  <a:pt x="213152" y="55807"/>
                </a:lnTo>
                <a:lnTo>
                  <a:pt x="213255" y="54913"/>
                </a:lnTo>
                <a:lnTo>
                  <a:pt x="213936" y="55218"/>
                </a:lnTo>
                <a:lnTo>
                  <a:pt x="213664" y="54760"/>
                </a:lnTo>
                <a:lnTo>
                  <a:pt x="213916" y="54954"/>
                </a:lnTo>
                <a:lnTo>
                  <a:pt x="214190" y="54471"/>
                </a:lnTo>
                <a:lnTo>
                  <a:pt x="214374" y="54594"/>
                </a:lnTo>
                <a:lnTo>
                  <a:pt x="214732" y="54356"/>
                </a:lnTo>
                <a:lnTo>
                  <a:pt x="214850" y="54636"/>
                </a:lnTo>
                <a:lnTo>
                  <a:pt x="215224" y="54603"/>
                </a:lnTo>
                <a:lnTo>
                  <a:pt x="215248" y="54234"/>
                </a:lnTo>
                <a:lnTo>
                  <a:pt x="215607" y="53919"/>
                </a:lnTo>
                <a:lnTo>
                  <a:pt x="216172" y="54012"/>
                </a:lnTo>
                <a:lnTo>
                  <a:pt x="216455" y="54596"/>
                </a:lnTo>
                <a:lnTo>
                  <a:pt x="216941" y="54310"/>
                </a:lnTo>
                <a:lnTo>
                  <a:pt x="217568" y="55158"/>
                </a:lnTo>
                <a:lnTo>
                  <a:pt x="217832" y="54975"/>
                </a:lnTo>
                <a:lnTo>
                  <a:pt x="218106" y="54128"/>
                </a:lnTo>
                <a:lnTo>
                  <a:pt x="218844" y="54442"/>
                </a:lnTo>
                <a:lnTo>
                  <a:pt x="219074" y="54107"/>
                </a:lnTo>
                <a:lnTo>
                  <a:pt x="219522" y="54686"/>
                </a:lnTo>
                <a:lnTo>
                  <a:pt x="219981" y="54460"/>
                </a:lnTo>
                <a:lnTo>
                  <a:pt x="219906" y="54809"/>
                </a:lnTo>
                <a:lnTo>
                  <a:pt x="222176" y="54378"/>
                </a:lnTo>
                <a:lnTo>
                  <a:pt x="222267" y="53675"/>
                </a:lnTo>
                <a:lnTo>
                  <a:pt x="222715" y="53834"/>
                </a:lnTo>
                <a:lnTo>
                  <a:pt x="223149" y="53452"/>
                </a:lnTo>
                <a:lnTo>
                  <a:pt x="223632" y="54102"/>
                </a:lnTo>
                <a:lnTo>
                  <a:pt x="225496" y="53749"/>
                </a:lnTo>
                <a:lnTo>
                  <a:pt x="225498" y="53746"/>
                </a:lnTo>
                <a:lnTo>
                  <a:pt x="225499" y="53748"/>
                </a:lnTo>
                <a:lnTo>
                  <a:pt x="231187" y="52670"/>
                </a:lnTo>
                <a:lnTo>
                  <a:pt x="231814" y="52551"/>
                </a:lnTo>
                <a:lnTo>
                  <a:pt x="237330" y="50904"/>
                </a:lnTo>
                <a:lnTo>
                  <a:pt x="237500" y="50493"/>
                </a:lnTo>
                <a:lnTo>
                  <a:pt x="238473" y="50554"/>
                </a:lnTo>
                <a:lnTo>
                  <a:pt x="239008" y="50861"/>
                </a:lnTo>
                <a:lnTo>
                  <a:pt x="239049" y="50255"/>
                </a:lnTo>
                <a:lnTo>
                  <a:pt x="239414" y="50248"/>
                </a:lnTo>
                <a:lnTo>
                  <a:pt x="239656" y="49725"/>
                </a:lnTo>
                <a:lnTo>
                  <a:pt x="239962" y="50099"/>
                </a:lnTo>
                <a:lnTo>
                  <a:pt x="240072" y="49709"/>
                </a:lnTo>
                <a:lnTo>
                  <a:pt x="240837" y="49708"/>
                </a:lnTo>
                <a:lnTo>
                  <a:pt x="240887" y="49344"/>
                </a:lnTo>
                <a:lnTo>
                  <a:pt x="241825" y="49000"/>
                </a:lnTo>
                <a:lnTo>
                  <a:pt x="241891" y="49415"/>
                </a:lnTo>
                <a:lnTo>
                  <a:pt x="243222" y="50242"/>
                </a:lnTo>
                <a:lnTo>
                  <a:pt x="243656" y="50107"/>
                </a:lnTo>
                <a:lnTo>
                  <a:pt x="245041" y="51629"/>
                </a:lnTo>
                <a:lnTo>
                  <a:pt x="246152" y="52240"/>
                </a:lnTo>
                <a:lnTo>
                  <a:pt x="246704" y="53825"/>
                </a:lnTo>
                <a:lnTo>
                  <a:pt x="247578" y="54657"/>
                </a:lnTo>
                <a:lnTo>
                  <a:pt x="247835" y="55243"/>
                </a:lnTo>
                <a:lnTo>
                  <a:pt x="248264" y="55385"/>
                </a:lnTo>
                <a:lnTo>
                  <a:pt x="248422" y="56075"/>
                </a:lnTo>
                <a:lnTo>
                  <a:pt x="249189" y="57041"/>
                </a:lnTo>
                <a:lnTo>
                  <a:pt x="248285" y="58351"/>
                </a:lnTo>
                <a:lnTo>
                  <a:pt x="248323" y="59142"/>
                </a:lnTo>
                <a:lnTo>
                  <a:pt x="248703" y="60079"/>
                </a:lnTo>
                <a:lnTo>
                  <a:pt x="247986" y="60326"/>
                </a:lnTo>
                <a:lnTo>
                  <a:pt x="248098" y="60575"/>
                </a:lnTo>
                <a:lnTo>
                  <a:pt x="247764" y="61335"/>
                </a:lnTo>
                <a:lnTo>
                  <a:pt x="248248" y="61472"/>
                </a:lnTo>
                <a:lnTo>
                  <a:pt x="249415" y="62698"/>
                </a:lnTo>
                <a:lnTo>
                  <a:pt x="249152" y="63352"/>
                </a:lnTo>
                <a:lnTo>
                  <a:pt x="249608" y="64597"/>
                </a:lnTo>
                <a:lnTo>
                  <a:pt x="249120" y="65745"/>
                </a:lnTo>
                <a:lnTo>
                  <a:pt x="249344" y="66018"/>
                </a:lnTo>
                <a:lnTo>
                  <a:pt x="251858" y="67619"/>
                </a:lnTo>
                <a:lnTo>
                  <a:pt x="252175" y="68078"/>
                </a:lnTo>
                <a:lnTo>
                  <a:pt x="252107" y="68631"/>
                </a:lnTo>
                <a:lnTo>
                  <a:pt x="252668" y="68855"/>
                </a:lnTo>
                <a:lnTo>
                  <a:pt x="253332" y="68458"/>
                </a:lnTo>
                <a:lnTo>
                  <a:pt x="254614" y="68712"/>
                </a:lnTo>
                <a:lnTo>
                  <a:pt x="256102" y="68106"/>
                </a:lnTo>
                <a:lnTo>
                  <a:pt x="257865" y="69202"/>
                </a:lnTo>
                <a:lnTo>
                  <a:pt x="259555" y="71030"/>
                </a:lnTo>
                <a:lnTo>
                  <a:pt x="260546" y="71120"/>
                </a:lnTo>
                <a:lnTo>
                  <a:pt x="261421" y="70738"/>
                </a:lnTo>
                <a:lnTo>
                  <a:pt x="261847" y="70803"/>
                </a:lnTo>
                <a:lnTo>
                  <a:pt x="262627" y="72205"/>
                </a:lnTo>
                <a:lnTo>
                  <a:pt x="263630" y="72659"/>
                </a:lnTo>
                <a:lnTo>
                  <a:pt x="263700" y="73928"/>
                </a:lnTo>
                <a:lnTo>
                  <a:pt x="264376" y="74468"/>
                </a:lnTo>
                <a:lnTo>
                  <a:pt x="263107" y="75972"/>
                </a:lnTo>
                <a:lnTo>
                  <a:pt x="262616" y="78035"/>
                </a:lnTo>
                <a:lnTo>
                  <a:pt x="262680" y="78491"/>
                </a:lnTo>
                <a:lnTo>
                  <a:pt x="263149" y="78835"/>
                </a:lnTo>
                <a:lnTo>
                  <a:pt x="263126" y="79241"/>
                </a:lnTo>
                <a:lnTo>
                  <a:pt x="264828" y="80793"/>
                </a:lnTo>
                <a:lnTo>
                  <a:pt x="266753" y="81810"/>
                </a:lnTo>
                <a:lnTo>
                  <a:pt x="266872" y="81586"/>
                </a:lnTo>
                <a:lnTo>
                  <a:pt x="268331" y="81136"/>
                </a:lnTo>
                <a:lnTo>
                  <a:pt x="268509" y="80859"/>
                </a:lnTo>
                <a:lnTo>
                  <a:pt x="269242" y="81110"/>
                </a:lnTo>
                <a:lnTo>
                  <a:pt x="270077" y="81074"/>
                </a:lnTo>
                <a:lnTo>
                  <a:pt x="270858" y="80504"/>
                </a:lnTo>
                <a:lnTo>
                  <a:pt x="272434" y="81320"/>
                </a:lnTo>
                <a:lnTo>
                  <a:pt x="273107" y="83015"/>
                </a:lnTo>
                <a:lnTo>
                  <a:pt x="273123" y="83304"/>
                </a:lnTo>
                <a:lnTo>
                  <a:pt x="274085" y="83687"/>
                </a:lnTo>
                <a:lnTo>
                  <a:pt x="275210" y="83787"/>
                </a:lnTo>
                <a:lnTo>
                  <a:pt x="276041" y="82362"/>
                </a:lnTo>
                <a:lnTo>
                  <a:pt x="277929" y="81244"/>
                </a:lnTo>
                <a:lnTo>
                  <a:pt x="278132" y="81487"/>
                </a:lnTo>
                <a:lnTo>
                  <a:pt x="278798" y="81530"/>
                </a:lnTo>
                <a:lnTo>
                  <a:pt x="279209" y="82160"/>
                </a:lnTo>
                <a:lnTo>
                  <a:pt x="279180" y="83093"/>
                </a:lnTo>
                <a:lnTo>
                  <a:pt x="279994" y="83235"/>
                </a:lnTo>
                <a:lnTo>
                  <a:pt x="281575" y="83988"/>
                </a:lnTo>
                <a:lnTo>
                  <a:pt x="283238" y="85322"/>
                </a:lnTo>
                <a:lnTo>
                  <a:pt x="283422" y="86085"/>
                </a:lnTo>
                <a:lnTo>
                  <a:pt x="282966" y="86121"/>
                </a:lnTo>
                <a:lnTo>
                  <a:pt x="282522" y="85743"/>
                </a:lnTo>
                <a:lnTo>
                  <a:pt x="282038" y="86786"/>
                </a:lnTo>
                <a:lnTo>
                  <a:pt x="281498" y="86794"/>
                </a:lnTo>
                <a:lnTo>
                  <a:pt x="283735" y="87881"/>
                </a:lnTo>
                <a:lnTo>
                  <a:pt x="283876" y="88922"/>
                </a:lnTo>
                <a:lnTo>
                  <a:pt x="282612" y="89260"/>
                </a:lnTo>
                <a:lnTo>
                  <a:pt x="282015" y="88942"/>
                </a:lnTo>
                <a:lnTo>
                  <a:pt x="281715" y="89255"/>
                </a:lnTo>
                <a:lnTo>
                  <a:pt x="281786" y="89697"/>
                </a:lnTo>
                <a:lnTo>
                  <a:pt x="281038" y="89712"/>
                </a:lnTo>
                <a:lnTo>
                  <a:pt x="279902" y="90189"/>
                </a:lnTo>
                <a:lnTo>
                  <a:pt x="280206" y="90915"/>
                </a:lnTo>
                <a:lnTo>
                  <a:pt x="281175" y="91476"/>
                </a:lnTo>
                <a:lnTo>
                  <a:pt x="281770" y="91502"/>
                </a:lnTo>
                <a:lnTo>
                  <a:pt x="282433" y="91195"/>
                </a:lnTo>
                <a:lnTo>
                  <a:pt x="282130" y="92056"/>
                </a:lnTo>
                <a:lnTo>
                  <a:pt x="283309" y="92344"/>
                </a:lnTo>
                <a:lnTo>
                  <a:pt x="283166" y="92675"/>
                </a:lnTo>
                <a:lnTo>
                  <a:pt x="283633" y="92927"/>
                </a:lnTo>
                <a:lnTo>
                  <a:pt x="283228" y="93786"/>
                </a:lnTo>
                <a:lnTo>
                  <a:pt x="283492" y="94946"/>
                </a:lnTo>
                <a:lnTo>
                  <a:pt x="283024" y="95289"/>
                </a:lnTo>
                <a:lnTo>
                  <a:pt x="283244" y="95828"/>
                </a:lnTo>
                <a:lnTo>
                  <a:pt x="283915" y="96338"/>
                </a:lnTo>
                <a:lnTo>
                  <a:pt x="284191" y="97043"/>
                </a:lnTo>
                <a:lnTo>
                  <a:pt x="284045" y="97324"/>
                </a:lnTo>
                <a:lnTo>
                  <a:pt x="283239" y="97086"/>
                </a:lnTo>
                <a:lnTo>
                  <a:pt x="282755" y="97268"/>
                </a:lnTo>
                <a:lnTo>
                  <a:pt x="282927" y="97544"/>
                </a:lnTo>
                <a:lnTo>
                  <a:pt x="282185" y="98010"/>
                </a:lnTo>
                <a:lnTo>
                  <a:pt x="282219" y="98464"/>
                </a:lnTo>
                <a:lnTo>
                  <a:pt x="283445" y="99584"/>
                </a:lnTo>
                <a:lnTo>
                  <a:pt x="284180" y="99423"/>
                </a:lnTo>
                <a:lnTo>
                  <a:pt x="284823" y="99734"/>
                </a:lnTo>
                <a:lnTo>
                  <a:pt x="285410" y="99620"/>
                </a:lnTo>
                <a:lnTo>
                  <a:pt x="285244" y="99829"/>
                </a:lnTo>
                <a:lnTo>
                  <a:pt x="285522" y="100033"/>
                </a:lnTo>
                <a:lnTo>
                  <a:pt x="284666" y="100917"/>
                </a:lnTo>
                <a:lnTo>
                  <a:pt x="285232" y="101649"/>
                </a:lnTo>
                <a:lnTo>
                  <a:pt x="285660" y="101837"/>
                </a:lnTo>
                <a:lnTo>
                  <a:pt x="285428" y="102214"/>
                </a:lnTo>
                <a:lnTo>
                  <a:pt x="285586" y="102646"/>
                </a:lnTo>
                <a:lnTo>
                  <a:pt x="287061" y="103382"/>
                </a:lnTo>
                <a:lnTo>
                  <a:pt x="287074" y="104156"/>
                </a:lnTo>
                <a:lnTo>
                  <a:pt x="289676" y="106353"/>
                </a:lnTo>
                <a:lnTo>
                  <a:pt x="289882" y="105785"/>
                </a:lnTo>
                <a:lnTo>
                  <a:pt x="291247" y="105393"/>
                </a:lnTo>
                <a:lnTo>
                  <a:pt x="291555" y="104594"/>
                </a:lnTo>
                <a:lnTo>
                  <a:pt x="292512" y="104582"/>
                </a:lnTo>
                <a:lnTo>
                  <a:pt x="292719" y="104106"/>
                </a:lnTo>
                <a:lnTo>
                  <a:pt x="292253" y="103421"/>
                </a:lnTo>
                <a:lnTo>
                  <a:pt x="292476" y="102917"/>
                </a:lnTo>
                <a:lnTo>
                  <a:pt x="292292" y="102691"/>
                </a:lnTo>
                <a:lnTo>
                  <a:pt x="292589" y="102598"/>
                </a:lnTo>
                <a:lnTo>
                  <a:pt x="292430" y="102443"/>
                </a:lnTo>
                <a:lnTo>
                  <a:pt x="292622" y="102291"/>
                </a:lnTo>
                <a:lnTo>
                  <a:pt x="293603" y="102068"/>
                </a:lnTo>
                <a:lnTo>
                  <a:pt x="295034" y="103119"/>
                </a:lnTo>
                <a:lnTo>
                  <a:pt x="294972" y="104809"/>
                </a:lnTo>
                <a:lnTo>
                  <a:pt x="296199" y="106047"/>
                </a:lnTo>
                <a:lnTo>
                  <a:pt x="296359" y="106450"/>
                </a:lnTo>
                <a:lnTo>
                  <a:pt x="296218" y="107002"/>
                </a:lnTo>
                <a:lnTo>
                  <a:pt x="296653" y="107648"/>
                </a:lnTo>
                <a:lnTo>
                  <a:pt x="297754" y="107536"/>
                </a:lnTo>
                <a:lnTo>
                  <a:pt x="299049" y="108292"/>
                </a:lnTo>
                <a:lnTo>
                  <a:pt x="299341" y="107935"/>
                </a:lnTo>
                <a:lnTo>
                  <a:pt x="299914" y="107867"/>
                </a:lnTo>
                <a:lnTo>
                  <a:pt x="300967" y="108366"/>
                </a:lnTo>
                <a:lnTo>
                  <a:pt x="301933" y="108325"/>
                </a:lnTo>
                <a:lnTo>
                  <a:pt x="301123" y="109057"/>
                </a:lnTo>
                <a:lnTo>
                  <a:pt x="301790" y="110040"/>
                </a:lnTo>
                <a:lnTo>
                  <a:pt x="301221" y="111116"/>
                </a:lnTo>
                <a:lnTo>
                  <a:pt x="301260" y="111539"/>
                </a:lnTo>
                <a:lnTo>
                  <a:pt x="301973" y="111844"/>
                </a:lnTo>
                <a:lnTo>
                  <a:pt x="302966" y="111300"/>
                </a:lnTo>
                <a:lnTo>
                  <a:pt x="303480" y="111593"/>
                </a:lnTo>
                <a:lnTo>
                  <a:pt x="304081" y="111480"/>
                </a:lnTo>
                <a:lnTo>
                  <a:pt x="304095" y="111796"/>
                </a:lnTo>
                <a:lnTo>
                  <a:pt x="304933" y="112422"/>
                </a:lnTo>
                <a:lnTo>
                  <a:pt x="305163" y="113406"/>
                </a:lnTo>
                <a:lnTo>
                  <a:pt x="306183" y="113633"/>
                </a:lnTo>
                <a:lnTo>
                  <a:pt x="306585" y="114295"/>
                </a:lnTo>
                <a:lnTo>
                  <a:pt x="308767" y="116140"/>
                </a:lnTo>
                <a:lnTo>
                  <a:pt x="309286" y="117003"/>
                </a:lnTo>
                <a:lnTo>
                  <a:pt x="309008" y="117092"/>
                </a:lnTo>
                <a:lnTo>
                  <a:pt x="308676" y="116846"/>
                </a:lnTo>
                <a:lnTo>
                  <a:pt x="308235" y="117194"/>
                </a:lnTo>
                <a:lnTo>
                  <a:pt x="308347" y="118829"/>
                </a:lnTo>
                <a:lnTo>
                  <a:pt x="309649" y="119667"/>
                </a:lnTo>
                <a:lnTo>
                  <a:pt x="310225" y="119464"/>
                </a:lnTo>
                <a:lnTo>
                  <a:pt x="310279" y="119073"/>
                </a:lnTo>
                <a:lnTo>
                  <a:pt x="310712" y="119148"/>
                </a:lnTo>
                <a:lnTo>
                  <a:pt x="311061" y="119659"/>
                </a:lnTo>
                <a:lnTo>
                  <a:pt x="312245" y="120204"/>
                </a:lnTo>
                <a:lnTo>
                  <a:pt x="311881" y="120500"/>
                </a:lnTo>
                <a:lnTo>
                  <a:pt x="312389" y="120606"/>
                </a:lnTo>
                <a:lnTo>
                  <a:pt x="312611" y="121822"/>
                </a:lnTo>
                <a:lnTo>
                  <a:pt x="313248" y="122764"/>
                </a:lnTo>
                <a:lnTo>
                  <a:pt x="314366" y="122625"/>
                </a:lnTo>
                <a:lnTo>
                  <a:pt x="316010" y="122894"/>
                </a:lnTo>
                <a:lnTo>
                  <a:pt x="317022" y="124582"/>
                </a:lnTo>
                <a:lnTo>
                  <a:pt x="319373" y="125023"/>
                </a:lnTo>
                <a:lnTo>
                  <a:pt x="320322" y="126205"/>
                </a:lnTo>
                <a:lnTo>
                  <a:pt x="321243" y="126845"/>
                </a:lnTo>
                <a:lnTo>
                  <a:pt x="321507" y="127694"/>
                </a:lnTo>
                <a:lnTo>
                  <a:pt x="321155" y="128290"/>
                </a:lnTo>
                <a:lnTo>
                  <a:pt x="320573" y="128656"/>
                </a:lnTo>
                <a:lnTo>
                  <a:pt x="320909" y="129253"/>
                </a:lnTo>
                <a:lnTo>
                  <a:pt x="320635" y="130134"/>
                </a:lnTo>
                <a:lnTo>
                  <a:pt x="321108" y="130552"/>
                </a:lnTo>
                <a:lnTo>
                  <a:pt x="322608" y="130744"/>
                </a:lnTo>
                <a:lnTo>
                  <a:pt x="323135" y="131994"/>
                </a:lnTo>
                <a:lnTo>
                  <a:pt x="322884" y="132889"/>
                </a:lnTo>
                <a:lnTo>
                  <a:pt x="327378" y="135700"/>
                </a:lnTo>
                <a:lnTo>
                  <a:pt x="328794" y="136204"/>
                </a:lnTo>
                <a:lnTo>
                  <a:pt x="329523" y="136003"/>
                </a:lnTo>
                <a:lnTo>
                  <a:pt x="330246" y="135356"/>
                </a:lnTo>
                <a:lnTo>
                  <a:pt x="334348" y="135673"/>
                </a:lnTo>
                <a:lnTo>
                  <a:pt x="335006" y="136143"/>
                </a:lnTo>
                <a:lnTo>
                  <a:pt x="335280" y="137183"/>
                </a:lnTo>
                <a:lnTo>
                  <a:pt x="336790" y="139157"/>
                </a:lnTo>
                <a:lnTo>
                  <a:pt x="336852" y="139836"/>
                </a:lnTo>
                <a:lnTo>
                  <a:pt x="337330" y="139912"/>
                </a:lnTo>
                <a:lnTo>
                  <a:pt x="338536" y="140827"/>
                </a:lnTo>
                <a:lnTo>
                  <a:pt x="338629" y="141275"/>
                </a:lnTo>
                <a:lnTo>
                  <a:pt x="340121" y="142837"/>
                </a:lnTo>
                <a:lnTo>
                  <a:pt x="340034" y="143185"/>
                </a:lnTo>
                <a:lnTo>
                  <a:pt x="341065" y="144435"/>
                </a:lnTo>
                <a:lnTo>
                  <a:pt x="340814" y="144905"/>
                </a:lnTo>
                <a:lnTo>
                  <a:pt x="341122" y="145599"/>
                </a:lnTo>
                <a:lnTo>
                  <a:pt x="340601" y="145969"/>
                </a:lnTo>
                <a:lnTo>
                  <a:pt x="340247" y="146738"/>
                </a:lnTo>
                <a:lnTo>
                  <a:pt x="340469" y="147624"/>
                </a:lnTo>
                <a:lnTo>
                  <a:pt x="339838" y="147749"/>
                </a:lnTo>
                <a:lnTo>
                  <a:pt x="339106" y="148549"/>
                </a:lnTo>
                <a:lnTo>
                  <a:pt x="339740" y="150094"/>
                </a:lnTo>
                <a:lnTo>
                  <a:pt x="339446" y="150457"/>
                </a:lnTo>
                <a:lnTo>
                  <a:pt x="339461" y="151917"/>
                </a:lnTo>
                <a:lnTo>
                  <a:pt x="339048" y="152445"/>
                </a:lnTo>
                <a:lnTo>
                  <a:pt x="341433" y="157105"/>
                </a:lnTo>
                <a:lnTo>
                  <a:pt x="341524" y="157165"/>
                </a:lnTo>
                <a:lnTo>
                  <a:pt x="342293" y="157210"/>
                </a:lnTo>
                <a:lnTo>
                  <a:pt x="344195" y="156658"/>
                </a:lnTo>
                <a:lnTo>
                  <a:pt x="345173" y="157247"/>
                </a:lnTo>
                <a:lnTo>
                  <a:pt x="347015" y="157861"/>
                </a:lnTo>
                <a:lnTo>
                  <a:pt x="348070" y="158598"/>
                </a:lnTo>
                <a:lnTo>
                  <a:pt x="348780" y="160098"/>
                </a:lnTo>
                <a:lnTo>
                  <a:pt x="348094" y="160190"/>
                </a:lnTo>
                <a:lnTo>
                  <a:pt x="347758" y="161310"/>
                </a:lnTo>
                <a:lnTo>
                  <a:pt x="348953" y="161857"/>
                </a:lnTo>
                <a:lnTo>
                  <a:pt x="349346" y="162713"/>
                </a:lnTo>
                <a:lnTo>
                  <a:pt x="349837" y="162979"/>
                </a:lnTo>
                <a:lnTo>
                  <a:pt x="350397" y="164882"/>
                </a:lnTo>
                <a:lnTo>
                  <a:pt x="349904" y="165313"/>
                </a:lnTo>
                <a:lnTo>
                  <a:pt x="349318" y="165225"/>
                </a:lnTo>
                <a:lnTo>
                  <a:pt x="349250" y="166210"/>
                </a:lnTo>
                <a:lnTo>
                  <a:pt x="349588" y="166563"/>
                </a:lnTo>
                <a:lnTo>
                  <a:pt x="350417" y="166618"/>
                </a:lnTo>
                <a:lnTo>
                  <a:pt x="351576" y="167130"/>
                </a:lnTo>
                <a:lnTo>
                  <a:pt x="352309" y="168261"/>
                </a:lnTo>
                <a:lnTo>
                  <a:pt x="352165" y="169905"/>
                </a:lnTo>
                <a:lnTo>
                  <a:pt x="351532" y="169868"/>
                </a:lnTo>
                <a:lnTo>
                  <a:pt x="351686" y="170918"/>
                </a:lnTo>
                <a:lnTo>
                  <a:pt x="352122" y="171429"/>
                </a:lnTo>
                <a:lnTo>
                  <a:pt x="352171" y="172270"/>
                </a:lnTo>
                <a:lnTo>
                  <a:pt x="352577" y="173044"/>
                </a:lnTo>
                <a:lnTo>
                  <a:pt x="352485" y="173444"/>
                </a:lnTo>
                <a:lnTo>
                  <a:pt x="351978" y="173848"/>
                </a:lnTo>
                <a:lnTo>
                  <a:pt x="352028" y="174523"/>
                </a:lnTo>
                <a:lnTo>
                  <a:pt x="351803" y="174777"/>
                </a:lnTo>
                <a:lnTo>
                  <a:pt x="352392" y="175219"/>
                </a:lnTo>
                <a:lnTo>
                  <a:pt x="352247" y="175653"/>
                </a:lnTo>
                <a:lnTo>
                  <a:pt x="353027" y="175967"/>
                </a:lnTo>
                <a:lnTo>
                  <a:pt x="353212" y="176724"/>
                </a:lnTo>
                <a:lnTo>
                  <a:pt x="353660" y="176769"/>
                </a:lnTo>
                <a:lnTo>
                  <a:pt x="353689" y="178142"/>
                </a:lnTo>
                <a:lnTo>
                  <a:pt x="354144" y="179314"/>
                </a:lnTo>
                <a:lnTo>
                  <a:pt x="354099" y="180129"/>
                </a:lnTo>
                <a:lnTo>
                  <a:pt x="352015" y="180837"/>
                </a:lnTo>
                <a:lnTo>
                  <a:pt x="352264" y="181743"/>
                </a:lnTo>
                <a:lnTo>
                  <a:pt x="351977" y="182796"/>
                </a:lnTo>
                <a:lnTo>
                  <a:pt x="352359" y="183974"/>
                </a:lnTo>
                <a:lnTo>
                  <a:pt x="352965" y="184580"/>
                </a:lnTo>
                <a:lnTo>
                  <a:pt x="352859" y="185057"/>
                </a:lnTo>
                <a:lnTo>
                  <a:pt x="352535" y="185238"/>
                </a:lnTo>
                <a:lnTo>
                  <a:pt x="352640" y="185869"/>
                </a:lnTo>
                <a:lnTo>
                  <a:pt x="351044" y="187432"/>
                </a:lnTo>
                <a:lnTo>
                  <a:pt x="351117" y="188818"/>
                </a:lnTo>
                <a:lnTo>
                  <a:pt x="350903" y="189089"/>
                </a:lnTo>
                <a:lnTo>
                  <a:pt x="348540" y="189103"/>
                </a:lnTo>
                <a:lnTo>
                  <a:pt x="348338" y="190668"/>
                </a:lnTo>
                <a:lnTo>
                  <a:pt x="348880" y="191982"/>
                </a:lnTo>
                <a:lnTo>
                  <a:pt x="348482" y="192382"/>
                </a:lnTo>
                <a:lnTo>
                  <a:pt x="347108" y="192418"/>
                </a:lnTo>
                <a:lnTo>
                  <a:pt x="346532" y="192978"/>
                </a:lnTo>
                <a:lnTo>
                  <a:pt x="345844" y="194447"/>
                </a:lnTo>
                <a:lnTo>
                  <a:pt x="345766" y="195133"/>
                </a:lnTo>
                <a:lnTo>
                  <a:pt x="345425" y="195435"/>
                </a:lnTo>
                <a:lnTo>
                  <a:pt x="345913" y="196891"/>
                </a:lnTo>
                <a:lnTo>
                  <a:pt x="345415" y="196978"/>
                </a:lnTo>
                <a:lnTo>
                  <a:pt x="345473" y="197297"/>
                </a:lnTo>
                <a:lnTo>
                  <a:pt x="345027" y="197301"/>
                </a:lnTo>
                <a:lnTo>
                  <a:pt x="344459" y="197957"/>
                </a:lnTo>
                <a:lnTo>
                  <a:pt x="343727" y="198024"/>
                </a:lnTo>
                <a:lnTo>
                  <a:pt x="343563" y="198658"/>
                </a:lnTo>
                <a:lnTo>
                  <a:pt x="342945" y="198737"/>
                </a:lnTo>
                <a:lnTo>
                  <a:pt x="342511" y="198362"/>
                </a:lnTo>
                <a:lnTo>
                  <a:pt x="342059" y="198461"/>
                </a:lnTo>
                <a:lnTo>
                  <a:pt x="341428" y="199820"/>
                </a:lnTo>
                <a:lnTo>
                  <a:pt x="340676" y="199901"/>
                </a:lnTo>
                <a:lnTo>
                  <a:pt x="340149" y="200336"/>
                </a:lnTo>
                <a:lnTo>
                  <a:pt x="339946" y="200915"/>
                </a:lnTo>
                <a:lnTo>
                  <a:pt x="337492" y="200007"/>
                </a:lnTo>
                <a:lnTo>
                  <a:pt x="336675" y="200509"/>
                </a:lnTo>
                <a:lnTo>
                  <a:pt x="336516" y="201121"/>
                </a:lnTo>
                <a:lnTo>
                  <a:pt x="335981" y="201024"/>
                </a:lnTo>
                <a:lnTo>
                  <a:pt x="331611" y="211192"/>
                </a:lnTo>
                <a:lnTo>
                  <a:pt x="332311" y="211667"/>
                </a:lnTo>
                <a:lnTo>
                  <a:pt x="332208" y="213132"/>
                </a:lnTo>
                <a:lnTo>
                  <a:pt x="331358" y="213699"/>
                </a:lnTo>
                <a:lnTo>
                  <a:pt x="331143" y="214490"/>
                </a:lnTo>
                <a:lnTo>
                  <a:pt x="332436" y="215236"/>
                </a:lnTo>
                <a:lnTo>
                  <a:pt x="332656" y="215909"/>
                </a:lnTo>
                <a:lnTo>
                  <a:pt x="333234" y="216034"/>
                </a:lnTo>
                <a:lnTo>
                  <a:pt x="333319" y="216521"/>
                </a:lnTo>
                <a:lnTo>
                  <a:pt x="333722" y="216691"/>
                </a:lnTo>
                <a:lnTo>
                  <a:pt x="333857" y="217159"/>
                </a:lnTo>
                <a:lnTo>
                  <a:pt x="333010" y="219045"/>
                </a:lnTo>
                <a:lnTo>
                  <a:pt x="332509" y="219314"/>
                </a:lnTo>
                <a:lnTo>
                  <a:pt x="331536" y="219512"/>
                </a:lnTo>
                <a:lnTo>
                  <a:pt x="330866" y="219258"/>
                </a:lnTo>
                <a:lnTo>
                  <a:pt x="329784" y="219587"/>
                </a:lnTo>
                <a:lnTo>
                  <a:pt x="328009" y="219372"/>
                </a:lnTo>
                <a:lnTo>
                  <a:pt x="328042" y="220287"/>
                </a:lnTo>
                <a:lnTo>
                  <a:pt x="328970" y="222107"/>
                </a:lnTo>
                <a:lnTo>
                  <a:pt x="329010" y="223431"/>
                </a:lnTo>
                <a:lnTo>
                  <a:pt x="328685" y="224148"/>
                </a:lnTo>
                <a:lnTo>
                  <a:pt x="328859" y="224668"/>
                </a:lnTo>
                <a:lnTo>
                  <a:pt x="327426" y="225459"/>
                </a:lnTo>
                <a:lnTo>
                  <a:pt x="328029" y="226509"/>
                </a:lnTo>
                <a:lnTo>
                  <a:pt x="327242" y="228968"/>
                </a:lnTo>
                <a:lnTo>
                  <a:pt x="326514" y="229282"/>
                </a:lnTo>
                <a:lnTo>
                  <a:pt x="325328" y="228930"/>
                </a:lnTo>
                <a:lnTo>
                  <a:pt x="324723" y="228262"/>
                </a:lnTo>
                <a:lnTo>
                  <a:pt x="323347" y="228728"/>
                </a:lnTo>
                <a:lnTo>
                  <a:pt x="321187" y="228708"/>
                </a:lnTo>
                <a:lnTo>
                  <a:pt x="320444" y="228218"/>
                </a:lnTo>
                <a:lnTo>
                  <a:pt x="319753" y="228734"/>
                </a:lnTo>
                <a:lnTo>
                  <a:pt x="319626" y="229321"/>
                </a:lnTo>
                <a:lnTo>
                  <a:pt x="319260" y="229073"/>
                </a:lnTo>
                <a:lnTo>
                  <a:pt x="318516" y="229524"/>
                </a:lnTo>
                <a:lnTo>
                  <a:pt x="317951" y="229413"/>
                </a:lnTo>
                <a:lnTo>
                  <a:pt x="317388" y="230641"/>
                </a:lnTo>
                <a:lnTo>
                  <a:pt x="316952" y="230648"/>
                </a:lnTo>
                <a:lnTo>
                  <a:pt x="316520" y="231401"/>
                </a:lnTo>
                <a:lnTo>
                  <a:pt x="315308" y="231373"/>
                </a:lnTo>
                <a:lnTo>
                  <a:pt x="313937" y="233119"/>
                </a:lnTo>
                <a:lnTo>
                  <a:pt x="313480" y="233230"/>
                </a:lnTo>
                <a:lnTo>
                  <a:pt x="312756" y="232642"/>
                </a:lnTo>
                <a:lnTo>
                  <a:pt x="312098" y="233913"/>
                </a:lnTo>
                <a:lnTo>
                  <a:pt x="311115" y="234376"/>
                </a:lnTo>
                <a:lnTo>
                  <a:pt x="310434" y="234170"/>
                </a:lnTo>
                <a:lnTo>
                  <a:pt x="309463" y="235136"/>
                </a:lnTo>
                <a:lnTo>
                  <a:pt x="309868" y="235948"/>
                </a:lnTo>
                <a:lnTo>
                  <a:pt x="309565" y="236326"/>
                </a:lnTo>
                <a:lnTo>
                  <a:pt x="309727" y="236546"/>
                </a:lnTo>
                <a:lnTo>
                  <a:pt x="309626" y="237367"/>
                </a:lnTo>
                <a:lnTo>
                  <a:pt x="309148" y="238061"/>
                </a:lnTo>
                <a:lnTo>
                  <a:pt x="309350" y="238918"/>
                </a:lnTo>
                <a:lnTo>
                  <a:pt x="307896" y="239151"/>
                </a:lnTo>
                <a:lnTo>
                  <a:pt x="307711" y="239759"/>
                </a:lnTo>
                <a:lnTo>
                  <a:pt x="307259" y="239959"/>
                </a:lnTo>
                <a:lnTo>
                  <a:pt x="307068" y="240427"/>
                </a:lnTo>
                <a:lnTo>
                  <a:pt x="307879" y="243301"/>
                </a:lnTo>
                <a:lnTo>
                  <a:pt x="307489" y="243459"/>
                </a:lnTo>
                <a:lnTo>
                  <a:pt x="307611" y="243837"/>
                </a:lnTo>
                <a:lnTo>
                  <a:pt x="307124" y="244071"/>
                </a:lnTo>
                <a:lnTo>
                  <a:pt x="307038" y="244488"/>
                </a:lnTo>
                <a:lnTo>
                  <a:pt x="305600" y="244127"/>
                </a:lnTo>
                <a:lnTo>
                  <a:pt x="305550" y="244920"/>
                </a:lnTo>
                <a:lnTo>
                  <a:pt x="305830" y="245682"/>
                </a:lnTo>
                <a:lnTo>
                  <a:pt x="306216" y="246003"/>
                </a:lnTo>
                <a:lnTo>
                  <a:pt x="306057" y="247445"/>
                </a:lnTo>
                <a:lnTo>
                  <a:pt x="305163" y="247759"/>
                </a:lnTo>
                <a:lnTo>
                  <a:pt x="305280" y="248402"/>
                </a:lnTo>
                <a:lnTo>
                  <a:pt x="304505" y="248271"/>
                </a:lnTo>
                <a:lnTo>
                  <a:pt x="304280" y="249332"/>
                </a:lnTo>
                <a:lnTo>
                  <a:pt x="304698" y="249732"/>
                </a:lnTo>
                <a:lnTo>
                  <a:pt x="304442" y="250277"/>
                </a:lnTo>
                <a:lnTo>
                  <a:pt x="304355" y="252374"/>
                </a:lnTo>
                <a:lnTo>
                  <a:pt x="303685" y="253327"/>
                </a:lnTo>
                <a:lnTo>
                  <a:pt x="303429" y="255325"/>
                </a:lnTo>
                <a:lnTo>
                  <a:pt x="303904" y="256159"/>
                </a:lnTo>
                <a:lnTo>
                  <a:pt x="304658" y="256607"/>
                </a:lnTo>
                <a:lnTo>
                  <a:pt x="304194" y="257263"/>
                </a:lnTo>
                <a:lnTo>
                  <a:pt x="304459" y="258429"/>
                </a:lnTo>
                <a:lnTo>
                  <a:pt x="304027" y="259360"/>
                </a:lnTo>
                <a:lnTo>
                  <a:pt x="302506" y="259597"/>
                </a:lnTo>
                <a:lnTo>
                  <a:pt x="301825" y="260847"/>
                </a:lnTo>
                <a:lnTo>
                  <a:pt x="301383" y="262919"/>
                </a:lnTo>
                <a:lnTo>
                  <a:pt x="301470" y="263000"/>
                </a:lnTo>
                <a:lnTo>
                  <a:pt x="302041" y="262911"/>
                </a:lnTo>
                <a:lnTo>
                  <a:pt x="304290" y="264036"/>
                </a:lnTo>
                <a:lnTo>
                  <a:pt x="305286" y="264264"/>
                </a:lnTo>
                <a:lnTo>
                  <a:pt x="305349" y="264813"/>
                </a:lnTo>
                <a:lnTo>
                  <a:pt x="306197" y="265489"/>
                </a:lnTo>
                <a:lnTo>
                  <a:pt x="305553" y="266584"/>
                </a:lnTo>
                <a:lnTo>
                  <a:pt x="305571" y="266936"/>
                </a:lnTo>
                <a:lnTo>
                  <a:pt x="306203" y="267246"/>
                </a:lnTo>
                <a:lnTo>
                  <a:pt x="306604" y="268095"/>
                </a:lnTo>
                <a:lnTo>
                  <a:pt x="307383" y="268296"/>
                </a:lnTo>
                <a:lnTo>
                  <a:pt x="308277" y="267960"/>
                </a:lnTo>
                <a:lnTo>
                  <a:pt x="308617" y="268147"/>
                </a:lnTo>
                <a:lnTo>
                  <a:pt x="308484" y="268797"/>
                </a:lnTo>
                <a:lnTo>
                  <a:pt x="308666" y="269627"/>
                </a:lnTo>
                <a:lnTo>
                  <a:pt x="308267" y="270069"/>
                </a:lnTo>
                <a:lnTo>
                  <a:pt x="308316" y="271318"/>
                </a:lnTo>
                <a:lnTo>
                  <a:pt x="307816" y="271780"/>
                </a:lnTo>
                <a:lnTo>
                  <a:pt x="309238" y="272831"/>
                </a:lnTo>
                <a:lnTo>
                  <a:pt x="309389" y="273504"/>
                </a:lnTo>
                <a:lnTo>
                  <a:pt x="308285" y="274340"/>
                </a:lnTo>
                <a:lnTo>
                  <a:pt x="307693" y="274411"/>
                </a:lnTo>
                <a:lnTo>
                  <a:pt x="307294" y="275043"/>
                </a:lnTo>
                <a:lnTo>
                  <a:pt x="306317" y="274868"/>
                </a:lnTo>
                <a:lnTo>
                  <a:pt x="304713" y="275528"/>
                </a:lnTo>
                <a:lnTo>
                  <a:pt x="302987" y="275609"/>
                </a:lnTo>
                <a:lnTo>
                  <a:pt x="302480" y="276066"/>
                </a:lnTo>
                <a:lnTo>
                  <a:pt x="301969" y="276058"/>
                </a:lnTo>
                <a:lnTo>
                  <a:pt x="301419" y="276670"/>
                </a:lnTo>
                <a:lnTo>
                  <a:pt x="300909" y="276447"/>
                </a:lnTo>
                <a:lnTo>
                  <a:pt x="300561" y="276648"/>
                </a:lnTo>
                <a:lnTo>
                  <a:pt x="300543" y="277527"/>
                </a:lnTo>
                <a:lnTo>
                  <a:pt x="300154" y="277849"/>
                </a:lnTo>
                <a:lnTo>
                  <a:pt x="299808" y="279562"/>
                </a:lnTo>
                <a:lnTo>
                  <a:pt x="299507" y="279938"/>
                </a:lnTo>
                <a:lnTo>
                  <a:pt x="299724" y="280278"/>
                </a:lnTo>
                <a:lnTo>
                  <a:pt x="299629" y="281575"/>
                </a:lnTo>
                <a:lnTo>
                  <a:pt x="296851" y="279180"/>
                </a:lnTo>
                <a:lnTo>
                  <a:pt x="294338" y="282280"/>
                </a:lnTo>
                <a:lnTo>
                  <a:pt x="291961" y="283823"/>
                </a:lnTo>
                <a:lnTo>
                  <a:pt x="291052" y="283785"/>
                </a:lnTo>
                <a:lnTo>
                  <a:pt x="290630" y="284243"/>
                </a:lnTo>
                <a:lnTo>
                  <a:pt x="290198" y="284085"/>
                </a:lnTo>
                <a:lnTo>
                  <a:pt x="289501" y="284373"/>
                </a:lnTo>
                <a:lnTo>
                  <a:pt x="289248" y="284630"/>
                </a:lnTo>
                <a:lnTo>
                  <a:pt x="289392" y="285399"/>
                </a:lnTo>
                <a:lnTo>
                  <a:pt x="288864" y="286199"/>
                </a:lnTo>
                <a:lnTo>
                  <a:pt x="288043" y="286506"/>
                </a:lnTo>
                <a:lnTo>
                  <a:pt x="287470" y="286073"/>
                </a:lnTo>
                <a:lnTo>
                  <a:pt x="286653" y="286882"/>
                </a:lnTo>
                <a:lnTo>
                  <a:pt x="286030" y="287346"/>
                </a:lnTo>
                <a:lnTo>
                  <a:pt x="285123" y="287362"/>
                </a:lnTo>
                <a:lnTo>
                  <a:pt x="284090" y="288424"/>
                </a:lnTo>
                <a:lnTo>
                  <a:pt x="283106" y="289797"/>
                </a:lnTo>
                <a:lnTo>
                  <a:pt x="282976" y="290992"/>
                </a:lnTo>
                <a:lnTo>
                  <a:pt x="282305" y="291595"/>
                </a:lnTo>
                <a:lnTo>
                  <a:pt x="281207" y="291320"/>
                </a:lnTo>
                <a:lnTo>
                  <a:pt x="280911" y="291733"/>
                </a:lnTo>
                <a:lnTo>
                  <a:pt x="280336" y="291719"/>
                </a:lnTo>
                <a:lnTo>
                  <a:pt x="279936" y="291993"/>
                </a:lnTo>
                <a:lnTo>
                  <a:pt x="279306" y="291805"/>
                </a:lnTo>
                <a:lnTo>
                  <a:pt x="278276" y="292768"/>
                </a:lnTo>
                <a:lnTo>
                  <a:pt x="277770" y="292753"/>
                </a:lnTo>
                <a:lnTo>
                  <a:pt x="277482" y="292333"/>
                </a:lnTo>
                <a:lnTo>
                  <a:pt x="275869" y="292236"/>
                </a:lnTo>
                <a:lnTo>
                  <a:pt x="275131" y="294319"/>
                </a:lnTo>
                <a:lnTo>
                  <a:pt x="273321" y="295038"/>
                </a:lnTo>
                <a:lnTo>
                  <a:pt x="273015" y="294894"/>
                </a:lnTo>
                <a:lnTo>
                  <a:pt x="272578" y="295702"/>
                </a:lnTo>
                <a:lnTo>
                  <a:pt x="271388" y="295851"/>
                </a:lnTo>
                <a:lnTo>
                  <a:pt x="270266" y="296924"/>
                </a:lnTo>
                <a:lnTo>
                  <a:pt x="269390" y="296699"/>
                </a:lnTo>
                <a:lnTo>
                  <a:pt x="268860" y="297349"/>
                </a:lnTo>
                <a:lnTo>
                  <a:pt x="268377" y="297233"/>
                </a:lnTo>
                <a:lnTo>
                  <a:pt x="267280" y="297586"/>
                </a:lnTo>
                <a:lnTo>
                  <a:pt x="266782" y="297455"/>
                </a:lnTo>
                <a:lnTo>
                  <a:pt x="266177" y="298085"/>
                </a:lnTo>
                <a:lnTo>
                  <a:pt x="265564" y="298193"/>
                </a:lnTo>
                <a:lnTo>
                  <a:pt x="265353" y="298737"/>
                </a:lnTo>
                <a:lnTo>
                  <a:pt x="263668" y="298632"/>
                </a:lnTo>
                <a:lnTo>
                  <a:pt x="263622" y="299572"/>
                </a:lnTo>
                <a:lnTo>
                  <a:pt x="263890" y="300250"/>
                </a:lnTo>
                <a:lnTo>
                  <a:pt x="263285" y="300698"/>
                </a:lnTo>
                <a:lnTo>
                  <a:pt x="261687" y="301027"/>
                </a:lnTo>
                <a:lnTo>
                  <a:pt x="260923" y="300943"/>
                </a:lnTo>
                <a:lnTo>
                  <a:pt x="259794" y="301818"/>
                </a:lnTo>
                <a:lnTo>
                  <a:pt x="259078" y="301454"/>
                </a:lnTo>
                <a:lnTo>
                  <a:pt x="258105" y="301766"/>
                </a:lnTo>
                <a:lnTo>
                  <a:pt x="256398" y="301663"/>
                </a:lnTo>
                <a:lnTo>
                  <a:pt x="255630" y="302180"/>
                </a:lnTo>
                <a:lnTo>
                  <a:pt x="254569" y="302181"/>
                </a:lnTo>
                <a:lnTo>
                  <a:pt x="254654" y="302625"/>
                </a:lnTo>
                <a:lnTo>
                  <a:pt x="253976" y="303578"/>
                </a:lnTo>
                <a:lnTo>
                  <a:pt x="250775" y="303179"/>
                </a:lnTo>
                <a:lnTo>
                  <a:pt x="249785" y="302797"/>
                </a:lnTo>
                <a:lnTo>
                  <a:pt x="248062" y="302906"/>
                </a:lnTo>
                <a:lnTo>
                  <a:pt x="246870" y="303808"/>
                </a:lnTo>
                <a:lnTo>
                  <a:pt x="246877" y="304157"/>
                </a:lnTo>
                <a:lnTo>
                  <a:pt x="246554" y="304398"/>
                </a:lnTo>
                <a:lnTo>
                  <a:pt x="246066" y="303804"/>
                </a:lnTo>
                <a:lnTo>
                  <a:pt x="245024" y="303886"/>
                </a:lnTo>
                <a:lnTo>
                  <a:pt x="244334" y="304283"/>
                </a:lnTo>
                <a:lnTo>
                  <a:pt x="243835" y="304219"/>
                </a:lnTo>
                <a:lnTo>
                  <a:pt x="243551" y="304621"/>
                </a:lnTo>
                <a:lnTo>
                  <a:pt x="242141" y="304886"/>
                </a:lnTo>
                <a:lnTo>
                  <a:pt x="241044" y="305986"/>
                </a:lnTo>
                <a:lnTo>
                  <a:pt x="240680" y="306044"/>
                </a:lnTo>
                <a:lnTo>
                  <a:pt x="240164" y="305617"/>
                </a:lnTo>
                <a:lnTo>
                  <a:pt x="239435" y="305539"/>
                </a:lnTo>
                <a:lnTo>
                  <a:pt x="239074" y="306309"/>
                </a:lnTo>
                <a:lnTo>
                  <a:pt x="238659" y="306286"/>
                </a:lnTo>
                <a:lnTo>
                  <a:pt x="237653" y="307116"/>
                </a:lnTo>
                <a:lnTo>
                  <a:pt x="236694" y="307446"/>
                </a:lnTo>
                <a:lnTo>
                  <a:pt x="236092" y="308184"/>
                </a:lnTo>
                <a:lnTo>
                  <a:pt x="234719" y="307579"/>
                </a:lnTo>
                <a:lnTo>
                  <a:pt x="234104" y="307605"/>
                </a:lnTo>
                <a:lnTo>
                  <a:pt x="233629" y="306949"/>
                </a:lnTo>
                <a:lnTo>
                  <a:pt x="232609" y="306962"/>
                </a:lnTo>
                <a:lnTo>
                  <a:pt x="231946" y="306542"/>
                </a:lnTo>
                <a:lnTo>
                  <a:pt x="230308" y="306521"/>
                </a:lnTo>
                <a:lnTo>
                  <a:pt x="229095" y="307110"/>
                </a:lnTo>
                <a:lnTo>
                  <a:pt x="227913" y="306569"/>
                </a:lnTo>
                <a:lnTo>
                  <a:pt x="226076" y="306219"/>
                </a:lnTo>
                <a:lnTo>
                  <a:pt x="225135" y="305556"/>
                </a:lnTo>
                <a:lnTo>
                  <a:pt x="224260" y="305653"/>
                </a:lnTo>
                <a:lnTo>
                  <a:pt x="223587" y="305353"/>
                </a:lnTo>
                <a:lnTo>
                  <a:pt x="222891" y="305580"/>
                </a:lnTo>
                <a:lnTo>
                  <a:pt x="221961" y="304935"/>
                </a:lnTo>
                <a:lnTo>
                  <a:pt x="217107" y="305213"/>
                </a:lnTo>
                <a:lnTo>
                  <a:pt x="216607" y="306296"/>
                </a:lnTo>
                <a:lnTo>
                  <a:pt x="214463" y="307204"/>
                </a:lnTo>
                <a:lnTo>
                  <a:pt x="213795" y="307903"/>
                </a:lnTo>
                <a:lnTo>
                  <a:pt x="212965" y="308168"/>
                </a:lnTo>
                <a:lnTo>
                  <a:pt x="211985" y="309148"/>
                </a:lnTo>
                <a:lnTo>
                  <a:pt x="209344" y="308706"/>
                </a:lnTo>
                <a:lnTo>
                  <a:pt x="208222" y="309334"/>
                </a:lnTo>
                <a:lnTo>
                  <a:pt x="208046" y="309793"/>
                </a:lnTo>
                <a:lnTo>
                  <a:pt x="206364" y="309565"/>
                </a:lnTo>
                <a:lnTo>
                  <a:pt x="205794" y="310042"/>
                </a:lnTo>
                <a:lnTo>
                  <a:pt x="205018" y="310074"/>
                </a:lnTo>
                <a:lnTo>
                  <a:pt x="202318" y="309312"/>
                </a:lnTo>
                <a:lnTo>
                  <a:pt x="200519" y="308429"/>
                </a:lnTo>
                <a:lnTo>
                  <a:pt x="198887" y="307907"/>
                </a:lnTo>
                <a:lnTo>
                  <a:pt x="197225" y="308065"/>
                </a:lnTo>
                <a:lnTo>
                  <a:pt x="197076" y="308782"/>
                </a:lnTo>
                <a:lnTo>
                  <a:pt x="196610" y="309462"/>
                </a:lnTo>
                <a:lnTo>
                  <a:pt x="196528" y="310026"/>
                </a:lnTo>
                <a:lnTo>
                  <a:pt x="196263" y="310075"/>
                </a:lnTo>
                <a:lnTo>
                  <a:pt x="196206" y="310640"/>
                </a:lnTo>
                <a:lnTo>
                  <a:pt x="195321" y="310994"/>
                </a:lnTo>
                <a:lnTo>
                  <a:pt x="195129" y="311600"/>
                </a:lnTo>
                <a:lnTo>
                  <a:pt x="193957" y="311670"/>
                </a:lnTo>
                <a:lnTo>
                  <a:pt x="193957" y="335074"/>
                </a:lnTo>
                <a:lnTo>
                  <a:pt x="193957" y="372304"/>
                </a:lnTo>
                <a:lnTo>
                  <a:pt x="161395" y="372304"/>
                </a:lnTo>
                <a:lnTo>
                  <a:pt x="161041" y="372628"/>
                </a:lnTo>
                <a:lnTo>
                  <a:pt x="161238" y="373555"/>
                </a:lnTo>
                <a:lnTo>
                  <a:pt x="161924" y="374750"/>
                </a:lnTo>
                <a:lnTo>
                  <a:pt x="161528" y="375056"/>
                </a:lnTo>
                <a:lnTo>
                  <a:pt x="161759" y="375760"/>
                </a:lnTo>
                <a:lnTo>
                  <a:pt x="161269" y="376655"/>
                </a:lnTo>
                <a:lnTo>
                  <a:pt x="161408" y="377344"/>
                </a:lnTo>
                <a:lnTo>
                  <a:pt x="160411" y="377871"/>
                </a:lnTo>
                <a:lnTo>
                  <a:pt x="160040" y="379210"/>
                </a:lnTo>
                <a:lnTo>
                  <a:pt x="159146" y="379497"/>
                </a:lnTo>
                <a:lnTo>
                  <a:pt x="158019" y="380545"/>
                </a:lnTo>
                <a:lnTo>
                  <a:pt x="156898" y="380415"/>
                </a:lnTo>
                <a:lnTo>
                  <a:pt x="156726" y="380528"/>
                </a:lnTo>
                <a:lnTo>
                  <a:pt x="156726" y="409534"/>
                </a:lnTo>
                <a:lnTo>
                  <a:pt x="156726" y="446764"/>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llustrated road connection within selected market interior"/>
          <p:cNvSpPr/>
          <p:nvPr/>
        </p:nvSpPr>
        <p:spPr>
          <a:xfrm>
            <a:off x="3297410" y="3760451"/>
            <a:ext cx="111691" cy="186152"/>
          </a:xfrm>
          <a:custGeom>
            <a:avLst/>
            <a:gdLst/>
            <a:ahLst/>
            <a:cxnLst/>
            <a:rect l="l" t="t" r="r" b="b"/>
            <a:pathLst>
              <a:path w="111691" h="186152">
                <a:moveTo>
                  <a:pt x="0" y="111691"/>
                </a:moveTo>
                <a:lnTo>
                  <a:pt x="0" y="74461"/>
                </a:lnTo>
                <a:lnTo>
                  <a:pt x="0" y="37230"/>
                </a:lnTo>
                <a:lnTo>
                  <a:pt x="0" y="0"/>
                </a:lnTo>
                <a:lnTo>
                  <a:pt x="37231" y="0"/>
                </a:lnTo>
                <a:lnTo>
                  <a:pt x="37231" y="37230"/>
                </a:lnTo>
                <a:lnTo>
                  <a:pt x="74461" y="37230"/>
                </a:lnTo>
                <a:lnTo>
                  <a:pt x="74461" y="74461"/>
                </a:lnTo>
                <a:lnTo>
                  <a:pt x="111691" y="74461"/>
                </a:lnTo>
                <a:lnTo>
                  <a:pt x="111691" y="111691"/>
                </a:lnTo>
                <a:lnTo>
                  <a:pt x="111691" y="148922"/>
                </a:lnTo>
                <a:lnTo>
                  <a:pt x="111691" y="186152"/>
                </a:lnTo>
                <a:lnTo>
                  <a:pt x="74461" y="186152"/>
                </a:lnTo>
                <a:lnTo>
                  <a:pt x="74461" y="148922"/>
                </a:lnTo>
                <a:lnTo>
                  <a:pt x="37231" y="148922"/>
                </a:lnTo>
                <a:lnTo>
                  <a:pt x="37231" y="111691"/>
                </a:lnTo>
                <a:lnTo>
                  <a:pt x="0" y="111691"/>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llustrated road connection within selected market"/>
          <p:cNvSpPr/>
          <p:nvPr/>
        </p:nvSpPr>
        <p:spPr>
          <a:xfrm>
            <a:off x="3473425" y="2903797"/>
            <a:ext cx="1559" cy="357"/>
          </a:xfrm>
          <a:custGeom>
            <a:avLst/>
            <a:gdLst/>
            <a:ahLst/>
            <a:cxnLst/>
            <a:rect l="l" t="t" r="r" b="b"/>
            <a:pathLst>
              <a:path w="1559" h="357">
                <a:moveTo>
                  <a:pt x="1559" y="357"/>
                </a:moveTo>
                <a:lnTo>
                  <a:pt x="753" y="0"/>
                </a:lnTo>
                <a:lnTo>
                  <a:pt x="81" y="149"/>
                </a:lnTo>
                <a:lnTo>
                  <a:pt x="0" y="357"/>
                </a:lnTo>
                <a:lnTo>
                  <a:pt x="1559" y="357"/>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lected eastern and inland market outline"/>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noFill/>
          <a:ln w="15875">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elected eastern and inland market outline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6" name="Reach origin Durban"/>
          <p:cNvSpPr/>
          <p:nvPr/>
        </p:nvSpPr>
        <p:spPr>
          <a:xfrm>
            <a:off x="3378488" y="411011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7" name="TextBox 3226"/>
          <p:cNvSpPr txBox="1"/>
          <p:nvPr/>
        </p:nvSpPr>
        <p:spPr>
          <a:xfrm>
            <a:off x="3492788" y="4105546"/>
            <a:ext cx="676656" cy="210312"/>
          </a:xfrm>
          <a:prstGeom prst="rect">
            <a:avLst/>
          </a:prstGeom>
          <a:noFill/>
        </p:spPr>
        <p:txBody>
          <a:bodyPr wrap="square" lIns="0" rIns="0" tIns="0" bIns="0">
            <a:spAutoFit/>
          </a:bodyPr>
          <a:lstStyle/>
          <a:p>
            <a:pPr>
              <a:spcAft>
                <a:spcPts val="300"/>
              </a:spcAft>
              <a:defRPr sz="900" b="1">
                <a:solidFill>
                  <a:srgbClr val="404040"/>
                </a:solidFill>
                <a:latin typeface="Lato"/>
              </a:defRPr>
            </a:pPr>
            <a:r>
              <a:t>Durban</a:t>
            </a:r>
          </a:p>
        </p:txBody>
      </p:sp>
      <p:sp>
        <p:nvSpPr>
          <p:cNvPr id="3228" name="Reach origin Lesedi"/>
          <p:cNvSpPr/>
          <p:nvPr/>
        </p:nvSpPr>
        <p:spPr>
          <a:xfrm>
            <a:off x="3015179" y="3527283"/>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9" name="TextBox 3228"/>
          <p:cNvSpPr txBox="1"/>
          <p:nvPr/>
        </p:nvSpPr>
        <p:spPr>
          <a:xfrm>
            <a:off x="2343095" y="3522711"/>
            <a:ext cx="676656" cy="210312"/>
          </a:xfrm>
          <a:prstGeom prst="rect">
            <a:avLst/>
          </a:prstGeom>
          <a:noFill/>
        </p:spPr>
        <p:txBody>
          <a:bodyPr wrap="square" lIns="0" rIns="0" tIns="0" bIns="0">
            <a:spAutoFit/>
          </a:bodyPr>
          <a:lstStyle/>
          <a:p>
            <a:pPr>
              <a:spcAft>
                <a:spcPts val="300"/>
              </a:spcAft>
              <a:defRPr sz="900" b="1">
                <a:solidFill>
                  <a:srgbClr val="404040"/>
                </a:solidFill>
                <a:latin typeface="Lato"/>
              </a:defRPr>
            </a:pPr>
            <a:r>
              <a:t>Lesedi</a:t>
            </a:r>
          </a:p>
        </p:txBody>
      </p:sp>
      <p:cxnSp>
        <p:nvCxnSpPr>
          <p:cNvPr id="3230" name="Connector 3229"/>
          <p:cNvCxnSpPr/>
          <p:nvPr/>
        </p:nvCxnSpPr>
        <p:spPr>
          <a:xfrm flipV="1">
            <a:off x="658368" y="3054096"/>
            <a:ext cx="0" cy="237744"/>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231" name="Connector 3230"/>
          <p:cNvCxnSpPr/>
          <p:nvPr/>
        </p:nvCxnSpPr>
        <p:spPr>
          <a:xfrm flipH="1">
            <a:off x="621792"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232" name="Connector 3231"/>
          <p:cNvCxnSpPr/>
          <p:nvPr/>
        </p:nvCxnSpPr>
        <p:spPr>
          <a:xfrm>
            <a:off x="658368"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3233" name="TextBox 3232"/>
          <p:cNvSpPr txBox="1"/>
          <p:nvPr/>
        </p:nvSpPr>
        <p:spPr>
          <a:xfrm>
            <a:off x="594360" y="2852928"/>
            <a:ext cx="201168" cy="164592"/>
          </a:xfrm>
          <a:prstGeom prst="rect">
            <a:avLst/>
          </a:prstGeom>
          <a:noFill/>
        </p:spPr>
        <p:txBody>
          <a:bodyPr wrap="square" lIns="0" rIns="0" tIns="0" bIns="0">
            <a:spAutoFit/>
          </a:bodyPr>
          <a:lstStyle/>
          <a:p>
            <a:pPr>
              <a:spcAft>
                <a:spcPts val="300"/>
              </a:spcAft>
              <a:defRPr sz="800" b="0">
                <a:solidFill>
                  <a:srgbClr val="404040"/>
                </a:solidFill>
                <a:latin typeface="Lato"/>
              </a:defRPr>
            </a:pPr>
            <a:r>
              <a:t>N</a:t>
            </a:r>
          </a:p>
        </p:txBody>
      </p:sp>
      <p:sp>
        <p:nvSpPr>
          <p:cNvPr id="3234" name="Rectangle 3233"/>
          <p:cNvSpPr/>
          <p:nvPr/>
        </p:nvSpPr>
        <p:spPr>
          <a:xfrm>
            <a:off x="457200" y="5385816"/>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5" name="TextBox 3234"/>
          <p:cNvSpPr txBox="1"/>
          <p:nvPr/>
        </p:nvSpPr>
        <p:spPr>
          <a:xfrm>
            <a:off x="621792"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t>Illustrated road reach</a:t>
            </a:r>
          </a:p>
        </p:txBody>
      </p:sp>
      <p:sp>
        <p:nvSpPr>
          <p:cNvPr id="3236" name="Rectangle 3235"/>
          <p:cNvSpPr/>
          <p:nvPr/>
        </p:nvSpPr>
        <p:spPr>
          <a:xfrm>
            <a:off x="2359152" y="5385816"/>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7" name="TextBox 3236"/>
          <p:cNvSpPr txBox="1"/>
          <p:nvPr/>
        </p:nvSpPr>
        <p:spPr>
          <a:xfrm>
            <a:off x="2523744"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t>Outside illustrated reach</a:t>
            </a:r>
          </a:p>
        </p:txBody>
      </p:sp>
      <p:sp>
        <p:nvSpPr>
          <p:cNvPr id="3238" name="TextBox 3237"/>
          <p:cNvSpPr txBox="1"/>
          <p:nvPr/>
        </p:nvSpPr>
        <p:spPr>
          <a:xfrm>
            <a:off x="457200" y="5605272"/>
            <a:ext cx="416052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Outline = selected eastern + inland market</a:t>
            </a:r>
          </a:p>
        </p:txBody>
      </p:sp>
      <p:sp>
        <p:nvSpPr>
          <p:cNvPr id="3240" name="TextBox 3239"/>
          <p:cNvSpPr txBox="1"/>
          <p:nvPr/>
        </p:nvSpPr>
        <p:spPr>
          <a:xfrm>
            <a:off x="4846320" y="2221992"/>
            <a:ext cx="6263640" cy="320040"/>
          </a:xfrm>
          <a:prstGeom prst="rect">
            <a:avLst/>
          </a:prstGeom>
          <a:noFill/>
        </p:spPr>
        <p:txBody>
          <a:bodyPr wrap="square" lIns="0" rIns="0" tIns="0" bIns="0">
            <a:spAutoFit/>
          </a:bodyPr>
          <a:lstStyle/>
          <a:p>
            <a:pPr>
              <a:spcAft>
                <a:spcPts val="300"/>
              </a:spcAft>
              <a:defRPr sz="1200" b="1">
                <a:solidFill>
                  <a:srgbClr val="404040"/>
                </a:solidFill>
                <a:latin typeface="Lato"/>
              </a:defRPr>
            </a:pPr>
            <a:r>
              <a:t>Illustrative volume waterfall</a:t>
            </a:r>
          </a:p>
        </p:txBody>
      </p:sp>
      <p:sp>
        <p:nvSpPr>
          <p:cNvPr id="3241" name="Illustrative waterfall Illustrative&#10;market: 14.5 bn L/year"/>
          <p:cNvSpPr/>
          <p:nvPr/>
        </p:nvSpPr>
        <p:spPr>
          <a:xfrm>
            <a:off x="5074920" y="3163824"/>
            <a:ext cx="621792" cy="21031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2" name="TextBox 3241"/>
          <p:cNvSpPr txBox="1"/>
          <p:nvPr/>
        </p:nvSpPr>
        <p:spPr>
          <a:xfrm>
            <a:off x="4956048"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14.5</a:t>
            </a:r>
          </a:p>
        </p:txBody>
      </p:sp>
      <p:sp>
        <p:nvSpPr>
          <p:cNvPr id="3243" name="TextBox 3242"/>
          <p:cNvSpPr txBox="1"/>
          <p:nvPr/>
        </p:nvSpPr>
        <p:spPr>
          <a:xfrm>
            <a:off x="4873752"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Illustrative</a:t>
            </a:r>
          </a:p>
          <a:p>
            <a:pPr>
              <a:spcAft>
                <a:spcPts val="300"/>
              </a:spcAft>
              <a:defRPr sz="1100" b="0">
                <a:solidFill>
                  <a:srgbClr val="404040"/>
                </a:solidFill>
                <a:latin typeface="Lato"/>
              </a:defRPr>
            </a:pPr>
            <a:r>
              <a:rPr sz="1100" b="0">
                <a:latin typeface="Lato"/>
              </a:rPr>
              <a:t>market</a:t>
            </a:r>
          </a:p>
        </p:txBody>
      </p:sp>
      <p:cxnSp>
        <p:nvCxnSpPr>
          <p:cNvPr id="3244" name="Connector 3243"/>
          <p:cNvCxnSpPr/>
          <p:nvPr/>
        </p:nvCxnSpPr>
        <p:spPr>
          <a:xfrm>
            <a:off x="5696712" y="3163824"/>
            <a:ext cx="576071"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245" name="Illustrative waterfall Outside&#10;illustrated reach: 2.5 bn L/year"/>
          <p:cNvSpPr/>
          <p:nvPr/>
        </p:nvSpPr>
        <p:spPr>
          <a:xfrm>
            <a:off x="6272783" y="3163824"/>
            <a:ext cx="621792" cy="362606"/>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6" name="TextBox 3245"/>
          <p:cNvSpPr txBox="1"/>
          <p:nvPr/>
        </p:nvSpPr>
        <p:spPr>
          <a:xfrm>
            <a:off x="6153912"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−2.5</a:t>
            </a:r>
          </a:p>
        </p:txBody>
      </p:sp>
      <p:sp>
        <p:nvSpPr>
          <p:cNvPr id="3247" name="TextBox 3246"/>
          <p:cNvSpPr txBox="1"/>
          <p:nvPr/>
        </p:nvSpPr>
        <p:spPr>
          <a:xfrm>
            <a:off x="6071616"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Outside</a:t>
            </a:r>
          </a:p>
          <a:p>
            <a:pPr>
              <a:spcAft>
                <a:spcPts val="300"/>
              </a:spcAft>
              <a:defRPr sz="1100" b="0">
                <a:solidFill>
                  <a:srgbClr val="404040"/>
                </a:solidFill>
                <a:latin typeface="Lato"/>
              </a:defRPr>
            </a:pPr>
            <a:r>
              <a:rPr sz="1100" b="0">
                <a:latin typeface="Lato"/>
              </a:rPr>
              <a:t>illustrated reach</a:t>
            </a:r>
          </a:p>
        </p:txBody>
      </p:sp>
      <p:cxnSp>
        <p:nvCxnSpPr>
          <p:cNvPr id="3248" name="Connector 3247"/>
          <p:cNvCxnSpPr/>
          <p:nvPr/>
        </p:nvCxnSpPr>
        <p:spPr>
          <a:xfrm>
            <a:off x="6894575" y="3526430"/>
            <a:ext cx="57607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249" name="Illustrative waterfall Fails price /&#10;service / access: 3.5 bn L/year"/>
          <p:cNvSpPr/>
          <p:nvPr/>
        </p:nvSpPr>
        <p:spPr>
          <a:xfrm>
            <a:off x="7470648" y="3526430"/>
            <a:ext cx="621792" cy="507649"/>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0" name="TextBox 3249"/>
          <p:cNvSpPr txBox="1"/>
          <p:nvPr/>
        </p:nvSpPr>
        <p:spPr>
          <a:xfrm>
            <a:off x="7351775" y="320639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−3.5</a:t>
            </a:r>
          </a:p>
        </p:txBody>
      </p:sp>
      <p:sp>
        <p:nvSpPr>
          <p:cNvPr id="3251" name="TextBox 3250"/>
          <p:cNvSpPr txBox="1"/>
          <p:nvPr/>
        </p:nvSpPr>
        <p:spPr>
          <a:xfrm>
            <a:off x="7269480"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Fails price /</a:t>
            </a:r>
          </a:p>
          <a:p>
            <a:pPr>
              <a:spcAft>
                <a:spcPts val="300"/>
              </a:spcAft>
              <a:defRPr sz="1100" b="0">
                <a:solidFill>
                  <a:srgbClr val="404040"/>
                </a:solidFill>
                <a:latin typeface="Lato"/>
              </a:defRPr>
            </a:pPr>
            <a:r>
              <a:rPr sz="1100" b="0">
                <a:latin typeface="Lato"/>
              </a:rPr>
              <a:t>service / access</a:t>
            </a:r>
          </a:p>
        </p:txBody>
      </p:sp>
      <p:cxnSp>
        <p:nvCxnSpPr>
          <p:cNvPr id="3252" name="Connector 3251"/>
          <p:cNvCxnSpPr/>
          <p:nvPr/>
        </p:nvCxnSpPr>
        <p:spPr>
          <a:xfrm>
            <a:off x="8092440" y="4034080"/>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253" name="Illustrative waterfall Assumed&#10;already served: 3.0 bn L/year"/>
          <p:cNvSpPr/>
          <p:nvPr/>
        </p:nvSpPr>
        <p:spPr>
          <a:xfrm>
            <a:off x="8668512" y="4034080"/>
            <a:ext cx="621792" cy="435128"/>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4" name="TextBox 3253"/>
          <p:cNvSpPr txBox="1"/>
          <p:nvPr/>
        </p:nvSpPr>
        <p:spPr>
          <a:xfrm>
            <a:off x="8549640" y="371404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−3.0</a:t>
            </a:r>
          </a:p>
        </p:txBody>
      </p:sp>
      <p:sp>
        <p:nvSpPr>
          <p:cNvPr id="3255" name="TextBox 3254"/>
          <p:cNvSpPr txBox="1"/>
          <p:nvPr/>
        </p:nvSpPr>
        <p:spPr>
          <a:xfrm>
            <a:off x="8467344"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Assumed</a:t>
            </a:r>
          </a:p>
          <a:p>
            <a:pPr>
              <a:spcAft>
                <a:spcPts val="300"/>
              </a:spcAft>
              <a:defRPr sz="1100" b="0">
                <a:solidFill>
                  <a:srgbClr val="404040"/>
                </a:solidFill>
                <a:latin typeface="Lato"/>
              </a:defRPr>
            </a:pPr>
            <a:r>
              <a:rPr sz="1100" b="0">
                <a:latin typeface="Lato"/>
              </a:rPr>
              <a:t>already served</a:t>
            </a:r>
          </a:p>
        </p:txBody>
      </p:sp>
      <p:cxnSp>
        <p:nvCxnSpPr>
          <p:cNvPr id="3256" name="Connector 3255"/>
          <p:cNvCxnSpPr/>
          <p:nvPr/>
        </p:nvCxnSpPr>
        <p:spPr>
          <a:xfrm>
            <a:off x="9290304" y="4469208"/>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257" name="Illustrative waterfall Additional&#10;opportunity to test: 5.5 bn L/year"/>
          <p:cNvSpPr/>
          <p:nvPr/>
        </p:nvSpPr>
        <p:spPr>
          <a:xfrm>
            <a:off x="9866376" y="4469208"/>
            <a:ext cx="621792" cy="797735"/>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8" name="TextBox 3257"/>
          <p:cNvSpPr txBox="1"/>
          <p:nvPr/>
        </p:nvSpPr>
        <p:spPr>
          <a:xfrm>
            <a:off x="9747503" y="4149168"/>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t>5.5</a:t>
            </a:r>
          </a:p>
        </p:txBody>
      </p:sp>
      <p:sp>
        <p:nvSpPr>
          <p:cNvPr id="3259" name="TextBox 3258"/>
          <p:cNvSpPr txBox="1"/>
          <p:nvPr/>
        </p:nvSpPr>
        <p:spPr>
          <a:xfrm>
            <a:off x="9665207"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Additional</a:t>
            </a:r>
          </a:p>
          <a:p>
            <a:pPr>
              <a:spcAft>
                <a:spcPts val="300"/>
              </a:spcAft>
              <a:defRPr sz="1100" b="0">
                <a:solidFill>
                  <a:srgbClr val="404040"/>
                </a:solidFill>
                <a:latin typeface="Lato"/>
              </a:defRPr>
            </a:pPr>
            <a:r>
              <a:rPr sz="1100" b="0">
                <a:latin typeface="Lato"/>
              </a:rPr>
              <a:t>opportunity to test</a:t>
            </a:r>
          </a:p>
        </p:txBody>
      </p:sp>
      <p:sp>
        <p:nvSpPr>
          <p:cNvPr id="3260" name="TextBox 3259"/>
          <p:cNvSpPr txBox="1"/>
          <p:nvPr/>
        </p:nvSpPr>
        <p:spPr>
          <a:xfrm>
            <a:off x="457200" y="2596896"/>
            <a:ext cx="4251960" cy="219456"/>
          </a:xfrm>
          <a:prstGeom prst="rect">
            <a:avLst/>
          </a:prstGeom>
          <a:noFill/>
        </p:spPr>
        <p:txBody>
          <a:bodyPr wrap="square" lIns="0" rIns="0" tIns="0" bIns="0">
            <a:spAutoFit/>
          </a:bodyPr>
          <a:lstStyle/>
          <a:p>
            <a:pPr>
              <a:spcAft>
                <a:spcPts val="300"/>
              </a:spcAft>
              <a:defRPr sz="900" b="0">
                <a:solidFill>
                  <a:srgbClr val="404040"/>
                </a:solidFill>
                <a:latin typeface="Lato"/>
              </a:defRPr>
            </a:pPr>
            <a:r>
              <a:t>Numbers match the waterfall stages; placements are illustrative.</a:t>
            </a:r>
          </a:p>
        </p:txBody>
      </p:sp>
      <p:sp>
        <p:nvSpPr>
          <p:cNvPr id="3261" name="Schematic screen cluster 1"/>
          <p:cNvSpPr/>
          <p:nvPr/>
        </p:nvSpPr>
        <p:spPr>
          <a:xfrm>
            <a:off x="1865376" y="3355848"/>
            <a:ext cx="438912" cy="438912"/>
          </a:xfrm>
          <a:prstGeom prst="ellipse">
            <a:avLst/>
          </a:prstGeom>
          <a:noFill/>
          <a:ln w="19050">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2" name="Illustrative screen stage 1"/>
          <p:cNvSpPr/>
          <p:nvPr/>
        </p:nvSpPr>
        <p:spPr>
          <a:xfrm>
            <a:off x="1947672" y="343814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1</a:t>
            </a:r>
          </a:p>
        </p:txBody>
      </p:sp>
      <p:cxnSp>
        <p:nvCxnSpPr>
          <p:cNvPr id="3263" name="Connector 3262"/>
          <p:cNvCxnSpPr/>
          <p:nvPr/>
        </p:nvCxnSpPr>
        <p:spPr>
          <a:xfrm flipH="1">
            <a:off x="1847088" y="3575304"/>
            <a:ext cx="9143" cy="18288"/>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3264" name="TextBox 3263"/>
          <p:cNvSpPr txBox="1"/>
          <p:nvPr/>
        </p:nvSpPr>
        <p:spPr>
          <a:xfrm>
            <a:off x="1024128" y="3483864"/>
            <a:ext cx="822960"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t>Market</a:t>
            </a:r>
          </a:p>
        </p:txBody>
      </p:sp>
      <p:sp>
        <p:nvSpPr>
          <p:cNvPr id="3265" name="Schematic screen cluster 2"/>
          <p:cNvSpPr/>
          <p:nvPr/>
        </p:nvSpPr>
        <p:spPr>
          <a:xfrm>
            <a:off x="3209544" y="2852928"/>
            <a:ext cx="438912" cy="438912"/>
          </a:xfrm>
          <a:prstGeom prst="ellipse">
            <a:avLst/>
          </a:prstGeom>
          <a:noFill/>
          <a:ln w="190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6" name="Illustrative screen stage 2"/>
          <p:cNvSpPr/>
          <p:nvPr/>
        </p:nvSpPr>
        <p:spPr>
          <a:xfrm>
            <a:off x="3291840" y="293522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2</a:t>
            </a:r>
          </a:p>
        </p:txBody>
      </p:sp>
      <p:cxnSp>
        <p:nvCxnSpPr>
          <p:cNvPr id="3267" name="Connector 3266"/>
          <p:cNvCxnSpPr/>
          <p:nvPr/>
        </p:nvCxnSpPr>
        <p:spPr>
          <a:xfrm>
            <a:off x="3657600" y="3072384"/>
            <a:ext cx="0" cy="9144"/>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3268" name="TextBox 3267"/>
          <p:cNvSpPr txBox="1"/>
          <p:nvPr/>
        </p:nvSpPr>
        <p:spPr>
          <a:xfrm>
            <a:off x="3657600" y="2971800"/>
            <a:ext cx="841248"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t>Reach limit</a:t>
            </a:r>
          </a:p>
        </p:txBody>
      </p:sp>
      <p:sp>
        <p:nvSpPr>
          <p:cNvPr id="3269" name="Schematic screen cluster 3"/>
          <p:cNvSpPr/>
          <p:nvPr/>
        </p:nvSpPr>
        <p:spPr>
          <a:xfrm>
            <a:off x="3191256" y="3557015"/>
            <a:ext cx="438912" cy="438912"/>
          </a:xfrm>
          <a:prstGeom prst="ellipse">
            <a:avLst/>
          </a:prstGeom>
          <a:noFill/>
          <a:ln w="19050">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0" name="Illustrative screen stage 3"/>
          <p:cNvSpPr/>
          <p:nvPr/>
        </p:nvSpPr>
        <p:spPr>
          <a:xfrm>
            <a:off x="3273552" y="3639312"/>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3</a:t>
            </a:r>
          </a:p>
        </p:txBody>
      </p:sp>
      <p:cxnSp>
        <p:nvCxnSpPr>
          <p:cNvPr id="3271" name="Connector 3270"/>
          <p:cNvCxnSpPr/>
          <p:nvPr/>
        </p:nvCxnSpPr>
        <p:spPr>
          <a:xfrm>
            <a:off x="3639312" y="3776472"/>
            <a:ext cx="18288" cy="0"/>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3272" name="TextBox 3271"/>
          <p:cNvSpPr txBox="1"/>
          <p:nvPr/>
        </p:nvSpPr>
        <p:spPr>
          <a:xfrm>
            <a:off x="3657600" y="3666744"/>
            <a:ext cx="960120"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t>Commercial</a:t>
            </a:r>
          </a:p>
        </p:txBody>
      </p:sp>
      <p:sp>
        <p:nvSpPr>
          <p:cNvPr id="3273" name="Schematic screen cluster 4"/>
          <p:cNvSpPr/>
          <p:nvPr/>
        </p:nvSpPr>
        <p:spPr>
          <a:xfrm>
            <a:off x="2953512" y="4297680"/>
            <a:ext cx="438912" cy="438912"/>
          </a:xfrm>
          <a:prstGeom prst="ellipse">
            <a:avLst/>
          </a:prstGeom>
          <a:noFill/>
          <a:ln w="19050">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4" name="Illustrative screen stage 4"/>
          <p:cNvSpPr/>
          <p:nvPr/>
        </p:nvSpPr>
        <p:spPr>
          <a:xfrm>
            <a:off x="3035808" y="437997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4</a:t>
            </a:r>
          </a:p>
        </p:txBody>
      </p:sp>
      <p:cxnSp>
        <p:nvCxnSpPr>
          <p:cNvPr id="3275" name="Connector 3274"/>
          <p:cNvCxnSpPr/>
          <p:nvPr/>
        </p:nvCxnSpPr>
        <p:spPr>
          <a:xfrm>
            <a:off x="3401568" y="4517136"/>
            <a:ext cx="91440" cy="9144"/>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3276" name="TextBox 3275"/>
          <p:cNvSpPr txBox="1"/>
          <p:nvPr/>
        </p:nvSpPr>
        <p:spPr>
          <a:xfrm>
            <a:off x="3493008" y="4416552"/>
            <a:ext cx="1133856"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t>Already served</a:t>
            </a:r>
          </a:p>
        </p:txBody>
      </p:sp>
      <p:sp>
        <p:nvSpPr>
          <p:cNvPr id="3277" name="Schematic screen cluster 5"/>
          <p:cNvSpPr/>
          <p:nvPr/>
        </p:nvSpPr>
        <p:spPr>
          <a:xfrm>
            <a:off x="2377439" y="4626864"/>
            <a:ext cx="438912" cy="438912"/>
          </a:xfrm>
          <a:prstGeom prst="ellipse">
            <a:avLst/>
          </a:pr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8" name="Illustrative screen stage 5"/>
          <p:cNvSpPr/>
          <p:nvPr/>
        </p:nvSpPr>
        <p:spPr>
          <a:xfrm>
            <a:off x="2459736" y="4709159"/>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5</a:t>
            </a:r>
          </a:p>
        </p:txBody>
      </p:sp>
      <p:cxnSp>
        <p:nvCxnSpPr>
          <p:cNvPr id="3279" name="Connector 3278"/>
          <p:cNvCxnSpPr/>
          <p:nvPr/>
        </p:nvCxnSpPr>
        <p:spPr>
          <a:xfrm flipH="1">
            <a:off x="2276856" y="4846320"/>
            <a:ext cx="91440" cy="45720"/>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3280" name="TextBox 3279"/>
          <p:cNvSpPr txBox="1"/>
          <p:nvPr/>
        </p:nvSpPr>
        <p:spPr>
          <a:xfrm>
            <a:off x="1216152" y="4782312"/>
            <a:ext cx="1060704" cy="246888"/>
          </a:xfrm>
          <a:prstGeom prst="rect">
            <a:avLst/>
          </a:prstGeom>
          <a:noFill/>
        </p:spPr>
        <p:txBody>
          <a:bodyPr wrap="square" lIns="0" rIns="0" tIns="0" bIns="0">
            <a:spAutoFit/>
          </a:bodyPr>
          <a:lstStyle/>
          <a:p>
            <a:pPr>
              <a:spcAft>
                <a:spcPts val="300"/>
              </a:spcAft>
              <a:defRPr sz="900" b="0">
                <a:solidFill>
                  <a:srgbClr val="0A2373"/>
                </a:solidFill>
                <a:latin typeface="Lato"/>
              </a:defRPr>
            </a:pPr>
            <a:r>
              <a:t>Opportunity</a:t>
            </a:r>
          </a:p>
        </p:txBody>
      </p:sp>
      <p:sp>
        <p:nvSpPr>
          <p:cNvPr id="3281" name="TextBox 3280"/>
          <p:cNvSpPr txBox="1"/>
          <p:nvPr/>
        </p:nvSpPr>
        <p:spPr>
          <a:xfrm>
            <a:off x="457200" y="5852160"/>
            <a:ext cx="4160520" cy="320040"/>
          </a:xfrm>
          <a:prstGeom prst="rect">
            <a:avLst/>
          </a:prstGeom>
          <a:noFill/>
        </p:spPr>
        <p:txBody>
          <a:bodyPr wrap="square" lIns="0" rIns="0" tIns="0" bIns="0">
            <a:spAutoFit/>
          </a:bodyPr>
          <a:lstStyle/>
          <a:p>
            <a:pPr>
              <a:spcAft>
                <a:spcPts val="300"/>
              </a:spcAft>
              <a:defRPr sz="850" b="0">
                <a:solidFill>
                  <a:srgbClr val="404040"/>
                </a:solidFill>
                <a:latin typeface="Lato"/>
              </a:defRPr>
            </a:pPr>
            <a:r>
              <a:t>Schematic markers, not customer locations. Volume screens are authored illustrations.</a:t>
            </a:r>
          </a:p>
        </p:txBody>
      </p:sp>
      <p:sp>
        <p:nvSpPr>
          <p:cNvPr id="3282" name="Illustrative screen stage 1"/>
          <p:cNvSpPr/>
          <p:nvPr/>
        </p:nvSpPr>
        <p:spPr>
          <a:xfrm>
            <a:off x="5248655" y="3200400"/>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1</a:t>
            </a:r>
          </a:p>
        </p:txBody>
      </p:sp>
      <p:sp>
        <p:nvSpPr>
          <p:cNvPr id="3283" name="Illustrative screen stage 2"/>
          <p:cNvSpPr/>
          <p:nvPr/>
        </p:nvSpPr>
        <p:spPr>
          <a:xfrm>
            <a:off x="6446519" y="3200400"/>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2</a:t>
            </a:r>
          </a:p>
        </p:txBody>
      </p:sp>
      <p:sp>
        <p:nvSpPr>
          <p:cNvPr id="3284" name="Illustrative screen stage 3"/>
          <p:cNvSpPr/>
          <p:nvPr/>
        </p:nvSpPr>
        <p:spPr>
          <a:xfrm>
            <a:off x="7644383" y="356300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3</a:t>
            </a:r>
          </a:p>
        </p:txBody>
      </p:sp>
      <p:sp>
        <p:nvSpPr>
          <p:cNvPr id="3285" name="Illustrative screen stage 4"/>
          <p:cNvSpPr/>
          <p:nvPr/>
        </p:nvSpPr>
        <p:spPr>
          <a:xfrm>
            <a:off x="8842248" y="407065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4</a:t>
            </a:r>
          </a:p>
        </p:txBody>
      </p:sp>
      <p:sp>
        <p:nvSpPr>
          <p:cNvPr id="3286" name="Illustrative screen stage 5"/>
          <p:cNvSpPr/>
          <p:nvPr/>
        </p:nvSpPr>
        <p:spPr>
          <a:xfrm>
            <a:off x="10040111" y="450578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0A2373"/>
                </a:solidFill>
                <a:latin typeface="Lato"/>
              </a:defRPr>
            </a:pPr>
            <a:r>
              <a:t>5</a:t>
            </a:r>
          </a:p>
        </p:txBody>
      </p:sp>
      <p:sp>
        <p:nvSpPr>
          <p:cNvPr id="3287" name="TextBox 3286"/>
          <p:cNvSpPr txBox="1"/>
          <p:nvPr/>
        </p:nvSpPr>
        <p:spPr>
          <a:xfrm>
            <a:off x="4846320" y="6217920"/>
            <a:ext cx="6263640" cy="164592"/>
          </a:xfrm>
          <a:prstGeom prst="rect">
            <a:avLst/>
          </a:prstGeom>
          <a:noFill/>
        </p:spPr>
        <p:txBody>
          <a:bodyPr wrap="square" lIns="0" rIns="0" tIns="0" bIns="0">
            <a:spAutoFit/>
          </a:bodyPr>
          <a:lstStyle/>
          <a:p>
            <a:pPr>
              <a:spcAft>
                <a:spcPts val="300"/>
              </a:spcAft>
              <a:defRPr sz="850" b="0">
                <a:solidFill>
                  <a:srgbClr val="404040"/>
                </a:solidFill>
                <a:latin typeface="Lato"/>
              </a:defRPr>
            </a:pPr>
            <a:r>
              <a:t>All volumes illustrative. Already served is assumed; 5.5 bn L/year remains an opportunity to test.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R6. Verify turnover before translating tankage into annual handling</a:t>
            </a:r>
          </a:p>
        </p:txBody>
      </p:sp>
      <p:sp>
        <p:nvSpPr>
          <p:cNvPr id="3" name="Slide Number Placeholder"/>
          <p:cNvSpPr>
            <a:spLocks noGrp="1"/>
          </p:cNvSpPr>
          <p:nvPr>
            <p:ph type="sldNum" sz="quarter" idx="12"/>
          </p:nvPr>
        </p:nvSpPr>
        <p:spPr/>
        <p:txBody>
          <a:bodyPr/>
          <a:lstStyle/>
          <a:p>
            <a:fld id="{7E7F711C-97BA-40E3-9241-F847592EEE63}"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12"/>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13"/>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601968"/>
            <a:ext cx="9326880" cy="118872"/>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sales; published site inventory; Blackmer/Dover 2013; Wood Mackenzie 2009. Turnover cases authored.</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Annual demand and gross handling equivalent | million m³/year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5720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3"/>
              </a:rPr>
              <a:t>[1] Vopak</a:t>
            </a:r>
          </a:p>
        </p:txBody>
      </p:sp>
      <p:sp>
        <p:nvSpPr>
          <p:cNvPr id="62" name="TextBox 61"/>
          <p:cNvSpPr txBox="1"/>
          <p:nvPr/>
        </p:nvSpPr>
        <p:spPr>
          <a:xfrm>
            <a:off x="135331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4"/>
              </a:rPr>
              <a:t>[2] Bidvest</a:t>
            </a:r>
          </a:p>
        </p:txBody>
      </p:sp>
      <p:sp>
        <p:nvSpPr>
          <p:cNvPr id="63" name="TextBox 62"/>
          <p:cNvSpPr txBox="1"/>
          <p:nvPr/>
        </p:nvSpPr>
        <p:spPr>
          <a:xfrm>
            <a:off x="2249424"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5"/>
              </a:rPr>
              <a:t>[3] Burgan</a:t>
            </a:r>
          </a:p>
        </p:txBody>
      </p:sp>
      <p:sp>
        <p:nvSpPr>
          <p:cNvPr id="64" name="TextBox 63"/>
          <p:cNvSpPr txBox="1"/>
          <p:nvPr/>
        </p:nvSpPr>
        <p:spPr>
          <a:xfrm>
            <a:off x="3145536"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6"/>
              </a:rPr>
              <a:t>[4] Shell</a:t>
            </a:r>
          </a:p>
        </p:txBody>
      </p:sp>
      <p:sp>
        <p:nvSpPr>
          <p:cNvPr id="65" name="TextBox 64"/>
          <p:cNvSpPr txBox="1"/>
          <p:nvPr/>
        </p:nvSpPr>
        <p:spPr>
          <a:xfrm>
            <a:off x="4041648"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7"/>
              </a:rPr>
              <a:t>[5] NERSA</a:t>
            </a:r>
          </a:p>
        </p:txBody>
      </p:sp>
      <p:sp>
        <p:nvSpPr>
          <p:cNvPr id="66" name="TextBox 65"/>
          <p:cNvSpPr txBox="1"/>
          <p:nvPr/>
        </p:nvSpPr>
        <p:spPr>
          <a:xfrm>
            <a:off x="493776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8"/>
              </a:rPr>
              <a:t>[6] Sasol</a:t>
            </a:r>
          </a:p>
        </p:txBody>
      </p:sp>
      <p:sp>
        <p:nvSpPr>
          <p:cNvPr id="67" name="TextBox 66"/>
          <p:cNvSpPr txBox="1"/>
          <p:nvPr/>
        </p:nvSpPr>
        <p:spPr>
          <a:xfrm>
            <a:off x="583387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9"/>
              </a:rPr>
              <a:t>[7] Transnet</a:t>
            </a:r>
          </a:p>
        </p:txBody>
      </p:sp>
      <p:sp>
        <p:nvSpPr>
          <p:cNvPr id="12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cxnSp>
        <p:nvCxnSpPr>
          <p:cNvPr id="12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457200" y="2194560"/>
            <a:ext cx="6446520" cy="256032"/>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Base estimate: 2 turns/month; published gross tankage</a:t>
            </a:r>
          </a:p>
        </p:txBody>
      </p:sp>
      <p:sp>
        <p:nvSpPr>
          <p:cNvPr id="128" name="Demand legend"/>
          <p:cNvSpPr/>
          <p:nvPr/>
        </p:nvSpPr>
        <p:spPr>
          <a:xfrm>
            <a:off x="1920240" y="2596896"/>
            <a:ext cx="100584" cy="100584"/>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29" name="TextBox 128"/>
          <p:cNvSpPr txBox="1"/>
          <p:nvPr/>
        </p:nvSpPr>
        <p:spPr>
          <a:xfrm>
            <a:off x="2066543" y="2551176"/>
            <a:ext cx="137160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Reported demand</a:t>
            </a:r>
          </a:p>
        </p:txBody>
      </p:sp>
      <p:sp>
        <p:nvSpPr>
          <p:cNvPr id="130" name="Handling legend"/>
          <p:cNvSpPr/>
          <p:nvPr/>
        </p:nvSpPr>
        <p:spPr>
          <a:xfrm>
            <a:off x="3657600" y="2596896"/>
            <a:ext cx="100584" cy="10058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31" name="TextBox 130"/>
          <p:cNvSpPr txBox="1"/>
          <p:nvPr/>
        </p:nvSpPr>
        <p:spPr>
          <a:xfrm>
            <a:off x="3803904" y="2551176"/>
            <a:ext cx="128016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Vopak</a:t>
            </a:r>
          </a:p>
        </p:txBody>
      </p:sp>
      <p:sp>
        <p:nvSpPr>
          <p:cNvPr id="132" name="Handling legend"/>
          <p:cNvSpPr/>
          <p:nvPr/>
        </p:nvSpPr>
        <p:spPr>
          <a:xfrm>
            <a:off x="4663440" y="2596896"/>
            <a:ext cx="100584" cy="100584"/>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33" name="TextBox 132"/>
          <p:cNvSpPr txBox="1"/>
          <p:nvPr/>
        </p:nvSpPr>
        <p:spPr>
          <a:xfrm>
            <a:off x="4809744" y="2551176"/>
            <a:ext cx="128016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 listed</a:t>
            </a:r>
          </a:p>
        </p:txBody>
      </p:sp>
      <p:sp>
        <p:nvSpPr>
          <p:cNvPr id="134" name="TextBox 133"/>
          <p:cNvSpPr txBox="1"/>
          <p:nvPr/>
        </p:nvSpPr>
        <p:spPr>
          <a:xfrm>
            <a:off x="1920240" y="2798064"/>
            <a:ext cx="4480560" cy="210312"/>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Upper bar: reported demand; lower stack: estimated handling</a:t>
            </a:r>
          </a:p>
        </p:txBody>
      </p:sp>
      <p:sp>
        <p:nvSpPr>
          <p:cNvPr id="135" name="TextBox 134"/>
          <p:cNvSpPr txBox="1"/>
          <p:nvPr/>
        </p:nvSpPr>
        <p:spPr>
          <a:xfrm>
            <a:off x="1828800"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0</a:t>
            </a:r>
          </a:p>
        </p:txBody>
      </p:sp>
      <p:cxnSp>
        <p:nvCxnSpPr>
          <p:cNvPr id="136" name="Connector 135"/>
          <p:cNvCxnSpPr/>
          <p:nvPr/>
        </p:nvCxnSpPr>
        <p:spPr>
          <a:xfrm>
            <a:off x="1920240"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2952205"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10</a:t>
            </a:r>
          </a:p>
        </p:txBody>
      </p:sp>
      <p:cxnSp>
        <p:nvCxnSpPr>
          <p:cNvPr id="138" name="Connector 137"/>
          <p:cNvCxnSpPr/>
          <p:nvPr/>
        </p:nvCxnSpPr>
        <p:spPr>
          <a:xfrm>
            <a:off x="3043645"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4075611"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20</a:t>
            </a:r>
          </a:p>
        </p:txBody>
      </p:sp>
      <p:cxnSp>
        <p:nvCxnSpPr>
          <p:cNvPr id="140" name="Connector 139"/>
          <p:cNvCxnSpPr/>
          <p:nvPr/>
        </p:nvCxnSpPr>
        <p:spPr>
          <a:xfrm>
            <a:off x="4167051"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5199017"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30</a:t>
            </a:r>
          </a:p>
        </p:txBody>
      </p:sp>
      <p:cxnSp>
        <p:nvCxnSpPr>
          <p:cNvPr id="142" name="Connector 141"/>
          <p:cNvCxnSpPr/>
          <p:nvPr/>
        </p:nvCxnSpPr>
        <p:spPr>
          <a:xfrm>
            <a:off x="5290457"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457200" y="333756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Eastern coast</a:t>
            </a:r>
          </a:p>
        </p:txBody>
      </p:sp>
      <p:sp>
        <p:nvSpPr>
          <p:cNvPr id="144" name="TextBox 143"/>
          <p:cNvSpPr txBox="1"/>
          <p:nvPr/>
        </p:nvSpPr>
        <p:spPr>
          <a:xfrm>
            <a:off x="457200" y="360273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EC/KZN</a:t>
            </a:r>
          </a:p>
        </p:txBody>
      </p:sp>
      <p:sp>
        <p:nvSpPr>
          <p:cNvPr id="145" name="Reported annual demand Eastern coast"/>
          <p:cNvSpPr/>
          <p:nvPr/>
        </p:nvSpPr>
        <p:spPr>
          <a:xfrm>
            <a:off x="1920240" y="3337560"/>
            <a:ext cx="676287"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46" name="TextBox 145"/>
          <p:cNvSpPr txBox="1"/>
          <p:nvPr/>
        </p:nvSpPr>
        <p:spPr>
          <a:xfrm>
            <a:off x="2642247" y="330555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6.02</a:t>
            </a:r>
          </a:p>
        </p:txBody>
      </p:sp>
      <p:sp>
        <p:nvSpPr>
          <p:cNvPr id="147" name="Estimated base handling Eastern coast"/>
          <p:cNvSpPr/>
          <p:nvPr/>
        </p:nvSpPr>
        <p:spPr>
          <a:xfrm>
            <a:off x="1920240" y="3630168"/>
            <a:ext cx="971285"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48" name="Estimated base handling Eastern coast"/>
          <p:cNvSpPr/>
          <p:nvPr/>
        </p:nvSpPr>
        <p:spPr>
          <a:xfrm>
            <a:off x="2891525" y="3630168"/>
            <a:ext cx="2488846"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49" name="TextBox 148"/>
          <p:cNvSpPr txBox="1"/>
          <p:nvPr/>
        </p:nvSpPr>
        <p:spPr>
          <a:xfrm>
            <a:off x="5444379" y="360273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30.80</a:t>
            </a:r>
          </a:p>
        </p:txBody>
      </p:sp>
      <p:sp>
        <p:nvSpPr>
          <p:cNvPr id="150" name="TextBox 149"/>
          <p:cNvSpPr txBox="1"/>
          <p:nvPr/>
        </p:nvSpPr>
        <p:spPr>
          <a:xfrm>
            <a:off x="457200" y="393192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Inland</a:t>
            </a:r>
          </a:p>
        </p:txBody>
      </p:sp>
      <p:sp>
        <p:nvSpPr>
          <p:cNvPr id="151" name="TextBox 150"/>
          <p:cNvSpPr txBox="1"/>
          <p:nvPr/>
        </p:nvSpPr>
        <p:spPr>
          <a:xfrm>
            <a:off x="457200" y="419709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GP/FS/LP/MP/NW</a:t>
            </a:r>
          </a:p>
        </p:txBody>
      </p:sp>
      <p:sp>
        <p:nvSpPr>
          <p:cNvPr id="152" name="Reported annual demand Inland"/>
          <p:cNvSpPr/>
          <p:nvPr/>
        </p:nvSpPr>
        <p:spPr>
          <a:xfrm>
            <a:off x="1920240" y="3931920"/>
            <a:ext cx="129187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53" name="TextBox 152"/>
          <p:cNvSpPr txBox="1"/>
          <p:nvPr/>
        </p:nvSpPr>
        <p:spPr>
          <a:xfrm>
            <a:off x="3257835" y="3899915"/>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11.50</a:t>
            </a:r>
          </a:p>
        </p:txBody>
      </p:sp>
      <p:sp>
        <p:nvSpPr>
          <p:cNvPr id="154" name="Estimated base handling Inland"/>
          <p:cNvSpPr/>
          <p:nvPr/>
        </p:nvSpPr>
        <p:spPr>
          <a:xfrm>
            <a:off x="1920240" y="4224528"/>
            <a:ext cx="377464"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55" name="Estimated base handling Inland"/>
          <p:cNvSpPr/>
          <p:nvPr/>
        </p:nvSpPr>
        <p:spPr>
          <a:xfrm>
            <a:off x="2297704" y="4224528"/>
            <a:ext cx="87625"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56" name="TextBox 155"/>
          <p:cNvSpPr txBox="1"/>
          <p:nvPr/>
        </p:nvSpPr>
        <p:spPr>
          <a:xfrm>
            <a:off x="2449337" y="419709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4.14</a:t>
            </a:r>
          </a:p>
        </p:txBody>
      </p:sp>
      <p:sp>
        <p:nvSpPr>
          <p:cNvPr id="157" name="TextBox 156"/>
          <p:cNvSpPr txBox="1"/>
          <p:nvPr/>
        </p:nvSpPr>
        <p:spPr>
          <a:xfrm>
            <a:off x="457200" y="452628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Western coast</a:t>
            </a:r>
          </a:p>
        </p:txBody>
      </p:sp>
      <p:sp>
        <p:nvSpPr>
          <p:cNvPr id="158" name="TextBox 157"/>
          <p:cNvSpPr txBox="1"/>
          <p:nvPr/>
        </p:nvSpPr>
        <p:spPr>
          <a:xfrm>
            <a:off x="457200" y="479145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WC</a:t>
            </a:r>
          </a:p>
        </p:txBody>
      </p:sp>
      <p:sp>
        <p:nvSpPr>
          <p:cNvPr id="159" name="Reported annual demand Western coast"/>
          <p:cNvSpPr/>
          <p:nvPr/>
        </p:nvSpPr>
        <p:spPr>
          <a:xfrm>
            <a:off x="1920240" y="4526280"/>
            <a:ext cx="44158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60" name="TextBox 159"/>
          <p:cNvSpPr txBox="1"/>
          <p:nvPr/>
        </p:nvSpPr>
        <p:spPr>
          <a:xfrm>
            <a:off x="2407545" y="449427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3.93</a:t>
            </a:r>
          </a:p>
        </p:txBody>
      </p:sp>
      <p:sp>
        <p:nvSpPr>
          <p:cNvPr id="161" name="Estimated base handling Western coast"/>
          <p:cNvSpPr/>
          <p:nvPr/>
        </p:nvSpPr>
        <p:spPr>
          <a:xfrm>
            <a:off x="1920240" y="4818888"/>
            <a:ext cx="32893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62" name="TextBox 161"/>
          <p:cNvSpPr txBox="1"/>
          <p:nvPr/>
        </p:nvSpPr>
        <p:spPr>
          <a:xfrm>
            <a:off x="2313181" y="479145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2.93</a:t>
            </a:r>
          </a:p>
        </p:txBody>
      </p:sp>
      <p:sp>
        <p:nvSpPr>
          <p:cNvPr id="163" name="TextBox 162"/>
          <p:cNvSpPr txBox="1"/>
          <p:nvPr/>
        </p:nvSpPr>
        <p:spPr>
          <a:xfrm>
            <a:off x="457200" y="512064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a:t>
            </a:r>
          </a:p>
        </p:txBody>
      </p:sp>
      <p:sp>
        <p:nvSpPr>
          <p:cNvPr id="164" name="TextBox 163"/>
          <p:cNvSpPr txBox="1"/>
          <p:nvPr/>
        </p:nvSpPr>
        <p:spPr>
          <a:xfrm>
            <a:off x="457200" y="538581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Northern Cape</a:t>
            </a:r>
          </a:p>
        </p:txBody>
      </p:sp>
      <p:sp>
        <p:nvSpPr>
          <p:cNvPr id="165" name="Reported annual demand Other"/>
          <p:cNvSpPr/>
          <p:nvPr/>
        </p:nvSpPr>
        <p:spPr>
          <a:xfrm>
            <a:off x="1920240" y="5120640"/>
            <a:ext cx="50756"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66" name="TextBox 165"/>
          <p:cNvSpPr txBox="1"/>
          <p:nvPr/>
        </p:nvSpPr>
        <p:spPr>
          <a:xfrm>
            <a:off x="2016716" y="508863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0.45</a:t>
            </a:r>
          </a:p>
        </p:txBody>
      </p:sp>
      <p:sp>
        <p:nvSpPr>
          <p:cNvPr id="167" name="TextBox 166"/>
          <p:cNvSpPr txBox="1"/>
          <p:nvPr/>
        </p:nvSpPr>
        <p:spPr>
          <a:xfrm>
            <a:off x="1920240" y="5385816"/>
            <a:ext cx="347472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  inventory incomplete</a:t>
            </a:r>
          </a:p>
        </p:txBody>
      </p:sp>
      <p:sp>
        <p:nvSpPr>
          <p:cNvPr id="168" name="TextBox 167"/>
          <p:cNvSpPr txBox="1"/>
          <p:nvPr/>
        </p:nvSpPr>
        <p:spPr>
          <a:xfrm>
            <a:off x="457200" y="6007608"/>
            <a:ext cx="6446520" cy="228600"/>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Same annual scale. Gross tankage × monthly turns × 12; not available fuel supply.</a:t>
            </a:r>
          </a:p>
        </p:txBody>
      </p:sp>
      <p:sp>
        <p:nvSpPr>
          <p:cNvPr id="169" name="TextBox 168"/>
          <p:cNvSpPr txBox="1"/>
          <p:nvPr/>
        </p:nvSpPr>
        <p:spPr>
          <a:xfrm>
            <a:off x="457200" y="6199632"/>
            <a:ext cx="644652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2022 demand vs 2026 mixed-product inventory; incomplete coverage. No shortage or share conclusion.</a:t>
            </a:r>
          </a:p>
        </p:txBody>
      </p:sp>
      <p:sp>
        <p:nvSpPr>
          <p:cNvPr id="179"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80" name="TextBox 179"/>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181" name="Connector 180"/>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Test turnover against operating data</a:t>
            </a:r>
          </a:p>
        </p:txBody>
      </p:sp>
      <p:sp>
        <p:nvSpPr>
          <p:cNvPr id="183" name="TextBox 182"/>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Two monthly turns is an authored base, not a verified SA site rate. The appendix tests one and three turns.</a:t>
            </a:r>
          </a:p>
        </p:txBody>
      </p:sp>
      <p:sp>
        <p:nvSpPr>
          <p:cNvPr id="184" name="TextBox 183"/>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Estimate achievable handling</a:t>
            </a:r>
          </a:p>
        </p:txBody>
      </p:sp>
      <p:sp>
        <p:nvSpPr>
          <p:cNvPr id="185" name="TextBox 184"/>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Use compatible working space, downtime and receipt/dispatch limits. Gross tankage alone overstates what may be handled.</a:t>
            </a:r>
          </a:p>
        </p:txBody>
      </p:sp>
      <p:sp>
        <p:nvSpPr>
          <p:cNvPr id="186" name="TextBox 185"/>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Avoid a regional shortage conclusion</a:t>
            </a:r>
          </a:p>
        </p:txBody>
      </p:sp>
      <p:sp>
        <p:nvSpPr>
          <p:cNvPr id="187" name="TextBox 186"/>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Inland inventory omits material operators. Coastal tanks can serve inland demand, and transfers can count the same fuel twice.</a:t>
            </a:r>
          </a:p>
        </p:txBody>
      </p:sp>
      <p:cxnSp>
        <p:nvCxnSpPr>
          <p:cNvPr id="188" name="Connector 187"/>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89" name="TextBox 188"/>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90" name="TextBox 189"/>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verify working capacity and unique dispatch. Nigel: obtain site records. Replace common turns with site-specific evidence.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R7. Test spare space: the 5.5 bn litre example needs 211,000 m³ at 14 days</a:t>
            </a:r>
          </a:p>
        </p:txBody>
      </p:sp>
      <p:sp>
        <p:nvSpPr>
          <p:cNvPr id="3" name="Slide Number Placeholder"/>
          <p:cNvSpPr>
            <a:spLocks noGrp="1"/>
          </p:cNvSpPr>
          <p:nvPr>
            <p:ph type="sldNum" sz="quarter" idx="12"/>
          </p:nvPr>
        </p:nvSpPr>
        <p:spPr/>
        <p:txBody>
          <a:bodyPr/>
          <a:lstStyle/>
          <a:p>
            <a:fld id="{E04BCAAD-179C-4DA8-8005-B11F152F9172}" type="slidenum">
              <a:rPr lang="en-US"/>
              <a:t>‹#›</a:t>
            </a:fld>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5.5 bn L/year candidate example; authored inventory-day sensitivity, 6 Oct 2026. Not new-capacity sizing.</a:t>
            </a:r>
          </a:p>
        </p:txBody>
      </p:sp>
      <p:sp>
        <p:nvSpPr>
          <p:cNvPr id="54" name="TextBox 53"/>
          <p:cNvSpPr txBox="1"/>
          <p:nvPr/>
        </p:nvSpPr>
        <p:spPr>
          <a:xfrm>
            <a:off x="457200" y="1627632"/>
            <a:ext cx="4937760" cy="320040"/>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Working inventory, thousand m³</a:t>
            </a:r>
          </a:p>
        </p:txBody>
      </p:sp>
      <p:sp>
        <p:nvSpPr>
          <p:cNvPr id="55" name="TextBox 54"/>
          <p:cNvSpPr txBox="1"/>
          <p:nvPr/>
        </p:nvSpPr>
        <p:spPr>
          <a:xfrm>
            <a:off x="5486400" y="1664208"/>
            <a:ext cx="5623560" cy="274320"/>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Illustrative 5.5 bn litres/year from the opportunity waterfall</a:t>
            </a:r>
          </a:p>
        </p:txBody>
      </p:sp>
      <p:graphicFrame>
        <p:nvGraphicFramePr>
          <p:cNvPr id="56" name="Chart 55"/>
          <p:cNvGraphicFramePr>
            <a:graphicFrameLocks noGrp="1"/>
          </p:cNvGraphicFramePr>
          <p:nvPr/>
        </p:nvGraphicFramePr>
        <p:xfrm>
          <a:off x="457200" y="2084831"/>
          <a:ext cx="10652760" cy="3611880"/>
        </p:xfrm>
        <a:graphic>
          <a:graphicData uri="http://schemas.openxmlformats.org/drawingml/2006/chart">
            <c:chart xmlns:c="http://schemas.openxmlformats.org/drawingml/2006/chart" r:id="rId10"/>
          </a:graphicData>
        </a:graphic>
      </p:graphicFrame>
      <p:sp>
        <p:nvSpPr>
          <p:cNvPr id="57" name="TextBox 56"/>
          <p:cNvSpPr txBox="1"/>
          <p:nvPr/>
        </p:nvSpPr>
        <p:spPr>
          <a:xfrm>
            <a:off x="457200" y="5806440"/>
            <a:ext cx="10652760" cy="246888"/>
          </a:xfrm>
          <a:prstGeom prst="rect">
            <a:avLst/>
          </a:prstGeom>
          <a:noFill/>
        </p:spPr>
        <p:txBody>
          <a:bodyPr wrap="square" lIns="0" rIns="0" tIns="0" bIns="0">
            <a:spAutoFit/>
          </a:bodyPr>
          <a:lstStyle/>
          <a:p>
            <a:pPr>
              <a:spcAft>
                <a:spcPts val="300"/>
              </a:spcAft>
              <a:defRPr sz="1200" b="1">
                <a:solidFill>
                  <a:srgbClr val="404040"/>
                </a:solidFill>
                <a:latin typeface="Lato"/>
              </a:defRPr>
            </a:pPr>
            <a:r>
              <a:t>Inventory days</a:t>
            </a:r>
          </a:p>
        </p:txBody>
      </p:sp>
      <p:sp>
        <p:nvSpPr>
          <p:cNvPr id="58" name="TextBox 57"/>
          <p:cNvSpPr txBox="1"/>
          <p:nvPr/>
        </p:nvSpPr>
        <p:spPr>
          <a:xfrm>
            <a:off x="457200" y="6199632"/>
            <a:ext cx="10652760" cy="265176"/>
          </a:xfrm>
          <a:prstGeom prst="rect">
            <a:avLst/>
          </a:prstGeom>
          <a:noFill/>
        </p:spPr>
        <p:txBody>
          <a:bodyPr wrap="square" lIns="0" rIns="0" tIns="0" bIns="0">
            <a:spAutoFit/>
          </a:bodyPr>
          <a:lstStyle/>
          <a:p>
            <a:pPr>
              <a:spcAft>
                <a:spcPts val="300"/>
              </a:spcAft>
              <a:defRPr sz="1100" b="0">
                <a:solidFill>
                  <a:srgbClr val="404040"/>
                </a:solidFill>
                <a:latin typeface="Lato"/>
              </a:defRPr>
            </a:pPr>
            <a:r>
              <a:t>Working stock, not new capacity: allow for spare tanks, peaks, product segregation, tank heels and dispatch limits.</a:t>
            </a:r>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59"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R7. Win Durban and Lesedi customer flows before adding storage</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market hypotheses; demand, gateway and storage evidence on pp.4, 10–15. Customer capture remains unverified.</a:t>
            </a:r>
          </a:p>
        </p:txBody>
      </p:sp>
      <p:sp>
        <p:nvSpPr>
          <p:cNvPr id="17" name="TextBox 16"/>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Market outlook | priority hypotheses and conditional timing</a:t>
            </a:r>
          </a:p>
        </p:txBody>
      </p:sp>
      <p:cxnSp>
        <p:nvCxnSpPr>
          <p:cNvPr id="18" name="Connector 17"/>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9" name="Outlook icon: location"/>
          <p:cNvSpPr/>
          <p:nvPr/>
        </p:nvSpPr>
        <p:spPr>
          <a:xfrm>
            <a:off x="50292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Outlook icon: location"/>
          <p:cNvSpPr/>
          <p:nvPr/>
        </p:nvSpPr>
        <p:spPr>
          <a:xfrm>
            <a:off x="598932" y="2258568"/>
            <a:ext cx="64008" cy="64008"/>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1" name="Connector 20"/>
          <p:cNvCxnSpPr/>
          <p:nvPr/>
        </p:nvCxnSpPr>
        <p:spPr>
          <a:xfrm>
            <a:off x="566928"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630936"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Outlook icon: target"/>
          <p:cNvSpPr/>
          <p:nvPr/>
        </p:nvSpPr>
        <p:spPr>
          <a:xfrm>
            <a:off x="260604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Outlook icon: target"/>
          <p:cNvSpPr/>
          <p:nvPr/>
        </p:nvSpPr>
        <p:spPr>
          <a:xfrm>
            <a:off x="2670048" y="2258568"/>
            <a:ext cx="128016" cy="128016"/>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Outlook icon: clock"/>
          <p:cNvSpPr/>
          <p:nvPr/>
        </p:nvSpPr>
        <p:spPr>
          <a:xfrm>
            <a:off x="544068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6" name="Connector 25"/>
          <p:cNvCxnSpPr/>
          <p:nvPr/>
        </p:nvCxnSpPr>
        <p:spPr>
          <a:xfrm>
            <a:off x="5568696" y="2231136"/>
            <a:ext cx="0" cy="9144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568696" y="2322576"/>
            <a:ext cx="73152" cy="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28" name="Outlook icon: check"/>
          <p:cNvSpPr/>
          <p:nvPr/>
        </p:nvSpPr>
        <p:spPr>
          <a:xfrm>
            <a:off x="822960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9" name="Connector 28"/>
          <p:cNvCxnSpPr/>
          <p:nvPr/>
        </p:nvCxnSpPr>
        <p:spPr>
          <a:xfrm>
            <a:off x="8293608" y="2331720"/>
            <a:ext cx="45719" cy="4572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339327" y="2267712"/>
            <a:ext cx="91441"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graphicFrame>
        <p:nvGraphicFramePr>
          <p:cNvPr id="31" name="Table 30"/>
          <p:cNvGraphicFramePr>
            <a:graphicFrameLocks noGrp="1"/>
          </p:cNvGraphicFramePr>
          <p:nvPr/>
        </p:nvGraphicFramePr>
        <p:xfrm>
          <a:off x="457200" y="2606040"/>
          <a:ext cx="10652760" cy="2660904"/>
        </p:xfrm>
        <a:graphic>
          <a:graphicData uri="http://schemas.openxmlformats.org/drawingml/2006/table">
            <a:tbl>
              <a:tblPr firstRow="1" bandRow="1">
                <a:tableStyleId>{2D5ABB26-0587-4C30-8999-92F81FD0307C}</a:tableStyleId>
              </a:tblPr>
              <a:tblGrid>
                <a:gridCol w="2103120"/>
                <a:gridCol w="2834640"/>
                <a:gridCol w="2788920"/>
                <a:gridCol w="2926080"/>
              </a:tblGrid>
              <a:tr h="665226">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Matola / Walvis Bay port-storage gateways</a:t>
                      </a:r>
                    </a:p>
                    <a:p>
                      <a:pPr>
                        <a:spcAft>
                          <a:spcPts val="0"/>
                        </a:spcAft>
                        <a:defRPr sz="1150" b="0">
                          <a:solidFill>
                            <a:srgbClr val="000000"/>
                          </a:solidFill>
                          <a:latin typeface="Lato"/>
                        </a:defRPr>
                      </a:pPr>
                      <a:r>
                        <a:t>Compare inland supply routes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32" name="TextBox 3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Investment gate</a:t>
            </a:r>
          </a:p>
        </p:txBody>
      </p:sp>
      <p:sp>
        <p:nvSpPr>
          <p:cNvPr id="33" name="TextBox 3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New storage follows secured incremental flows and a gap in usable capacity; the illustrative 5.5 bn litres does not establish a commitment.</a:t>
            </a:r>
          </a:p>
        </p:txBody>
      </p:sp>
      <p:sp>
        <p:nvSpPr>
          <p:cNvPr id="34" name="TextBox 3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rPr>
                <a:solidFill/>
              </a:rPr>
              <a:t>Nigel: Choose the first customer/product and acceptable cost. Confirm the service proposition and commercial access.</a:t>
            </a:r>
          </a:p>
        </p:txBody>
      </p:sp>
      <p:sp>
        <p:nvSpPr>
          <p:cNvPr id="35" name="TextBox 3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rPr>
                <a:solidFill/>
              </a:rPr>
              <a:t>Manish: Build a customer-by-route evidence table: litres, cost, capacity, rights, timing and owner. Mark each gate passed, failed or unassessed.</a:t>
            </a:r>
          </a:p>
        </p:txBody>
      </p:sp>
      <p:sp>
        <p:nvSpPr>
          <p:cNvPr id="3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R7. Close evidence gaps through six-week gates and four proposed client checkpoints</a:t>
            </a:r>
          </a:p>
        </p:txBody>
      </p:sp>
      <p:sp>
        <p:nvSpPr>
          <p:cNvPr id="3" name="Slide Number Placeholder"/>
          <p:cNvSpPr>
            <a:spLocks noGrp="1"/>
          </p:cNvSpPr>
          <p:nvPr>
            <p:ph type="sldNum" sz="quarter" idx="12"/>
          </p:nvPr>
        </p:nvSpPr>
        <p:spPr/>
        <p:txBody>
          <a:bodyPr/>
          <a:lstStyle/>
          <a:p>
            <a:fld id="{B988A0AF-72EC-4E34-A901-4715D1F8BF57}" type="slidenum">
              <a:rPr lang="en-US"/>
              <a:t>‹#›</a:t>
            </a:fld>
          </a:p>
        </p:txBody>
      </p:sp>
      <p:sp>
        <p:nvSpPr>
          <p:cNvPr id="4" name="TextBox 3"/>
          <p:cNvSpPr txBox="1"/>
          <p:nvPr/>
        </p:nvSpPr>
        <p:spPr>
          <a:xfrm>
            <a:off x="457200" y="1627632"/>
            <a:ext cx="10652760" cy="310896"/>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Proposed delivery sequence | evidence gates and client touchpoints</a:t>
            </a:r>
          </a:p>
        </p:txBody>
      </p:sp>
      <p:graphicFrame>
        <p:nvGraphicFramePr>
          <p:cNvPr id="5" name="Table 4"/>
          <p:cNvGraphicFramePr>
            <a:graphicFrameLocks noGrp="1"/>
          </p:cNvGraphicFramePr>
          <p:nvPr/>
        </p:nvGraphicFramePr>
        <p:xfrm>
          <a:off x="457200" y="2167128"/>
          <a:ext cx="10652759" cy="2871216"/>
        </p:xfrm>
        <a:graphic>
          <a:graphicData uri="http://schemas.openxmlformats.org/drawingml/2006/table">
            <a:tbl>
              <a:tblPr firstRow="1" bandRow="1">
                <a:tableStyleId>{2D5ABB26-0587-4C30-8999-92F81FD0307C}</a:tableStyleId>
              </a:tblPr>
              <a:tblGrid>
                <a:gridCol w="3749039"/>
                <a:gridCol w="1691640"/>
                <a:gridCol w="868680"/>
                <a:gridCol w="868680"/>
                <a:gridCol w="868680"/>
                <a:gridCol w="868680"/>
                <a:gridCol w="868680"/>
                <a:gridCol w="868680"/>
              </a:tblGrid>
              <a:tr h="502920">
                <a:tc>
                  <a:txBody>
                    <a:bodyPr/>
                    <a:lstStyle/>
                    <a:p>
                      <a:pPr>
                        <a:spcAft>
                          <a:spcPts val="0"/>
                        </a:spcAft>
                        <a:defRPr sz="1000" b="1">
                          <a:solidFill>
                            <a:srgbClr val="000000"/>
                          </a:solidFill>
                          <a:latin typeface="Lato"/>
                        </a:defRPr>
                      </a:pPr>
                      <a:r>
                        <a:t>Activity / workstream</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Resources</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W1</a:t>
                      </a:r>
                    </a:p>
                    <a:p>
                      <a:pPr>
                        <a:spcAft>
                          <a:spcPts val="0"/>
                        </a:spcAft>
                        <a:defRPr sz="1000" b="1">
                          <a:solidFill>
                            <a:srgbClr val="000000"/>
                          </a:solidFill>
                          <a:latin typeface="Lato"/>
                        </a:defRPr>
                      </a:pPr>
                      <a:r>
                        <a:t>02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W2</a:t>
                      </a:r>
                    </a:p>
                    <a:p>
                      <a:pPr>
                        <a:spcAft>
                          <a:spcPts val="0"/>
                        </a:spcAft>
                        <a:defRPr sz="1000" b="1">
                          <a:solidFill>
                            <a:srgbClr val="000000"/>
                          </a:solidFill>
                          <a:latin typeface="Lato"/>
                        </a:defRPr>
                      </a:pPr>
                      <a:r>
                        <a:t>09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W3</a:t>
                      </a:r>
                    </a:p>
                    <a:p>
                      <a:pPr>
                        <a:spcAft>
                          <a:spcPts val="0"/>
                        </a:spcAft>
                        <a:defRPr sz="1000" b="1">
                          <a:solidFill>
                            <a:srgbClr val="000000"/>
                          </a:solidFill>
                          <a:latin typeface="Lato"/>
                        </a:defRPr>
                      </a:pPr>
                      <a:r>
                        <a:t>16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W4</a:t>
                      </a:r>
                    </a:p>
                    <a:p>
                      <a:pPr>
                        <a:spcAft>
                          <a:spcPts val="0"/>
                        </a:spcAft>
                        <a:defRPr sz="1000" b="1">
                          <a:solidFill>
                            <a:srgbClr val="000000"/>
                          </a:solidFill>
                          <a:latin typeface="Lato"/>
                        </a:defRPr>
                      </a:pPr>
                      <a:r>
                        <a:t>23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W5</a:t>
                      </a:r>
                    </a:p>
                    <a:p>
                      <a:pPr>
                        <a:spcAft>
                          <a:spcPts val="0"/>
                        </a:spcAft>
                        <a:defRPr sz="1000" b="1">
                          <a:solidFill>
                            <a:srgbClr val="000000"/>
                          </a:solidFill>
                          <a:latin typeface="Lato"/>
                        </a:defRPr>
                      </a:pPr>
                      <a:r>
                        <a:t>30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W6</a:t>
                      </a:r>
                    </a:p>
                    <a:p>
                      <a:pPr>
                        <a:spcAft>
                          <a:spcPts val="0"/>
                        </a:spcAft>
                        <a:defRPr sz="1000" b="1">
                          <a:solidFill>
                            <a:srgbClr val="000000"/>
                          </a:solidFill>
                          <a:latin typeface="Lato"/>
                        </a:defRPr>
                      </a:pPr>
                      <a:r>
                        <a:t>06 Nov</a:t>
                      </a: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1  Establish the fuel baseline</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Nigel</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2  Test demand and supply cases</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3  Prove reach and handling</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Nigel</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4  Quantify customer opportunity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Manish</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5  Test working stock and constraints</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6  Challenge, reproduce and hand over</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r>
              <a:tr h="338328">
                <a:tc>
                  <a:txBody>
                    <a:bodyPr/>
                    <a:lstStyle/>
                    <a:p>
                      <a:pPr>
                        <a:spcAft>
                          <a:spcPts val="0"/>
                        </a:spcAft>
                        <a:defRPr sz="1000" b="0">
                          <a:solidFill>
                            <a:srgbClr val="000000"/>
                          </a:solidFill>
                          <a:latin typeface="Lato"/>
                        </a:defRPr>
                      </a:pPr>
                      <a:r>
                        <a:t>Storyline and evidence integration</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Manish</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r>
            </a:tbl>
          </a:graphicData>
        </a:graphic>
      </p:graphicFrame>
      <p:sp>
        <p:nvSpPr>
          <p:cNvPr id="6" name="TextBox 5"/>
          <p:cNvSpPr txBox="1"/>
          <p:nvPr/>
        </p:nvSpPr>
        <p:spPr>
          <a:xfrm>
            <a:off x="457200" y="5212080"/>
            <a:ext cx="2651760" cy="237744"/>
          </a:xfrm>
          <a:prstGeom prst="rect">
            <a:avLst/>
          </a:prstGeom>
          <a:noFill/>
        </p:spPr>
        <p:txBody>
          <a:bodyPr wrap="square" lIns="0" rIns="0" tIns="0" bIns="0">
            <a:spAutoFit/>
          </a:bodyPr>
          <a:lstStyle/>
          <a:p>
            <a:pPr>
              <a:spcAft>
                <a:spcPts val="300"/>
              </a:spcAft>
              <a:defRPr sz="1100" b="1">
                <a:solidFill>
                  <a:srgbClr val="404040"/>
                </a:solidFill>
                <a:latin typeface="Lato"/>
              </a:defRPr>
            </a:pPr>
            <a:r>
              <a:t>Client touchpoints</a:t>
            </a:r>
          </a:p>
        </p:txBody>
      </p:sp>
      <p:sp>
        <p:nvSpPr>
          <p:cNvPr id="7" name="Diamond 6"/>
          <p:cNvSpPr/>
          <p:nvPr/>
        </p:nvSpPr>
        <p:spPr>
          <a:xfrm>
            <a:off x="6254495"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71031"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Scope /</a:t>
            </a:r>
          </a:p>
          <a:p>
            <a:pPr>
              <a:spcAft>
                <a:spcPts val="300"/>
              </a:spcAft>
              <a:defRPr sz="850" b="0">
                <a:solidFill>
                  <a:srgbClr val="404040"/>
                </a:solidFill>
                <a:latin typeface="Lato"/>
              </a:defRPr>
            </a:pPr>
            <a:r>
              <a:t>data</a:t>
            </a:r>
          </a:p>
        </p:txBody>
      </p:sp>
      <p:sp>
        <p:nvSpPr>
          <p:cNvPr id="9" name="Diamond 8"/>
          <p:cNvSpPr/>
          <p:nvPr/>
        </p:nvSpPr>
        <p:spPr>
          <a:xfrm>
            <a:off x="799185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Emerging</a:t>
            </a:r>
          </a:p>
          <a:p>
            <a:pPr>
              <a:spcAft>
                <a:spcPts val="300"/>
              </a:spcAft>
              <a:defRPr sz="850" b="0">
                <a:solidFill>
                  <a:srgbClr val="404040"/>
                </a:solidFill>
                <a:latin typeface="Lato"/>
              </a:defRPr>
            </a:pPr>
            <a:r>
              <a:t>findings</a:t>
            </a:r>
          </a:p>
        </p:txBody>
      </p:sp>
      <p:sp>
        <p:nvSpPr>
          <p:cNvPr id="11" name="Diamond 10"/>
          <p:cNvSpPr/>
          <p:nvPr/>
        </p:nvSpPr>
        <p:spPr>
          <a:xfrm>
            <a:off x="972921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4575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Draft</a:t>
            </a:r>
          </a:p>
          <a:p>
            <a:pPr>
              <a:spcAft>
                <a:spcPts val="300"/>
              </a:spcAft>
              <a:defRPr sz="850" b="0">
                <a:solidFill>
                  <a:srgbClr val="404040"/>
                </a:solidFill>
                <a:latin typeface="Lato"/>
              </a:defRPr>
            </a:pPr>
            <a:r>
              <a:t>implications</a:t>
            </a:r>
          </a:p>
        </p:txBody>
      </p:sp>
      <p:sp>
        <p:nvSpPr>
          <p:cNvPr id="13" name="Diamond 12"/>
          <p:cNvSpPr/>
          <p:nvPr/>
        </p:nvSpPr>
        <p:spPr>
          <a:xfrm>
            <a:off x="1059789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1443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Final</a:t>
            </a:r>
          </a:p>
          <a:p>
            <a:pPr>
              <a:spcAft>
                <a:spcPts val="300"/>
              </a:spcAft>
              <a:defRPr sz="850" b="0">
                <a:solidFill>
                  <a:srgbClr val="404040"/>
                </a:solidFill>
                <a:latin typeface="Lato"/>
              </a:defRPr>
            </a:pPr>
            <a:r>
              <a:t>review</a:t>
            </a:r>
          </a:p>
        </p:txBody>
      </p:sp>
      <p:sp>
        <p:nvSpPr>
          <p:cNvPr id="15" name="TextBox 14"/>
          <p:cNvSpPr txBox="1"/>
          <p:nvPr/>
        </p:nvSpPr>
        <p:spPr>
          <a:xfrm>
            <a:off x="457200" y="5879592"/>
            <a:ext cx="10652760" cy="256032"/>
          </a:xfrm>
          <a:prstGeom prst="rect">
            <a:avLst/>
          </a:prstGeom>
          <a:noFill/>
        </p:spPr>
        <p:txBody>
          <a:bodyPr wrap="square" lIns="0" rIns="0" tIns="0" bIns="0">
            <a:spAutoFit/>
          </a:bodyPr>
          <a:lstStyle/>
          <a:p>
            <a:pPr>
              <a:spcAft>
                <a:spcPts val="300"/>
              </a:spcAft>
              <a:defRPr sz="1050" b="1">
                <a:solidFill>
                  <a:srgbClr val="404040"/>
                </a:solidFill>
                <a:latin typeface="Lato"/>
              </a:defRPr>
            </a:pPr>
            <a:r>
              <a:t>Week 1 check: baseline reproduced and evidence assembled; reconciliation and acceptance remain open.</a:t>
            </a:r>
          </a:p>
        </p:txBody>
      </p:sp>
      <p:sp>
        <p:nvSpPr>
          <p:cNvPr id="16" name="TextBox 15"/>
          <p:cNvSpPr txBox="1"/>
          <p:nvPr/>
        </p:nvSpPr>
        <p:spPr>
          <a:xfrm>
            <a:off x="457200" y="6199632"/>
            <a:ext cx="1065276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t>Weekly technical / partner reviews; client W1 / W3 / W5 / W6. ◆ = proposed gate or touchpoint. Handover target: 12 Nov; dates to agree.</a:t>
            </a:r>
          </a:p>
        </p:txBody>
      </p:sp>
      <p:sp>
        <p:nvSpPr>
          <p:cNvPr id="17"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Kickoff pack pp23–27; six_week_plan.md (fuel-first update). Proposed workplan; no review or client approval inferred.</a:t>
            </a:r>
          </a:p>
        </p:txBody>
      </p:sp>
      <p:sp>
        <p:nvSpPr>
          <p:cNvPr id="19"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20"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21"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22"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1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Appendix</a:t>
            </a:r>
          </a:p>
        </p:txBody>
      </p:sp>
      <p:sp>
        <p:nvSpPr>
          <p:cNvPr id="3" name="Slide Number Placeholder"/>
          <p:cNvSpPr>
            <a:spLocks noGrp="1"/>
          </p:cNvSpPr>
          <p:nvPr>
            <p:ph type="sldNum" sz="quarter" idx="12"/>
          </p:nvPr>
        </p:nvSpPr>
        <p:spPr/>
        <p:txBody>
          <a:bodyPr/>
          <a:lstStyle/>
          <a:p>
            <a:fld id="{19770746-CEF7-4947-8A2B-FE64986CC45A}" type="slidenum">
              <a:rPr lang="en-US"/>
              <a:t>‹#›</a:t>
            </a:fld>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2267712"/>
            <a:ext cx="10652760" cy="502920"/>
          </a:xfrm>
          <a:prstGeom prst="rect">
            <a:avLst/>
          </a:prstGeom>
          <a:noFill/>
        </p:spPr>
        <p:txBody>
          <a:bodyPr wrap="square" lIns="0" rIns="0" tIns="0" bIns="0">
            <a:spAutoFit/>
          </a:bodyPr>
          <a:lstStyle/>
          <a:p>
            <a:pPr>
              <a:spcAft>
                <a:spcPts val="300"/>
              </a:spcAft>
              <a:defRPr sz="2400" b="1">
                <a:solidFill>
                  <a:srgbClr val="404040"/>
                </a:solidFill>
                <a:latin typeface="Lato"/>
              </a:defRPr>
            </a:pPr>
            <a:r>
              <a:t>The main story ends with the outlook and delivery roadmap.</a:t>
            </a:r>
          </a:p>
        </p:txBody>
      </p:sp>
      <p:sp>
        <p:nvSpPr>
          <p:cNvPr id="6" name="TextBox 5"/>
          <p:cNvSpPr txBox="1"/>
          <p:nvPr/>
        </p:nvSpPr>
        <p:spPr>
          <a:xfrm>
            <a:off x="457200" y="3017520"/>
            <a:ext cx="10652760" cy="822960"/>
          </a:xfrm>
          <a:prstGeom prst="rect">
            <a:avLst/>
          </a:prstGeom>
          <a:noFill/>
        </p:spPr>
        <p:txBody>
          <a:bodyPr wrap="square" lIns="0" rIns="0" tIns="0" bIns="0">
            <a:spAutoFit/>
          </a:bodyPr>
          <a:lstStyle/>
          <a:p>
            <a:pPr>
              <a:spcAft>
                <a:spcPts val="300"/>
              </a:spcAft>
              <a:defRPr sz="1900" b="0">
                <a:solidFill>
                  <a:srgbClr val="404040"/>
                </a:solidFill>
                <a:latin typeface="Lato"/>
              </a:defRPr>
            </a:pPr>
            <a:r>
              <a:t>Turnover sensitivity · Henry storyboard responses · presentation palette</a:t>
            </a:r>
          </a:p>
        </p:txBody>
      </p:sp>
      <p:sp>
        <p:nvSpPr>
          <p:cNvPr id="7" name="TextBox 6"/>
          <p:cNvSpPr txBox="1"/>
          <p:nvPr/>
        </p:nvSpPr>
        <p:spPr>
          <a:xfrm>
            <a:off x="457200" y="4937760"/>
            <a:ext cx="9875520" cy="640080"/>
          </a:xfrm>
          <a:prstGeom prst="rect">
            <a:avLst/>
          </a:prstGeom>
          <a:noFill/>
        </p:spPr>
        <p:txBody>
          <a:bodyPr wrap="square" lIns="0" rIns="0" tIns="0" bIns="0">
            <a:spAutoFit/>
          </a:bodyPr>
          <a:lstStyle/>
          <a:p>
            <a:pPr>
              <a:spcAft>
                <a:spcPts val="300"/>
              </a:spcAft>
              <a:defRPr sz="1500" b="0">
                <a:solidFill>
                  <a:srgbClr val="404040"/>
                </a:solidFill>
                <a:latin typeface="Lato"/>
              </a:defRPr>
            </a:pPr>
            <a:r>
              <a:t>Use the supporting material to trace the evidence, assumptions and remaining work behind the outlook.</a:t>
            </a:r>
          </a:p>
        </p:txBody>
      </p:sp>
      <p:sp>
        <p:nvSpPr>
          <p:cNvPr id="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Supporting sensitivity | monthly turns change estimated annual handling</a:t>
            </a:r>
          </a:p>
        </p:txBody>
      </p:sp>
      <p:sp>
        <p:nvSpPr>
          <p:cNvPr id="3" name="Slide Number Placeholder"/>
          <p:cNvSpPr>
            <a:spLocks noGrp="1"/>
          </p:cNvSpPr>
          <p:nvPr>
            <p:ph type="sldNum" sz="quarter" idx="12"/>
          </p:nvPr>
        </p:nvSpPr>
        <p:spPr/>
        <p:txBody>
          <a:bodyPr/>
          <a:lstStyle/>
          <a:p>
            <a:fld id="{F1552B03-D718-42C7-9BB4-52946AEA835F}" type="slidenum">
              <a:rPr lang="en-US"/>
              <a:t>‹#›</a:t>
            </a:fld>
          </a:p>
        </p:txBody>
      </p:sp>
      <p:sp>
        <p:nvSpPr>
          <p:cNvPr id="4" name="TextBox 3"/>
          <p:cNvSpPr txBox="1"/>
          <p:nvPr/>
        </p:nvSpPr>
        <p:spPr>
          <a:xfrm>
            <a:off x="457200" y="1627632"/>
            <a:ext cx="10652760" cy="365760"/>
          </a:xfrm>
          <a:prstGeom prst="rect">
            <a:avLst/>
          </a:prstGeom>
          <a:noFill/>
        </p:spPr>
        <p:txBody>
          <a:bodyPr wrap="square" lIns="0" rIns="0" tIns="0" bIns="0">
            <a:spAutoFit/>
          </a:bodyPr>
          <a:lstStyle/>
          <a:p>
            <a:pPr>
              <a:spcAft>
                <a:spcPts val="300"/>
              </a:spcAft>
              <a:defRPr sz="1400" b="1">
                <a:solidFill>
                  <a:srgbClr val="404040"/>
                </a:solidFill>
                <a:latin typeface="Lato"/>
              </a:defRPr>
            </a:pPr>
            <a:r>
              <a:t>Gross handling equivalent, million m³/year | authored 1 / 2 / 3 monthly-turn cases</a:t>
            </a:r>
          </a:p>
        </p:txBody>
      </p:sp>
      <p:graphicFrame>
        <p:nvGraphicFramePr>
          <p:cNvPr id="5" name="Table 4"/>
          <p:cNvGraphicFramePr>
            <a:graphicFrameLocks noGrp="1"/>
          </p:cNvGraphicFramePr>
          <p:nvPr/>
        </p:nvGraphicFramePr>
        <p:xfrm>
          <a:off x="457200" y="2423160"/>
          <a:ext cx="10652760" cy="2286000"/>
        </p:xfrm>
        <a:graphic>
          <a:graphicData uri="http://schemas.openxmlformats.org/drawingml/2006/table">
            <a:tbl>
              <a:tblPr firstRow="1" bandRow="1">
                <a:tableStyleId>{2D5ABB26-0587-4C30-8999-92F81FD0307C}</a:tableStyleId>
              </a:tblPr>
              <a:tblGrid>
                <a:gridCol w="2788920"/>
                <a:gridCol w="2606040"/>
                <a:gridCol w="2606040"/>
                <a:gridCol w="2651760"/>
              </a:tblGrid>
              <a:tr h="457200">
                <a:tc>
                  <a:txBody>
                    <a:bodyPr/>
                    <a:lstStyle/>
                    <a:p>
                      <a:pPr>
                        <a:spcAft>
                          <a:spcPts val="0"/>
                        </a:spcAft>
                        <a:defRPr sz="1300" b="1">
                          <a:solidFill>
                            <a:srgbClr val="000000"/>
                          </a:solidFill>
                          <a:latin typeface="Lato"/>
                        </a:defRPr>
                      </a:pPr>
                      <a:r>
                        <a:t>Region</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Low: 1 turn/month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Base: 2 turns/month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High: 3 turns/month</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Eastern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15.40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30.80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46.20</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Inland</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2.07</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4.14</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6.21</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Western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1.46</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2.93</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4.39</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Other / NC</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r>
            </a:tbl>
          </a:graphicData>
        </a:graphic>
      </p:graphicFrame>
      <p:sp>
        <p:nvSpPr>
          <p:cNvPr id="6" name="TextBox 5"/>
          <p:cNvSpPr txBox="1"/>
          <p:nvPr/>
        </p:nvSpPr>
        <p:spPr>
          <a:xfrm>
            <a:off x="457200" y="5047488"/>
            <a:ext cx="10652760" cy="320040"/>
          </a:xfrm>
          <a:prstGeom prst="rect">
            <a:avLst/>
          </a:prstGeom>
          <a:noFill/>
        </p:spPr>
        <p:txBody>
          <a:bodyPr wrap="square" lIns="0" rIns="0" tIns="0" bIns="0">
            <a:spAutoFit/>
          </a:bodyPr>
          <a:lstStyle/>
          <a:p>
            <a:pPr>
              <a:spcAft>
                <a:spcPts val="300"/>
              </a:spcAft>
              <a:defRPr sz="1500" b="1">
                <a:solidFill>
                  <a:srgbClr val="404040"/>
                </a:solidFill>
                <a:latin typeface="Lato"/>
              </a:defRPr>
            </a:pPr>
            <a:r>
              <a:t>Annual handling = gross tankage × monthly turns × 12</a:t>
            </a:r>
          </a:p>
        </p:txBody>
      </p:sp>
      <p:sp>
        <p:nvSpPr>
          <p:cNvPr id="7" name="TextBox 6"/>
          <p:cNvSpPr txBox="1"/>
          <p:nvPr/>
        </p:nvSpPr>
        <p:spPr>
          <a:xfrm>
            <a:off x="457200" y="5541264"/>
            <a:ext cx="10652760" cy="502920"/>
          </a:xfrm>
          <a:prstGeom prst="rect">
            <a:avLst/>
          </a:prstGeom>
          <a:noFill/>
        </p:spPr>
        <p:txBody>
          <a:bodyPr wrap="square" lIns="0" rIns="0" tIns="0" bIns="0">
            <a:spAutoFit/>
          </a:bodyPr>
          <a:lstStyle/>
          <a:p>
            <a:pPr>
              <a:spcAft>
                <a:spcPts val="300"/>
              </a:spcAft>
              <a:defRPr sz="1200" b="0">
                <a:solidFill>
                  <a:srgbClr val="404040"/>
                </a:solidFill>
                <a:latin typeface="Lato"/>
              </a:defRPr>
            </a:pPr>
            <a:r>
              <a:t>Two turns/month is an authored base. The range is informed by generic industry material, not measured SA site performance. Replace with compatible working capacity and unique outbound volumes.</a:t>
            </a:r>
          </a:p>
        </p:txBody>
      </p:sp>
      <p:sp>
        <p:nvSpPr>
          <p:cNvPr id="8" name="TextBox 7"/>
          <p:cNvSpPr txBox="1"/>
          <p:nvPr/>
        </p:nvSpPr>
        <p:spPr>
          <a:xfrm>
            <a:off x="457200" y="6199632"/>
            <a:ext cx="10652760" cy="256032"/>
          </a:xfrm>
          <a:prstGeom prst="rect">
            <a:avLst/>
          </a:prstGeom>
          <a:noFill/>
        </p:spPr>
        <p:txBody>
          <a:bodyPr wrap="square" lIns="0" rIns="0" tIns="0" bIns="0">
            <a:spAutoFit/>
          </a:bodyPr>
          <a:lstStyle/>
          <a:p>
            <a:pPr>
              <a:spcAft>
                <a:spcPts val="300"/>
              </a:spcAft>
              <a:defRPr sz="900" b="0">
                <a:solidFill>
                  <a:srgbClr val="404040"/>
                </a:solidFill>
                <a:latin typeface="Lato"/>
              </a:defRPr>
            </a:pPr>
            <a:r>
              <a:t>Partial inventory and mixed products; no available-supply, regional-shortage or market-share conclusion. Coastal/inland handling can count the same transferred fuel twice.</a:t>
            </a:r>
          </a:p>
        </p:txBody>
      </p:sp>
      <p:sp>
        <p:nvSpPr>
          <p:cNvPr id="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terminal_handling.yaml; site inventory; Blackmer/Dover 2013 and Wood Mackenzie 2009. Owner: Manish / Nigel.</a:t>
            </a:r>
          </a:p>
        </p:txBody>
      </p:sp>
      <p:sp>
        <p:nvSpPr>
          <p:cNvPr id="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 S2 / S/C3 / C4. Henry storyboard answers | Market baseline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2"/>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8"/>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reported 2024 sales are 20.763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3" action="ppaction://hlinksldjump"/>
                        </a:rPr>
                        <a:t> / 5</a:t>
                      </a:r>
                      <a:r>
                        <a:rPr sz="1050">
                          <a:solidFill>
                            <a:srgbClr val="0A2373"/>
                          </a:solidFill>
                          <a:latin typeface="Lato"/>
                          <a:hlinkClick r:id="rId4" action="ppaction://hlinksldjump"/>
                        </a:rPr>
                        <a:t> / 6</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5</a:t>
                      </a:r>
                      <a:r>
                        <a:rPr sz="1050">
                          <a:solidFill>
                            <a:srgbClr val="0A2373"/>
                          </a:solidFill>
                          <a:latin typeface="Lato"/>
                          <a:hlinkClick r:id="rId5" action="ppaction://hlinksldjump"/>
                        </a:rPr>
                        <a:t> / 11</a:t>
                      </a:r>
                      <a:r>
                        <a:rPr sz="1050">
                          <a:solidFill>
                            <a:srgbClr val="0A2373"/>
                          </a:solidFill>
                          <a:latin typeface="Lato"/>
                          <a:hlinkClick r:id="rId6" action="ppaction://hlinksldjump"/>
                        </a:rPr>
                        <a:t> / 14</a:t>
                      </a:r>
                      <a:r>
                        <a:rPr sz="1050">
                          <a:solidFill>
                            <a:srgbClr val="0A2373"/>
                          </a:solidFill>
                          <a:latin typeface="Lato"/>
                          <a:hlinkClick r:id="rId7" action="ppaction://hlinksldjump"/>
                        </a:rPr>
                        <a:t> / 15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9</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9</a:t>
                      </a:r>
                      <a:r>
                        <a:rPr sz="1050">
                          <a:solidFill>
                            <a:srgbClr val="0A2373"/>
                          </a:solidFill>
                          <a:latin typeface="Lato"/>
                          <a:hlinkClick r:id="rId9" action="ppaction://hlinksldjump"/>
                        </a:rPr>
                        <a:t> / 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11" action="ppaction://hlinksldjump"/>
                        </a:rPr>
                        <a:t> / 7</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 C5. Henry storyboard answers | Market changes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2"/>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2"/>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9</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9</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9</a:t>
                      </a:r>
                      <a:r>
                        <a:rPr sz="1050">
                          <a:solidFill>
                            <a:srgbClr val="0A2373"/>
                          </a:solidFill>
                          <a:latin typeface="Lato"/>
                          <a:hlinkClick r:id="rId3" action="ppaction://hlinksldjump"/>
                        </a:rPr>
                        <a:t> / 10</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11</a:t>
                      </a:r>
                      <a:r>
                        <a:rPr sz="1050">
                          <a:solidFill>
                            <a:srgbClr val="0A2373"/>
                          </a:solidFill>
                          <a:latin typeface="Lato"/>
                          <a:hlinkClick r:id="rId6" action="ppaction://hlinksldjump"/>
                        </a:rPr>
                        <a:t> / 12</a:t>
                      </a:r>
                      <a:r>
                        <a:rPr sz="1050">
                          <a:solidFill>
                            <a:srgbClr val="0A2373"/>
                          </a:solidFill>
                          <a:latin typeface="Lato"/>
                          <a:hlinkClick r:id="rId7" action="ppaction://hlinksldjump"/>
                        </a:rPr>
                        <a:t> / 15</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12</a:t>
                      </a:r>
                      <a:r>
                        <a:rPr sz="1050">
                          <a:solidFill>
                            <a:srgbClr val="0A2373"/>
                          </a:solidFill>
                          <a:latin typeface="Lato"/>
                          <a:hlinkClick r:id="rId7" action="ppaction://hlinksldjump"/>
                        </a:rPr>
                        <a:t> / 15</a:t>
                      </a:r>
                      <a:r>
                        <a:rPr sz="1050">
                          <a:solidFill>
                            <a:srgbClr val="0A2373"/>
                          </a:solidFill>
                          <a:latin typeface="Lato"/>
                          <a:hlinkClick r:id="rId8" action="ppaction://hlinksldjump"/>
                        </a:rPr>
                        <a:t> / 18</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 R7. Henry storyboard answers | Vopak outlook</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9"/>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0"/>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1"/>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2"/>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14</a:t>
                      </a:r>
                      <a:r>
                        <a:rPr sz="1050">
                          <a:solidFill>
                            <a:srgbClr val="0A2373"/>
                          </a:solidFill>
                          <a:latin typeface="Lato"/>
                          <a:hlinkClick r:id="rId3" action="ppaction://hlinksldjump"/>
                        </a:rPr>
                        <a:t> / 16</a:t>
                      </a:r>
                      <a:r>
                        <a:rPr sz="1050">
                          <a:solidFill>
                            <a:srgbClr val="0A2373"/>
                          </a:solidFill>
                          <a:latin typeface="Lato"/>
                          <a:hlinkClick r:id="rId4" action="ppaction://hlinksldjump"/>
                        </a:rPr>
                        <a:t> / 15</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13</a:t>
                      </a:r>
                      <a:r>
                        <a:rPr sz="1050">
                          <a:solidFill>
                            <a:srgbClr val="0A2373"/>
                          </a:solidFill>
                          <a:latin typeface="Lato"/>
                          <a:hlinkClick r:id="rId6" action="ppaction://hlinksldjump"/>
                        </a:rPr>
                        <a:t> / 18</a:t>
                      </a:r>
                      <a:r>
                        <a:rPr sz="1050">
                          <a:solidFill>
                            <a:srgbClr val="0A2373"/>
                          </a:solidFill>
                          <a:latin typeface="Lato"/>
                          <a:hlinkClick r:id="rId7" action="ppaction://hlinksldjump"/>
                        </a:rPr>
                        <a:t> / 17</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Agree priorities</a:t>
            </a:r>
          </a:p>
          <a:p>
            <a:pPr>
              <a:spcAft>
                <a:spcPts val="800"/>
              </a:spcAft>
              <a:defRPr sz="3100" b="0">
                <a:solidFill>
                  <a:srgbClr val="FFFFFF"/>
                </a:solidFill>
                <a:latin typeface="Lato"/>
              </a:defRPr>
            </a:pPr>
            <a:r>
              <a:rPr>
                <a:solidFill>
                  <a:srgbClr val="FFFFFF"/>
                </a:solidFill>
              </a:rP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Lesedi | vopak.com</a:t>
            </a:r>
          </a:p>
        </p:txBody>
      </p:sp>
      <p:sp>
        <p:nvSpPr>
          <p:cNvPr id="1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623304AF-E370-4B99-B8E8-8458BC58B400}"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#D9D9D9</a:t>
            </a:r>
          </a:p>
        </p:txBody>
      </p:sp>
      <p:sp>
        <p:nvSpPr>
          <p:cNvPr id="6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Typeface: Lato. Sales colours show totals, not density or market share. Grey denotes unassessed demand.</a:t>
            </a:r>
          </a:p>
          <a:p>
            <a:pPr>
              <a:lnSpc>
                <a:spcPts val="900"/>
              </a:lnSpc>
              <a:spcBef>
                <a:spcPts val="0"/>
              </a:spcBef>
              <a:spcAft>
                <a:spcPts val="0"/>
              </a:spcAft>
              <a:defRPr sz="750">
                <a:latin typeface="Lato"/>
              </a:defRPr>
            </a:pPr>
            <a:r>
              <a:rPr sz="750"/>
              <a:t>Source: supplied Vopak template; pptx/brand_configs/vopak.py; provincial_demand_map.py.</a:t>
            </a:r>
          </a:p>
        </p:txBody>
      </p:sp>
      <p:sp>
        <p:nvSpPr>
          <p:cNvPr id="71" name="Slide Number Placeholder"/>
          <p:cNvSpPr>
            <a:spLocks noGrp="1"/>
          </p:cNvSpPr>
          <p:nvPr>
            <p:ph type="sldNum" sz="quarter" idx="12"/>
          </p:nvPr>
        </p:nvSpPr>
        <p:spPr/>
        <p:txBody>
          <a:bodyPr/>
          <a:lstStyle/>
          <a:p>
            <a:fld id="{C534FAF3-16F5-4703-88D6-BBC5122615A8}" type="slidenum">
              <a:rPr lang="en-US"/>
              <a:t>‹#›</a:t>
            </a:fld>
          </a:p>
        </p:txBody>
      </p:sp>
      <p:sp>
        <p:nvSpPr>
          <p:cNvPr id="7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