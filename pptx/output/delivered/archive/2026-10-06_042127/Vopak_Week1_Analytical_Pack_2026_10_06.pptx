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2" r:id="rId17"/>
    <p:sldId id="263" r:id="rId6"/>
    <p:sldId id="268" r:id="rId23"/>
    <p:sldId id="264" r:id="rId19"/>
    <p:sldId id="269" r:id="rId24"/>
    <p:sldId id="270" r:id="rId25"/>
    <p:sldId id="258" r:id="rId5"/>
    <p:sldId id="271" r:id="rId26"/>
    <p:sldId id="259" r:id="rId16"/>
    <p:sldId id="265" r:id="rId20"/>
    <p:sldId id="272" r:id="rId27"/>
    <p:sldId id="266" r:id="rId21"/>
    <p:sldId id="273" r:id="rId28"/>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Trucks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97.63387547611042</c:v>
                </c:pt>
                <c:pt idx="1">
                  <c:v>96.8141375313016</c:v>
                </c:pt>
                <c:pt idx="2">
                  <c:v>98.44608598340953</c:v>
                </c:pt>
                <c:pt idx="3">
                  <c:v>100.0</c:v>
                </c:pt>
                <c:pt idx="4">
                  <c:v>101.55817956451264</c:v>
                </c:pt>
              </c:numCache>
            </c:numRef>
          </c:val>
          <c:smooth val="0"/>
        </c:ser>
        <c:ser>
          <c:idx val="1"/>
          <c:order val="1"/>
          <c:tx>
            <c:strRef>
              <c:f>Sheet1!$C$1</c:f>
              <c:strCache>
                <c:ptCount val="1"/>
                <c:pt idx="0">
                  <c:v>Light commercial</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98.0080760021808</c:v>
                </c:pt>
                <c:pt idx="1">
                  <c:v>97.53486013752538</c:v>
                </c:pt>
                <c:pt idx="2">
                  <c:v>98.66833284047658</c:v>
                </c:pt>
                <c:pt idx="3">
                  <c:v>100.0</c:v>
                </c:pt>
                <c:pt idx="4">
                  <c:v>101.8583757153455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106.91402153970294</c:v>
                </c:pt>
                <c:pt idx="1">
                  <c:v>93.93975777561383</c:v>
                </c:pt>
                <c:pt idx="2">
                  <c:v>100.3352911803161</c:v>
                </c:pt>
                <c:pt idx="3">
                  <c:v>99.98853103058075</c:v>
                </c:pt>
                <c:pt idx="4">
                  <c:v>100.35228851065968</c:v>
                </c:pt>
                <c:pt idx="5">
                  <c:v>100.0</c:v>
                </c:pt>
                <c:pt idx="6">
                  <c:v>98.82154406890575</c:v>
                </c:pt>
              </c:numCache>
            </c:numRef>
          </c:val>
          <c:smooth val="0"/>
        </c:ser>
        <c:ser>
          <c:idx val="1"/>
          <c:order val="1"/>
          <c:tx>
            <c:strRef>
              <c:f>Sheet1!$C$1</c:f>
              <c:strCache>
                <c:ptCount val="1"/>
                <c:pt idx="0">
                  <c:v>Mining</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108.27503338847391</c:v>
                </c:pt>
                <c:pt idx="1">
                  <c:v>95.05621825451448</c:v>
                </c:pt>
                <c:pt idx="2">
                  <c:v>107.07378897120171</c:v>
                </c:pt>
                <c:pt idx="3">
                  <c:v>99.671954100789</c:v>
                </c:pt>
                <c:pt idx="4">
                  <c:v>99.56264424261717</c:v>
                </c:pt>
                <c:pt idx="5">
                  <c:v>100.00000000000001</c:v>
                </c:pt>
                <c:pt idx="6">
                  <c:v>100.16529192011501</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Sheet1!$A$2:$A$3</c:f>
              <c:strCache>
                <c:ptCount val="2"/>
                <c:pt idx="0">
                  <c:v>2024</c:v>
                </c:pt>
                <c:pt idx="1">
                  <c:v>2025</c:v>
                </c:pt>
              </c:strCache>
            </c:strRef>
          </c:cat>
          <c:val>
            <c:numRef>
              <c:f>Sheet1!$B$2:$B$3</c:f>
              <c:numCache>
                <c:formatCode>General</c:formatCode>
                <c:ptCount val="2"/>
                <c:pt idx="0">
                  <c:v>100.0</c:v>
                </c:pt>
                <c:pt idx="1">
                  <c:v>99.6601340276261</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Sheet1!$A$2:$A$3</c:f>
              <c:strCache>
                <c:ptCount val="2"/>
                <c:pt idx="0">
                  <c:v>2024</c:v>
                </c:pt>
                <c:pt idx="1">
                  <c:v>2025</c:v>
                </c:pt>
              </c:strCache>
            </c:strRef>
          </c:cat>
          <c:val>
            <c:numRef>
              <c:f>Sheet1!$C$2:$C$3</c:f>
              <c:numCache>
                <c:formatCode>General</c:formatCode>
                <c:ptCount val="2"/>
                <c:pt idx="0">
                  <c:v>100.0</c:v>
                </c:pt>
                <c:pt idx="1">
                  <c:v>104.67697284518958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Sheet1!$A$2:$A$19</c:f>
              <c:strCache>
                <c:ptCount val="18"/>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strCache>
            </c:strRef>
          </c:cat>
          <c:val>
            <c:numRef>
              <c:f>Sheet1!$B$2:$B$19</c:f>
              <c:numCache>
                <c:formatCode>General</c:formatCode>
                <c:ptCount val="18"/>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numCache>
            </c:numRef>
          </c:val>
        </c:ser>
        <c:ser>
          <c:idx val="1"/>
          <c:order val="1"/>
          <c:tx>
            <c:strRef>
              <c:f>Sheet1!$C$1</c:f>
              <c:strCache>
                <c:ptCount val="1"/>
                <c:pt idx="0">
                  <c:v>Conditional addition</c:v>
                </c:pt>
              </c:strCache>
            </c:strRef>
          </c:tx>
          <c:spPr>
            <a:solidFill>
              <a:srgbClr val="EEEEEE"/>
            </a:solidFill>
            <a:ln>
              <a:solidFill>
                <a:srgbClr val="EEEEEE"/>
              </a:solidFill>
            </a:ln>
          </c:spPr>
          <c:cat>
            <c:strRef>
              <c:f>Sheet1!$A$2:$A$19</c:f>
              <c:strCache>
                <c:ptCount val="18"/>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strCache>
            </c:strRef>
          </c:cat>
          <c:val>
            <c:numRef>
              <c:f>Sheet1!$C$2:$C$19</c:f>
              <c:numCache>
                <c:formatCode>General</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Sheet1!$A$2:$A$19</c:f>
              <c:strCache>
                <c:ptCount val="18"/>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strCache>
            </c:strRef>
          </c:cat>
          <c:val>
            <c:numRef>
              <c:f>Sheet1!$B$2:$B$19</c:f>
              <c:numCache>
                <c:formatCode>General</c:formatCode>
                <c:ptCount val="18"/>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numCache>
            </c:numRef>
          </c:val>
        </c:ser>
        <c:ser>
          <c:idx val="1"/>
          <c:order val="1"/>
          <c:tx>
            <c:strRef>
              <c:f>Sheet1!$C$1</c:f>
              <c:strCache>
                <c:ptCount val="1"/>
                <c:pt idx="0">
                  <c:v>Conditional addition</c:v>
                </c:pt>
              </c:strCache>
            </c:strRef>
          </c:tx>
          <c:spPr>
            <a:solidFill>
              <a:srgbClr val="EEEEEE"/>
            </a:solidFill>
            <a:ln>
              <a:solidFill>
                <a:srgbClr val="EEEEEE"/>
              </a:solidFill>
            </a:ln>
          </c:spPr>
          <c:cat>
            <c:strRef>
              <c:f>Sheet1!$A$2:$A$19</c:f>
              <c:strCache>
                <c:ptCount val="18"/>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strCache>
            </c:strRef>
          </c:cat>
          <c:val>
            <c:numRef>
              <c:f>Sheet1!$C$2:$C$19</c:f>
              <c:numCache>
                <c:formatCode>General</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SCR master row R1; linked roadmap page 2. Deep-dive page 11.</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with backlinks to page 2.</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"retrieved": "2026-10-06",</a:t>
            </a:r>
          </a:p>
          <a:p>
            <a:r>
              <a:t>  "status": "staged reporting evidence; unreviewed; not consumed by engine",</a:t>
            </a:r>
          </a:p>
          <a:p>
            <a:r>
              <a:t>  "sources": [</a:t>
            </a:r>
          </a:p>
          <a:p>
            <a:r>
              <a:t>    {</a:t>
            </a:r>
          </a:p>
          <a:p>
            <a:r>
              <a:t>      "file": "trade2024.pdf",</a:t>
            </a:r>
          </a:p>
          <a:p>
            <a:r>
              <a:t>      "url": "https://www.dmpr.gov.za/Portals/0/Resources/Publications/Reports/Energy%20Sector%20Reports/SA%20Energy%20Trade%20Report/2024-South-African-Energy-Trade-Report.pdf",</a:t>
            </a:r>
          </a:p>
          <a:p>
            <a:r>
              <a:t>      "status": 200,</a:t>
            </a:r>
          </a:p>
          <a:p>
            <a:r>
              <a:t>      "sha256": "ad2c612c95e5ff3db7ce8b8280b1d30ac7ce13173f7c95a5e1ded3025c2d157d",</a:t>
            </a:r>
          </a:p>
          <a:p>
            <a:r>
              <a:t>      "retrieved": "2026-10-06",</a:t>
            </a:r>
          </a:p>
          <a:p>
            <a:r>
              <a:t>      "bytes": 1737491</a:t>
            </a:r>
          </a:p>
          <a:p>
            <a:r>
              <a:t>    },</a:t>
            </a:r>
          </a:p>
          <a:p>
            <a:r>
              <a:t>    {</a:t>
            </a:r>
          </a:p>
          <a:p>
            <a:r>
              <a:t>      "file": "trade2025_preliminary.pdf",</a:t>
            </a:r>
          </a:p>
          <a:p>
            <a:r>
              <a:t>      "url": "https://www.dmpr.gov.za/Portals/0/Resources/Publications/Reports/Energy%20Sector%20Reports/SA%20Energy%20Trade%20Report/2025-South-African-Energy-Preliminary-Trade-Report.pdf",</a:t>
            </a:r>
          </a:p>
          <a:p>
            <a:r>
              <a:t>      "error": "HTTP Error 404: Not Found",</a:t>
            </a:r>
          </a:p>
          <a:p>
            <a:r>
              <a:t>      "retrieved": "2026-10-06"</a:t>
            </a:r>
          </a:p>
          <a:p>
            <a:r>
              <a:t>    },</a:t>
            </a:r>
          </a:p>
          <a:p>
            <a:r>
              <a:t>    {</a:t>
            </a:r>
          </a:p>
          <a:p>
            <a:r>
              <a:t>      "file": "sector2025_preliminary.pdf",</a:t>
            </a:r>
          </a:p>
          <a:p>
            <a:r>
              <a:t>      "url": "https://www.dmpr.gov.za/Portals/0/Resources/Publications/Reports/Energy%20Sector%20Reports/SA%20Energy%20Sector%20Report/2025-South-African-Energy-Sector-Preliminary-Report.pdf",</a:t>
            </a:r>
          </a:p>
          <a:p>
            <a:r>
              <a:t>      "error": "HTTP Error 404: Not Found",</a:t>
            </a:r>
          </a:p>
          <a:p>
            <a:r>
              <a:t>      "retrieved": "2026-10-06"</a:t>
            </a:r>
          </a:p>
          <a:p>
            <a:r>
              <a:t>    },</a:t>
            </a:r>
          </a:p>
          <a:p>
            <a:r>
              <a:t>    {</a:t>
            </a:r>
          </a:p>
          <a:p>
            <a:r>
              <a:t>      "file": "tnpa_mar2025.pdf",</a:t>
            </a:r>
          </a:p>
          <a:p>
            <a:r>
              <a:t>      "url": "https://www.transnetnationalportsauthority.net/Commercial%20and%20Marketing/Port%20Cargo%20Statistics/Cargo%20-%20MAR%202025.pdf",</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"energy_balance_index.html",</a:t>
            </a:r>
          </a:p>
          <a:p>
            <a:r>
              <a:t>      "url": "https://www.dmpr.gov.za/Portals/0/Energy_Website/files/media/Energy_Balances.html",</a:t>
            </a:r>
          </a:p>
          <a:p>
            <a:r>
              <a:t>      "status": 200,</a:t>
            </a:r>
          </a:p>
          <a:p>
            <a:r>
              <a:t>      "sha256": "0ac165e3575eb6b1b9540f4cbdd27462455608eff07f8520ac72ab765de65e12",</a:t>
            </a:r>
          </a:p>
          <a:p>
            <a:r>
              <a:t>      "retrieved": "2026-10-06",</a:t>
            </a:r>
          </a:p>
          <a:p>
            <a:r>
              <a:t>      "bytes": 23560</a:t>
            </a:r>
          </a:p>
          <a:p>
            <a:r>
              <a:t>    },</a:t>
            </a:r>
          </a:p>
          <a:p>
            <a:r>
              <a:t>    {</a:t>
            </a:r>
          </a:p>
          <a:p>
            <a:r>
              <a:t>      "file": "cef_refinery_update.html",</a:t>
            </a:r>
          </a:p>
          <a:p>
            <a:r>
              <a:t>      "url": "https://cefgroup.co.za/2026/09/23/cef-group-presents-five-year-financial-performance-governance-outcomes-and-sanpc-development-progress-to-parliament/",</a:t>
            </a:r>
          </a:p>
          <a:p>
            <a:r>
              <a:t>      "status": 200,</a:t>
            </a:r>
          </a:p>
          <a:p>
            <a:r>
              <a:t>      "sha256": "7c7804cd3d80dddb666da1507106aa2b6dcf48316dbf3ee9244a32a34be475d5",</a:t>
            </a:r>
          </a:p>
          <a:p>
            <a:r>
              <a:t>      "retrieved": "2026-10-06",</a:t>
            </a:r>
          </a:p>
          <a:p>
            <a:r>
              <a:t>      "bytes": 236086</a:t>
            </a:r>
          </a:p>
          <a:p>
            <a:r>
              <a:t>    },</a:t>
            </a:r>
          </a:p>
          <a:p>
            <a:r>
              <a:t>    {</a:t>
            </a:r>
          </a:p>
          <a:p>
            <a:r>
              <a:t>      "file": "trade2025_preliminary.pdf",</a:t>
            </a:r>
          </a:p>
          <a:p>
            <a:r>
              <a:t>      "url": "https://www.dmre.gov.za/Portals/0/Resources/Publications/Reports/Energy%20Sector%20Reports/SA%20Energy%20Trade%20Report/2025-South-African-Energy-Preliminary-Trade-Report.pdf?ver=2mpclUkL_LUiTkST4yWRNw%3D%3D",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"file": "sector2025_preliminary.pdf",</a:t>
            </a:r>
          </a:p>
          <a:p>
            <a:r>
              <a:t>      "url": "https://www.dmre.gov.za/Portals/0/Resources/Publications/Reports/Energy%20Sector%20Reports/SA%20Energy%20Sector%20Report/2025-South-African-Energy-Sector-Preliminary-Report.pdf?ver=vj8mIFbD608QxnJWxaV2xw%3D%3D",</a:t>
            </a:r>
          </a:p>
          <a:p>
            <a:r>
              <a:t>      "error": "&lt;urlopen error [WinError 10060] A connection attempt failed because the connected party did not properly respond after a period of time, or established connection failed because connected host has failed to respond&gt;",</a:t>
            </a:r>
          </a:p>
          <a:p>
            <a:r>
              <a:t>      "retrieved": "2026-10-06"</a:t>
            </a:r>
          </a:p>
          <a:p>
            <a:r>
              <a:t>    }</a:t>
            </a:r>
          </a:p>
          <a:p>
            <a:r>
              <a:t>  ],</a:t>
            </a:r>
          </a:p>
          <a:p>
            <a:r>
              <a:t>  "capacity_source": {</a:t>
            </a:r>
          </a:p>
          <a:p>
            <a:r>
              <a:t>    "file": "annual-report-2025.pdf",</a:t>
            </a:r>
          </a:p>
          <a:p>
            <a:r>
              <a:t>    "pdf_page": 49,</a:t>
            </a:r>
          </a:p>
          <a:p>
            <a:r>
              <a:t>    "index": "https://fuelsindustry.org.za/publications/annual-reports/",</a:t>
            </a:r>
          </a:p>
          <a:p>
            <a:r>
              <a:t>    "sha256": "a37e04143fd3e2eb672cd79d16c26e8b7a027171172b38d689949e6b0b502ef7"</a:t>
            </a:r>
          </a:p>
          <a:p>
            <a:r>
              <a:t>  },</a:t>
            </a:r>
          </a:p>
          <a:p>
            <a:r>
              <a:t>  "refresh": "Download the next government trade report and FIASA annual report; rerun this extractor. Source changes require deliberate register reconciliation.",</a:t>
            </a:r>
          </a:p>
          <a:p>
            <a:r>
              <a:t>  "limitations": [</a:t>
            </a:r>
          </a:p>
          <a:p>
            <a:r>
              <a:t>    "Trade values are rounded narrative figures.",</a:t>
            </a:r>
          </a:p>
          <a:p>
            <a:r>
              <a:t>    "Capacity table includes crude-equivalent synthetic plants and idle nameplate capacity; not actual production or usable annual capacity.",</a:t>
            </a:r>
          </a:p>
          <a:p>
            <a:r>
              <a:t>    "2024 source disagreement is retained; no adoption decision or validation inferred.",</a:t>
            </a:r>
          </a:p>
          <a:p>
            <a:r>
              <a:t>    "Official balance index ends at 2021; no recent complete production/export/stock reconciliation established.",</a:t>
            </a:r>
          </a:p>
          <a:p>
            <a:r>
              <a:t>    "2025 preliminary reports and TNPA raw PDF downloads failed in this collection; see manifest."</a:t>
            </a:r>
          </a:p>
          <a:p>
            <a:r>
              <a:t>  ]</a:t>
            </a:r>
          </a:p>
          <a:p>
            <a:r>
              <a:t>}</a:t>
            </a:r>
          </a:p>
          <a:p>
            <a:r>
              <a:t>Trade source flag: [['Product', 'Reported\nsales', 'Imports', 'Exports', 'Net imports'], ['Petrol', '9.029', '4.000', '0.920', '3.080'], ['Diesel', '11.734', '10.800', '0.790', '10.010'], ['Combined', '20.763', '14.800', '1.710', '13.090']]</a:t>
            </a:r>
          </a:p>
          <a:p>
            <a:r>
              <a:t>SCR master row S2; linked roadmap page 2. Deep-dive page 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stock | all fuels;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stock | all fuels; Dec",</a:t>
            </a:r>
          </a:p>
          <a:p>
            <a:r>
              <a:t>      [</a:t>
            </a:r>
          </a:p>
          <a:p>
            <a:r>
              <a:t>        [</a:t>
            </a:r>
          </a:p>
          <a:p>
            <a:r>
              <a:t>          "Trucks",</a:t>
            </a:r>
          </a:p>
          <a:p>
            <a:r>
              <a:t>          {</a:t>
            </a:r>
          </a:p>
          <a:p>
            <a:r>
              <a:t>            "2021": 389112.0,</a:t>
            </a:r>
          </a:p>
          <a:p>
            <a:r>
              <a:t>            "2022": 385845.0,</a:t>
            </a:r>
          </a:p>
          <a:p>
            <a:r>
              <a:t>            "2023": 392349.0,</a:t>
            </a:r>
          </a:p>
          <a:p>
            <a:r>
              <a:t>            "2024": 398542.0,</a:t>
            </a:r>
          </a:p>
          <a:p>
            <a:r>
              <a:t>            "2025": 404752.0</a:t>
            </a:r>
          </a:p>
          <a:p>
            <a:r>
              <a:t>          }</a:t>
            </a:r>
          </a:p>
          <a:p>
            <a:r>
              <a:t>        ],</a:t>
            </a:r>
          </a:p>
          <a:p>
            <a:r>
              <a:t>        [</a:t>
            </a:r>
          </a:p>
          <a:p>
            <a:r>
              <a:t>          "Light commercial",</a:t>
            </a:r>
          </a:p>
          <a:p>
            <a:r>
              <a:t>          {</a:t>
            </a:r>
          </a:p>
          <a:p>
            <a:r>
              <a:t>            "2021": 2671314.0,</a:t>
            </a:r>
          </a:p>
          <a:p>
            <a:r>
              <a:t>            "2022": 2658416.0,</a:t>
            </a:r>
          </a:p>
          <a:p>
            <a:r>
              <a:t>            "2023": 2689310.0,</a:t>
            </a:r>
          </a:p>
          <a:p>
            <a:r>
              <a:t>            "2024": 2725606.0,</a:t>
            </a:r>
          </a:p>
          <a:p>
            <a:r>
              <a:t>            "2025": 2776258.0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"Industry | real value added, CY",</a:t>
            </a:r>
          </a:p>
          <a:p>
            <a:r>
              <a:t>      [</a:t>
            </a:r>
          </a:p>
          <a:p>
            <a:r>
              <a:t>        [</a:t>
            </a:r>
          </a:p>
          <a:p>
            <a:r>
              <a:t>          "Manufacturing",</a:t>
            </a:r>
          </a:p>
          <a:p>
            <a:r>
              <a:t>          {</a:t>
            </a:r>
          </a:p>
          <a:p>
            <a:r>
              <a:t>            "2019": 559321509886.0238,</a:t>
            </a:r>
          </a:p>
          <a:p>
            <a:r>
              <a:t>            "2020": 491446551169.8276,</a:t>
            </a:r>
          </a:p>
          <a:p>
            <a:r>
              <a:t>            "2021": 524904832402.9977,</a:t>
            </a:r>
          </a:p>
          <a:p>
            <a:r>
              <a:t>            "2022": 523090754064.8606,</a:t>
            </a:r>
          </a:p>
          <a:p>
            <a:r>
              <a:t>            "2023": 524993754064.86096,</a:t>
            </a:r>
          </a:p>
          <a:p>
            <a:r>
              <a:t>            "2024": 523150754064.86096,</a:t>
            </a:r>
          </a:p>
          <a:p>
            <a:r>
              <a:t>            "2025": 516985652975.0193</a:t>
            </a:r>
          </a:p>
          <a:p>
            <a:r>
              <a:t>          }</a:t>
            </a:r>
          </a:p>
          <a:p>
            <a:r>
              <a:t>        ],</a:t>
            </a:r>
          </a:p>
          <a:p>
            <a:r>
              <a:t>        [</a:t>
            </a:r>
          </a:p>
          <a:p>
            <a:r>
              <a:t>          "Mining",</a:t>
            </a:r>
          </a:p>
          <a:p>
            <a:r>
              <a:t>          {</a:t>
            </a:r>
          </a:p>
          <a:p>
            <a:r>
              <a:t>            "2019": 222100060478.9847,</a:t>
            </a:r>
          </a:p>
          <a:p>
            <a:r>
              <a:t>            "2020": 194984856273.23434,</a:t>
            </a:r>
          </a:p>
          <a:p>
            <a:r>
              <a:t>            "2021": 219635997902.62903,</a:t>
            </a:r>
          </a:p>
          <a:p>
            <a:r>
              <a:t>            "2022": 204452922719.6744,</a:t>
            </a:r>
          </a:p>
          <a:p>
            <a:r>
              <a:t>            "2023": 204228699966.27374,</a:t>
            </a:r>
          </a:p>
          <a:p>
            <a:r>
              <a:t>            "2024": 205125829591.8731,</a:t>
            </a:r>
          </a:p>
          <a:p>
            <a:r>
              <a:t>            "2025": 205464886014.25735</a:t>
            </a:r>
          </a:p>
          <a:p>
            <a:r>
              <a:t>          }</a:t>
            </a:r>
          </a:p>
          <a:p>
            <a:r>
              <a:t>        ]</a:t>
            </a:r>
          </a:p>
          <a:p>
            <a:r>
              <a:t>      ]</a:t>
            </a:r>
          </a:p>
          <a:p>
            <a:r>
              <a:t>    ],</a:t>
            </a:r>
          </a:p>
          <a:p>
            <a:r>
              <a:t>    [</a:t>
            </a:r>
          </a:p>
          <a:p>
            <a:r>
              <a:t>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"Freight activity | payload, CY",</a:t>
            </a:r>
          </a:p>
          <a:p>
            <a:r>
              <a:t>      [</a:t>
            </a:r>
          </a:p>
          <a:p>
            <a:r>
              <a:t>        [</a:t>
            </a:r>
          </a:p>
          <a:p>
            <a:r>
              <a:t>          "Road",</a:t>
            </a:r>
          </a:p>
          <a:p>
            <a:r>
              <a:t>          {</a:t>
            </a:r>
          </a:p>
          <a:p>
            <a:r>
              <a:t>            "2024": 979798.0,</a:t>
            </a:r>
          </a:p>
          <a:p>
            <a:r>
              <a:t>            "2025": 976468.0</a:t>
            </a:r>
          </a:p>
          <a:p>
            <a:r>
              <a:t>          }</a:t>
            </a:r>
          </a:p>
          <a:p>
            <a:r>
              <a:t>        ],</a:t>
            </a:r>
          </a:p>
          <a:p>
            <a:r>
              <a:t>        [</a:t>
            </a:r>
          </a:p>
          <a:p>
            <a:r>
              <a:t>          "Rail",</a:t>
            </a:r>
          </a:p>
          <a:p>
            <a:r>
              <a:t>          {</a:t>
            </a:r>
          </a:p>
          <a:p>
            <a:r>
              <a:t>            "2024": 160745.0,</a:t>
            </a:r>
          </a:p>
          <a:p>
            <a:r>
              <a:t>            "2025": 168263.0</a:t>
            </a:r>
          </a:p>
          <a:p>
            <a:r>
              <a:t>          }</a:t>
            </a:r>
          </a:p>
          <a:p>
            <a:r>
              <a:t>        ]</a:t>
            </a:r>
          </a:p>
          <a:p>
            <a:r>
              <a:t>      ]</a:t>
            </a:r>
          </a:p>
          <a:p>
            <a:r>
              <a:t>    ]</a:t>
            </a:r>
          </a:p>
          <a:p>
            <a:r>
              <a:t>  ],</a:t>
            </a:r>
          </a:p>
          <a:p>
            <a:r>
              <a:t>  "status": "descriptive evidence; not causal contributions or forecast demand",</a:t>
            </a:r>
          </a:p>
          <a:p>
            <a:r>
              <a:t>  "price": "Annual extract stops 2023; no 2024 base available. Diesel prices are wholesale, petrol retail; no real-price elasticity calibrated.",</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and conventional-hybrid new sales; PHEVs omitted from chart; stocks, survival, mileage and efficiency not inferred.",</a:t>
            </a:r>
          </a:p>
          <a:p>
            <a:r>
              <a:t>  "vehicle_stock_scope": "NaTIS all-fuel national December snapshots. Cars/minibuses do not cover buses/motorcycles; trucks/light-commercial do not establish diesel-only freight usage. No ICE mix or fuel demand is inferred.",</a:t>
            </a:r>
          </a:p>
          <a:p>
            <a:r>
              <a:t>  "sector_scope": "Real gross value added: agriculture includes forestry/fishing; industry shows manufacturing and mining separately, not all industrial fuel consumption.",</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a:t>
            </a:r>
          </a:p>
          <a:p>
            <a:r>
              <a:t>SCR master row C1; linked roadmap page 2. Deep-dive page 7.</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Capacity series: {2016: 718.0, 2017: 718.0, 2018: 718.0, 2019: 718.0, 2020: 718.0, 2021: 538.0, 2022: 358.0, 2023: 358.0, 2024: 358.0, 2025: 358.0}</a:t>
            </a:r>
          </a:p>
          <a:p>
            <a:r>
              <a:t>Illustrative assumptions: {"start_year": 2026, "horizon_year": 2033,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SCR master row C3; linked roadmap page 2. Deep-dive page 10.</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SCR master row R2; linked roadmap page 2. Deep-dive page 15.</a:t>
            </a:r>
          </a:p>
          <a:p>
            <a:r>
              <a:t>Clickable story chevrons: overview p2; Situation p3; Complication p7; Resolution p11.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10.xml"/><Relationship Id="rId5" Type="http://schemas.openxmlformats.org/officeDocument/2006/relationships/slide" Target="slide5.xml"/><Relationship Id="rId6" Type="http://schemas.openxmlformats.org/officeDocument/2006/relationships/slide" Target="slide12.xml"/><Relationship Id="rId7" Type="http://schemas.openxmlformats.org/officeDocument/2006/relationships/slide" Target="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10.xml"/><Relationship Id="rId11" Type="http://schemas.openxmlformats.org/officeDocument/2006/relationships/slide" Target="slide5.xml"/><Relationship Id="rId12" Type="http://schemas.openxmlformats.org/officeDocument/2006/relationships/slide" Target="slide12.xml"/><Relationship Id="rId13" Type="http://schemas.openxmlformats.org/officeDocument/2006/relationships/slide" Target="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2.xml"/><Relationship Id="rId10" Type="http://schemas.openxmlformats.org/officeDocument/2006/relationships/slide" Target="slide14.xml"/><Relationship Id="rId11" Type="http://schemas.openxmlformats.org/officeDocument/2006/relationships/slide" Target="slide3.xml"/><Relationship Id="rId12" Type="http://schemas.openxmlformats.org/officeDocument/2006/relationships/slide" Target="slide8.xml"/><Relationship Id="rId13" Type="http://schemas.openxmlformats.org/officeDocument/2006/relationships/slide" Target="slide15.xml"/><Relationship Id="rId14" Type="http://schemas.openxmlformats.org/officeDocument/2006/relationships/slide" Target="slide9.xml"/><Relationship Id="rId15" Type="http://schemas.openxmlformats.org/officeDocument/2006/relationships/slide" Target="slide16.xml"/><Relationship Id="rId16"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slide" Target="slide10.xml"/><Relationship Id="rId10" Type="http://schemas.openxmlformats.org/officeDocument/2006/relationships/slide" Target="slide5.xml"/><Relationship Id="rId11" Type="http://schemas.openxmlformats.org/officeDocument/2006/relationships/slide" Target="slide12.xml"/><Relationship Id="rId12" Type="http://schemas.openxmlformats.org/officeDocument/2006/relationships/slide" Target="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slide" Target="slide10.xml"/><Relationship Id="rId6" Type="http://schemas.openxmlformats.org/officeDocument/2006/relationships/slide" Target="slide5.xml"/><Relationship Id="rId7" Type="http://schemas.openxmlformats.org/officeDocument/2006/relationships/slide" Target="slide12.xml"/><Relationship Id="rId8" Type="http://schemas.openxmlformats.org/officeDocument/2006/relationships/slide" Target="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slide" Target="slide10.xml"/><Relationship Id="rId4" Type="http://schemas.openxmlformats.org/officeDocument/2006/relationships/slide" Target="slide5.xml"/><Relationship Id="rId5" Type="http://schemas.openxmlformats.org/officeDocument/2006/relationships/slide" Target="slide12.xml"/><Relationship Id="rId6" Type="http://schemas.openxmlformats.org/officeDocument/2006/relationships/slide" Target="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60" name="Transnet lease overlay: Isosceles Triangle 2659"/>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61" name="Transnet lease overlay: Connector 2660"/>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62" name="Transnet lease overlay: TextBox 2661"/>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663" name="Transnet lease overlay: Isosceles Triangle 2662"/>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64" name="Transnet lease overlay: Connector 2663"/>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65" name="Transnet lease overlay: TextBox 2664"/>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666" name="Transnet lease overlay: Isosceles Triangle 2665"/>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67" name="Transnet lease overlay: Connector 2666"/>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68" name="Transnet lease overlay: TextBox 2667"/>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669" name="Transnet lease overlay: Isosceles Triangle 2668"/>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70" name="Transnet lease overlay: Connector 2669"/>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71" name="Transnet lease overlay: TextBox 2670"/>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672" name="Transnet lease overlay: Isosceles Triangle 2671"/>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73" name="Transnet lease overlay: Connector 2672"/>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74" name="Transnet lease overlay: TextBox 2673"/>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675" name="Transnet lease overlay: TextBox 2674"/>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676" name="Transnet lease overlay: Isosceles Triangle 2675"/>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7" name="TextBox 2676"/>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678" name="TextBox 2677"/>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Darker cells mean lower example cost</a:t>
            </a:r>
          </a:p>
        </p:txBody>
      </p:sp>
      <p:sp>
        <p:nvSpPr>
          <p:cNvPr id="2679" name="TextBox 2678"/>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surface shows illustrative delivered road-transport cost in R/litre.</a:t>
            </a:r>
          </a:p>
        </p:txBody>
      </p:sp>
      <p:sp>
        <p:nvSpPr>
          <p:cNvPr id="2680" name="TextBox 2679"/>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Other modes remain context</a:t>
            </a:r>
          </a:p>
        </p:txBody>
      </p:sp>
      <p:sp>
        <p:nvSpPr>
          <p:cNvPr id="2681" name="TextBox 2680"/>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costs, capacity and access are not evaluated in this surface.</a:t>
            </a:r>
          </a:p>
        </p:txBody>
      </p:sp>
      <p:sp>
        <p:nvSpPr>
          <p:cNvPr id="2682" name="TextBox 2681"/>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Physical proximity is insufficient</a:t>
            </a:r>
          </a:p>
        </p:txBody>
      </p:sp>
      <p:sp>
        <p:nvSpPr>
          <p:cNvPr id="2683" name="TextBox 2682"/>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No operational or commercial catchment is validated by this illustration.</a:t>
            </a:r>
          </a:p>
        </p:txBody>
      </p: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85" name="TextBox 2684"/>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686" name="TextBox 2685"/>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and Nigel: select the first destination and obtain dated route tariffs, quotations and access evidence.</a:t>
            </a:r>
          </a:p>
        </p:txBody>
      </p:sp>
      <p:sp>
        <p:nvSpPr>
          <p:cNvPr id="2687"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Illustrative road cost (R/litre) and market volumes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60" name="Transnet lease overlay: Isosceles Triangle 2659"/>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61" name="Transnet lease overlay: Connector 2660"/>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62" name="Transnet lease overlay: TextBox 2661"/>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663" name="Transnet lease overlay: Isosceles Triangle 2662"/>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64" name="Transnet lease overlay: Connector 2663"/>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65" name="Transnet lease overlay: TextBox 2664"/>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666" name="Transnet lease overlay: Isosceles Triangle 2665"/>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67" name="Transnet lease overlay: Connector 2666"/>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68" name="Transnet lease overlay: TextBox 2667"/>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669" name="Transnet lease overlay: Isosceles Triangle 2668"/>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70" name="Transnet lease overlay: Connector 2669"/>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71" name="Transnet lease overlay: TextBox 2670"/>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672" name="Transnet lease overlay: Isosceles Triangle 2671"/>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73" name="Transnet lease overlay: Connector 2672"/>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674" name="Transnet lease overlay: TextBox 2673"/>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675" name="Transnet lease overlay: TextBox 2674"/>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676" name="Transnet lease overlay: Isosceles Triangle 2675"/>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7" name="TextBox 2676"/>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2678" name="TextBox 2677"/>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Balance arithmetic is illustrative</a:t>
            </a:r>
          </a:p>
        </p:txBody>
      </p:sp>
      <p:sp>
        <p:nvSpPr>
          <p:cNvPr id="2679" name="TextBox 2678"/>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demand 21.0 less domestic production 7.0 gives imports 14.0, before exports and stocks.</a:t>
            </a:r>
          </a:p>
        </p:txBody>
      </p:sp>
      <p:sp>
        <p:nvSpPr>
          <p:cNvPr id="2680" name="TextBox 2679"/>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Transfers count once</a:t>
            </a:r>
          </a:p>
        </p:txBody>
      </p:sp>
      <p:sp>
        <p:nvSpPr>
          <p:cNvPr id="2681" name="TextBox 2680"/>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Durban receipts 2.8 plus Lesedi receipts 2.0 less shared transfer 1.8 gives unique served demand 3.0.</a:t>
            </a:r>
          </a:p>
        </p:txBody>
      </p:sp>
      <p:sp>
        <p:nvSpPr>
          <p:cNvPr id="2682" name="TextBox 2681"/>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volume is conditional</a:t>
            </a:r>
          </a:p>
        </p:txBody>
      </p:sp>
      <p:sp>
        <p:nvSpPr>
          <p:cNvPr id="2683" name="TextBox 2682"/>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envelope is 8.5 and additional candidate volume 5.5; neither is forecast capture.</a:t>
            </a:r>
          </a:p>
        </p:txBody>
      </p: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685" name="TextBox 2684"/>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686" name="TextBox 2685"/>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client flows. Manish: replace examples with matched-year product and destination records.</a:t>
            </a:r>
          </a:p>
        </p:txBody>
      </p:sp>
      <p:sp>
        <p:nvSpPr>
          <p:cNvPr id="2687"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69901591-2E48-4657-A9FD-04283005C4E4}"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
        <p:nvSpPr>
          <p:cNvPr id="580" name="TextBox 5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581" name="TextBox 5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is concentrated</a:t>
            </a:r>
          </a:p>
        </p:txBody>
      </p:sp>
      <p:sp>
        <p:nvSpPr>
          <p:cNvPr id="582" name="TextBox 5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83" name="TextBox 5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are working groups</a:t>
            </a:r>
          </a:p>
        </p:txBody>
      </p:sp>
      <p:sp>
        <p:nvSpPr>
          <p:cNvPr id="584" name="TextBox 5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Province boundaries define reporting groups; they do not establish terminal catchments.</a:t>
            </a:r>
          </a:p>
        </p:txBody>
      </p:sp>
      <p:sp>
        <p:nvSpPr>
          <p:cNvPr id="585" name="TextBox 5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Sales are historical demand evidence</a:t>
            </a:r>
          </a:p>
        </p:txBody>
      </p:sp>
      <p:sp>
        <p:nvSpPr>
          <p:cNvPr id="586" name="TextBox 5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map is sourced provincial sales, rather than a current-year outlook or commercial accessibility result.</a:t>
            </a:r>
          </a:p>
        </p:txBody>
      </p:sp>
      <p:cxnSp>
        <p:nvCxnSpPr>
          <p:cNvPr id="587" name="Connector 5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88" name="TextBox 5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89" name="TextBox 5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a later complete year and test actual destinations, route costs and customer access.</a:t>
            </a:r>
          </a:p>
        </p:txBody>
      </p:sp>
      <p:sp>
        <p:nvSpPr>
          <p:cNvPr id="590" name="SCR backlink S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C1158A29-1B92-4139-8C00-66CEFD252DF6}" type="slidenum">
              <a:rPr lang="en-US"/>
              <a:t>‹#›</a:t>
            </a:fld>
          </a:p>
        </p:txBody>
      </p:sp>
      <p:sp>
        <p:nvSpPr>
          <p:cNvPr id="4" name="Section navigation 1">
            <a:hlinkClick action="ppaction://hlinksldjump" r:id="rId4"/>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5"/>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6"/>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7"/>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ends in 2022</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provincial year in this extract is 2022.</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2023 is incomplete</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Only Q1 is present; it is excluded from annual comparisons.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Six years are flagged</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sums differ from national sales in 2013, 2014, 2015, 2017, 2018 and 2021.</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each flagged value to its original workbook cell and log old value, proposed value and reason.</a:t>
            </a:r>
          </a:p>
        </p:txBody>
      </p:sp>
      <p:sp>
        <p:nvSpPr>
          <p:cNvPr id="51" name="SCR backlink S1">
            <a:hlinkClick action="ppaction://hlinksldjump" r:id="rId4"/>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S1 | Situation | Return to overview: page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F1734B9A-329B-491D-933A-F3CDE245534D}"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A08B520A-39A4-405A-BF67-CE797C1294A3}" type="slidenum">
              <a:rPr lang="en-US"/>
              <a:t>‹#›</a:t>
            </a:fld>
          </a:p>
        </p:txBody>
      </p:sp>
      <p:sp>
        <p:nvSpPr>
          <p:cNvPr id="4" name="Section navigation 1">
            <a:hlinkClick action="ppaction://hlinksldjump" r:id="rId10"/>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1"/>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2"/>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3"/>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backlink R1">
            <a:hlinkClick action="ppaction://hlinksldjump" r:id="rId10"/>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D019CF25-6B59-4EBA-A317-69339AAD1904}"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Resolve the SA fuel outlook, then test Vopak’s accessible market</a:t>
            </a:r>
          </a:p>
        </p:txBody>
      </p:sp>
      <p:sp>
        <p:nvSpPr>
          <p:cNvPr id="3" name="Slide Number Placeholder"/>
          <p:cNvSpPr>
            <a:spLocks noGrp="1"/>
          </p:cNvSpPr>
          <p:nvPr>
            <p:ph type="sldNum" sz="quarter" idx="12"/>
          </p:nvPr>
        </p:nvSpPr>
        <p:spPr/>
        <p:txBody>
          <a:bodyPr/>
          <a:lstStyle/>
          <a:p>
            <a:fld id="{C539FAC8-93DE-45F6-9DE6-A71EF57A9921}" type="slidenum">
              <a:rPr lang="en-US"/>
              <a:t>‹#›</a:t>
            </a:fld>
          </a:p>
        </p:txBody>
      </p:sp>
      <p:sp>
        <p:nvSpPr>
          <p:cNvPr id="4" name="Section navigation 1">
            <a:hlinkClick action="ppaction://hlinksldjump" r:id="rId16"/>
          </p:cNvPr>
          <p:cNvSpPr/>
          <p:nvPr/>
        </p:nvSpPr>
        <p:spPr>
          <a:xfrm>
            <a:off x="457200"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1  SCR overview</a:t>
            </a:r>
          </a:p>
        </p:txBody>
      </p:sp>
      <p:sp>
        <p:nvSpPr>
          <p:cNvPr id="5" name="Section navigation 2">
            <a:hlinkClick action="ppaction://hlinksldjump" r:id="rId3"/>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11"/>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42" name="TextBox 41"/>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Situation → Complication → Resolution | evidence, actions and delivery roadmap</a:t>
            </a:r>
          </a:p>
        </p:txBody>
      </p:sp>
      <p:graphicFrame>
        <p:nvGraphicFramePr>
          <p:cNvPr id="43" name="SCR master roadmap | native PowerPoint table"/>
          <p:cNvGraphicFramePr>
            <a:graphicFrameLocks noGrp="1"/>
          </p:cNvGraphicFramePr>
          <p:nvPr/>
        </p:nvGraphicFramePr>
        <p:xfrm>
          <a:off x="457200" y="2029968"/>
          <a:ext cx="10652760" cy="4039815"/>
        </p:xfrm>
        <a:graphic>
          <a:graphicData uri="http://schemas.openxmlformats.org/drawingml/2006/table">
            <a:tbl>
              <a:tblPr firstRow="1" bandRow="1">
                <a:tableStyleId>{2D5ABB26-0587-4C30-8999-92F81FD0307C}</a:tableStyleId>
              </a:tblPr>
              <a:tblGrid>
                <a:gridCol w="932688"/>
                <a:gridCol w="4599432"/>
                <a:gridCol w="1508760"/>
                <a:gridCol w="2487168"/>
                <a:gridCol w="1124712"/>
              </a:tblGrid>
              <a:tr h="365760">
                <a:tc>
                  <a:txBody>
                    <a:bodyPr/>
                    <a:lstStyle/>
                    <a:p>
                      <a:pPr>
                        <a:spcAft>
                          <a:spcPts val="0"/>
                        </a:spcAft>
                        <a:defRPr sz="1000" b="1">
                          <a:solidFill>
                            <a:srgbClr val="0A2373"/>
                          </a:solidFill>
                          <a:latin typeface="Lato"/>
                        </a:defRPr>
                      </a:pPr>
                      <a:r>
                        <a:t>SCR reference</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Evidence and required next step</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Proposed lead</a:t>
                      </a:r>
                    </a:p>
                  </a:txBody>
                  <a:tcPr marL="45720" marR="45720" marT="50292"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Timing and output</a:t>
                      </a:r>
                    </a:p>
                  </a:txBody>
                  <a:tcPr marL="45720" marR="45720" marT="50292" marB="18288" anchor="t">
                    <a:lnB w="7620" cap="flat">
                      <a:solidFill>
                        <a:srgbClr val="EEEEEE"/>
                      </a:solidFill>
                    </a:lnB>
                    <a:solidFill>
                      <a:srgbClr val="FFFFFF"/>
                    </a:solidFill>
                  </a:tcPr>
                </a:tc>
                <a:tc>
                  <a:txBody>
                    <a:bodyPr/>
                    <a:lstStyle/>
                    <a:p>
                      <a:pPr>
                        <a:spcAft>
                          <a:spcPts val="0"/>
                        </a:spcAft>
                        <a:defRPr sz="1000" b="1">
                          <a:solidFill>
                            <a:srgbClr val="0A2373"/>
                          </a:solidFill>
                          <a:latin typeface="Lato"/>
                        </a:defRPr>
                      </a:pPr>
                      <a:r>
                        <a:t>Deep dives</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S1</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baseline and regional market</a:t>
                      </a:r>
                    </a:p>
                    <a:p>
                      <a:pPr>
                        <a:spcAft>
                          <a:spcPts val="0"/>
                        </a:spcAft>
                        <a:defRPr sz="1050" b="0">
                          <a:solidFill>
                            <a:srgbClr val="000000"/>
                          </a:solidFill>
                          <a:latin typeface="Lato"/>
                        </a:defRPr>
                      </a:pPr>
                      <a:r>
                        <a:t>Have: provincial sales history and map. Reconcile six flagged years; refresh a complete year.</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W1–W2</a:t>
                      </a:r>
                    </a:p>
                    <a:p>
                      <a:pPr>
                        <a:spcAft>
                          <a:spcPts val="0"/>
                        </a:spcAft>
                        <a:defRPr sz="1050" b="0">
                          <a:solidFill>
                            <a:srgbClr val="000000"/>
                          </a:solidFill>
                          <a:latin typeface="Lato"/>
                        </a:defRPr>
                      </a:pPr>
                      <a:r>
                        <a:t>Sourced demand baseline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3" action="ppaction://hlinksldjump"/>
                        </a:rPr>
                        <a:t>3</a:t>
                      </a:r>
                      <a:r>
                        <a:rPr sz="1100">
                          <a:solidFill>
                            <a:srgbClr val="0A2373"/>
                          </a:solidFill>
                          <a:latin typeface="Lato"/>
                          <a:hlinkClick r:id="rId4" action="ppaction://hlinksldjump"/>
                        </a:rPr>
                        <a:t> / 4</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S2</a:t>
                      </a:r>
                    </a:p>
                    <a:p>
                      <a:pPr>
                        <a:spcAft>
                          <a:spcPts val="0"/>
                        </a:spcAft>
                        <a:defRPr sz="1000" b="1">
                          <a:solidFill>
                            <a:srgbClr val="0A2373"/>
                          </a:solidFill>
                          <a:latin typeface="Lato"/>
                        </a:defRPr>
                      </a:pPr>
                      <a:r>
                        <a:t>Situation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Domestic supply, finished imports and entry ports</a:t>
                      </a:r>
                    </a:p>
                    <a:p>
                      <a:pPr>
                        <a:spcAft>
                          <a:spcPts val="0"/>
                        </a:spcAft>
                        <a:defRPr sz="1050" b="0">
                          <a:solidFill>
                            <a:srgbClr val="000000"/>
                          </a:solidFill>
                          <a:latin typeface="Lato"/>
                        </a:defRPr>
                      </a:pPr>
                      <a:r>
                        <a:t>Have: 2024 sales/trade; diesel imports conflict. Gap: matched output/stocks and product-specific port allocation.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access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Fuel balance + port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5" action="ppaction://hlinksldjump"/>
                        </a:rPr>
                        <a:t>5</a:t>
                      </a:r>
                      <a:r>
                        <a:rPr sz="1100">
                          <a:solidFill>
                            <a:srgbClr val="0A2373"/>
                          </a:solidFill>
                          <a:latin typeface="Lato"/>
                          <a:hlinkClick r:id="rId6" action="ppaction://hlinksldjump"/>
                        </a:rPr>
                        <a:t> / 6</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C1</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and levers</a:t>
                      </a:r>
                    </a:p>
                    <a:p>
                      <a:pPr>
                        <a:spcAft>
                          <a:spcPts val="0"/>
                        </a:spcAft>
                        <a:defRPr sz="1050" b="0">
                          <a:solidFill>
                            <a:srgbClr val="000000"/>
                          </a:solidFill>
                          <a:latin typeface="Lato"/>
                        </a:defRPr>
                      </a:pPr>
                      <a:r>
                        <a:t>Have: indexed passenger/freight stocks, agriculture/industry, power and road/rail. Source ICE splits and intensities; calibrate litres effects.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review</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define; W2–W4 test</a:t>
                      </a:r>
                    </a:p>
                    <a:p>
                      <a:pPr>
                        <a:spcAft>
                          <a:spcPts val="0"/>
                        </a:spcAft>
                        <a:defRPr sz="1050" b="0">
                          <a:solidFill>
                            <a:srgbClr val="000000"/>
                          </a:solidFill>
                          <a:latin typeface="Lato"/>
                        </a:defRPr>
                      </a:pPr>
                      <a:r>
                        <a:t>Lever-to-demand bridge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7" action="ppaction://hlinksldjump"/>
                        </a:rPr>
                        <a:t>7</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C2</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Refinery and plant scenarios</a:t>
                      </a:r>
                    </a:p>
                    <a:p>
                      <a:pPr>
                        <a:spcAft>
                          <a:spcPts val="0"/>
                        </a:spcAft>
                        <a:defRPr sz="1050" b="0">
                          <a:solidFill>
                            <a:srgbClr val="000000"/>
                          </a:solidFill>
                          <a:latin typeface="Lato"/>
                        </a:defRPr>
                      </a:pPr>
                      <a:r>
                        <a:t>Have: published capacity history and conditional CEF case. Agree timing/yields; resolve repeated keys and plant mechanisms.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Henry / Nigel</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W1–W3</a:t>
                      </a:r>
                    </a:p>
                    <a:p>
                      <a:pPr>
                        <a:spcAft>
                          <a:spcPts val="0"/>
                        </a:spcAft>
                        <a:defRPr sz="1050" b="0">
                          <a:solidFill>
                            <a:srgbClr val="000000"/>
                          </a:solidFill>
                          <a:latin typeface="Lato"/>
                        </a:defRPr>
                      </a:pPr>
                      <a:r>
                        <a:t>Plant output + imports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8" action="ppaction://hlinksldjump"/>
                        </a:rPr>
                        <a:t>8</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C3</a:t>
                      </a:r>
                    </a:p>
                    <a:p>
                      <a:pPr>
                        <a:spcAft>
                          <a:spcPts val="0"/>
                        </a:spcAft>
                        <a:defRPr sz="1000" b="1">
                          <a:solidFill>
                            <a:srgbClr val="0A2373"/>
                          </a:solidFill>
                          <a:latin typeface="Lato"/>
                        </a:defRPr>
                      </a:pPr>
                      <a:r>
                        <a:t>Complication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Economic accessibility and competing routes</a:t>
                      </a:r>
                    </a:p>
                    <a:p>
                      <a:pPr>
                        <a:spcAft>
                          <a:spcPts val="0"/>
                        </a:spcAft>
                        <a:defRPr sz="1050" b="0">
                          <a:solidFill>
                            <a:srgbClr val="000000"/>
                          </a:solidFill>
                          <a:latin typeface="Lato"/>
                        </a:defRPr>
                      </a:pPr>
                      <a:r>
                        <a:t>Cost map is illustrative. Compare Durban–NMPP–Lesedi, road/rail, Matola and Walvis Bay for the same product and destination.</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Manish</a:t>
                      </a:r>
                    </a:p>
                    <a:p>
                      <a:pPr>
                        <a:spcAft>
                          <a:spcPts val="0"/>
                        </a:spcAft>
                        <a:defRPr sz="1000" b="0">
                          <a:solidFill>
                            <a:srgbClr val="000000"/>
                          </a:solidFill>
                          <a:latin typeface="Lato"/>
                        </a:defRPr>
                      </a:pPr>
                      <a:r>
                        <a:t>Nigel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scope; W2–W4 test</a:t>
                      </a:r>
                    </a:p>
                    <a:p>
                      <a:pPr>
                        <a:spcAft>
                          <a:spcPts val="0"/>
                        </a:spcAft>
                        <a:defRPr sz="1050" b="0">
                          <a:solidFill>
                            <a:srgbClr val="000000"/>
                          </a:solidFill>
                          <a:latin typeface="Lato"/>
                        </a:defRPr>
                      </a:pPr>
                      <a:r>
                        <a:t>Delivered R/litre + access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9" action="ppaction://hlinksldjump"/>
                        </a:rPr>
                        <a:t>9</a:t>
                      </a:r>
                      <a:r>
                        <a:rPr sz="1100">
                          <a:solidFill>
                            <a:srgbClr val="0A2373"/>
                          </a:solidFill>
                          <a:latin typeface="Lato"/>
                          <a:hlinkClick r:id="rId10" action="ppaction://hlinksldjump"/>
                        </a:rPr>
                        <a:t> / 10</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R1</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Actual Vopak share and contestable customer demand</a:t>
                      </a:r>
                    </a:p>
                    <a:p>
                      <a:pPr>
                        <a:spcAft>
                          <a:spcPts val="0"/>
                        </a:spcAft>
                        <a:defRPr sz="1050" b="0">
                          <a:solidFill>
                            <a:srgbClr val="000000"/>
                          </a:solidFill>
                          <a:latin typeface="Lato"/>
                        </a:defRPr>
                      </a:pPr>
                      <a:r>
                        <a:t>Share is unknown. Test each candidate increment against cost, physical capacity, commercial rights and unique deliveries.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client data</a:t>
                      </a:r>
                    </a:p>
                    <a:p>
                      <a:pPr>
                        <a:spcAft>
                          <a:spcPts val="0"/>
                        </a:spcAft>
                        <a:defRPr sz="1000" b="0">
                          <a:solidFill>
                            <a:srgbClr val="000000"/>
                          </a:solidFill>
                          <a:latin typeface="Lato"/>
                        </a:defRPr>
                      </a:pPr>
                      <a:r>
                        <a:t>Manish analysis</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W1 request; W2–W4 test</a:t>
                      </a:r>
                    </a:p>
                    <a:p>
                      <a:pPr>
                        <a:spcAft>
                          <a:spcPts val="0"/>
                        </a:spcAft>
                        <a:defRPr sz="1050" b="0">
                          <a:solidFill>
                            <a:srgbClr val="000000"/>
                          </a:solidFill>
                          <a:latin typeface="Lato"/>
                        </a:defRPr>
                      </a:pPr>
                      <a:r>
                        <a:t>Served + contestable litres</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1" action="ppaction://hlinksldjump"/>
                        </a:rPr>
                        <a:t>11</a:t>
                      </a:r>
                      <a:r>
                        <a:rPr sz="1100">
                          <a:solidFill>
                            <a:srgbClr val="0A2373"/>
                          </a:solidFill>
                          <a:latin typeface="Lato"/>
                          <a:hlinkClick r:id="rId12" action="ppaction://hlinksldjump"/>
                        </a:rPr>
                        <a:t> / 12</a:t>
                      </a:r>
                      <a:r>
                        <a:rPr sz="1100">
                          <a:solidFill>
                            <a:srgbClr val="0A2373"/>
                          </a:solidFill>
                          <a:latin typeface="Lato"/>
                          <a:hlinkClick r:id="rId13" action="ppaction://hlinksldjump"/>
                        </a:rPr>
                        <a:t> / 13</a:t>
                      </a:r>
                    </a:p>
                  </a:txBody>
                  <a:tcPr marL="45720" marR="45720" marT="50292" marB="18288" anchor="t">
                    <a:lnB w="7620" cap="flat">
                      <a:solidFill>
                        <a:srgbClr val="EEEEEE"/>
                      </a:solidFill>
                    </a:lnB>
                    <a:solidFill>
                      <a:srgbClr val="FFFFFF"/>
                    </a:solidFill>
                  </a:tcPr>
                </a:tc>
              </a:tr>
              <a:tr h="524865">
                <a:tc>
                  <a:txBody>
                    <a:bodyPr/>
                    <a:lstStyle/>
                    <a:p>
                      <a:pPr>
                        <a:spcAft>
                          <a:spcPts val="0"/>
                        </a:spcAft>
                        <a:defRPr sz="1000" b="1">
                          <a:solidFill>
                            <a:srgbClr val="0A2373"/>
                          </a:solidFill>
                          <a:latin typeface="Lato"/>
                        </a:defRPr>
                      </a:pPr>
                      <a:r>
                        <a:t>R2</a:t>
                      </a:r>
                    </a:p>
                    <a:p>
                      <a:pPr>
                        <a:spcAft>
                          <a:spcPts val="0"/>
                        </a:spcAft>
                        <a:defRPr sz="1000" b="1">
                          <a:solidFill>
                            <a:srgbClr val="0A2373"/>
                          </a:solidFill>
                          <a:latin typeface="Lato"/>
                        </a:defRPr>
                      </a:pPr>
                      <a:r>
                        <a:t>Resolution</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Storage and optional investment</a:t>
                      </a:r>
                    </a:p>
                    <a:p>
                      <a:pPr>
                        <a:spcAft>
                          <a:spcPts val="0"/>
                        </a:spcAft>
                        <a:defRPr sz="1050" b="0">
                          <a:solidFill>
                            <a:srgbClr val="000000"/>
                          </a:solidFill>
                          <a:latin typeface="Lato"/>
                        </a:defRPr>
                      </a:pPr>
                      <a:r>
                        <a:t>Partial published stocks are available. Verify usable product capacity; size additional service needs only after the incremental flow case.</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Nigel priority</a:t>
                      </a:r>
                    </a:p>
                    <a:p>
                      <a:pPr>
                        <a:spcAft>
                          <a:spcPts val="0"/>
                        </a:spcAft>
                        <a:defRPr sz="1000" b="0">
                          <a:solidFill>
                            <a:srgbClr val="000000"/>
                          </a:solidFill>
                          <a:latin typeface="Lato"/>
                        </a:defRPr>
                      </a:pPr>
                      <a:r>
                        <a:t>Manish / Henry</a:t>
                      </a:r>
                    </a:p>
                  </a:txBody>
                  <a:tcPr marL="45720" marR="45720" marT="50292"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W4–W6 if prioritised</a:t>
                      </a:r>
                    </a:p>
                    <a:p>
                      <a:pPr>
                        <a:spcAft>
                          <a:spcPts val="0"/>
                        </a:spcAft>
                        <a:defRPr sz="1050" b="0">
                          <a:solidFill>
                            <a:srgbClr val="000000"/>
                          </a:solidFill>
                          <a:latin typeface="Lato"/>
                        </a:defRPr>
                      </a:pPr>
                      <a:r>
                        <a:t>Flow-to-stock / investment</a:t>
                      </a:r>
                    </a:p>
                  </a:txBody>
                  <a:tcPr marL="45720" marR="45720" marT="50292" marB="18288" anchor="t">
                    <a:lnB w="7620" cap="flat">
                      <a:solidFill>
                        <a:srgbClr val="EEEEEE"/>
                      </a:solidFill>
                    </a:lnB>
                    <a:solidFill>
                      <a:srgbClr val="FFFFFF"/>
                    </a:solidFill>
                  </a:tcPr>
                </a:tc>
                <a:tc>
                  <a:txBody>
                    <a:bodyPr/>
                    <a:lstStyle/>
                    <a:p>
                      <a:pPr>
                        <a:spcAft>
                          <a:spcPts val="0"/>
                        </a:spcAft>
                        <a:defRPr sz="1000" b="0">
                          <a:solidFill>
                            <a:srgbClr val="0A2373"/>
                          </a:solidFill>
                          <a:latin typeface="Lato"/>
                        </a:defRPr>
                      </a:pPr>
                      <a:r>
                        <a:rPr sz="1100">
                          <a:solidFill>
                            <a:srgbClr val="0A2373"/>
                          </a:solidFill>
                          <a:latin typeface="Lato"/>
                          <a:hlinkClick r:id="rId14" action="ppaction://hlinksldjump"/>
                        </a:rPr>
                        <a:t>14</a:t>
                      </a:r>
                      <a:r>
                        <a:rPr sz="1100">
                          <a:solidFill>
                            <a:srgbClr val="0A2373"/>
                          </a:solidFill>
                          <a:latin typeface="Lato"/>
                          <a:hlinkClick r:id="rId15" action="ppaction://hlinksldjump"/>
                        </a:rPr>
                        <a:t> / 15</a:t>
                      </a:r>
                    </a:p>
                  </a:txBody>
                  <a:tcPr marL="45720" marR="45720" marT="50292" marB="18288" anchor="t">
                    <a:lnB w="7620" cap="flat">
                      <a:solidFill>
                        <a:srgbClr val="EEEEEE"/>
                      </a:solidFill>
                    </a:lnB>
                    <a:solidFill>
                      <a:srgbClr val="FFFFFF"/>
                    </a:solidFill>
                  </a:tcPr>
                </a:tc>
              </a:tr>
            </a:tbl>
          </a:graphicData>
        </a:graphic>
      </p:graphicFrame>
      <p:sp>
        <p:nvSpPr>
          <p:cNvPr id="44" name="TextBox 43"/>
          <p:cNvSpPr txBox="1"/>
          <p:nvPr/>
        </p:nvSpPr>
        <p:spPr>
          <a:xfrm>
            <a:off x="457200" y="6263640"/>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 diesel; jet separate. Owners and weeks are proposed. Open gaps and illustrations remain explicitly labelled.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Collect the national fuel balance and expose source disagreements</a:t>
            </a:r>
          </a:p>
        </p:txBody>
      </p:sp>
      <p:sp>
        <p:nvSpPr>
          <p:cNvPr id="3" name="Slide Number Placeholder"/>
          <p:cNvSpPr>
            <a:spLocks noGrp="1"/>
          </p:cNvSpPr>
          <p:nvPr>
            <p:ph type="sldNum" sz="quarter" idx="12"/>
          </p:nvPr>
        </p:nvSpPr>
        <p:spPr/>
        <p:txBody>
          <a:bodyPr/>
          <a:lstStyle/>
          <a:p>
            <a:fld id="{14C42168-C767-432E-B98B-C2032E317CB0}"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Government Energy Trade Report 2024, printed pp.12–13; FIASA 2025, pp.47–49; energy balance 2021. Rounded trade figures.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COLLECTED | trade and sales; production/stock reconciliation remains open</a:t>
            </a:r>
          </a:p>
        </p:txBody>
      </p:sp>
      <p:graphicFrame>
        <p:nvGraphicFramePr>
          <p:cNvPr id="30" name="Table 29"/>
          <p:cNvGraphicFramePr>
            <a:graphicFrameLocks noGrp="1"/>
          </p:cNvGraphicFramePr>
          <p:nvPr/>
        </p:nvGraphicFramePr>
        <p:xfrm>
          <a:off x="457200" y="2660904"/>
          <a:ext cx="6446520" cy="1252728"/>
        </p:xfrm>
        <a:graphic>
          <a:graphicData uri="http://schemas.openxmlformats.org/drawingml/2006/table">
            <a:tbl>
              <a:tblPr firstRow="1" bandRow="1">
                <a:tableStyleId>{2D5ABB26-0587-4C30-8999-92F81FD0307C}</a:tableStyleId>
              </a:tblPr>
              <a:tblGrid>
                <a:gridCol w="1234440"/>
                <a:gridCol w="1280160"/>
                <a:gridCol w="1280160"/>
                <a:gridCol w="1280160"/>
                <a:gridCol w="1371600"/>
              </a:tblGrid>
              <a:tr h="313182">
                <a:tc>
                  <a:txBody>
                    <a:bodyPr/>
                    <a:lstStyle/>
                    <a:p>
                      <a:pPr>
                        <a:spcAft>
                          <a:spcPts val="0"/>
                        </a:spcAft>
                        <a:defRPr sz="1200" b="1">
                          <a:solidFill>
                            <a:srgbClr val="000000"/>
                          </a:solidFill>
                          <a:latin typeface="Lato"/>
                        </a:defRPr>
                      </a:pPr>
                      <a:r>
                        <a:t>Product</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Reported</a:t>
                      </a:r>
                    </a:p>
                    <a:p>
                      <a:pPr>
                        <a:spcAft>
                          <a:spcPts val="0"/>
                        </a:spcAft>
                        <a:defRPr sz="1200" b="1">
                          <a:solidFill>
                            <a:srgbClr val="000000"/>
                          </a:solidFill>
                          <a:latin typeface="Lato"/>
                        </a:defRPr>
                      </a:pPr>
                      <a:r>
                        <a:t>sales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Exports</a:t>
                      </a:r>
                    </a:p>
                  </a:txBody>
                  <a:tcPr marL="50292" marR="50292" marT="41148" marB="41148" anchor="ctr">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Net imports</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Petrol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9.029</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4.000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0.920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3.080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Diesel</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11.734</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0.790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10.010</a:t>
                      </a:r>
                    </a:p>
                  </a:txBody>
                  <a:tcPr marL="50292" marR="50292" marT="41148" marB="41148" anchor="ctr">
                    <a:lnB w="6350" cap="flat">
                      <a:solidFill>
                        <a:srgbClr val="EEEEEE"/>
                      </a:solidFill>
                    </a:lnB>
                    <a:solidFill>
                      <a:srgbClr val="FFFFFF"/>
                    </a:solidFill>
                  </a:tcPr>
                </a:tc>
              </a:tr>
              <a:tr h="313182">
                <a:tc>
                  <a:txBody>
                    <a:bodyPr/>
                    <a:lstStyle/>
                    <a:p>
                      <a:pPr>
                        <a:spcAft>
                          <a:spcPts val="0"/>
                        </a:spcAft>
                        <a:defRPr sz="1200" b="0">
                          <a:solidFill>
                            <a:srgbClr val="000000"/>
                          </a:solidFill>
                          <a:latin typeface="Lato"/>
                        </a:defRPr>
                      </a:pPr>
                      <a:r>
                        <a:t>Combined</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20.763</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14.800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1.710</a:t>
                      </a:r>
                    </a:p>
                  </a:txBody>
                  <a:tcPr marL="50292" marR="50292" marT="41148" marB="41148" anchor="ctr">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13.090</a:t>
                      </a:r>
                    </a:p>
                  </a:txBody>
                  <a:tcPr marL="50292" marR="50292" marT="41148" marB="41148" anchor="ctr">
                    <a:lnB w="6350" cap="flat">
                      <a:solidFill>
                        <a:srgbClr val="EEEEEE"/>
                      </a:solidFill>
                    </a:lnB>
                    <a:solidFill>
                      <a:srgbClr val="FFFFFF"/>
                    </a:solidFill>
                  </a:tcPr>
                </a:tc>
              </a:tr>
            </a:tbl>
          </a:graphicData>
        </a:graphic>
      </p:graphicFrame>
      <p:sp>
        <p:nvSpPr>
          <p:cNvPr id="31" name="TextBox 30"/>
          <p:cNvSpPr txBox="1"/>
          <p:nvPr/>
        </p:nvSpPr>
        <p:spPr>
          <a:xfrm>
            <a:off x="457200" y="4142232"/>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Source flag | 2024 diesel imports</a:t>
            </a:r>
          </a:p>
        </p:txBody>
      </p:sp>
      <p:sp>
        <p:nvSpPr>
          <p:cNvPr id="32" name="TextBox 31"/>
          <p:cNvSpPr txBox="1"/>
          <p:nvPr/>
        </p:nvSpPr>
        <p:spPr>
          <a:xfrm>
            <a:off x="457200" y="4526280"/>
            <a:ext cx="6446520" cy="576072"/>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FIASA staged: 14.793  |  Government report: 10.800</a:t>
            </a:r>
          </a:p>
          <a:p>
            <a:pPr>
              <a:spcAft>
                <a:spcPts val="300"/>
              </a:spcAft>
              <a:defRPr sz="1200" b="0">
                <a:solidFill>
                  <a:srgbClr val="000000"/>
                </a:solidFill>
                <a:latin typeface="Lato"/>
              </a:defRPr>
            </a:pPr>
            <a:r>
              <a:t>Difference: -3.993 bn L. Preserve both; investigate scope and vintage.</a:t>
            </a:r>
          </a:p>
        </p:txBody>
      </p:sp>
      <p:sp>
        <p:nvSpPr>
          <p:cNvPr id="33" name="TextBox 32"/>
          <p:cNvSpPr txBox="1"/>
          <p:nvPr/>
        </p:nvSpPr>
        <p:spPr>
          <a:xfrm>
            <a:off x="457200" y="5358384"/>
            <a:ext cx="6446520" cy="310896"/>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Domestic production remains a dated observation</a:t>
            </a:r>
          </a:p>
        </p:txBody>
      </p:sp>
      <p:sp>
        <p:nvSpPr>
          <p:cNvPr id="34" name="TextBox 33"/>
          <p:cNvSpPr txBox="1"/>
          <p:nvPr/>
        </p:nvSpPr>
        <p:spPr>
          <a:xfrm>
            <a:off x="457200" y="5724144"/>
            <a:ext cx="6446520" cy="4937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Latest staged balance: 2021 petrol 6.35; diesel 5.31 bn L.</a:t>
            </a:r>
          </a:p>
          <a:p>
            <a:pPr>
              <a:spcAft>
                <a:spcPts val="300"/>
              </a:spcAft>
              <a:defRPr sz="1200" b="0">
                <a:solidFill>
                  <a:srgbClr val="000000"/>
                </a:solidFill>
                <a:latin typeface="Lato"/>
              </a:defRPr>
            </a:pPr>
            <a:r>
              <a:t>Do not combine 2021 output with 2024 sales/trade to close a balance.</a:t>
            </a:r>
          </a:p>
        </p:txBody>
      </p:sp>
      <p:sp>
        <p:nvSpPr>
          <p:cNvPr id="35" name="TextBox 3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36" name="TextBox 3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Public figures are collectable</a:t>
            </a:r>
          </a:p>
        </p:txBody>
      </p:sp>
      <p:sp>
        <p:nvSpPr>
          <p:cNvPr id="37" name="TextBox 3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petrol/diesel imports total 14.8 bn L in the government report. Exports total 1.71 bn L; these are rounded reported figures.</a:t>
            </a:r>
          </a:p>
        </p:txBody>
      </p:sp>
      <p:sp>
        <p:nvSpPr>
          <p:cNvPr id="38" name="TextBox 3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The sources disagree</a:t>
            </a:r>
          </a:p>
        </p:txBody>
      </p:sp>
      <p:sp>
        <p:nvSpPr>
          <p:cNvPr id="39" name="TextBox 3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14.793 bn L of diesel imports for 2024 versus 10.8 bn L in the government report. Neither value has been silently replaced.</a:t>
            </a:r>
          </a:p>
        </p:txBody>
      </p:sp>
      <p:sp>
        <p:nvSpPr>
          <p:cNvPr id="40" name="TextBox 3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Port cargo has wider coverage</a:t>
            </a:r>
          </a:p>
        </p:txBody>
      </p:sp>
      <p:sp>
        <p:nvSpPr>
          <p:cNvPr id="41" name="TextBox 4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TNPA publishes liquid-bulk cargo by port, but it includes crude and other liquids. It does not establish petrol/diesel import allocation.</a:t>
            </a:r>
          </a:p>
        </p:txBody>
      </p:sp>
      <p:cxnSp>
        <p:nvCxnSpPr>
          <p:cNvPr id="42" name="Connector 4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4" name="TextBox 4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raw SARS product codes and units, then source matched-year production and stocks. Nigel: confirm access to product-specific port data.</a:t>
            </a:r>
          </a:p>
        </p:txBody>
      </p:sp>
      <p:sp>
        <p:nvSpPr>
          <p:cNvPr id="45" name="SCR backlink S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S2 | Situation | Return to overview: page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passenger, freight and sector activity driving fuel demand</a:t>
            </a:r>
          </a:p>
        </p:txBody>
      </p:sp>
      <p:sp>
        <p:nvSpPr>
          <p:cNvPr id="3" name="Slide Number Placeholder"/>
          <p:cNvSpPr>
            <a:spLocks noGrp="1"/>
          </p:cNvSpPr>
          <p:nvPr>
            <p:ph type="sldNum" sz="quarter" idx="12"/>
          </p:nvPr>
        </p:nvSpPr>
        <p:spPr/>
        <p:txBody>
          <a:bodyPr/>
          <a:lstStyle/>
          <a:p>
            <a:fld id="{2C5AFC57-A145-4FEA-8F7B-FA71CE4C8CFA}" type="slidenum">
              <a:rPr lang="en-US"/>
              <a:t>‹#›</a:t>
            </a:fld>
          </a:p>
        </p:txBody>
      </p:sp>
      <p:sp>
        <p:nvSpPr>
          <p:cNvPr id="4" name="Section navigation 1">
            <a:hlinkClick action="ppaction://hlinksldjump" r:id="rId9"/>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10"/>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11"/>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12"/>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Dec snapshots; Stats SA P0441 Q2 2026 / P7162 Dec 2025; Eskom integrated reports; naamsa Q2 2026. Series and scope in notes.</a:t>
            </a:r>
          </a:p>
        </p:txBody>
      </p:sp>
      <p:sp>
        <p:nvSpPr>
          <p:cNvPr id="29" name="TextBox 28"/>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Demand-driver dashboard | every series indexed to 2024 = 100</a:t>
            </a:r>
          </a:p>
        </p:txBody>
      </p:sp>
      <p:cxnSp>
        <p:nvCxnSpPr>
          <p:cNvPr id="30" name="Connector 2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148840"/>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Common 0–120 scale. Activity proxies, not fuel litres; vehicle ICE split unresolved.</a:t>
            </a:r>
          </a:p>
        </p:txBody>
      </p:sp>
      <p:sp>
        <p:nvSpPr>
          <p:cNvPr id="34" name="TextBox 33"/>
          <p:cNvSpPr txBox="1"/>
          <p:nvPr/>
        </p:nvSpPr>
        <p:spPr>
          <a:xfrm>
            <a:off x="457200"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stock | all fuels; Dec</a:t>
            </a:r>
          </a:p>
        </p:txBody>
      </p:sp>
      <p:graphicFrame>
        <p:nvGraphicFramePr>
          <p:cNvPr id="35" name="Chart 34"/>
          <p:cNvGraphicFramePr>
            <a:graphicFrameLocks noGrp="1"/>
          </p:cNvGraphicFramePr>
          <p:nvPr/>
        </p:nvGraphicFramePr>
        <p:xfrm>
          <a:off x="457200" y="2761488"/>
          <a:ext cx="3108960" cy="713232"/>
        </p:xfrm>
        <a:graphic>
          <a:graphicData uri="http://schemas.openxmlformats.org/drawingml/2006/chart">
            <c:chart xmlns:c="http://schemas.openxmlformats.org/drawingml/2006/chart" r:id="rId3"/>
          </a:graphicData>
        </a:graphic>
      </p:graphicFrame>
      <p:cxnSp>
        <p:nvCxnSpPr>
          <p:cNvPr id="36" name="Connector 35"/>
          <p:cNvCxnSpPr/>
          <p:nvPr/>
        </p:nvCxnSpPr>
        <p:spPr>
          <a:xfrm>
            <a:off x="795528"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33271"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Cars</a:t>
            </a:r>
          </a:p>
        </p:txBody>
      </p:sp>
      <p:cxnSp>
        <p:nvCxnSpPr>
          <p:cNvPr id="38" name="Connector 37"/>
          <p:cNvCxnSpPr/>
          <p:nvPr/>
        </p:nvCxnSpPr>
        <p:spPr>
          <a:xfrm>
            <a:off x="2176272"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414015"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Minibuses</a:t>
            </a:r>
          </a:p>
        </p:txBody>
      </p:sp>
      <p:sp>
        <p:nvSpPr>
          <p:cNvPr id="40" name="TextBox 39"/>
          <p:cNvSpPr txBox="1"/>
          <p:nvPr/>
        </p:nvSpPr>
        <p:spPr>
          <a:xfrm>
            <a:off x="3785616" y="2505456"/>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stock | all fuels; Dec</a:t>
            </a:r>
          </a:p>
        </p:txBody>
      </p:sp>
      <p:graphicFrame>
        <p:nvGraphicFramePr>
          <p:cNvPr id="41" name="Chart 40"/>
          <p:cNvGraphicFramePr>
            <a:graphicFrameLocks noGrp="1"/>
          </p:cNvGraphicFramePr>
          <p:nvPr/>
        </p:nvGraphicFramePr>
        <p:xfrm>
          <a:off x="3785616" y="2761488"/>
          <a:ext cx="3108960" cy="713232"/>
        </p:xfrm>
        <a:graphic>
          <a:graphicData uri="http://schemas.openxmlformats.org/drawingml/2006/chart">
            <c:chart xmlns:c="http://schemas.openxmlformats.org/drawingml/2006/chart" r:id="rId4"/>
          </a:graphicData>
        </a:graphic>
      </p:graphicFrame>
      <p:cxnSp>
        <p:nvCxnSpPr>
          <p:cNvPr id="42" name="Connector 41"/>
          <p:cNvCxnSpPr/>
          <p:nvPr/>
        </p:nvCxnSpPr>
        <p:spPr>
          <a:xfrm>
            <a:off x="4123944" y="3575304"/>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61688"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Trucks</a:t>
            </a:r>
          </a:p>
        </p:txBody>
      </p:sp>
      <p:cxnSp>
        <p:nvCxnSpPr>
          <p:cNvPr id="44" name="Connector 43"/>
          <p:cNvCxnSpPr/>
          <p:nvPr/>
        </p:nvCxnSpPr>
        <p:spPr>
          <a:xfrm>
            <a:off x="5504688" y="3575304"/>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742432" y="3474720"/>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Light commercial</a:t>
            </a:r>
          </a:p>
        </p:txBody>
      </p:sp>
      <p:sp>
        <p:nvSpPr>
          <p:cNvPr id="46" name="TextBox 45"/>
          <p:cNvSpPr txBox="1"/>
          <p:nvPr/>
        </p:nvSpPr>
        <p:spPr>
          <a:xfrm>
            <a:off x="457200"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968496"/>
          <a:ext cx="3108960" cy="713232"/>
        </p:xfrm>
        <a:graphic>
          <a:graphicData uri="http://schemas.openxmlformats.org/drawingml/2006/chart">
            <c:chart xmlns:c="http://schemas.openxmlformats.org/drawingml/2006/chart" r:id="rId5"/>
          </a:graphicData>
        </a:graphic>
      </p:graphicFrame>
      <p:cxnSp>
        <p:nvCxnSpPr>
          <p:cNvPr id="48" name="Connector 47"/>
          <p:cNvCxnSpPr/>
          <p:nvPr/>
        </p:nvCxnSpPr>
        <p:spPr>
          <a:xfrm>
            <a:off x="795528"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033271" y="4681728"/>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Agriculture / forestry / fishing</a:t>
            </a:r>
          </a:p>
        </p:txBody>
      </p:sp>
      <p:sp>
        <p:nvSpPr>
          <p:cNvPr id="50" name="TextBox 49"/>
          <p:cNvSpPr txBox="1"/>
          <p:nvPr/>
        </p:nvSpPr>
        <p:spPr>
          <a:xfrm>
            <a:off x="3785616" y="3712464"/>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Industry | real value added, CY</a:t>
            </a:r>
          </a:p>
        </p:txBody>
      </p:sp>
      <p:graphicFrame>
        <p:nvGraphicFramePr>
          <p:cNvPr id="51" name="Chart 50"/>
          <p:cNvGraphicFramePr>
            <a:graphicFrameLocks noGrp="1"/>
          </p:cNvGraphicFramePr>
          <p:nvPr/>
        </p:nvGraphicFramePr>
        <p:xfrm>
          <a:off x="3785616" y="3968496"/>
          <a:ext cx="3108960" cy="713232"/>
        </p:xfrm>
        <a:graphic>
          <a:graphicData uri="http://schemas.openxmlformats.org/drawingml/2006/chart">
            <c:chart xmlns:c="http://schemas.openxmlformats.org/drawingml/2006/chart" r:id="rId6"/>
          </a:graphicData>
        </a:graphic>
      </p:graphicFrame>
      <p:cxnSp>
        <p:nvCxnSpPr>
          <p:cNvPr id="52" name="Connector 51"/>
          <p:cNvCxnSpPr/>
          <p:nvPr/>
        </p:nvCxnSpPr>
        <p:spPr>
          <a:xfrm>
            <a:off x="4123944" y="4782312"/>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361688"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Manufacturing</a:t>
            </a:r>
          </a:p>
        </p:txBody>
      </p:sp>
      <p:cxnSp>
        <p:nvCxnSpPr>
          <p:cNvPr id="54" name="Connector 53"/>
          <p:cNvCxnSpPr/>
          <p:nvPr/>
        </p:nvCxnSpPr>
        <p:spPr>
          <a:xfrm>
            <a:off x="5504688" y="4782312"/>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42432" y="4681728"/>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Mining</a:t>
            </a:r>
          </a:p>
        </p:txBody>
      </p:sp>
      <p:sp>
        <p:nvSpPr>
          <p:cNvPr id="56" name="TextBox 55"/>
          <p:cNvSpPr txBox="1"/>
          <p:nvPr/>
        </p:nvSpPr>
        <p:spPr>
          <a:xfrm>
            <a:off x="457200"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Power | OCGT generation, FY</a:t>
            </a:r>
          </a:p>
        </p:txBody>
      </p:sp>
      <p:graphicFrame>
        <p:nvGraphicFramePr>
          <p:cNvPr id="57" name="Chart 56"/>
          <p:cNvGraphicFramePr>
            <a:graphicFrameLocks noGrp="1"/>
          </p:cNvGraphicFramePr>
          <p:nvPr/>
        </p:nvGraphicFramePr>
        <p:xfrm>
          <a:off x="457200" y="5175504"/>
          <a:ext cx="3108960" cy="713232"/>
        </p:xfrm>
        <a:graphic>
          <a:graphicData uri="http://schemas.openxmlformats.org/drawingml/2006/chart">
            <c:chart xmlns:c="http://schemas.openxmlformats.org/drawingml/2006/chart" r:id="rId7"/>
          </a:graphicData>
        </a:graphic>
      </p:graphicFrame>
      <p:cxnSp>
        <p:nvCxnSpPr>
          <p:cNvPr id="58" name="Connector 57"/>
          <p:cNvCxnSpPr/>
          <p:nvPr/>
        </p:nvCxnSpPr>
        <p:spPr>
          <a:xfrm>
            <a:off x="795528"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033271" y="5888736"/>
            <a:ext cx="2532888"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Eskom + IPP</a:t>
            </a:r>
          </a:p>
        </p:txBody>
      </p:sp>
      <p:sp>
        <p:nvSpPr>
          <p:cNvPr id="60" name="TextBox 59"/>
          <p:cNvSpPr txBox="1"/>
          <p:nvPr/>
        </p:nvSpPr>
        <p:spPr>
          <a:xfrm>
            <a:off x="3785616" y="4919472"/>
            <a:ext cx="310896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activity | payload, CY</a:t>
            </a:r>
          </a:p>
        </p:txBody>
      </p:sp>
      <p:graphicFrame>
        <p:nvGraphicFramePr>
          <p:cNvPr id="61" name="Chart 60"/>
          <p:cNvGraphicFramePr>
            <a:graphicFrameLocks noGrp="1"/>
          </p:cNvGraphicFramePr>
          <p:nvPr/>
        </p:nvGraphicFramePr>
        <p:xfrm>
          <a:off x="3785616" y="5175504"/>
          <a:ext cx="3108960" cy="713232"/>
        </p:xfrm>
        <a:graphic>
          <a:graphicData uri="http://schemas.openxmlformats.org/drawingml/2006/chart">
            <c:chart xmlns:c="http://schemas.openxmlformats.org/drawingml/2006/chart" r:id="rId8"/>
          </a:graphicData>
        </a:graphic>
      </p:graphicFrame>
      <p:cxnSp>
        <p:nvCxnSpPr>
          <p:cNvPr id="62" name="Connector 61"/>
          <p:cNvCxnSpPr/>
          <p:nvPr/>
        </p:nvCxnSpPr>
        <p:spPr>
          <a:xfrm>
            <a:off x="4123944" y="5989320"/>
            <a:ext cx="201168"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361688"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Road</a:t>
            </a:r>
          </a:p>
        </p:txBody>
      </p:sp>
      <p:cxnSp>
        <p:nvCxnSpPr>
          <p:cNvPr id="64" name="Connector 63"/>
          <p:cNvCxnSpPr/>
          <p:nvPr/>
        </p:nvCxnSpPr>
        <p:spPr>
          <a:xfrm>
            <a:off x="5504688" y="5989320"/>
            <a:ext cx="201168"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742432" y="5888736"/>
            <a:ext cx="1280160" cy="20116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Rail</a:t>
            </a:r>
          </a:p>
        </p:txBody>
      </p:sp>
      <p:sp>
        <p:nvSpPr>
          <p:cNvPr id="66" name="TextBox 65"/>
          <p:cNvSpPr txBox="1"/>
          <p:nvPr/>
        </p:nvSpPr>
        <p:spPr>
          <a:xfrm>
            <a:off x="457200" y="6245352"/>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FY ends March; CY is calendar year. Stock is December snapshot. ICE = internal combustion engine.</a:t>
            </a:r>
          </a:p>
        </p:txBody>
      </p:sp>
      <p:sp>
        <p:nvSpPr>
          <p:cNvPr id="67" name="TextBox 66"/>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68" name="TextBox 67"/>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Passenger and freight ICE need a split</a:t>
            </a:r>
          </a:p>
        </p:txBody>
      </p:sp>
      <p:sp>
        <p:nvSpPr>
          <p:cNvPr id="69" name="TextBox 68"/>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NaTIS separates cars/minibuses and trucks/light commercial, but not petrol, diesel or electric. Stocks are all fuels; kilometres and efficiency remain open.</a:t>
            </a:r>
          </a:p>
        </p:txBody>
      </p:sp>
      <p:sp>
        <p:nvSpPr>
          <p:cNvPr id="70" name="TextBox 69"/>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Sector activity is now explicit</a:t>
            </a:r>
          </a:p>
        </p:txBody>
      </p:sp>
      <p:sp>
        <p:nvSpPr>
          <p:cNvPr id="71" name="TextBox 70"/>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versus 2024: agriculture +17.4%; manufacturing -1.2%. Value added is an activity proxy, not direct fuel consumption.</a:t>
            </a:r>
          </a:p>
        </p:txBody>
      </p:sp>
      <p:sp>
        <p:nvSpPr>
          <p:cNvPr id="72" name="TextBox 71"/>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Uptake and modal levers remain distinct</a:t>
            </a:r>
          </a:p>
        </p:txBody>
      </p:sp>
      <p:sp>
        <p:nvSpPr>
          <p:cNvPr id="73" name="TextBox 72"/>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2025 sales: 1,088 BEVs; 12,818 hybrids. Rail payload +4.7%; road -0.3%. Hybrids still use fuel; payload is not tonne-km.</a:t>
            </a:r>
          </a:p>
        </p:txBody>
      </p:sp>
      <p:cxnSp>
        <p:nvCxnSpPr>
          <p:cNvPr id="74" name="Connector 7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76" name="TextBox 75"/>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source ICE fuel splits, vehicle-km, freight tonne-km and sector fuel intensities. Keep the freight revision flag; refresh prices (annual extract ends 2023). Nigel: agree lever alternatives.</a:t>
            </a:r>
          </a:p>
        </p:txBody>
      </p:sp>
      <p:sp>
        <p:nvSpPr>
          <p:cNvPr id="77" name="SCR backlink C1">
            <a:hlinkClick action="ppaction://hlinksldjump" r:id="rId9"/>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C1 | Complication | Return to overview: page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the capacity history with a conditional redevelopment case</a:t>
            </a:r>
          </a:p>
        </p:txBody>
      </p:sp>
      <p:sp>
        <p:nvSpPr>
          <p:cNvPr id="3" name="Slide Number Placeholder"/>
          <p:cNvSpPr>
            <a:spLocks noGrp="1"/>
          </p:cNvSpPr>
          <p:nvPr>
            <p:ph type="sldNum" sz="quarter" idx="12"/>
          </p:nvPr>
        </p:nvSpPr>
        <p:spPr/>
        <p:txBody>
          <a:bodyPr/>
          <a:lstStyle/>
          <a:p>
            <a:fld id="{ADF7EE19-BD37-4FAE-AA01-704656578BF2}" type="slidenum">
              <a:rPr lang="en-US"/>
              <a:t>‹#›</a:t>
            </a:fld>
          </a:p>
        </p:txBody>
      </p:sp>
      <p:sp>
        <p:nvSpPr>
          <p:cNvPr id="4" name="Section navigation 1">
            <a:hlinkClick action="ppaction://hlinksldjump" r:id="rId5"/>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6"/>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7"/>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8"/>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Annual Report 2025, p.49; CEF statement 23 Sep 2026. Nameplate / crude-equivalent capacity; not actual fuel output.</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2033: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2033: 758 thousand bbl/day</a:t>
            </a:r>
          </a:p>
        </p:txBody>
      </p:sp>
      <p:sp>
        <p:nvSpPr>
          <p:cNvPr id="36" name="TextBox 35"/>
          <p:cNvSpPr txBox="1"/>
          <p:nvPr/>
        </p:nvSpPr>
        <p:spPr>
          <a:xfrm>
            <a:off x="457200" y="5907024"/>
            <a:ext cx="6446520" cy="38404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718 → 538 → 358: published footprint; idle nameplate and synthetic crude-equivalent included.</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 assumes illustrative FID 2029 + 48 months; no sanctioned date. Both hold existing capacity flat.</a:t>
            </a:r>
          </a:p>
        </p:txBody>
      </p:sp>
      <p:sp>
        <p:nvSpPr>
          <p:cNvPr id="38" name="TextBox 3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39" name="TextBox 3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History shows a structural decline</a:t>
            </a:r>
          </a:p>
        </p:txBody>
      </p:sp>
      <p:sp>
        <p:nvSpPr>
          <p:cNvPr id="40" name="TextBox 3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total falls from 718 in 2016–2020 to 538 in 2021 and 358 from 2022–2025. Capacity does not measure realised output.</a:t>
            </a:r>
          </a:p>
        </p:txBody>
      </p:sp>
      <p:sp>
        <p:nvSpPr>
          <p:cNvPr id="41" name="TextBox 4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Redevelopment is conditional</a:t>
            </a:r>
          </a:p>
        </p:txBody>
      </p:sp>
      <p:sp>
        <p:nvSpPr>
          <p:cNvPr id="42" name="TextBox 4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CEF proposes approximately 400 thousand bbl/day after FID. Construction is approximately 48 months; the 2029 FID here is authored for comparison.</a:t>
            </a:r>
          </a:p>
        </p:txBody>
      </p:sp>
      <p:sp>
        <p:nvSpPr>
          <p:cNvPr id="43" name="TextBox 4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Product output still needs modelling</a:t>
            </a:r>
          </a:p>
        </p:txBody>
      </p:sp>
      <p:sp>
        <p:nvSpPr>
          <p:cNvPr id="44" name="TextBox 4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Source utilisation, downtime and product yields before translating capacity into domestic supply. Secunda/Natref cases remain open.</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47" name="TextBox 4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scenario timing. Manish: reconcile plant capacity and output/yields. Henry: review technical feasibility and the Sasol gas-to-liquids mechanism.</a:t>
            </a:r>
          </a:p>
        </p:txBody>
      </p:sp>
      <p:sp>
        <p:nvSpPr>
          <p:cNvPr id="48" name="SCR backlink C2">
            <a:hlinkClick action="ppaction://hlinksldjump" r:id="rId5"/>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C2 | Complication | Return to overview: page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alternative gateways to the same inland customers</a:t>
            </a:r>
          </a:p>
        </p:txBody>
      </p:sp>
      <p:sp>
        <p:nvSpPr>
          <p:cNvPr id="3" name="Slide Number Placeholder"/>
          <p:cNvSpPr>
            <a:spLocks noGrp="1"/>
          </p:cNvSpPr>
          <p:nvPr>
            <p:ph type="sldNum" sz="quarter" idx="12"/>
          </p:nvPr>
        </p:nvSpPr>
        <p:spPr/>
        <p:txBody>
          <a:bodyPr/>
          <a:lstStyle/>
          <a:p>
            <a:fld id="{EF15BB9C-AB21-4E78-A844-D0C40328D44E}"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WBCG Trans-Kalahari; TRAC N4/Maputo corridor; kickoff NMPP schematic; Natural Earth 1:50m. Locations approximate.</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65760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904117" y="2176056"/>
            <a:ext cx="1419859" cy="1052132"/>
          </a:xfrm>
          <a:custGeom>
            <a:avLst/>
            <a:gdLst/>
            <a:ahLst/>
            <a:cxnLst/>
            <a:rect l="l" t="t" r="r" b="b"/>
            <a:pathLst>
              <a:path w="1419859" h="1052132">
                <a:moveTo>
                  <a:pt x="1050785" y="1040379"/>
                </a:moveTo>
                <a:lnTo>
                  <a:pt x="1029249" y="1032132"/>
                </a:lnTo>
                <a:lnTo>
                  <a:pt x="1001590" y="1027403"/>
                </a:lnTo>
                <a:lnTo>
                  <a:pt x="965364" y="1026890"/>
                </a:lnTo>
                <a:lnTo>
                  <a:pt x="920621" y="1030596"/>
                </a:lnTo>
                <a:lnTo>
                  <a:pt x="873228" y="1021096"/>
                </a:lnTo>
                <a:lnTo>
                  <a:pt x="823086" y="998412"/>
                </a:lnTo>
                <a:lnTo>
                  <a:pt x="780991" y="989347"/>
                </a:lnTo>
                <a:lnTo>
                  <a:pt x="730045" y="996076"/>
                </a:lnTo>
                <a:lnTo>
                  <a:pt x="727805" y="996209"/>
                </a:lnTo>
                <a:lnTo>
                  <a:pt x="719270" y="988960"/>
                </a:lnTo>
                <a:lnTo>
                  <a:pt x="705982" y="973525"/>
                </a:lnTo>
                <a:lnTo>
                  <a:pt x="682956" y="970001"/>
                </a:lnTo>
                <a:lnTo>
                  <a:pt x="676808" y="966285"/>
                </a:lnTo>
                <a:lnTo>
                  <a:pt x="671839" y="960551"/>
                </a:lnTo>
                <a:lnTo>
                  <a:pt x="668705" y="953362"/>
                </a:lnTo>
                <a:lnTo>
                  <a:pt x="667641" y="945453"/>
                </a:lnTo>
                <a:lnTo>
                  <a:pt x="672302" y="921130"/>
                </a:lnTo>
                <a:lnTo>
                  <a:pt x="670314" y="918302"/>
                </a:lnTo>
                <a:lnTo>
                  <a:pt x="664219" y="915132"/>
                </a:lnTo>
                <a:lnTo>
                  <a:pt x="651630" y="911723"/>
                </a:lnTo>
                <a:lnTo>
                  <a:pt x="621488" y="899503"/>
                </a:lnTo>
                <a:lnTo>
                  <a:pt x="583450" y="887443"/>
                </a:lnTo>
                <a:lnTo>
                  <a:pt x="521428" y="873621"/>
                </a:lnTo>
                <a:lnTo>
                  <a:pt x="497290" y="869769"/>
                </a:lnTo>
                <a:lnTo>
                  <a:pt x="491770" y="866014"/>
                </a:lnTo>
                <a:lnTo>
                  <a:pt x="484986" y="856776"/>
                </a:lnTo>
                <a:lnTo>
                  <a:pt x="473758" y="828339"/>
                </a:lnTo>
                <a:lnTo>
                  <a:pt x="462951" y="809457"/>
                </a:lnTo>
                <a:lnTo>
                  <a:pt x="436762" y="780080"/>
                </a:lnTo>
                <a:lnTo>
                  <a:pt x="432688" y="771067"/>
                </a:lnTo>
                <a:lnTo>
                  <a:pt x="434591" y="748394"/>
                </a:lnTo>
                <a:lnTo>
                  <a:pt x="437033" y="730104"/>
                </a:lnTo>
                <a:lnTo>
                  <a:pt x="440320" y="714607"/>
                </a:lnTo>
                <a:lnTo>
                  <a:pt x="439365" y="699996"/>
                </a:lnTo>
                <a:lnTo>
                  <a:pt x="439422" y="681885"/>
                </a:lnTo>
                <a:lnTo>
                  <a:pt x="440577" y="669768"/>
                </a:lnTo>
                <a:lnTo>
                  <a:pt x="437059" y="664414"/>
                </a:lnTo>
                <a:lnTo>
                  <a:pt x="427331" y="660453"/>
                </a:lnTo>
                <a:lnTo>
                  <a:pt x="399425" y="658044"/>
                </a:lnTo>
                <a:lnTo>
                  <a:pt x="365622" y="657938"/>
                </a:lnTo>
                <a:lnTo>
                  <a:pt x="364913" y="639497"/>
                </a:lnTo>
                <a:lnTo>
                  <a:pt x="362309" y="610946"/>
                </a:lnTo>
                <a:lnTo>
                  <a:pt x="356313" y="594406"/>
                </a:lnTo>
                <a:lnTo>
                  <a:pt x="348704" y="585703"/>
                </a:lnTo>
                <a:lnTo>
                  <a:pt x="333324" y="576451"/>
                </a:lnTo>
                <a:lnTo>
                  <a:pt x="302021" y="563575"/>
                </a:lnTo>
                <a:lnTo>
                  <a:pt x="259373" y="544184"/>
                </a:lnTo>
                <a:lnTo>
                  <a:pt x="223096" y="516097"/>
                </a:lnTo>
                <a:lnTo>
                  <a:pt x="181422" y="481299"/>
                </a:lnTo>
                <a:lnTo>
                  <a:pt x="168320" y="475185"/>
                </a:lnTo>
                <a:lnTo>
                  <a:pt x="153174" y="442961"/>
                </a:lnTo>
                <a:lnTo>
                  <a:pt x="130096" y="387876"/>
                </a:lnTo>
                <a:lnTo>
                  <a:pt x="131861" y="369650"/>
                </a:lnTo>
                <a:lnTo>
                  <a:pt x="128373" y="360679"/>
                </a:lnTo>
                <a:lnTo>
                  <a:pt x="105547" y="333475"/>
                </a:lnTo>
                <a:lnTo>
                  <a:pt x="100575" y="319446"/>
                </a:lnTo>
                <a:lnTo>
                  <a:pt x="96647" y="305284"/>
                </a:lnTo>
                <a:lnTo>
                  <a:pt x="60124" y="265461"/>
                </a:lnTo>
                <a:lnTo>
                  <a:pt x="47709" y="248139"/>
                </a:lnTo>
                <a:lnTo>
                  <a:pt x="38331" y="225962"/>
                </a:lnTo>
                <a:lnTo>
                  <a:pt x="28936" y="208221"/>
                </a:lnTo>
                <a:lnTo>
                  <a:pt x="20941" y="201025"/>
                </a:lnTo>
                <a:lnTo>
                  <a:pt x="10484" y="188916"/>
                </a:lnTo>
                <a:lnTo>
                  <a:pt x="3260" y="175155"/>
                </a:lnTo>
                <a:lnTo>
                  <a:pt x="0" y="164915"/>
                </a:lnTo>
                <a:lnTo>
                  <a:pt x="2851" y="151247"/>
                </a:lnTo>
                <a:lnTo>
                  <a:pt x="6528" y="141887"/>
                </a:lnTo>
                <a:lnTo>
                  <a:pt x="41726" y="152016"/>
                </a:lnTo>
                <a:lnTo>
                  <a:pt x="60979" y="153061"/>
                </a:lnTo>
                <a:lnTo>
                  <a:pt x="76109" y="148418"/>
                </a:lnTo>
                <a:lnTo>
                  <a:pt x="94679" y="155113"/>
                </a:lnTo>
                <a:lnTo>
                  <a:pt x="116716" y="173193"/>
                </a:lnTo>
                <a:lnTo>
                  <a:pt x="140898" y="176923"/>
                </a:lnTo>
                <a:lnTo>
                  <a:pt x="167275" y="166293"/>
                </a:lnTo>
                <a:lnTo>
                  <a:pt x="202640" y="170204"/>
                </a:lnTo>
                <a:lnTo>
                  <a:pt x="246956" y="188697"/>
                </a:lnTo>
                <a:lnTo>
                  <a:pt x="283830" y="193012"/>
                </a:lnTo>
                <a:lnTo>
                  <a:pt x="328086" y="178169"/>
                </a:lnTo>
                <a:lnTo>
                  <a:pt x="368183" y="135407"/>
                </a:lnTo>
                <a:lnTo>
                  <a:pt x="405988" y="95247"/>
                </a:lnTo>
                <a:lnTo>
                  <a:pt x="443411" y="48796"/>
                </a:lnTo>
                <a:lnTo>
                  <a:pt x="466227" y="11120"/>
                </a:lnTo>
                <a:lnTo>
                  <a:pt x="478339" y="0"/>
                </a:lnTo>
                <a:lnTo>
                  <a:pt x="1406270" y="42581"/>
                </a:lnTo>
                <a:lnTo>
                  <a:pt x="1406259" y="49776"/>
                </a:lnTo>
                <a:lnTo>
                  <a:pt x="1419655" y="91353"/>
                </a:lnTo>
                <a:lnTo>
                  <a:pt x="1419859" y="126784"/>
                </a:lnTo>
                <a:lnTo>
                  <a:pt x="1411761" y="188733"/>
                </a:lnTo>
                <a:lnTo>
                  <a:pt x="1408650" y="249032"/>
                </a:lnTo>
                <a:lnTo>
                  <a:pt x="1409122" y="270673"/>
                </a:lnTo>
                <a:lnTo>
                  <a:pt x="1410855" y="285121"/>
                </a:lnTo>
                <a:lnTo>
                  <a:pt x="1413668" y="293144"/>
                </a:lnTo>
                <a:lnTo>
                  <a:pt x="1412572" y="302027"/>
                </a:lnTo>
                <a:lnTo>
                  <a:pt x="1402003" y="326708"/>
                </a:lnTo>
                <a:lnTo>
                  <a:pt x="1393136" y="352864"/>
                </a:lnTo>
                <a:lnTo>
                  <a:pt x="1392298" y="363516"/>
                </a:lnTo>
                <a:lnTo>
                  <a:pt x="1389038" y="370826"/>
                </a:lnTo>
                <a:lnTo>
                  <a:pt x="1383226" y="377150"/>
                </a:lnTo>
                <a:lnTo>
                  <a:pt x="1358575" y="387900"/>
                </a:lnTo>
                <a:lnTo>
                  <a:pt x="1354046" y="395243"/>
                </a:lnTo>
                <a:lnTo>
                  <a:pt x="1353384" y="409017"/>
                </a:lnTo>
                <a:lnTo>
                  <a:pt x="1355787" y="420791"/>
                </a:lnTo>
                <a:lnTo>
                  <a:pt x="1364533" y="425639"/>
                </a:lnTo>
                <a:lnTo>
                  <a:pt x="1375002" y="432893"/>
                </a:lnTo>
                <a:lnTo>
                  <a:pt x="1378787" y="441838"/>
                </a:lnTo>
                <a:lnTo>
                  <a:pt x="1378313" y="450971"/>
                </a:lnTo>
                <a:lnTo>
                  <a:pt x="1373932" y="467654"/>
                </a:lnTo>
                <a:lnTo>
                  <a:pt x="1362754" y="495035"/>
                </a:lnTo>
                <a:lnTo>
                  <a:pt x="1370514" y="527865"/>
                </a:lnTo>
                <a:lnTo>
                  <a:pt x="1380064" y="549455"/>
                </a:lnTo>
                <a:lnTo>
                  <a:pt x="1393455" y="574645"/>
                </a:lnTo>
                <a:lnTo>
                  <a:pt x="1398713" y="589963"/>
                </a:lnTo>
                <a:lnTo>
                  <a:pt x="1397756" y="600654"/>
                </a:lnTo>
                <a:lnTo>
                  <a:pt x="1394977" y="610906"/>
                </a:lnTo>
                <a:lnTo>
                  <a:pt x="1370328" y="653611"/>
                </a:lnTo>
                <a:lnTo>
                  <a:pt x="1352844" y="680010"/>
                </a:lnTo>
                <a:lnTo>
                  <a:pt x="1331779" y="708145"/>
                </a:lnTo>
                <a:lnTo>
                  <a:pt x="1305118" y="724939"/>
                </a:lnTo>
                <a:lnTo>
                  <a:pt x="1298021" y="733396"/>
                </a:lnTo>
                <a:lnTo>
                  <a:pt x="1294817" y="743351"/>
                </a:lnTo>
                <a:lnTo>
                  <a:pt x="1294499" y="765457"/>
                </a:lnTo>
                <a:lnTo>
                  <a:pt x="1292011" y="788434"/>
                </a:lnTo>
                <a:lnTo>
                  <a:pt x="1268170" y="822515"/>
                </a:lnTo>
                <a:lnTo>
                  <a:pt x="1280003" y="853913"/>
                </a:lnTo>
                <a:lnTo>
                  <a:pt x="1276751" y="856522"/>
                </a:lnTo>
                <a:lnTo>
                  <a:pt x="1269155" y="860442"/>
                </a:lnTo>
                <a:lnTo>
                  <a:pt x="1235877" y="892837"/>
                </a:lnTo>
                <a:lnTo>
                  <a:pt x="1202281" y="925644"/>
                </a:lnTo>
                <a:lnTo>
                  <a:pt x="1177775" y="949655"/>
                </a:lnTo>
                <a:lnTo>
                  <a:pt x="1149954" y="976997"/>
                </a:lnTo>
                <a:lnTo>
                  <a:pt x="1118821" y="1007662"/>
                </a:lnTo>
                <a:lnTo>
                  <a:pt x="1092273" y="1033886"/>
                </a:lnTo>
                <a:lnTo>
                  <a:pt x="1066247" y="1052132"/>
                </a:lnTo>
                <a:lnTo>
                  <a:pt x="1050785" y="104037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30861" y="2167612"/>
            <a:ext cx="951595" cy="201456"/>
          </a:xfrm>
          <a:custGeom>
            <a:avLst/>
            <a:gdLst/>
            <a:ahLst/>
            <a:cxnLst/>
            <a:rect l="l" t="t" r="r" b="b"/>
            <a:pathLst>
              <a:path w="951595" h="201456">
                <a:moveTo>
                  <a:pt x="939483" y="19564"/>
                </a:moveTo>
                <a:lnTo>
                  <a:pt x="916667" y="57240"/>
                </a:lnTo>
                <a:lnTo>
                  <a:pt x="879244" y="103691"/>
                </a:lnTo>
                <a:lnTo>
                  <a:pt x="841439" y="143851"/>
                </a:lnTo>
                <a:lnTo>
                  <a:pt x="801342" y="186613"/>
                </a:lnTo>
                <a:lnTo>
                  <a:pt x="757086" y="201456"/>
                </a:lnTo>
                <a:lnTo>
                  <a:pt x="720212" y="197141"/>
                </a:lnTo>
                <a:lnTo>
                  <a:pt x="675896" y="178648"/>
                </a:lnTo>
                <a:lnTo>
                  <a:pt x="640531" y="174737"/>
                </a:lnTo>
                <a:lnTo>
                  <a:pt x="614154" y="185367"/>
                </a:lnTo>
                <a:lnTo>
                  <a:pt x="589972" y="181637"/>
                </a:lnTo>
                <a:lnTo>
                  <a:pt x="567935" y="163557"/>
                </a:lnTo>
                <a:lnTo>
                  <a:pt x="549365" y="156862"/>
                </a:lnTo>
                <a:lnTo>
                  <a:pt x="534235" y="161505"/>
                </a:lnTo>
                <a:lnTo>
                  <a:pt x="514982" y="160460"/>
                </a:lnTo>
                <a:lnTo>
                  <a:pt x="479784" y="150331"/>
                </a:lnTo>
                <a:lnTo>
                  <a:pt x="449518" y="119873"/>
                </a:lnTo>
                <a:lnTo>
                  <a:pt x="433041" y="107263"/>
                </a:lnTo>
                <a:lnTo>
                  <a:pt x="420371" y="102413"/>
                </a:lnTo>
                <a:lnTo>
                  <a:pt x="383853" y="97321"/>
                </a:lnTo>
                <a:lnTo>
                  <a:pt x="299967" y="90051"/>
                </a:lnTo>
                <a:lnTo>
                  <a:pt x="291215" y="91646"/>
                </a:lnTo>
                <a:lnTo>
                  <a:pt x="256360" y="97559"/>
                </a:lnTo>
                <a:lnTo>
                  <a:pt x="212829" y="105031"/>
                </a:lnTo>
                <a:lnTo>
                  <a:pt x="175433" y="112559"/>
                </a:lnTo>
                <a:lnTo>
                  <a:pt x="136235" y="120522"/>
                </a:lnTo>
                <a:lnTo>
                  <a:pt x="99652" y="89185"/>
                </a:lnTo>
                <a:lnTo>
                  <a:pt x="58062" y="53682"/>
                </a:lnTo>
                <a:lnTo>
                  <a:pt x="14859" y="14135"/>
                </a:lnTo>
                <a:lnTo>
                  <a:pt x="0" y="0"/>
                </a:lnTo>
                <a:lnTo>
                  <a:pt x="951595" y="8444"/>
                </a:lnTo>
                <a:lnTo>
                  <a:pt x="939483" y="1956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841288" y="3865269"/>
            <a:ext cx="226498" cy="303672"/>
          </a:xfrm>
          <a:custGeom>
            <a:avLst/>
            <a:gdLst/>
            <a:ahLst/>
            <a:cxnLst/>
            <a:rect l="l" t="t" r="r" b="b"/>
            <a:pathLst>
              <a:path w="226498" h="303672">
                <a:moveTo>
                  <a:pt x="209479" y="49730"/>
                </a:moveTo>
                <a:lnTo>
                  <a:pt x="224729" y="59503"/>
                </a:lnTo>
                <a:lnTo>
                  <a:pt x="225062" y="77080"/>
                </a:lnTo>
                <a:lnTo>
                  <a:pt x="222292" y="96963"/>
                </a:lnTo>
                <a:lnTo>
                  <a:pt x="218329" y="109375"/>
                </a:lnTo>
                <a:lnTo>
                  <a:pt x="218730" y="122007"/>
                </a:lnTo>
                <a:lnTo>
                  <a:pt x="222557" y="141880"/>
                </a:lnTo>
                <a:lnTo>
                  <a:pt x="226498" y="155562"/>
                </a:lnTo>
                <a:lnTo>
                  <a:pt x="223806" y="216490"/>
                </a:lnTo>
                <a:lnTo>
                  <a:pt x="218664" y="213359"/>
                </a:lnTo>
                <a:lnTo>
                  <a:pt x="209153" y="210138"/>
                </a:lnTo>
                <a:lnTo>
                  <a:pt x="203956" y="211023"/>
                </a:lnTo>
                <a:lnTo>
                  <a:pt x="197552" y="238001"/>
                </a:lnTo>
                <a:lnTo>
                  <a:pt x="191408" y="278350"/>
                </a:lnTo>
                <a:lnTo>
                  <a:pt x="191900" y="303672"/>
                </a:lnTo>
                <a:lnTo>
                  <a:pt x="155260" y="302173"/>
                </a:lnTo>
                <a:lnTo>
                  <a:pt x="109120" y="296625"/>
                </a:lnTo>
                <a:lnTo>
                  <a:pt x="76584" y="283802"/>
                </a:lnTo>
                <a:lnTo>
                  <a:pt x="42174" y="257752"/>
                </a:lnTo>
                <a:lnTo>
                  <a:pt x="22933" y="219140"/>
                </a:lnTo>
                <a:lnTo>
                  <a:pt x="14881" y="195115"/>
                </a:lnTo>
                <a:lnTo>
                  <a:pt x="1901" y="193051"/>
                </a:lnTo>
                <a:lnTo>
                  <a:pt x="0" y="188938"/>
                </a:lnTo>
                <a:lnTo>
                  <a:pt x="363" y="160188"/>
                </a:lnTo>
                <a:lnTo>
                  <a:pt x="2229" y="130065"/>
                </a:lnTo>
                <a:lnTo>
                  <a:pt x="5092" y="122196"/>
                </a:lnTo>
                <a:lnTo>
                  <a:pt x="31365" y="86413"/>
                </a:lnTo>
                <a:lnTo>
                  <a:pt x="47710" y="64193"/>
                </a:lnTo>
                <a:lnTo>
                  <a:pt x="58325" y="42409"/>
                </a:lnTo>
                <a:lnTo>
                  <a:pt x="80241" y="17401"/>
                </a:lnTo>
                <a:lnTo>
                  <a:pt x="103146" y="1929"/>
                </a:lnTo>
                <a:lnTo>
                  <a:pt x="111443" y="0"/>
                </a:lnTo>
                <a:lnTo>
                  <a:pt x="116995" y="1012"/>
                </a:lnTo>
                <a:lnTo>
                  <a:pt x="154381" y="26286"/>
                </a:lnTo>
                <a:lnTo>
                  <a:pt x="192737" y="50482"/>
                </a:lnTo>
                <a:lnTo>
                  <a:pt x="201497" y="48560"/>
                </a:lnTo>
                <a:lnTo>
                  <a:pt x="206183" y="46723"/>
                </a:lnTo>
                <a:lnTo>
                  <a:pt x="209479" y="4973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411874" y="3165403"/>
            <a:ext cx="2784650" cy="2396112"/>
          </a:xfrm>
          <a:custGeom>
            <a:avLst/>
            <a:gdLst/>
            <a:ahLst/>
            <a:cxnLst/>
            <a:rect l="l" t="t" r="r" b="b"/>
            <a:pathLst>
              <a:path w="2784650" h="2396112">
                <a:moveTo>
                  <a:pt x="2222288" y="6729"/>
                </a:moveTo>
                <a:lnTo>
                  <a:pt x="2273234" y="0"/>
                </a:lnTo>
                <a:lnTo>
                  <a:pt x="2315329" y="9065"/>
                </a:lnTo>
                <a:lnTo>
                  <a:pt x="2365471" y="31749"/>
                </a:lnTo>
                <a:lnTo>
                  <a:pt x="2412864" y="41249"/>
                </a:lnTo>
                <a:lnTo>
                  <a:pt x="2457607" y="37543"/>
                </a:lnTo>
                <a:lnTo>
                  <a:pt x="2493833" y="38056"/>
                </a:lnTo>
                <a:lnTo>
                  <a:pt x="2521492" y="42785"/>
                </a:lnTo>
                <a:lnTo>
                  <a:pt x="2543028" y="51032"/>
                </a:lnTo>
                <a:lnTo>
                  <a:pt x="2558490" y="62785"/>
                </a:lnTo>
                <a:lnTo>
                  <a:pt x="2558911" y="72854"/>
                </a:lnTo>
                <a:lnTo>
                  <a:pt x="2559920" y="77477"/>
                </a:lnTo>
                <a:lnTo>
                  <a:pt x="2567006" y="104395"/>
                </a:lnTo>
                <a:lnTo>
                  <a:pt x="2577513" y="144601"/>
                </a:lnTo>
                <a:lnTo>
                  <a:pt x="2583922" y="181545"/>
                </a:lnTo>
                <a:lnTo>
                  <a:pt x="2592668" y="232228"/>
                </a:lnTo>
                <a:lnTo>
                  <a:pt x="2590805" y="260057"/>
                </a:lnTo>
                <a:lnTo>
                  <a:pt x="2593009" y="270983"/>
                </a:lnTo>
                <a:lnTo>
                  <a:pt x="2602517" y="285021"/>
                </a:lnTo>
                <a:lnTo>
                  <a:pt x="2613748" y="308848"/>
                </a:lnTo>
                <a:lnTo>
                  <a:pt x="2617285" y="322209"/>
                </a:lnTo>
                <a:lnTo>
                  <a:pt x="2620934" y="332257"/>
                </a:lnTo>
                <a:lnTo>
                  <a:pt x="2633082" y="351641"/>
                </a:lnTo>
                <a:lnTo>
                  <a:pt x="2641709" y="380449"/>
                </a:lnTo>
                <a:lnTo>
                  <a:pt x="2648209" y="418299"/>
                </a:lnTo>
                <a:lnTo>
                  <a:pt x="2654571" y="436662"/>
                </a:lnTo>
                <a:lnTo>
                  <a:pt x="2656839" y="445630"/>
                </a:lnTo>
                <a:lnTo>
                  <a:pt x="2659237" y="461867"/>
                </a:lnTo>
                <a:lnTo>
                  <a:pt x="2656776" y="495669"/>
                </a:lnTo>
                <a:lnTo>
                  <a:pt x="2654647" y="534869"/>
                </a:lnTo>
                <a:lnTo>
                  <a:pt x="2652263" y="578649"/>
                </a:lnTo>
                <a:lnTo>
                  <a:pt x="2650307" y="614784"/>
                </a:lnTo>
                <a:lnTo>
                  <a:pt x="2647888" y="632987"/>
                </a:lnTo>
                <a:lnTo>
                  <a:pt x="2645628" y="684940"/>
                </a:lnTo>
                <a:lnTo>
                  <a:pt x="2632935" y="711300"/>
                </a:lnTo>
                <a:lnTo>
                  <a:pt x="2633019" y="732610"/>
                </a:lnTo>
                <a:lnTo>
                  <a:pt x="2635597" y="746589"/>
                </a:lnTo>
                <a:lnTo>
                  <a:pt x="2630911" y="748426"/>
                </a:lnTo>
                <a:lnTo>
                  <a:pt x="2622151" y="750348"/>
                </a:lnTo>
                <a:lnTo>
                  <a:pt x="2583795" y="726152"/>
                </a:lnTo>
                <a:lnTo>
                  <a:pt x="2546409" y="700878"/>
                </a:lnTo>
                <a:lnTo>
                  <a:pt x="2540857" y="699866"/>
                </a:lnTo>
                <a:lnTo>
                  <a:pt x="2532560" y="701795"/>
                </a:lnTo>
                <a:lnTo>
                  <a:pt x="2509655" y="717267"/>
                </a:lnTo>
                <a:lnTo>
                  <a:pt x="2487739" y="742275"/>
                </a:lnTo>
                <a:lnTo>
                  <a:pt x="2477124" y="764059"/>
                </a:lnTo>
                <a:lnTo>
                  <a:pt x="2460779" y="786279"/>
                </a:lnTo>
                <a:lnTo>
                  <a:pt x="2434506" y="822062"/>
                </a:lnTo>
                <a:lnTo>
                  <a:pt x="2431643" y="829931"/>
                </a:lnTo>
                <a:lnTo>
                  <a:pt x="2429777" y="860054"/>
                </a:lnTo>
                <a:lnTo>
                  <a:pt x="2429414" y="888804"/>
                </a:lnTo>
                <a:lnTo>
                  <a:pt x="2431315" y="892917"/>
                </a:lnTo>
                <a:lnTo>
                  <a:pt x="2444295" y="894981"/>
                </a:lnTo>
                <a:lnTo>
                  <a:pt x="2452347" y="919006"/>
                </a:lnTo>
                <a:lnTo>
                  <a:pt x="2471588" y="957618"/>
                </a:lnTo>
                <a:lnTo>
                  <a:pt x="2505998" y="983668"/>
                </a:lnTo>
                <a:lnTo>
                  <a:pt x="2538534" y="996491"/>
                </a:lnTo>
                <a:lnTo>
                  <a:pt x="2584674" y="1002039"/>
                </a:lnTo>
                <a:lnTo>
                  <a:pt x="2621314" y="1003538"/>
                </a:lnTo>
                <a:lnTo>
                  <a:pt x="2620822" y="978216"/>
                </a:lnTo>
                <a:lnTo>
                  <a:pt x="2626966" y="937867"/>
                </a:lnTo>
                <a:lnTo>
                  <a:pt x="2633370" y="910889"/>
                </a:lnTo>
                <a:lnTo>
                  <a:pt x="2638567" y="910004"/>
                </a:lnTo>
                <a:lnTo>
                  <a:pt x="2648078" y="913225"/>
                </a:lnTo>
                <a:lnTo>
                  <a:pt x="2653220" y="916356"/>
                </a:lnTo>
                <a:lnTo>
                  <a:pt x="2668053" y="916173"/>
                </a:lnTo>
                <a:lnTo>
                  <a:pt x="2693894" y="923245"/>
                </a:lnTo>
                <a:lnTo>
                  <a:pt x="2715066" y="924057"/>
                </a:lnTo>
                <a:lnTo>
                  <a:pt x="2733989" y="924812"/>
                </a:lnTo>
                <a:lnTo>
                  <a:pt x="2765993" y="926095"/>
                </a:lnTo>
                <a:lnTo>
                  <a:pt x="2784650" y="927081"/>
                </a:lnTo>
                <a:lnTo>
                  <a:pt x="2775277" y="970619"/>
                </a:lnTo>
                <a:lnTo>
                  <a:pt x="2746185" y="1037779"/>
                </a:lnTo>
                <a:lnTo>
                  <a:pt x="2735730" y="1068779"/>
                </a:lnTo>
                <a:lnTo>
                  <a:pt x="2707271" y="1180215"/>
                </a:lnTo>
                <a:lnTo>
                  <a:pt x="2676550" y="1235271"/>
                </a:lnTo>
                <a:lnTo>
                  <a:pt x="2659954" y="1257747"/>
                </a:lnTo>
                <a:lnTo>
                  <a:pt x="2613909" y="1296453"/>
                </a:lnTo>
                <a:lnTo>
                  <a:pt x="2601339" y="1304108"/>
                </a:lnTo>
                <a:lnTo>
                  <a:pt x="2590314" y="1308822"/>
                </a:lnTo>
                <a:lnTo>
                  <a:pt x="2571082" y="1312391"/>
                </a:lnTo>
                <a:lnTo>
                  <a:pt x="2491913" y="1391903"/>
                </a:lnTo>
                <a:lnTo>
                  <a:pt x="2461971" y="1430810"/>
                </a:lnTo>
                <a:lnTo>
                  <a:pt x="2434110" y="1488475"/>
                </a:lnTo>
                <a:lnTo>
                  <a:pt x="2408079" y="1519538"/>
                </a:lnTo>
                <a:lnTo>
                  <a:pt x="2368729" y="1586752"/>
                </a:lnTo>
                <a:lnTo>
                  <a:pt x="2334215" y="1638468"/>
                </a:lnTo>
                <a:lnTo>
                  <a:pt x="2301377" y="1685573"/>
                </a:lnTo>
                <a:lnTo>
                  <a:pt x="2245814" y="1749995"/>
                </a:lnTo>
                <a:lnTo>
                  <a:pt x="2221791" y="1768261"/>
                </a:lnTo>
                <a:lnTo>
                  <a:pt x="2205814" y="1776395"/>
                </a:lnTo>
                <a:lnTo>
                  <a:pt x="2162761" y="1813408"/>
                </a:lnTo>
                <a:lnTo>
                  <a:pt x="2102068" y="1873428"/>
                </a:lnTo>
                <a:lnTo>
                  <a:pt x="2055511" y="1927047"/>
                </a:lnTo>
                <a:lnTo>
                  <a:pt x="1987163" y="1987425"/>
                </a:lnTo>
                <a:lnTo>
                  <a:pt x="1948132" y="2013601"/>
                </a:lnTo>
                <a:lnTo>
                  <a:pt x="1889272" y="2065895"/>
                </a:lnTo>
                <a:lnTo>
                  <a:pt x="1873165" y="2073407"/>
                </a:lnTo>
                <a:lnTo>
                  <a:pt x="1807629" y="2121879"/>
                </a:lnTo>
                <a:lnTo>
                  <a:pt x="1760897" y="2151231"/>
                </a:lnTo>
                <a:lnTo>
                  <a:pt x="1685873" y="2184924"/>
                </a:lnTo>
                <a:lnTo>
                  <a:pt x="1656251" y="2194232"/>
                </a:lnTo>
                <a:lnTo>
                  <a:pt x="1586235" y="2183756"/>
                </a:lnTo>
                <a:lnTo>
                  <a:pt x="1556829" y="2188199"/>
                </a:lnTo>
                <a:lnTo>
                  <a:pt x="1532015" y="2209261"/>
                </a:lnTo>
                <a:lnTo>
                  <a:pt x="1529273" y="2239975"/>
                </a:lnTo>
                <a:lnTo>
                  <a:pt x="1519028" y="2244448"/>
                </a:lnTo>
                <a:lnTo>
                  <a:pt x="1503621" y="2242876"/>
                </a:lnTo>
                <a:lnTo>
                  <a:pt x="1454837" y="2229509"/>
                </a:lnTo>
                <a:lnTo>
                  <a:pt x="1428257" y="2231721"/>
                </a:lnTo>
                <a:lnTo>
                  <a:pt x="1412618" y="2247992"/>
                </a:lnTo>
                <a:lnTo>
                  <a:pt x="1399985" y="2268682"/>
                </a:lnTo>
                <a:lnTo>
                  <a:pt x="1363182" y="2269523"/>
                </a:lnTo>
                <a:lnTo>
                  <a:pt x="1297693" y="2247804"/>
                </a:lnTo>
                <a:lnTo>
                  <a:pt x="1220491" y="2234756"/>
                </a:lnTo>
                <a:lnTo>
                  <a:pt x="1202610" y="2233360"/>
                </a:lnTo>
                <a:lnTo>
                  <a:pt x="1165273" y="2249475"/>
                </a:lnTo>
                <a:lnTo>
                  <a:pt x="1152212" y="2251874"/>
                </a:lnTo>
                <a:lnTo>
                  <a:pt x="1097705" y="2248865"/>
                </a:lnTo>
                <a:lnTo>
                  <a:pt x="1067364" y="2239086"/>
                </a:lnTo>
                <a:lnTo>
                  <a:pt x="1038444" y="2239377"/>
                </a:lnTo>
                <a:lnTo>
                  <a:pt x="1016393" y="2247985"/>
                </a:lnTo>
                <a:lnTo>
                  <a:pt x="989573" y="2251278"/>
                </a:lnTo>
                <a:lnTo>
                  <a:pt x="918183" y="2310246"/>
                </a:lnTo>
                <a:lnTo>
                  <a:pt x="880834" y="2311049"/>
                </a:lnTo>
                <a:lnTo>
                  <a:pt x="848775" y="2318428"/>
                </a:lnTo>
                <a:lnTo>
                  <a:pt x="832794" y="2318567"/>
                </a:lnTo>
                <a:lnTo>
                  <a:pt x="802680" y="2311215"/>
                </a:lnTo>
                <a:lnTo>
                  <a:pt x="791556" y="2312032"/>
                </a:lnTo>
                <a:lnTo>
                  <a:pt x="774647" y="2316093"/>
                </a:lnTo>
                <a:lnTo>
                  <a:pt x="757913" y="2326711"/>
                </a:lnTo>
                <a:lnTo>
                  <a:pt x="719297" y="2332204"/>
                </a:lnTo>
                <a:lnTo>
                  <a:pt x="704525" y="2341308"/>
                </a:lnTo>
                <a:lnTo>
                  <a:pt x="641050" y="2396112"/>
                </a:lnTo>
                <a:lnTo>
                  <a:pt x="626104" y="2394517"/>
                </a:lnTo>
                <a:lnTo>
                  <a:pt x="613949" y="2391496"/>
                </a:lnTo>
                <a:lnTo>
                  <a:pt x="580030" y="2392079"/>
                </a:lnTo>
                <a:lnTo>
                  <a:pt x="540435" y="2365438"/>
                </a:lnTo>
                <a:lnTo>
                  <a:pt x="525793" y="2367798"/>
                </a:lnTo>
                <a:lnTo>
                  <a:pt x="529367" y="2359226"/>
                </a:lnTo>
                <a:lnTo>
                  <a:pt x="529896" y="2344260"/>
                </a:lnTo>
                <a:lnTo>
                  <a:pt x="521308" y="2334045"/>
                </a:lnTo>
                <a:lnTo>
                  <a:pt x="515599" y="2329563"/>
                </a:lnTo>
                <a:lnTo>
                  <a:pt x="500532" y="2331046"/>
                </a:lnTo>
                <a:lnTo>
                  <a:pt x="491914" y="2318666"/>
                </a:lnTo>
                <a:lnTo>
                  <a:pt x="468718" y="2318424"/>
                </a:lnTo>
                <a:lnTo>
                  <a:pt x="460866" y="2321980"/>
                </a:lnTo>
                <a:lnTo>
                  <a:pt x="449788" y="2323109"/>
                </a:lnTo>
                <a:lnTo>
                  <a:pt x="448173" y="2310294"/>
                </a:lnTo>
                <a:lnTo>
                  <a:pt x="448660" y="2302155"/>
                </a:lnTo>
                <a:lnTo>
                  <a:pt x="447375" y="2289735"/>
                </a:lnTo>
                <a:lnTo>
                  <a:pt x="443845" y="2274582"/>
                </a:lnTo>
                <a:lnTo>
                  <a:pt x="434618" y="2270106"/>
                </a:lnTo>
                <a:lnTo>
                  <a:pt x="427620" y="2268367"/>
                </a:lnTo>
                <a:lnTo>
                  <a:pt x="411241" y="2270143"/>
                </a:lnTo>
                <a:lnTo>
                  <a:pt x="400011" y="2272293"/>
                </a:lnTo>
                <a:lnTo>
                  <a:pt x="394924" y="2276978"/>
                </a:lnTo>
                <a:lnTo>
                  <a:pt x="389432" y="2288445"/>
                </a:lnTo>
                <a:lnTo>
                  <a:pt x="391125" y="2322469"/>
                </a:lnTo>
                <a:lnTo>
                  <a:pt x="382501" y="2313093"/>
                </a:lnTo>
                <a:lnTo>
                  <a:pt x="372190" y="2293147"/>
                </a:lnTo>
                <a:lnTo>
                  <a:pt x="368080" y="2271547"/>
                </a:lnTo>
                <a:lnTo>
                  <a:pt x="370055" y="2245672"/>
                </a:lnTo>
                <a:lnTo>
                  <a:pt x="387137" y="2235093"/>
                </a:lnTo>
                <a:lnTo>
                  <a:pt x="384873" y="2217781"/>
                </a:lnTo>
                <a:lnTo>
                  <a:pt x="380362" y="2202883"/>
                </a:lnTo>
                <a:lnTo>
                  <a:pt x="358646" y="2165207"/>
                </a:lnTo>
                <a:lnTo>
                  <a:pt x="350007" y="2147918"/>
                </a:lnTo>
                <a:lnTo>
                  <a:pt x="332600" y="2136758"/>
                </a:lnTo>
                <a:lnTo>
                  <a:pt x="317988" y="2108569"/>
                </a:lnTo>
                <a:lnTo>
                  <a:pt x="304240" y="2098759"/>
                </a:lnTo>
                <a:lnTo>
                  <a:pt x="297647" y="2078866"/>
                </a:lnTo>
                <a:lnTo>
                  <a:pt x="283879" y="2063363"/>
                </a:lnTo>
                <a:lnTo>
                  <a:pt x="278089" y="2038062"/>
                </a:lnTo>
                <a:lnTo>
                  <a:pt x="284390" y="2023052"/>
                </a:lnTo>
                <a:lnTo>
                  <a:pt x="295207" y="2014510"/>
                </a:lnTo>
                <a:lnTo>
                  <a:pt x="307373" y="2026599"/>
                </a:lnTo>
                <a:lnTo>
                  <a:pt x="321348" y="2020955"/>
                </a:lnTo>
                <a:lnTo>
                  <a:pt x="340651" y="2001517"/>
                </a:lnTo>
                <a:lnTo>
                  <a:pt x="351205" y="1972932"/>
                </a:lnTo>
                <a:lnTo>
                  <a:pt x="349655" y="1928069"/>
                </a:lnTo>
                <a:lnTo>
                  <a:pt x="345128" y="1900212"/>
                </a:lnTo>
                <a:lnTo>
                  <a:pt x="325200" y="1828623"/>
                </a:lnTo>
                <a:lnTo>
                  <a:pt x="316664" y="1812365"/>
                </a:lnTo>
                <a:lnTo>
                  <a:pt x="277234" y="1762364"/>
                </a:lnTo>
                <a:lnTo>
                  <a:pt x="230753" y="1695177"/>
                </a:lnTo>
                <a:lnTo>
                  <a:pt x="170313" y="1588684"/>
                </a:lnTo>
                <a:lnTo>
                  <a:pt x="140439" y="1524394"/>
                </a:lnTo>
                <a:lnTo>
                  <a:pt x="92998" y="1393966"/>
                </a:lnTo>
                <a:lnTo>
                  <a:pt x="53408" y="1320926"/>
                </a:lnTo>
                <a:lnTo>
                  <a:pt x="5846" y="1253416"/>
                </a:lnTo>
                <a:lnTo>
                  <a:pt x="0" y="1249194"/>
                </a:lnTo>
                <a:lnTo>
                  <a:pt x="6100" y="1240273"/>
                </a:lnTo>
                <a:lnTo>
                  <a:pt x="28433" y="1222696"/>
                </a:lnTo>
                <a:lnTo>
                  <a:pt x="38789" y="1217699"/>
                </a:lnTo>
                <a:lnTo>
                  <a:pt x="44548" y="1219379"/>
                </a:lnTo>
                <a:lnTo>
                  <a:pt x="49774" y="1214613"/>
                </a:lnTo>
                <a:lnTo>
                  <a:pt x="54455" y="1203365"/>
                </a:lnTo>
                <a:lnTo>
                  <a:pt x="55030" y="1193027"/>
                </a:lnTo>
                <a:lnTo>
                  <a:pt x="56801" y="1178346"/>
                </a:lnTo>
                <a:lnTo>
                  <a:pt x="61516" y="1169358"/>
                </a:lnTo>
                <a:lnTo>
                  <a:pt x="66243" y="1151691"/>
                </a:lnTo>
                <a:lnTo>
                  <a:pt x="75373" y="1140031"/>
                </a:lnTo>
                <a:lnTo>
                  <a:pt x="95676" y="1131523"/>
                </a:lnTo>
                <a:lnTo>
                  <a:pt x="111925" y="1140408"/>
                </a:lnTo>
                <a:lnTo>
                  <a:pt x="119039" y="1149631"/>
                </a:lnTo>
                <a:lnTo>
                  <a:pt x="122453" y="1162116"/>
                </a:lnTo>
                <a:lnTo>
                  <a:pt x="129727" y="1167843"/>
                </a:lnTo>
                <a:lnTo>
                  <a:pt x="140847" y="1166816"/>
                </a:lnTo>
                <a:lnTo>
                  <a:pt x="149125" y="1174175"/>
                </a:lnTo>
                <a:lnTo>
                  <a:pt x="154540" y="1189897"/>
                </a:lnTo>
                <a:lnTo>
                  <a:pt x="154249" y="1201517"/>
                </a:lnTo>
                <a:lnTo>
                  <a:pt x="148307" y="1209035"/>
                </a:lnTo>
                <a:lnTo>
                  <a:pt x="149708" y="1218421"/>
                </a:lnTo>
                <a:lnTo>
                  <a:pt x="158412" y="1229713"/>
                </a:lnTo>
                <a:lnTo>
                  <a:pt x="162342" y="1240663"/>
                </a:lnTo>
                <a:lnTo>
                  <a:pt x="168540" y="1255058"/>
                </a:lnTo>
                <a:lnTo>
                  <a:pt x="197291" y="1262148"/>
                </a:lnTo>
                <a:lnTo>
                  <a:pt x="211368" y="1266263"/>
                </a:lnTo>
                <a:lnTo>
                  <a:pt x="235287" y="1266709"/>
                </a:lnTo>
                <a:lnTo>
                  <a:pt x="258142" y="1272157"/>
                </a:lnTo>
                <a:lnTo>
                  <a:pt x="279918" y="1282640"/>
                </a:lnTo>
                <a:lnTo>
                  <a:pt x="314889" y="1283792"/>
                </a:lnTo>
                <a:lnTo>
                  <a:pt x="363103" y="1275737"/>
                </a:lnTo>
                <a:lnTo>
                  <a:pt x="403145" y="1276687"/>
                </a:lnTo>
                <a:lnTo>
                  <a:pt x="434981" y="1286612"/>
                </a:lnTo>
                <a:lnTo>
                  <a:pt x="457775" y="1287783"/>
                </a:lnTo>
                <a:lnTo>
                  <a:pt x="471573" y="1280171"/>
                </a:lnTo>
                <a:lnTo>
                  <a:pt x="477273" y="1269706"/>
                </a:lnTo>
                <a:lnTo>
                  <a:pt x="474868" y="1256400"/>
                </a:lnTo>
                <a:lnTo>
                  <a:pt x="481532" y="1247670"/>
                </a:lnTo>
                <a:lnTo>
                  <a:pt x="497254" y="1243490"/>
                </a:lnTo>
                <a:lnTo>
                  <a:pt x="509578" y="1232961"/>
                </a:lnTo>
                <a:lnTo>
                  <a:pt x="518528" y="1216039"/>
                </a:lnTo>
                <a:lnTo>
                  <a:pt x="540168" y="1201791"/>
                </a:lnTo>
                <a:lnTo>
                  <a:pt x="574516" y="1190237"/>
                </a:lnTo>
                <a:lnTo>
                  <a:pt x="591798" y="1190029"/>
                </a:lnTo>
                <a:lnTo>
                  <a:pt x="590914" y="1163180"/>
                </a:lnTo>
                <a:lnTo>
                  <a:pt x="588143" y="1078429"/>
                </a:lnTo>
                <a:lnTo>
                  <a:pt x="585404" y="993679"/>
                </a:lnTo>
                <a:lnTo>
                  <a:pt x="582696" y="908951"/>
                </a:lnTo>
                <a:lnTo>
                  <a:pt x="580018" y="824209"/>
                </a:lnTo>
                <a:lnTo>
                  <a:pt x="577372" y="739471"/>
                </a:lnTo>
                <a:lnTo>
                  <a:pt x="574757" y="654759"/>
                </a:lnTo>
                <a:lnTo>
                  <a:pt x="572172" y="570036"/>
                </a:lnTo>
                <a:lnTo>
                  <a:pt x="569761" y="490045"/>
                </a:lnTo>
                <a:lnTo>
                  <a:pt x="578296" y="495551"/>
                </a:lnTo>
                <a:lnTo>
                  <a:pt x="634458" y="536368"/>
                </a:lnTo>
                <a:lnTo>
                  <a:pt x="649875" y="558271"/>
                </a:lnTo>
                <a:lnTo>
                  <a:pt x="657611" y="572204"/>
                </a:lnTo>
                <a:lnTo>
                  <a:pt x="682503" y="622980"/>
                </a:lnTo>
                <a:lnTo>
                  <a:pt x="701190" y="668617"/>
                </a:lnTo>
                <a:lnTo>
                  <a:pt x="716257" y="703004"/>
                </a:lnTo>
                <a:lnTo>
                  <a:pt x="717724" y="718863"/>
                </a:lnTo>
                <a:lnTo>
                  <a:pt x="720105" y="734346"/>
                </a:lnTo>
                <a:lnTo>
                  <a:pt x="722291" y="741924"/>
                </a:lnTo>
                <a:lnTo>
                  <a:pt x="721190" y="750402"/>
                </a:lnTo>
                <a:lnTo>
                  <a:pt x="711699" y="769553"/>
                </a:lnTo>
                <a:lnTo>
                  <a:pt x="701913" y="784287"/>
                </a:lnTo>
                <a:lnTo>
                  <a:pt x="690237" y="804363"/>
                </a:lnTo>
                <a:lnTo>
                  <a:pt x="689754" y="830495"/>
                </a:lnTo>
                <a:lnTo>
                  <a:pt x="694241" y="861132"/>
                </a:lnTo>
                <a:lnTo>
                  <a:pt x="702102" y="876229"/>
                </a:lnTo>
                <a:lnTo>
                  <a:pt x="711589" y="881010"/>
                </a:lnTo>
                <a:lnTo>
                  <a:pt x="733782" y="872819"/>
                </a:lnTo>
                <a:lnTo>
                  <a:pt x="748020" y="874818"/>
                </a:lnTo>
                <a:lnTo>
                  <a:pt x="768158" y="880189"/>
                </a:lnTo>
                <a:lnTo>
                  <a:pt x="833671" y="875166"/>
                </a:lnTo>
                <a:lnTo>
                  <a:pt x="841633" y="876888"/>
                </a:lnTo>
                <a:lnTo>
                  <a:pt x="866432" y="878610"/>
                </a:lnTo>
                <a:lnTo>
                  <a:pt x="874660" y="875928"/>
                </a:lnTo>
                <a:lnTo>
                  <a:pt x="881952" y="869302"/>
                </a:lnTo>
                <a:lnTo>
                  <a:pt x="890210" y="850714"/>
                </a:lnTo>
                <a:lnTo>
                  <a:pt x="897791" y="844535"/>
                </a:lnTo>
                <a:lnTo>
                  <a:pt x="911658" y="841177"/>
                </a:lnTo>
                <a:lnTo>
                  <a:pt x="928074" y="835946"/>
                </a:lnTo>
                <a:lnTo>
                  <a:pt x="941606" y="825132"/>
                </a:lnTo>
                <a:lnTo>
                  <a:pt x="962789" y="788373"/>
                </a:lnTo>
                <a:lnTo>
                  <a:pt x="1005861" y="755458"/>
                </a:lnTo>
                <a:lnTo>
                  <a:pt x="1019129" y="747563"/>
                </a:lnTo>
                <a:lnTo>
                  <a:pt x="1027460" y="738763"/>
                </a:lnTo>
                <a:lnTo>
                  <a:pt x="1034657" y="726964"/>
                </a:lnTo>
                <a:lnTo>
                  <a:pt x="1049529" y="686069"/>
                </a:lnTo>
                <a:lnTo>
                  <a:pt x="1060778" y="652010"/>
                </a:lnTo>
                <a:lnTo>
                  <a:pt x="1064578" y="635977"/>
                </a:lnTo>
                <a:lnTo>
                  <a:pt x="1074695" y="609751"/>
                </a:lnTo>
                <a:lnTo>
                  <a:pt x="1087093" y="592961"/>
                </a:lnTo>
                <a:lnTo>
                  <a:pt x="1099280" y="584067"/>
                </a:lnTo>
                <a:lnTo>
                  <a:pt x="1105401" y="581771"/>
                </a:lnTo>
                <a:lnTo>
                  <a:pt x="1121164" y="577160"/>
                </a:lnTo>
                <a:lnTo>
                  <a:pt x="1141451" y="572831"/>
                </a:lnTo>
                <a:lnTo>
                  <a:pt x="1162820" y="577444"/>
                </a:lnTo>
                <a:lnTo>
                  <a:pt x="1185754" y="587447"/>
                </a:lnTo>
                <a:lnTo>
                  <a:pt x="1211627" y="604421"/>
                </a:lnTo>
                <a:lnTo>
                  <a:pt x="1238074" y="625443"/>
                </a:lnTo>
                <a:lnTo>
                  <a:pt x="1250233" y="636144"/>
                </a:lnTo>
                <a:lnTo>
                  <a:pt x="1263324" y="640936"/>
                </a:lnTo>
                <a:lnTo>
                  <a:pt x="1286629" y="642616"/>
                </a:lnTo>
                <a:lnTo>
                  <a:pt x="1301908" y="642262"/>
                </a:lnTo>
                <a:lnTo>
                  <a:pt x="1325616" y="663255"/>
                </a:lnTo>
                <a:lnTo>
                  <a:pt x="1337624" y="664610"/>
                </a:lnTo>
                <a:lnTo>
                  <a:pt x="1364451" y="671053"/>
                </a:lnTo>
                <a:lnTo>
                  <a:pt x="1397575" y="677751"/>
                </a:lnTo>
                <a:lnTo>
                  <a:pt x="1418457" y="677139"/>
                </a:lnTo>
                <a:lnTo>
                  <a:pt x="1440904" y="665973"/>
                </a:lnTo>
                <a:lnTo>
                  <a:pt x="1457045" y="665621"/>
                </a:lnTo>
                <a:lnTo>
                  <a:pt x="1477891" y="666720"/>
                </a:lnTo>
                <a:lnTo>
                  <a:pt x="1500832" y="663842"/>
                </a:lnTo>
                <a:lnTo>
                  <a:pt x="1517698" y="659170"/>
                </a:lnTo>
                <a:lnTo>
                  <a:pt x="1530669" y="649479"/>
                </a:lnTo>
                <a:lnTo>
                  <a:pt x="1542127" y="638846"/>
                </a:lnTo>
                <a:lnTo>
                  <a:pt x="1555551" y="606944"/>
                </a:lnTo>
                <a:lnTo>
                  <a:pt x="1563399" y="581226"/>
                </a:lnTo>
                <a:lnTo>
                  <a:pt x="1575445" y="551699"/>
                </a:lnTo>
                <a:lnTo>
                  <a:pt x="1590310" y="511673"/>
                </a:lnTo>
                <a:lnTo>
                  <a:pt x="1595809" y="483702"/>
                </a:lnTo>
                <a:lnTo>
                  <a:pt x="1601182" y="476061"/>
                </a:lnTo>
                <a:lnTo>
                  <a:pt x="1622134" y="467806"/>
                </a:lnTo>
                <a:lnTo>
                  <a:pt x="1639455" y="462188"/>
                </a:lnTo>
                <a:lnTo>
                  <a:pt x="1685991" y="451971"/>
                </a:lnTo>
                <a:lnTo>
                  <a:pt x="1695601" y="446273"/>
                </a:lnTo>
                <a:lnTo>
                  <a:pt x="1704519" y="433217"/>
                </a:lnTo>
                <a:lnTo>
                  <a:pt x="1725199" y="411192"/>
                </a:lnTo>
                <a:lnTo>
                  <a:pt x="1750578" y="392985"/>
                </a:lnTo>
                <a:lnTo>
                  <a:pt x="1763703" y="382534"/>
                </a:lnTo>
                <a:lnTo>
                  <a:pt x="1789337" y="292183"/>
                </a:lnTo>
                <a:lnTo>
                  <a:pt x="1792455" y="281039"/>
                </a:lnTo>
                <a:lnTo>
                  <a:pt x="1810267" y="257329"/>
                </a:lnTo>
                <a:lnTo>
                  <a:pt x="1821175" y="247396"/>
                </a:lnTo>
                <a:lnTo>
                  <a:pt x="1828054" y="247377"/>
                </a:lnTo>
                <a:lnTo>
                  <a:pt x="1837975" y="241260"/>
                </a:lnTo>
                <a:lnTo>
                  <a:pt x="1850946" y="229048"/>
                </a:lnTo>
                <a:lnTo>
                  <a:pt x="1866215" y="221703"/>
                </a:lnTo>
                <a:lnTo>
                  <a:pt x="1883775" y="219264"/>
                </a:lnTo>
                <a:lnTo>
                  <a:pt x="1895315" y="211242"/>
                </a:lnTo>
                <a:lnTo>
                  <a:pt x="1900852" y="197684"/>
                </a:lnTo>
                <a:lnTo>
                  <a:pt x="1910026" y="191278"/>
                </a:lnTo>
                <a:lnTo>
                  <a:pt x="1922851" y="192011"/>
                </a:lnTo>
                <a:lnTo>
                  <a:pt x="1930269" y="187869"/>
                </a:lnTo>
                <a:lnTo>
                  <a:pt x="1932318" y="178813"/>
                </a:lnTo>
                <a:lnTo>
                  <a:pt x="1940283" y="171250"/>
                </a:lnTo>
                <a:lnTo>
                  <a:pt x="1954183" y="165166"/>
                </a:lnTo>
                <a:lnTo>
                  <a:pt x="1961587" y="157704"/>
                </a:lnTo>
                <a:lnTo>
                  <a:pt x="1962489" y="148858"/>
                </a:lnTo>
                <a:lnTo>
                  <a:pt x="1979470" y="127795"/>
                </a:lnTo>
                <a:lnTo>
                  <a:pt x="2012627" y="94532"/>
                </a:lnTo>
                <a:lnTo>
                  <a:pt x="2043515" y="76436"/>
                </a:lnTo>
                <a:lnTo>
                  <a:pt x="2072113" y="73517"/>
                </a:lnTo>
                <a:lnTo>
                  <a:pt x="2099323" y="67327"/>
                </a:lnTo>
                <a:lnTo>
                  <a:pt x="2125188" y="57862"/>
                </a:lnTo>
                <a:lnTo>
                  <a:pt x="2144487" y="42242"/>
                </a:lnTo>
                <a:lnTo>
                  <a:pt x="2157236" y="20489"/>
                </a:lnTo>
                <a:lnTo>
                  <a:pt x="2178290" y="8887"/>
                </a:lnTo>
                <a:lnTo>
                  <a:pt x="2220048" y="6862"/>
                </a:lnTo>
                <a:lnTo>
                  <a:pt x="2222288" y="672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574948" y="2241530"/>
            <a:ext cx="2335697" cy="2211656"/>
          </a:xfrm>
          <a:custGeom>
            <a:avLst/>
            <a:gdLst/>
            <a:ahLst/>
            <a:cxnLst/>
            <a:rect l="l" t="t" r="r" b="b"/>
            <a:pathLst>
              <a:path w="2335697" h="2211656">
                <a:moveTo>
                  <a:pt x="2031346" y="38641"/>
                </a:moveTo>
                <a:lnTo>
                  <a:pt x="2068742" y="31113"/>
                </a:lnTo>
                <a:lnTo>
                  <a:pt x="2112273" y="23641"/>
                </a:lnTo>
                <a:lnTo>
                  <a:pt x="2147128" y="17728"/>
                </a:lnTo>
                <a:lnTo>
                  <a:pt x="2155880" y="16133"/>
                </a:lnTo>
                <a:lnTo>
                  <a:pt x="2239766" y="23403"/>
                </a:lnTo>
                <a:lnTo>
                  <a:pt x="2276284" y="28495"/>
                </a:lnTo>
                <a:lnTo>
                  <a:pt x="2288954" y="33345"/>
                </a:lnTo>
                <a:lnTo>
                  <a:pt x="2305431" y="45955"/>
                </a:lnTo>
                <a:lnTo>
                  <a:pt x="2335697" y="76413"/>
                </a:lnTo>
                <a:lnTo>
                  <a:pt x="2327884" y="75212"/>
                </a:lnTo>
                <a:lnTo>
                  <a:pt x="2271722" y="81190"/>
                </a:lnTo>
                <a:lnTo>
                  <a:pt x="2250311" y="89265"/>
                </a:lnTo>
                <a:lnTo>
                  <a:pt x="2202376" y="124723"/>
                </a:lnTo>
                <a:lnTo>
                  <a:pt x="2192227" y="120090"/>
                </a:lnTo>
                <a:lnTo>
                  <a:pt x="2180798" y="112641"/>
                </a:lnTo>
                <a:lnTo>
                  <a:pt x="2171082" y="110483"/>
                </a:lnTo>
                <a:lnTo>
                  <a:pt x="2150057" y="119017"/>
                </a:lnTo>
                <a:lnTo>
                  <a:pt x="2129114" y="129254"/>
                </a:lnTo>
                <a:lnTo>
                  <a:pt x="2105993" y="143772"/>
                </a:lnTo>
                <a:lnTo>
                  <a:pt x="2086972" y="158030"/>
                </a:lnTo>
                <a:lnTo>
                  <a:pt x="2080763" y="165690"/>
                </a:lnTo>
                <a:lnTo>
                  <a:pt x="2050959" y="195114"/>
                </a:lnTo>
                <a:lnTo>
                  <a:pt x="2041258" y="199901"/>
                </a:lnTo>
                <a:lnTo>
                  <a:pt x="2032620" y="201927"/>
                </a:lnTo>
                <a:lnTo>
                  <a:pt x="2029131" y="200603"/>
                </a:lnTo>
                <a:lnTo>
                  <a:pt x="2025380" y="187992"/>
                </a:lnTo>
                <a:lnTo>
                  <a:pt x="2006993" y="158569"/>
                </a:lnTo>
                <a:lnTo>
                  <a:pt x="1977444" y="120045"/>
                </a:lnTo>
                <a:lnTo>
                  <a:pt x="1968832" y="116329"/>
                </a:lnTo>
                <a:lnTo>
                  <a:pt x="1962940" y="114879"/>
                </a:lnTo>
                <a:lnTo>
                  <a:pt x="1941138" y="116884"/>
                </a:lnTo>
                <a:lnTo>
                  <a:pt x="1877826" y="128312"/>
                </a:lnTo>
                <a:lnTo>
                  <a:pt x="1824489" y="138064"/>
                </a:lnTo>
                <a:lnTo>
                  <a:pt x="1742820" y="154850"/>
                </a:lnTo>
                <a:lnTo>
                  <a:pt x="1655166" y="168992"/>
                </a:lnTo>
                <a:lnTo>
                  <a:pt x="1601139" y="177848"/>
                </a:lnTo>
                <a:lnTo>
                  <a:pt x="1554103" y="181123"/>
                </a:lnTo>
                <a:lnTo>
                  <a:pt x="1554852" y="219402"/>
                </a:lnTo>
                <a:lnTo>
                  <a:pt x="1556434" y="296866"/>
                </a:lnTo>
                <a:lnTo>
                  <a:pt x="1558017" y="374333"/>
                </a:lnTo>
                <a:lnTo>
                  <a:pt x="1559620" y="451821"/>
                </a:lnTo>
                <a:lnTo>
                  <a:pt x="1561260" y="529348"/>
                </a:lnTo>
                <a:lnTo>
                  <a:pt x="1562902" y="606876"/>
                </a:lnTo>
                <a:lnTo>
                  <a:pt x="1564580" y="684422"/>
                </a:lnTo>
                <a:lnTo>
                  <a:pt x="1566260" y="761985"/>
                </a:lnTo>
                <a:lnTo>
                  <a:pt x="1567960" y="839584"/>
                </a:lnTo>
                <a:lnTo>
                  <a:pt x="1568696" y="873411"/>
                </a:lnTo>
                <a:lnTo>
                  <a:pt x="1567339" y="880727"/>
                </a:lnTo>
                <a:lnTo>
                  <a:pt x="1541010" y="881344"/>
                </a:lnTo>
                <a:lnTo>
                  <a:pt x="1481472" y="882847"/>
                </a:lnTo>
                <a:lnTo>
                  <a:pt x="1431375" y="884229"/>
                </a:lnTo>
                <a:lnTo>
                  <a:pt x="1390890" y="885424"/>
                </a:lnTo>
                <a:lnTo>
                  <a:pt x="1392225" y="931536"/>
                </a:lnTo>
                <a:lnTo>
                  <a:pt x="1393806" y="986090"/>
                </a:lnTo>
                <a:lnTo>
                  <a:pt x="1395400" y="1040632"/>
                </a:lnTo>
                <a:lnTo>
                  <a:pt x="1397006" y="1095180"/>
                </a:lnTo>
                <a:lnTo>
                  <a:pt x="1398642" y="1149734"/>
                </a:lnTo>
                <a:lnTo>
                  <a:pt x="1400292" y="1204293"/>
                </a:lnTo>
                <a:lnTo>
                  <a:pt x="1401936" y="1258859"/>
                </a:lnTo>
                <a:lnTo>
                  <a:pt x="1403594" y="1313429"/>
                </a:lnTo>
                <a:lnTo>
                  <a:pt x="1405264" y="1368023"/>
                </a:lnTo>
                <a:lnTo>
                  <a:pt x="1406545" y="1409194"/>
                </a:lnTo>
                <a:lnTo>
                  <a:pt x="1406687" y="1413918"/>
                </a:lnTo>
                <a:lnTo>
                  <a:pt x="1409098" y="1493909"/>
                </a:lnTo>
                <a:lnTo>
                  <a:pt x="1411683" y="1578632"/>
                </a:lnTo>
                <a:lnTo>
                  <a:pt x="1414298" y="1663344"/>
                </a:lnTo>
                <a:lnTo>
                  <a:pt x="1416944" y="1748082"/>
                </a:lnTo>
                <a:lnTo>
                  <a:pt x="1419622" y="1832824"/>
                </a:lnTo>
                <a:lnTo>
                  <a:pt x="1422330" y="1917552"/>
                </a:lnTo>
                <a:lnTo>
                  <a:pt x="1425069" y="2002302"/>
                </a:lnTo>
                <a:lnTo>
                  <a:pt x="1427840" y="2087053"/>
                </a:lnTo>
                <a:lnTo>
                  <a:pt x="1428724" y="2113902"/>
                </a:lnTo>
                <a:lnTo>
                  <a:pt x="1411442" y="2114110"/>
                </a:lnTo>
                <a:lnTo>
                  <a:pt x="1377094" y="2125664"/>
                </a:lnTo>
                <a:lnTo>
                  <a:pt x="1355454" y="2139912"/>
                </a:lnTo>
                <a:lnTo>
                  <a:pt x="1346504" y="2156834"/>
                </a:lnTo>
                <a:lnTo>
                  <a:pt x="1334180" y="2167363"/>
                </a:lnTo>
                <a:lnTo>
                  <a:pt x="1318458" y="2171543"/>
                </a:lnTo>
                <a:lnTo>
                  <a:pt x="1311794" y="2180273"/>
                </a:lnTo>
                <a:lnTo>
                  <a:pt x="1314199" y="2193579"/>
                </a:lnTo>
                <a:lnTo>
                  <a:pt x="1308499" y="2204044"/>
                </a:lnTo>
                <a:lnTo>
                  <a:pt x="1294701" y="2211656"/>
                </a:lnTo>
                <a:lnTo>
                  <a:pt x="1271907" y="2210485"/>
                </a:lnTo>
                <a:lnTo>
                  <a:pt x="1240071" y="2200560"/>
                </a:lnTo>
                <a:lnTo>
                  <a:pt x="1200029" y="2199610"/>
                </a:lnTo>
                <a:lnTo>
                  <a:pt x="1151815" y="2207665"/>
                </a:lnTo>
                <a:lnTo>
                  <a:pt x="1116844" y="2206513"/>
                </a:lnTo>
                <a:lnTo>
                  <a:pt x="1095068" y="2196030"/>
                </a:lnTo>
                <a:lnTo>
                  <a:pt x="1072213" y="2190582"/>
                </a:lnTo>
                <a:lnTo>
                  <a:pt x="1048294" y="2190136"/>
                </a:lnTo>
                <a:lnTo>
                  <a:pt x="1034217" y="2186021"/>
                </a:lnTo>
                <a:lnTo>
                  <a:pt x="1005466" y="2178931"/>
                </a:lnTo>
                <a:lnTo>
                  <a:pt x="999268" y="2164536"/>
                </a:lnTo>
                <a:lnTo>
                  <a:pt x="995338" y="2153586"/>
                </a:lnTo>
                <a:lnTo>
                  <a:pt x="986634" y="2142294"/>
                </a:lnTo>
                <a:lnTo>
                  <a:pt x="985233" y="2132908"/>
                </a:lnTo>
                <a:lnTo>
                  <a:pt x="991175" y="2125390"/>
                </a:lnTo>
                <a:lnTo>
                  <a:pt x="991466" y="2113770"/>
                </a:lnTo>
                <a:lnTo>
                  <a:pt x="986051" y="2098048"/>
                </a:lnTo>
                <a:lnTo>
                  <a:pt x="977773" y="2090689"/>
                </a:lnTo>
                <a:lnTo>
                  <a:pt x="966653" y="2091716"/>
                </a:lnTo>
                <a:lnTo>
                  <a:pt x="959379" y="2085989"/>
                </a:lnTo>
                <a:lnTo>
                  <a:pt x="955965" y="2073504"/>
                </a:lnTo>
                <a:lnTo>
                  <a:pt x="948851" y="2064281"/>
                </a:lnTo>
                <a:lnTo>
                  <a:pt x="932602" y="2055396"/>
                </a:lnTo>
                <a:lnTo>
                  <a:pt x="912299" y="2063904"/>
                </a:lnTo>
                <a:lnTo>
                  <a:pt x="903169" y="2075564"/>
                </a:lnTo>
                <a:lnTo>
                  <a:pt x="898442" y="2093231"/>
                </a:lnTo>
                <a:lnTo>
                  <a:pt x="893727" y="2102219"/>
                </a:lnTo>
                <a:lnTo>
                  <a:pt x="891956" y="2116900"/>
                </a:lnTo>
                <a:lnTo>
                  <a:pt x="891381" y="2127238"/>
                </a:lnTo>
                <a:lnTo>
                  <a:pt x="886700" y="2138486"/>
                </a:lnTo>
                <a:lnTo>
                  <a:pt x="881474" y="2143252"/>
                </a:lnTo>
                <a:lnTo>
                  <a:pt x="875715" y="2141572"/>
                </a:lnTo>
                <a:lnTo>
                  <a:pt x="865359" y="2146569"/>
                </a:lnTo>
                <a:lnTo>
                  <a:pt x="843026" y="2164146"/>
                </a:lnTo>
                <a:lnTo>
                  <a:pt x="836926" y="2173067"/>
                </a:lnTo>
                <a:lnTo>
                  <a:pt x="817101" y="2158777"/>
                </a:lnTo>
                <a:lnTo>
                  <a:pt x="758319" y="2104167"/>
                </a:lnTo>
                <a:lnTo>
                  <a:pt x="737787" y="2090338"/>
                </a:lnTo>
                <a:lnTo>
                  <a:pt x="706484" y="2056662"/>
                </a:lnTo>
                <a:lnTo>
                  <a:pt x="635199" y="1950606"/>
                </a:lnTo>
                <a:lnTo>
                  <a:pt x="624596" y="1929991"/>
                </a:lnTo>
                <a:lnTo>
                  <a:pt x="608697" y="1877518"/>
                </a:lnTo>
                <a:lnTo>
                  <a:pt x="591848" y="1838970"/>
                </a:lnTo>
                <a:lnTo>
                  <a:pt x="588711" y="1816271"/>
                </a:lnTo>
                <a:lnTo>
                  <a:pt x="594555" y="1802907"/>
                </a:lnTo>
                <a:lnTo>
                  <a:pt x="589209" y="1785634"/>
                </a:lnTo>
                <a:lnTo>
                  <a:pt x="580874" y="1770478"/>
                </a:lnTo>
                <a:lnTo>
                  <a:pt x="557446" y="1751513"/>
                </a:lnTo>
                <a:lnTo>
                  <a:pt x="546395" y="1683407"/>
                </a:lnTo>
                <a:lnTo>
                  <a:pt x="528540" y="1640170"/>
                </a:lnTo>
                <a:lnTo>
                  <a:pt x="529155" y="1603352"/>
                </a:lnTo>
                <a:lnTo>
                  <a:pt x="519761" y="1570525"/>
                </a:lnTo>
                <a:lnTo>
                  <a:pt x="517586" y="1549202"/>
                </a:lnTo>
                <a:lnTo>
                  <a:pt x="517980" y="1508367"/>
                </a:lnTo>
                <a:lnTo>
                  <a:pt x="502812" y="1462518"/>
                </a:lnTo>
                <a:lnTo>
                  <a:pt x="475399" y="1418572"/>
                </a:lnTo>
                <a:lnTo>
                  <a:pt x="448876" y="1354263"/>
                </a:lnTo>
                <a:lnTo>
                  <a:pt x="443706" y="1325632"/>
                </a:lnTo>
                <a:lnTo>
                  <a:pt x="440687" y="1247856"/>
                </a:lnTo>
                <a:lnTo>
                  <a:pt x="434250" y="1216520"/>
                </a:lnTo>
                <a:lnTo>
                  <a:pt x="431943" y="1179277"/>
                </a:lnTo>
                <a:lnTo>
                  <a:pt x="420555" y="1141356"/>
                </a:lnTo>
                <a:lnTo>
                  <a:pt x="415524" y="1120573"/>
                </a:lnTo>
                <a:lnTo>
                  <a:pt x="420565" y="1103463"/>
                </a:lnTo>
                <a:lnTo>
                  <a:pt x="424573" y="1108457"/>
                </a:lnTo>
                <a:lnTo>
                  <a:pt x="431137" y="1110501"/>
                </a:lnTo>
                <a:lnTo>
                  <a:pt x="433905" y="1088069"/>
                </a:lnTo>
                <a:lnTo>
                  <a:pt x="433664" y="1068452"/>
                </a:lnTo>
                <a:lnTo>
                  <a:pt x="419326" y="1021019"/>
                </a:lnTo>
                <a:lnTo>
                  <a:pt x="391178" y="973503"/>
                </a:lnTo>
                <a:lnTo>
                  <a:pt x="324103" y="897725"/>
                </a:lnTo>
                <a:lnTo>
                  <a:pt x="306917" y="868247"/>
                </a:lnTo>
                <a:lnTo>
                  <a:pt x="296529" y="843524"/>
                </a:lnTo>
                <a:lnTo>
                  <a:pt x="220081" y="743020"/>
                </a:lnTo>
                <a:lnTo>
                  <a:pt x="185191" y="670661"/>
                </a:lnTo>
                <a:lnTo>
                  <a:pt x="159907" y="607799"/>
                </a:lnTo>
                <a:lnTo>
                  <a:pt x="135205" y="579882"/>
                </a:lnTo>
                <a:lnTo>
                  <a:pt x="23919" y="393550"/>
                </a:lnTo>
                <a:lnTo>
                  <a:pt x="0" y="52526"/>
                </a:lnTo>
                <a:lnTo>
                  <a:pt x="8795" y="52124"/>
                </a:lnTo>
                <a:lnTo>
                  <a:pt x="27885" y="40581"/>
                </a:lnTo>
                <a:lnTo>
                  <a:pt x="50676" y="28717"/>
                </a:lnTo>
                <a:lnTo>
                  <a:pt x="63627" y="18959"/>
                </a:lnTo>
                <a:lnTo>
                  <a:pt x="82006" y="8475"/>
                </a:lnTo>
                <a:lnTo>
                  <a:pt x="89956" y="4895"/>
                </a:lnTo>
                <a:lnTo>
                  <a:pt x="152252" y="0"/>
                </a:lnTo>
                <a:lnTo>
                  <a:pt x="162348" y="712"/>
                </a:lnTo>
                <a:lnTo>
                  <a:pt x="175925" y="5819"/>
                </a:lnTo>
                <a:lnTo>
                  <a:pt x="192764" y="23835"/>
                </a:lnTo>
                <a:lnTo>
                  <a:pt x="218038" y="39531"/>
                </a:lnTo>
                <a:lnTo>
                  <a:pt x="236485" y="48623"/>
                </a:lnTo>
                <a:lnTo>
                  <a:pt x="257777" y="60851"/>
                </a:lnTo>
                <a:lnTo>
                  <a:pt x="264256" y="65721"/>
                </a:lnTo>
                <a:lnTo>
                  <a:pt x="273440" y="67992"/>
                </a:lnTo>
                <a:lnTo>
                  <a:pt x="278977" y="68483"/>
                </a:lnTo>
                <a:lnTo>
                  <a:pt x="316851" y="63637"/>
                </a:lnTo>
                <a:lnTo>
                  <a:pt x="351188" y="59301"/>
                </a:lnTo>
                <a:lnTo>
                  <a:pt x="388266" y="56800"/>
                </a:lnTo>
                <a:lnTo>
                  <a:pt x="458094" y="52245"/>
                </a:lnTo>
                <a:lnTo>
                  <a:pt x="527947" y="47885"/>
                </a:lnTo>
                <a:lnTo>
                  <a:pt x="597825" y="43701"/>
                </a:lnTo>
                <a:lnTo>
                  <a:pt x="667727" y="39730"/>
                </a:lnTo>
                <a:lnTo>
                  <a:pt x="737652" y="35953"/>
                </a:lnTo>
                <a:lnTo>
                  <a:pt x="807598" y="32371"/>
                </a:lnTo>
                <a:lnTo>
                  <a:pt x="877564" y="28984"/>
                </a:lnTo>
                <a:lnTo>
                  <a:pt x="947531" y="25791"/>
                </a:lnTo>
                <a:lnTo>
                  <a:pt x="976169" y="24532"/>
                </a:lnTo>
                <a:lnTo>
                  <a:pt x="1026219" y="22958"/>
                </a:lnTo>
                <a:lnTo>
                  <a:pt x="1078868" y="21414"/>
                </a:lnTo>
                <a:lnTo>
                  <a:pt x="1084730" y="22272"/>
                </a:lnTo>
                <a:lnTo>
                  <a:pt x="1090732" y="25722"/>
                </a:lnTo>
                <a:lnTo>
                  <a:pt x="1095651" y="28975"/>
                </a:lnTo>
                <a:lnTo>
                  <a:pt x="1115014" y="52383"/>
                </a:lnTo>
                <a:lnTo>
                  <a:pt x="1139562" y="76736"/>
                </a:lnTo>
                <a:lnTo>
                  <a:pt x="1159650" y="87959"/>
                </a:lnTo>
                <a:lnTo>
                  <a:pt x="1183479" y="94143"/>
                </a:lnTo>
                <a:lnTo>
                  <a:pt x="1205690" y="96028"/>
                </a:lnTo>
                <a:lnTo>
                  <a:pt x="1226271" y="93556"/>
                </a:lnTo>
                <a:lnTo>
                  <a:pt x="1260639" y="95605"/>
                </a:lnTo>
                <a:lnTo>
                  <a:pt x="1308742" y="102232"/>
                </a:lnTo>
                <a:lnTo>
                  <a:pt x="1358554" y="103113"/>
                </a:lnTo>
                <a:lnTo>
                  <a:pt x="1410068" y="98278"/>
                </a:lnTo>
                <a:lnTo>
                  <a:pt x="1446446" y="101803"/>
                </a:lnTo>
                <a:lnTo>
                  <a:pt x="1467646" y="113623"/>
                </a:lnTo>
                <a:lnTo>
                  <a:pt x="1489266" y="121464"/>
                </a:lnTo>
                <a:lnTo>
                  <a:pt x="1511330" y="125307"/>
                </a:lnTo>
                <a:lnTo>
                  <a:pt x="1540992" y="122027"/>
                </a:lnTo>
                <a:lnTo>
                  <a:pt x="1578277" y="111668"/>
                </a:lnTo>
                <a:lnTo>
                  <a:pt x="1610148" y="112391"/>
                </a:lnTo>
                <a:lnTo>
                  <a:pt x="1625024" y="119035"/>
                </a:lnTo>
                <a:lnTo>
                  <a:pt x="1633817" y="119091"/>
                </a:lnTo>
                <a:lnTo>
                  <a:pt x="1688734" y="108073"/>
                </a:lnTo>
                <a:lnTo>
                  <a:pt x="1732904" y="99299"/>
                </a:lnTo>
                <a:lnTo>
                  <a:pt x="1799165" y="85562"/>
                </a:lnTo>
                <a:lnTo>
                  <a:pt x="1853880" y="74357"/>
                </a:lnTo>
                <a:lnTo>
                  <a:pt x="1935029" y="57967"/>
                </a:lnTo>
                <a:lnTo>
                  <a:pt x="1992148" y="46604"/>
                </a:lnTo>
                <a:lnTo>
                  <a:pt x="2031346" y="3864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970364" y="2218637"/>
            <a:ext cx="818321" cy="1873847"/>
          </a:xfrm>
          <a:custGeom>
            <a:avLst/>
            <a:gdLst/>
            <a:ahLst/>
            <a:cxnLst/>
            <a:rect l="l" t="t" r="r" b="b"/>
            <a:pathLst>
              <a:path w="818321" h="1873847">
                <a:moveTo>
                  <a:pt x="26026" y="991305"/>
                </a:moveTo>
                <a:lnTo>
                  <a:pt x="52574" y="965081"/>
                </a:lnTo>
                <a:lnTo>
                  <a:pt x="83707" y="934416"/>
                </a:lnTo>
                <a:lnTo>
                  <a:pt x="111528" y="907074"/>
                </a:lnTo>
                <a:lnTo>
                  <a:pt x="136034" y="883063"/>
                </a:lnTo>
                <a:lnTo>
                  <a:pt x="169630" y="850256"/>
                </a:lnTo>
                <a:lnTo>
                  <a:pt x="202908" y="817861"/>
                </a:lnTo>
                <a:lnTo>
                  <a:pt x="210504" y="813941"/>
                </a:lnTo>
                <a:lnTo>
                  <a:pt x="213756" y="811332"/>
                </a:lnTo>
                <a:lnTo>
                  <a:pt x="201923" y="779934"/>
                </a:lnTo>
                <a:lnTo>
                  <a:pt x="225764" y="745853"/>
                </a:lnTo>
                <a:lnTo>
                  <a:pt x="228252" y="722876"/>
                </a:lnTo>
                <a:lnTo>
                  <a:pt x="228570" y="700770"/>
                </a:lnTo>
                <a:lnTo>
                  <a:pt x="231774" y="690815"/>
                </a:lnTo>
                <a:lnTo>
                  <a:pt x="238871" y="682358"/>
                </a:lnTo>
                <a:lnTo>
                  <a:pt x="265532" y="665564"/>
                </a:lnTo>
                <a:lnTo>
                  <a:pt x="286597" y="637429"/>
                </a:lnTo>
                <a:lnTo>
                  <a:pt x="304081" y="611030"/>
                </a:lnTo>
                <a:lnTo>
                  <a:pt x="328730" y="568325"/>
                </a:lnTo>
                <a:lnTo>
                  <a:pt x="331509" y="558073"/>
                </a:lnTo>
                <a:lnTo>
                  <a:pt x="332466" y="547382"/>
                </a:lnTo>
                <a:lnTo>
                  <a:pt x="327208" y="532064"/>
                </a:lnTo>
                <a:lnTo>
                  <a:pt x="313817" y="506874"/>
                </a:lnTo>
                <a:lnTo>
                  <a:pt x="304267" y="485284"/>
                </a:lnTo>
                <a:lnTo>
                  <a:pt x="296507" y="452454"/>
                </a:lnTo>
                <a:lnTo>
                  <a:pt x="307685" y="425073"/>
                </a:lnTo>
                <a:lnTo>
                  <a:pt x="312066" y="408390"/>
                </a:lnTo>
                <a:lnTo>
                  <a:pt x="312540" y="399257"/>
                </a:lnTo>
                <a:lnTo>
                  <a:pt x="308755" y="390312"/>
                </a:lnTo>
                <a:lnTo>
                  <a:pt x="298286" y="383058"/>
                </a:lnTo>
                <a:lnTo>
                  <a:pt x="289540" y="378210"/>
                </a:lnTo>
                <a:lnTo>
                  <a:pt x="287137" y="366436"/>
                </a:lnTo>
                <a:lnTo>
                  <a:pt x="287799" y="352662"/>
                </a:lnTo>
                <a:lnTo>
                  <a:pt x="292328" y="345319"/>
                </a:lnTo>
                <a:lnTo>
                  <a:pt x="316979" y="334569"/>
                </a:lnTo>
                <a:lnTo>
                  <a:pt x="322791" y="328245"/>
                </a:lnTo>
                <a:lnTo>
                  <a:pt x="326051" y="320935"/>
                </a:lnTo>
                <a:lnTo>
                  <a:pt x="326889" y="310283"/>
                </a:lnTo>
                <a:lnTo>
                  <a:pt x="335756" y="284127"/>
                </a:lnTo>
                <a:lnTo>
                  <a:pt x="346325" y="259446"/>
                </a:lnTo>
                <a:lnTo>
                  <a:pt x="347421" y="250563"/>
                </a:lnTo>
                <a:lnTo>
                  <a:pt x="344608" y="242540"/>
                </a:lnTo>
                <a:lnTo>
                  <a:pt x="342875" y="228092"/>
                </a:lnTo>
                <a:lnTo>
                  <a:pt x="342403" y="206451"/>
                </a:lnTo>
                <a:lnTo>
                  <a:pt x="345514" y="146152"/>
                </a:lnTo>
                <a:lnTo>
                  <a:pt x="353612" y="84203"/>
                </a:lnTo>
                <a:lnTo>
                  <a:pt x="353408" y="48772"/>
                </a:lnTo>
                <a:lnTo>
                  <a:pt x="340012" y="7195"/>
                </a:lnTo>
                <a:lnTo>
                  <a:pt x="340023" y="0"/>
                </a:lnTo>
                <a:lnTo>
                  <a:pt x="738694" y="28832"/>
                </a:lnTo>
                <a:lnTo>
                  <a:pt x="734884" y="31751"/>
                </a:lnTo>
                <a:lnTo>
                  <a:pt x="737901" y="43773"/>
                </a:lnTo>
                <a:lnTo>
                  <a:pt x="742685" y="50328"/>
                </a:lnTo>
                <a:lnTo>
                  <a:pt x="748235" y="53890"/>
                </a:lnTo>
                <a:lnTo>
                  <a:pt x="762187" y="55749"/>
                </a:lnTo>
                <a:lnTo>
                  <a:pt x="775328" y="54418"/>
                </a:lnTo>
                <a:lnTo>
                  <a:pt x="778858" y="50606"/>
                </a:lnTo>
                <a:lnTo>
                  <a:pt x="779513" y="32146"/>
                </a:lnTo>
                <a:lnTo>
                  <a:pt x="818321" y="35359"/>
                </a:lnTo>
                <a:lnTo>
                  <a:pt x="787089" y="479736"/>
                </a:lnTo>
                <a:lnTo>
                  <a:pt x="760746" y="507242"/>
                </a:lnTo>
                <a:lnTo>
                  <a:pt x="681505" y="561637"/>
                </a:lnTo>
                <a:lnTo>
                  <a:pt x="671160" y="562532"/>
                </a:lnTo>
                <a:lnTo>
                  <a:pt x="664279" y="561731"/>
                </a:lnTo>
                <a:lnTo>
                  <a:pt x="642186" y="538741"/>
                </a:lnTo>
                <a:lnTo>
                  <a:pt x="629448" y="536159"/>
                </a:lnTo>
                <a:lnTo>
                  <a:pt x="640082" y="549590"/>
                </a:lnTo>
                <a:lnTo>
                  <a:pt x="646944" y="560615"/>
                </a:lnTo>
                <a:lnTo>
                  <a:pt x="643599" y="580909"/>
                </a:lnTo>
                <a:lnTo>
                  <a:pt x="642350" y="611663"/>
                </a:lnTo>
                <a:lnTo>
                  <a:pt x="628898" y="670565"/>
                </a:lnTo>
                <a:lnTo>
                  <a:pt x="629217" y="683724"/>
                </a:lnTo>
                <a:lnTo>
                  <a:pt x="638667" y="701487"/>
                </a:lnTo>
                <a:lnTo>
                  <a:pt x="657207" y="723829"/>
                </a:lnTo>
                <a:lnTo>
                  <a:pt x="674087" y="751141"/>
                </a:lnTo>
                <a:lnTo>
                  <a:pt x="692654" y="827157"/>
                </a:lnTo>
                <a:lnTo>
                  <a:pt x="691647" y="865393"/>
                </a:lnTo>
                <a:lnTo>
                  <a:pt x="712666" y="916150"/>
                </a:lnTo>
                <a:lnTo>
                  <a:pt x="711973" y="937309"/>
                </a:lnTo>
                <a:lnTo>
                  <a:pt x="717842" y="990641"/>
                </a:lnTo>
                <a:lnTo>
                  <a:pt x="713857" y="1033027"/>
                </a:lnTo>
                <a:lnTo>
                  <a:pt x="710072" y="1058869"/>
                </a:lnTo>
                <a:lnTo>
                  <a:pt x="721031" y="1070883"/>
                </a:lnTo>
                <a:lnTo>
                  <a:pt x="726180" y="1061352"/>
                </a:lnTo>
                <a:lnTo>
                  <a:pt x="726267" y="1044811"/>
                </a:lnTo>
                <a:lnTo>
                  <a:pt x="731522" y="1018705"/>
                </a:lnTo>
                <a:lnTo>
                  <a:pt x="739060" y="1007531"/>
                </a:lnTo>
                <a:lnTo>
                  <a:pt x="745517" y="1009780"/>
                </a:lnTo>
                <a:lnTo>
                  <a:pt x="746061" y="1016870"/>
                </a:lnTo>
                <a:lnTo>
                  <a:pt x="739291" y="1101254"/>
                </a:lnTo>
                <a:lnTo>
                  <a:pt x="736761" y="1111204"/>
                </a:lnTo>
                <a:lnTo>
                  <a:pt x="737365" y="1125049"/>
                </a:lnTo>
                <a:lnTo>
                  <a:pt x="730528" y="1208880"/>
                </a:lnTo>
                <a:lnTo>
                  <a:pt x="729316" y="1211701"/>
                </a:lnTo>
                <a:lnTo>
                  <a:pt x="700637" y="1309428"/>
                </a:lnTo>
                <a:lnTo>
                  <a:pt x="698077" y="1326550"/>
                </a:lnTo>
                <a:lnTo>
                  <a:pt x="702397" y="1334499"/>
                </a:lnTo>
                <a:lnTo>
                  <a:pt x="713188" y="1338020"/>
                </a:lnTo>
                <a:lnTo>
                  <a:pt x="718288" y="1325694"/>
                </a:lnTo>
                <a:lnTo>
                  <a:pt x="720833" y="1325958"/>
                </a:lnTo>
                <a:lnTo>
                  <a:pt x="717111" y="1370367"/>
                </a:lnTo>
                <a:lnTo>
                  <a:pt x="714550" y="1379289"/>
                </a:lnTo>
                <a:lnTo>
                  <a:pt x="703914" y="1398619"/>
                </a:lnTo>
                <a:lnTo>
                  <a:pt x="668048" y="1445167"/>
                </a:lnTo>
                <a:lnTo>
                  <a:pt x="649175" y="1464842"/>
                </a:lnTo>
                <a:lnTo>
                  <a:pt x="619133" y="1483195"/>
                </a:lnTo>
                <a:lnTo>
                  <a:pt x="550043" y="1510116"/>
                </a:lnTo>
                <a:lnTo>
                  <a:pt x="413328" y="1546489"/>
                </a:lnTo>
                <a:lnTo>
                  <a:pt x="358890" y="1565529"/>
                </a:lnTo>
                <a:lnTo>
                  <a:pt x="326438" y="1576937"/>
                </a:lnTo>
                <a:lnTo>
                  <a:pt x="256884" y="1615889"/>
                </a:lnTo>
                <a:lnTo>
                  <a:pt x="225849" y="1643187"/>
                </a:lnTo>
                <a:lnTo>
                  <a:pt x="211635" y="1675999"/>
                </a:lnTo>
                <a:lnTo>
                  <a:pt x="199164" y="1690622"/>
                </a:lnTo>
                <a:lnTo>
                  <a:pt x="186652" y="1709358"/>
                </a:lnTo>
                <a:lnTo>
                  <a:pt x="195307" y="1726762"/>
                </a:lnTo>
                <a:lnTo>
                  <a:pt x="204052" y="1740085"/>
                </a:lnTo>
                <a:lnTo>
                  <a:pt x="214788" y="1749345"/>
                </a:lnTo>
                <a:lnTo>
                  <a:pt x="220152" y="1757062"/>
                </a:lnTo>
                <a:lnTo>
                  <a:pt x="227484" y="1762674"/>
                </a:lnTo>
                <a:lnTo>
                  <a:pt x="237027" y="1736891"/>
                </a:lnTo>
                <a:lnTo>
                  <a:pt x="241419" y="1728974"/>
                </a:lnTo>
                <a:lnTo>
                  <a:pt x="248049" y="1728804"/>
                </a:lnTo>
                <a:lnTo>
                  <a:pt x="242180" y="1760694"/>
                </a:lnTo>
                <a:lnTo>
                  <a:pt x="226926" y="1870293"/>
                </a:lnTo>
                <a:lnTo>
                  <a:pt x="226160" y="1873847"/>
                </a:lnTo>
                <a:lnTo>
                  <a:pt x="207503" y="1872861"/>
                </a:lnTo>
                <a:lnTo>
                  <a:pt x="175499" y="1871578"/>
                </a:lnTo>
                <a:lnTo>
                  <a:pt x="156576" y="1870823"/>
                </a:lnTo>
                <a:lnTo>
                  <a:pt x="135404" y="1870011"/>
                </a:lnTo>
                <a:lnTo>
                  <a:pt x="109563" y="1862939"/>
                </a:lnTo>
                <a:lnTo>
                  <a:pt x="94730" y="1863122"/>
                </a:lnTo>
                <a:lnTo>
                  <a:pt x="97422" y="1802194"/>
                </a:lnTo>
                <a:lnTo>
                  <a:pt x="93481" y="1788512"/>
                </a:lnTo>
                <a:lnTo>
                  <a:pt x="89654" y="1768639"/>
                </a:lnTo>
                <a:lnTo>
                  <a:pt x="89253" y="1756007"/>
                </a:lnTo>
                <a:lnTo>
                  <a:pt x="93216" y="1743595"/>
                </a:lnTo>
                <a:lnTo>
                  <a:pt x="95986" y="1723712"/>
                </a:lnTo>
                <a:lnTo>
                  <a:pt x="95653" y="1706135"/>
                </a:lnTo>
                <a:lnTo>
                  <a:pt x="80403" y="1696362"/>
                </a:lnTo>
                <a:lnTo>
                  <a:pt x="77107" y="1693355"/>
                </a:lnTo>
                <a:lnTo>
                  <a:pt x="74529" y="1679376"/>
                </a:lnTo>
                <a:lnTo>
                  <a:pt x="74445" y="1658066"/>
                </a:lnTo>
                <a:lnTo>
                  <a:pt x="87138" y="1631706"/>
                </a:lnTo>
                <a:lnTo>
                  <a:pt x="89398" y="1579753"/>
                </a:lnTo>
                <a:lnTo>
                  <a:pt x="91817" y="1561550"/>
                </a:lnTo>
                <a:lnTo>
                  <a:pt x="93773" y="1525415"/>
                </a:lnTo>
                <a:lnTo>
                  <a:pt x="96157" y="1481635"/>
                </a:lnTo>
                <a:lnTo>
                  <a:pt x="98286" y="1442435"/>
                </a:lnTo>
                <a:lnTo>
                  <a:pt x="100747" y="1408633"/>
                </a:lnTo>
                <a:lnTo>
                  <a:pt x="98349" y="1392396"/>
                </a:lnTo>
                <a:lnTo>
                  <a:pt x="96081" y="1383428"/>
                </a:lnTo>
                <a:lnTo>
                  <a:pt x="89719" y="1365065"/>
                </a:lnTo>
                <a:lnTo>
                  <a:pt x="83219" y="1327215"/>
                </a:lnTo>
                <a:lnTo>
                  <a:pt x="74592" y="1298407"/>
                </a:lnTo>
                <a:lnTo>
                  <a:pt x="62444" y="1279023"/>
                </a:lnTo>
                <a:lnTo>
                  <a:pt x="58795" y="1268975"/>
                </a:lnTo>
                <a:lnTo>
                  <a:pt x="55258" y="1255614"/>
                </a:lnTo>
                <a:lnTo>
                  <a:pt x="44027" y="1231787"/>
                </a:lnTo>
                <a:lnTo>
                  <a:pt x="34519" y="1217749"/>
                </a:lnTo>
                <a:lnTo>
                  <a:pt x="32315" y="1206823"/>
                </a:lnTo>
                <a:lnTo>
                  <a:pt x="34178" y="1178994"/>
                </a:lnTo>
                <a:lnTo>
                  <a:pt x="25432" y="1128311"/>
                </a:lnTo>
                <a:lnTo>
                  <a:pt x="19023" y="1091367"/>
                </a:lnTo>
                <a:lnTo>
                  <a:pt x="8516" y="1051161"/>
                </a:lnTo>
                <a:lnTo>
                  <a:pt x="1430" y="1024243"/>
                </a:lnTo>
                <a:lnTo>
                  <a:pt x="421" y="1019620"/>
                </a:lnTo>
                <a:lnTo>
                  <a:pt x="0" y="1009551"/>
                </a:lnTo>
                <a:lnTo>
                  <a:pt x="26026" y="99130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705248" y="2247469"/>
            <a:ext cx="44629" cy="26917"/>
          </a:xfrm>
          <a:custGeom>
            <a:avLst/>
            <a:gdLst/>
            <a:ahLst/>
            <a:cxnLst/>
            <a:rect l="l" t="t" r="r" b="b"/>
            <a:pathLst>
              <a:path w="44629" h="26917">
                <a:moveTo>
                  <a:pt x="43974" y="21774"/>
                </a:moveTo>
                <a:lnTo>
                  <a:pt x="40444" y="25586"/>
                </a:lnTo>
                <a:lnTo>
                  <a:pt x="27303" y="26917"/>
                </a:lnTo>
                <a:lnTo>
                  <a:pt x="13351" y="25058"/>
                </a:lnTo>
                <a:lnTo>
                  <a:pt x="7801" y="21496"/>
                </a:lnTo>
                <a:lnTo>
                  <a:pt x="3017" y="14941"/>
                </a:lnTo>
                <a:lnTo>
                  <a:pt x="0" y="2919"/>
                </a:lnTo>
                <a:lnTo>
                  <a:pt x="3810" y="0"/>
                </a:lnTo>
                <a:lnTo>
                  <a:pt x="44629" y="3314"/>
                </a:lnTo>
                <a:lnTo>
                  <a:pt x="43974" y="21774"/>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88498" y="4383812"/>
            <a:ext cx="392409" cy="389037"/>
          </a:xfrm>
          <a:custGeom>
            <a:avLst/>
            <a:gdLst/>
            <a:ahLst/>
            <a:cxnLst/>
            <a:rect l="l" t="t" r="r" b="b"/>
            <a:pathLst>
              <a:path w="392409" h="389037">
                <a:moveTo>
                  <a:pt x="261864" y="294446"/>
                </a:moveTo>
                <a:lnTo>
                  <a:pt x="259778" y="294777"/>
                </a:lnTo>
                <a:lnTo>
                  <a:pt x="250267" y="293342"/>
                </a:lnTo>
                <a:lnTo>
                  <a:pt x="237469" y="293989"/>
                </a:lnTo>
                <a:lnTo>
                  <a:pt x="227348" y="296211"/>
                </a:lnTo>
                <a:lnTo>
                  <a:pt x="219536" y="296901"/>
                </a:lnTo>
                <a:lnTo>
                  <a:pt x="206348" y="309959"/>
                </a:lnTo>
                <a:lnTo>
                  <a:pt x="182005" y="345629"/>
                </a:lnTo>
                <a:lnTo>
                  <a:pt x="175606" y="353050"/>
                </a:lnTo>
                <a:lnTo>
                  <a:pt x="173387" y="367317"/>
                </a:lnTo>
                <a:lnTo>
                  <a:pt x="167656" y="378468"/>
                </a:lnTo>
                <a:lnTo>
                  <a:pt x="160826" y="387107"/>
                </a:lnTo>
                <a:lnTo>
                  <a:pt x="154380" y="389037"/>
                </a:lnTo>
                <a:lnTo>
                  <a:pt x="135337" y="384903"/>
                </a:lnTo>
                <a:lnTo>
                  <a:pt x="110975" y="379601"/>
                </a:lnTo>
                <a:lnTo>
                  <a:pt x="97062" y="368176"/>
                </a:lnTo>
                <a:lnTo>
                  <a:pt x="84816" y="353347"/>
                </a:lnTo>
                <a:lnTo>
                  <a:pt x="78432" y="342641"/>
                </a:lnTo>
                <a:lnTo>
                  <a:pt x="71590" y="336673"/>
                </a:lnTo>
                <a:lnTo>
                  <a:pt x="69283" y="333368"/>
                </a:lnTo>
                <a:lnTo>
                  <a:pt x="59421" y="328231"/>
                </a:lnTo>
                <a:lnTo>
                  <a:pt x="55718" y="325614"/>
                </a:lnTo>
                <a:lnTo>
                  <a:pt x="52444" y="323737"/>
                </a:lnTo>
                <a:lnTo>
                  <a:pt x="48610" y="316631"/>
                </a:lnTo>
                <a:lnTo>
                  <a:pt x="46410" y="310501"/>
                </a:lnTo>
                <a:lnTo>
                  <a:pt x="47833" y="293615"/>
                </a:lnTo>
                <a:lnTo>
                  <a:pt x="41052" y="283340"/>
                </a:lnTo>
                <a:lnTo>
                  <a:pt x="29441" y="265810"/>
                </a:lnTo>
                <a:lnTo>
                  <a:pt x="22165" y="251508"/>
                </a:lnTo>
                <a:lnTo>
                  <a:pt x="12208" y="231984"/>
                </a:lnTo>
                <a:lnTo>
                  <a:pt x="6216" y="215338"/>
                </a:lnTo>
                <a:lnTo>
                  <a:pt x="0" y="198093"/>
                </a:lnTo>
                <a:lnTo>
                  <a:pt x="1051" y="190783"/>
                </a:lnTo>
                <a:lnTo>
                  <a:pt x="7554" y="185936"/>
                </a:lnTo>
                <a:lnTo>
                  <a:pt x="26470" y="177815"/>
                </a:lnTo>
                <a:lnTo>
                  <a:pt x="41164" y="171553"/>
                </a:lnTo>
                <a:lnTo>
                  <a:pt x="51891" y="159626"/>
                </a:lnTo>
                <a:lnTo>
                  <a:pt x="63761" y="141795"/>
                </a:lnTo>
                <a:lnTo>
                  <a:pt x="69602" y="131026"/>
                </a:lnTo>
                <a:lnTo>
                  <a:pt x="75259" y="126194"/>
                </a:lnTo>
                <a:lnTo>
                  <a:pt x="81520" y="118661"/>
                </a:lnTo>
                <a:lnTo>
                  <a:pt x="92571" y="101882"/>
                </a:lnTo>
                <a:lnTo>
                  <a:pt x="104890" y="83265"/>
                </a:lnTo>
                <a:lnTo>
                  <a:pt x="118090" y="63264"/>
                </a:lnTo>
                <a:lnTo>
                  <a:pt x="134162" y="57848"/>
                </a:lnTo>
                <a:lnTo>
                  <a:pt x="156082" y="51716"/>
                </a:lnTo>
                <a:lnTo>
                  <a:pt x="177552" y="34601"/>
                </a:lnTo>
                <a:lnTo>
                  <a:pt x="202942" y="20433"/>
                </a:lnTo>
                <a:lnTo>
                  <a:pt x="243699" y="5552"/>
                </a:lnTo>
                <a:lnTo>
                  <a:pt x="262586" y="2101"/>
                </a:lnTo>
                <a:lnTo>
                  <a:pt x="269796" y="0"/>
                </a:lnTo>
                <a:lnTo>
                  <a:pt x="274190" y="3237"/>
                </a:lnTo>
                <a:lnTo>
                  <a:pt x="278620" y="12738"/>
                </a:lnTo>
                <a:lnTo>
                  <a:pt x="285137" y="20790"/>
                </a:lnTo>
                <a:lnTo>
                  <a:pt x="300445" y="34959"/>
                </a:lnTo>
                <a:lnTo>
                  <a:pt x="307028" y="38494"/>
                </a:lnTo>
                <a:lnTo>
                  <a:pt x="322546" y="59212"/>
                </a:lnTo>
                <a:lnTo>
                  <a:pt x="339436" y="73682"/>
                </a:lnTo>
                <a:lnTo>
                  <a:pt x="358840" y="90359"/>
                </a:lnTo>
                <a:lnTo>
                  <a:pt x="372163" y="98820"/>
                </a:lnTo>
                <a:lnTo>
                  <a:pt x="379020" y="101311"/>
                </a:lnTo>
                <a:lnTo>
                  <a:pt x="384171" y="115624"/>
                </a:lnTo>
                <a:lnTo>
                  <a:pt x="389541" y="126312"/>
                </a:lnTo>
                <a:lnTo>
                  <a:pt x="392409" y="136223"/>
                </a:lnTo>
                <a:lnTo>
                  <a:pt x="391311" y="145720"/>
                </a:lnTo>
                <a:lnTo>
                  <a:pt x="383947" y="168740"/>
                </a:lnTo>
                <a:lnTo>
                  <a:pt x="373679" y="192140"/>
                </a:lnTo>
                <a:lnTo>
                  <a:pt x="365865" y="201724"/>
                </a:lnTo>
                <a:lnTo>
                  <a:pt x="356593" y="207595"/>
                </a:lnTo>
                <a:lnTo>
                  <a:pt x="347386" y="216623"/>
                </a:lnTo>
                <a:lnTo>
                  <a:pt x="343198" y="235572"/>
                </a:lnTo>
                <a:lnTo>
                  <a:pt x="338254" y="257863"/>
                </a:lnTo>
                <a:lnTo>
                  <a:pt x="326409" y="266640"/>
                </a:lnTo>
                <a:lnTo>
                  <a:pt x="317250" y="272344"/>
                </a:lnTo>
                <a:lnTo>
                  <a:pt x="304640" y="279294"/>
                </a:lnTo>
                <a:lnTo>
                  <a:pt x="276957" y="290324"/>
                </a:lnTo>
                <a:lnTo>
                  <a:pt x="261864" y="29444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965838" y="2316742"/>
            <a:ext cx="1666084" cy="1729671"/>
          </a:xfrm>
          <a:custGeom>
            <a:avLst/>
            <a:gdLst/>
            <a:ahLst/>
            <a:cxnLst/>
            <a:rect l="l" t="t" r="r" b="b"/>
            <a:pathLst>
              <a:path w="1666084" h="1729671">
                <a:moveTo>
                  <a:pt x="941130" y="10561"/>
                </a:moveTo>
                <a:lnTo>
                  <a:pt x="938279" y="24229"/>
                </a:lnTo>
                <a:lnTo>
                  <a:pt x="941539" y="34469"/>
                </a:lnTo>
                <a:lnTo>
                  <a:pt x="948763" y="48230"/>
                </a:lnTo>
                <a:lnTo>
                  <a:pt x="959220" y="60339"/>
                </a:lnTo>
                <a:lnTo>
                  <a:pt x="967215" y="67535"/>
                </a:lnTo>
                <a:lnTo>
                  <a:pt x="976610" y="85276"/>
                </a:lnTo>
                <a:lnTo>
                  <a:pt x="985988" y="107453"/>
                </a:lnTo>
                <a:lnTo>
                  <a:pt x="998403" y="124775"/>
                </a:lnTo>
                <a:lnTo>
                  <a:pt x="1034926" y="164598"/>
                </a:lnTo>
                <a:lnTo>
                  <a:pt x="1038854" y="178760"/>
                </a:lnTo>
                <a:lnTo>
                  <a:pt x="1043826" y="192789"/>
                </a:lnTo>
                <a:lnTo>
                  <a:pt x="1066652" y="219993"/>
                </a:lnTo>
                <a:lnTo>
                  <a:pt x="1070140" y="228964"/>
                </a:lnTo>
                <a:lnTo>
                  <a:pt x="1068375" y="247190"/>
                </a:lnTo>
                <a:lnTo>
                  <a:pt x="1091453" y="302275"/>
                </a:lnTo>
                <a:lnTo>
                  <a:pt x="1106599" y="334499"/>
                </a:lnTo>
                <a:lnTo>
                  <a:pt x="1119701" y="340613"/>
                </a:lnTo>
                <a:lnTo>
                  <a:pt x="1161375" y="375411"/>
                </a:lnTo>
                <a:lnTo>
                  <a:pt x="1197652" y="403498"/>
                </a:lnTo>
                <a:lnTo>
                  <a:pt x="1240300" y="422889"/>
                </a:lnTo>
                <a:lnTo>
                  <a:pt x="1271603" y="435765"/>
                </a:lnTo>
                <a:lnTo>
                  <a:pt x="1286983" y="445017"/>
                </a:lnTo>
                <a:lnTo>
                  <a:pt x="1294592" y="453720"/>
                </a:lnTo>
                <a:lnTo>
                  <a:pt x="1300588" y="470260"/>
                </a:lnTo>
                <a:lnTo>
                  <a:pt x="1303192" y="498811"/>
                </a:lnTo>
                <a:lnTo>
                  <a:pt x="1303901" y="517252"/>
                </a:lnTo>
                <a:lnTo>
                  <a:pt x="1337704" y="517358"/>
                </a:lnTo>
                <a:lnTo>
                  <a:pt x="1365610" y="519767"/>
                </a:lnTo>
                <a:lnTo>
                  <a:pt x="1375338" y="523728"/>
                </a:lnTo>
                <a:lnTo>
                  <a:pt x="1378856" y="529082"/>
                </a:lnTo>
                <a:lnTo>
                  <a:pt x="1377701" y="541199"/>
                </a:lnTo>
                <a:lnTo>
                  <a:pt x="1377644" y="559310"/>
                </a:lnTo>
                <a:lnTo>
                  <a:pt x="1378599" y="573921"/>
                </a:lnTo>
                <a:lnTo>
                  <a:pt x="1375312" y="589418"/>
                </a:lnTo>
                <a:lnTo>
                  <a:pt x="1372870" y="607708"/>
                </a:lnTo>
                <a:lnTo>
                  <a:pt x="1370967" y="630381"/>
                </a:lnTo>
                <a:lnTo>
                  <a:pt x="1375041" y="639394"/>
                </a:lnTo>
                <a:lnTo>
                  <a:pt x="1401230" y="668771"/>
                </a:lnTo>
                <a:lnTo>
                  <a:pt x="1412037" y="687653"/>
                </a:lnTo>
                <a:lnTo>
                  <a:pt x="1423265" y="716090"/>
                </a:lnTo>
                <a:lnTo>
                  <a:pt x="1430049" y="725328"/>
                </a:lnTo>
                <a:lnTo>
                  <a:pt x="1435569" y="729083"/>
                </a:lnTo>
                <a:lnTo>
                  <a:pt x="1459707" y="732935"/>
                </a:lnTo>
                <a:lnTo>
                  <a:pt x="1521729" y="746757"/>
                </a:lnTo>
                <a:lnTo>
                  <a:pt x="1559767" y="758817"/>
                </a:lnTo>
                <a:lnTo>
                  <a:pt x="1589909" y="771037"/>
                </a:lnTo>
                <a:lnTo>
                  <a:pt x="1602498" y="774446"/>
                </a:lnTo>
                <a:lnTo>
                  <a:pt x="1608593" y="777616"/>
                </a:lnTo>
                <a:lnTo>
                  <a:pt x="1610581" y="780444"/>
                </a:lnTo>
                <a:lnTo>
                  <a:pt x="1605920" y="804767"/>
                </a:lnTo>
                <a:lnTo>
                  <a:pt x="1606984" y="812676"/>
                </a:lnTo>
                <a:lnTo>
                  <a:pt x="1610118" y="819865"/>
                </a:lnTo>
                <a:lnTo>
                  <a:pt x="1615087" y="825599"/>
                </a:lnTo>
                <a:lnTo>
                  <a:pt x="1621235" y="829315"/>
                </a:lnTo>
                <a:lnTo>
                  <a:pt x="1644261" y="832839"/>
                </a:lnTo>
                <a:lnTo>
                  <a:pt x="1657549" y="848274"/>
                </a:lnTo>
                <a:lnTo>
                  <a:pt x="1666084" y="855523"/>
                </a:lnTo>
                <a:lnTo>
                  <a:pt x="1624326" y="857548"/>
                </a:lnTo>
                <a:lnTo>
                  <a:pt x="1603272" y="869150"/>
                </a:lnTo>
                <a:lnTo>
                  <a:pt x="1590523" y="890903"/>
                </a:lnTo>
                <a:lnTo>
                  <a:pt x="1571224" y="906523"/>
                </a:lnTo>
                <a:lnTo>
                  <a:pt x="1545359" y="915988"/>
                </a:lnTo>
                <a:lnTo>
                  <a:pt x="1518149" y="922178"/>
                </a:lnTo>
                <a:lnTo>
                  <a:pt x="1489551" y="925097"/>
                </a:lnTo>
                <a:lnTo>
                  <a:pt x="1458663" y="943193"/>
                </a:lnTo>
                <a:lnTo>
                  <a:pt x="1425506" y="976456"/>
                </a:lnTo>
                <a:lnTo>
                  <a:pt x="1408525" y="997519"/>
                </a:lnTo>
                <a:lnTo>
                  <a:pt x="1407623" y="1006365"/>
                </a:lnTo>
                <a:lnTo>
                  <a:pt x="1400219" y="1013827"/>
                </a:lnTo>
                <a:lnTo>
                  <a:pt x="1386319" y="1019911"/>
                </a:lnTo>
                <a:lnTo>
                  <a:pt x="1378354" y="1027474"/>
                </a:lnTo>
                <a:lnTo>
                  <a:pt x="1376305" y="1036530"/>
                </a:lnTo>
                <a:lnTo>
                  <a:pt x="1368887" y="1040672"/>
                </a:lnTo>
                <a:lnTo>
                  <a:pt x="1356062" y="1039939"/>
                </a:lnTo>
                <a:lnTo>
                  <a:pt x="1346888" y="1046345"/>
                </a:lnTo>
                <a:lnTo>
                  <a:pt x="1341351" y="1059903"/>
                </a:lnTo>
                <a:lnTo>
                  <a:pt x="1329811" y="1067925"/>
                </a:lnTo>
                <a:lnTo>
                  <a:pt x="1312251" y="1070364"/>
                </a:lnTo>
                <a:lnTo>
                  <a:pt x="1296982" y="1077709"/>
                </a:lnTo>
                <a:lnTo>
                  <a:pt x="1284011" y="1089921"/>
                </a:lnTo>
                <a:lnTo>
                  <a:pt x="1274090" y="1096038"/>
                </a:lnTo>
                <a:lnTo>
                  <a:pt x="1267211" y="1096057"/>
                </a:lnTo>
                <a:lnTo>
                  <a:pt x="1256303" y="1105990"/>
                </a:lnTo>
                <a:lnTo>
                  <a:pt x="1238491" y="1129700"/>
                </a:lnTo>
                <a:lnTo>
                  <a:pt x="1235373" y="1140844"/>
                </a:lnTo>
                <a:lnTo>
                  <a:pt x="1209739" y="1231195"/>
                </a:lnTo>
                <a:lnTo>
                  <a:pt x="1196614" y="1241646"/>
                </a:lnTo>
                <a:lnTo>
                  <a:pt x="1171235" y="1259853"/>
                </a:lnTo>
                <a:lnTo>
                  <a:pt x="1150555" y="1281878"/>
                </a:lnTo>
                <a:lnTo>
                  <a:pt x="1141637" y="1294934"/>
                </a:lnTo>
                <a:lnTo>
                  <a:pt x="1132027" y="1300632"/>
                </a:lnTo>
                <a:lnTo>
                  <a:pt x="1085491" y="1310849"/>
                </a:lnTo>
                <a:lnTo>
                  <a:pt x="1068170" y="1316467"/>
                </a:lnTo>
                <a:lnTo>
                  <a:pt x="1047218" y="1324722"/>
                </a:lnTo>
                <a:lnTo>
                  <a:pt x="1041845" y="1332363"/>
                </a:lnTo>
                <a:lnTo>
                  <a:pt x="1036346" y="1360334"/>
                </a:lnTo>
                <a:lnTo>
                  <a:pt x="1021481" y="1400360"/>
                </a:lnTo>
                <a:lnTo>
                  <a:pt x="1009435" y="1429887"/>
                </a:lnTo>
                <a:lnTo>
                  <a:pt x="1001587" y="1455605"/>
                </a:lnTo>
                <a:lnTo>
                  <a:pt x="988163" y="1487507"/>
                </a:lnTo>
                <a:lnTo>
                  <a:pt x="976705" y="1498140"/>
                </a:lnTo>
                <a:lnTo>
                  <a:pt x="963734" y="1507831"/>
                </a:lnTo>
                <a:lnTo>
                  <a:pt x="946868" y="1512503"/>
                </a:lnTo>
                <a:lnTo>
                  <a:pt x="923927" y="1515381"/>
                </a:lnTo>
                <a:lnTo>
                  <a:pt x="903081" y="1514282"/>
                </a:lnTo>
                <a:lnTo>
                  <a:pt x="886940" y="1514634"/>
                </a:lnTo>
                <a:lnTo>
                  <a:pt x="864493" y="1525800"/>
                </a:lnTo>
                <a:lnTo>
                  <a:pt x="843611" y="1526412"/>
                </a:lnTo>
                <a:lnTo>
                  <a:pt x="810487" y="1519714"/>
                </a:lnTo>
                <a:lnTo>
                  <a:pt x="783660" y="1513271"/>
                </a:lnTo>
                <a:lnTo>
                  <a:pt x="771652" y="1511916"/>
                </a:lnTo>
                <a:lnTo>
                  <a:pt x="747944" y="1490923"/>
                </a:lnTo>
                <a:lnTo>
                  <a:pt x="732665" y="1491277"/>
                </a:lnTo>
                <a:lnTo>
                  <a:pt x="709360" y="1489597"/>
                </a:lnTo>
                <a:lnTo>
                  <a:pt x="696269" y="1484805"/>
                </a:lnTo>
                <a:lnTo>
                  <a:pt x="684110" y="1474104"/>
                </a:lnTo>
                <a:lnTo>
                  <a:pt x="657663" y="1453082"/>
                </a:lnTo>
                <a:lnTo>
                  <a:pt x="631790" y="1436108"/>
                </a:lnTo>
                <a:lnTo>
                  <a:pt x="608856" y="1426105"/>
                </a:lnTo>
                <a:lnTo>
                  <a:pt x="587487" y="1421492"/>
                </a:lnTo>
                <a:lnTo>
                  <a:pt x="567200" y="1425821"/>
                </a:lnTo>
                <a:lnTo>
                  <a:pt x="551437" y="1430432"/>
                </a:lnTo>
                <a:lnTo>
                  <a:pt x="545316" y="1432728"/>
                </a:lnTo>
                <a:lnTo>
                  <a:pt x="533129" y="1441622"/>
                </a:lnTo>
                <a:lnTo>
                  <a:pt x="520731" y="1458412"/>
                </a:lnTo>
                <a:lnTo>
                  <a:pt x="510614" y="1484638"/>
                </a:lnTo>
                <a:lnTo>
                  <a:pt x="506814" y="1500671"/>
                </a:lnTo>
                <a:lnTo>
                  <a:pt x="495565" y="1534730"/>
                </a:lnTo>
                <a:lnTo>
                  <a:pt x="480693" y="1575625"/>
                </a:lnTo>
                <a:lnTo>
                  <a:pt x="473496" y="1587424"/>
                </a:lnTo>
                <a:lnTo>
                  <a:pt x="465165" y="1596224"/>
                </a:lnTo>
                <a:lnTo>
                  <a:pt x="451897" y="1604119"/>
                </a:lnTo>
                <a:lnTo>
                  <a:pt x="408825" y="1637034"/>
                </a:lnTo>
                <a:lnTo>
                  <a:pt x="387642" y="1673793"/>
                </a:lnTo>
                <a:lnTo>
                  <a:pt x="374110" y="1684607"/>
                </a:lnTo>
                <a:lnTo>
                  <a:pt x="357694" y="1689838"/>
                </a:lnTo>
                <a:lnTo>
                  <a:pt x="343827" y="1693196"/>
                </a:lnTo>
                <a:lnTo>
                  <a:pt x="336246" y="1699375"/>
                </a:lnTo>
                <a:lnTo>
                  <a:pt x="327988" y="1717963"/>
                </a:lnTo>
                <a:lnTo>
                  <a:pt x="320696" y="1724589"/>
                </a:lnTo>
                <a:lnTo>
                  <a:pt x="312468" y="1727271"/>
                </a:lnTo>
                <a:lnTo>
                  <a:pt x="287669" y="1725549"/>
                </a:lnTo>
                <a:lnTo>
                  <a:pt x="279707" y="1723827"/>
                </a:lnTo>
                <a:lnTo>
                  <a:pt x="214194" y="1728850"/>
                </a:lnTo>
                <a:lnTo>
                  <a:pt x="194056" y="1723479"/>
                </a:lnTo>
                <a:lnTo>
                  <a:pt x="179818" y="1721480"/>
                </a:lnTo>
                <a:lnTo>
                  <a:pt x="157625" y="1729671"/>
                </a:lnTo>
                <a:lnTo>
                  <a:pt x="148138" y="1724890"/>
                </a:lnTo>
                <a:lnTo>
                  <a:pt x="140277" y="1709793"/>
                </a:lnTo>
                <a:lnTo>
                  <a:pt x="135790" y="1679156"/>
                </a:lnTo>
                <a:lnTo>
                  <a:pt x="136273" y="1653024"/>
                </a:lnTo>
                <a:lnTo>
                  <a:pt x="147949" y="1632948"/>
                </a:lnTo>
                <a:lnTo>
                  <a:pt x="157735" y="1618214"/>
                </a:lnTo>
                <a:lnTo>
                  <a:pt x="167226" y="1599063"/>
                </a:lnTo>
                <a:lnTo>
                  <a:pt x="168327" y="1590585"/>
                </a:lnTo>
                <a:lnTo>
                  <a:pt x="166141" y="1583007"/>
                </a:lnTo>
                <a:lnTo>
                  <a:pt x="163760" y="1567524"/>
                </a:lnTo>
                <a:lnTo>
                  <a:pt x="162293" y="1551665"/>
                </a:lnTo>
                <a:lnTo>
                  <a:pt x="147226" y="1517278"/>
                </a:lnTo>
                <a:lnTo>
                  <a:pt x="128539" y="1471641"/>
                </a:lnTo>
                <a:lnTo>
                  <a:pt x="103647" y="1420865"/>
                </a:lnTo>
                <a:lnTo>
                  <a:pt x="95911" y="1406932"/>
                </a:lnTo>
                <a:lnTo>
                  <a:pt x="80494" y="1385029"/>
                </a:lnTo>
                <a:lnTo>
                  <a:pt x="24332" y="1344212"/>
                </a:lnTo>
                <a:lnTo>
                  <a:pt x="15797" y="1338706"/>
                </a:lnTo>
                <a:lnTo>
                  <a:pt x="15655" y="1333982"/>
                </a:lnTo>
                <a:lnTo>
                  <a:pt x="14374" y="1292811"/>
                </a:lnTo>
                <a:lnTo>
                  <a:pt x="12704" y="1238217"/>
                </a:lnTo>
                <a:lnTo>
                  <a:pt x="11046" y="1183647"/>
                </a:lnTo>
                <a:lnTo>
                  <a:pt x="9402" y="1129081"/>
                </a:lnTo>
                <a:lnTo>
                  <a:pt x="7752" y="1074522"/>
                </a:lnTo>
                <a:lnTo>
                  <a:pt x="6116" y="1019968"/>
                </a:lnTo>
                <a:lnTo>
                  <a:pt x="4510" y="965420"/>
                </a:lnTo>
                <a:lnTo>
                  <a:pt x="2916" y="910878"/>
                </a:lnTo>
                <a:lnTo>
                  <a:pt x="1335" y="856324"/>
                </a:lnTo>
                <a:lnTo>
                  <a:pt x="0" y="810212"/>
                </a:lnTo>
                <a:lnTo>
                  <a:pt x="40485" y="809017"/>
                </a:lnTo>
                <a:lnTo>
                  <a:pt x="90582" y="807635"/>
                </a:lnTo>
                <a:lnTo>
                  <a:pt x="150120" y="806132"/>
                </a:lnTo>
                <a:lnTo>
                  <a:pt x="176449" y="805515"/>
                </a:lnTo>
                <a:lnTo>
                  <a:pt x="177806" y="798199"/>
                </a:lnTo>
                <a:lnTo>
                  <a:pt x="177070" y="764372"/>
                </a:lnTo>
                <a:lnTo>
                  <a:pt x="175370" y="686773"/>
                </a:lnTo>
                <a:lnTo>
                  <a:pt x="173690" y="609210"/>
                </a:lnTo>
                <a:lnTo>
                  <a:pt x="172012" y="531664"/>
                </a:lnTo>
                <a:lnTo>
                  <a:pt x="170370" y="454136"/>
                </a:lnTo>
                <a:lnTo>
                  <a:pt x="168730" y="376609"/>
                </a:lnTo>
                <a:lnTo>
                  <a:pt x="167127" y="299121"/>
                </a:lnTo>
                <a:lnTo>
                  <a:pt x="165544" y="221654"/>
                </a:lnTo>
                <a:lnTo>
                  <a:pt x="163962" y="144190"/>
                </a:lnTo>
                <a:lnTo>
                  <a:pt x="163213" y="105911"/>
                </a:lnTo>
                <a:lnTo>
                  <a:pt x="210249" y="102636"/>
                </a:lnTo>
                <a:lnTo>
                  <a:pt x="264276" y="93780"/>
                </a:lnTo>
                <a:lnTo>
                  <a:pt x="351930" y="79638"/>
                </a:lnTo>
                <a:lnTo>
                  <a:pt x="433599" y="62852"/>
                </a:lnTo>
                <a:lnTo>
                  <a:pt x="486936" y="53100"/>
                </a:lnTo>
                <a:lnTo>
                  <a:pt x="550248" y="41672"/>
                </a:lnTo>
                <a:lnTo>
                  <a:pt x="572050" y="39667"/>
                </a:lnTo>
                <a:lnTo>
                  <a:pt x="577942" y="41117"/>
                </a:lnTo>
                <a:lnTo>
                  <a:pt x="586554" y="44833"/>
                </a:lnTo>
                <a:lnTo>
                  <a:pt x="616103" y="83357"/>
                </a:lnTo>
                <a:lnTo>
                  <a:pt x="634490" y="112780"/>
                </a:lnTo>
                <a:lnTo>
                  <a:pt x="638241" y="125391"/>
                </a:lnTo>
                <a:lnTo>
                  <a:pt x="641730" y="126715"/>
                </a:lnTo>
                <a:lnTo>
                  <a:pt x="650368" y="124689"/>
                </a:lnTo>
                <a:lnTo>
                  <a:pt x="660069" y="119902"/>
                </a:lnTo>
                <a:lnTo>
                  <a:pt x="689873" y="90478"/>
                </a:lnTo>
                <a:lnTo>
                  <a:pt x="696082" y="82818"/>
                </a:lnTo>
                <a:lnTo>
                  <a:pt x="715103" y="68560"/>
                </a:lnTo>
                <a:lnTo>
                  <a:pt x="738224" y="54042"/>
                </a:lnTo>
                <a:lnTo>
                  <a:pt x="759167" y="43805"/>
                </a:lnTo>
                <a:lnTo>
                  <a:pt x="780192" y="35271"/>
                </a:lnTo>
                <a:lnTo>
                  <a:pt x="789908" y="37429"/>
                </a:lnTo>
                <a:lnTo>
                  <a:pt x="801337" y="44878"/>
                </a:lnTo>
                <a:lnTo>
                  <a:pt x="811486" y="49511"/>
                </a:lnTo>
                <a:lnTo>
                  <a:pt x="859421" y="14053"/>
                </a:lnTo>
                <a:lnTo>
                  <a:pt x="880832" y="5978"/>
                </a:lnTo>
                <a:lnTo>
                  <a:pt x="936994" y="0"/>
                </a:lnTo>
                <a:lnTo>
                  <a:pt x="944807" y="1201"/>
                </a:lnTo>
                <a:lnTo>
                  <a:pt x="941130" y="1056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727200" y="2167612"/>
            <a:ext cx="1839896" cy="199225"/>
          </a:xfrm>
          <a:custGeom>
            <a:avLst/>
            <a:gdLst/>
            <a:ahLst/>
            <a:cxnLst/>
            <a:rect l="l" t="t" r="r" b="b"/>
            <a:pathLst>
              <a:path w="1839896" h="199225">
                <a:moveTo>
                  <a:pt x="1718520" y="14135"/>
                </a:moveTo>
                <a:lnTo>
                  <a:pt x="1761723" y="53682"/>
                </a:lnTo>
                <a:lnTo>
                  <a:pt x="1803313" y="89185"/>
                </a:lnTo>
                <a:lnTo>
                  <a:pt x="1839896" y="120522"/>
                </a:lnTo>
                <a:lnTo>
                  <a:pt x="1782777" y="131885"/>
                </a:lnTo>
                <a:lnTo>
                  <a:pt x="1701628" y="148275"/>
                </a:lnTo>
                <a:lnTo>
                  <a:pt x="1646913" y="159480"/>
                </a:lnTo>
                <a:lnTo>
                  <a:pt x="1580652" y="173217"/>
                </a:lnTo>
                <a:lnTo>
                  <a:pt x="1536482" y="181991"/>
                </a:lnTo>
                <a:lnTo>
                  <a:pt x="1481565" y="193009"/>
                </a:lnTo>
                <a:lnTo>
                  <a:pt x="1472772" y="192953"/>
                </a:lnTo>
                <a:lnTo>
                  <a:pt x="1457896" y="186309"/>
                </a:lnTo>
                <a:lnTo>
                  <a:pt x="1426025" y="185586"/>
                </a:lnTo>
                <a:lnTo>
                  <a:pt x="1388740" y="195945"/>
                </a:lnTo>
                <a:lnTo>
                  <a:pt x="1359078" y="199225"/>
                </a:lnTo>
                <a:lnTo>
                  <a:pt x="1337014" y="195382"/>
                </a:lnTo>
                <a:lnTo>
                  <a:pt x="1315394" y="187541"/>
                </a:lnTo>
                <a:lnTo>
                  <a:pt x="1294194" y="175721"/>
                </a:lnTo>
                <a:lnTo>
                  <a:pt x="1257816" y="172196"/>
                </a:lnTo>
                <a:lnTo>
                  <a:pt x="1206302" y="177031"/>
                </a:lnTo>
                <a:lnTo>
                  <a:pt x="1156490" y="176150"/>
                </a:lnTo>
                <a:lnTo>
                  <a:pt x="1108387" y="169523"/>
                </a:lnTo>
                <a:lnTo>
                  <a:pt x="1074019" y="167474"/>
                </a:lnTo>
                <a:lnTo>
                  <a:pt x="1053438" y="169946"/>
                </a:lnTo>
                <a:lnTo>
                  <a:pt x="1031227" y="168061"/>
                </a:lnTo>
                <a:lnTo>
                  <a:pt x="1007398" y="161877"/>
                </a:lnTo>
                <a:lnTo>
                  <a:pt x="987310" y="150654"/>
                </a:lnTo>
                <a:lnTo>
                  <a:pt x="962762" y="126301"/>
                </a:lnTo>
                <a:lnTo>
                  <a:pt x="943399" y="102893"/>
                </a:lnTo>
                <a:lnTo>
                  <a:pt x="938480" y="99640"/>
                </a:lnTo>
                <a:lnTo>
                  <a:pt x="932478" y="96190"/>
                </a:lnTo>
                <a:lnTo>
                  <a:pt x="926616" y="95332"/>
                </a:lnTo>
                <a:lnTo>
                  <a:pt x="873967" y="96876"/>
                </a:lnTo>
                <a:lnTo>
                  <a:pt x="823917" y="98450"/>
                </a:lnTo>
                <a:lnTo>
                  <a:pt x="795279" y="99709"/>
                </a:lnTo>
                <a:lnTo>
                  <a:pt x="725312" y="102902"/>
                </a:lnTo>
                <a:lnTo>
                  <a:pt x="655346" y="106289"/>
                </a:lnTo>
                <a:lnTo>
                  <a:pt x="585400" y="109871"/>
                </a:lnTo>
                <a:lnTo>
                  <a:pt x="515475" y="113648"/>
                </a:lnTo>
                <a:lnTo>
                  <a:pt x="445573" y="117619"/>
                </a:lnTo>
                <a:lnTo>
                  <a:pt x="375695" y="121803"/>
                </a:lnTo>
                <a:lnTo>
                  <a:pt x="305842" y="126163"/>
                </a:lnTo>
                <a:lnTo>
                  <a:pt x="236014" y="130718"/>
                </a:lnTo>
                <a:lnTo>
                  <a:pt x="198936" y="133219"/>
                </a:lnTo>
                <a:lnTo>
                  <a:pt x="164599" y="137555"/>
                </a:lnTo>
                <a:lnTo>
                  <a:pt x="126725" y="142401"/>
                </a:lnTo>
                <a:lnTo>
                  <a:pt x="121188" y="141910"/>
                </a:lnTo>
                <a:lnTo>
                  <a:pt x="112004" y="139639"/>
                </a:lnTo>
                <a:lnTo>
                  <a:pt x="105525" y="134769"/>
                </a:lnTo>
                <a:lnTo>
                  <a:pt x="84233" y="122541"/>
                </a:lnTo>
                <a:lnTo>
                  <a:pt x="65786" y="113449"/>
                </a:lnTo>
                <a:lnTo>
                  <a:pt x="40512" y="97753"/>
                </a:lnTo>
                <a:lnTo>
                  <a:pt x="23673" y="79737"/>
                </a:lnTo>
                <a:lnTo>
                  <a:pt x="10096" y="74630"/>
                </a:lnTo>
                <a:lnTo>
                  <a:pt x="0" y="73918"/>
                </a:lnTo>
                <a:lnTo>
                  <a:pt x="1703661" y="0"/>
                </a:lnTo>
                <a:lnTo>
                  <a:pt x="1718520" y="1413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572234" y="2246425"/>
            <a:ext cx="92670" cy="47631"/>
          </a:xfrm>
          <a:custGeom>
            <a:avLst/>
            <a:gdLst/>
            <a:ahLst/>
            <a:cxnLst/>
            <a:rect l="l" t="t" r="r" b="b"/>
            <a:pathLst>
              <a:path w="92670" h="47631">
                <a:moveTo>
                  <a:pt x="84720" y="3580"/>
                </a:moveTo>
                <a:lnTo>
                  <a:pt x="66341" y="14064"/>
                </a:lnTo>
                <a:lnTo>
                  <a:pt x="53390" y="23822"/>
                </a:lnTo>
                <a:lnTo>
                  <a:pt x="30599" y="35686"/>
                </a:lnTo>
                <a:lnTo>
                  <a:pt x="11509" y="47229"/>
                </a:lnTo>
                <a:lnTo>
                  <a:pt x="2714" y="47631"/>
                </a:lnTo>
                <a:lnTo>
                  <a:pt x="0" y="7571"/>
                </a:lnTo>
                <a:lnTo>
                  <a:pt x="92670" y="0"/>
                </a:lnTo>
                <a:lnTo>
                  <a:pt x="84720" y="35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51551" y="271152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1" name="TextBox 30"/>
          <p:cNvSpPr txBox="1"/>
          <p:nvPr/>
        </p:nvSpPr>
        <p:spPr>
          <a:xfrm>
            <a:off x="3242601" y="2735932"/>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2" name="TextBox 31"/>
          <p:cNvSpPr txBox="1"/>
          <p:nvPr/>
        </p:nvSpPr>
        <p:spPr>
          <a:xfrm>
            <a:off x="3347892" y="463968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3" name="TextBox 32"/>
          <p:cNvSpPr txBox="1"/>
          <p:nvPr/>
        </p:nvSpPr>
        <p:spPr>
          <a:xfrm>
            <a:off x="4826774" y="2782951"/>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4" name="Connector 33"/>
          <p:cNvCxnSpPr/>
          <p:nvPr/>
        </p:nvCxnSpPr>
        <p:spPr>
          <a:xfrm flipV="1">
            <a:off x="2008083" y="3256644"/>
            <a:ext cx="449009" cy="10071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457092" y="3218652"/>
            <a:ext cx="332935" cy="3799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90027" y="3062707"/>
            <a:ext cx="471951" cy="15594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61978" y="3062707"/>
            <a:ext cx="411504" cy="510138"/>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673482" y="3572845"/>
            <a:ext cx="339471" cy="50055"/>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3974945" y="3622900"/>
            <a:ext cx="38008" cy="1137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74945" y="3736654"/>
            <a:ext cx="264715" cy="8511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239660" y="3821765"/>
            <a:ext cx="134854" cy="10487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5053768" y="3813413"/>
            <a:ext cx="83157" cy="104798"/>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887980" y="3809477"/>
            <a:ext cx="165788" cy="393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583007" y="3809477"/>
            <a:ext cx="304973" cy="6179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374514" y="3871269"/>
            <a:ext cx="208493" cy="5537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12856" y="4584500"/>
            <a:ext cx="234468" cy="65463"/>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612856" y="4384010"/>
            <a:ext cx="41336" cy="20049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520223" y="4326705"/>
            <a:ext cx="133969" cy="5730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33037" y="3974343"/>
            <a:ext cx="87186" cy="352362"/>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374514" y="3926639"/>
            <a:ext cx="58523" cy="4770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664155" y="4558241"/>
            <a:ext cx="183169" cy="917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656234" y="4376467"/>
            <a:ext cx="7921" cy="18177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480776" y="4121025"/>
            <a:ext cx="175458" cy="25544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433037" y="3974343"/>
            <a:ext cx="47739" cy="14668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971507" y="332078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083" y="344880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57" name="Oval 56"/>
          <p:cNvSpPr/>
          <p:nvPr/>
        </p:nvSpPr>
        <p:spPr>
          <a:xfrm>
            <a:off x="2420516" y="322006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091332" y="2964036"/>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59" name="Oval 58"/>
          <p:cNvSpPr/>
          <p:nvPr/>
        </p:nvSpPr>
        <p:spPr>
          <a:xfrm>
            <a:off x="3976377" y="3586324"/>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18593" y="3302860"/>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1" name="Oval 60"/>
          <p:cNvSpPr/>
          <p:nvPr/>
        </p:nvSpPr>
        <p:spPr>
          <a:xfrm>
            <a:off x="5100349" y="3881635"/>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28365" y="3872491"/>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3" name="Oval 62"/>
          <p:cNvSpPr/>
          <p:nvPr/>
        </p:nvSpPr>
        <p:spPr>
          <a:xfrm>
            <a:off x="4851404" y="377290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2220" y="344371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5" name="Oval 64"/>
          <p:cNvSpPr/>
          <p:nvPr/>
        </p:nvSpPr>
        <p:spPr>
          <a:xfrm>
            <a:off x="4337938" y="3890063"/>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368674" y="392663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67" name="Diamond 66"/>
          <p:cNvSpPr/>
          <p:nvPr/>
        </p:nvSpPr>
        <p:spPr>
          <a:xfrm>
            <a:off x="4396461" y="393776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250157" y="4248663"/>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69" name="Diamond 68"/>
          <p:cNvSpPr/>
          <p:nvPr/>
        </p:nvSpPr>
        <p:spPr>
          <a:xfrm>
            <a:off x="4810748" y="4613387"/>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938764" y="4622531"/>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1" name="TextBox 70"/>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2" name="Connector 71"/>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40080" y="5623560"/>
            <a:ext cx="85970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40080" y="5413248"/>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77" name="TextBox 76"/>
          <p:cNvSpPr txBox="1"/>
          <p:nvPr/>
        </p:nvSpPr>
        <p:spPr>
          <a:xfrm>
            <a:off x="1362623" y="5413248"/>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78" name="TextBox 77"/>
          <p:cNvSpPr txBox="1"/>
          <p:nvPr/>
        </p:nvSpPr>
        <p:spPr>
          <a:xfrm>
            <a:off x="457200" y="5980176"/>
            <a:ext cx="6446520" cy="29260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Solid: Durban / N4 candidates   |   Dashed: Trans-Kalahari / NMPP</a:t>
            </a:r>
          </a:p>
        </p:txBody>
      </p:sp>
      <p:sp>
        <p:nvSpPr>
          <p:cNvPr id="79" name="TextBox 78"/>
          <p:cNvSpPr txBox="1"/>
          <p:nvPr/>
        </p:nvSpPr>
        <p:spPr>
          <a:xfrm>
            <a:off x="457200" y="6236208"/>
            <a:ext cx="64465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LAEA / WGS84; routes schematic. No cost, available capacity, fuel rights or catchment is inferred.</a:t>
            </a:r>
          </a:p>
        </p:txBody>
      </p:sp>
      <p:sp>
        <p:nvSpPr>
          <p:cNvPr id="80" name="TextBox 79"/>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81" name="TextBox 80"/>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Compare the same inland destination</a:t>
            </a:r>
          </a:p>
        </p:txBody>
      </p:sp>
      <p:sp>
        <p:nvSpPr>
          <p:cNvPr id="82" name="TextBox 81"/>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is the common comparison market. Lesedi is a Vopak facility, not a destination every competing route must pass through.</a:t>
            </a:r>
          </a:p>
        </p:txBody>
      </p:sp>
      <p:sp>
        <p:nvSpPr>
          <p:cNvPr id="83" name="TextBox 82"/>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Matola approaches from the east</a:t>
            </a:r>
          </a:p>
        </p:txBody>
      </p:sp>
      <p:sp>
        <p:nvSpPr>
          <p:cNvPr id="84" name="TextBox 83"/>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N4/Maputo connects Mozambique to Gauteng via Komatipoort and Mpumalanga. Fuel-compatible terminal access and road/rail service need testing.</a:t>
            </a:r>
          </a:p>
        </p:txBody>
      </p:sp>
      <p:sp>
        <p:nvSpPr>
          <p:cNvPr id="85" name="TextBox 84"/>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Walvis is an inland comparator</a:t>
            </a:r>
          </a:p>
        </p:txBody>
      </p:sp>
      <p:sp>
        <p:nvSpPr>
          <p:cNvPr id="86" name="TextBox 85"/>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Trans-Kalahari links Walvis Bay via Namibia and Botswana to Gauteng. Its competitiveness for specific inland customers is unassessed.</a:t>
            </a:r>
          </a:p>
        </p:txBody>
      </p:sp>
      <p:cxnSp>
        <p:nvCxnSpPr>
          <p:cNvPr id="87" name="Connector 8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89" name="TextBox 88"/>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customer destination. Manish: compare handling, transport, border/FX costs and access on the same R/litre basis; keep unevidenced routes unassessed.</a:t>
            </a:r>
          </a:p>
        </p:txBody>
      </p:sp>
      <p:sp>
        <p:nvSpPr>
          <p:cNvPr id="90" name="SCR backlink C3">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C3 | Complication | Return to overview: page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Show what must hold to reach each candidate volume</a:t>
            </a:r>
          </a:p>
        </p:txBody>
      </p:sp>
      <p:sp>
        <p:nvSpPr>
          <p:cNvPr id="3" name="Slide Number Placeholder"/>
          <p:cNvSpPr>
            <a:spLocks noGrp="1"/>
          </p:cNvSpPr>
          <p:nvPr>
            <p:ph type="sldNum" sz="quarter" idx="12"/>
          </p:nvPr>
        </p:nvSpPr>
        <p:spPr/>
        <p:txBody>
          <a:bodyPr/>
          <a:lstStyle/>
          <a:p>
            <a:fld id="{8EA28B17-94A8-442A-BD18-A25E3CAC3CA1}"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15768"/>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example</a:t>
            </a:r>
          </a:p>
        </p:txBody>
      </p:sp>
      <p:sp>
        <p:nvSpPr>
          <p:cNvPr id="31" name="Rectangle 30"/>
          <p:cNvSpPr/>
          <p:nvPr/>
        </p:nvSpPr>
        <p:spPr>
          <a:xfrm>
            <a:off x="2377440" y="2752344"/>
            <a:ext cx="135546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6911" y="2715768"/>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33" name="TextBox 32"/>
          <p:cNvSpPr txBox="1"/>
          <p:nvPr/>
        </p:nvSpPr>
        <p:spPr>
          <a:xfrm>
            <a:off x="457200" y="3273552"/>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coastal candidate</a:t>
            </a:r>
          </a:p>
        </p:txBody>
      </p:sp>
      <p:sp>
        <p:nvSpPr>
          <p:cNvPr id="34" name="Rectangle 33"/>
          <p:cNvSpPr/>
          <p:nvPr/>
        </p:nvSpPr>
        <p:spPr>
          <a:xfrm>
            <a:off x="2377440" y="3310128"/>
            <a:ext cx="203319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74643" y="3273552"/>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4.5</a:t>
            </a:r>
          </a:p>
        </p:txBody>
      </p:sp>
      <p:sp>
        <p:nvSpPr>
          <p:cNvPr id="36" name="TextBox 35"/>
          <p:cNvSpPr txBox="1"/>
          <p:nvPr/>
        </p:nvSpPr>
        <p:spPr>
          <a:xfrm>
            <a:off x="457200" y="3831336"/>
            <a:ext cx="18470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 inland candidate</a:t>
            </a:r>
          </a:p>
        </p:txBody>
      </p:sp>
      <p:sp>
        <p:nvSpPr>
          <p:cNvPr id="37" name="Rectangle 36"/>
          <p:cNvSpPr/>
          <p:nvPr/>
        </p:nvSpPr>
        <p:spPr>
          <a:xfrm>
            <a:off x="2377440" y="3867912"/>
            <a:ext cx="384048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831336"/>
            <a:ext cx="54864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39" name="TextBox 38"/>
          <p:cNvSpPr txBox="1"/>
          <p:nvPr/>
        </p:nvSpPr>
        <p:spPr>
          <a:xfrm>
            <a:off x="457200" y="4489704"/>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be true for the additional volume?</a:t>
            </a:r>
          </a:p>
        </p:txBody>
      </p:sp>
      <p:graphicFrame>
        <p:nvGraphicFramePr>
          <p:cNvPr id="40" name="Table 39"/>
          <p:cNvGraphicFramePr>
            <a:graphicFrameLocks noGrp="1"/>
          </p:cNvGraphicFramePr>
          <p:nvPr/>
        </p:nvGraphicFramePr>
        <p:xfrm>
          <a:off x="457200" y="4910328"/>
          <a:ext cx="6446520" cy="1353312"/>
        </p:xfrm>
        <a:graphic>
          <a:graphicData uri="http://schemas.openxmlformats.org/drawingml/2006/table">
            <a:tbl>
              <a:tblPr firstRow="1" bandRow="1">
                <a:tableStyleId>{2D5ABB26-0587-4C30-8999-92F81FD0307C}</a:tableStyleId>
              </a:tblPr>
              <a:tblGrid>
                <a:gridCol w="1463040"/>
                <a:gridCol w="2331720"/>
                <a:gridCol w="2651760"/>
              </a:tblGrid>
              <a:tr h="270662">
                <a:tc>
                  <a:txBody>
                    <a:bodyPr/>
                    <a:lstStyle/>
                    <a:p>
                      <a:pPr>
                        <a:spcAft>
                          <a:spcPts val="0"/>
                        </a:spcAft>
                        <a:defRPr sz="1050" b="1">
                          <a:solidFill>
                            <a:srgbClr val="000000"/>
                          </a:solidFill>
                          <a:latin typeface="Lato"/>
                        </a:defRPr>
                      </a:pPr>
                      <a:r>
                        <a:t>Gate</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Coastal +1.5</a:t>
                      </a:r>
                    </a:p>
                  </a:txBody>
                  <a:tcPr marL="50292" marR="50292" marT="41148" marB="41148" anchor="ctr">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Inland +4.0</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Delivered cost</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 agreed customer threshold</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Competitive full route R/litre</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Physical access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Compatible receipt / dispatch</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NMPP or alternative route capacity</a:t>
                      </a:r>
                    </a:p>
                  </a:txBody>
                  <a:tcPr marL="50292" marR="50292" marT="41148" marB="41148" anchor="ctr">
                    <a:lnB w="6350" cap="flat">
                      <a:solidFill>
                        <a:srgbClr val="EEEEEE"/>
                      </a:solidFill>
                    </a:lnB>
                    <a:solidFill>
                      <a:srgbClr val="FFFFFF"/>
                    </a:solidFill>
                  </a:tcPr>
                </a:tc>
              </a:tr>
              <a:tr h="270662">
                <a:tc>
                  <a:txBody>
                    <a:bodyPr/>
                    <a:lstStyle/>
                    <a:p>
                      <a:pPr>
                        <a:spcAft>
                          <a:spcPts val="0"/>
                        </a:spcAft>
                        <a:defRPr sz="1050" b="0">
                          <a:solidFill>
                            <a:srgbClr val="000000"/>
                          </a:solidFill>
                          <a:latin typeface="Lato"/>
                        </a:defRPr>
                      </a:pPr>
                      <a:r>
                        <a:t>Commercial rights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Customer access / switching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Destination / contract access</a:t>
                      </a:r>
                    </a:p>
                  </a:txBody>
                  <a:tcPr marL="50292" marR="50292" marT="41148" marB="41148" anchor="ctr">
                    <a:lnB w="6350" cap="flat">
                      <a:solidFill>
                        <a:srgbClr val="EEEEEE"/>
                      </a:solidFill>
                    </a:lnB>
                    <a:solidFill>
                      <a:srgbClr val="FFFFFF"/>
                    </a:solidFill>
                  </a:tcPr>
                </a:tc>
              </a:tr>
              <a:tr h="270664">
                <a:tc>
                  <a:txBody>
                    <a:bodyPr/>
                    <a:lstStyle/>
                    <a:p>
                      <a:pPr>
                        <a:spcAft>
                          <a:spcPts val="0"/>
                        </a:spcAft>
                        <a:defRPr sz="1050" b="0">
                          <a:solidFill>
                            <a:srgbClr val="000000"/>
                          </a:solidFill>
                          <a:latin typeface="Lato"/>
                        </a:defRPr>
                      </a:pPr>
                      <a:r>
                        <a:t>Volume accounting</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Unique final deliveries</a:t>
                      </a:r>
                    </a:p>
                  </a:txBody>
                  <a:tcPr marL="50292" marR="50292" marT="41148" marB="41148" anchor="ctr">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Remove shared Durban–Lesedi transfers</a:t>
                      </a:r>
                    </a:p>
                  </a:txBody>
                  <a:tcPr marL="50292" marR="50292" marT="41148" marB="41148" anchor="ctr">
                    <a:lnB w="6350" cap="flat">
                      <a:solidFill>
                        <a:srgbClr val="EEEEEE"/>
                      </a:solidFill>
                    </a:lnB>
                    <a:solidFill>
                      <a:srgbClr val="FFFFFF"/>
                    </a:solidFill>
                  </a:tcPr>
                </a:tc>
              </a:tr>
            </a:tbl>
          </a:graphicData>
        </a:graphic>
      </p:graphicFrame>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p9 and competing routes p10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backlink R1">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R1 | Resolution | Return to overview: page 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Gate investment on evidenced incremental customer flows</a:t>
            </a:r>
          </a:p>
        </p:txBody>
      </p:sp>
      <p:sp>
        <p:nvSpPr>
          <p:cNvPr id="3" name="Slide Number Placeholder"/>
          <p:cNvSpPr>
            <a:spLocks noGrp="1"/>
          </p:cNvSpPr>
          <p:nvPr>
            <p:ph type="sldNum" sz="quarter" idx="12"/>
          </p:nvPr>
        </p:nvSpPr>
        <p:spPr/>
        <p:txBody>
          <a:bodyPr/>
          <a:lstStyle/>
          <a:p>
            <a:fld id="{D9C7CC8F-54EA-4061-9D77-9FF21F59E747}" type="slidenum">
              <a:rPr lang="en-US"/>
              <a:t>‹#›</a:t>
            </a:fld>
          </a:p>
        </p:txBody>
      </p:sp>
      <p:sp>
        <p:nvSpPr>
          <p:cNvPr id="4" name="Section navigation 1">
            <a:hlinkClick action="ppaction://hlinksldjump" r:id="rId3"/>
          </p:cNvPr>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SCR overview</a:t>
            </a:r>
          </a:p>
        </p:txBody>
      </p:sp>
      <p:sp>
        <p:nvSpPr>
          <p:cNvPr id="5" name="Section navigation 2">
            <a:hlinkClick action="ppaction://hlinksldjump" r:id="rId4"/>
          </p:cNvPr>
          <p:cNvSpPr/>
          <p:nvPr/>
        </p:nvSpPr>
        <p:spPr>
          <a:xfrm>
            <a:off x="3136392"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2  Situation</a:t>
            </a:r>
          </a:p>
        </p:txBody>
      </p:sp>
      <p:sp>
        <p:nvSpPr>
          <p:cNvPr id="6" name="Section navigation 3">
            <a:hlinkClick action="ppaction://hlinksldjump" r:id="rId5"/>
          </p:cNvPr>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Complication</a:t>
            </a:r>
          </a:p>
        </p:txBody>
      </p:sp>
      <p:sp>
        <p:nvSpPr>
          <p:cNvPr id="7" name="Section navigation 4">
            <a:hlinkClick action="ppaction://hlinksldjump" r:id="rId6"/>
          </p:cNvPr>
          <p:cNvSpPr/>
          <p:nvPr/>
        </p:nvSpPr>
        <p:spPr>
          <a:xfrm>
            <a:off x="8494776"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4  Resolution</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open evidence register, 6 Oct 2026. Placeholder; no forecast or actual share inferred.</a:t>
            </a:r>
          </a:p>
        </p:txBody>
      </p:sp>
      <p:sp>
        <p:nvSpPr>
          <p:cNvPr id="9" name="TextBox 8"/>
          <p:cNvSpPr txBox="1"/>
          <p:nvPr/>
        </p:nvSpPr>
        <p:spPr>
          <a:xfrm>
            <a:off x="457200" y="1627632"/>
            <a:ext cx="6446520" cy="502920"/>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Resolution | optional service and investment assessment</a:t>
            </a:r>
          </a:p>
        </p:txBody>
      </p:sp>
      <p:sp>
        <p:nvSpPr>
          <p:cNvPr id="10" name="TextBox 9"/>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EVIDENCE GAP | analysis specification, not a populated result</a:t>
            </a:r>
          </a:p>
        </p:txBody>
      </p:sp>
      <p:sp>
        <p:nvSpPr>
          <p:cNvPr id="11" name="TextBox 10"/>
          <p:cNvSpPr txBox="1"/>
          <p:nvPr/>
        </p:nvSpPr>
        <p:spPr>
          <a:xfrm>
            <a:off x="457200" y="263347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New storage and investment scope</a:t>
            </a:r>
          </a:p>
        </p:txBody>
      </p:sp>
      <p:sp>
        <p:nvSpPr>
          <p:cNvPr id="12" name="TextBox 11"/>
          <p:cNvSpPr txBox="1"/>
          <p:nvPr/>
        </p:nvSpPr>
        <p:spPr>
          <a:xfrm>
            <a:off x="457200" y="2971800"/>
            <a:ext cx="6446520" cy="84124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Incremental accessible flows, turnover/peak inventory, product compatibility, cost and commercial return criteria.</a:t>
            </a:r>
          </a:p>
          <a:p>
            <a:pPr>
              <a:spcAft>
                <a:spcPts val="300"/>
              </a:spcAft>
              <a:defRPr sz="1200" b="0">
                <a:solidFill>
                  <a:srgbClr val="000000"/>
                </a:solidFill>
                <a:latin typeface="Lato"/>
              </a:defRPr>
            </a:pPr>
            <a:r>
              <a:t>Output: Throughput-to-usable-stock bridge with seasonality, inventory days and dispatch limits; downside sensitivity; no investment claim from import deficit alone.</a:t>
            </a:r>
          </a:p>
        </p:txBody>
      </p:sp>
      <p:sp>
        <p:nvSpPr>
          <p:cNvPr id="13" name="TextBox 12"/>
          <p:cNvSpPr txBox="1"/>
          <p:nvPr/>
        </p:nvSpPr>
        <p:spPr>
          <a:xfrm>
            <a:off x="457200" y="427939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Evidence required before quantification</a:t>
            </a:r>
          </a:p>
        </p:txBody>
      </p:sp>
      <p:sp>
        <p:nvSpPr>
          <p:cNvPr id="14" name="TextBox 13"/>
          <p:cNvSpPr txBox="1"/>
          <p:nvPr/>
        </p:nvSpPr>
        <p:spPr>
          <a:xfrm>
            <a:off x="457200" y="4663440"/>
            <a:ext cx="6446520" cy="10058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Partial gross/lease stocks, without client handling/inventory profile.</a:t>
            </a:r>
          </a:p>
          <a:p>
            <a:pPr>
              <a:spcAft>
                <a:spcPts val="300"/>
              </a:spcAft>
              <a:defRPr sz="1200" b="0">
                <a:solidFill>
                  <a:srgbClr val="000000"/>
                </a:solidFill>
                <a:latin typeface="Lato"/>
              </a:defRPr>
            </a:pPr>
            <a:r>
              <a:t>Detailed service sizing deferred; infrastructure secondary to fuel integration.</a:t>
            </a:r>
          </a:p>
        </p:txBody>
      </p:sp>
      <p:sp>
        <p:nvSpPr>
          <p:cNvPr id="15" name="TextBox 1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rPr sz="1500" b="1">
                <a:latin typeface="Lato"/>
              </a:rPr>
              <a:t>Evidence and implications</a:t>
            </a:r>
          </a:p>
        </p:txBody>
      </p:sp>
      <p:sp>
        <p:nvSpPr>
          <p:cNvPr id="16" name="TextBox 1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Evidence status</a:t>
            </a:r>
          </a:p>
        </p:txBody>
      </p:sp>
      <p:sp>
        <p:nvSpPr>
          <p:cNvPr id="17" name="TextBox 1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topics remain open. Existing calculations or public source leads do not establish calibration or closure.</a:t>
            </a:r>
          </a:p>
        </p:txBody>
      </p:sp>
      <p:sp>
        <p:nvSpPr>
          <p:cNvPr id="18" name="TextBox 1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What is already available</a:t>
            </a:r>
          </a:p>
        </p:txBody>
      </p:sp>
      <p:sp>
        <p:nvSpPr>
          <p:cNvPr id="19" name="TextBox 1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Partial gross/lease stocks, without client handling/inventory profile.</a:t>
            </a:r>
          </a:p>
        </p:txBody>
      </p:sp>
      <p:sp>
        <p:nvSpPr>
          <p:cNvPr id="20" name="TextBox 1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What this page will resolve</a:t>
            </a:r>
          </a:p>
        </p:txBody>
      </p:sp>
      <p:sp>
        <p:nvSpPr>
          <p:cNvPr id="21" name="TextBox 2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 traceable petrol/diesel result with source, period, units and explicit unassessed residual. Jet stays separate.</a:t>
            </a:r>
          </a:p>
        </p:txBody>
      </p:sp>
      <p:cxnSp>
        <p:nvCxnSpPr>
          <p:cNvPr id="22" name="Connector 2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Next steps | proposed owners</a:t>
            </a:r>
          </a:p>
        </p:txBody>
      </p:sp>
      <p:sp>
        <p:nvSpPr>
          <p:cNvPr id="24" name="TextBox 2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decide whether to prioritise investment analysis after the flow case. Manish and Henry: bridge incremental flows to usable stock and service constraints.</a:t>
            </a:r>
          </a:p>
        </p:txBody>
      </p:sp>
      <p:sp>
        <p:nvSpPr>
          <p:cNvPr id="25" name="SCR backlink R2">
            <a:hlinkClick action="ppaction://hlinksldjump" r:id="rId3"/>
          </p:cNvPr>
          <p:cNvSpPr txBox="1"/>
          <p:nvPr/>
        </p:nvSpPr>
        <p:spPr>
          <a:xfrm>
            <a:off x="457200" y="557784"/>
            <a:ext cx="10652760" cy="21945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SCR R2 | Resolution | Return to overview: page 2</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