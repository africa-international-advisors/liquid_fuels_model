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playbook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playbook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5.</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playbook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10.</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12.</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4.</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playbook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6.</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13.</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15.</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2.</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3.</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7.</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8.</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11.</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14.</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playbook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playbook p12. Henry SCR naming remains in the overview.</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17.</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playbook p12. Henry SCR naming remains in the overview.</a:t>
            </a:r>
          </a:p>
          <a:p>
            <a:r>
              <a:t>Final structure: baseline pp3–6; changes pp7–11 (forecast framework p9); playbook pp12–17 (market choices p16, inventory p17). Current page 16.</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playbook pp12–17 (market choices p16, inventory p17). Current page 9.</a:t>
            </a:r>
          </a:p>
          <a:p>
            <a:r>
              <a:t>Final story navigation: Overview p2; Market baseline p3; Market changes p7; Vopak playbook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 Target="slide12.xml"/><Relationship Id="rId6"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 Target="slide12.xml"/><Relationship Id="rId6"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 Target="slide12.xml"/><Relationship Id="rId6" Type="http://schemas.openxmlformats.org/officeDocument/2006/relationships/slide" Target="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10.xml"/><Relationship Id="rId5" Type="http://schemas.openxmlformats.org/officeDocument/2006/relationships/slide" Target="slide11.xml"/><Relationship Id="rId6" Type="http://schemas.openxmlformats.org/officeDocument/2006/relationships/slide" Target="slide12.xml"/><Relationship Id="rId7"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 Target="slide12.xml"/><Relationship Id="rId6" Type="http://schemas.openxmlformats.org/officeDocument/2006/relationships/slide" Target="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 Id="rId13" Type="http://schemas.openxmlformats.org/officeDocument/2006/relationships/slide" Target="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 Target="slide12.xml"/><Relationship Id="rId6" Type="http://schemas.openxmlformats.org/officeDocument/2006/relationships/slide" Target="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2.xml"/><Relationship Id="rId10" Type="http://schemas.openxmlformats.org/officeDocument/2006/relationships/slide" Target="slide14.xml"/><Relationship Id="rId11" Type="http://schemas.openxmlformats.org/officeDocument/2006/relationships/slide" Target="slide3.xml"/><Relationship Id="rId12" Type="http://schemas.openxmlformats.org/officeDocument/2006/relationships/slide" Target="slide8.xml"/><Relationship Id="rId13" Type="http://schemas.openxmlformats.org/officeDocument/2006/relationships/slide" Target="slide15.xml"/><Relationship Id="rId14" Type="http://schemas.openxmlformats.org/officeDocument/2006/relationships/slide" Target="slide9.xml"/><Relationship Id="rId15" Type="http://schemas.openxmlformats.org/officeDocument/2006/relationships/slide" Target="slide16.xml"/><Relationship Id="rId16" Type="http://schemas.openxmlformats.org/officeDocument/2006/relationships/slide" Target="slide10.xml"/><Relationship Id="rId17" Type="http://schemas.openxmlformats.org/officeDocument/2006/relationships/slide" Target="slide17.xml"/><Relationship Id="rId18" Type="http://schemas.openxmlformats.org/officeDocument/2006/relationships/slide" Target="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10.xml"/><Relationship Id="rId5" Type="http://schemas.openxmlformats.org/officeDocument/2006/relationships/slide" Target="slide11.xml"/><Relationship Id="rId6" Type="http://schemas.openxmlformats.org/officeDocument/2006/relationships/slide" Target="slide12.xml"/><Relationship Id="rId7"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2.xml"/><Relationship Id="rId8" Type="http://schemas.openxmlformats.org/officeDocument/2006/relationships/slide" Target="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 Target="slide12.xml"/><Relationship Id="rId6" Type="http://schemas.openxmlformats.org/officeDocument/2006/relationships/slide" Target="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 Target="slide12.xml"/><Relationship Id="rId6" Type="http://schemas.openxmlformats.org/officeDocument/2006/relationships/slide" Target="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10.xml"/><Relationship Id="rId5" Type="http://schemas.openxmlformats.org/officeDocument/2006/relationships/slide" Target="slide11.xml"/><Relationship Id="rId6" Type="http://schemas.openxmlformats.org/officeDocument/2006/relationships/slide" Target="slide12.xml"/><Relationship Id="rId7" Type="http://schemas.openxmlformats.org/officeDocument/2006/relationships/slide" Target="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 Target="slide12.xml"/><Relationship Id="rId6" Type="http://schemas.openxmlformats.org/officeDocument/2006/relationships/slide" Target="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 Target="slide12.xml"/><Relationship Id="rId6" Type="http://schemas.openxmlformats.org/officeDocument/2006/relationships/slide" Target="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Three provinces account for 69% of reported fuel sales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13 and 15.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sales show different demand patterns over time</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2013 national parser is corrected on the analyst branch. 2014/2015 source versions differ; 2018 district coverage is incomplete. Preserve the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the fuel market, reconcile supply, then test Vopak access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2" name="TextBox 41"/>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rPr sz="1400" b="1">
                <a:latin typeface="Lato"/>
              </a:rPr>
              <a:t>Situation → Complication → Resolution | evidence, actions and delivery roadmap</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baseline and regional market</a:t>
                      </a:r>
                    </a:p>
                    <a:p>
                      <a:pPr>
                        <a:spcAft>
                          <a:spcPts val="0"/>
                        </a:spcAft>
                        <a:defRPr sz="1050">
                          <a:solidFill>
                            <a:srgbClr val="000000"/>
                          </a:solidFill>
                          <a:latin typeface="Lato"/>
                        </a:defRPr>
                      </a:pPr>
                      <a:r>
                        <a:t>2022 provinces are observed; 2023-2024 are estimated separately. Resolve source versions before forecasting.</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4</a:t>
                      </a:r>
                      <a:r>
                        <a:rPr sz="1100">
                          <a:solidFill>
                            <a:srgbClr val="0A2373"/>
                          </a:solidFill>
                          <a:latin typeface="Lato"/>
                          <a:hlinkClick r:id="rId4" action="ppaction://hlinksldjump"/>
                        </a:rPr>
                        <a:t> / 5</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Domestic supply and finished imports</a:t>
                      </a:r>
                    </a:p>
                    <a:p>
                      <a:pPr>
                        <a:spcAft>
                          <a:spcPts val="0"/>
                        </a:spcAft>
                        <a:defRPr sz="1050">
                          <a:solidFill>
                            <a:srgbClr val="000000"/>
                          </a:solidFill>
                          <a:latin typeface="Lato"/>
                        </a:defRPr>
                      </a:pPr>
                      <a:r>
                        <a:t>SARS 2024 net diesel imports: 9.997 bn L. Match actual production, stocks and sales coverage; port allocation remains open.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3</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Historical drivers and forecast cases</a:t>
                      </a:r>
                    </a:p>
                    <a:p>
                      <a:pPr>
                        <a:spcAft>
                          <a:spcPts val="0"/>
                        </a:spcAft>
                        <a:defRPr sz="1050">
                          <a:solidFill>
                            <a:srgbClr val="000000"/>
                          </a:solidFill>
                          <a:latin typeface="Lato"/>
                        </a:defRPr>
                      </a:pPr>
                      <a:r>
                        <a:t>Use observed performance as the anchor. Agree growth assumptions and levers; calculate demand and regional effects before calibration.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r>
                        <a:rPr sz="1100">
                          <a:solidFill>
                            <a:srgbClr val="0A2373"/>
                          </a:solidFill>
                          <a:latin typeface="Lato"/>
                          <a:hlinkClick r:id="rId18" action="ppaction://hlinksldjump"/>
                        </a:rPr>
                        <a:t> / 9</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Refinery availability</a:t>
                      </a:r>
                    </a:p>
                    <a:p>
                      <a:pPr>
                        <a:spcAft>
                          <a:spcPts val="0"/>
                        </a:spcAft>
                        <a:defRPr sz="1050">
                          <a:solidFill>
                            <a:srgbClr val="000000"/>
                          </a:solidFill>
                          <a:latin typeface="Lato"/>
                        </a:defRPr>
                      </a:pPr>
                      <a:r>
                        <a:t>Capacity history and reported operator output are distinct. Align fiscal/calendar years and product yields; redevelopment stays conditional.</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r>
                        <a:rPr sz="1100">
                          <a:solidFill>
                            <a:srgbClr val="0A2373"/>
                          </a:solidFill>
                          <a:latin typeface="Lato"/>
                          <a:hlinkClick r:id="rId18" action="ppaction://hlinksldjump"/>
                        </a:rPr>
                        <a:t> / 9</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Competing supply routes</a:t>
                      </a:r>
                    </a:p>
                    <a:p>
                      <a:pPr>
                        <a:spcAft>
                          <a:spcPts val="0"/>
                        </a:spcAft>
                        <a:defRPr sz="1050">
                          <a:solidFill>
                            <a:srgbClr val="000000"/>
                          </a:solidFill>
                          <a:latin typeface="Lato"/>
                        </a:defRPr>
                      </a:pPr>
                      <a:r>
                        <a:t>Compare Durban, Matola and Walvis Bay for one customer. Test full route cost, capacity and customer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10</a:t>
                      </a:r>
                      <a:r>
                        <a:rPr sz="1100">
                          <a:solidFill>
                            <a:srgbClr val="0A2373"/>
                          </a:solidFill>
                          <a:latin typeface="Lato"/>
                          <a:hlinkClick r:id="rId10" action="ppaction://hlinksldjump"/>
                        </a:rPr>
                        <a:t> / 11</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Market share of Vopak in Dbn and Lesedi</a:t>
                      </a:r>
                    </a:p>
                    <a:p>
                      <a:pPr>
                        <a:spcAft>
                          <a:spcPts val="0"/>
                        </a:spcAft>
                        <a:defRPr sz="1050">
                          <a:solidFill>
                            <a:srgbClr val="000000"/>
                          </a:solidFill>
                          <a:latin typeface="Lato"/>
                        </a:defRPr>
                      </a:pPr>
                      <a:r>
                        <a:t>Match unique customer deliveries to regional demand. Test additional accessible volumes and commercial rights.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12</a:t>
                      </a:r>
                      <a:r>
                        <a:rPr sz="1100">
                          <a:solidFill>
                            <a:srgbClr val="0A2373"/>
                          </a:solidFill>
                          <a:latin typeface="Lato"/>
                          <a:hlinkClick r:id="rId12" action="ppaction://hlinksldjump"/>
                        </a:rPr>
                        <a:t> / 13</a:t>
                      </a:r>
                      <a:r>
                        <a:rPr sz="1100">
                          <a:solidFill>
                            <a:srgbClr val="0A2373"/>
                          </a:solidFill>
                          <a:latin typeface="Lato"/>
                          <a:hlinkClick r:id="rId13" action="ppaction://hlinksldjump"/>
                        </a:rPr>
                        <a:t> / 14</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Potential scope for new investment?</a:t>
                      </a:r>
                    </a:p>
                    <a:p>
                      <a:pPr>
                        <a:spcAft>
                          <a:spcPts val="0"/>
                        </a:spcAft>
                        <a:defRPr sz="1050">
                          <a:solidFill>
                            <a:srgbClr val="000000"/>
                          </a:solidFill>
                          <a:latin typeface="Lato"/>
                        </a:defRPr>
                      </a:pPr>
                      <a:r>
                        <a:t>The playbook lands priorities, service proposition and timing. Storage follows secured flows and a usable-capacity gap.</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15</a:t>
                      </a:r>
                      <a:r>
                        <a:rPr sz="1100">
                          <a:solidFill>
                            <a:srgbClr val="0A2373"/>
                          </a:solidFill>
                          <a:latin typeface="Lato"/>
                          <a:hlinkClick r:id="rId17" action="ppaction://hlinksldjump"/>
                        </a:rPr>
                        <a:t> / 16</a:t>
                      </a:r>
                      <a:r>
                        <a:rPr sz="1100">
                          <a:solidFill>
                            <a:srgbClr val="0A2373"/>
                          </a:solidFill>
                          <a:latin typeface="Lato"/>
                          <a:hlinkClick r:id="rId15" action="ppaction://hlinksldjump"/>
                        </a:rPr>
                        <a:t> / 17</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Customs records 10.0 billion litres of net diesel imports in 2024</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Observed activity helps define the fuel levers; intensities remain open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2"/>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3"/>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4"/>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327648"/>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 intensities remain open;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playbook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playbook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4" name="TextBox 13"/>
          <p:cNvSpPr txBox="1"/>
          <p:nvPr/>
        </p:nvSpPr>
        <p:spPr>
          <a:xfrm>
            <a:off x="457200" y="6236208"/>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History is observed; forecast cases are proposed. No new fuel forecast is shown until the assumptions, source selections and back-tests are reviewed.</a:t>
            </a:r>
          </a:p>
        </p:txBody>
      </p:sp>
      <p:sp>
        <p:nvSpPr>
          <p:cNvPr id="1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